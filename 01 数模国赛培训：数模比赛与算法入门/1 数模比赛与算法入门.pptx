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8" r:id="rId4"/>
    <p:sldId id="259" r:id="rId5"/>
    <p:sldId id="260" r:id="rId6"/>
    <p:sldId id="261" r:id="rId7"/>
    <p:sldId id="262" r:id="rId8"/>
    <p:sldId id="273" r:id="rId9"/>
    <p:sldId id="263" r:id="rId10"/>
    <p:sldId id="264" r:id="rId11"/>
    <p:sldId id="265" r:id="rId12"/>
    <p:sldId id="272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075567" y="2149475"/>
            <a:ext cx="7830433" cy="1881188"/>
          </a:xfrm>
        </p:spPr>
        <p:txBody>
          <a:bodyPr anchor="b"/>
          <a:lstStyle>
            <a:lvl1pPr algn="ctr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altLang="zh-CN" smtClean="0"/>
              <a:t>LOREM IPSUM DOLOR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075567" y="4144963"/>
            <a:ext cx="7830434" cy="10033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LOREM IPSUM DOLOR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673" y="1745673"/>
            <a:ext cx="10224655" cy="4023360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3"/>
            </p:custDataLst>
          </p:nvPr>
        </p:nvSpPr>
        <p:spPr bwMode="auto">
          <a:xfrm>
            <a:off x="10091738" y="0"/>
            <a:ext cx="576262" cy="3775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 bwMode="auto">
          <a:xfrm>
            <a:off x="10091738" y="5211762"/>
            <a:ext cx="576262" cy="1646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3775075"/>
            <a:ext cx="7620000" cy="1385774"/>
          </a:xfrm>
          <a:solidFill>
            <a:schemeClr val="accent1"/>
          </a:solidFill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pPr algn="ctr">
              <a:defRPr/>
            </a:pPr>
            <a:r>
              <a:rPr lang="zh-CN" altLang="en-US" dirty="0" smtClean="0"/>
              <a:t>单击此处编辑母版标题样式</a:t>
            </a:r>
            <a:endParaRPr lang="zh-CN" altLang="en-US" sz="4000" dirty="0">
              <a:solidFill>
                <a:prstClr val="white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600" y="1431178"/>
            <a:ext cx="10363200" cy="2165519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06188" y="4052400"/>
            <a:ext cx="10363200" cy="2165519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28215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106067"/>
            <a:ext cx="5157787" cy="402872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28215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106067"/>
            <a:ext cx="5183188" cy="402872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wrap="square">
            <a:normAutofit/>
          </a:bodyPr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wrap="square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3238500"/>
            <a:ext cx="12192000" cy="3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32500" lnSpcReduction="20000"/>
          </a:bodyPr>
          <a:lstStyle/>
          <a:p>
            <a:pPr algn="ctr"/>
            <a:endParaRPr lang="zh-CN" altLang="en-US" sz="6600" b="1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57600" y="2400300"/>
            <a:ext cx="4876800" cy="2057400"/>
          </a:xfrm>
          <a:solidFill>
            <a:schemeClr val="accent1"/>
          </a:solidFill>
        </p:spPr>
        <p:txBody>
          <a:bodyPr wrap="square"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1106901"/>
            <a:ext cx="4165200" cy="1600200"/>
          </a:xfr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1106901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707101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649326" y="365125"/>
            <a:ext cx="1704474" cy="5811838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8570495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29067"/>
            <a:ext cx="10515600" cy="5575095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4.xml"/><Relationship Id="rId12" Type="http://schemas.openxmlformats.org/officeDocument/2006/relationships/tags" Target="../tags/tag3.xml"/><Relationship Id="rId11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0" y="1"/>
            <a:ext cx="6819900" cy="9525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323974"/>
            <a:ext cx="10515600" cy="4852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69DF5-CE6F-460D-85D3-AC9F3B21A05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F28AF-5BE0-4465-9148-1AC3FCF059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标题 19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760855" y="2439670"/>
            <a:ext cx="8670925" cy="1040130"/>
          </a:xfrm>
        </p:spPr>
        <p:txBody>
          <a:bodyPr/>
          <a:p>
            <a:r>
              <a:rPr lang="zh-CN" altLang="zh-CN" sz="4400" dirty="0">
                <a:solidFill>
                  <a:schemeClr val="tx1"/>
                </a:solidFill>
              </a:rPr>
              <a:t>第一节：数模竞赛及学习要点入门</a:t>
            </a:r>
            <a:endParaRPr lang="zh-CN" altLang="zh-CN" sz="4400" dirty="0">
              <a:solidFill>
                <a:schemeClr val="tx1"/>
              </a:solidFill>
            </a:endParaRPr>
          </a:p>
        </p:txBody>
      </p:sp>
      <p:sp>
        <p:nvSpPr>
          <p:cNvPr id="21" name="副标题 20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968252" y="3732213"/>
            <a:ext cx="7830434" cy="1003300"/>
          </a:xfrm>
        </p:spPr>
        <p:txBody>
          <a:bodyPr/>
          <a:p>
            <a:r>
              <a:rPr lang="zh-CN" altLang="en-US" dirty="0">
                <a:solidFill>
                  <a:schemeClr val="tx1"/>
                </a:solidFill>
              </a:rPr>
              <a:t>主讲人：老教练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 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数模竞赛一览表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4075" y="1269365"/>
            <a:ext cx="10224770" cy="467233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）国家级</a:t>
            </a:r>
            <a:endParaRPr lang="zh-CN" altLang="en-US"/>
          </a:p>
          <a:p>
            <a:r>
              <a:rPr lang="zh-CN" altLang="en-US" sz="2000"/>
              <a:t>1、CUMCM：全国大学生数学建模竞赛（指导单位：中国工业与应用数学学会）</a:t>
            </a:r>
            <a:endParaRPr lang="zh-CN" altLang="en-US" sz="2000"/>
          </a:p>
          <a:p>
            <a:r>
              <a:rPr lang="zh-CN" altLang="en-US" sz="2000"/>
              <a:t>2、MCM/ICM：美国大学生数学建模竞赛（COMAP杂志社主办，指导单位：美国工业与应用数学学会、美国数学学会、运筹研究与管理学会）</a:t>
            </a:r>
            <a:endParaRPr lang="zh-CN" altLang="en-US" sz="2000"/>
          </a:p>
          <a:p>
            <a:r>
              <a:rPr lang="zh-CN" altLang="en-US" sz="2000"/>
              <a:t>3、GMCM：研究生数学建模竞赛（主办单位：全国研究生数学建模竞赛组织委员会发起（朱道远老师），相关组织范畴内的学校轮流作主办方）</a:t>
            </a:r>
            <a:endParaRPr lang="zh-CN" altLang="en-US" sz="2000"/>
          </a:p>
          <a:p>
            <a:r>
              <a:rPr lang="en-US" altLang="zh-CN" sz="2000"/>
              <a:t>4</a:t>
            </a:r>
            <a:r>
              <a:rPr lang="zh-CN" altLang="en-US" sz="2000"/>
              <a:t>、EMCM：中国电机工程学（电工）杯数学建模竞赛（主办单位：中国电机工程学会数学委员会）</a:t>
            </a:r>
            <a:endParaRPr lang="zh-CN" altLang="en-US" sz="2000"/>
          </a:p>
          <a:p>
            <a:r>
              <a:rPr lang="en-US" altLang="zh-CN" sz="2000"/>
              <a:t>5</a:t>
            </a:r>
            <a:r>
              <a:rPr lang="zh-CN" altLang="en-US" sz="2000"/>
              <a:t>、MathorCup大学生数学建模挑战赛（主办单位：中国优选法统筹法与经济数学研究会）</a:t>
            </a:r>
            <a:endParaRPr lang="zh-CN" altLang="en-US" sz="2000"/>
          </a:p>
          <a:p>
            <a:r>
              <a:rPr lang="en-US" altLang="zh-CN" sz="2000"/>
              <a:t>6</a:t>
            </a:r>
            <a:r>
              <a:rPr lang="zh-CN" altLang="en-US" sz="2000"/>
              <a:t>、</a:t>
            </a:r>
            <a:r>
              <a:rPr lang="en-US" altLang="zh-CN" sz="2000"/>
              <a:t>APMCM</a:t>
            </a:r>
            <a:r>
              <a:rPr lang="zh-CN" altLang="en-US" sz="2000"/>
              <a:t>：亚太地区大学生数学建模竞赛（主办单位：亚太地区大学生数学建模竞赛组委会,河北省现场统计学会）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2650" y="1226185"/>
            <a:ext cx="10224770" cy="494601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）省级、地区级</a:t>
            </a:r>
            <a:endParaRPr lang="zh-CN" altLang="en-US"/>
          </a:p>
          <a:p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、苏北赛（主办单位：江苏省工业与应用数学学会，中国矿大数模协会）</a:t>
            </a:r>
            <a:endParaRPr lang="en-US" altLang="zh-CN" sz="2000"/>
          </a:p>
          <a:p>
            <a:r>
              <a:rPr lang="en-US" altLang="zh-CN" sz="2000"/>
              <a:t>2</a:t>
            </a:r>
            <a:r>
              <a:rPr lang="zh-CN" altLang="en-US" sz="2000"/>
              <a:t>、TZMCM：数学中国数学建模网络挑战赛（主办单位：内蒙古数学学会、全球数学建模认证中心；协办单位：数学中国）</a:t>
            </a:r>
            <a:endParaRPr lang="zh-CN" altLang="en-US" sz="2000"/>
          </a:p>
          <a:p>
            <a:r>
              <a:rPr lang="en-US" altLang="zh-CN" sz="2000"/>
              <a:t>3</a:t>
            </a:r>
            <a:r>
              <a:rPr lang="zh-CN" altLang="en-US" sz="2000"/>
              <a:t>、CAMCM：数学中国数学建模国际赛【俗称小美赛】（主办单位：内蒙古数学学会、全球数学建模认证中心；协办单位：数学中国 ）</a:t>
            </a:r>
            <a:endParaRPr lang="zh-CN" altLang="en-US" sz="2000"/>
          </a:p>
          <a:p>
            <a:r>
              <a:rPr lang="en-US" altLang="zh-CN" sz="2000"/>
              <a:t>4</a:t>
            </a:r>
            <a:r>
              <a:rPr lang="zh-CN" altLang="en-US" sz="2000"/>
              <a:t>、华中赛（主办单位：华中地区高校数模协会轮流举办，华中数模组委会）</a:t>
            </a:r>
            <a:endParaRPr lang="zh-CN" altLang="en-US" sz="2000"/>
          </a:p>
          <a:p>
            <a:r>
              <a:rPr lang="en-US" altLang="zh-CN" sz="2000"/>
              <a:t>5</a:t>
            </a:r>
            <a:r>
              <a:rPr lang="zh-CN" altLang="en-US" sz="2000"/>
              <a:t>、华东邀请赛（主办单位：上海几个高校数模协会轮流举办，华东数学联盟协会协办）</a:t>
            </a:r>
            <a:endParaRPr lang="zh-CN" altLang="en-US" sz="2000"/>
          </a:p>
          <a:p>
            <a:r>
              <a:rPr lang="en-US" altLang="zh-CN" sz="2000"/>
              <a:t>6</a:t>
            </a:r>
            <a:r>
              <a:rPr lang="zh-CN" altLang="en-US" sz="2000"/>
              <a:t>、东北赛（主办单位：东北高校数模协会轮流组办，东北三省数模竞赛组委会）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时间及认可度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2650" y="1155065"/>
            <a:ext cx="10224770" cy="471487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）国家级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 sz="1800">
                <a:sym typeface="+mn-ea"/>
              </a:rPr>
              <a:t>  </a:t>
            </a:r>
            <a:r>
              <a:rPr lang="en-US" altLang="zh-CN" sz="1800">
                <a:sym typeface="+mn-ea"/>
              </a:rPr>
              <a:t> 1</a:t>
            </a:r>
            <a:r>
              <a:rPr lang="zh-CN" altLang="en-US" sz="1800">
                <a:sym typeface="+mn-ea"/>
              </a:rPr>
              <a:t>、MCM/ICM：美国大学生数学建模竞赛（每年</a:t>
            </a:r>
            <a:r>
              <a:rPr lang="en-US" altLang="zh-CN" sz="1800">
                <a:sym typeface="+mn-ea"/>
              </a:rPr>
              <a:t>2</a:t>
            </a:r>
            <a:r>
              <a:rPr lang="zh-CN" altLang="en-US" sz="1800">
                <a:sym typeface="+mn-ea"/>
              </a:rPr>
              <a:t>月份左右，变动大，四天，国内认可度大，国际认可度大）</a:t>
            </a:r>
            <a:endParaRPr lang="zh-CN" altLang="en-US" sz="1800">
              <a:sym typeface="+mn-ea"/>
            </a:endParaRPr>
          </a:p>
          <a:p>
            <a:r>
              <a:rPr lang="en-US" altLang="zh-CN" sz="1800">
                <a:sym typeface="+mn-ea"/>
              </a:rPr>
              <a:t>2</a:t>
            </a:r>
            <a:r>
              <a:rPr lang="zh-CN" altLang="en-US" sz="1800">
                <a:sym typeface="+mn-ea"/>
              </a:rPr>
              <a:t>、CUMCM：全国大学生数学建模竞赛（每年9月(一般在中旬某个周末的星期五至下周星期一共3天，72小时）举行，国内认可度高，国际一般 ）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3、GMCM：研究生数学建模竞赛（从9月24日上午8时开始，至9月28日中午12时结束国内认可度高，国际一般）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5、EMCM：中国电机工程学（电工）杯数学建模竞赛（每年5月27日上午8时至5月30日上午8时，三天，国内认可度一般，国际一般）</a:t>
            </a:r>
            <a:endParaRPr lang="zh-CN" altLang="en-US" sz="1800">
              <a:sym typeface="+mn-ea"/>
            </a:endParaRPr>
          </a:p>
          <a:p>
            <a:r>
              <a:rPr lang="en-US" altLang="zh-CN" sz="1800">
                <a:sym typeface="+mn-ea"/>
              </a:rPr>
              <a:t>6</a:t>
            </a:r>
            <a:r>
              <a:rPr lang="zh-CN" altLang="en-US" sz="1800">
                <a:sym typeface="+mn-ea"/>
              </a:rPr>
              <a:t>、MathorCup大学生数学建模挑战赛（每年5月27日上午8时至5月30日上午8时，三天，国内认可度低，国际认可度低）</a:t>
            </a:r>
            <a:endParaRPr lang="zh-CN" altLang="en-US" sz="1800">
              <a:sym typeface="+mn-ea"/>
            </a:endParaRPr>
          </a:p>
          <a:p>
            <a:r>
              <a:rPr lang="en-US" altLang="zh-CN" sz="1800">
                <a:sym typeface="+mn-ea"/>
              </a:rPr>
              <a:t>7</a:t>
            </a:r>
            <a:r>
              <a:rPr lang="zh-CN" altLang="en-US" sz="1800">
                <a:sym typeface="+mn-ea"/>
              </a:rPr>
              <a:t>、</a:t>
            </a:r>
            <a:r>
              <a:rPr lang="en-US" altLang="zh-CN" sz="1800">
                <a:sym typeface="+mn-ea"/>
              </a:rPr>
              <a:t>APMCM</a:t>
            </a:r>
            <a:r>
              <a:rPr lang="zh-CN" altLang="en-US" sz="1800">
                <a:sym typeface="+mn-ea"/>
              </a:rPr>
              <a:t>：亚太地区大学生数学建模竞赛（每年</a:t>
            </a:r>
            <a:r>
              <a:rPr lang="en-US" altLang="zh-CN" sz="1800">
                <a:sym typeface="+mn-ea"/>
              </a:rPr>
              <a:t>11</a:t>
            </a:r>
            <a:r>
              <a:rPr lang="zh-CN" altLang="en-US" sz="1800">
                <a:sym typeface="+mn-ea"/>
              </a:rPr>
              <a:t>月</a:t>
            </a:r>
            <a:r>
              <a:rPr lang="en-US" altLang="zh-CN" sz="1800">
                <a:sym typeface="+mn-ea"/>
              </a:rPr>
              <a:t>17</a:t>
            </a:r>
            <a:r>
              <a:rPr lang="zh-CN" altLang="en-US" sz="1800">
                <a:sym typeface="+mn-ea"/>
              </a:rPr>
              <a:t>号上午八点到</a:t>
            </a:r>
            <a:r>
              <a:rPr lang="en-US" altLang="zh-CN" sz="1800">
                <a:sym typeface="+mn-ea"/>
              </a:rPr>
              <a:t>21</a:t>
            </a:r>
            <a:r>
              <a:rPr lang="zh-CN" altLang="en-US" sz="1800">
                <a:sym typeface="+mn-ea"/>
              </a:rPr>
              <a:t>号上午八点，四天，国内认可度低，国际认可度低）</a:t>
            </a:r>
            <a:endParaRPr lang="zh-CN" altLang="en-US" sz="1800">
              <a:sym typeface="+mn-ea"/>
            </a:endParaRPr>
          </a:p>
          <a:p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615" y="1139825"/>
            <a:ext cx="10224770" cy="577532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）省级、地区级</a:t>
            </a:r>
            <a:endParaRPr lang="zh-CN" altLang="en-US">
              <a:sym typeface="+mn-ea"/>
            </a:endParaRPr>
          </a:p>
          <a:p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、苏北赛（每年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1</a:t>
            </a:r>
            <a:r>
              <a:rPr lang="zh-CN" altLang="en-US" sz="2000">
                <a:sym typeface="+mn-ea"/>
              </a:rPr>
              <a:t>号上午八点到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号上午八点，三天，国内认可度高，社会认可度一般）</a:t>
            </a:r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、TZMCM：数学中国数学建模网络挑战赛（每年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月中旬，三天，国内认可度一般、社会认可度高）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、CAMCM：数学中国数学建模国际赛【俗称小美赛】（每年</a:t>
            </a:r>
            <a:r>
              <a:rPr lang="en-US" altLang="zh-CN" sz="2000">
                <a:sym typeface="+mn-ea"/>
              </a:rPr>
              <a:t>11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24</a:t>
            </a:r>
            <a:r>
              <a:rPr lang="zh-CN" altLang="en-US" sz="2000">
                <a:sym typeface="+mn-ea"/>
              </a:rPr>
              <a:t>号上午八点到</a:t>
            </a:r>
            <a:r>
              <a:rPr lang="en-US" altLang="zh-CN" sz="2000">
                <a:sym typeface="+mn-ea"/>
              </a:rPr>
              <a:t>11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28</a:t>
            </a:r>
            <a:r>
              <a:rPr lang="zh-CN" altLang="en-US" sz="2000">
                <a:sym typeface="+mn-ea"/>
              </a:rPr>
              <a:t>号上午八点，四天，国内认可度一般、社会认可度高）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、华东邀请赛（每年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19</a:t>
            </a:r>
            <a:r>
              <a:rPr lang="zh-CN" altLang="en-US" sz="2000">
                <a:sym typeface="+mn-ea"/>
              </a:rPr>
              <a:t>号到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22</a:t>
            </a:r>
            <a:r>
              <a:rPr lang="zh-CN" altLang="en-US" sz="2000">
                <a:sym typeface="+mn-ea"/>
              </a:rPr>
              <a:t>号，三天，国内认可度一般、社会认可度一般）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、东北赛（每年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18</a:t>
            </a:r>
            <a:r>
              <a:rPr lang="zh-CN" altLang="en-US" sz="2000">
                <a:sym typeface="+mn-ea"/>
              </a:rPr>
              <a:t>号到</a:t>
            </a:r>
            <a:r>
              <a:rPr lang="en-US" altLang="zh-CN" sz="2000">
                <a:sym typeface="+mn-ea"/>
              </a:rPr>
              <a:t>4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21</a:t>
            </a:r>
            <a:r>
              <a:rPr lang="zh-CN" altLang="en-US" sz="2000">
                <a:sym typeface="+mn-ea"/>
              </a:rPr>
              <a:t>号，三天，国内认可度一般、社会认可度一般）</a:t>
            </a:r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6</a:t>
            </a:r>
            <a:r>
              <a:rPr lang="zh-CN" altLang="en-US" sz="2000">
                <a:sym typeface="+mn-ea"/>
              </a:rPr>
              <a:t>、华中赛（每年04月30日上午</a:t>
            </a:r>
            <a:r>
              <a:rPr lang="en-US" altLang="zh-CN" sz="2000">
                <a:sym typeface="+mn-ea"/>
              </a:rPr>
              <a:t>8</a:t>
            </a:r>
            <a:r>
              <a:rPr lang="zh-CN" altLang="en-US" sz="2000">
                <a:sym typeface="+mn-ea"/>
              </a:rPr>
              <a:t>点到</a:t>
            </a:r>
            <a:r>
              <a:rPr lang="en-US" altLang="zh-CN" sz="2000">
                <a:sym typeface="+mn-ea"/>
              </a:rPr>
              <a:t>5</a:t>
            </a:r>
            <a:r>
              <a:rPr lang="zh-CN" altLang="en-US" sz="2000">
                <a:sym typeface="+mn-ea"/>
              </a:rPr>
              <a:t>月</a:t>
            </a:r>
            <a:r>
              <a:rPr lang="en-US" altLang="zh-CN" sz="2000">
                <a:sym typeface="+mn-ea"/>
              </a:rPr>
              <a:t>3</a:t>
            </a:r>
            <a:r>
              <a:rPr lang="zh-CN" altLang="en-US" sz="2000">
                <a:sym typeface="+mn-ea"/>
              </a:rPr>
              <a:t>号上午八点，三天，国内认可度低、社会认可度低）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时间一览表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615" y="951865"/>
            <a:ext cx="10224770" cy="561213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zh-CN" sz="1900">
                <a:sym typeface="+mn-ea"/>
              </a:rPr>
              <a:t>    2</a:t>
            </a:r>
            <a:r>
              <a:rPr lang="zh-CN" altLang="en-US" sz="1900">
                <a:sym typeface="+mn-ea"/>
              </a:rPr>
              <a:t>月中旬：MCM/ICM：美国大学生数学建模竞赛</a:t>
            </a:r>
            <a:endParaRPr lang="zh-CN" altLang="en-US" sz="1900">
              <a:sym typeface="+mn-ea"/>
            </a:endParaRPr>
          </a:p>
          <a:p>
            <a:r>
              <a:rPr lang="en-US" altLang="zh-CN" sz="1900">
                <a:sym typeface="+mn-ea"/>
              </a:rPr>
              <a:t>4</a:t>
            </a:r>
            <a:r>
              <a:rPr lang="zh-CN" altLang="en-US" sz="1900">
                <a:sym typeface="+mn-ea"/>
              </a:rPr>
              <a:t>月中旬：TZMCM：数学中国数学建模网络挑战赛</a:t>
            </a:r>
            <a:endParaRPr lang="zh-CN" altLang="en-US" sz="1900">
              <a:sym typeface="+mn-ea"/>
            </a:endParaRPr>
          </a:p>
          <a:p>
            <a:r>
              <a:rPr lang="en-US" altLang="zh-CN" sz="1900">
                <a:sym typeface="+mn-ea"/>
              </a:rPr>
              <a:t>4</a:t>
            </a:r>
            <a:r>
              <a:rPr lang="zh-CN" altLang="en-US" sz="1900">
                <a:sym typeface="+mn-ea"/>
              </a:rPr>
              <a:t>月</a:t>
            </a:r>
            <a:r>
              <a:rPr lang="en-US" altLang="zh-CN" sz="1900">
                <a:sym typeface="+mn-ea"/>
              </a:rPr>
              <a:t>18</a:t>
            </a:r>
            <a:r>
              <a:rPr lang="zh-CN" altLang="en-US" sz="1900">
                <a:sym typeface="+mn-ea"/>
              </a:rPr>
              <a:t>号：东北三省大学生数学建模联赛</a:t>
            </a:r>
            <a:endParaRPr lang="zh-CN" altLang="en-US" sz="1900">
              <a:sym typeface="+mn-ea"/>
            </a:endParaRPr>
          </a:p>
          <a:p>
            <a:r>
              <a:rPr lang="zh-CN" altLang="en-US" sz="1900">
                <a:sym typeface="+mn-ea"/>
              </a:rPr>
              <a:t>4月30号：华中地区大学生数学建模联赛</a:t>
            </a:r>
            <a:endParaRPr lang="zh-CN" altLang="en-US" sz="1900">
              <a:sym typeface="+mn-ea"/>
            </a:endParaRPr>
          </a:p>
          <a:p>
            <a:r>
              <a:rPr lang="en-US" altLang="zh-CN" sz="1900">
                <a:sym typeface="+mn-ea"/>
              </a:rPr>
              <a:t>5</a:t>
            </a:r>
            <a:r>
              <a:rPr lang="zh-CN" altLang="en-US" sz="1900">
                <a:sym typeface="+mn-ea"/>
              </a:rPr>
              <a:t>月</a:t>
            </a:r>
            <a:r>
              <a:rPr lang="en-US" altLang="zh-CN" sz="1900">
                <a:sym typeface="+mn-ea"/>
              </a:rPr>
              <a:t>1</a:t>
            </a:r>
            <a:r>
              <a:rPr lang="zh-CN" altLang="en-US" sz="1900">
                <a:sym typeface="+mn-ea"/>
              </a:rPr>
              <a:t>号：苏北地区大学生数学建模联赛</a:t>
            </a:r>
            <a:endParaRPr lang="zh-CN" altLang="en-US" sz="1900">
              <a:sym typeface="+mn-ea"/>
            </a:endParaRPr>
          </a:p>
          <a:p>
            <a:r>
              <a:rPr lang="zh-CN" altLang="en-US" sz="1900">
                <a:sym typeface="+mn-ea"/>
              </a:rPr>
              <a:t>5月27号：EMCM：中国电机工程学（电工）杯数学建模竞赛</a:t>
            </a:r>
            <a:endParaRPr lang="zh-CN" altLang="en-US" sz="1900">
              <a:sym typeface="+mn-ea"/>
            </a:endParaRPr>
          </a:p>
          <a:p>
            <a:r>
              <a:rPr lang="en-US" altLang="zh-CN" sz="1900">
                <a:sym typeface="+mn-ea"/>
              </a:rPr>
              <a:t>5</a:t>
            </a:r>
            <a:r>
              <a:rPr lang="zh-CN" altLang="en-US" sz="1900">
                <a:sym typeface="+mn-ea"/>
              </a:rPr>
              <a:t>月</a:t>
            </a:r>
            <a:r>
              <a:rPr lang="en-US" altLang="zh-CN" sz="1900">
                <a:sym typeface="+mn-ea"/>
              </a:rPr>
              <a:t>27</a:t>
            </a:r>
            <a:r>
              <a:rPr lang="zh-CN" altLang="en-US" sz="1900">
                <a:sym typeface="+mn-ea"/>
              </a:rPr>
              <a:t>号：MathorCup大学生数学建模挑战赛</a:t>
            </a:r>
            <a:endParaRPr lang="zh-CN" altLang="en-US" sz="1900">
              <a:sym typeface="+mn-ea"/>
            </a:endParaRPr>
          </a:p>
          <a:p>
            <a:r>
              <a:rPr lang="en-US" altLang="zh-CN" sz="1900">
                <a:sym typeface="+mn-ea"/>
              </a:rPr>
              <a:t>9</a:t>
            </a:r>
            <a:r>
              <a:rPr lang="zh-CN" altLang="en-US" sz="1900">
                <a:sym typeface="+mn-ea"/>
              </a:rPr>
              <a:t>月中旬：CUMCM：全国大学生数学建模竞赛</a:t>
            </a:r>
            <a:endParaRPr lang="zh-CN" altLang="en-US" sz="1900">
              <a:sym typeface="+mn-ea"/>
            </a:endParaRPr>
          </a:p>
          <a:p>
            <a:r>
              <a:rPr lang="en-US" altLang="zh-CN" sz="1900">
                <a:sym typeface="+mn-ea"/>
              </a:rPr>
              <a:t>9</a:t>
            </a:r>
            <a:r>
              <a:rPr lang="zh-CN" altLang="en-US" sz="1900">
                <a:sym typeface="+mn-ea"/>
              </a:rPr>
              <a:t>月</a:t>
            </a:r>
            <a:r>
              <a:rPr lang="en-US" altLang="zh-CN" sz="1900">
                <a:sym typeface="+mn-ea"/>
              </a:rPr>
              <a:t>24</a:t>
            </a:r>
            <a:r>
              <a:rPr lang="zh-CN" altLang="en-US" sz="1900">
                <a:sym typeface="+mn-ea"/>
              </a:rPr>
              <a:t>号：GMCM：研究生数学建模竞赛</a:t>
            </a:r>
            <a:endParaRPr lang="zh-CN" altLang="en-US" sz="1900">
              <a:sym typeface="+mn-ea"/>
            </a:endParaRPr>
          </a:p>
          <a:p>
            <a:r>
              <a:rPr lang="en-US" altLang="zh-CN" sz="1900">
                <a:sym typeface="+mn-ea"/>
              </a:rPr>
              <a:t>11</a:t>
            </a:r>
            <a:r>
              <a:rPr lang="zh-CN" altLang="en-US" sz="1900">
                <a:sym typeface="+mn-ea"/>
              </a:rPr>
              <a:t>月</a:t>
            </a:r>
            <a:r>
              <a:rPr lang="en-US" altLang="zh-CN" sz="1900">
                <a:sym typeface="+mn-ea"/>
              </a:rPr>
              <a:t>17</a:t>
            </a:r>
            <a:r>
              <a:rPr lang="zh-CN" altLang="en-US" sz="1900">
                <a:sym typeface="+mn-ea"/>
              </a:rPr>
              <a:t>号：</a:t>
            </a:r>
            <a:r>
              <a:rPr lang="en-US" altLang="zh-CN" sz="1900">
                <a:sym typeface="+mn-ea"/>
              </a:rPr>
              <a:t>APMCM</a:t>
            </a:r>
            <a:r>
              <a:rPr lang="zh-CN" altLang="en-US" sz="1900">
                <a:sym typeface="+mn-ea"/>
              </a:rPr>
              <a:t>：亚太地区大学生数学建模竞赛</a:t>
            </a:r>
            <a:endParaRPr lang="zh-CN" altLang="en-US" sz="1900">
              <a:sym typeface="+mn-ea"/>
            </a:endParaRPr>
          </a:p>
          <a:p>
            <a:r>
              <a:rPr lang="en-US" altLang="zh-CN" sz="1900">
                <a:sym typeface="+mn-ea"/>
              </a:rPr>
              <a:t>11</a:t>
            </a:r>
            <a:r>
              <a:rPr lang="zh-CN" altLang="en-US" sz="1900">
                <a:sym typeface="+mn-ea"/>
              </a:rPr>
              <a:t>月</a:t>
            </a:r>
            <a:r>
              <a:rPr lang="en-US" altLang="zh-CN" sz="1900">
                <a:sym typeface="+mn-ea"/>
              </a:rPr>
              <a:t>24</a:t>
            </a:r>
            <a:r>
              <a:rPr lang="zh-CN" altLang="en-US" sz="1900">
                <a:sym typeface="+mn-ea"/>
              </a:rPr>
              <a:t>号：CAMCM：数学中国数学建模国际赛</a:t>
            </a:r>
            <a:endParaRPr lang="zh-CN" altLang="en-US" sz="1900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>
            <a:off x="6636385" y="1028700"/>
            <a:ext cx="349885" cy="26670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等腰三角形 4"/>
          <p:cNvSpPr/>
          <p:nvPr/>
        </p:nvSpPr>
        <p:spPr>
          <a:xfrm>
            <a:off x="5677535" y="2960370"/>
            <a:ext cx="349885" cy="26670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>
            <a:off x="7902575" y="3379470"/>
            <a:ext cx="349885" cy="26670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>
            <a:off x="6286500" y="4284980"/>
            <a:ext cx="349885" cy="26670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/>
        </p:nvSpPr>
        <p:spPr>
          <a:xfrm>
            <a:off x="6986270" y="5251450"/>
            <a:ext cx="349885" cy="266700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7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70" decel="100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7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770" decel="100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2" dur="77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4" dur="77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7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770" decel="100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3" dur="77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7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77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6" dur="77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70" decel="100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770" decel="100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5" dur="77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7" dur="77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70" decel="100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770" decel="100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76" dur="77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7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78" dur="77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7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70" decel="100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770" decel="100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8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7" dur="77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9" dur="77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9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70" decel="100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770" decel="100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98" dur="77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9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00" dur="77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0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70" decel="100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770" decel="100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0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9" dur="77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11" dur="77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1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70" decel="100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770" decel="100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20" dur="77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2" dur="77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4 </a:t>
            </a:r>
            <a:r>
              <a:rPr lang="zh-CN" altLang="en-US">
                <a:solidFill>
                  <a:schemeClr val="tx1"/>
                </a:solidFill>
              </a:rPr>
              <a:t>六个月数模准备方法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860" y="1103630"/>
            <a:ext cx="10224770" cy="4909820"/>
          </a:xfrm>
        </p:spPr>
        <p:txBody>
          <a:bodyPr>
            <a:normAutofit/>
          </a:bodyPr>
          <a:p>
            <a:r>
              <a:rPr lang="zh-CN" altLang="en-US" sz="3200"/>
              <a:t>基本要求：</a:t>
            </a:r>
            <a:endParaRPr lang="zh-CN" altLang="en-US" sz="3200"/>
          </a:p>
          <a:p>
            <a:r>
              <a:rPr lang="zh-CN"/>
              <a:t>① 上课认真听讲，尽量不错过每一次直播课</a:t>
            </a:r>
            <a:endParaRPr lang="zh-CN"/>
          </a:p>
          <a:p>
            <a:r>
              <a:rPr lang="zh-CN"/>
              <a:t>② 课下定期学习数模资料，形成建模思维</a:t>
            </a:r>
            <a:endParaRPr lang="zh-CN"/>
          </a:p>
          <a:p>
            <a:r>
              <a:rPr lang="zh-CN">
                <a:sym typeface="+mn-ea"/>
              </a:rPr>
              <a:t>③ 多参加数模比赛，将理论与实践结合</a:t>
            </a:r>
            <a:endParaRPr lang="zh-CN">
              <a:sym typeface="+mn-ea"/>
            </a:endParaRPr>
          </a:p>
          <a:p>
            <a:r>
              <a:rPr lang="zh-CN" sz="3200"/>
              <a:t>学习重点：</a:t>
            </a:r>
            <a:endParaRPr lang="zh-CN" sz="3200"/>
          </a:p>
          <a:p>
            <a:r>
              <a:rPr lang="zh-CN"/>
              <a:t>① 算法的学习，做到懂原理、能实现、会应用</a:t>
            </a:r>
            <a:endParaRPr lang="zh-CN"/>
          </a:p>
          <a:p>
            <a:r>
              <a:rPr lang="zh-CN"/>
              <a:t>② 编程的学习，熟练掌握</a:t>
            </a:r>
            <a:r>
              <a:rPr lang="en-US" altLang="zh-CN"/>
              <a:t>Matlab</a:t>
            </a:r>
            <a:r>
              <a:rPr lang="zh-CN" altLang="en-US"/>
              <a:t>语言，能进行常规编程</a:t>
            </a:r>
            <a:endParaRPr lang="zh-CN" altLang="en-US"/>
          </a:p>
          <a:p>
            <a:r>
              <a:rPr lang="zh-CN" altLang="en-US"/>
              <a:t>③ 论文写作学习，明确数模论文各模块的写作要点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5 </a:t>
            </a:r>
            <a:r>
              <a:rPr lang="zh-CN" altLang="zh-CN">
                <a:solidFill>
                  <a:schemeClr val="tx1"/>
                </a:solidFill>
                <a:sym typeface="+mn-ea"/>
              </a:rPr>
              <a:t>数模算法</a:t>
            </a:r>
            <a:endParaRPr lang="zh-CN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615" y="1067435"/>
            <a:ext cx="10224770" cy="553910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zh-CN"/>
              <a:t>（</a:t>
            </a:r>
            <a:r>
              <a:rPr lang="en-US" altLang="zh-CN"/>
              <a:t>1</a:t>
            </a:r>
            <a:r>
              <a:rPr lang="zh-CN" altLang="zh-CN"/>
              <a:t>）数学模型按照不同的分类标准有许多种类：</a:t>
            </a:r>
            <a:endParaRPr lang="zh-CN" altLang="zh-CN"/>
          </a:p>
          <a:p>
            <a:r>
              <a:rPr lang="zh-CN" altLang="zh-CN" sz="2200"/>
              <a:t>   1.按照模型的数学方法分，有几何模型，图论模型，微分方程模型。概率模型，最优控制模型，规划论模型，马氏链模型。</a:t>
            </a:r>
            <a:endParaRPr lang="zh-CN" altLang="zh-CN" sz="2200"/>
          </a:p>
          <a:p>
            <a:r>
              <a:rPr lang="zh-CN" altLang="zh-CN" sz="2200"/>
              <a:t>   2.按模型的特征分，有静态模型和动态模型，确定性模型和随机模型，离散模型和连续性模型，线性模型和非线性模型。</a:t>
            </a:r>
            <a:endParaRPr lang="zh-CN" altLang="zh-CN" sz="2200"/>
          </a:p>
          <a:p>
            <a:r>
              <a:rPr lang="zh-CN" altLang="zh-CN" sz="2200"/>
              <a:t>   3.按模型的应用领域分，有人口模型，交通模型，经济模型，生态模型，资源模型。环境模型。</a:t>
            </a:r>
            <a:endParaRPr lang="zh-CN" altLang="zh-CN" sz="2200"/>
          </a:p>
          <a:p>
            <a:r>
              <a:rPr lang="zh-CN" altLang="zh-CN" sz="2200"/>
              <a:t>   4.按建模的目的分，有预测模型，优化模型，决策模型，控制模型等。</a:t>
            </a:r>
            <a:endParaRPr lang="zh-CN" altLang="zh-CN" sz="2200"/>
          </a:p>
          <a:p>
            <a:r>
              <a:rPr lang="zh-CN" altLang="zh-CN" sz="2200"/>
              <a:t>   5.按对模型结构的了解程度分，有白箱模型，灰箱模型，黑箱模型。</a:t>
            </a:r>
            <a:endParaRPr lang="zh-CN" altLang="zh-CN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615" y="1110615"/>
            <a:ext cx="10224770" cy="5858510"/>
          </a:xfrm>
        </p:spPr>
        <p:txBody>
          <a:bodyPr>
            <a:normAutofit/>
          </a:bodyPr>
          <a:p>
            <a:r>
              <a:rPr lang="zh-CN" altLang="en-US" sz="2200"/>
              <a:t>（</a:t>
            </a:r>
            <a:r>
              <a:rPr lang="en-US" altLang="zh-CN" sz="2200"/>
              <a:t>2</a:t>
            </a:r>
            <a:r>
              <a:rPr lang="zh-CN" altLang="en-US" sz="2200"/>
              <a:t>）数学建模的十大算法：</a:t>
            </a:r>
            <a:endParaRPr lang="zh-CN" altLang="en-US" sz="2200"/>
          </a:p>
          <a:p>
            <a:r>
              <a:rPr lang="en-US" altLang="zh-CN" sz="1800"/>
              <a:t>1 </a:t>
            </a:r>
            <a:r>
              <a:rPr lang="zh-CN" altLang="en-US" sz="1800"/>
              <a:t>蒙特卡洛算法（该算法又称随机性模拟算法，是通过计算机仿真来解决问题的算法，同时可以通过模拟可以来检验自己模型的正确性，比较好用的算法。）</a:t>
            </a:r>
            <a:endParaRPr lang="zh-CN" altLang="en-US" sz="1800"/>
          </a:p>
          <a:p>
            <a:r>
              <a:rPr lang="en-US" altLang="zh-CN" sz="1800"/>
              <a:t>2 </a:t>
            </a:r>
            <a:r>
              <a:rPr lang="zh-CN" altLang="en-US" sz="1800"/>
              <a:t>数据拟合、参数估计、插值等数据处理算法（比赛中通常会遇到大量的数据需要处理，而处理数据的关键就在于这些算法，通常使用matlab作为工具。）</a:t>
            </a:r>
            <a:endParaRPr lang="zh-CN" altLang="en-US" sz="1800"/>
          </a:p>
          <a:p>
            <a:r>
              <a:rPr lang="en-US" altLang="zh-CN" sz="1800"/>
              <a:t>3 </a:t>
            </a:r>
            <a:r>
              <a:rPr lang="zh-CN" altLang="en-US" sz="1800"/>
              <a:t>线性规划、整数规划、多元规划、二次规划等规划类问题（建模竞赛大多数问题属于最优化问题，很多时候这些问题可以用数学规划算法来描述，通常使用lingo、lingdo软件实现）</a:t>
            </a:r>
            <a:endParaRPr lang="zh-CN" altLang="en-US" sz="1800"/>
          </a:p>
          <a:p>
            <a:r>
              <a:rPr lang="en-US" altLang="zh-CN" sz="1800"/>
              <a:t>4 </a:t>
            </a:r>
            <a:r>
              <a:rPr lang="zh-CN" altLang="en-US" sz="1800"/>
              <a:t>图论算法（这类算法可以分为很多种，包括最短路、网络流、二分图等算法，涉及到图论的问题可以用这些方法解决，需要认真准备。）</a:t>
            </a:r>
            <a:endParaRPr lang="zh-CN" altLang="en-US" sz="1800"/>
          </a:p>
          <a:p>
            <a:r>
              <a:rPr lang="en-US" altLang="zh-CN" sz="1800"/>
              <a:t>5 </a:t>
            </a:r>
            <a:r>
              <a:rPr lang="zh-CN" altLang="en-US" sz="1800"/>
              <a:t>动态规划、回溯搜索、分治算法、分支定界等计算机算法（这些算法是算法设计中比较常用的方法，很多场合可以用到竞赛中）</a:t>
            </a:r>
            <a:endParaRPr lang="zh-CN" altLang="en-US" sz="1800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615" y="1067435"/>
            <a:ext cx="10224770" cy="4701540"/>
          </a:xfrm>
        </p:spPr>
        <p:txBody>
          <a:bodyPr>
            <a:normAutofit fontScale="80000"/>
          </a:bodyPr>
          <a:p>
            <a:r>
              <a:rPr lang="en-US" altLang="zh-CN">
                <a:sym typeface="+mn-ea"/>
              </a:rPr>
              <a:t>6 </a:t>
            </a:r>
            <a:r>
              <a:rPr lang="zh-CN" altLang="en-US">
                <a:sym typeface="+mn-ea"/>
              </a:rPr>
              <a:t>最优化理论的三大非经典算法：模拟退火法、神经网络、遗传算法（这些问题时用来解决一些较困难的最优化问题的算法，对于有些问题非常有帮助，但是算法的实现比较困难，需谨慎使用）</a:t>
            </a:r>
            <a:endParaRPr lang="zh-CN" altLang="en-US"/>
          </a:p>
          <a:p>
            <a:r>
              <a:rPr lang="en-US" altLang="zh-CN">
                <a:sym typeface="+mn-ea"/>
              </a:rPr>
              <a:t>7 </a:t>
            </a:r>
            <a:r>
              <a:rPr lang="zh-CN" altLang="en-US">
                <a:sym typeface="+mn-ea"/>
              </a:rPr>
              <a:t>网格算法和穷举法（当重点讨论模型本身而情史算法的时候，可以使用这种暴力方案，最好使用一些高级语言作为编程工具）</a:t>
            </a:r>
            <a:endParaRPr lang="zh-CN" altLang="en-US"/>
          </a:p>
          <a:p>
            <a:r>
              <a:rPr lang="en-US" altLang="zh-CN">
                <a:sym typeface="+mn-ea"/>
              </a:rPr>
              <a:t>8 </a:t>
            </a:r>
            <a:r>
              <a:rPr lang="zh-CN" altLang="en-US">
                <a:sym typeface="+mn-ea"/>
              </a:rPr>
              <a:t>一些连续离散化方法（很多问题都是从实际来的，数据可以是连续的，而计算机只认得是离散的数据，因此将其离散化后进行差分代替微分、求和代替积分等思想是非常重要的。</a:t>
            </a:r>
            <a:endParaRPr lang="zh-CN" altLang="en-US"/>
          </a:p>
          <a:p>
            <a:r>
              <a:rPr lang="en-US" altLang="zh-CN">
                <a:sym typeface="+mn-ea"/>
              </a:rPr>
              <a:t>9 </a:t>
            </a:r>
            <a:r>
              <a:rPr lang="zh-CN" altLang="en-US">
                <a:sym typeface="+mn-ea"/>
              </a:rPr>
              <a:t>数值分析算法（如果在比赛中采用高级语言进行编程的话，那一些数值分析中常用的算法比如方程组求解、矩阵运算、函数积分等算法就需要额外编写库函数进行调用。）</a:t>
            </a:r>
            <a:endParaRPr lang="zh-CN" altLang="en-US"/>
          </a:p>
          <a:p>
            <a:r>
              <a:rPr lang="en-US" altLang="zh-CN">
                <a:sym typeface="+mn-ea"/>
              </a:rPr>
              <a:t>10 </a:t>
            </a:r>
            <a:r>
              <a:rPr lang="zh-CN" altLang="en-US">
                <a:sym typeface="+mn-ea"/>
              </a:rPr>
              <a:t>图像处理算法（赛题中有一类问题与图形有关，即使与图形无关，论文中也应该要不乏图片的，这些图形如何展示以及如何处理就是需要解决的问题，通常使用matlab来处理问题。）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6348" y="736023"/>
            <a:ext cx="10224655" cy="4023360"/>
          </a:xfrm>
        </p:spPr>
        <p:txBody>
          <a:bodyPr/>
          <a:p>
            <a:pPr marL="0" indent="0" algn="ctr">
              <a:buNone/>
            </a:pPr>
            <a:endParaRPr lang="zh-CN" altLang="en-US" sz="7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  <a:p>
            <a:pPr marL="0" indent="0" algn="ctr">
              <a:buNone/>
            </a:pPr>
            <a:r>
              <a:rPr lang="zh-CN" altLang="en-US" sz="72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谢谢</a:t>
            </a:r>
            <a:endParaRPr lang="zh-CN" altLang="en-US" sz="72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51210175510"/>
  <p:tag name="MH_LIBRARY" val="GRAPHIC"/>
  <p:tag name="MH_ORDER" val="Rectangle 28"/>
</p:tagLst>
</file>

<file path=ppt/tags/tag2.xml><?xml version="1.0" encoding="utf-8"?>
<p:tagLst xmlns:p="http://schemas.openxmlformats.org/presentationml/2006/main">
  <p:tag name="MH" val="20151210175510"/>
  <p:tag name="MH_LIBRARY" val="GRAPHIC"/>
  <p:tag name="MH_ORDER" val="Rectangle 117"/>
</p:tagLst>
</file>

<file path=ppt/tags/tag3.xml><?xml version="1.0" encoding="utf-8"?>
<p:tagLst xmlns:p="http://schemas.openxmlformats.org/presentationml/2006/main">
  <p:tag name="KSO_WM_TAG_VERSION" val="1.0"/>
  <p:tag name="KSO_WM_TEMPLATE_CATEGORY" val="custom"/>
  <p:tag name="KSO_WM_TEMPLATE_INDEX" val="160501"/>
</p:tagLst>
</file>

<file path=ppt/tags/tag4.xml><?xml version="1.0" encoding="utf-8"?>
<p:tagLst xmlns:p="http://schemas.openxmlformats.org/presentationml/2006/main">
  <p:tag name="KSO_WM_TAG_VERSION" val="1.0"/>
  <p:tag name="KSO_WM_TEMPLATE_CATEGORY" val="custom"/>
  <p:tag name="KSO_WM_TEMPLATE_INDEX" val="160501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01"/>
  <p:tag name="KSO_WM_UNIT_TYPE" val="a"/>
  <p:tag name="KSO_WM_UNIT_INDEX" val="1"/>
  <p:tag name="KSO_WM_UNIT_ID" val="custom160501_1*a*1"/>
  <p:tag name="KSO_WM_UNIT_CLEAR" val="1"/>
  <p:tag name="KSO_WM_UNIT_LAYERLEVEL" val="1"/>
  <p:tag name="KSO_WM_UNIT_VALUE" val="22"/>
  <p:tag name="KSO_WM_UNIT_ISCONTENTSTITLE" val="0"/>
  <p:tag name="KSO_WM_UNIT_HIGHLIGHT" val="0"/>
  <p:tag name="KSO_WM_UNIT_COMPATIBLE" val="0"/>
  <p:tag name="KSO_WM_UNIT_PRESET_TEXT_INDEX" val="3"/>
  <p:tag name="KSO_WM_UNIT_PRESET_TEXT_LEN" val="12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501"/>
  <p:tag name="KSO_WM_UNIT_TYPE" val="b"/>
  <p:tag name="KSO_WM_UNIT_INDEX" val="1"/>
  <p:tag name="KSO_WM_UNIT_ID" val="custom160501_1*b*1"/>
  <p:tag name="KSO_WM_UNIT_CLEAR" val="1"/>
  <p:tag name="KSO_WM_UNIT_LAYERLEVEL" val="1"/>
  <p:tag name="KSO_WM_UNIT_VALUE" val="2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7.xml><?xml version="1.0" encoding="utf-8"?>
<p:tagLst xmlns:p="http://schemas.openxmlformats.org/presentationml/2006/main">
  <p:tag name="KSO_WM_TEMPLATE_CATEGORY" val="custom"/>
  <p:tag name="KSO_WM_TEMPLATE_INDEX" val="160501"/>
  <p:tag name="KSO_WM_TAG_VERSION" val="1.0"/>
  <p:tag name="KSO_WM_SLIDE_ID" val="custom160501_1"/>
  <p:tag name="KSO_WM_SLIDE_INDEX" val="1"/>
  <p:tag name="KSO_WM_SLIDE_ITEM_CNT" val="2"/>
  <p:tag name="KSO_WM_SLIDE_LAYOUT" val="a_b"/>
  <p:tag name="KSO_WM_SLIDE_LAYOUT_CNT" val="1_1"/>
  <p:tag name="KSO_WM_SLIDE_TYPE" val="title"/>
  <p:tag name="KSO_WM_TEMPLATE_THUMBS_INDEX" val="1、10、12、18、24、25、26、27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自定义 22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CAC1F"/>
      </a:accent1>
      <a:accent2>
        <a:srgbClr val="2C91CE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92D05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2709</Words>
  <Application>WPS 演示</Application>
  <PresentationFormat>宽屏</PresentationFormat>
  <Paragraphs>98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Office 主题</vt:lpstr>
      <vt:lpstr>第一节：数模竞赛及学习要点入门</vt:lpstr>
      <vt:lpstr>1 数模竞赛一览表</vt:lpstr>
      <vt:lpstr>PowerPoint 演示文稿</vt:lpstr>
      <vt:lpstr>2 时间及认可度</vt:lpstr>
      <vt:lpstr>PowerPoint 演示文稿</vt:lpstr>
      <vt:lpstr>3 时间一览表</vt:lpstr>
      <vt:lpstr>4 六个月数模准备方法</vt:lpstr>
      <vt:lpstr>5 数模算法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个性</cp:lastModifiedBy>
  <cp:revision>5</cp:revision>
  <dcterms:created xsi:type="dcterms:W3CDTF">2017-03-24T13:25:00Z</dcterms:created>
  <dcterms:modified xsi:type="dcterms:W3CDTF">2018-03-01T12:08:27Z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