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321" r:id="rId4"/>
    <p:sldId id="257" r:id="rId5"/>
    <p:sldId id="271" r:id="rId6"/>
    <p:sldId id="334" r:id="rId7"/>
    <p:sldId id="335" r:id="rId8"/>
    <p:sldId id="330" r:id="rId9"/>
    <p:sldId id="323" r:id="rId10"/>
    <p:sldId id="324" r:id="rId11"/>
    <p:sldId id="328" r:id="rId12"/>
    <p:sldId id="329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2049" descr="9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标题 2050"/>
          <p:cNvSpPr>
            <a:spLocks noGrp="1"/>
          </p:cNvSpPr>
          <p:nvPr>
            <p:ph type="ctrTitle"/>
          </p:nvPr>
        </p:nvSpPr>
        <p:spPr>
          <a:xfrm>
            <a:off x="2929467" y="3717925"/>
            <a:ext cx="8540751" cy="11080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 algn="r">
              <a:defRPr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2929467" y="4940300"/>
            <a:ext cx="8534400" cy="7207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r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53" name="日期占位符 2052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520180" y="2973705"/>
            <a:ext cx="5290185" cy="1108075"/>
          </a:xfrm>
        </p:spPr>
        <p:txBody>
          <a:bodyPr/>
          <a:p>
            <a:pPr algn="ctr"/>
            <a:r>
              <a:rPr lang="zh-CN" altLang="en-US" b="1">
                <a:latin typeface="黑体" panose="02010609060101010101" charset="-122"/>
                <a:ea typeface="黑体" panose="02010609060101010101" charset="-122"/>
                <a:sym typeface="+mn-ea"/>
              </a:rPr>
              <a:t>国赛培训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sym typeface="+mn-ea"/>
              </a:rPr>
              <a:t>2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sym typeface="+mn-ea"/>
              </a:rPr>
              <a:t>数学建模基础入门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7821930" y="4081780"/>
            <a:ext cx="2686685" cy="1303655"/>
          </a:xfrm>
        </p:spPr>
        <p:txBody>
          <a:bodyPr/>
          <a:p>
            <a:pPr algn="ctr"/>
            <a:r>
              <a:rPr lang="en-US" altLang="zh-CN"/>
              <a:t>                                  </a:t>
            </a:r>
            <a:r>
              <a:rPr lang="zh-CN" altLang="en-US"/>
              <a:t>主讲：老教练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143250" y="476250"/>
            <a:ext cx="5113338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en-US" altLang="zh-CN" sz="32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、数学建模与能力培养</a:t>
            </a:r>
            <a:endParaRPr lang="zh-CN" altLang="en-US" sz="32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1363" name="文本框 271362"/>
          <p:cNvSpPr txBox="1"/>
          <p:nvPr/>
        </p:nvSpPr>
        <p:spPr>
          <a:xfrm>
            <a:off x="2855913" y="447040"/>
            <a:ext cx="5688012" cy="507873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数学建模越来越火了！</a:t>
            </a:r>
            <a:endParaRPr lang="zh-CN" altLang="en-US" sz="3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关心的人越来越多了！</a:t>
            </a:r>
            <a:endParaRPr lang="zh-CN" altLang="en-US" sz="36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社会关注越来越多了！</a:t>
            </a:r>
            <a:endParaRPr lang="zh-CN" altLang="en-US" sz="3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参与的人越来越多了！</a:t>
            </a:r>
            <a:endParaRPr lang="zh-CN" altLang="en-US" sz="36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文章成果越来越多了！</a:t>
            </a:r>
            <a:endParaRPr lang="zh-CN" altLang="en-US" sz="3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出版的书越来越多了！</a:t>
            </a:r>
            <a:endParaRPr lang="zh-CN" altLang="en-US" sz="36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竞赛规模越来越大了！</a:t>
            </a:r>
            <a:endParaRPr lang="zh-CN" altLang="en-US" sz="3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竞赛水平越来越高了！</a:t>
            </a:r>
            <a:endParaRPr lang="zh-CN" altLang="en-US" sz="36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>
              <a:buClr>
                <a:schemeClr val="bg1"/>
              </a:buClr>
              <a:buChar char="•"/>
            </a:pP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竞赛获奖越来越难了！</a:t>
            </a:r>
            <a:endParaRPr lang="zh-CN" altLang="en-US" sz="3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8" name="图片 7" descr="j00786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2975" y="4119245"/>
            <a:ext cx="654050" cy="1406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圆角矩形标注 8"/>
          <p:cNvSpPr/>
          <p:nvPr/>
        </p:nvSpPr>
        <p:spPr>
          <a:xfrm>
            <a:off x="8551545" y="2174204"/>
            <a:ext cx="1506538" cy="1624086"/>
          </a:xfrm>
          <a:prstGeom prst="wedgeRoundRectCallout">
            <a:avLst>
              <a:gd name="adj1" fmla="val 39463"/>
              <a:gd name="adj2" fmla="val 71403"/>
              <a:gd name="adj3" fmla="val 16667"/>
            </a:avLst>
          </a:prstGeom>
          <a:solidFill>
            <a:srgbClr val="EBF7FF"/>
          </a:solidFill>
          <a:ln w="9525" cap="flat" cmpd="sng">
            <a:solidFill>
              <a:srgbClr val="DB3BD7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0" rIns="18000" bIns="0" anchor="ctr">
            <a:spAutoFit/>
          </a:bodyPr>
          <a:p>
            <a:pPr algn="ctr" eaLnBrk="0" hangingPunct="0">
              <a:buClr>
                <a:schemeClr val="bg1"/>
              </a:buClr>
            </a:pP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小伙伴们有没有发现这样的变化呀</a:t>
            </a:r>
            <a:endParaRPr lang="zh-CN" altLang="en-US" sz="2400" b="1" dirty="0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7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31153"/>
            <a:ext cx="10972800" cy="1143000"/>
          </a:xfrm>
        </p:spPr>
        <p:txBody>
          <a:bodyPr/>
          <a:p>
            <a:r>
              <a:rPr lang="en-US" altLang="zh-CN"/>
              <a:t>1 </a:t>
            </a:r>
            <a:r>
              <a:rPr lang="zh-CN" altLang="en-US"/>
              <a:t>什么叫数学建模？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890905"/>
            <a:ext cx="10972800" cy="4525963"/>
          </a:xfrm>
        </p:spPr>
        <p:txBody>
          <a:bodyPr/>
          <a:p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最简单地回答——数学建模就是仨人一起写论文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上个档次的回答</a:t>
            </a:r>
            <a:r>
              <a:rPr lang="en-US" altLang="zh-CN"/>
              <a:t>——</a:t>
            </a:r>
            <a:r>
              <a:rPr lang="zh-CN" altLang="en-US"/>
              <a:t>用数学模型去解决生活中的问题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最有档次的的回答</a:t>
            </a:r>
            <a:r>
              <a:rPr lang="en-US" altLang="zh-CN"/>
              <a:t>——</a:t>
            </a:r>
            <a:r>
              <a:rPr lang="zh-CN" altLang="en-US"/>
              <a:t>数学建模就是三个人为了拿奖，艰苦奋斗，蓬头盖面各种扯，扯的连自己都感动的一件事。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9" name="矩形 44038"/>
          <p:cNvSpPr/>
          <p:nvPr/>
        </p:nvSpPr>
        <p:spPr>
          <a:xfrm>
            <a:off x="1981200" y="381000"/>
            <a:ext cx="7162800" cy="13716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anchor="ctr"/>
          <a:p>
            <a:pPr algn="ctr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数学模型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(Mathematical Model) 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  数学建模（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Mathematical Modeling)</a:t>
            </a:r>
            <a:endParaRPr lang="en-US" altLang="zh-CN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0" name="矩形 44039"/>
          <p:cNvSpPr/>
          <p:nvPr/>
        </p:nvSpPr>
        <p:spPr>
          <a:xfrm>
            <a:off x="2208213" y="2636838"/>
            <a:ext cx="7704137" cy="165576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对于一个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现实对象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，为了一个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特定目的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根据其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内在规律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，作出必要的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简化假设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运用适当的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数学工具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，得到的一个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数学结构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4041" name="矩形 44040"/>
          <p:cNvSpPr/>
          <p:nvPr/>
        </p:nvSpPr>
        <p:spPr>
          <a:xfrm>
            <a:off x="3648075" y="4581525"/>
            <a:ext cx="5945188" cy="12954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/>
          <a:p>
            <a:pPr algn="ctr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建立数学模型的全过程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（包括表述、求解、解释、检验等）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4042" name="对象 44041"/>
          <p:cNvGraphicFramePr/>
          <p:nvPr/>
        </p:nvGraphicFramePr>
        <p:xfrm>
          <a:off x="9525000" y="411163"/>
          <a:ext cx="858838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192780" imgH="3749675" progId="MS_ClipArt_Gallery.2">
                  <p:embed/>
                </p:oleObj>
              </mc:Choice>
              <mc:Fallback>
                <p:oleObj name="" r:id="rId1" imgW="3192780" imgH="3749675" progId="MS_ClipArt_Gallery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25000" y="411163"/>
                        <a:ext cx="858838" cy="1189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文本框 44042"/>
          <p:cNvSpPr txBox="1"/>
          <p:nvPr/>
        </p:nvSpPr>
        <p:spPr>
          <a:xfrm>
            <a:off x="2208213" y="1916113"/>
            <a:ext cx="2016125" cy="58356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数学模型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4" name="文本框 44043"/>
          <p:cNvSpPr txBox="1"/>
          <p:nvPr/>
        </p:nvSpPr>
        <p:spPr>
          <a:xfrm>
            <a:off x="2279650" y="4652963"/>
            <a:ext cx="1008063" cy="1076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数学建模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3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 bldLvl="0" animBg="1"/>
      <p:bldP spid="44041" grpId="0" bldLvl="0" animBg="1"/>
      <p:bldP spid="44043" grpId="0" bldLvl="0" animBg="1"/>
      <p:bldP spid="4404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p>
            <a:r>
              <a:rPr lang="en-US" altLang="zh-CN"/>
              <a:t>2 </a:t>
            </a:r>
            <a:r>
              <a:rPr lang="zh-CN" altLang="en-US"/>
              <a:t>数学建模有什么问题？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22070"/>
            <a:ext cx="10972800" cy="45262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从一段悬疑故事讲起：</a:t>
            </a:r>
            <a:endParaRPr lang="zh-CN" altLang="en-US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一天晚上，月黑风高，一采花大盗王二狗潜入土财主老李家中，见其小妾如花姑娘有沉鱼落雁，闭月羞花之貌，顿生歹念。但如花誓死不从，放声大喊，二狗怕惊到老李，便从独门秘籍锁喉功将其杀害，见如花咽气后，二狗顿时惊慌，蒙上黑丝带迅速逃离而去！</a:t>
            </a:r>
            <a:endParaRPr lang="zh-CN" altLang="en-US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第二天，老李发现如花被杀，立刻联系了京城第一名探，福尔摩斯~老哥，老哥展开了一系列的推理！</a:t>
            </a:r>
            <a:endParaRPr lang="zh-CN" altLang="en-US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57900" y="3390900"/>
          <a:ext cx="762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76200" imgH="76200" progId="Equation.KSEE3">
                  <p:embed/>
                </p:oleObj>
              </mc:Choice>
              <mc:Fallback>
                <p:oleObj name="" r:id="rId1" imgW="76200" imgH="76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57900" y="3390900"/>
                        <a:ext cx="76200" cy="7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57900" y="3390900"/>
          <a:ext cx="762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76200" imgH="76200" progId="Equation.KSEE3">
                  <p:embed/>
                </p:oleObj>
              </mc:Choice>
              <mc:Fallback>
                <p:oleObj name="" r:id="rId3" imgW="76200" imgH="76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57900" y="3390900"/>
                        <a:ext cx="76200" cy="7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神探推理过程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30325"/>
            <a:ext cx="10972800" cy="4525963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）凶手留下的蛛丝马迹，连成线索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）根据线索推测凶手的作案过程及缘由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）利用葵花宝典和人际交往，进行可疑人员的排查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）结合更准确的线索和证据信息对可疑人员进行深度分析，锁定嫌疑人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）对近期类似案件进行梳理，掌握规律，严密布防与抓捕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）教导犯罪嫌疑人认真做人，认真改造</a:t>
            </a:r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5100955" y="796925"/>
            <a:ext cx="1990090" cy="7899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数据处理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5941060" y="1330325"/>
            <a:ext cx="1990090" cy="7899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关联与分析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7142480" y="1958340"/>
            <a:ext cx="1990090" cy="7899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sym typeface="+mn-ea"/>
              </a:rPr>
              <a:t>分类与判别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9132570" y="2586990"/>
            <a:ext cx="1990090" cy="7899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sym typeface="+mn-ea"/>
              </a:rPr>
              <a:t>评价与决策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8089265" y="3198495"/>
            <a:ext cx="1990090" cy="7899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sym typeface="+mn-ea"/>
              </a:rPr>
              <a:t>预测与预报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5816600" y="3833495"/>
            <a:ext cx="1990090" cy="7899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sym typeface="+mn-ea"/>
              </a:rPr>
              <a:t>优化与控制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4739" name="流程图: 可选过程 244738"/>
          <p:cNvSpPr/>
          <p:nvPr/>
        </p:nvSpPr>
        <p:spPr>
          <a:xfrm>
            <a:off x="1780223" y="1409065"/>
            <a:ext cx="609600" cy="1600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际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问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题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4740" name="右箭头 244739"/>
          <p:cNvSpPr/>
          <p:nvPr/>
        </p:nvSpPr>
        <p:spPr>
          <a:xfrm>
            <a:off x="2389823" y="2018665"/>
            <a:ext cx="4572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2B40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41" name="流程图: 可选过程 244740"/>
          <p:cNvSpPr/>
          <p:nvPr/>
        </p:nvSpPr>
        <p:spPr>
          <a:xfrm>
            <a:off x="2847023" y="1409065"/>
            <a:ext cx="1295400" cy="1600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抽象、简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化问题，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明确变量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和参数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42" name="右箭头 244741"/>
          <p:cNvSpPr/>
          <p:nvPr/>
        </p:nvSpPr>
        <p:spPr>
          <a:xfrm>
            <a:off x="6123623" y="2094865"/>
            <a:ext cx="4572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2B40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43" name="流程图: 可选过程 244742"/>
          <p:cNvSpPr/>
          <p:nvPr/>
        </p:nvSpPr>
        <p:spPr>
          <a:xfrm>
            <a:off x="4599623" y="1256665"/>
            <a:ext cx="1524000" cy="1981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根据某种定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律建立变量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和参数间的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数学关系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（数学问题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）</a:t>
            </a:r>
            <a:endParaRPr lang="zh-CN" altLang="en-US" sz="320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4744" name="右箭头 244743"/>
          <p:cNvSpPr/>
          <p:nvPr/>
        </p:nvSpPr>
        <p:spPr>
          <a:xfrm>
            <a:off x="4142423" y="2094865"/>
            <a:ext cx="4572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2B40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45" name="流程图: 可选过程 244744"/>
          <p:cNvSpPr/>
          <p:nvPr/>
        </p:nvSpPr>
        <p:spPr>
          <a:xfrm>
            <a:off x="6580823" y="1485265"/>
            <a:ext cx="1187450" cy="1600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/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解析或近似地求解该数学问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题</a:t>
            </a:r>
            <a:endParaRPr lang="zh-CN" altLang="en-US" sz="2400" b="1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46" name="右箭头 244745"/>
          <p:cNvSpPr/>
          <p:nvPr/>
        </p:nvSpPr>
        <p:spPr>
          <a:xfrm>
            <a:off x="7768273" y="2094865"/>
            <a:ext cx="565150" cy="533400"/>
          </a:xfrm>
          <a:prstGeom prst="rightArrow">
            <a:avLst>
              <a:gd name="adj1" fmla="val 50000"/>
              <a:gd name="adj2" fmla="val 26488"/>
            </a:avLst>
          </a:prstGeom>
          <a:solidFill>
            <a:srgbClr val="32B40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47" name="流程图: 可选过程 244746"/>
          <p:cNvSpPr/>
          <p:nvPr/>
        </p:nvSpPr>
        <p:spPr>
          <a:xfrm>
            <a:off x="8333423" y="1561465"/>
            <a:ext cx="685800" cy="14478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>
              <a:lnSpc>
                <a:spcPct val="8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解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释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验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0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证</a:t>
            </a:r>
            <a:endParaRPr lang="zh-CN" altLang="en-US" sz="2400" b="1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48" name="右箭头 244747"/>
          <p:cNvSpPr/>
          <p:nvPr/>
        </p:nvSpPr>
        <p:spPr>
          <a:xfrm>
            <a:off x="9019223" y="2094865"/>
            <a:ext cx="4572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2B40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49" name="流程图: 可选过程 244748"/>
          <p:cNvSpPr/>
          <p:nvPr/>
        </p:nvSpPr>
        <p:spPr>
          <a:xfrm>
            <a:off x="9476423" y="1561465"/>
            <a:ext cx="685800" cy="14478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应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</a:t>
            </a:r>
            <a:endParaRPr lang="zh-CN" altLang="en-US" sz="2400" b="1" dirty="0">
              <a:solidFill>
                <a:srgbClr val="3333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>
              <a:lnSpc>
                <a:spcPct val="85000"/>
              </a:lnSpc>
              <a:buClr>
                <a:schemeClr val="bg1"/>
              </a:buClr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际</a:t>
            </a:r>
            <a:endParaRPr lang="zh-CN" altLang="en-US" sz="32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4750" name="直接连接符 244749"/>
          <p:cNvSpPr/>
          <p:nvPr/>
        </p:nvSpPr>
        <p:spPr>
          <a:xfrm flipV="1">
            <a:off x="3532823" y="3009265"/>
            <a:ext cx="0" cy="609600"/>
          </a:xfrm>
          <a:prstGeom prst="line">
            <a:avLst/>
          </a:prstGeom>
          <a:ln w="38100" cap="flat" cmpd="sng">
            <a:solidFill>
              <a:srgbClr val="DE0AEE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4751" name="直接连接符 244750"/>
          <p:cNvSpPr/>
          <p:nvPr/>
        </p:nvSpPr>
        <p:spPr>
          <a:xfrm>
            <a:off x="3532823" y="3618865"/>
            <a:ext cx="5105400" cy="0"/>
          </a:xfrm>
          <a:prstGeom prst="line">
            <a:avLst/>
          </a:prstGeom>
          <a:ln w="38100" cap="flat" cmpd="sng">
            <a:solidFill>
              <a:srgbClr val="DE0AE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52" name="直接连接符 244751"/>
          <p:cNvSpPr/>
          <p:nvPr/>
        </p:nvSpPr>
        <p:spPr>
          <a:xfrm flipV="1">
            <a:off x="8638223" y="3009265"/>
            <a:ext cx="0" cy="609600"/>
          </a:xfrm>
          <a:prstGeom prst="line">
            <a:avLst/>
          </a:prstGeom>
          <a:ln w="38100" cap="flat" cmpd="sng">
            <a:solidFill>
              <a:srgbClr val="DE0AE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53" name="直接连接符 244752"/>
          <p:cNvSpPr/>
          <p:nvPr/>
        </p:nvSpPr>
        <p:spPr>
          <a:xfrm>
            <a:off x="8714423" y="3085465"/>
            <a:ext cx="0" cy="609600"/>
          </a:xfrm>
          <a:prstGeom prst="line">
            <a:avLst/>
          </a:prstGeom>
          <a:ln w="38100" cap="flat" cmpd="sng">
            <a:solidFill>
              <a:srgbClr val="32B40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54" name="直接连接符 244753"/>
          <p:cNvSpPr/>
          <p:nvPr/>
        </p:nvSpPr>
        <p:spPr>
          <a:xfrm flipV="1">
            <a:off x="3456623" y="3085465"/>
            <a:ext cx="0" cy="609600"/>
          </a:xfrm>
          <a:prstGeom prst="line">
            <a:avLst/>
          </a:prstGeom>
          <a:ln w="38100" cap="flat" cmpd="sng">
            <a:solidFill>
              <a:srgbClr val="32B40E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4755" name="直接连接符 244754"/>
          <p:cNvSpPr/>
          <p:nvPr/>
        </p:nvSpPr>
        <p:spPr>
          <a:xfrm flipH="1">
            <a:off x="3456623" y="3695065"/>
            <a:ext cx="5257800" cy="0"/>
          </a:xfrm>
          <a:prstGeom prst="line">
            <a:avLst/>
          </a:prstGeom>
          <a:ln w="38100" cap="flat" cmpd="sng">
            <a:solidFill>
              <a:srgbClr val="32B40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4757" name="流程图: 可选过程 244756"/>
          <p:cNvSpPr/>
          <p:nvPr/>
        </p:nvSpPr>
        <p:spPr>
          <a:xfrm>
            <a:off x="2132330" y="3985895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实际问题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58" name="右箭头 244757"/>
          <p:cNvSpPr/>
          <p:nvPr/>
        </p:nvSpPr>
        <p:spPr>
          <a:xfrm>
            <a:off x="3351530" y="4138295"/>
            <a:ext cx="381000" cy="228600"/>
          </a:xfrm>
          <a:prstGeom prst="right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59" name="流程图: 可选过程 244758"/>
          <p:cNvSpPr/>
          <p:nvPr/>
        </p:nvSpPr>
        <p:spPr>
          <a:xfrm>
            <a:off x="3749993" y="3985895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模型分析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60" name="右箭头 244759"/>
          <p:cNvSpPr/>
          <p:nvPr/>
        </p:nvSpPr>
        <p:spPr>
          <a:xfrm>
            <a:off x="4951730" y="4138295"/>
            <a:ext cx="381000" cy="228600"/>
          </a:xfrm>
          <a:prstGeom prst="right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61" name="流程图: 可选过程 244760"/>
          <p:cNvSpPr/>
          <p:nvPr/>
        </p:nvSpPr>
        <p:spPr>
          <a:xfrm>
            <a:off x="5332730" y="3985895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模型假设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62" name="右箭头 244761"/>
          <p:cNvSpPr/>
          <p:nvPr/>
        </p:nvSpPr>
        <p:spPr>
          <a:xfrm>
            <a:off x="6551930" y="4138295"/>
            <a:ext cx="381000" cy="228600"/>
          </a:xfrm>
          <a:prstGeom prst="right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63" name="流程图: 可选过程 244762"/>
          <p:cNvSpPr/>
          <p:nvPr/>
        </p:nvSpPr>
        <p:spPr>
          <a:xfrm>
            <a:off x="6932930" y="3985895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模型建立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64" name="右箭头 244763"/>
          <p:cNvSpPr/>
          <p:nvPr/>
        </p:nvSpPr>
        <p:spPr>
          <a:xfrm>
            <a:off x="8152130" y="4138295"/>
            <a:ext cx="381000" cy="228600"/>
          </a:xfrm>
          <a:prstGeom prst="right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65" name="流程图: 可选过程 244764"/>
          <p:cNvSpPr/>
          <p:nvPr/>
        </p:nvSpPr>
        <p:spPr>
          <a:xfrm>
            <a:off x="8533130" y="3985895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模型求解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66" name="下箭头 244765"/>
          <p:cNvSpPr/>
          <p:nvPr/>
        </p:nvSpPr>
        <p:spPr>
          <a:xfrm>
            <a:off x="9099868" y="4419283"/>
            <a:ext cx="193675" cy="614362"/>
          </a:xfrm>
          <a:prstGeom prst="downArrow">
            <a:avLst>
              <a:gd name="adj1" fmla="val 50000"/>
              <a:gd name="adj2" fmla="val 7930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67" name="流程图: 可选过程 244766"/>
          <p:cNvSpPr/>
          <p:nvPr/>
        </p:nvSpPr>
        <p:spPr>
          <a:xfrm>
            <a:off x="8642668" y="5047933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解的分析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68" name="左箭头 244767"/>
          <p:cNvSpPr/>
          <p:nvPr/>
        </p:nvSpPr>
        <p:spPr>
          <a:xfrm>
            <a:off x="7804468" y="5200333"/>
            <a:ext cx="823912" cy="228600"/>
          </a:xfrm>
          <a:prstGeom prst="leftArrow">
            <a:avLst>
              <a:gd name="adj1" fmla="val 50000"/>
              <a:gd name="adj2" fmla="val 9010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69" name="流程图: 可选过程 244768"/>
          <p:cNvSpPr/>
          <p:nvPr/>
        </p:nvSpPr>
        <p:spPr>
          <a:xfrm>
            <a:off x="6585268" y="5047933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模型检验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70" name="左箭头 244769"/>
          <p:cNvSpPr/>
          <p:nvPr/>
        </p:nvSpPr>
        <p:spPr>
          <a:xfrm>
            <a:off x="5518468" y="5200333"/>
            <a:ext cx="1066800" cy="228600"/>
          </a:xfrm>
          <a:prstGeom prst="leftArrow">
            <a:avLst>
              <a:gd name="adj1" fmla="val 50000"/>
              <a:gd name="adj2" fmla="val 116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71" name="流程图: 可选过程 244770"/>
          <p:cNvSpPr/>
          <p:nvPr/>
        </p:nvSpPr>
        <p:spPr>
          <a:xfrm>
            <a:off x="4299268" y="5047933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论文写作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72" name="左箭头 244771"/>
          <p:cNvSpPr/>
          <p:nvPr/>
        </p:nvSpPr>
        <p:spPr>
          <a:xfrm>
            <a:off x="3308668" y="5200333"/>
            <a:ext cx="990600" cy="228600"/>
          </a:xfrm>
          <a:prstGeom prst="leftArrow">
            <a:avLst>
              <a:gd name="adj1" fmla="val 50000"/>
              <a:gd name="adj2" fmla="val 108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4773" name="流程图: 可选过程 244772"/>
          <p:cNvSpPr/>
          <p:nvPr/>
        </p:nvSpPr>
        <p:spPr>
          <a:xfrm>
            <a:off x="2089468" y="5047933"/>
            <a:ext cx="1219200" cy="457200"/>
          </a:xfrm>
          <a:prstGeom prst="flowChartAlternateProcess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rIns="0" anchor="ctr"/>
          <a:p>
            <a:pPr algn="ctr">
              <a:buClr>
                <a:schemeClr val="bg1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应用实际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4774" name="直接连接符 244773"/>
          <p:cNvSpPr/>
          <p:nvPr/>
        </p:nvSpPr>
        <p:spPr>
          <a:xfrm flipH="1" flipV="1">
            <a:off x="5982018" y="4490720"/>
            <a:ext cx="1289050" cy="557213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1970" name="文本框 211969"/>
          <p:cNvSpPr txBox="1"/>
          <p:nvPr/>
        </p:nvSpPr>
        <p:spPr>
          <a:xfrm>
            <a:off x="4836160" y="367665"/>
            <a:ext cx="394652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</a:t>
            </a:r>
            <a:r>
              <a:rPr lang="zh-CN" altLang="en-US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数学</a:t>
            </a:r>
            <a:r>
              <a:rPr lang="zh-CN" altLang="en-US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建模步骤</a:t>
            </a:r>
            <a:endParaRPr lang="zh-CN" altLang="en-US" sz="36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4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4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4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24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500"/>
                            </p:stCondLst>
                            <p:childTnLst>
                              <p:par>
                                <p:cTn id="1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24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000"/>
                            </p:stCondLst>
                            <p:childTnLst>
                              <p:par>
                                <p:cTn id="1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24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500"/>
                            </p:stCondLst>
                            <p:childTnLst>
                              <p:par>
                                <p:cTn id="1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2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70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24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500"/>
                            </p:stCondLst>
                            <p:childTnLst>
                              <p:par>
                                <p:cTn id="1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24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8000"/>
                            </p:stCondLst>
                            <p:childTnLst>
                              <p:par>
                                <p:cTn id="1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2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4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ldLvl="0" animBg="1"/>
      <p:bldP spid="244741" grpId="0" bldLvl="0" animBg="1"/>
      <p:bldP spid="244743" grpId="0" bldLvl="0" animBg="1"/>
      <p:bldP spid="244745" grpId="0" bldLvl="0" animBg="1"/>
      <p:bldP spid="244747" grpId="0" bldLvl="0" animBg="1"/>
      <p:bldP spid="244749" grpId="0" bldLvl="0" animBg="1"/>
      <p:bldP spid="244757" grpId="0" bldLvl="0" animBg="1"/>
      <p:bldP spid="244759" grpId="0" bldLvl="0" animBg="1"/>
      <p:bldP spid="244761" grpId="0" bldLvl="0" animBg="1"/>
      <p:bldP spid="244763" grpId="0" bldLvl="0" animBg="1"/>
      <p:bldP spid="244765" grpId="0" bldLvl="0" animBg="1"/>
      <p:bldP spid="244767" grpId="0" bldLvl="0" animBg="1"/>
      <p:bldP spid="244769" grpId="0" bldLvl="0" animBg="1"/>
      <p:bldP spid="244771" grpId="0" bldLvl="0" animBg="1"/>
      <p:bldP spid="24477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4434" name="文本框 274433"/>
          <p:cNvSpPr txBox="1"/>
          <p:nvPr/>
        </p:nvSpPr>
        <p:spPr>
          <a:xfrm>
            <a:off x="1891348" y="1299210"/>
            <a:ext cx="4067175" cy="24917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丰富灵活的想象能力</a:t>
            </a: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抽象思维的简化能力</a:t>
            </a: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一眼看穿的洞察能力</a:t>
            </a: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发散思维的联想能力</a:t>
            </a: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与时俱进的开拓能力</a:t>
            </a: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活学活用的创造能力</a:t>
            </a: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zh-CN" altLang="en-US" sz="2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4436" name="文本框 274435"/>
          <p:cNvSpPr txBox="1"/>
          <p:nvPr/>
        </p:nvSpPr>
        <p:spPr>
          <a:xfrm>
            <a:off x="6096000" y="3285173"/>
            <a:ext cx="4319588" cy="24917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会抓重点的判断能力</a:t>
            </a: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8.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灵活运用的综合能力</a:t>
            </a: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9.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使用计算机的动手能力</a:t>
            </a: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信息资料的查阅能力</a:t>
            </a: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11.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科技论文的写作能力</a:t>
            </a:r>
            <a:r>
              <a:rPr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bg1"/>
              </a:buClr>
            </a:pPr>
            <a:r>
              <a:rPr lang="en-US" altLang="zh-CN" sz="2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12.</a:t>
            </a:r>
            <a:r>
              <a:rPr lang="zh-CN" altLang="en-US" sz="2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团结协作的攻关能力。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4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09600" y="241618"/>
            <a:ext cx="10972800" cy="1143000"/>
          </a:xfrm>
        </p:spPr>
        <p:txBody>
          <a:bodyPr/>
          <a:p>
            <a:r>
              <a:rPr lang="en-US" altLang="zh-CN"/>
              <a:t>4 </a:t>
            </a:r>
            <a:r>
              <a:rPr lang="zh-CN" altLang="en-US"/>
              <a:t>数学建模需要哪些能力</a:t>
            </a:r>
            <a:r>
              <a:rPr lang="zh-CN" altLang="en-US"/>
              <a:t>？</a:t>
            </a:r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89548"/>
            <a:ext cx="10972800" cy="1143000"/>
          </a:xfrm>
        </p:spPr>
        <p:txBody>
          <a:bodyPr/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 数学建模所需要的方法和知识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7955"/>
            <a:ext cx="10461625" cy="4526280"/>
          </a:xfrm>
        </p:spPr>
        <p:txBody>
          <a:bodyPr/>
          <a:p>
            <a:pPr eaLnBrk="0" hangingPunct="0">
              <a:buClr>
                <a:schemeClr val="bg1"/>
              </a:buClr>
            </a:pPr>
            <a:r>
              <a:rPr lang="zh-CN" altLang="en-US" sz="2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数学建模常用的方法：</a:t>
            </a:r>
            <a:endParaRPr lang="zh-CN" altLang="en-US" sz="2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buClr>
                <a:schemeClr val="bg1"/>
              </a:buClr>
            </a:pP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 解析几何、代数方程、微积分、微分方程、差分方程、概率统计、层次分析、插值与拟合、综合评价、优化方法、数据处理与计算等。</a:t>
            </a:r>
            <a:endParaRPr lang="zh-CN" altLang="en-US" sz="2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buClr>
                <a:schemeClr val="bg1"/>
              </a:buClr>
            </a:pP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 另外，了解一些排队论、对策论、决策论、模糊评判等方面的知识。</a:t>
            </a:r>
            <a:endParaRPr lang="zh-CN" altLang="en-US" sz="2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 eaLnBrk="0" hangingPunct="0">
              <a:buClr>
                <a:schemeClr val="bg1"/>
              </a:buClr>
            </a:pPr>
            <a:r>
              <a:rPr lang="zh-CN" altLang="en-US" sz="2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数学建模应具备的数学知识：</a:t>
            </a:r>
            <a:endParaRPr lang="zh-CN" altLang="en-US" sz="2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buClr>
                <a:schemeClr val="bg1"/>
              </a:buClr>
            </a:pP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sz="2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高等数学、微分方程、运筹学、线性代数、概率统计、数值计算等。</a:t>
            </a:r>
            <a:endParaRPr lang="zh-CN" altLang="en-US" sz="2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29908"/>
            <a:ext cx="10972800" cy="1143000"/>
          </a:xfrm>
        </p:spPr>
        <p:txBody>
          <a:bodyPr/>
          <a:p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 参加数学建模需要什么?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73225"/>
            <a:ext cx="10547350" cy="4526280"/>
          </a:xfrm>
        </p:spPr>
        <p:txBody>
          <a:bodyPr/>
          <a:p>
            <a:pPr eaLnBrk="0" hangingPunct="0">
              <a:lnSpc>
                <a:spcPct val="150000"/>
              </a:lnSpc>
              <a:spcAft>
                <a:spcPct val="50000"/>
              </a:spcAft>
              <a:buClr>
                <a:schemeClr val="bg1"/>
              </a:buClr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首先,要有兴趣，兴趣是第一位的；</a:t>
            </a:r>
            <a:endParaRPr lang="zh-CN" altLang="en-US" sz="2800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ct val="50000"/>
              </a:spcAft>
              <a:buClr>
                <a:schemeClr val="bg1"/>
              </a:buClr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　  其次,要有信心、决心、爱心、苦心和一颗平常心；</a:t>
            </a:r>
            <a:endParaRPr lang="zh-CN" altLang="en-US" sz="2800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ct val="50000"/>
              </a:spcAft>
              <a:buClr>
                <a:schemeClr val="bg1"/>
              </a:buClr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　　然后,要有广泛的知识面、灵活的头脑、良好合作精神、一定的计算技能、妙趣横生的文字表达能力等等。</a:t>
            </a:r>
            <a:endParaRPr lang="zh-CN" altLang="en-US" sz="28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17183"/>
            <a:ext cx="10972800" cy="1143000"/>
          </a:xfrm>
        </p:spPr>
        <p:txBody>
          <a:bodyPr/>
          <a:p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 现在我们应该做些什么？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0" hangingPunct="0">
              <a:lnSpc>
                <a:spcPct val="100000"/>
              </a:lnSpc>
              <a:spcAft>
                <a:spcPct val="50000"/>
              </a:spcAft>
              <a:buClr>
                <a:schemeClr val="bg1"/>
              </a:buClr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扩展知识面，打牢基础，注意要“广、浅、新”。</a:t>
            </a:r>
            <a:endParaRPr lang="zh-CN" altLang="en-US" sz="2800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lnSpc>
                <a:spcPct val="100000"/>
              </a:lnSpc>
              <a:spcAft>
                <a:spcPct val="50000"/>
              </a:spcAft>
              <a:buClr>
                <a:schemeClr val="bg1"/>
              </a:buClr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组织兴趣小组，集体讨论，相互促进，共同提高， 培养团队精神。</a:t>
            </a:r>
            <a:endParaRPr lang="zh-CN" altLang="en-US" sz="2800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lnSpc>
                <a:spcPct val="100000"/>
              </a:lnSpc>
              <a:spcAft>
                <a:spcPct val="50000"/>
              </a:spcAft>
              <a:buClr>
                <a:schemeClr val="bg1"/>
              </a:buClr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熟练计算机的操作，掌握一门语言，或一种工具软件的使用，最主要是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matlab和lingo。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+mn-ea"/>
            </a:endParaRPr>
          </a:p>
          <a:p>
            <a:pPr eaLnBrk="0" hangingPunct="0">
              <a:lnSpc>
                <a:spcPct val="100000"/>
              </a:lnSpc>
              <a:spcAft>
                <a:spcPct val="50000"/>
              </a:spcAft>
              <a:buClr>
                <a:schemeClr val="bg1"/>
              </a:buClr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选读优秀论文，练习论文写作，提高写作能力。</a:t>
            </a:r>
            <a:endParaRPr lang="zh-CN" altLang="en-US" sz="28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3965" y="1417955"/>
            <a:ext cx="9703435" cy="4526280"/>
          </a:xfrm>
        </p:spPr>
        <p:txBody>
          <a:bodyPr/>
          <a:p>
            <a:pPr marL="0" indent="0" algn="ctr">
              <a:buNone/>
            </a:pPr>
            <a:endParaRPr lang="zh-CN" altLang="en-US" sz="6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 algn="ctr">
              <a:buNone/>
            </a:pPr>
            <a:r>
              <a:rPr lang="zh-CN" altLang="en-US" sz="6600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谢谢观看</a:t>
            </a:r>
            <a:endParaRPr lang="zh-CN" altLang="en-US" sz="6600" i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经营指数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1E4FF"/>
      </a:accent1>
      <a:accent2>
        <a:srgbClr val="0099CC"/>
      </a:accent2>
      <a:accent3>
        <a:srgbClr val="FFFFFF"/>
      </a:accent3>
      <a:accent4>
        <a:srgbClr val="000000"/>
      </a:accent4>
      <a:accent5>
        <a:srgbClr val="D4EFFF"/>
      </a:accent5>
      <a:accent6>
        <a:srgbClr val="0089B7"/>
      </a:accent6>
      <a:hlink>
        <a:srgbClr val="003399"/>
      </a:hlink>
      <a:folHlink>
        <a:srgbClr val="61C2FF"/>
      </a:folHlink>
    </a:clrScheme>
    <a:fontScheme name="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1E4FF"/>
        </a:accent1>
        <a:accent2>
          <a:srgbClr val="0099CC"/>
        </a:accent2>
        <a:accent3>
          <a:srgbClr val="FFFFFF"/>
        </a:accent3>
        <a:accent4>
          <a:srgbClr val="000000"/>
        </a:accent4>
        <a:accent5>
          <a:srgbClr val="D4EFFF"/>
        </a:accent5>
        <a:accent6>
          <a:srgbClr val="0089B7"/>
        </a:accent6>
        <a:hlink>
          <a:srgbClr val="003399"/>
        </a:hlink>
        <a:folHlink>
          <a:srgbClr val="61C2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1501</Words>
  <Application>WPS 演示</Application>
  <PresentationFormat>宽屏</PresentationFormat>
  <Paragraphs>168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楷体_GB2312</vt:lpstr>
      <vt:lpstr>隶书</vt:lpstr>
      <vt:lpstr>黑体</vt:lpstr>
      <vt:lpstr>微软雅黑</vt:lpstr>
      <vt:lpstr>Arial Unicode MS</vt:lpstr>
      <vt:lpstr>Calibri</vt:lpstr>
      <vt:lpstr>新宋体</vt:lpstr>
      <vt:lpstr>楷体</vt:lpstr>
      <vt:lpstr>幼圆</vt:lpstr>
      <vt:lpstr>经营指数</vt:lpstr>
      <vt:lpstr>MS_ClipArt_Gallery.2</vt:lpstr>
      <vt:lpstr>Equation.KSEE3</vt:lpstr>
      <vt:lpstr>Equation.KSEE3</vt:lpstr>
      <vt:lpstr>美赛冲刺课1  数模入门与常用算法汇总</vt:lpstr>
      <vt:lpstr>PowerPoint 演示文稿</vt:lpstr>
      <vt:lpstr>1 什么叫数学建模？</vt:lpstr>
      <vt:lpstr>PowerPoint 演示文稿</vt:lpstr>
      <vt:lpstr>3 数学建模有什么问题？</vt:lpstr>
      <vt:lpstr>神探推理过程</vt:lpstr>
      <vt:lpstr>PowerPoint 演示文稿</vt:lpstr>
      <vt:lpstr>1 什么叫数学建模？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个性</cp:lastModifiedBy>
  <cp:revision>8</cp:revision>
  <dcterms:created xsi:type="dcterms:W3CDTF">2017-03-10T08:15:00Z</dcterms:created>
  <dcterms:modified xsi:type="dcterms:W3CDTF">2018-03-09T15:03:38Z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2052-10.1.0.7022</vt:lpwstr>
  </property>
</Properties>
</file>