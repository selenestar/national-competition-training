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42" r:id="rId3"/>
    <p:sldId id="443" r:id="rId4"/>
    <p:sldId id="465" r:id="rId6"/>
    <p:sldId id="466" r:id="rId7"/>
    <p:sldId id="294" r:id="rId8"/>
    <p:sldId id="295" r:id="rId9"/>
    <p:sldId id="296" r:id="rId10"/>
    <p:sldId id="297" r:id="rId11"/>
    <p:sldId id="298" r:id="rId12"/>
    <p:sldId id="299" r:id="rId13"/>
    <p:sldId id="303" r:id="rId14"/>
    <p:sldId id="304" r:id="rId15"/>
    <p:sldId id="305" r:id="rId16"/>
    <p:sldId id="306" r:id="rId17"/>
    <p:sldId id="360" r:id="rId18"/>
    <p:sldId id="307" r:id="rId19"/>
    <p:sldId id="345" r:id="rId20"/>
    <p:sldId id="308" r:id="rId21"/>
    <p:sldId id="309" r:id="rId22"/>
    <p:sldId id="310" r:id="rId23"/>
    <p:sldId id="311" r:id="rId24"/>
    <p:sldId id="312" r:id="rId25"/>
    <p:sldId id="346" r:id="rId26"/>
    <p:sldId id="467" r:id="rId2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CCFFFF"/>
    <a:srgbClr val="FFFFCC"/>
    <a:srgbClr val="CCFFCC"/>
    <a:srgbClr val="FFFF99"/>
    <a:srgbClr val="BAEEF4"/>
    <a:srgbClr val="FF00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038"/>
    <p:restoredTop sz="95469"/>
  </p:normalViewPr>
  <p:slideViewPr>
    <p:cSldViewPr showGuides="1">
      <p:cViewPr>
        <p:scale>
          <a:sx n="66" d="100"/>
          <a:sy n="66" d="100"/>
        </p:scale>
        <p:origin x="-1386" y="-174"/>
      </p:cViewPr>
      <p:guideLst>
        <p:guide orient="horz" pos="216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.wmf"/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.wmf"/><Relationship Id="rId8" Type="http://schemas.openxmlformats.org/officeDocument/2006/relationships/image" Target="../media/image28.wmf"/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3" Type="http://schemas.openxmlformats.org/officeDocument/2006/relationships/image" Target="../media/image43.wmf"/><Relationship Id="rId22" Type="http://schemas.openxmlformats.org/officeDocument/2006/relationships/image" Target="../media/image42.wmf"/><Relationship Id="rId21" Type="http://schemas.openxmlformats.org/officeDocument/2006/relationships/image" Target="../media/image41.wmf"/><Relationship Id="rId20" Type="http://schemas.openxmlformats.org/officeDocument/2006/relationships/image" Target="../media/image40.wmf"/><Relationship Id="rId2" Type="http://schemas.openxmlformats.org/officeDocument/2006/relationships/image" Target="../media/image22.wmf"/><Relationship Id="rId19" Type="http://schemas.openxmlformats.org/officeDocument/2006/relationships/image" Target="../media/image39.wmf"/><Relationship Id="rId18" Type="http://schemas.openxmlformats.org/officeDocument/2006/relationships/image" Target="../media/image38.wmf"/><Relationship Id="rId17" Type="http://schemas.openxmlformats.org/officeDocument/2006/relationships/image" Target="../media/image37.wmf"/><Relationship Id="rId16" Type="http://schemas.openxmlformats.org/officeDocument/2006/relationships/image" Target="../media/image36.wmf"/><Relationship Id="rId15" Type="http://schemas.openxmlformats.org/officeDocument/2006/relationships/image" Target="../media/image35.wmf"/><Relationship Id="rId14" Type="http://schemas.openxmlformats.org/officeDocument/2006/relationships/image" Target="../media/image34.wmf"/><Relationship Id="rId13" Type="http://schemas.openxmlformats.org/officeDocument/2006/relationships/image" Target="../media/image33.wmf"/><Relationship Id="rId12" Type="http://schemas.openxmlformats.org/officeDocument/2006/relationships/image" Target="../media/image32.wmf"/><Relationship Id="rId11" Type="http://schemas.openxmlformats.org/officeDocument/2006/relationships/image" Target="../media/image31.wmf"/><Relationship Id="rId10" Type="http://schemas.openxmlformats.org/officeDocument/2006/relationships/image" Target="../media/image30.wmf"/><Relationship Id="rId1" Type="http://schemas.openxmlformats.org/officeDocument/2006/relationships/image" Target="../media/image20.png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2" Type="http://schemas.openxmlformats.org/officeDocument/2006/relationships/image" Target="../media/image41.wmf"/><Relationship Id="rId21" Type="http://schemas.openxmlformats.org/officeDocument/2006/relationships/image" Target="../media/image40.wmf"/><Relationship Id="rId20" Type="http://schemas.openxmlformats.org/officeDocument/2006/relationships/image" Target="../media/image39.wmf"/><Relationship Id="rId2" Type="http://schemas.openxmlformats.org/officeDocument/2006/relationships/image" Target="../media/image47.wmf"/><Relationship Id="rId19" Type="http://schemas.openxmlformats.org/officeDocument/2006/relationships/image" Target="../media/image51.wmf"/><Relationship Id="rId18" Type="http://schemas.openxmlformats.org/officeDocument/2006/relationships/image" Target="../media/image50.wmf"/><Relationship Id="rId17" Type="http://schemas.openxmlformats.org/officeDocument/2006/relationships/image" Target="../media/image36.wmf"/><Relationship Id="rId16" Type="http://schemas.openxmlformats.org/officeDocument/2006/relationships/image" Target="../media/image35.wmf"/><Relationship Id="rId15" Type="http://schemas.openxmlformats.org/officeDocument/2006/relationships/image" Target="../media/image34.wmf"/><Relationship Id="rId14" Type="http://schemas.openxmlformats.org/officeDocument/2006/relationships/image" Target="../media/image33.wmf"/><Relationship Id="rId13" Type="http://schemas.openxmlformats.org/officeDocument/2006/relationships/image" Target="../media/image32.wmf"/><Relationship Id="rId12" Type="http://schemas.openxmlformats.org/officeDocument/2006/relationships/image" Target="../media/image49.wmf"/><Relationship Id="rId11" Type="http://schemas.openxmlformats.org/officeDocument/2006/relationships/image" Target="../media/image30.wmf"/><Relationship Id="rId10" Type="http://schemas.openxmlformats.org/officeDocument/2006/relationships/image" Target="../media/image48.wmf"/><Relationship Id="rId1" Type="http://schemas.openxmlformats.org/officeDocument/2006/relationships/image" Target="../media/image20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7" Type="http://schemas.openxmlformats.org/officeDocument/2006/relationships/image" Target="../media/image63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image" Target="../media/image68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7" name="图片 11" descr="K1.jpg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80288" y="6597650"/>
            <a:ext cx="525462" cy="215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638" name="图片 12" descr="K2.jp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5275" y="6597650"/>
            <a:ext cx="525463" cy="215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639" name="图片 13" descr="K3.jpg">
            <a:hlinkClick r:id="" action="ppaction://hlinkshowjump?jump=firstslide"/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464550" y="6597650"/>
            <a:ext cx="525463" cy="215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jpeg"/><Relationship Id="rId14" Type="http://schemas.openxmlformats.org/officeDocument/2006/relationships/image" Target="../media/image3.jpeg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68610" name="图片 11" descr="K1.jpg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380288" y="6597650"/>
            <a:ext cx="525462" cy="215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11" name="图片 12" descr="K2.jp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915275" y="6597650"/>
            <a:ext cx="525463" cy="215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12" name="图片 13" descr="K3.jpg">
            <a:hlinkClick r:id="" action="ppaction://hlinkshowjump?jump=firstslide"/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464550" y="6597650"/>
            <a:ext cx="525463" cy="2159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8.wmf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5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14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2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6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png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0.png"/><Relationship Id="rId1" Type="http://schemas.openxmlformats.org/officeDocument/2006/relationships/oleObject" Target="../embeddings/oleObject14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8.bin"/><Relationship Id="rId48" Type="http://schemas.openxmlformats.org/officeDocument/2006/relationships/vmlDrawing" Target="../drawings/vmlDrawing6.vml"/><Relationship Id="rId47" Type="http://schemas.openxmlformats.org/officeDocument/2006/relationships/slideLayout" Target="../slideLayouts/slideLayout7.xml"/><Relationship Id="rId46" Type="http://schemas.openxmlformats.org/officeDocument/2006/relationships/image" Target="../media/image43.wmf"/><Relationship Id="rId45" Type="http://schemas.openxmlformats.org/officeDocument/2006/relationships/oleObject" Target="../embeddings/oleObject38.bin"/><Relationship Id="rId44" Type="http://schemas.openxmlformats.org/officeDocument/2006/relationships/image" Target="../media/image42.wmf"/><Relationship Id="rId43" Type="http://schemas.openxmlformats.org/officeDocument/2006/relationships/oleObject" Target="../embeddings/oleObject37.bin"/><Relationship Id="rId42" Type="http://schemas.openxmlformats.org/officeDocument/2006/relationships/image" Target="../media/image41.wmf"/><Relationship Id="rId41" Type="http://schemas.openxmlformats.org/officeDocument/2006/relationships/oleObject" Target="../embeddings/oleObject36.bin"/><Relationship Id="rId40" Type="http://schemas.openxmlformats.org/officeDocument/2006/relationships/image" Target="../media/image40.wmf"/><Relationship Id="rId4" Type="http://schemas.openxmlformats.org/officeDocument/2006/relationships/image" Target="../media/image22.wmf"/><Relationship Id="rId39" Type="http://schemas.openxmlformats.org/officeDocument/2006/relationships/oleObject" Target="../embeddings/oleObject35.bin"/><Relationship Id="rId38" Type="http://schemas.openxmlformats.org/officeDocument/2006/relationships/image" Target="../media/image39.wmf"/><Relationship Id="rId37" Type="http://schemas.openxmlformats.org/officeDocument/2006/relationships/oleObject" Target="../embeddings/oleObject34.bin"/><Relationship Id="rId36" Type="http://schemas.openxmlformats.org/officeDocument/2006/relationships/image" Target="../media/image38.wmf"/><Relationship Id="rId35" Type="http://schemas.openxmlformats.org/officeDocument/2006/relationships/oleObject" Target="../embeddings/oleObject33.bin"/><Relationship Id="rId34" Type="http://schemas.openxmlformats.org/officeDocument/2006/relationships/image" Target="../media/image37.wmf"/><Relationship Id="rId33" Type="http://schemas.openxmlformats.org/officeDocument/2006/relationships/oleObject" Target="../embeddings/oleObject32.bin"/><Relationship Id="rId32" Type="http://schemas.openxmlformats.org/officeDocument/2006/relationships/image" Target="../media/image36.wmf"/><Relationship Id="rId31" Type="http://schemas.openxmlformats.org/officeDocument/2006/relationships/oleObject" Target="../embeddings/oleObject31.bin"/><Relationship Id="rId30" Type="http://schemas.openxmlformats.org/officeDocument/2006/relationships/image" Target="../media/image35.wmf"/><Relationship Id="rId3" Type="http://schemas.openxmlformats.org/officeDocument/2006/relationships/oleObject" Target="../embeddings/oleObject17.bin"/><Relationship Id="rId29" Type="http://schemas.openxmlformats.org/officeDocument/2006/relationships/oleObject" Target="../embeddings/oleObject30.bin"/><Relationship Id="rId28" Type="http://schemas.openxmlformats.org/officeDocument/2006/relationships/image" Target="../media/image34.wmf"/><Relationship Id="rId27" Type="http://schemas.openxmlformats.org/officeDocument/2006/relationships/oleObject" Target="../embeddings/oleObject29.bin"/><Relationship Id="rId26" Type="http://schemas.openxmlformats.org/officeDocument/2006/relationships/image" Target="../media/image33.wmf"/><Relationship Id="rId25" Type="http://schemas.openxmlformats.org/officeDocument/2006/relationships/oleObject" Target="../embeddings/oleObject28.bin"/><Relationship Id="rId24" Type="http://schemas.openxmlformats.org/officeDocument/2006/relationships/image" Target="../media/image32.wmf"/><Relationship Id="rId23" Type="http://schemas.openxmlformats.org/officeDocument/2006/relationships/oleObject" Target="../embeddings/oleObject27.bin"/><Relationship Id="rId22" Type="http://schemas.openxmlformats.org/officeDocument/2006/relationships/image" Target="../media/image31.wmf"/><Relationship Id="rId21" Type="http://schemas.openxmlformats.org/officeDocument/2006/relationships/oleObject" Target="../embeddings/oleObject26.bin"/><Relationship Id="rId20" Type="http://schemas.openxmlformats.org/officeDocument/2006/relationships/image" Target="../media/image30.wmf"/><Relationship Id="rId2" Type="http://schemas.openxmlformats.org/officeDocument/2006/relationships/image" Target="../media/image20.png"/><Relationship Id="rId19" Type="http://schemas.openxmlformats.org/officeDocument/2006/relationships/oleObject" Target="../embeddings/oleObject25.bin"/><Relationship Id="rId18" Type="http://schemas.openxmlformats.org/officeDocument/2006/relationships/image" Target="../media/image29.wmf"/><Relationship Id="rId17" Type="http://schemas.openxmlformats.org/officeDocument/2006/relationships/oleObject" Target="../embeddings/oleObject24.bin"/><Relationship Id="rId16" Type="http://schemas.openxmlformats.org/officeDocument/2006/relationships/image" Target="../media/image28.wmf"/><Relationship Id="rId15" Type="http://schemas.openxmlformats.org/officeDocument/2006/relationships/oleObject" Target="../embeddings/oleObject23.bin"/><Relationship Id="rId14" Type="http://schemas.openxmlformats.org/officeDocument/2006/relationships/image" Target="../media/image27.wmf"/><Relationship Id="rId13" Type="http://schemas.openxmlformats.org/officeDocument/2006/relationships/oleObject" Target="../embeddings/oleObject22.bin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21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1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39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oleObject" Target="../embeddings/oleObject42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45.bin"/><Relationship Id="rId46" Type="http://schemas.openxmlformats.org/officeDocument/2006/relationships/vmlDrawing" Target="../drawings/vmlDrawing9.vml"/><Relationship Id="rId45" Type="http://schemas.openxmlformats.org/officeDocument/2006/relationships/slideLayout" Target="../slideLayouts/slideLayout7.xml"/><Relationship Id="rId44" Type="http://schemas.openxmlformats.org/officeDocument/2006/relationships/image" Target="../media/image41.wmf"/><Relationship Id="rId43" Type="http://schemas.openxmlformats.org/officeDocument/2006/relationships/oleObject" Target="../embeddings/oleObject64.bin"/><Relationship Id="rId42" Type="http://schemas.openxmlformats.org/officeDocument/2006/relationships/image" Target="../media/image40.wmf"/><Relationship Id="rId41" Type="http://schemas.openxmlformats.org/officeDocument/2006/relationships/oleObject" Target="../embeddings/oleObject63.bin"/><Relationship Id="rId40" Type="http://schemas.openxmlformats.org/officeDocument/2006/relationships/image" Target="../media/image39.wmf"/><Relationship Id="rId4" Type="http://schemas.openxmlformats.org/officeDocument/2006/relationships/image" Target="../media/image47.wmf"/><Relationship Id="rId39" Type="http://schemas.openxmlformats.org/officeDocument/2006/relationships/oleObject" Target="../embeddings/oleObject62.bin"/><Relationship Id="rId38" Type="http://schemas.openxmlformats.org/officeDocument/2006/relationships/image" Target="../media/image51.wmf"/><Relationship Id="rId37" Type="http://schemas.openxmlformats.org/officeDocument/2006/relationships/oleObject" Target="../embeddings/oleObject61.bin"/><Relationship Id="rId36" Type="http://schemas.openxmlformats.org/officeDocument/2006/relationships/image" Target="../media/image50.wmf"/><Relationship Id="rId35" Type="http://schemas.openxmlformats.org/officeDocument/2006/relationships/oleObject" Target="../embeddings/oleObject60.bin"/><Relationship Id="rId34" Type="http://schemas.openxmlformats.org/officeDocument/2006/relationships/image" Target="../media/image36.wmf"/><Relationship Id="rId33" Type="http://schemas.openxmlformats.org/officeDocument/2006/relationships/oleObject" Target="../embeddings/oleObject59.bin"/><Relationship Id="rId32" Type="http://schemas.openxmlformats.org/officeDocument/2006/relationships/image" Target="../media/image35.wmf"/><Relationship Id="rId31" Type="http://schemas.openxmlformats.org/officeDocument/2006/relationships/oleObject" Target="../embeddings/oleObject58.bin"/><Relationship Id="rId30" Type="http://schemas.openxmlformats.org/officeDocument/2006/relationships/image" Target="../media/image34.wmf"/><Relationship Id="rId3" Type="http://schemas.openxmlformats.org/officeDocument/2006/relationships/oleObject" Target="../embeddings/oleObject44.bin"/><Relationship Id="rId29" Type="http://schemas.openxmlformats.org/officeDocument/2006/relationships/oleObject" Target="../embeddings/oleObject57.bin"/><Relationship Id="rId28" Type="http://schemas.openxmlformats.org/officeDocument/2006/relationships/image" Target="../media/image33.wmf"/><Relationship Id="rId27" Type="http://schemas.openxmlformats.org/officeDocument/2006/relationships/oleObject" Target="../embeddings/oleObject56.bin"/><Relationship Id="rId26" Type="http://schemas.openxmlformats.org/officeDocument/2006/relationships/image" Target="../media/image32.wmf"/><Relationship Id="rId25" Type="http://schemas.openxmlformats.org/officeDocument/2006/relationships/oleObject" Target="../embeddings/oleObject55.bin"/><Relationship Id="rId24" Type="http://schemas.openxmlformats.org/officeDocument/2006/relationships/image" Target="../media/image49.wmf"/><Relationship Id="rId23" Type="http://schemas.openxmlformats.org/officeDocument/2006/relationships/oleObject" Target="../embeddings/oleObject54.bin"/><Relationship Id="rId22" Type="http://schemas.openxmlformats.org/officeDocument/2006/relationships/image" Target="../media/image30.wmf"/><Relationship Id="rId21" Type="http://schemas.openxmlformats.org/officeDocument/2006/relationships/oleObject" Target="../embeddings/oleObject53.bin"/><Relationship Id="rId20" Type="http://schemas.openxmlformats.org/officeDocument/2006/relationships/image" Target="../media/image48.wmf"/><Relationship Id="rId2" Type="http://schemas.openxmlformats.org/officeDocument/2006/relationships/image" Target="../media/image20.png"/><Relationship Id="rId19" Type="http://schemas.openxmlformats.org/officeDocument/2006/relationships/oleObject" Target="../embeddings/oleObject52.bin"/><Relationship Id="rId18" Type="http://schemas.openxmlformats.org/officeDocument/2006/relationships/image" Target="../media/image28.wmf"/><Relationship Id="rId17" Type="http://schemas.openxmlformats.org/officeDocument/2006/relationships/oleObject" Target="../embeddings/oleObject51.bin"/><Relationship Id="rId16" Type="http://schemas.openxmlformats.org/officeDocument/2006/relationships/image" Target="../media/image27.wmf"/><Relationship Id="rId15" Type="http://schemas.openxmlformats.org/officeDocument/2006/relationships/oleObject" Target="../embeddings/oleObject50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49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48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43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2.wmf"/><Relationship Id="rId1" Type="http://schemas.openxmlformats.org/officeDocument/2006/relationships/oleObject" Target="../embeddings/oleObject65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oleObject" Target="../embeddings/oleObject66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oleObject" Target="../embeddings/oleObject67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6.wmf"/><Relationship Id="rId7" Type="http://schemas.openxmlformats.org/officeDocument/2006/relationships/oleObject" Target="../embeddings/oleObject71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53.w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68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6.bin"/><Relationship Id="rId8" Type="http://schemas.openxmlformats.org/officeDocument/2006/relationships/image" Target="../media/image60.wmf"/><Relationship Id="rId7" Type="http://schemas.openxmlformats.org/officeDocument/2006/relationships/oleObject" Target="../embeddings/oleObject75.bin"/><Relationship Id="rId6" Type="http://schemas.openxmlformats.org/officeDocument/2006/relationships/image" Target="../media/image59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58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57.wmf"/><Relationship Id="rId18" Type="http://schemas.openxmlformats.org/officeDocument/2006/relationships/vmlDrawing" Target="../drawings/vmlDrawing14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64.wmf"/><Relationship Id="rId15" Type="http://schemas.openxmlformats.org/officeDocument/2006/relationships/oleObject" Target="../embeddings/oleObject79.bin"/><Relationship Id="rId14" Type="http://schemas.openxmlformats.org/officeDocument/2006/relationships/image" Target="../media/image63.wmf"/><Relationship Id="rId13" Type="http://schemas.openxmlformats.org/officeDocument/2006/relationships/oleObject" Target="../embeddings/oleObject78.bin"/><Relationship Id="rId12" Type="http://schemas.openxmlformats.org/officeDocument/2006/relationships/image" Target="../media/image62.wmf"/><Relationship Id="rId11" Type="http://schemas.openxmlformats.org/officeDocument/2006/relationships/oleObject" Target="../embeddings/oleObject77.bin"/><Relationship Id="rId10" Type="http://schemas.openxmlformats.org/officeDocument/2006/relationships/image" Target="../media/image61.wmf"/><Relationship Id="rId1" Type="http://schemas.openxmlformats.org/officeDocument/2006/relationships/oleObject" Target="../embeddings/oleObject7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66.w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65.wmf"/><Relationship Id="rId1" Type="http://schemas.openxmlformats.org/officeDocument/2006/relationships/oleObject" Target="../embeddings/oleObject80.bin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png"/><Relationship Id="rId3" Type="http://schemas.openxmlformats.org/officeDocument/2006/relationships/oleObject" Target="../embeddings/oleObject84.bin"/><Relationship Id="rId2" Type="http://schemas.openxmlformats.org/officeDocument/2006/relationships/image" Target="../media/image68.wmf"/><Relationship Id="rId1" Type="http://schemas.openxmlformats.org/officeDocument/2006/relationships/oleObject" Target="../embeddings/oleObject83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oleObject" Target="../embeddings/oleObject85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43635" y="2512060"/>
            <a:ext cx="7112635" cy="6756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8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数模国赛辅导：非线性规划问题</a:t>
            </a:r>
            <a:endParaRPr lang="zh-CN" altLang="en-US" sz="380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16275" y="3434080"/>
            <a:ext cx="28682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主讲人：老教练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7165"/>
            <a:ext cx="8229600" cy="4525963"/>
          </a:xfrm>
        </p:spPr>
        <p:txBody>
          <a:bodyPr/>
          <a:p>
            <a:r>
              <a:rPr lang="zh-CN" altLang="en-US" sz="2500">
                <a:latin typeface="黑体" panose="02010609060101010101" charset="-122"/>
                <a:ea typeface="黑体" panose="02010609060101010101" charset="-122"/>
              </a:rPr>
              <a:t>整数规划：规划中的变量（全部或部分）限制为整数，称为整数规划</a:t>
            </a:r>
            <a:endParaRPr lang="zh-CN" altLang="en-US" sz="25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500">
                <a:latin typeface="黑体" panose="02010609060101010101" charset="-122"/>
                <a:ea typeface="黑体" panose="02010609060101010101" charset="-122"/>
              </a:rPr>
              <a:t>0-1</a:t>
            </a:r>
            <a:r>
              <a:rPr lang="zh-CN" altLang="en-US" sz="2500">
                <a:latin typeface="黑体" panose="02010609060101010101" charset="-122"/>
                <a:ea typeface="黑体" panose="02010609060101010101" charset="-122"/>
              </a:rPr>
              <a:t>规划：决策变量仅取值0或1的一类特殊的整数规划</a:t>
            </a:r>
            <a:endParaRPr lang="zh-CN" altLang="en-US" sz="25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500">
                <a:latin typeface="黑体" panose="02010609060101010101" charset="-122"/>
                <a:ea typeface="黑体" panose="02010609060101010101" charset="-122"/>
              </a:rPr>
              <a:t>非线性规划：目标函数或约束条件中至少有一个是非线性函数时的最优化问题</a:t>
            </a:r>
            <a:endParaRPr lang="zh-CN" altLang="en-US" sz="25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500">
                <a:latin typeface="黑体" panose="02010609060101010101" charset="-122"/>
                <a:ea typeface="黑体" panose="02010609060101010101" charset="-122"/>
              </a:rPr>
              <a:t>多目标规划：研究多于一个的目标函数在给定区域上的最优化。</a:t>
            </a:r>
            <a:endParaRPr lang="zh-CN" altLang="en-US" sz="25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500">
                <a:latin typeface="黑体" panose="02010609060101010101" charset="-122"/>
                <a:ea typeface="黑体" panose="02010609060101010101" charset="-122"/>
              </a:rPr>
              <a:t>动态规划：是运筹学的一个分支，是求解决策过程最优化的数学方法</a:t>
            </a:r>
            <a:endParaRPr lang="zh-CN" altLang="en-US" sz="25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1139" name="Rectangle 3"/>
          <p:cNvSpPr/>
          <p:nvPr/>
        </p:nvSpPr>
        <p:spPr>
          <a:xfrm>
            <a:off x="381000" y="593725"/>
            <a:ext cx="4913630" cy="58864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600">
                <a:solidFill>
                  <a:schemeClr val="accent4"/>
                </a:solidFill>
                <a:effectLst/>
                <a:sym typeface="+mn-ea"/>
              </a:rPr>
              <a:t>几类常见的规划名称</a:t>
            </a:r>
            <a:endParaRPr lang="zh-CN" altLang="en-US" sz="3600">
              <a:solidFill>
                <a:schemeClr val="accent4"/>
              </a:solidFill>
              <a:effectLst/>
            </a:endParaRPr>
          </a:p>
          <a:p>
            <a:pPr algn="l" eaLnBrk="1" hangingPunct="1"/>
            <a:r>
              <a:rPr lang="zh-CN" altLang="en-US" sz="36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endParaRPr lang="zh-CN" altLang="en-US" sz="3600" dirty="0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Pa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p>
            <a:pPr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    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整数规划指的是决策变量为非负整数值的一类线性规划，在实际问题的应用中，整数规划模型对应着大量的生产计划或活动安排等决策问题，整数规划的解法主要有分枝定界解法及割平面解法。在整数规划问题中，0—1型整数规划则是其中较为特殊的一类情况，它要求决策变量的取值仅为0或1，在实际问题的讨论中，0—1型整数规划模型也对应着大量的最优决策的活动与安排讨论，我们将列举一些模型范例，以说明这个事实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1139" name="Rectangle 3"/>
          <p:cNvSpPr/>
          <p:nvPr/>
        </p:nvSpPr>
        <p:spPr>
          <a:xfrm>
            <a:off x="381000" y="593725"/>
            <a:ext cx="5758815" cy="58864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600">
                <a:solidFill>
                  <a:schemeClr val="accent4"/>
                </a:solidFill>
                <a:effectLst/>
                <a:sym typeface="+mn-ea"/>
              </a:rPr>
              <a:t>0—1型整数规划模型概述</a:t>
            </a:r>
            <a:r>
              <a:rPr lang="zh-CN" altLang="en-US" sz="36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endParaRPr lang="zh-CN" altLang="en-US" sz="3600" dirty="0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89610"/>
            <a:ext cx="8229600" cy="4525963"/>
          </a:xfrm>
        </p:spPr>
        <p:txBody>
          <a:bodyPr/>
          <a:p>
            <a:r>
              <a:rPr lang="zh-CN" altLang="en-US"/>
              <a:t>0—1型整数规划的的数学模型为：</a:t>
            </a:r>
            <a:endParaRPr lang="zh-CN" altLang="en-US"/>
          </a:p>
          <a:p>
            <a:r>
              <a:rPr lang="zh-CN" altLang="en-US"/>
              <a:t>目标函数    </a:t>
            </a:r>
            <a:endParaRPr lang="zh-CN" altLang="en-US"/>
          </a:p>
          <a:p>
            <a:r>
              <a:rPr lang="zh-CN" altLang="en-US"/>
              <a:t>约束条件为：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这里，0 | 1表示0或1。</a:t>
            </a:r>
            <a:endParaRPr lang="zh-CN" altLang="en-US"/>
          </a:p>
        </p:txBody>
      </p:sp>
      <p:pic>
        <p:nvPicPr>
          <p:cNvPr id="2" name="图片 -21474826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335" y="2559050"/>
            <a:ext cx="5815330" cy="24695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-21474826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945" y="1311275"/>
            <a:ext cx="5286375" cy="4845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Text Box 2"/>
          <p:cNvSpPr txBox="1"/>
          <p:nvPr/>
        </p:nvSpPr>
        <p:spPr>
          <a:xfrm>
            <a:off x="304800" y="5791200"/>
            <a:ext cx="8534400" cy="582613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p>
            <a:pPr algn="ctr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应如何安排原油的采购和加工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？</a:t>
            </a: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91139" name="Rectangle 3"/>
          <p:cNvSpPr/>
          <p:nvPr>
            <p:ph type="title"/>
          </p:nvPr>
        </p:nvSpPr>
        <p:spPr>
          <a:xfrm>
            <a:off x="971550" y="450850"/>
            <a:ext cx="41148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chemeClr val="tx1"/>
                </a:solidFill>
                <a:ea typeface="楷体_GB2312" pitchFamily="49" charset="-122"/>
              </a:rPr>
              <a:t>1   </a:t>
            </a:r>
            <a:r>
              <a:rPr lang="zh-CN" altLang="en-US" sz="3200" b="1" dirty="0">
                <a:solidFill>
                  <a:schemeClr val="tx1"/>
                </a:solidFill>
                <a:ea typeface="楷体_GB2312" pitchFamily="49" charset="-122"/>
              </a:rPr>
              <a:t>原油采购与加工 </a:t>
            </a:r>
            <a:endParaRPr lang="zh-CN" altLang="en-US" sz="3200" dirty="0">
              <a:ea typeface="楷体_GB2312" pitchFamily="49" charset="-122"/>
            </a:endParaRPr>
          </a:p>
        </p:txBody>
      </p:sp>
      <p:sp>
        <p:nvSpPr>
          <p:cNvPr id="40964" name="Text Box 4"/>
          <p:cNvSpPr txBox="1"/>
          <p:nvPr/>
        </p:nvSpPr>
        <p:spPr>
          <a:xfrm>
            <a:off x="466725" y="2997200"/>
            <a:ext cx="8353425" cy="2655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市场上可买到不超过</a:t>
            </a:r>
            <a:r>
              <a:rPr lang="en-US" altLang="zh-CN" sz="2800" b="1">
                <a:latin typeface="Times New Roman" panose="02020603050405020304" pitchFamily="18" charset="0"/>
              </a:rPr>
              <a:t>1500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的原油</a:t>
            </a:r>
            <a:r>
              <a:rPr lang="en-US" altLang="zh-CN" sz="2800" b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</a:rPr>
              <a:t>：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buChar char="•"/>
            </a:pPr>
            <a:r>
              <a:rPr lang="zh-CN" altLang="en-US" sz="2800" b="1" dirty="0">
                <a:latin typeface="宋体" panose="02010600030101010101" pitchFamily="2" charset="-122"/>
              </a:rPr>
              <a:t> 购买量不超过</a:t>
            </a:r>
            <a:r>
              <a:rPr lang="en-US" altLang="zh-CN" sz="2800" b="1">
                <a:latin typeface="Times New Roman" panose="02020603050405020304" pitchFamily="18" charset="0"/>
              </a:rPr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时的单价为</a:t>
            </a:r>
            <a:r>
              <a:rPr lang="en-US" altLang="zh-CN" sz="2800" b="1">
                <a:latin typeface="Times New Roman" panose="02020603050405020304" pitchFamily="18" charset="0"/>
              </a:rPr>
              <a:t>10000</a:t>
            </a:r>
            <a:r>
              <a:rPr lang="zh-CN" altLang="en-US" sz="2800" b="1" dirty="0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/t</a:t>
            </a:r>
            <a:r>
              <a:rPr lang="zh-CN" altLang="en-US" sz="2800" b="1" dirty="0">
                <a:latin typeface="宋体" panose="02010600030101010101" pitchFamily="2" charset="-122"/>
              </a:rPr>
              <a:t>；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buChar char="•"/>
            </a:pPr>
            <a:r>
              <a:rPr lang="zh-CN" altLang="en-US" sz="2800" b="1" dirty="0">
                <a:latin typeface="宋体" panose="02010600030101010101" pitchFamily="2" charset="-122"/>
              </a:rPr>
              <a:t> 购买量超过</a:t>
            </a:r>
            <a:r>
              <a:rPr lang="en-US" altLang="zh-CN" sz="2800" b="1">
                <a:latin typeface="Times New Roman" panose="02020603050405020304" pitchFamily="18" charset="0"/>
              </a:rPr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但不超过</a:t>
            </a:r>
            <a:r>
              <a:rPr lang="en-US" altLang="zh-CN" sz="2800" b="1">
                <a:latin typeface="Times New Roman" panose="02020603050405020304" pitchFamily="18" charset="0"/>
              </a:rPr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时，超过</a:t>
            </a:r>
            <a:r>
              <a:rPr lang="en-US" altLang="zh-CN" sz="2800" b="1">
                <a:latin typeface="Times New Roman" panose="02020603050405020304" pitchFamily="18" charset="0"/>
              </a:rPr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的       部分</a:t>
            </a:r>
            <a:r>
              <a:rPr lang="en-US" altLang="zh-CN" sz="2800" b="1">
                <a:latin typeface="Times New Roman" panose="02020603050405020304" pitchFamily="18" charset="0"/>
              </a:rPr>
              <a:t>8000</a:t>
            </a:r>
            <a:r>
              <a:rPr lang="zh-CN" altLang="en-US" sz="2800" b="1" dirty="0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/t</a:t>
            </a:r>
            <a:r>
              <a:rPr lang="zh-CN" altLang="en-US" sz="2800" b="1" dirty="0">
                <a:latin typeface="宋体" panose="02010600030101010101" pitchFamily="2" charset="-122"/>
              </a:rPr>
              <a:t>；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buChar char="•"/>
            </a:pPr>
            <a:r>
              <a:rPr lang="zh-CN" altLang="en-US" sz="2800" b="1" dirty="0">
                <a:latin typeface="宋体" panose="02010600030101010101" pitchFamily="2" charset="-122"/>
              </a:rPr>
              <a:t> 购买量超过</a:t>
            </a:r>
            <a:r>
              <a:rPr lang="en-US" altLang="zh-CN" sz="2800" b="1">
                <a:latin typeface="Times New Roman" panose="02020603050405020304" pitchFamily="18" charset="0"/>
              </a:rPr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时，超过</a:t>
            </a:r>
            <a:r>
              <a:rPr lang="en-US" altLang="zh-CN" sz="2800" b="1">
                <a:latin typeface="Times New Roman" panose="02020603050405020304" pitchFamily="18" charset="0"/>
              </a:rPr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的部分</a:t>
            </a:r>
            <a:r>
              <a:rPr lang="en-US" altLang="zh-CN" sz="2800" b="1">
                <a:latin typeface="Times New Roman" panose="02020603050405020304" pitchFamily="18" charset="0"/>
              </a:rPr>
              <a:t>6000</a:t>
            </a:r>
            <a:r>
              <a:rPr lang="zh-CN" altLang="en-US" sz="2800" b="1" dirty="0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/t. 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6553200" y="1125538"/>
            <a:ext cx="2438400" cy="1600200"/>
            <a:chOff x="4128" y="576"/>
            <a:chExt cx="1536" cy="1008"/>
          </a:xfrm>
        </p:grpSpPr>
        <p:sp>
          <p:nvSpPr>
            <p:cNvPr id="91154" name="Text Box 6"/>
            <p:cNvSpPr txBox="1"/>
            <p:nvPr/>
          </p:nvSpPr>
          <p:spPr>
            <a:xfrm>
              <a:off x="4128" y="576"/>
              <a:ext cx="1536" cy="327"/>
            </a:xfrm>
            <a:prstGeom prst="rect">
              <a:avLst/>
            </a:prstGeom>
            <a:solidFill>
              <a:srgbClr val="66FFFF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售价</a:t>
              </a:r>
              <a:r>
                <a:rPr lang="en-US" altLang="zh-CN" sz="2800" b="1">
                  <a:latin typeface="Times New Roman" panose="02020603050405020304" pitchFamily="18" charset="0"/>
                </a:rPr>
                <a:t>4800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元</a:t>
              </a:r>
              <a:r>
                <a:rPr lang="en-US" altLang="zh-CN" sz="2800" b="1">
                  <a:latin typeface="Times New Roman" panose="02020603050405020304" pitchFamily="18" charset="0"/>
                </a:rPr>
                <a:t>/t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91155" name="Text Box 7"/>
            <p:cNvSpPr txBox="1"/>
            <p:nvPr/>
          </p:nvSpPr>
          <p:spPr>
            <a:xfrm>
              <a:off x="4128" y="1257"/>
              <a:ext cx="1536" cy="327"/>
            </a:xfrm>
            <a:prstGeom prst="rect">
              <a:avLst/>
            </a:prstGeom>
            <a:solidFill>
              <a:srgbClr val="66FFFF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售价</a:t>
              </a:r>
              <a:r>
                <a:rPr lang="en-US" altLang="zh-CN" sz="2800" b="1">
                  <a:latin typeface="Times New Roman" panose="02020603050405020304" pitchFamily="18" charset="0"/>
                </a:rPr>
                <a:t>5600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元</a:t>
              </a:r>
              <a:r>
                <a:rPr lang="en-US" altLang="zh-CN" sz="2800" b="1">
                  <a:latin typeface="Times New Roman" panose="02020603050405020304" pitchFamily="18" charset="0"/>
                </a:rPr>
                <a:t>/t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76200" y="1341438"/>
            <a:ext cx="1981200" cy="1295400"/>
            <a:chOff x="48" y="720"/>
            <a:chExt cx="1248" cy="816"/>
          </a:xfrm>
        </p:grpSpPr>
        <p:sp>
          <p:nvSpPr>
            <p:cNvPr id="91152" name="Text Box 9"/>
            <p:cNvSpPr txBox="1"/>
            <p:nvPr/>
          </p:nvSpPr>
          <p:spPr>
            <a:xfrm>
              <a:off x="96" y="720"/>
              <a:ext cx="1152" cy="327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库存</a:t>
              </a:r>
              <a:r>
                <a:rPr lang="en-US" altLang="zh-CN" sz="2800" b="1">
                  <a:latin typeface="Times New Roman" panose="02020603050405020304" pitchFamily="18" charset="0"/>
                </a:rPr>
                <a:t>500t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91153" name="Text Box 10"/>
            <p:cNvSpPr txBox="1"/>
            <p:nvPr/>
          </p:nvSpPr>
          <p:spPr>
            <a:xfrm>
              <a:off x="48" y="1209"/>
              <a:ext cx="1248" cy="327"/>
            </a:xfrm>
            <a:prstGeom prst="rect">
              <a:avLst/>
            </a:prstGeom>
            <a:solidFill>
              <a:srgbClr val="CCFF66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库存</a:t>
              </a:r>
              <a:r>
                <a:rPr lang="en-US" altLang="zh-CN" sz="2800" b="1">
                  <a:latin typeface="Times New Roman" panose="02020603050405020304" pitchFamily="18" charset="0"/>
                </a:rPr>
                <a:t>1000t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1"/>
          <p:cNvGrpSpPr/>
          <p:nvPr/>
        </p:nvGrpSpPr>
        <p:grpSpPr>
          <a:xfrm>
            <a:off x="2016125" y="981075"/>
            <a:ext cx="4460875" cy="2022475"/>
            <a:chOff x="1270" y="480"/>
            <a:chExt cx="2810" cy="1274"/>
          </a:xfrm>
        </p:grpSpPr>
        <p:sp>
          <p:nvSpPr>
            <p:cNvPr id="91144" name="Text Box 12"/>
            <p:cNvSpPr txBox="1"/>
            <p:nvPr/>
          </p:nvSpPr>
          <p:spPr>
            <a:xfrm>
              <a:off x="2976" y="480"/>
              <a:ext cx="1104" cy="60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汽油甲</a:t>
              </a:r>
              <a:r>
                <a:rPr lang="en-US" altLang="zh-CN" sz="2800" b="1">
                  <a:latin typeface="Times New Roman" panose="02020603050405020304" pitchFamily="18" charset="0"/>
                </a:rPr>
                <a:t>(A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sz="2800" b="1">
                  <a:latin typeface="Times New Roman" panose="02020603050405020304" pitchFamily="18" charset="0"/>
                </a:rPr>
                <a:t>50%) 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91145" name="Line 13"/>
            <p:cNvSpPr/>
            <p:nvPr/>
          </p:nvSpPr>
          <p:spPr>
            <a:xfrm>
              <a:off x="2064" y="912"/>
              <a:ext cx="912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91146" name="Line 14"/>
            <p:cNvSpPr/>
            <p:nvPr/>
          </p:nvSpPr>
          <p:spPr>
            <a:xfrm flipV="1">
              <a:off x="2064" y="1392"/>
              <a:ext cx="9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91147" name="Text Box 15"/>
            <p:cNvSpPr txBox="1"/>
            <p:nvPr/>
          </p:nvSpPr>
          <p:spPr>
            <a:xfrm>
              <a:off x="1270" y="720"/>
              <a:ext cx="794" cy="33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原油</a:t>
              </a:r>
              <a:r>
                <a:rPr lang="en-US" altLang="zh-CN" sz="2800" b="1">
                  <a:latin typeface="Times New Roman" panose="02020603050405020304" pitchFamily="18" charset="0"/>
                </a:rPr>
                <a:t>A 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91148" name="Text Box 16"/>
            <p:cNvSpPr txBox="1"/>
            <p:nvPr/>
          </p:nvSpPr>
          <p:spPr>
            <a:xfrm>
              <a:off x="1270" y="1200"/>
              <a:ext cx="794" cy="33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原油</a:t>
              </a:r>
              <a:r>
                <a:rPr lang="en-US" altLang="zh-CN" sz="2800" b="1">
                  <a:latin typeface="Times New Roman" panose="02020603050405020304" pitchFamily="18" charset="0"/>
                </a:rPr>
                <a:t>B 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91149" name="Line 17"/>
            <p:cNvSpPr/>
            <p:nvPr/>
          </p:nvSpPr>
          <p:spPr>
            <a:xfrm flipV="1">
              <a:off x="2064" y="912"/>
              <a:ext cx="912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91150" name="Line 18"/>
            <p:cNvSpPr/>
            <p:nvPr/>
          </p:nvSpPr>
          <p:spPr>
            <a:xfrm>
              <a:off x="2064" y="864"/>
              <a:ext cx="9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91151" name="Text Box 19"/>
            <p:cNvSpPr txBox="1"/>
            <p:nvPr/>
          </p:nvSpPr>
          <p:spPr>
            <a:xfrm>
              <a:off x="2976" y="1152"/>
              <a:ext cx="1104" cy="60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汽油乙 </a:t>
              </a:r>
              <a:r>
                <a:rPr lang="en-US" altLang="zh-CN" sz="2800" b="1">
                  <a:latin typeface="Times New Roman" panose="02020603050405020304" pitchFamily="18" charset="0"/>
                </a:rPr>
                <a:t>(A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sz="2800" b="1">
                  <a:latin typeface="Times New Roman" panose="02020603050405020304" pitchFamily="18" charset="0"/>
                </a:rPr>
                <a:t>60%) 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096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charRg st="2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0964">
                                            <p:txEl>
                                              <p:charRg st="20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charRg st="46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0964">
                                            <p:txEl>
                                              <p:charRg st="46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charRg st="92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0964">
                                            <p:txEl>
                                              <p:charRg st="92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nimBg="1"/>
      <p:bldP spid="40964" grpId="0" animBg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Text Box 2"/>
          <p:cNvSpPr txBox="1"/>
          <p:nvPr/>
        </p:nvSpPr>
        <p:spPr>
          <a:xfrm>
            <a:off x="152400" y="1843088"/>
            <a:ext cx="1143000" cy="1066800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决策变量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987" name="Text Box 3"/>
          <p:cNvSpPr txBox="1"/>
          <p:nvPr/>
        </p:nvSpPr>
        <p:spPr>
          <a:xfrm>
            <a:off x="152400" y="3976688"/>
            <a:ext cx="1219200" cy="10668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2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目标函数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557" name="Text Box 4"/>
          <p:cNvSpPr txBox="1"/>
          <p:nvPr/>
        </p:nvSpPr>
        <p:spPr>
          <a:xfrm>
            <a:off x="152400" y="515938"/>
            <a:ext cx="1143000" cy="1066800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问题分析 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989" name="Text Box 5"/>
          <p:cNvSpPr txBox="1"/>
          <p:nvPr/>
        </p:nvSpPr>
        <p:spPr>
          <a:xfrm>
            <a:off x="1371600" y="471488"/>
            <a:ext cx="7467600" cy="1160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利润：销售汽油的收入</a:t>
            </a:r>
            <a:r>
              <a:rPr lang="zh-CN" altLang="en-US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zh-CN" altLang="en-US" sz="2800" b="1" dirty="0">
                <a:latin typeface="宋体" panose="02010600030101010101" pitchFamily="2" charset="-122"/>
              </a:rPr>
              <a:t>购买原油</a:t>
            </a:r>
            <a:r>
              <a:rPr lang="en-US" altLang="zh-CN" sz="2800" b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</a:rPr>
              <a:t>的支出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endParaRPr lang="en-US" altLang="zh-CN" sz="2800" b="1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难点：原油</a:t>
            </a:r>
            <a:r>
              <a:rPr lang="en-US" altLang="zh-CN" sz="2800" b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</a:rPr>
              <a:t>的购价与购买量的关系较复杂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graphicFrame>
        <p:nvGraphicFramePr>
          <p:cNvPr id="23554" name="Object 6"/>
          <p:cNvGraphicFramePr/>
          <p:nvPr/>
        </p:nvGraphicFramePr>
        <p:xfrm>
          <a:off x="1511300" y="5043488"/>
          <a:ext cx="7005638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1" imgW="2688590" imgH="215900" progId="Equation.3">
                  <p:embed/>
                </p:oleObj>
              </mc:Choice>
              <mc:Fallback>
                <p:oleObj name="" r:id="rId1" imgW="2688590" imgH="21590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11300" y="5043488"/>
                        <a:ext cx="7005638" cy="58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/>
          <p:nvPr/>
        </p:nvGrpSpPr>
        <p:grpSpPr>
          <a:xfrm>
            <a:off x="1295400" y="2376488"/>
            <a:ext cx="5715000" cy="1676400"/>
            <a:chOff x="816" y="1632"/>
            <a:chExt cx="3600" cy="1056"/>
          </a:xfrm>
        </p:grpSpPr>
        <p:sp>
          <p:nvSpPr>
            <p:cNvPr id="23567" name="Text Box 8"/>
            <p:cNvSpPr txBox="1"/>
            <p:nvPr/>
          </p:nvSpPr>
          <p:spPr>
            <a:xfrm>
              <a:off x="3120" y="1779"/>
              <a:ext cx="1296" cy="33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甲</a:t>
              </a:r>
              <a:r>
                <a:rPr lang="en-US" altLang="zh-CN" sz="2800" b="1">
                  <a:latin typeface="Times New Roman" panose="02020603050405020304" pitchFamily="18" charset="0"/>
                </a:rPr>
                <a:t>(A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sz="2800" b="1">
                  <a:latin typeface="Times New Roman" panose="02020603050405020304" pitchFamily="18" charset="0"/>
                </a:rPr>
                <a:t>50%) 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3568" name="Line 9"/>
            <p:cNvSpPr/>
            <p:nvPr/>
          </p:nvSpPr>
          <p:spPr>
            <a:xfrm>
              <a:off x="2016" y="1990"/>
              <a:ext cx="1104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3569" name="Line 10"/>
            <p:cNvSpPr/>
            <p:nvPr/>
          </p:nvSpPr>
          <p:spPr>
            <a:xfrm>
              <a:off x="2016" y="2470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3570" name="Text Box 11"/>
            <p:cNvSpPr txBox="1"/>
            <p:nvPr/>
          </p:nvSpPr>
          <p:spPr>
            <a:xfrm>
              <a:off x="1728" y="1798"/>
              <a:ext cx="288" cy="33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</a:rPr>
                <a:t>A 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3571" name="Text Box 12"/>
            <p:cNvSpPr txBox="1"/>
            <p:nvPr/>
          </p:nvSpPr>
          <p:spPr>
            <a:xfrm>
              <a:off x="1728" y="2278"/>
              <a:ext cx="288" cy="33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</a:rPr>
                <a:t>B 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3572" name="Line 13"/>
            <p:cNvSpPr/>
            <p:nvPr/>
          </p:nvSpPr>
          <p:spPr>
            <a:xfrm flipV="1">
              <a:off x="2016" y="1942"/>
              <a:ext cx="1104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3573" name="Line 14"/>
            <p:cNvSpPr/>
            <p:nvPr/>
          </p:nvSpPr>
          <p:spPr>
            <a:xfrm>
              <a:off x="2016" y="1942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3574" name="Text Box 15"/>
            <p:cNvSpPr txBox="1"/>
            <p:nvPr/>
          </p:nvSpPr>
          <p:spPr>
            <a:xfrm>
              <a:off x="3120" y="2307"/>
              <a:ext cx="1296" cy="33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乙</a:t>
              </a:r>
              <a:r>
                <a:rPr lang="en-US" altLang="zh-CN" sz="2800" b="1">
                  <a:latin typeface="Times New Roman" panose="02020603050405020304" pitchFamily="18" charset="0"/>
                </a:rPr>
                <a:t>(A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sz="2800" b="1">
                  <a:latin typeface="Times New Roman" panose="02020603050405020304" pitchFamily="18" charset="0"/>
                </a:rPr>
                <a:t>60%) 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3575" name="Text Box 16"/>
            <p:cNvSpPr txBox="1"/>
            <p:nvPr/>
          </p:nvSpPr>
          <p:spPr>
            <a:xfrm>
              <a:off x="816" y="1824"/>
              <a:ext cx="9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宋体" panose="02010600030101010101" pitchFamily="2" charset="-122"/>
                </a:rPr>
                <a:t>购买</a:t>
              </a:r>
              <a:r>
                <a:rPr lang="en-US" altLang="zh-CN" sz="2800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3576" name="Text Box 17"/>
            <p:cNvSpPr txBox="1"/>
            <p:nvPr/>
          </p:nvSpPr>
          <p:spPr>
            <a:xfrm>
              <a:off x="2208" y="1632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  <a:latin typeface="Times New Roman" panose="02020603050405020304" pitchFamily="18" charset="0"/>
                </a:rPr>
                <a:t>11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77" name="Text Box 18"/>
            <p:cNvSpPr txBox="1"/>
            <p:nvPr/>
          </p:nvSpPr>
          <p:spPr>
            <a:xfrm>
              <a:off x="2208" y="1872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  <a:latin typeface="Times New Roman" panose="02020603050405020304" pitchFamily="18" charset="0"/>
                </a:rPr>
                <a:t>12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78" name="Text Box 19"/>
            <p:cNvSpPr txBox="1"/>
            <p:nvPr/>
          </p:nvSpPr>
          <p:spPr>
            <a:xfrm>
              <a:off x="2064" y="206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  <a:latin typeface="Times New Roman" panose="02020603050405020304" pitchFamily="18" charset="0"/>
                </a:rPr>
                <a:t>21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79" name="Text Box 20"/>
            <p:cNvSpPr txBox="1"/>
            <p:nvPr/>
          </p:nvSpPr>
          <p:spPr>
            <a:xfrm>
              <a:off x="2064" y="240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  <a:latin typeface="Times New Roman" panose="02020603050405020304" pitchFamily="18" charset="0"/>
                </a:rPr>
                <a:t>22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1"/>
          <p:cNvGrpSpPr/>
          <p:nvPr/>
        </p:nvGrpSpPr>
        <p:grpSpPr>
          <a:xfrm>
            <a:off x="7086600" y="2605088"/>
            <a:ext cx="1987550" cy="1357312"/>
            <a:chOff x="4464" y="1488"/>
            <a:chExt cx="1252" cy="855"/>
          </a:xfrm>
        </p:grpSpPr>
        <p:sp>
          <p:nvSpPr>
            <p:cNvPr id="23565" name="Text Box 22"/>
            <p:cNvSpPr txBox="1"/>
            <p:nvPr/>
          </p:nvSpPr>
          <p:spPr>
            <a:xfrm>
              <a:off x="4464" y="1488"/>
              <a:ext cx="1252" cy="327"/>
            </a:xfrm>
            <a:prstGeom prst="rect">
              <a:avLst/>
            </a:prstGeom>
            <a:solidFill>
              <a:srgbClr val="66FFFF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</a:rPr>
                <a:t>4.8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千元</a:t>
              </a:r>
              <a:r>
                <a:rPr lang="en-US" altLang="zh-CN" sz="2800" b="1">
                  <a:latin typeface="Times New Roman" panose="02020603050405020304" pitchFamily="18" charset="0"/>
                </a:rPr>
                <a:t>/t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566" name="Text Box 23"/>
            <p:cNvSpPr txBox="1"/>
            <p:nvPr/>
          </p:nvSpPr>
          <p:spPr>
            <a:xfrm>
              <a:off x="4464" y="2016"/>
              <a:ext cx="1248" cy="327"/>
            </a:xfrm>
            <a:prstGeom prst="rect">
              <a:avLst/>
            </a:prstGeom>
            <a:solidFill>
              <a:srgbClr val="66FFFF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Times New Roman" panose="02020603050405020304" pitchFamily="18" charset="0"/>
                </a:rPr>
                <a:t>5.6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千元</a:t>
              </a:r>
              <a:r>
                <a:rPr lang="en-US" altLang="zh-CN" sz="2800" b="1">
                  <a:latin typeface="Times New Roman" panose="02020603050405020304" pitchFamily="18" charset="0"/>
                </a:rPr>
                <a:t>/t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2008" name="Text Box 24"/>
          <p:cNvSpPr txBox="1"/>
          <p:nvPr/>
        </p:nvSpPr>
        <p:spPr>
          <a:xfrm>
            <a:off x="1371600" y="1843088"/>
            <a:ext cx="7620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原油</a:t>
            </a:r>
            <a:r>
              <a:rPr lang="en-US" altLang="zh-CN" sz="2800" b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</a:rPr>
              <a:t>的购买量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</a:rPr>
              <a:t>原油</a:t>
            </a:r>
            <a:r>
              <a:rPr lang="en-US" altLang="zh-CN" sz="2800" b="1">
                <a:latin typeface="Times New Roman" panose="02020603050405020304" pitchFamily="18" charset="0"/>
              </a:rPr>
              <a:t>A, B</a:t>
            </a:r>
            <a:r>
              <a:rPr lang="zh-CN" altLang="en-US" sz="2800" b="1" dirty="0">
                <a:latin typeface="Times New Roman" panose="02020603050405020304" pitchFamily="18" charset="0"/>
              </a:rPr>
              <a:t>生产</a:t>
            </a:r>
            <a:r>
              <a:rPr lang="zh-CN" altLang="en-US" sz="2800" b="1" dirty="0">
                <a:latin typeface="宋体" panose="02010600030101010101" pitchFamily="2" charset="-122"/>
              </a:rPr>
              <a:t>汽油</a:t>
            </a:r>
            <a:r>
              <a:rPr lang="zh-CN" altLang="en-US" sz="2800" b="1" dirty="0">
                <a:latin typeface="Times New Roman" panose="02020603050405020304" pitchFamily="18" charset="0"/>
              </a:rPr>
              <a:t>甲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</a:rPr>
              <a:t>乙的数量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2009" name="Text Box 25"/>
          <p:cNvSpPr txBox="1"/>
          <p:nvPr/>
        </p:nvSpPr>
        <p:spPr>
          <a:xfrm>
            <a:off x="4572000" y="4357688"/>
            <a:ext cx="3962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 ~ </a:t>
            </a:r>
            <a:r>
              <a:rPr lang="zh-CN" altLang="en-US" sz="2800" b="1" dirty="0">
                <a:latin typeface="宋体" panose="02010600030101010101" pitchFamily="2" charset="-122"/>
              </a:rPr>
              <a:t>购买原油</a:t>
            </a:r>
            <a:r>
              <a:rPr lang="en-US" altLang="zh-CN" sz="2800" b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</a:rPr>
              <a:t>的支出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2010" name="Text Box 26"/>
          <p:cNvSpPr txBox="1"/>
          <p:nvPr/>
        </p:nvSpPr>
        <p:spPr>
          <a:xfrm>
            <a:off x="1524000" y="4281488"/>
            <a:ext cx="1905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利润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千元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42011" name="Text Box 27"/>
          <p:cNvSpPr txBox="1"/>
          <p:nvPr/>
        </p:nvSpPr>
        <p:spPr>
          <a:xfrm>
            <a:off x="3352800" y="5805488"/>
            <a:ext cx="27320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如何表述？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198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charRg st="22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41989">
                                            <p:txEl>
                                              <p:charRg st="22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2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2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4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6" dur="500"/>
                                        <p:tgtEl>
                                          <p:spTgt spid="4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nimBg="1"/>
      <p:bldP spid="41987" grpId="0" animBg="1"/>
      <p:bldP spid="41989" grpId="0" build="p"/>
      <p:bldP spid="42008" grpId="0"/>
      <p:bldP spid="42009" grpId="0"/>
      <p:bldP spid="42010" grpId="0"/>
      <p:bldP spid="420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Text Box 2"/>
          <p:cNvSpPr txBox="1"/>
          <p:nvPr/>
        </p:nvSpPr>
        <p:spPr>
          <a:xfrm>
            <a:off x="1752600" y="3962400"/>
            <a:ext cx="1752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原油供应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43011" name="Text Box 3"/>
          <p:cNvSpPr txBox="1"/>
          <p:nvPr/>
        </p:nvSpPr>
        <p:spPr>
          <a:xfrm>
            <a:off x="304800" y="3810000"/>
            <a:ext cx="1066800" cy="10668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约束条件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3012" name="Object 4"/>
          <p:cNvGraphicFramePr/>
          <p:nvPr/>
        </p:nvGraphicFramePr>
        <p:xfrm>
          <a:off x="1676400" y="4572000"/>
          <a:ext cx="28956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1" imgW="1155065" imgH="215900" progId="Equation.3">
                  <p:embed/>
                </p:oleObj>
              </mc:Choice>
              <mc:Fallback>
                <p:oleObj name="" r:id="rId1" imgW="1155065" imgH="2159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6400" y="4572000"/>
                        <a:ext cx="2895600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/>
          <p:nvPr/>
        </p:nvGraphicFramePr>
        <p:xfrm>
          <a:off x="1676400" y="5233988"/>
          <a:ext cx="25908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3" imgW="1015365" imgH="215900" progId="Equation.3">
                  <p:embed/>
                </p:oleObj>
              </mc:Choice>
              <mc:Fallback>
                <p:oleObj name="" r:id="rId3" imgW="1015365" imgH="21590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6400" y="5233988"/>
                        <a:ext cx="2590800" cy="557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/>
          <p:nvPr/>
        </p:nvGraphicFramePr>
        <p:xfrm>
          <a:off x="1676400" y="58674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5" imgW="557530" imgH="177800" progId="Equation.3">
                  <p:embed/>
                </p:oleObj>
              </mc:Choice>
              <mc:Fallback>
                <p:oleObj name="" r:id="rId5" imgW="557530" imgH="1778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6400" y="5867400"/>
                        <a:ext cx="16002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7"/>
          <p:cNvGraphicFramePr/>
          <p:nvPr/>
        </p:nvGraphicFramePr>
        <p:xfrm>
          <a:off x="1600200" y="2209800"/>
          <a:ext cx="6704013" cy="160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7" imgW="2487930" imgH="711200" progId="Equation.3">
                  <p:embed/>
                </p:oleObj>
              </mc:Choice>
              <mc:Fallback>
                <p:oleObj name="" r:id="rId7" imgW="2487930" imgH="71120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00200" y="2209800"/>
                        <a:ext cx="6704013" cy="160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6" name="Text Box 8"/>
          <p:cNvSpPr txBox="1"/>
          <p:nvPr/>
        </p:nvSpPr>
        <p:spPr>
          <a:xfrm>
            <a:off x="1600200" y="457200"/>
            <a:ext cx="7075488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buChar char="•"/>
            </a:pPr>
            <a:r>
              <a:rPr lang="en-US" altLang="zh-CN" sz="2800" b="1" i="1">
                <a:latin typeface="Times New Roman" panose="02020603050405020304" pitchFamily="18" charset="0"/>
              </a:rPr>
              <a:t> 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单价为</a:t>
            </a:r>
            <a:r>
              <a:rPr lang="en-US" altLang="zh-CN" sz="2800" b="1">
                <a:latin typeface="Times New Roman" panose="02020603050405020304" pitchFamily="18" charset="0"/>
              </a:rPr>
              <a:t>10</a:t>
            </a:r>
            <a:r>
              <a:rPr lang="zh-CN" altLang="en-US" sz="2800" b="1" dirty="0">
                <a:latin typeface="Times New Roman" panose="02020603050405020304" pitchFamily="18" charset="0"/>
              </a:rPr>
              <a:t>千</a:t>
            </a:r>
            <a:r>
              <a:rPr lang="zh-CN" altLang="en-US" sz="2800" b="1" dirty="0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/t</a:t>
            </a:r>
            <a:r>
              <a:rPr lang="zh-CN" altLang="en-US" sz="2800" b="1" dirty="0">
                <a:latin typeface="宋体" panose="02010600030101010101" pitchFamily="2" charset="-122"/>
              </a:rPr>
              <a:t>；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800" b="1">
                <a:latin typeface="Times New Roman" panose="02020603050405020304" pitchFamily="18" charset="0"/>
              </a:rPr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，超过</a:t>
            </a:r>
            <a:r>
              <a:rPr lang="en-US" altLang="zh-CN" sz="2800" b="1">
                <a:latin typeface="Times New Roman" panose="02020603050405020304" pitchFamily="18" charset="0"/>
              </a:rPr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的</a:t>
            </a:r>
            <a:r>
              <a:rPr lang="en-US" altLang="zh-CN" sz="2800" b="1">
                <a:latin typeface="Times New Roman" panose="02020603050405020304" pitchFamily="18" charset="0"/>
              </a:rPr>
              <a:t>8</a:t>
            </a:r>
            <a:r>
              <a:rPr lang="zh-CN" altLang="en-US" sz="2800" b="1" dirty="0">
                <a:latin typeface="Times New Roman" panose="02020603050405020304" pitchFamily="18" charset="0"/>
              </a:rPr>
              <a:t>千</a:t>
            </a:r>
            <a:r>
              <a:rPr lang="zh-CN" altLang="en-US" sz="2800" b="1" dirty="0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/t</a:t>
            </a:r>
            <a:r>
              <a:rPr lang="zh-CN" altLang="en-US" sz="2800" b="1" dirty="0">
                <a:latin typeface="宋体" panose="02010600030101010101" pitchFamily="2" charset="-122"/>
              </a:rPr>
              <a:t>；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800" b="1">
                <a:latin typeface="Times New Roman" panose="02020603050405020304" pitchFamily="18" charset="0"/>
              </a:rPr>
              <a:t>1500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，超过</a:t>
            </a:r>
            <a:r>
              <a:rPr lang="en-US" altLang="zh-CN" sz="2800" b="1">
                <a:latin typeface="Times New Roman" panose="02020603050405020304" pitchFamily="18" charset="0"/>
              </a:rPr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的</a:t>
            </a:r>
            <a:r>
              <a:rPr lang="en-US" altLang="zh-CN" sz="2800" b="1">
                <a:latin typeface="Times New Roman" panose="02020603050405020304" pitchFamily="18" charset="0"/>
              </a:rPr>
              <a:t>6</a:t>
            </a:r>
            <a:r>
              <a:rPr lang="zh-CN" altLang="en-US" sz="2800" b="1" dirty="0">
                <a:latin typeface="Times New Roman" panose="02020603050405020304" pitchFamily="18" charset="0"/>
              </a:rPr>
              <a:t>千</a:t>
            </a:r>
            <a:r>
              <a:rPr lang="zh-CN" altLang="en-US" sz="2800" b="1" dirty="0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/t. 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24585" name="Text Box 9"/>
          <p:cNvSpPr txBox="1"/>
          <p:nvPr/>
        </p:nvSpPr>
        <p:spPr>
          <a:xfrm>
            <a:off x="228600" y="533400"/>
            <a:ext cx="1219200" cy="10668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2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目标函数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4724400" y="4191000"/>
            <a:ext cx="4191000" cy="1905000"/>
            <a:chOff x="2976" y="2496"/>
            <a:chExt cx="2640" cy="1200"/>
          </a:xfrm>
        </p:grpSpPr>
        <p:sp>
          <p:nvSpPr>
            <p:cNvPr id="24587" name="Text Box 11"/>
            <p:cNvSpPr txBox="1"/>
            <p:nvPr/>
          </p:nvSpPr>
          <p:spPr>
            <a:xfrm>
              <a:off x="3696" y="2496"/>
              <a:ext cx="9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宋体" panose="02010600030101010101" pitchFamily="2" charset="-122"/>
                </a:rPr>
                <a:t>购买</a:t>
              </a:r>
              <a:r>
                <a:rPr lang="en-US" altLang="zh-CN" sz="2800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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grpSp>
          <p:nvGrpSpPr>
            <p:cNvPr id="24588" name="Group 12"/>
            <p:cNvGrpSpPr/>
            <p:nvPr/>
          </p:nvGrpSpPr>
          <p:grpSpPr>
            <a:xfrm>
              <a:off x="4224" y="2640"/>
              <a:ext cx="1392" cy="1056"/>
              <a:chOff x="2736" y="2400"/>
              <a:chExt cx="1392" cy="1056"/>
            </a:xfrm>
          </p:grpSpPr>
          <p:sp>
            <p:nvSpPr>
              <p:cNvPr id="24592" name="Line 13"/>
              <p:cNvSpPr/>
              <p:nvPr/>
            </p:nvSpPr>
            <p:spPr>
              <a:xfrm>
                <a:off x="3024" y="2758"/>
                <a:ext cx="1104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lg"/>
              </a:ln>
            </p:spPr>
          </p:sp>
          <p:sp>
            <p:nvSpPr>
              <p:cNvPr id="24593" name="Line 14"/>
              <p:cNvSpPr/>
              <p:nvPr/>
            </p:nvSpPr>
            <p:spPr>
              <a:xfrm>
                <a:off x="3024" y="3238"/>
                <a:ext cx="11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lg"/>
              </a:ln>
            </p:spPr>
          </p:sp>
          <p:sp>
            <p:nvSpPr>
              <p:cNvPr id="24594" name="Text Box 15"/>
              <p:cNvSpPr txBox="1"/>
              <p:nvPr/>
            </p:nvSpPr>
            <p:spPr>
              <a:xfrm>
                <a:off x="2736" y="2566"/>
                <a:ext cx="288" cy="33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>
                    <a:latin typeface="Times New Roman" panose="02020603050405020304" pitchFamily="18" charset="0"/>
                  </a:rPr>
                  <a:t>A </a:t>
                </a:r>
                <a:endParaRPr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5" name="Text Box 16"/>
              <p:cNvSpPr txBox="1"/>
              <p:nvPr/>
            </p:nvSpPr>
            <p:spPr>
              <a:xfrm>
                <a:off x="2736" y="3046"/>
                <a:ext cx="288" cy="33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>
                    <a:latin typeface="Times New Roman" panose="02020603050405020304" pitchFamily="18" charset="0"/>
                  </a:rPr>
                  <a:t>B </a:t>
                </a:r>
                <a:endParaRPr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6" name="Line 17"/>
              <p:cNvSpPr/>
              <p:nvPr/>
            </p:nvSpPr>
            <p:spPr>
              <a:xfrm flipV="1">
                <a:off x="3024" y="2710"/>
                <a:ext cx="1104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lg"/>
              </a:ln>
            </p:spPr>
          </p:sp>
          <p:sp>
            <p:nvSpPr>
              <p:cNvPr id="24597" name="Line 18"/>
              <p:cNvSpPr/>
              <p:nvPr/>
            </p:nvSpPr>
            <p:spPr>
              <a:xfrm>
                <a:off x="3024" y="2710"/>
                <a:ext cx="11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lg"/>
              </a:ln>
            </p:spPr>
          </p:sp>
          <p:sp>
            <p:nvSpPr>
              <p:cNvPr id="24598" name="Text Box 19"/>
              <p:cNvSpPr txBox="1"/>
              <p:nvPr/>
            </p:nvSpPr>
            <p:spPr>
              <a:xfrm>
                <a:off x="3216" y="2400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11</a:t>
                </a:r>
                <a:endPara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9" name="Text Box 20"/>
              <p:cNvSpPr txBox="1"/>
              <p:nvPr/>
            </p:nvSpPr>
            <p:spPr>
              <a:xfrm>
                <a:off x="3216" y="2640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12</a:t>
                </a:r>
                <a:endPara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00" name="Text Box 21"/>
              <p:cNvSpPr txBox="1"/>
              <p:nvPr/>
            </p:nvSpPr>
            <p:spPr>
              <a:xfrm>
                <a:off x="3072" y="2832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21</a:t>
                </a:r>
                <a:endPara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01" name="Text Box 22"/>
              <p:cNvSpPr txBox="1"/>
              <p:nvPr/>
            </p:nvSpPr>
            <p:spPr>
              <a:xfrm>
                <a:off x="3072" y="3168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22</a:t>
                </a:r>
                <a:endPara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589" name="Group 23"/>
            <p:cNvGrpSpPr/>
            <p:nvPr/>
          </p:nvGrpSpPr>
          <p:grpSpPr>
            <a:xfrm>
              <a:off x="2976" y="2832"/>
              <a:ext cx="1248" cy="816"/>
              <a:chOff x="48" y="720"/>
              <a:chExt cx="1248" cy="816"/>
            </a:xfrm>
          </p:grpSpPr>
          <p:sp>
            <p:nvSpPr>
              <p:cNvPr id="24590" name="Text Box 24"/>
              <p:cNvSpPr txBox="1"/>
              <p:nvPr/>
            </p:nvSpPr>
            <p:spPr>
              <a:xfrm>
                <a:off x="96" y="720"/>
                <a:ext cx="115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Times New Roman" panose="02020603050405020304" pitchFamily="18" charset="0"/>
                  </a:rPr>
                  <a:t>库存</a:t>
                </a:r>
                <a:r>
                  <a:rPr lang="en-US" altLang="zh-CN" sz="2800" b="1">
                    <a:latin typeface="Times New Roman" panose="02020603050405020304" pitchFamily="18" charset="0"/>
                  </a:rPr>
                  <a:t>500t </a:t>
                </a:r>
                <a:endParaRPr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1" name="Text Box 25"/>
              <p:cNvSpPr txBox="1"/>
              <p:nvPr/>
            </p:nvSpPr>
            <p:spPr>
              <a:xfrm>
                <a:off x="48" y="1209"/>
                <a:ext cx="124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Times New Roman" panose="02020603050405020304" pitchFamily="18" charset="0"/>
                  </a:rPr>
                  <a:t>库存</a:t>
                </a:r>
                <a:r>
                  <a:rPr lang="en-US" altLang="zh-CN" sz="2800" b="1">
                    <a:latin typeface="Times New Roman" panose="02020603050405020304" pitchFamily="18" charset="0"/>
                  </a:rPr>
                  <a:t>1000t </a:t>
                </a:r>
                <a:endParaRPr lang="en-US" altLang="zh-CN" sz="2800" b="1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nimBg="1"/>
      <p:bldP spid="43011" grpId="0" animBg="1"/>
      <p:bldP spid="430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Text Box 2"/>
          <p:cNvSpPr txBox="1"/>
          <p:nvPr/>
        </p:nvSpPr>
        <p:spPr>
          <a:xfrm>
            <a:off x="304800" y="4162425"/>
            <a:ext cx="8534400" cy="2238375"/>
          </a:xfrm>
          <a:prstGeom prst="rect">
            <a:avLst/>
          </a:prstGeom>
          <a:solidFill>
            <a:srgbClr val="FFCCFF"/>
          </a:solidFill>
          <a:ln w="9525" cap="flat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目标函数中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</a:rPr>
              <a:t>不是线性函数，是非线性规划；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宋体" panose="02010600030101010101" pitchFamily="2" charset="-122"/>
              </a:rPr>
              <a:t> 对于用分段函数定义的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</a:rPr>
              <a:t>，一般的非线性规划软件也难以输入和求解；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宋体" panose="02010600030101010101" pitchFamily="2" charset="-122"/>
              </a:rPr>
              <a:t> 想办法将模型化简，用现成的软件求解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44035" name="Text Box 3"/>
          <p:cNvSpPr txBox="1"/>
          <p:nvPr/>
        </p:nvSpPr>
        <p:spPr>
          <a:xfrm>
            <a:off x="2286000" y="533400"/>
            <a:ext cx="2286000" cy="1073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汽油含原油</a:t>
            </a:r>
            <a:r>
              <a:rPr lang="en-US" altLang="zh-CN" sz="2800" b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的比例限制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44036" name="Object 4"/>
          <p:cNvGraphicFramePr/>
          <p:nvPr/>
        </p:nvGraphicFramePr>
        <p:xfrm>
          <a:off x="423863" y="1660525"/>
          <a:ext cx="2122487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1" imgW="888365" imgH="431800" progId="Equation.3">
                  <p:embed/>
                </p:oleObj>
              </mc:Choice>
              <mc:Fallback>
                <p:oleObj name="" r:id="rId1" imgW="888365" imgH="4318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3863" y="1660525"/>
                        <a:ext cx="2122487" cy="1039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/>
          <p:cNvGraphicFramePr/>
          <p:nvPr/>
        </p:nvGraphicFramePr>
        <p:xfrm>
          <a:off x="423863" y="2878138"/>
          <a:ext cx="212248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3" imgW="901065" imgH="431800" progId="Equation.3">
                  <p:embed/>
                </p:oleObj>
              </mc:Choice>
              <mc:Fallback>
                <p:oleObj name="" r:id="rId3" imgW="901065" imgH="431800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3863" y="2878138"/>
                        <a:ext cx="2122487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6"/>
          <p:cNvGraphicFramePr/>
          <p:nvPr/>
        </p:nvGraphicFramePr>
        <p:xfrm>
          <a:off x="2743200" y="1912938"/>
          <a:ext cx="18288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5" imgW="723265" imgH="215900" progId="Equation.3">
                  <p:embed/>
                </p:oleObj>
              </mc:Choice>
              <mc:Fallback>
                <p:oleObj name="" r:id="rId5" imgW="723265" imgH="215900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43200" y="1912938"/>
                        <a:ext cx="1828800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7"/>
          <p:cNvGraphicFramePr/>
          <p:nvPr/>
        </p:nvGraphicFramePr>
        <p:xfrm>
          <a:off x="2667000" y="3048000"/>
          <a:ext cx="20574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7" imgW="875030" imgH="215900" progId="Equation.3">
                  <p:embed/>
                </p:oleObj>
              </mc:Choice>
              <mc:Fallback>
                <p:oleObj name="" r:id="rId7" imgW="875030" imgH="21590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67000" y="3048000"/>
                        <a:ext cx="2057400" cy="547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Text Box 8"/>
          <p:cNvSpPr txBox="1"/>
          <p:nvPr/>
        </p:nvSpPr>
        <p:spPr>
          <a:xfrm>
            <a:off x="381000" y="533400"/>
            <a:ext cx="1066800" cy="10668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约束条件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4953000" y="1295400"/>
            <a:ext cx="3962400" cy="1676400"/>
            <a:chOff x="3168" y="240"/>
            <a:chExt cx="2448" cy="1056"/>
          </a:xfrm>
        </p:grpSpPr>
        <p:sp>
          <p:nvSpPr>
            <p:cNvPr id="25610" name="Text Box 10"/>
            <p:cNvSpPr txBox="1"/>
            <p:nvPr/>
          </p:nvSpPr>
          <p:spPr>
            <a:xfrm>
              <a:off x="4560" y="384"/>
              <a:ext cx="105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甲</a:t>
              </a:r>
              <a:r>
                <a:rPr lang="en-US" altLang="zh-CN" b="1">
                  <a:latin typeface="Times New Roman" panose="02020603050405020304" pitchFamily="18" charset="0"/>
                </a:rPr>
                <a:t>(A</a:t>
              </a:r>
              <a:r>
                <a:rPr lang="en-US" altLang="zh-CN" b="1"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b="1">
                  <a:latin typeface="Times New Roman" panose="02020603050405020304" pitchFamily="18" charset="0"/>
                </a:rPr>
                <a:t>50%) 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25611" name="Line 11"/>
            <p:cNvSpPr/>
            <p:nvPr/>
          </p:nvSpPr>
          <p:spPr>
            <a:xfrm>
              <a:off x="3456" y="598"/>
              <a:ext cx="1104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5612" name="Line 12"/>
            <p:cNvSpPr/>
            <p:nvPr/>
          </p:nvSpPr>
          <p:spPr>
            <a:xfrm>
              <a:off x="3456" y="1078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5613" name="Text Box 13"/>
            <p:cNvSpPr txBox="1"/>
            <p:nvPr/>
          </p:nvSpPr>
          <p:spPr>
            <a:xfrm>
              <a:off x="3168" y="406"/>
              <a:ext cx="288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A 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25614" name="Text Box 14"/>
            <p:cNvSpPr txBox="1"/>
            <p:nvPr/>
          </p:nvSpPr>
          <p:spPr>
            <a:xfrm>
              <a:off x="3168" y="886"/>
              <a:ext cx="288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B 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25615" name="Line 15"/>
            <p:cNvSpPr/>
            <p:nvPr/>
          </p:nvSpPr>
          <p:spPr>
            <a:xfrm flipV="1">
              <a:off x="3456" y="550"/>
              <a:ext cx="1104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5616" name="Text Box 16"/>
            <p:cNvSpPr txBox="1"/>
            <p:nvPr/>
          </p:nvSpPr>
          <p:spPr>
            <a:xfrm>
              <a:off x="4560" y="912"/>
              <a:ext cx="1056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乙</a:t>
              </a:r>
              <a:r>
                <a:rPr lang="en-US" altLang="zh-CN" b="1">
                  <a:latin typeface="Times New Roman" panose="02020603050405020304" pitchFamily="18" charset="0"/>
                </a:rPr>
                <a:t>(A</a:t>
              </a:r>
              <a:r>
                <a:rPr lang="en-US" altLang="zh-CN" b="1"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b="1">
                  <a:latin typeface="Times New Roman" panose="02020603050405020304" pitchFamily="18" charset="0"/>
                </a:rPr>
                <a:t>60%) 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25617" name="Text Box 17"/>
            <p:cNvSpPr txBox="1"/>
            <p:nvPr/>
          </p:nvSpPr>
          <p:spPr>
            <a:xfrm>
              <a:off x="3648" y="24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  <a:latin typeface="Times New Roman" panose="02020603050405020304" pitchFamily="18" charset="0"/>
                </a:rPr>
                <a:t>11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18" name="Text Box 18"/>
            <p:cNvSpPr txBox="1"/>
            <p:nvPr/>
          </p:nvSpPr>
          <p:spPr>
            <a:xfrm>
              <a:off x="3648" y="48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  <a:latin typeface="Times New Roman" panose="02020603050405020304" pitchFamily="18" charset="0"/>
                </a:rPr>
                <a:t>12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19" name="Text Box 19"/>
            <p:cNvSpPr txBox="1"/>
            <p:nvPr/>
          </p:nvSpPr>
          <p:spPr>
            <a:xfrm>
              <a:off x="3504" y="672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  <a:latin typeface="Times New Roman" panose="02020603050405020304" pitchFamily="18" charset="0"/>
                </a:rPr>
                <a:t>21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20" name="Text Box 20"/>
            <p:cNvSpPr txBox="1"/>
            <p:nvPr/>
          </p:nvSpPr>
          <p:spPr>
            <a:xfrm>
              <a:off x="3504" y="1008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b="1" baseline="-25000">
                  <a:solidFill>
                    <a:srgbClr val="FF3300"/>
                  </a:solidFill>
                  <a:latin typeface="Times New Roman" panose="02020603050405020304" pitchFamily="18" charset="0"/>
                </a:rPr>
                <a:t>22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21" name="Line 21"/>
            <p:cNvSpPr/>
            <p:nvPr/>
          </p:nvSpPr>
          <p:spPr>
            <a:xfrm>
              <a:off x="3456" y="528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403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charRg st="25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4034">
                                            <p:txEl>
                                              <p:charRg st="25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charRg st="61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4034">
                                            <p:txEl>
                                              <p:charRg st="61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nimBg="1" build="p"/>
      <p:bldP spid="440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Text Box 2"/>
          <p:cNvSpPr txBox="1"/>
          <p:nvPr/>
        </p:nvSpPr>
        <p:spPr>
          <a:xfrm>
            <a:off x="762000" y="1004888"/>
            <a:ext cx="7620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1 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2 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3 </a:t>
            </a:r>
            <a:r>
              <a:rPr lang="en-US" altLang="zh-CN" sz="2800" b="1"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latin typeface="宋体" panose="02010600030101010101" pitchFamily="2" charset="-122"/>
              </a:rPr>
              <a:t>以价格</a:t>
            </a:r>
            <a:r>
              <a:rPr lang="en-US" altLang="zh-CN" sz="2800" b="1">
                <a:latin typeface="Times New Roman" panose="02020603050405020304" pitchFamily="18" charset="0"/>
              </a:rPr>
              <a:t>10, 8, 6(</a:t>
            </a:r>
            <a:r>
              <a:rPr lang="zh-CN" altLang="en-US" sz="2800" b="1" dirty="0">
                <a:latin typeface="宋体" panose="02010600030101010101" pitchFamily="2" charset="-122"/>
              </a:rPr>
              <a:t>千元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en-US" altLang="zh-CN" sz="2800" b="1">
                <a:latin typeface="宋体" panose="02010600030101010101" pitchFamily="2" charset="-122"/>
              </a:rPr>
              <a:t>t)</a:t>
            </a:r>
            <a:r>
              <a:rPr lang="zh-CN" altLang="en-US" sz="2800" b="1" dirty="0">
                <a:latin typeface="宋体" panose="02010600030101010101" pitchFamily="2" charset="-122"/>
              </a:rPr>
              <a:t>采购</a:t>
            </a:r>
            <a:r>
              <a:rPr lang="en-US" altLang="zh-CN" sz="2800" b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</a:rPr>
              <a:t>的吨数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5059" name="Text Box 3"/>
          <p:cNvSpPr txBox="1"/>
          <p:nvPr/>
        </p:nvSpPr>
        <p:spPr>
          <a:xfrm>
            <a:off x="152400" y="1905000"/>
            <a:ext cx="990600" cy="94615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目标函数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060" name="Text Box 4"/>
          <p:cNvSpPr txBox="1"/>
          <p:nvPr/>
        </p:nvSpPr>
        <p:spPr>
          <a:xfrm>
            <a:off x="250825" y="3810000"/>
            <a:ext cx="8763000" cy="137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只有当以</a:t>
            </a:r>
            <a:r>
              <a:rPr lang="en-US" altLang="zh-CN" sz="2800" b="1">
                <a:latin typeface="Times New Roman" panose="02020603050405020304" pitchFamily="18" charset="0"/>
              </a:rPr>
              <a:t>10</a:t>
            </a:r>
            <a:r>
              <a:rPr lang="zh-CN" altLang="en-US" sz="2800" b="1" dirty="0">
                <a:latin typeface="宋体" panose="02010600030101010101" pitchFamily="2" charset="-122"/>
              </a:rPr>
              <a:t>千元</a:t>
            </a:r>
            <a:r>
              <a:rPr lang="en-US" altLang="zh-CN" sz="2800" b="1">
                <a:latin typeface="Times New Roman" panose="02020603050405020304" pitchFamily="18" charset="0"/>
              </a:rPr>
              <a:t>/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的价格购买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=500</a:t>
            </a:r>
            <a:r>
              <a:rPr lang="en-US" altLang="zh-CN" sz="2800" b="1">
                <a:latin typeface="宋体" panose="02010600030101010101" pitchFamily="2" charset="-122"/>
              </a:rPr>
              <a:t>(t)</a:t>
            </a:r>
            <a:r>
              <a:rPr lang="zh-CN" altLang="en-US" sz="2800" b="1" dirty="0">
                <a:latin typeface="宋体" panose="02010600030101010101" pitchFamily="2" charset="-122"/>
              </a:rPr>
              <a:t>时，才能以</a:t>
            </a:r>
            <a:r>
              <a:rPr lang="en-US" altLang="zh-CN" sz="2800" b="1">
                <a:latin typeface="Times New Roman" panose="02020603050405020304" pitchFamily="18" charset="0"/>
              </a:rPr>
              <a:t>8</a:t>
            </a:r>
            <a:r>
              <a:rPr lang="zh-CN" altLang="en-US" sz="2800" b="1" dirty="0">
                <a:latin typeface="宋体" panose="02010600030101010101" pitchFamily="2" charset="-122"/>
              </a:rPr>
              <a:t>千元</a:t>
            </a:r>
            <a:r>
              <a:rPr lang="en-US" altLang="zh-CN" sz="2800" b="1">
                <a:latin typeface="Times New Roman" panose="02020603050405020304" pitchFamily="18" charset="0"/>
              </a:rPr>
              <a:t>/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的价格购买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2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45061" name="Text Box 5"/>
          <p:cNvSpPr txBox="1"/>
          <p:nvPr/>
        </p:nvSpPr>
        <p:spPr>
          <a:xfrm>
            <a:off x="3203575" y="461963"/>
            <a:ext cx="1143000" cy="52197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方法</a:t>
            </a:r>
            <a:r>
              <a:rPr lang="en-US" altLang="zh-CN" sz="2800" b="1">
                <a:latin typeface="宋体" panose="02010600030101010101" pitchFamily="2" charset="-122"/>
              </a:rPr>
              <a:t> 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graphicFrame>
        <p:nvGraphicFramePr>
          <p:cNvPr id="26626" name="Object 6"/>
          <p:cNvGraphicFramePr/>
          <p:nvPr/>
        </p:nvGraphicFramePr>
        <p:xfrm>
          <a:off x="1438275" y="2209800"/>
          <a:ext cx="73310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1" imgW="3556000" imgH="228600" progId="Equation.3">
                  <p:embed/>
                </p:oleObj>
              </mc:Choice>
              <mc:Fallback>
                <p:oleObj name="" r:id="rId1" imgW="3556000" imgH="2286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38275" y="2209800"/>
                        <a:ext cx="7331075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/>
          <p:nvPr/>
        </p:nvGraphicFramePr>
        <p:xfrm>
          <a:off x="5364163" y="5229225"/>
          <a:ext cx="2514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3" imgW="1193800" imgH="228600" progId="Equation.3">
                  <p:embed/>
                </p:oleObj>
              </mc:Choice>
              <mc:Fallback>
                <p:oleObj name="" r:id="rId3" imgW="1193800" imgH="228600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4163" y="5229225"/>
                        <a:ext cx="25146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Text Box 9"/>
          <p:cNvSpPr txBox="1"/>
          <p:nvPr/>
        </p:nvSpPr>
        <p:spPr>
          <a:xfrm>
            <a:off x="1752600" y="5867400"/>
            <a:ext cx="6324600" cy="51911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非线性规划模型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，可以用</a:t>
            </a:r>
            <a:r>
              <a:rPr lang="en-US" altLang="zh-CN" sz="2800" b="1">
                <a:latin typeface="Times New Roman" panose="02020603050405020304" pitchFamily="18" charset="0"/>
              </a:rPr>
              <a:t>LINGO</a:t>
            </a:r>
            <a:r>
              <a:rPr lang="zh-CN" altLang="en-US" sz="2800" b="1" dirty="0">
                <a:latin typeface="Times New Roman" panose="02020603050405020304" pitchFamily="18" charset="0"/>
              </a:rPr>
              <a:t>求解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635" name="Text Box 10"/>
          <p:cNvSpPr txBox="1"/>
          <p:nvPr/>
        </p:nvSpPr>
        <p:spPr>
          <a:xfrm>
            <a:off x="381000" y="411163"/>
            <a:ext cx="1828800" cy="579437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模型求解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067" name="Text Box 11"/>
          <p:cNvSpPr txBox="1"/>
          <p:nvPr/>
        </p:nvSpPr>
        <p:spPr>
          <a:xfrm>
            <a:off x="1752600" y="1524000"/>
            <a:ext cx="5410200" cy="519113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</a:rPr>
              <a:t>+x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2</a:t>
            </a:r>
            <a:r>
              <a:rPr lang="en-US" altLang="zh-CN" sz="2800" b="1" i="1">
                <a:latin typeface="Times New Roman" panose="02020603050405020304" pitchFamily="18" charset="0"/>
              </a:rPr>
              <a:t>+x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3</a:t>
            </a:r>
            <a:r>
              <a:rPr lang="en-US" altLang="zh-CN" sz="2800" b="1" i="1"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 = 10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+8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+6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45068" name="Text Box 12"/>
          <p:cNvSpPr txBox="1"/>
          <p:nvPr/>
        </p:nvSpPr>
        <p:spPr>
          <a:xfrm>
            <a:off x="1295400" y="2819400"/>
            <a:ext cx="6934200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800" b="1">
                <a:latin typeface="Times New Roman" panose="02020603050405020304" pitchFamily="18" charset="0"/>
              </a:rPr>
              <a:t>1000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，超过</a:t>
            </a:r>
            <a:r>
              <a:rPr lang="en-US" altLang="zh-CN" sz="2800" b="1">
                <a:latin typeface="Times New Roman" panose="02020603050405020304" pitchFamily="18" charset="0"/>
              </a:rPr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的</a:t>
            </a:r>
            <a:r>
              <a:rPr lang="en-US" altLang="zh-CN" sz="2800" b="1">
                <a:latin typeface="Times New Roman" panose="02020603050405020304" pitchFamily="18" charset="0"/>
              </a:rPr>
              <a:t>8</a:t>
            </a:r>
            <a:r>
              <a:rPr lang="zh-CN" altLang="en-US" sz="2800" b="1" dirty="0">
                <a:latin typeface="Times New Roman" panose="02020603050405020304" pitchFamily="18" charset="0"/>
              </a:rPr>
              <a:t>千</a:t>
            </a:r>
            <a:r>
              <a:rPr lang="zh-CN" altLang="en-US" sz="2800" b="1" dirty="0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/t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2133600" y="3429000"/>
            <a:ext cx="2314575" cy="519113"/>
            <a:chOff x="1344" y="2208"/>
            <a:chExt cx="1458" cy="327"/>
          </a:xfrm>
        </p:grpSpPr>
        <p:sp>
          <p:nvSpPr>
            <p:cNvPr id="26644" name="Text Box 14"/>
            <p:cNvSpPr txBox="1"/>
            <p:nvPr/>
          </p:nvSpPr>
          <p:spPr>
            <a:xfrm>
              <a:off x="1344" y="2208"/>
              <a:ext cx="1056" cy="327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增加约束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645" name="AutoShape 15"/>
            <p:cNvSpPr/>
            <p:nvPr/>
          </p:nvSpPr>
          <p:spPr>
            <a:xfrm>
              <a:off x="2496" y="2304"/>
              <a:ext cx="306" cy="144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6"/>
          <p:cNvGrpSpPr/>
          <p:nvPr/>
        </p:nvGrpSpPr>
        <p:grpSpPr>
          <a:xfrm>
            <a:off x="4343400" y="4648200"/>
            <a:ext cx="2667000" cy="519113"/>
            <a:chOff x="2832" y="3024"/>
            <a:chExt cx="1680" cy="327"/>
          </a:xfrm>
        </p:grpSpPr>
        <p:graphicFrame>
          <p:nvGraphicFramePr>
            <p:cNvPr id="26629" name="Object 17"/>
            <p:cNvGraphicFramePr/>
            <p:nvPr/>
          </p:nvGraphicFramePr>
          <p:xfrm>
            <a:off x="2976" y="3024"/>
            <a:ext cx="1536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8" name="" r:id="rId5" imgW="1028065" imgH="215900" progId="Equation.3">
                    <p:embed/>
                  </p:oleObj>
                </mc:Choice>
                <mc:Fallback>
                  <p:oleObj name="" r:id="rId5" imgW="1028065" imgH="215900" progId="Equation.3">
                    <p:embed/>
                    <p:pic>
                      <p:nvPicPr>
                        <p:cNvPr id="0" name="图片 320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976" y="3024"/>
                          <a:ext cx="1536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3" name="AutoShape 18"/>
            <p:cNvSpPr/>
            <p:nvPr/>
          </p:nvSpPr>
          <p:spPr>
            <a:xfrm>
              <a:off x="2832" y="3072"/>
              <a:ext cx="96" cy="240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075" name="Text Box 19"/>
          <p:cNvSpPr txBox="1"/>
          <p:nvPr/>
        </p:nvSpPr>
        <p:spPr>
          <a:xfrm>
            <a:off x="1752600" y="1538288"/>
            <a:ext cx="5410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</a:rPr>
              <a:t>+x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2</a:t>
            </a:r>
            <a:r>
              <a:rPr lang="en-US" altLang="zh-CN" sz="2800" b="1" i="1">
                <a:latin typeface="Times New Roman" panose="02020603050405020304" pitchFamily="18" charset="0"/>
              </a:rPr>
              <a:t>+x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3</a:t>
            </a:r>
            <a:r>
              <a:rPr lang="en-US" altLang="zh-CN" sz="2800" b="1" i="1"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 = 10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+8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+6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grpSp>
        <p:nvGrpSpPr>
          <p:cNvPr id="4" name="Group 21"/>
          <p:cNvGrpSpPr/>
          <p:nvPr/>
        </p:nvGrpSpPr>
        <p:grpSpPr>
          <a:xfrm>
            <a:off x="395288" y="5300663"/>
            <a:ext cx="4017962" cy="520700"/>
            <a:chOff x="249" y="3339"/>
            <a:chExt cx="2531" cy="328"/>
          </a:xfrm>
        </p:grpSpPr>
        <p:graphicFrame>
          <p:nvGraphicFramePr>
            <p:cNvPr id="26628" name="Object 7"/>
            <p:cNvGraphicFramePr/>
            <p:nvPr/>
          </p:nvGraphicFramePr>
          <p:xfrm>
            <a:off x="1292" y="3339"/>
            <a:ext cx="148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0" name="" r:id="rId7" imgW="1040765" imgH="228600" progId="Equation.3">
                    <p:embed/>
                  </p:oleObj>
                </mc:Choice>
                <mc:Fallback>
                  <p:oleObj name="" r:id="rId7" imgW="1040765" imgH="228600" progId="Equation.3">
                    <p:embed/>
                    <p:pic>
                      <p:nvPicPr>
                        <p:cNvPr id="0" name="图片 320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92" y="3339"/>
                          <a:ext cx="1488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2" name="Text Box 20"/>
            <p:cNvSpPr txBox="1"/>
            <p:nvPr/>
          </p:nvSpPr>
          <p:spPr>
            <a:xfrm>
              <a:off x="249" y="3339"/>
              <a:ext cx="104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类似地有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Pa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nimBg="1"/>
      <p:bldP spid="45059" grpId="0" animBg="1"/>
      <p:bldP spid="45060" grpId="0" animBg="1"/>
      <p:bldP spid="45061" grpId="0" bldLvl="0" animBg="1"/>
      <p:bldP spid="45065" grpId="0" animBg="1"/>
      <p:bldP spid="45067" grpId="0" animBg="1"/>
      <p:bldP spid="45068" grpId="0" animBg="1"/>
      <p:bldP spid="4507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Text Box 2"/>
          <p:cNvSpPr txBox="1"/>
          <p:nvPr/>
        </p:nvSpPr>
        <p:spPr>
          <a:xfrm>
            <a:off x="179388" y="333375"/>
            <a:ext cx="3429000" cy="52197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LINGO</a:t>
            </a:r>
            <a:r>
              <a:rPr lang="zh-CN" altLang="en-US" sz="2800" b="1" dirty="0">
                <a:latin typeface="Times New Roman" panose="02020603050405020304" pitchFamily="18" charset="0"/>
              </a:rPr>
              <a:t>求解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6083" name="Rectangle 3"/>
          <p:cNvSpPr/>
          <p:nvPr/>
        </p:nvSpPr>
        <p:spPr>
          <a:xfrm>
            <a:off x="179388" y="908050"/>
            <a:ext cx="3482975" cy="4473575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p>
            <a:pPr algn="just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Model: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Max= 4.8*x11 + 4.8*x21 + 5.6*x12 + 5.6*x22 - 10*x1 - 8*x2 - 6*x3;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x11+x12 &lt; x + 500;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x21+x22 &lt; 1000;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x11 - x21 &gt; 0;  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2*x12 - 3*x22 &gt; 0;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x=x1+x2+x3;     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(x1 - 500) * x2=0; 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(x2 - 500) * x3=0; 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x1 &lt; 500;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x2 &lt; 500;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x3 &lt; 500;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0" hangingPunct="0">
              <a:lnSpc>
                <a:spcPct val="8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end 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46084" name="Rectangle 4"/>
          <p:cNvSpPr/>
          <p:nvPr/>
        </p:nvSpPr>
        <p:spPr>
          <a:xfrm>
            <a:off x="3924300" y="549275"/>
            <a:ext cx="4968875" cy="3749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Local optimal solution found.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  Objective value:                            4800.000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</a:rPr>
              <a:t>  Total solver iterations:                          14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</a:rPr>
              <a:t>     Variable           Value        Reduced Cost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</a:rPr>
              <a:t>            X11        500.0000            0.000000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</a:rPr>
              <a:t>            X21        500.0000            0.000000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</a:rPr>
              <a:t>            X12        0.000000           0.2666667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</a:rPr>
              <a:t>            X22        0.000000            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0.000000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</a:rPr>
              <a:t>              X1        0.000000           0.4000000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</a:rPr>
              <a:t>              X2        0.000000            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0.000000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</a:rPr>
              <a:t>              X3        0.000000            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0.000000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r>
              <a:rPr lang="en-US" altLang="zh-CN" sz="2000" b="1">
                <a:latin typeface="Times New Roman" panose="02020603050405020304" pitchFamily="18" charset="0"/>
              </a:rPr>
              <a:t>                X        0.000000            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0.000000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46085" name="Text Box 5"/>
          <p:cNvSpPr txBox="1"/>
          <p:nvPr/>
        </p:nvSpPr>
        <p:spPr>
          <a:xfrm>
            <a:off x="395288" y="5949950"/>
            <a:ext cx="8424862" cy="519113"/>
          </a:xfrm>
          <a:prstGeom prst="rect">
            <a:avLst/>
          </a:prstGeom>
          <a:solidFill>
            <a:srgbClr val="BAEEF4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LINGO</a:t>
            </a:r>
            <a:r>
              <a:rPr lang="zh-CN" altLang="en-US" sz="2800" b="1" dirty="0">
                <a:latin typeface="宋体" panose="02010600030101010101" pitchFamily="2" charset="-122"/>
              </a:rPr>
              <a:t>得到的是局部最优解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</a:rPr>
              <a:t>还能得到更好的解吗？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46086" name="Text Box 6"/>
          <p:cNvSpPr txBox="1"/>
          <p:nvPr/>
        </p:nvSpPr>
        <p:spPr>
          <a:xfrm>
            <a:off x="4211638" y="4313238"/>
            <a:ext cx="4932362" cy="15636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用库存的</a:t>
            </a:r>
            <a:r>
              <a:rPr lang="en-US" altLang="zh-CN" sz="2800" b="1">
                <a:latin typeface="Times New Roman" panose="02020603050405020304" pitchFamily="18" charset="0"/>
              </a:rPr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原油</a:t>
            </a:r>
            <a:r>
              <a:rPr lang="en-US" altLang="zh-CN" sz="2800" b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</a:rPr>
              <a:t>、</a:t>
            </a:r>
            <a:r>
              <a:rPr lang="en-US" altLang="zh-CN" sz="2800" b="1">
                <a:latin typeface="Times New Roman" panose="02020603050405020304" pitchFamily="18" charset="0"/>
              </a:rPr>
              <a:t>500</a:t>
            </a:r>
            <a:r>
              <a:rPr lang="en-US" altLang="zh-CN" sz="2800" b="1">
                <a:latin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</a:rPr>
              <a:t>原油</a:t>
            </a:r>
            <a:r>
              <a:rPr lang="en-US" altLang="zh-CN" sz="2800" b="1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宋体" panose="02010600030101010101" pitchFamily="2" charset="-122"/>
              </a:rPr>
              <a:t>生产汽油甲，不购买新的原油</a:t>
            </a:r>
            <a:r>
              <a:rPr lang="en-US" altLang="zh-CN" sz="2800" b="1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</a:rPr>
              <a:t>，利润为</a:t>
            </a:r>
            <a:r>
              <a:rPr lang="en-US" altLang="zh-CN" sz="2800" b="1">
                <a:latin typeface="Times New Roman" panose="02020603050405020304" pitchFamily="18" charset="0"/>
              </a:rPr>
              <a:t>4800</a:t>
            </a:r>
            <a:r>
              <a:rPr lang="zh-CN" altLang="en-US" sz="2800" b="1" dirty="0">
                <a:latin typeface="Times New Roman" panose="02020603050405020304" pitchFamily="18" charset="0"/>
              </a:rPr>
              <a:t>千</a:t>
            </a:r>
            <a:r>
              <a:rPr lang="zh-CN" altLang="en-US" sz="2800" b="1" dirty="0">
                <a:latin typeface="宋体" panose="02010600030101010101" pitchFamily="2" charset="-122"/>
              </a:rPr>
              <a:t>元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nimBg="1"/>
      <p:bldP spid="46084" grpId="0"/>
      <p:bldP spid="46085" grpId="0" animBg="1"/>
      <p:bldP spid="4608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Text Box 2"/>
          <p:cNvSpPr txBox="1"/>
          <p:nvPr/>
        </p:nvSpPr>
        <p:spPr>
          <a:xfrm>
            <a:off x="3200400" y="1341438"/>
            <a:ext cx="1878013" cy="57943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分派问题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25" name="Text Box 3"/>
          <p:cNvSpPr txBox="1"/>
          <p:nvPr/>
        </p:nvSpPr>
        <p:spPr>
          <a:xfrm>
            <a:off x="1676400" y="457200"/>
            <a:ext cx="5562600" cy="5794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</a:rPr>
              <a:t>4.4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接力队选拔和选课策略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0180" name="Text Box 4"/>
          <p:cNvSpPr txBox="1"/>
          <p:nvPr/>
        </p:nvSpPr>
        <p:spPr>
          <a:xfrm>
            <a:off x="179388" y="1981200"/>
            <a:ext cx="8839200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若干项任务分给一些候选人来完成，每人的专长不同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</a:rPr>
              <a:t>完成每项任务取得的效益或需要的资源不同，如何分派任务使获得的总效益最大，或付出的总资源最少</a:t>
            </a:r>
            <a:r>
              <a:rPr lang="en-US" altLang="zh-CN" sz="2800" b="1">
                <a:latin typeface="Times New Roman" panose="02020603050405020304" pitchFamily="18" charset="0"/>
              </a:rPr>
              <a:t>?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0181" name="Text Box 5"/>
          <p:cNvSpPr txBox="1"/>
          <p:nvPr/>
        </p:nvSpPr>
        <p:spPr>
          <a:xfrm>
            <a:off x="179388" y="3810000"/>
            <a:ext cx="8610600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若干种策略供选择，不同的策略得到的收益或付出的成本不同，各个策略之间有相互制约关系，如何在满足一定条件下作出抉择，使得收益最大或成本最小</a:t>
            </a:r>
            <a:r>
              <a:rPr lang="en-US" altLang="zh-CN" sz="2800" b="1">
                <a:latin typeface="Times New Roman" panose="02020603050405020304" pitchFamily="18" charset="0"/>
              </a:rPr>
              <a:t>?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30722" name="Object 6"/>
          <p:cNvGraphicFramePr/>
          <p:nvPr/>
        </p:nvGraphicFramePr>
        <p:xfrm>
          <a:off x="323850" y="404813"/>
          <a:ext cx="935038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762000" imgH="762000" progId="MS_ClipArt_Gallery.2">
                  <p:embed/>
                </p:oleObj>
              </mc:Choice>
              <mc:Fallback>
                <p:oleObj name="" r:id="rId1" imgW="762000" imgH="762000" progId="MS_ClipArt_Gallery.2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404813"/>
                        <a:ext cx="935038" cy="935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7"/>
          <p:cNvGraphicFramePr/>
          <p:nvPr/>
        </p:nvGraphicFramePr>
        <p:xfrm>
          <a:off x="7667625" y="714375"/>
          <a:ext cx="11525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762000" imgH="434340" progId="MS_ClipArt_Gallery.2">
                  <p:embed/>
                </p:oleObj>
              </mc:Choice>
              <mc:Fallback>
                <p:oleObj name="" r:id="rId3" imgW="762000" imgH="434340" progId="MS_ClipArt_Gallery.2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67625" y="714375"/>
                        <a:ext cx="1152525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animBg="1"/>
      <p:bldP spid="50180" grpId="0" animBg="1"/>
      <p:bldP spid="5018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3" name="Text Box 3"/>
          <p:cNvSpPr txBox="1"/>
          <p:nvPr/>
        </p:nvSpPr>
        <p:spPr>
          <a:xfrm>
            <a:off x="755650" y="4133850"/>
            <a:ext cx="7467600" cy="519113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如何选拔队员组成</a:t>
            </a:r>
            <a:r>
              <a:rPr lang="en-US" altLang="zh-CN" sz="2800" b="1">
                <a:latin typeface="宋体" panose="02010600030101010101" pitchFamily="2" charset="-122"/>
              </a:rPr>
              <a:t>4</a:t>
            </a:r>
            <a:r>
              <a:rPr lang="en-US" altLang="zh-CN" sz="2800" b="1">
                <a:latin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b="1">
                <a:latin typeface="宋体" panose="02010600030101010101" pitchFamily="2" charset="-122"/>
              </a:rPr>
              <a:t>100</a:t>
            </a:r>
            <a:r>
              <a:rPr lang="en-US" altLang="zh-CN" sz="2800" b="1">
                <a:latin typeface="Times New Roman" panose="02020603050405020304" pitchFamily="18" charset="0"/>
              </a:rPr>
              <a:t>m</a:t>
            </a:r>
            <a:r>
              <a:rPr lang="zh-CN" altLang="en-US" sz="2800" b="1" dirty="0">
                <a:latin typeface="宋体" panose="02010600030101010101" pitchFamily="2" charset="-122"/>
              </a:rPr>
              <a:t>混合泳接力队</a:t>
            </a:r>
            <a:r>
              <a:rPr lang="en-US" altLang="zh-CN" sz="2800" b="1">
                <a:latin typeface="宋体" panose="02010600030101010101" pitchFamily="2" charset="-122"/>
              </a:rPr>
              <a:t>?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31749" name="Rectangle 4"/>
          <p:cNvSpPr/>
          <p:nvPr>
            <p:ph type="title"/>
          </p:nvPr>
        </p:nvSpPr>
        <p:spPr>
          <a:xfrm>
            <a:off x="304800" y="401638"/>
            <a:ext cx="5105400" cy="5334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chemeClr val="tx1"/>
                </a:solidFill>
                <a:ea typeface="楷体_GB2312" pitchFamily="49" charset="-122"/>
              </a:rPr>
              <a:t>1  </a:t>
            </a:r>
            <a:r>
              <a:rPr lang="zh-CN" altLang="en-US" sz="3200" b="1" dirty="0">
                <a:solidFill>
                  <a:schemeClr val="tx1"/>
                </a:solidFill>
                <a:ea typeface="楷体_GB2312" pitchFamily="49" charset="-122"/>
              </a:rPr>
              <a:t>混合泳接力队的选拔 </a:t>
            </a:r>
            <a:endParaRPr lang="zh-CN" altLang="en-US" sz="3200" dirty="0">
              <a:ea typeface="楷体_GB2312" pitchFamily="49" charset="-122"/>
            </a:endParaRPr>
          </a:p>
        </p:txBody>
      </p:sp>
      <p:sp>
        <p:nvSpPr>
          <p:cNvPr id="51296" name="Text Box 96"/>
          <p:cNvSpPr txBox="1"/>
          <p:nvPr/>
        </p:nvSpPr>
        <p:spPr>
          <a:xfrm>
            <a:off x="2743200" y="1011238"/>
            <a:ext cx="3886200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5</a:t>
            </a:r>
            <a:r>
              <a:rPr lang="zh-CN" altLang="en-US" sz="2800" b="1" dirty="0">
                <a:latin typeface="Times New Roman" panose="02020603050405020304" pitchFamily="18" charset="0"/>
              </a:rPr>
              <a:t>名候选人的</a:t>
            </a:r>
            <a:r>
              <a:rPr lang="zh-CN" altLang="en-US" sz="2800" b="1" dirty="0">
                <a:latin typeface="宋体" panose="02010600030101010101" pitchFamily="2" charset="-122"/>
              </a:rPr>
              <a:t>百米成绩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51297" name="Text Box 97"/>
          <p:cNvSpPr txBox="1"/>
          <p:nvPr/>
        </p:nvSpPr>
        <p:spPr>
          <a:xfrm>
            <a:off x="762000" y="5934075"/>
            <a:ext cx="7467600" cy="519113"/>
          </a:xfrm>
          <a:prstGeom prst="rect">
            <a:avLst/>
          </a:prstGeom>
          <a:solidFill>
            <a:srgbClr val="BAEEF4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穷举法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lang="zh-CN" altLang="en-US" sz="2800" b="1" dirty="0">
                <a:latin typeface="宋体" panose="02010600030101010101" pitchFamily="2" charset="-122"/>
              </a:rPr>
              <a:t>组成接力队的方案共有</a:t>
            </a:r>
            <a:r>
              <a:rPr lang="en-US" altLang="zh-CN" sz="2800" b="1">
                <a:latin typeface="Times New Roman" panose="02020603050405020304" pitchFamily="18" charset="0"/>
              </a:rPr>
              <a:t>5!=120</a:t>
            </a:r>
            <a:r>
              <a:rPr lang="zh-CN" altLang="en-US" sz="2800" b="1" dirty="0">
                <a:latin typeface="宋体" panose="02010600030101010101" pitchFamily="2" charset="-122"/>
              </a:rPr>
              <a:t>种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31746" name="Object 98"/>
          <p:cNvGraphicFramePr/>
          <p:nvPr/>
        </p:nvGraphicFramePr>
        <p:xfrm>
          <a:off x="7467600" y="417513"/>
          <a:ext cx="1066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762000" imgH="762000" progId="MS_ClipArt_Gallery.2">
                  <p:embed/>
                </p:oleObj>
              </mc:Choice>
              <mc:Fallback>
                <p:oleObj name="" r:id="rId1" imgW="762000" imgH="762000" progId="MS_ClipArt_Gallery.2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67600" y="417513"/>
                        <a:ext cx="10668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6" name="表格 31845"/>
          <p:cNvGraphicFramePr/>
          <p:nvPr/>
        </p:nvGraphicFramePr>
        <p:xfrm>
          <a:off x="900113" y="1628775"/>
          <a:ext cx="7848600" cy="2287588"/>
        </p:xfrm>
        <a:graphic>
          <a:graphicData uri="http://schemas.openxmlformats.org/drawingml/2006/table">
            <a:tbl>
              <a:tblPr/>
              <a:tblGrid>
                <a:gridCol w="1308100"/>
                <a:gridCol w="1308100"/>
                <a:gridCol w="1308100"/>
                <a:gridCol w="1308100"/>
                <a:gridCol w="1308100"/>
                <a:gridCol w="1308100"/>
              </a:tblGrid>
              <a:tr h="455613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甲</a:t>
                      </a: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乙</a:t>
                      </a: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丙</a:t>
                      </a: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丁</a:t>
                      </a: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戊</a:t>
                      </a: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612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蝶泳</a:t>
                      </a: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613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仰泳</a:t>
                      </a: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612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蛙泳</a:t>
                      </a: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5138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自由泳</a:t>
                      </a: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1891" name="对象 31890"/>
          <p:cNvGraphicFramePr/>
          <p:nvPr/>
        </p:nvGraphicFramePr>
        <p:xfrm>
          <a:off x="2411413" y="2124075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418465" imgH="177800" progId="Equation.3">
                  <p:embed/>
                </p:oleObj>
              </mc:Choice>
              <mc:Fallback>
                <p:oleObj name="" r:id="rId3" imgW="418465" imgH="1778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413" y="2124075"/>
                        <a:ext cx="863600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2" name="对象 31891"/>
          <p:cNvGraphicFramePr/>
          <p:nvPr/>
        </p:nvGraphicFramePr>
        <p:xfrm>
          <a:off x="2411413" y="2562225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418465" imgH="177800" progId="Equation.3">
                  <p:embed/>
                </p:oleObj>
              </mc:Choice>
              <mc:Fallback>
                <p:oleObj name="" r:id="rId5" imgW="418465" imgH="1778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1413" y="2562225"/>
                        <a:ext cx="863600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3" name="对象 31892"/>
          <p:cNvGraphicFramePr/>
          <p:nvPr/>
        </p:nvGraphicFramePr>
        <p:xfrm>
          <a:off x="2489200" y="3068638"/>
          <a:ext cx="7064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7" imgW="342265" imgH="177800" progId="Equation.3">
                  <p:embed/>
                </p:oleObj>
              </mc:Choice>
              <mc:Fallback>
                <p:oleObj name="" r:id="rId7" imgW="342265" imgH="1778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89200" y="3068638"/>
                        <a:ext cx="706438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4" name="对象 31893"/>
          <p:cNvGraphicFramePr/>
          <p:nvPr/>
        </p:nvGraphicFramePr>
        <p:xfrm>
          <a:off x="2517775" y="3500438"/>
          <a:ext cx="65405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9" imgW="316865" imgH="177800" progId="Equation.3">
                  <p:embed/>
                </p:oleObj>
              </mc:Choice>
              <mc:Fallback>
                <p:oleObj name="" r:id="rId9" imgW="316865" imgH="1778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17775" y="3500438"/>
                        <a:ext cx="654050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5" name="对象 31894"/>
          <p:cNvGraphicFramePr/>
          <p:nvPr/>
        </p:nvGraphicFramePr>
        <p:xfrm>
          <a:off x="3779838" y="2133600"/>
          <a:ext cx="6540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1" imgW="316865" imgH="177800" progId="Equation.3">
                  <p:embed/>
                </p:oleObj>
              </mc:Choice>
              <mc:Fallback>
                <p:oleObj name="" r:id="rId11" imgW="316865" imgH="1778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79838" y="2133600"/>
                        <a:ext cx="654050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6" name="对象 31895"/>
          <p:cNvGraphicFramePr/>
          <p:nvPr/>
        </p:nvGraphicFramePr>
        <p:xfrm>
          <a:off x="3857625" y="3500438"/>
          <a:ext cx="49688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3" imgW="240665" imgH="177800" progId="Equation.3">
                  <p:embed/>
                </p:oleObj>
              </mc:Choice>
              <mc:Fallback>
                <p:oleObj name="" r:id="rId13" imgW="240665" imgH="1778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57625" y="3500438"/>
                        <a:ext cx="496888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7" name="对象 31896"/>
          <p:cNvGraphicFramePr/>
          <p:nvPr/>
        </p:nvGraphicFramePr>
        <p:xfrm>
          <a:off x="5148263" y="3500438"/>
          <a:ext cx="65405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5" imgW="316865" imgH="177800" progId="Equation.3">
                  <p:embed/>
                </p:oleObj>
              </mc:Choice>
              <mc:Fallback>
                <p:oleObj name="" r:id="rId15" imgW="316865" imgH="1778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48263" y="3500438"/>
                        <a:ext cx="654050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8" name="对象 31897"/>
          <p:cNvGraphicFramePr/>
          <p:nvPr/>
        </p:nvGraphicFramePr>
        <p:xfrm>
          <a:off x="6438900" y="3500438"/>
          <a:ext cx="65405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7" imgW="316865" imgH="177800" progId="Equation.3">
                  <p:embed/>
                </p:oleObj>
              </mc:Choice>
              <mc:Fallback>
                <p:oleObj name="" r:id="rId17" imgW="316865" imgH="1778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438900" y="3500438"/>
                        <a:ext cx="654050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99" name="对象 31898"/>
          <p:cNvGraphicFramePr/>
          <p:nvPr/>
        </p:nvGraphicFramePr>
        <p:xfrm>
          <a:off x="3786188" y="2565400"/>
          <a:ext cx="7064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9" imgW="342265" imgH="177800" progId="Equation.3">
                  <p:embed/>
                </p:oleObj>
              </mc:Choice>
              <mc:Fallback>
                <p:oleObj name="" r:id="rId19" imgW="342265" imgH="1778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86188" y="2565400"/>
                        <a:ext cx="706437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0" name="对象 31899"/>
          <p:cNvGraphicFramePr/>
          <p:nvPr/>
        </p:nvGraphicFramePr>
        <p:xfrm>
          <a:off x="3708400" y="3068638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21" imgW="418465" imgH="177800" progId="Equation.3">
                  <p:embed/>
                </p:oleObj>
              </mc:Choice>
              <mc:Fallback>
                <p:oleObj name="" r:id="rId21" imgW="418465" imgH="1778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708400" y="3068638"/>
                        <a:ext cx="863600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1" name="对象 31900"/>
          <p:cNvGraphicFramePr/>
          <p:nvPr/>
        </p:nvGraphicFramePr>
        <p:xfrm>
          <a:off x="5154613" y="2133600"/>
          <a:ext cx="7064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23" imgW="342265" imgH="177800" progId="Equation.3">
                  <p:embed/>
                </p:oleObj>
              </mc:Choice>
              <mc:Fallback>
                <p:oleObj name="" r:id="rId23" imgW="342265" imgH="1778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154613" y="2133600"/>
                        <a:ext cx="706437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2" name="对象 31901"/>
          <p:cNvGraphicFramePr/>
          <p:nvPr/>
        </p:nvGraphicFramePr>
        <p:xfrm>
          <a:off x="5003800" y="2565400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25" imgW="418465" imgH="177800" progId="Equation.3">
                  <p:embed/>
                </p:oleObj>
              </mc:Choice>
              <mc:Fallback>
                <p:oleObj name="" r:id="rId25" imgW="418465" imgH="1778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03800" y="2565400"/>
                        <a:ext cx="863600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3" name="对象 31902"/>
          <p:cNvGraphicFramePr/>
          <p:nvPr/>
        </p:nvGraphicFramePr>
        <p:xfrm>
          <a:off x="5003800" y="3068638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27" imgW="418465" imgH="177800" progId="Equation.3">
                  <p:embed/>
                </p:oleObj>
              </mc:Choice>
              <mc:Fallback>
                <p:oleObj name="" r:id="rId27" imgW="418465" imgH="1778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003800" y="3068638"/>
                        <a:ext cx="863600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4" name="对象 31903"/>
          <p:cNvGraphicFramePr/>
          <p:nvPr/>
        </p:nvGraphicFramePr>
        <p:xfrm>
          <a:off x="6378575" y="2133600"/>
          <a:ext cx="70643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29" imgW="342265" imgH="177800" progId="Equation.3">
                  <p:embed/>
                </p:oleObj>
              </mc:Choice>
              <mc:Fallback>
                <p:oleObj name="" r:id="rId29" imgW="342265" imgH="1778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378575" y="2133600"/>
                        <a:ext cx="706438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5" name="对象 31904"/>
          <p:cNvGraphicFramePr/>
          <p:nvPr/>
        </p:nvGraphicFramePr>
        <p:xfrm>
          <a:off x="6300788" y="2578100"/>
          <a:ext cx="8636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1" imgW="418465" imgH="165100" progId="Equation.3">
                  <p:embed/>
                </p:oleObj>
              </mc:Choice>
              <mc:Fallback>
                <p:oleObj name="" r:id="rId31" imgW="418465" imgH="1651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300788" y="2578100"/>
                        <a:ext cx="863600" cy="339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6" name="对象 31905"/>
          <p:cNvGraphicFramePr/>
          <p:nvPr/>
        </p:nvGraphicFramePr>
        <p:xfrm>
          <a:off x="6300788" y="3068638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33" imgW="418465" imgH="177800" progId="Equation.3">
                  <p:embed/>
                </p:oleObj>
              </mc:Choice>
              <mc:Fallback>
                <p:oleObj name="" r:id="rId33" imgW="418465" imgH="1778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300788" y="3068638"/>
                        <a:ext cx="863600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7" name="对象 31906"/>
          <p:cNvGraphicFramePr/>
          <p:nvPr/>
        </p:nvGraphicFramePr>
        <p:xfrm>
          <a:off x="7596188" y="2133600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35" imgW="418465" imgH="177800" progId="Equation.3">
                  <p:embed/>
                </p:oleObj>
              </mc:Choice>
              <mc:Fallback>
                <p:oleObj name="" r:id="rId35" imgW="418465" imgH="1778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596188" y="2133600"/>
                        <a:ext cx="863600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8" name="对象 31907"/>
          <p:cNvGraphicFramePr/>
          <p:nvPr/>
        </p:nvGraphicFramePr>
        <p:xfrm>
          <a:off x="7686675" y="2578100"/>
          <a:ext cx="68103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7" imgW="329565" imgH="165100" progId="Equation.3">
                  <p:embed/>
                </p:oleObj>
              </mc:Choice>
              <mc:Fallback>
                <p:oleObj name="" r:id="rId37" imgW="329565" imgH="1651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686675" y="2578100"/>
                        <a:ext cx="681038" cy="339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09" name="对象 31908"/>
          <p:cNvGraphicFramePr/>
          <p:nvPr/>
        </p:nvGraphicFramePr>
        <p:xfrm>
          <a:off x="7596188" y="2997200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39" imgW="418465" imgH="177800" progId="Equation.3">
                  <p:embed/>
                </p:oleObj>
              </mc:Choice>
              <mc:Fallback>
                <p:oleObj name="" r:id="rId39" imgW="418465" imgH="1778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7596188" y="2997200"/>
                        <a:ext cx="863600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10" name="对象 31909"/>
          <p:cNvGraphicFramePr/>
          <p:nvPr/>
        </p:nvGraphicFramePr>
        <p:xfrm>
          <a:off x="7596188" y="3500438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41" imgW="418465" imgH="177800" progId="Equation.3">
                  <p:embed/>
                </p:oleObj>
              </mc:Choice>
              <mc:Fallback>
                <p:oleObj name="" r:id="rId41" imgW="418465" imgH="1778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596188" y="3500438"/>
                        <a:ext cx="863600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913" name="组合 31912"/>
          <p:cNvGrpSpPr/>
          <p:nvPr/>
        </p:nvGrpSpPr>
        <p:grpSpPr>
          <a:xfrm>
            <a:off x="762000" y="4637088"/>
            <a:ext cx="8131175" cy="1117600"/>
            <a:chOff x="480" y="2921"/>
            <a:chExt cx="5122" cy="704"/>
          </a:xfrm>
        </p:grpSpPr>
        <p:sp>
          <p:nvSpPr>
            <p:cNvPr id="51202" name="Text Box 2"/>
            <p:cNvSpPr txBox="1"/>
            <p:nvPr/>
          </p:nvSpPr>
          <p:spPr>
            <a:xfrm>
              <a:off x="480" y="2921"/>
              <a:ext cx="5122" cy="7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 dirty="0">
                  <a:latin typeface="宋体" panose="02010600030101010101" pitchFamily="2" charset="-122"/>
                </a:rPr>
                <a:t>讨论</a:t>
              </a:r>
              <a:r>
                <a:rPr lang="en-US" altLang="zh-CN" sz="2800" b="1">
                  <a:latin typeface="宋体" panose="02010600030101010101" pitchFamily="2" charset="-122"/>
                </a:rPr>
                <a:t>: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丁的蛙泳成绩退步到      ；戊的自由泳成绩进步到     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组成接力队的方案是否应该调整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？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1911" name="对象 31910"/>
            <p:cNvGraphicFramePr/>
            <p:nvPr/>
          </p:nvGraphicFramePr>
          <p:xfrm>
            <a:off x="3198" y="3022"/>
            <a:ext cx="590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43" imgW="418465" imgH="177800" progId="Equation.3">
                    <p:embed/>
                  </p:oleObj>
                </mc:Choice>
                <mc:Fallback>
                  <p:oleObj name="" r:id="rId43" imgW="418465" imgH="1778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3198" y="3022"/>
                          <a:ext cx="590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912" name="对象 31911"/>
            <p:cNvGraphicFramePr/>
            <p:nvPr/>
          </p:nvGraphicFramePr>
          <p:xfrm>
            <a:off x="1474" y="3339"/>
            <a:ext cx="457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45" imgW="316865" imgH="177800" progId="Equation.3">
                    <p:embed/>
                  </p:oleObj>
                </mc:Choice>
                <mc:Fallback>
                  <p:oleObj name="" r:id="rId45" imgW="316865" imgH="1778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1474" y="3339"/>
                          <a:ext cx="457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3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7" dur="500"/>
                                        <p:tgtEl>
                                          <p:spTgt spid="5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animBg="1"/>
      <p:bldP spid="51296" grpId="0" animBg="1"/>
      <p:bldP spid="5129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Text Box 2"/>
          <p:cNvSpPr txBox="1"/>
          <p:nvPr/>
        </p:nvSpPr>
        <p:spPr>
          <a:xfrm>
            <a:off x="381000" y="3875088"/>
            <a:ext cx="990600" cy="946150"/>
          </a:xfrm>
          <a:prstGeom prst="rect">
            <a:avLst/>
          </a:prstGeom>
          <a:solidFill>
            <a:srgbClr val="C1DFED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目标函数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2227" name="Text Box 3"/>
          <p:cNvSpPr txBox="1"/>
          <p:nvPr/>
        </p:nvSpPr>
        <p:spPr>
          <a:xfrm>
            <a:off x="304800" y="3189288"/>
            <a:ext cx="85121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若选择队员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宋体" panose="02010600030101010101" pitchFamily="2" charset="-122"/>
              </a:rPr>
              <a:t>参加泳姿</a:t>
            </a:r>
            <a:r>
              <a:rPr lang="en-US" altLang="zh-CN" sz="2800" b="1" i="1">
                <a:latin typeface="Times New Roman" panose="02020603050405020304" pitchFamily="18" charset="0"/>
              </a:rPr>
              <a:t>j </a:t>
            </a:r>
            <a:r>
              <a:rPr lang="zh-CN" altLang="en-US" sz="2800" b="1" dirty="0">
                <a:latin typeface="宋体" panose="02010600030101010101" pitchFamily="2" charset="-122"/>
              </a:rPr>
              <a:t>的比赛，记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sz="2800" b="1">
                <a:latin typeface="Times New Roman" panose="02020603050405020304" pitchFamily="18" charset="0"/>
              </a:rPr>
              <a:t>=1</a:t>
            </a:r>
            <a:r>
              <a:rPr lang="en-US" altLang="zh-CN" sz="2800" b="1">
                <a:latin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宋体" panose="02010600030101010101" pitchFamily="2" charset="-122"/>
              </a:rPr>
              <a:t>否则记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sz="2800" b="1">
                <a:latin typeface="Times New Roman" panose="02020603050405020304" pitchFamily="18" charset="0"/>
              </a:rPr>
              <a:t>=0</a:t>
            </a:r>
            <a:r>
              <a:rPr lang="en-US" altLang="zh-CN" sz="2800" b="1">
                <a:latin typeface="宋体" panose="02010600030101010101" pitchFamily="2" charset="-122"/>
              </a:rPr>
              <a:t> 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32775" name="Rectangle 4"/>
          <p:cNvSpPr/>
          <p:nvPr>
            <p:ph type="title"/>
          </p:nvPr>
        </p:nvSpPr>
        <p:spPr>
          <a:xfrm>
            <a:off x="381000" y="533400"/>
            <a:ext cx="2514600" cy="5334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p>
            <a:pPr eaLnBrk="1" hangingPunct="1"/>
            <a:r>
              <a:rPr lang="en-US" altLang="zh-CN" sz="3200" b="1">
                <a:solidFill>
                  <a:schemeClr val="tx1"/>
                </a:solidFill>
              </a:rPr>
              <a:t>0-1</a:t>
            </a:r>
            <a:r>
              <a:rPr lang="zh-CN" altLang="en-US" sz="32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规划模型</a:t>
            </a: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endParaRPr lang="zh-CN" altLang="en-US" sz="3200" dirty="0"/>
          </a:p>
        </p:txBody>
      </p:sp>
      <p:sp>
        <p:nvSpPr>
          <p:cNvPr id="52229" name="Text Box 5"/>
          <p:cNvSpPr txBox="1"/>
          <p:nvPr/>
        </p:nvSpPr>
        <p:spPr>
          <a:xfrm>
            <a:off x="2971800" y="533400"/>
            <a:ext cx="59436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800" b="1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sz="2800" b="1" dirty="0" err="1">
                <a:latin typeface="宋体" panose="02010600030101010101" pitchFamily="2" charset="-122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宋体" panose="02010600030101010101" pitchFamily="2" charset="-122"/>
              </a:rPr>
              <a:t>)</a:t>
            </a:r>
            <a:r>
              <a:rPr lang="en-US" altLang="zh-CN" sz="2800" b="1">
                <a:latin typeface="Times New Roman" panose="02020603050405020304" pitchFamily="18" charset="0"/>
              </a:rPr>
              <a:t>~</a:t>
            </a:r>
            <a:r>
              <a:rPr lang="zh-CN" altLang="en-US" sz="2800" b="1" dirty="0">
                <a:latin typeface="宋体" panose="02010600030101010101" pitchFamily="2" charset="-122"/>
              </a:rPr>
              <a:t>队员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宋体" panose="02010600030101010101" pitchFamily="2" charset="-122"/>
              </a:rPr>
              <a:t>第</a:t>
            </a:r>
            <a:r>
              <a:rPr lang="en-US" altLang="zh-CN" sz="2800" b="1" i="1">
                <a:latin typeface="Times New Roman" panose="02020603050405020304" pitchFamily="18" charset="0"/>
              </a:rPr>
              <a:t>j </a:t>
            </a:r>
            <a:r>
              <a:rPr lang="zh-CN" altLang="en-US" sz="2800" b="1" dirty="0">
                <a:latin typeface="宋体" panose="02010600030101010101" pitchFamily="2" charset="-122"/>
              </a:rPr>
              <a:t>种泳姿的百米成绩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52230" name="Text Box 6"/>
          <p:cNvSpPr txBox="1"/>
          <p:nvPr/>
        </p:nvSpPr>
        <p:spPr>
          <a:xfrm>
            <a:off x="381000" y="5029200"/>
            <a:ext cx="914400" cy="946150"/>
          </a:xfrm>
          <a:prstGeom prst="rect">
            <a:avLst/>
          </a:prstGeom>
          <a:solidFill>
            <a:srgbClr val="C1DFED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约束条件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2231" name="Text Box 7"/>
          <p:cNvSpPr txBox="1"/>
          <p:nvPr/>
        </p:nvSpPr>
        <p:spPr>
          <a:xfrm>
            <a:off x="1447800" y="4876800"/>
            <a:ext cx="3810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每人最多入选泳姿之一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381000" y="1143000"/>
            <a:ext cx="8458200" cy="1981200"/>
            <a:chOff x="-3" y="-3"/>
            <a:chExt cx="3090" cy="1926"/>
          </a:xfrm>
        </p:grpSpPr>
        <p:grpSp>
          <p:nvGrpSpPr>
            <p:cNvPr id="32781" name="Group 9"/>
            <p:cNvGrpSpPr/>
            <p:nvPr/>
          </p:nvGrpSpPr>
          <p:grpSpPr>
            <a:xfrm>
              <a:off x="0" y="0"/>
              <a:ext cx="3084" cy="1920"/>
              <a:chOff x="0" y="0"/>
              <a:chExt cx="3084" cy="1920"/>
            </a:xfrm>
          </p:grpSpPr>
          <p:grpSp>
            <p:nvGrpSpPr>
              <p:cNvPr id="32783" name="Group 10"/>
              <p:cNvGrpSpPr/>
              <p:nvPr/>
            </p:nvGrpSpPr>
            <p:grpSpPr>
              <a:xfrm>
                <a:off x="0" y="0"/>
                <a:ext cx="514" cy="384"/>
                <a:chOff x="0" y="0"/>
                <a:chExt cx="514" cy="384"/>
              </a:xfrm>
            </p:grpSpPr>
            <p:sp>
              <p:nvSpPr>
                <p:cNvPr id="32871" name="Rectangle 11"/>
                <p:cNvSpPr/>
                <p:nvPr/>
              </p:nvSpPr>
              <p:spPr>
                <a:xfrm>
                  <a:off x="43" y="0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 i="1" dirty="0" err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b="1" i="1" baseline="-30000" dirty="0" err="1">
                      <a:latin typeface="Times New Roman" panose="02020603050405020304" pitchFamily="18" charset="0"/>
                    </a:rPr>
                    <a:t>ij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72" name="Rectangle 12"/>
                <p:cNvSpPr/>
                <p:nvPr/>
              </p:nvSpPr>
              <p:spPr>
                <a:xfrm>
                  <a:off x="0" y="0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84" name="Group 13"/>
              <p:cNvGrpSpPr/>
              <p:nvPr/>
            </p:nvGrpSpPr>
            <p:grpSpPr>
              <a:xfrm>
                <a:off x="514" y="0"/>
                <a:ext cx="514" cy="384"/>
                <a:chOff x="514" y="0"/>
                <a:chExt cx="514" cy="384"/>
              </a:xfrm>
            </p:grpSpPr>
            <p:sp>
              <p:nvSpPr>
                <p:cNvPr id="32869" name="Rectangle 14"/>
                <p:cNvSpPr/>
                <p:nvPr/>
              </p:nvSpPr>
              <p:spPr>
                <a:xfrm>
                  <a:off x="557" y="0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 i="1"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b="1">
                      <a:latin typeface="Times New Roman" panose="02020603050405020304" pitchFamily="18" charset="0"/>
                    </a:rPr>
                    <a:t>=1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70" name="Rectangle 15"/>
                <p:cNvSpPr/>
                <p:nvPr/>
              </p:nvSpPr>
              <p:spPr>
                <a:xfrm>
                  <a:off x="514" y="0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85" name="Group 16"/>
              <p:cNvGrpSpPr/>
              <p:nvPr/>
            </p:nvGrpSpPr>
            <p:grpSpPr>
              <a:xfrm>
                <a:off x="1028" y="0"/>
                <a:ext cx="514" cy="384"/>
                <a:chOff x="1028" y="0"/>
                <a:chExt cx="514" cy="384"/>
              </a:xfrm>
            </p:grpSpPr>
            <p:sp>
              <p:nvSpPr>
                <p:cNvPr id="32867" name="Rectangle 17"/>
                <p:cNvSpPr/>
                <p:nvPr/>
              </p:nvSpPr>
              <p:spPr>
                <a:xfrm>
                  <a:off x="1071" y="0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 i="1"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b="1">
                      <a:latin typeface="Times New Roman" panose="02020603050405020304" pitchFamily="18" charset="0"/>
                    </a:rPr>
                    <a:t>=2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68" name="Rectangle 18"/>
                <p:cNvSpPr/>
                <p:nvPr/>
              </p:nvSpPr>
              <p:spPr>
                <a:xfrm>
                  <a:off x="1028" y="0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86" name="Group 19"/>
              <p:cNvGrpSpPr/>
              <p:nvPr/>
            </p:nvGrpSpPr>
            <p:grpSpPr>
              <a:xfrm>
                <a:off x="1542" y="0"/>
                <a:ext cx="514" cy="384"/>
                <a:chOff x="1542" y="0"/>
                <a:chExt cx="514" cy="384"/>
              </a:xfrm>
            </p:grpSpPr>
            <p:sp>
              <p:nvSpPr>
                <p:cNvPr id="32865" name="Rectangle 20"/>
                <p:cNvSpPr/>
                <p:nvPr/>
              </p:nvSpPr>
              <p:spPr>
                <a:xfrm>
                  <a:off x="1585" y="0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 i="1"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b="1">
                      <a:latin typeface="Times New Roman" panose="02020603050405020304" pitchFamily="18" charset="0"/>
                    </a:rPr>
                    <a:t>=3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66" name="Rectangle 21"/>
                <p:cNvSpPr/>
                <p:nvPr/>
              </p:nvSpPr>
              <p:spPr>
                <a:xfrm>
                  <a:off x="1542" y="0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87" name="Group 22"/>
              <p:cNvGrpSpPr/>
              <p:nvPr/>
            </p:nvGrpSpPr>
            <p:grpSpPr>
              <a:xfrm>
                <a:off x="2056" y="0"/>
                <a:ext cx="514" cy="384"/>
                <a:chOff x="2056" y="0"/>
                <a:chExt cx="514" cy="384"/>
              </a:xfrm>
            </p:grpSpPr>
            <p:sp>
              <p:nvSpPr>
                <p:cNvPr id="32863" name="Rectangle 23"/>
                <p:cNvSpPr/>
                <p:nvPr/>
              </p:nvSpPr>
              <p:spPr>
                <a:xfrm>
                  <a:off x="2099" y="0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 i="1"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b="1">
                      <a:latin typeface="Times New Roman" panose="02020603050405020304" pitchFamily="18" charset="0"/>
                    </a:rPr>
                    <a:t>=4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64" name="Rectangle 24"/>
                <p:cNvSpPr/>
                <p:nvPr/>
              </p:nvSpPr>
              <p:spPr>
                <a:xfrm>
                  <a:off x="2056" y="0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88" name="Group 25"/>
              <p:cNvGrpSpPr/>
              <p:nvPr/>
            </p:nvGrpSpPr>
            <p:grpSpPr>
              <a:xfrm>
                <a:off x="2570" y="0"/>
                <a:ext cx="514" cy="384"/>
                <a:chOff x="2570" y="0"/>
                <a:chExt cx="514" cy="384"/>
              </a:xfrm>
            </p:grpSpPr>
            <p:sp>
              <p:nvSpPr>
                <p:cNvPr id="32861" name="Rectangle 26"/>
                <p:cNvSpPr/>
                <p:nvPr/>
              </p:nvSpPr>
              <p:spPr>
                <a:xfrm>
                  <a:off x="2613" y="0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 i="1"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b="1">
                      <a:latin typeface="Times New Roman" panose="02020603050405020304" pitchFamily="18" charset="0"/>
                    </a:rPr>
                    <a:t>=5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62" name="Rectangle 27"/>
                <p:cNvSpPr/>
                <p:nvPr/>
              </p:nvSpPr>
              <p:spPr>
                <a:xfrm>
                  <a:off x="2570" y="0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89" name="Group 28"/>
              <p:cNvGrpSpPr/>
              <p:nvPr/>
            </p:nvGrpSpPr>
            <p:grpSpPr>
              <a:xfrm>
                <a:off x="0" y="384"/>
                <a:ext cx="514" cy="384"/>
                <a:chOff x="0" y="384"/>
                <a:chExt cx="514" cy="384"/>
              </a:xfrm>
            </p:grpSpPr>
            <p:sp>
              <p:nvSpPr>
                <p:cNvPr id="32859" name="Rectangle 29"/>
                <p:cNvSpPr/>
                <p:nvPr/>
              </p:nvSpPr>
              <p:spPr>
                <a:xfrm>
                  <a:off x="43" y="384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 i="1">
                      <a:latin typeface="Times New Roman" panose="02020603050405020304" pitchFamily="18" charset="0"/>
                    </a:rPr>
                    <a:t>j</a:t>
                  </a:r>
                  <a:r>
                    <a:rPr lang="en-US" altLang="zh-CN" b="1">
                      <a:latin typeface="Times New Roman" panose="02020603050405020304" pitchFamily="18" charset="0"/>
                    </a:rPr>
                    <a:t>=1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60" name="Rectangle 30"/>
                <p:cNvSpPr/>
                <p:nvPr/>
              </p:nvSpPr>
              <p:spPr>
                <a:xfrm>
                  <a:off x="0" y="384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90" name="Group 31"/>
              <p:cNvGrpSpPr/>
              <p:nvPr/>
            </p:nvGrpSpPr>
            <p:grpSpPr>
              <a:xfrm>
                <a:off x="514" y="384"/>
                <a:ext cx="514" cy="384"/>
                <a:chOff x="514" y="384"/>
                <a:chExt cx="514" cy="384"/>
              </a:xfrm>
            </p:grpSpPr>
            <p:sp>
              <p:nvSpPr>
                <p:cNvPr id="32857" name="Rectangle 32"/>
                <p:cNvSpPr/>
                <p:nvPr/>
              </p:nvSpPr>
              <p:spPr>
                <a:xfrm>
                  <a:off x="557" y="384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66.8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58" name="Rectangle 33"/>
                <p:cNvSpPr/>
                <p:nvPr/>
              </p:nvSpPr>
              <p:spPr>
                <a:xfrm>
                  <a:off x="514" y="384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91" name="Group 34"/>
              <p:cNvGrpSpPr/>
              <p:nvPr/>
            </p:nvGrpSpPr>
            <p:grpSpPr>
              <a:xfrm>
                <a:off x="1028" y="384"/>
                <a:ext cx="514" cy="384"/>
                <a:chOff x="1028" y="384"/>
                <a:chExt cx="514" cy="384"/>
              </a:xfrm>
            </p:grpSpPr>
            <p:sp>
              <p:nvSpPr>
                <p:cNvPr id="32855" name="Rectangle 35"/>
                <p:cNvSpPr/>
                <p:nvPr/>
              </p:nvSpPr>
              <p:spPr>
                <a:xfrm>
                  <a:off x="1071" y="384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57.2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56" name="Rectangle 36"/>
                <p:cNvSpPr/>
                <p:nvPr/>
              </p:nvSpPr>
              <p:spPr>
                <a:xfrm>
                  <a:off x="1028" y="384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92" name="Group 37"/>
              <p:cNvGrpSpPr/>
              <p:nvPr/>
            </p:nvGrpSpPr>
            <p:grpSpPr>
              <a:xfrm>
                <a:off x="1542" y="384"/>
                <a:ext cx="514" cy="384"/>
                <a:chOff x="1542" y="384"/>
                <a:chExt cx="514" cy="384"/>
              </a:xfrm>
            </p:grpSpPr>
            <p:sp>
              <p:nvSpPr>
                <p:cNvPr id="32853" name="Rectangle 38"/>
                <p:cNvSpPr/>
                <p:nvPr/>
              </p:nvSpPr>
              <p:spPr>
                <a:xfrm>
                  <a:off x="1585" y="384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78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54" name="Rectangle 39"/>
                <p:cNvSpPr/>
                <p:nvPr/>
              </p:nvSpPr>
              <p:spPr>
                <a:xfrm>
                  <a:off x="1542" y="384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93" name="Group 40"/>
              <p:cNvGrpSpPr/>
              <p:nvPr/>
            </p:nvGrpSpPr>
            <p:grpSpPr>
              <a:xfrm>
                <a:off x="2056" y="384"/>
                <a:ext cx="514" cy="384"/>
                <a:chOff x="2056" y="384"/>
                <a:chExt cx="514" cy="384"/>
              </a:xfrm>
            </p:grpSpPr>
            <p:sp>
              <p:nvSpPr>
                <p:cNvPr id="32851" name="Rectangle 41"/>
                <p:cNvSpPr/>
                <p:nvPr/>
              </p:nvSpPr>
              <p:spPr>
                <a:xfrm>
                  <a:off x="2099" y="384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70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52" name="Rectangle 42"/>
                <p:cNvSpPr/>
                <p:nvPr/>
              </p:nvSpPr>
              <p:spPr>
                <a:xfrm>
                  <a:off x="2056" y="384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94" name="Group 43"/>
              <p:cNvGrpSpPr/>
              <p:nvPr/>
            </p:nvGrpSpPr>
            <p:grpSpPr>
              <a:xfrm>
                <a:off x="2570" y="384"/>
                <a:ext cx="514" cy="384"/>
                <a:chOff x="2570" y="384"/>
                <a:chExt cx="514" cy="384"/>
              </a:xfrm>
            </p:grpSpPr>
            <p:sp>
              <p:nvSpPr>
                <p:cNvPr id="32849" name="Rectangle 44"/>
                <p:cNvSpPr/>
                <p:nvPr/>
              </p:nvSpPr>
              <p:spPr>
                <a:xfrm>
                  <a:off x="2613" y="384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67.4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50" name="Rectangle 45"/>
                <p:cNvSpPr/>
                <p:nvPr/>
              </p:nvSpPr>
              <p:spPr>
                <a:xfrm>
                  <a:off x="2570" y="384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95" name="Group 46"/>
              <p:cNvGrpSpPr/>
              <p:nvPr/>
            </p:nvGrpSpPr>
            <p:grpSpPr>
              <a:xfrm>
                <a:off x="0" y="768"/>
                <a:ext cx="514" cy="384"/>
                <a:chOff x="0" y="768"/>
                <a:chExt cx="514" cy="384"/>
              </a:xfrm>
            </p:grpSpPr>
            <p:sp>
              <p:nvSpPr>
                <p:cNvPr id="32847" name="Rectangle 47"/>
                <p:cNvSpPr/>
                <p:nvPr/>
              </p:nvSpPr>
              <p:spPr>
                <a:xfrm>
                  <a:off x="43" y="768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 i="1">
                      <a:latin typeface="Times New Roman" panose="02020603050405020304" pitchFamily="18" charset="0"/>
                    </a:rPr>
                    <a:t>j</a:t>
                  </a:r>
                  <a:r>
                    <a:rPr lang="en-US" altLang="zh-CN" b="1">
                      <a:latin typeface="Times New Roman" panose="02020603050405020304" pitchFamily="18" charset="0"/>
                    </a:rPr>
                    <a:t>=2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48" name="Rectangle 48"/>
                <p:cNvSpPr/>
                <p:nvPr/>
              </p:nvSpPr>
              <p:spPr>
                <a:xfrm>
                  <a:off x="0" y="768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96" name="Group 49"/>
              <p:cNvGrpSpPr/>
              <p:nvPr/>
            </p:nvGrpSpPr>
            <p:grpSpPr>
              <a:xfrm>
                <a:off x="514" y="768"/>
                <a:ext cx="514" cy="384"/>
                <a:chOff x="514" y="768"/>
                <a:chExt cx="514" cy="384"/>
              </a:xfrm>
            </p:grpSpPr>
            <p:sp>
              <p:nvSpPr>
                <p:cNvPr id="32845" name="Rectangle 50"/>
                <p:cNvSpPr/>
                <p:nvPr/>
              </p:nvSpPr>
              <p:spPr>
                <a:xfrm>
                  <a:off x="557" y="768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75.6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46" name="Rectangle 51"/>
                <p:cNvSpPr/>
                <p:nvPr/>
              </p:nvSpPr>
              <p:spPr>
                <a:xfrm>
                  <a:off x="514" y="768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97" name="Group 52"/>
              <p:cNvGrpSpPr/>
              <p:nvPr/>
            </p:nvGrpSpPr>
            <p:grpSpPr>
              <a:xfrm>
                <a:off x="1028" y="768"/>
                <a:ext cx="514" cy="384"/>
                <a:chOff x="1028" y="768"/>
                <a:chExt cx="514" cy="384"/>
              </a:xfrm>
            </p:grpSpPr>
            <p:sp>
              <p:nvSpPr>
                <p:cNvPr id="32843" name="Rectangle 53"/>
                <p:cNvSpPr/>
                <p:nvPr/>
              </p:nvSpPr>
              <p:spPr>
                <a:xfrm>
                  <a:off x="1071" y="768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66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44" name="Rectangle 54"/>
                <p:cNvSpPr/>
                <p:nvPr/>
              </p:nvSpPr>
              <p:spPr>
                <a:xfrm>
                  <a:off x="1028" y="768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98" name="Group 55"/>
              <p:cNvGrpSpPr/>
              <p:nvPr/>
            </p:nvGrpSpPr>
            <p:grpSpPr>
              <a:xfrm>
                <a:off x="1542" y="768"/>
                <a:ext cx="514" cy="384"/>
                <a:chOff x="1542" y="768"/>
                <a:chExt cx="514" cy="384"/>
              </a:xfrm>
            </p:grpSpPr>
            <p:sp>
              <p:nvSpPr>
                <p:cNvPr id="32841" name="Rectangle 56"/>
                <p:cNvSpPr/>
                <p:nvPr/>
              </p:nvSpPr>
              <p:spPr>
                <a:xfrm>
                  <a:off x="1585" y="768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67.8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42" name="Rectangle 57"/>
                <p:cNvSpPr/>
                <p:nvPr/>
              </p:nvSpPr>
              <p:spPr>
                <a:xfrm>
                  <a:off x="1542" y="768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799" name="Group 58"/>
              <p:cNvGrpSpPr/>
              <p:nvPr/>
            </p:nvGrpSpPr>
            <p:grpSpPr>
              <a:xfrm>
                <a:off x="2056" y="768"/>
                <a:ext cx="514" cy="384"/>
                <a:chOff x="2056" y="768"/>
                <a:chExt cx="514" cy="384"/>
              </a:xfrm>
            </p:grpSpPr>
            <p:sp>
              <p:nvSpPr>
                <p:cNvPr id="32839" name="Rectangle 59"/>
                <p:cNvSpPr/>
                <p:nvPr/>
              </p:nvSpPr>
              <p:spPr>
                <a:xfrm>
                  <a:off x="2099" y="768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74.2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40" name="Rectangle 60"/>
                <p:cNvSpPr/>
                <p:nvPr/>
              </p:nvSpPr>
              <p:spPr>
                <a:xfrm>
                  <a:off x="2056" y="768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800" name="Group 61"/>
              <p:cNvGrpSpPr/>
              <p:nvPr/>
            </p:nvGrpSpPr>
            <p:grpSpPr>
              <a:xfrm>
                <a:off x="2570" y="768"/>
                <a:ext cx="514" cy="384"/>
                <a:chOff x="2570" y="768"/>
                <a:chExt cx="514" cy="384"/>
              </a:xfrm>
            </p:grpSpPr>
            <p:sp>
              <p:nvSpPr>
                <p:cNvPr id="32837" name="Rectangle 62"/>
                <p:cNvSpPr/>
                <p:nvPr/>
              </p:nvSpPr>
              <p:spPr>
                <a:xfrm>
                  <a:off x="2613" y="768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71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38" name="Rectangle 63"/>
                <p:cNvSpPr/>
                <p:nvPr/>
              </p:nvSpPr>
              <p:spPr>
                <a:xfrm>
                  <a:off x="2570" y="768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801" name="Group 64"/>
              <p:cNvGrpSpPr/>
              <p:nvPr/>
            </p:nvGrpSpPr>
            <p:grpSpPr>
              <a:xfrm>
                <a:off x="0" y="1152"/>
                <a:ext cx="514" cy="384"/>
                <a:chOff x="0" y="1152"/>
                <a:chExt cx="514" cy="384"/>
              </a:xfrm>
            </p:grpSpPr>
            <p:sp>
              <p:nvSpPr>
                <p:cNvPr id="32835" name="Rectangle 65"/>
                <p:cNvSpPr/>
                <p:nvPr/>
              </p:nvSpPr>
              <p:spPr>
                <a:xfrm>
                  <a:off x="43" y="1152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 i="1">
                      <a:latin typeface="Times New Roman" panose="02020603050405020304" pitchFamily="18" charset="0"/>
                    </a:rPr>
                    <a:t>j</a:t>
                  </a:r>
                  <a:r>
                    <a:rPr lang="en-US" altLang="zh-CN" b="1">
                      <a:latin typeface="Times New Roman" panose="02020603050405020304" pitchFamily="18" charset="0"/>
                    </a:rPr>
                    <a:t>=3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36" name="Rectangle 66"/>
                <p:cNvSpPr/>
                <p:nvPr/>
              </p:nvSpPr>
              <p:spPr>
                <a:xfrm>
                  <a:off x="0" y="1152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802" name="Group 67"/>
              <p:cNvGrpSpPr/>
              <p:nvPr/>
            </p:nvGrpSpPr>
            <p:grpSpPr>
              <a:xfrm>
                <a:off x="514" y="1152"/>
                <a:ext cx="514" cy="384"/>
                <a:chOff x="514" y="1152"/>
                <a:chExt cx="514" cy="384"/>
              </a:xfrm>
            </p:grpSpPr>
            <p:sp>
              <p:nvSpPr>
                <p:cNvPr id="32833" name="Rectangle 68"/>
                <p:cNvSpPr/>
                <p:nvPr/>
              </p:nvSpPr>
              <p:spPr>
                <a:xfrm>
                  <a:off x="557" y="1152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87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34" name="Rectangle 69"/>
                <p:cNvSpPr/>
                <p:nvPr/>
              </p:nvSpPr>
              <p:spPr>
                <a:xfrm>
                  <a:off x="514" y="1152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803" name="Group 70"/>
              <p:cNvGrpSpPr/>
              <p:nvPr/>
            </p:nvGrpSpPr>
            <p:grpSpPr>
              <a:xfrm>
                <a:off x="1028" y="1152"/>
                <a:ext cx="514" cy="384"/>
                <a:chOff x="1028" y="1152"/>
                <a:chExt cx="514" cy="384"/>
              </a:xfrm>
            </p:grpSpPr>
            <p:sp>
              <p:nvSpPr>
                <p:cNvPr id="32831" name="Rectangle 71"/>
                <p:cNvSpPr/>
                <p:nvPr/>
              </p:nvSpPr>
              <p:spPr>
                <a:xfrm>
                  <a:off x="1071" y="1152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66.4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32" name="Rectangle 72"/>
                <p:cNvSpPr/>
                <p:nvPr/>
              </p:nvSpPr>
              <p:spPr>
                <a:xfrm>
                  <a:off x="1028" y="1152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804" name="Group 73"/>
              <p:cNvGrpSpPr/>
              <p:nvPr/>
            </p:nvGrpSpPr>
            <p:grpSpPr>
              <a:xfrm>
                <a:off x="1542" y="1152"/>
                <a:ext cx="514" cy="384"/>
                <a:chOff x="1542" y="1152"/>
                <a:chExt cx="514" cy="384"/>
              </a:xfrm>
            </p:grpSpPr>
            <p:sp>
              <p:nvSpPr>
                <p:cNvPr id="32829" name="Rectangle 74"/>
                <p:cNvSpPr/>
                <p:nvPr/>
              </p:nvSpPr>
              <p:spPr>
                <a:xfrm>
                  <a:off x="1585" y="1152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84.6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30" name="Rectangle 75"/>
                <p:cNvSpPr/>
                <p:nvPr/>
              </p:nvSpPr>
              <p:spPr>
                <a:xfrm>
                  <a:off x="1542" y="1152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805" name="Group 76"/>
              <p:cNvGrpSpPr/>
              <p:nvPr/>
            </p:nvGrpSpPr>
            <p:grpSpPr>
              <a:xfrm>
                <a:off x="2056" y="1152"/>
                <a:ext cx="514" cy="384"/>
                <a:chOff x="2056" y="1152"/>
                <a:chExt cx="514" cy="384"/>
              </a:xfrm>
            </p:grpSpPr>
            <p:sp>
              <p:nvSpPr>
                <p:cNvPr id="32827" name="Rectangle 77"/>
                <p:cNvSpPr/>
                <p:nvPr/>
              </p:nvSpPr>
              <p:spPr>
                <a:xfrm>
                  <a:off x="2099" y="1152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69.6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28" name="Rectangle 78"/>
                <p:cNvSpPr/>
                <p:nvPr/>
              </p:nvSpPr>
              <p:spPr>
                <a:xfrm>
                  <a:off x="2056" y="1152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806" name="Group 79"/>
              <p:cNvGrpSpPr/>
              <p:nvPr/>
            </p:nvGrpSpPr>
            <p:grpSpPr>
              <a:xfrm>
                <a:off x="2570" y="1152"/>
                <a:ext cx="514" cy="384"/>
                <a:chOff x="2570" y="1152"/>
                <a:chExt cx="514" cy="384"/>
              </a:xfrm>
            </p:grpSpPr>
            <p:sp>
              <p:nvSpPr>
                <p:cNvPr id="32825" name="Rectangle 80"/>
                <p:cNvSpPr/>
                <p:nvPr/>
              </p:nvSpPr>
              <p:spPr>
                <a:xfrm>
                  <a:off x="2613" y="1152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83.8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26" name="Rectangle 81"/>
                <p:cNvSpPr/>
                <p:nvPr/>
              </p:nvSpPr>
              <p:spPr>
                <a:xfrm>
                  <a:off x="2570" y="1152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807" name="Group 82"/>
              <p:cNvGrpSpPr/>
              <p:nvPr/>
            </p:nvGrpSpPr>
            <p:grpSpPr>
              <a:xfrm>
                <a:off x="0" y="1536"/>
                <a:ext cx="514" cy="384"/>
                <a:chOff x="0" y="1536"/>
                <a:chExt cx="514" cy="384"/>
              </a:xfrm>
            </p:grpSpPr>
            <p:sp>
              <p:nvSpPr>
                <p:cNvPr id="32823" name="Rectangle 83"/>
                <p:cNvSpPr/>
                <p:nvPr/>
              </p:nvSpPr>
              <p:spPr>
                <a:xfrm>
                  <a:off x="43" y="1536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 i="1">
                      <a:latin typeface="Times New Roman" panose="02020603050405020304" pitchFamily="18" charset="0"/>
                    </a:rPr>
                    <a:t>j</a:t>
                  </a:r>
                  <a:r>
                    <a:rPr lang="en-US" altLang="zh-CN" b="1">
                      <a:latin typeface="Times New Roman" panose="02020603050405020304" pitchFamily="18" charset="0"/>
                    </a:rPr>
                    <a:t>=4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24" name="Rectangle 84"/>
                <p:cNvSpPr/>
                <p:nvPr/>
              </p:nvSpPr>
              <p:spPr>
                <a:xfrm>
                  <a:off x="0" y="1536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808" name="Group 85"/>
              <p:cNvGrpSpPr/>
              <p:nvPr/>
            </p:nvGrpSpPr>
            <p:grpSpPr>
              <a:xfrm>
                <a:off x="514" y="1536"/>
                <a:ext cx="514" cy="384"/>
                <a:chOff x="514" y="1536"/>
                <a:chExt cx="514" cy="384"/>
              </a:xfrm>
            </p:grpSpPr>
            <p:sp>
              <p:nvSpPr>
                <p:cNvPr id="32821" name="Rectangle 86"/>
                <p:cNvSpPr/>
                <p:nvPr/>
              </p:nvSpPr>
              <p:spPr>
                <a:xfrm>
                  <a:off x="557" y="1536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58.6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22" name="Rectangle 87"/>
                <p:cNvSpPr/>
                <p:nvPr/>
              </p:nvSpPr>
              <p:spPr>
                <a:xfrm>
                  <a:off x="514" y="1536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809" name="Group 88"/>
              <p:cNvGrpSpPr/>
              <p:nvPr/>
            </p:nvGrpSpPr>
            <p:grpSpPr>
              <a:xfrm>
                <a:off x="1028" y="1536"/>
                <a:ext cx="514" cy="384"/>
                <a:chOff x="1028" y="1536"/>
                <a:chExt cx="514" cy="384"/>
              </a:xfrm>
            </p:grpSpPr>
            <p:sp>
              <p:nvSpPr>
                <p:cNvPr id="32819" name="Rectangle 89"/>
                <p:cNvSpPr/>
                <p:nvPr/>
              </p:nvSpPr>
              <p:spPr>
                <a:xfrm>
                  <a:off x="1071" y="1536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53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20" name="Rectangle 90"/>
                <p:cNvSpPr/>
                <p:nvPr/>
              </p:nvSpPr>
              <p:spPr>
                <a:xfrm>
                  <a:off x="1028" y="1536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810" name="Group 91"/>
              <p:cNvGrpSpPr/>
              <p:nvPr/>
            </p:nvGrpSpPr>
            <p:grpSpPr>
              <a:xfrm>
                <a:off x="1542" y="1536"/>
                <a:ext cx="514" cy="384"/>
                <a:chOff x="1542" y="1536"/>
                <a:chExt cx="514" cy="384"/>
              </a:xfrm>
            </p:grpSpPr>
            <p:sp>
              <p:nvSpPr>
                <p:cNvPr id="32817" name="Rectangle 92"/>
                <p:cNvSpPr/>
                <p:nvPr/>
              </p:nvSpPr>
              <p:spPr>
                <a:xfrm>
                  <a:off x="1585" y="1536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59.4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18" name="Rectangle 93"/>
                <p:cNvSpPr/>
                <p:nvPr/>
              </p:nvSpPr>
              <p:spPr>
                <a:xfrm>
                  <a:off x="1542" y="1536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811" name="Group 94"/>
              <p:cNvGrpSpPr/>
              <p:nvPr/>
            </p:nvGrpSpPr>
            <p:grpSpPr>
              <a:xfrm>
                <a:off x="2056" y="1536"/>
                <a:ext cx="514" cy="384"/>
                <a:chOff x="2056" y="1536"/>
                <a:chExt cx="514" cy="384"/>
              </a:xfrm>
            </p:grpSpPr>
            <p:sp>
              <p:nvSpPr>
                <p:cNvPr id="32815" name="Rectangle 95"/>
                <p:cNvSpPr/>
                <p:nvPr/>
              </p:nvSpPr>
              <p:spPr>
                <a:xfrm>
                  <a:off x="2099" y="1536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57.2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16" name="Rectangle 96"/>
                <p:cNvSpPr/>
                <p:nvPr/>
              </p:nvSpPr>
              <p:spPr>
                <a:xfrm>
                  <a:off x="2056" y="1536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812" name="Group 97"/>
              <p:cNvGrpSpPr/>
              <p:nvPr/>
            </p:nvGrpSpPr>
            <p:grpSpPr>
              <a:xfrm>
                <a:off x="2570" y="1536"/>
                <a:ext cx="514" cy="384"/>
                <a:chOff x="2570" y="1536"/>
                <a:chExt cx="514" cy="384"/>
              </a:xfrm>
            </p:grpSpPr>
            <p:sp>
              <p:nvSpPr>
                <p:cNvPr id="32813" name="Rectangle 98"/>
                <p:cNvSpPr/>
                <p:nvPr/>
              </p:nvSpPr>
              <p:spPr>
                <a:xfrm>
                  <a:off x="2613" y="1536"/>
                  <a:ext cx="428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b="1">
                      <a:latin typeface="Times New Roman" panose="02020603050405020304" pitchFamily="18" charset="0"/>
                    </a:rPr>
                    <a:t>62.4</a:t>
                  </a:r>
                  <a:endParaRPr lang="en-US" altLang="zh-CN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14" name="Rectangle 99"/>
                <p:cNvSpPr/>
                <p:nvPr/>
              </p:nvSpPr>
              <p:spPr>
                <a:xfrm>
                  <a:off x="2570" y="1536"/>
                  <a:ext cx="514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32782" name="Rectangle 100"/>
            <p:cNvSpPr/>
            <p:nvPr/>
          </p:nvSpPr>
          <p:spPr>
            <a:xfrm>
              <a:off x="-3" y="-3"/>
              <a:ext cx="3090" cy="1926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32770" name="Object 101"/>
          <p:cNvGraphicFramePr/>
          <p:nvPr/>
        </p:nvGraphicFramePr>
        <p:xfrm>
          <a:off x="2713038" y="3824288"/>
          <a:ext cx="3259137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" imgW="1320165" imgH="444500" progId="Equation.3">
                  <p:embed/>
                </p:oleObj>
              </mc:Choice>
              <mc:Fallback>
                <p:oleObj name="" r:id="rId1" imgW="1320165" imgH="4445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13038" y="3824288"/>
                        <a:ext cx="3259137" cy="1052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326" name="Text Box 102"/>
          <p:cNvSpPr txBox="1"/>
          <p:nvPr/>
        </p:nvSpPr>
        <p:spPr>
          <a:xfrm>
            <a:off x="5410200" y="4891088"/>
            <a:ext cx="3657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每种泳姿有且只有</a:t>
            </a:r>
            <a:r>
              <a:rPr lang="en-US" altLang="zh-CN" sz="2800" b="1"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</a:rPr>
              <a:t>人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32771" name="Object 103"/>
          <p:cNvGraphicFramePr/>
          <p:nvPr/>
        </p:nvGraphicFramePr>
        <p:xfrm>
          <a:off x="1863725" y="5445125"/>
          <a:ext cx="28321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3" imgW="1231265" imgH="444500" progId="Equation.3">
                  <p:embed/>
                </p:oleObj>
              </mc:Choice>
              <mc:Fallback>
                <p:oleObj name="" r:id="rId3" imgW="1231265" imgH="4445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3725" y="5445125"/>
                        <a:ext cx="2832100" cy="1081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104"/>
          <p:cNvGraphicFramePr/>
          <p:nvPr/>
        </p:nvGraphicFramePr>
        <p:xfrm>
          <a:off x="5670550" y="5486400"/>
          <a:ext cx="2984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5" imgW="1282065" imgH="431800" progId="Equation.3">
                  <p:embed/>
                </p:oleObj>
              </mc:Choice>
              <mc:Fallback>
                <p:oleObj name="" r:id="rId5" imgW="1282065" imgH="4318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70550" y="5486400"/>
                        <a:ext cx="29845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5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nimBg="1"/>
      <p:bldP spid="52227" grpId="0" animBg="1"/>
      <p:bldP spid="52229" grpId="0" animBg="1"/>
      <p:bldP spid="52230" grpId="0" animBg="1"/>
      <p:bldP spid="52231" grpId="0" animBg="1"/>
      <p:bldP spid="523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5" name="Text Box 2"/>
          <p:cNvSpPr txBox="1"/>
          <p:nvPr/>
        </p:nvSpPr>
        <p:spPr>
          <a:xfrm>
            <a:off x="304800" y="411163"/>
            <a:ext cx="1828800" cy="579437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模型求解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252" name="Rectangle 4"/>
          <p:cNvSpPr/>
          <p:nvPr/>
        </p:nvSpPr>
        <p:spPr>
          <a:xfrm>
            <a:off x="323850" y="1125538"/>
            <a:ext cx="3887788" cy="5203825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>
            <a:spAutoFit/>
          </a:bodyPr>
          <a:p>
            <a:pPr indent="266700"/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MODEL:</a:t>
            </a:r>
            <a:endParaRPr lang="en-US" altLang="zh-CN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indent="266700"/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sets:</a:t>
            </a:r>
            <a:endParaRPr lang="en-US" altLang="zh-CN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indent="266700"/>
            <a:r>
              <a:rPr lang="en-US" altLang="zh-CN" b="1">
                <a:latin typeface="Times New Roman" panose="02020603050405020304" pitchFamily="18" charset="0"/>
              </a:rPr>
              <a:t>  person/1..5/;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266700"/>
            <a:r>
              <a:rPr lang="en-US" altLang="zh-CN" b="1">
                <a:latin typeface="Times New Roman" panose="02020603050405020304" pitchFamily="18" charset="0"/>
              </a:rPr>
              <a:t>  position/1..4/;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266700"/>
            <a:r>
              <a:rPr lang="en-US" altLang="zh-CN" b="1">
                <a:latin typeface="Times New Roman" panose="02020603050405020304" pitchFamily="18" charset="0"/>
              </a:rPr>
              <a:t>  </a:t>
            </a:r>
            <a:r>
              <a:rPr lang="en-US" altLang="zh-CN" b="1" dirty="0" err="1">
                <a:latin typeface="Times New Roman" panose="02020603050405020304" pitchFamily="18" charset="0"/>
              </a:rPr>
              <a:t>link(person,position</a:t>
            </a:r>
            <a:r>
              <a:rPr lang="en-US" altLang="zh-CN" b="1">
                <a:latin typeface="Times New Roman" panose="02020603050405020304" pitchFamily="18" charset="0"/>
              </a:rPr>
              <a:t>): c, x;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266700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endsets</a:t>
            </a:r>
            <a:endParaRPr lang="it-IT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indent="266700"/>
            <a:r>
              <a:rPr lang="it-IT" altLang="zh-CN" b="1" dirty="0">
                <a:latin typeface="Times New Roman" panose="02020603050405020304" pitchFamily="18" charset="0"/>
              </a:rPr>
              <a:t>data:</a:t>
            </a:r>
            <a:endParaRPr lang="it-IT" altLang="zh-CN" b="1" dirty="0">
              <a:latin typeface="Times New Roman" panose="02020603050405020304" pitchFamily="18" charset="0"/>
            </a:endParaRPr>
          </a:p>
          <a:p>
            <a:pPr indent="266700"/>
            <a:r>
              <a:rPr lang="it-IT" altLang="zh-CN" b="1" dirty="0">
                <a:latin typeface="Times New Roman" panose="02020603050405020304" pitchFamily="18" charset="0"/>
              </a:rPr>
              <a:t>  c=  66.8, 75.6, 87, 58.6,</a:t>
            </a:r>
            <a:endParaRPr lang="it-IT" altLang="zh-CN" b="1" dirty="0">
              <a:latin typeface="Times New Roman" panose="02020603050405020304" pitchFamily="18" charset="0"/>
            </a:endParaRPr>
          </a:p>
          <a:p>
            <a:pPr indent="266700"/>
            <a:r>
              <a:rPr lang="it-IT" altLang="zh-CN" b="1" dirty="0">
                <a:latin typeface="Times New Roman" panose="02020603050405020304" pitchFamily="18" charset="0"/>
              </a:rPr>
              <a:t>    57.2,  66, 66.4, 53,</a:t>
            </a:r>
            <a:endParaRPr lang="it-IT" altLang="zh-CN" b="1" dirty="0">
              <a:latin typeface="Times New Roman" panose="02020603050405020304" pitchFamily="18" charset="0"/>
            </a:endParaRPr>
          </a:p>
          <a:p>
            <a:pPr indent="266700"/>
            <a:r>
              <a:rPr lang="it-IT" altLang="zh-CN" b="1" dirty="0">
                <a:latin typeface="Times New Roman" panose="02020603050405020304" pitchFamily="18" charset="0"/>
              </a:rPr>
              <a:t>     78, 67.8, 84.6, 59.4,</a:t>
            </a:r>
            <a:endParaRPr lang="it-IT" altLang="zh-CN" b="1" dirty="0">
              <a:latin typeface="Times New Roman" panose="02020603050405020304" pitchFamily="18" charset="0"/>
            </a:endParaRPr>
          </a:p>
          <a:p>
            <a:pPr indent="266700"/>
            <a:r>
              <a:rPr lang="it-IT" altLang="zh-CN" b="1" dirty="0">
                <a:latin typeface="Times New Roman" panose="02020603050405020304" pitchFamily="18" charset="0"/>
              </a:rPr>
              <a:t>     70, 74.2, 69.6, 57.2,</a:t>
            </a:r>
            <a:endParaRPr lang="it-IT" altLang="zh-CN" b="1" dirty="0">
              <a:latin typeface="Times New Roman" panose="02020603050405020304" pitchFamily="18" charset="0"/>
            </a:endParaRPr>
          </a:p>
          <a:p>
            <a:pPr indent="266700"/>
            <a:r>
              <a:rPr lang="it-IT" altLang="zh-CN" b="1" dirty="0">
                <a:latin typeface="Times New Roman" panose="02020603050405020304" pitchFamily="18" charset="0"/>
              </a:rPr>
              <a:t>     67.4, 71, 83.8, 62.4;</a:t>
            </a:r>
            <a:endParaRPr lang="it-IT" altLang="zh-CN" b="1" dirty="0">
              <a:latin typeface="Times New Roman" panose="02020603050405020304" pitchFamily="18" charset="0"/>
            </a:endParaRPr>
          </a:p>
          <a:p>
            <a:pPr indent="266700"/>
            <a:r>
              <a:rPr lang="it-IT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enddata</a:t>
            </a:r>
            <a:endParaRPr lang="it-IT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3" name="Text Box 5"/>
          <p:cNvSpPr txBox="1"/>
          <p:nvPr/>
        </p:nvSpPr>
        <p:spPr>
          <a:xfrm>
            <a:off x="2438400" y="411480"/>
            <a:ext cx="3378835" cy="583565"/>
          </a:xfrm>
          <a:prstGeom prst="rect">
            <a:avLst/>
          </a:prstGeom>
          <a:solidFill>
            <a:srgbClr val="C1DFED"/>
          </a:solidFill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输入</a:t>
            </a:r>
            <a:r>
              <a:rPr lang="en-US" altLang="zh-CN" sz="2800" b="1">
                <a:latin typeface="Times New Roman" panose="02020603050405020304" pitchFamily="18" charset="0"/>
              </a:rPr>
              <a:t>LINGO</a:t>
            </a:r>
            <a:r>
              <a:rPr lang="zh-CN" altLang="en-US" sz="3200" b="1" dirty="0">
                <a:latin typeface="宋体" panose="02010600030101010101" pitchFamily="2" charset="-122"/>
              </a:rPr>
              <a:t>求解</a:t>
            </a:r>
            <a:r>
              <a:rPr lang="zh-CN" altLang="en-US" sz="2800" b="1" dirty="0">
                <a:latin typeface="宋体" panose="02010600030101010101" pitchFamily="2" charset="-122"/>
              </a:rPr>
              <a:t>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33794" name="Object 98"/>
          <p:cNvGraphicFramePr/>
          <p:nvPr/>
        </p:nvGraphicFramePr>
        <p:xfrm>
          <a:off x="7881938" y="403225"/>
          <a:ext cx="79375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" imgW="762000" imgH="762000" progId="MS_ClipArt_Gallery.2">
                  <p:embed/>
                </p:oleObj>
              </mc:Choice>
              <mc:Fallback>
                <p:oleObj name="" r:id="rId1" imgW="762000" imgH="762000" progId="MS_ClipArt_Gallery.2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81938" y="403225"/>
                        <a:ext cx="793750" cy="793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47" name="Rectangle 99"/>
          <p:cNvSpPr/>
          <p:nvPr/>
        </p:nvSpPr>
        <p:spPr>
          <a:xfrm>
            <a:off x="4500563" y="1125538"/>
            <a:ext cx="4319587" cy="3013075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>
            <a:spAutoFit/>
          </a:bodyPr>
          <a:p>
            <a:pPr indent="266700"/>
            <a:r>
              <a:rPr lang="it-IT" altLang="zh-CN" b="1" dirty="0">
                <a:latin typeface="Times New Roman" panose="02020603050405020304" pitchFamily="18" charset="0"/>
              </a:rPr>
              <a:t>min=@sum(link: c*x);</a:t>
            </a:r>
            <a:endParaRPr lang="it-IT" altLang="zh-CN" b="1" dirty="0">
              <a:latin typeface="Times New Roman" panose="02020603050405020304" pitchFamily="18" charset="0"/>
            </a:endParaRPr>
          </a:p>
          <a:p>
            <a:pPr indent="266700"/>
            <a:r>
              <a:rPr lang="it-IT" altLang="zh-CN" b="1" dirty="0">
                <a:latin typeface="Times New Roman" panose="02020603050405020304" pitchFamily="18" charset="0"/>
              </a:rPr>
              <a:t>@for(person(i):  </a:t>
            </a:r>
            <a:endParaRPr lang="it-IT" altLang="zh-CN" b="1" dirty="0">
              <a:latin typeface="Times New Roman" panose="02020603050405020304" pitchFamily="18" charset="0"/>
            </a:endParaRPr>
          </a:p>
          <a:p>
            <a:pPr indent="266700"/>
            <a:r>
              <a:rPr lang="it-IT" altLang="zh-CN" b="1" dirty="0">
                <a:latin typeface="Times New Roman" panose="02020603050405020304" pitchFamily="18" charset="0"/>
              </a:rPr>
              <a:t>   @sum(position(j):x(i,j))&lt;=1;);</a:t>
            </a:r>
            <a:endParaRPr lang="it-IT" altLang="zh-CN" b="1" dirty="0">
              <a:latin typeface="Times New Roman" panose="02020603050405020304" pitchFamily="18" charset="0"/>
            </a:endParaRPr>
          </a:p>
          <a:p>
            <a:pPr indent="266700"/>
            <a:r>
              <a:rPr lang="it-IT" altLang="zh-CN" b="1" dirty="0">
                <a:latin typeface="Times New Roman" panose="02020603050405020304" pitchFamily="18" charset="0"/>
              </a:rPr>
              <a:t>@for(position(i):</a:t>
            </a:r>
            <a:endParaRPr lang="it-IT" altLang="zh-CN" b="1" dirty="0">
              <a:latin typeface="Times New Roman" panose="02020603050405020304" pitchFamily="18" charset="0"/>
            </a:endParaRPr>
          </a:p>
          <a:p>
            <a:pPr indent="266700"/>
            <a:r>
              <a:rPr lang="it-IT" altLang="zh-CN" b="1" dirty="0">
                <a:latin typeface="Times New Roman" panose="02020603050405020304" pitchFamily="18" charset="0"/>
              </a:rPr>
              <a:t>   @sum(person(j):x(j,i))=1;);</a:t>
            </a:r>
            <a:endParaRPr lang="it-IT" altLang="zh-CN" b="1" dirty="0">
              <a:latin typeface="Times New Roman" panose="02020603050405020304" pitchFamily="18" charset="0"/>
            </a:endParaRPr>
          </a:p>
          <a:p>
            <a:pPr indent="266700"/>
            <a:r>
              <a:rPr lang="it-IT" altLang="zh-CN" b="1" dirty="0">
                <a:latin typeface="Times New Roman" panose="02020603050405020304" pitchFamily="18" charset="0"/>
              </a:rPr>
              <a:t>@for(link: @bin(x));</a:t>
            </a:r>
            <a:endParaRPr lang="it-IT" altLang="zh-CN" b="1" dirty="0">
              <a:latin typeface="Times New Roman" panose="02020603050405020304" pitchFamily="18" charset="0"/>
            </a:endParaRPr>
          </a:p>
          <a:p>
            <a:pPr indent="266700"/>
            <a:r>
              <a:rPr lang="it-IT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END</a:t>
            </a:r>
            <a:r>
              <a:rPr lang="it-IT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animBg="1"/>
      <p:bldP spid="53253" grpId="0" bldLvl="0" animBg="1"/>
      <p:bldP spid="5334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9" name="Text Box 2"/>
          <p:cNvSpPr txBox="1"/>
          <p:nvPr/>
        </p:nvSpPr>
        <p:spPr>
          <a:xfrm>
            <a:off x="304800" y="411163"/>
            <a:ext cx="1828800" cy="579437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模型求解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6739" name="Text Box 3"/>
          <p:cNvSpPr txBox="1"/>
          <p:nvPr/>
        </p:nvSpPr>
        <p:spPr>
          <a:xfrm>
            <a:off x="900113" y="1341438"/>
            <a:ext cx="7632700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lnSpc>
                <a:spcPct val="120000"/>
              </a:lnSpc>
              <a:spcBef>
                <a:spcPct val="3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最优解：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14</a:t>
            </a:r>
            <a:r>
              <a:rPr lang="en-US" altLang="zh-CN" sz="2800" b="1">
                <a:latin typeface="Times New Roman" panose="02020603050405020304" pitchFamily="18" charset="0"/>
              </a:rPr>
              <a:t> =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21</a:t>
            </a:r>
            <a:r>
              <a:rPr lang="en-US" altLang="zh-CN" sz="2800" b="1">
                <a:latin typeface="Times New Roman" panose="02020603050405020304" pitchFamily="18" charset="0"/>
              </a:rPr>
              <a:t> =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32</a:t>
            </a:r>
            <a:r>
              <a:rPr lang="en-US" altLang="zh-CN" sz="2800" b="1">
                <a:latin typeface="Times New Roman" panose="02020603050405020304" pitchFamily="18" charset="0"/>
              </a:rPr>
              <a:t> =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43 </a:t>
            </a:r>
            <a:r>
              <a:rPr lang="en-US" altLang="zh-CN" sz="2800" b="1">
                <a:latin typeface="Times New Roman" panose="02020603050405020304" pitchFamily="18" charset="0"/>
              </a:rPr>
              <a:t>= 1,  </a:t>
            </a:r>
            <a:r>
              <a:rPr lang="zh-CN" altLang="en-US" sz="2800" b="1" dirty="0">
                <a:latin typeface="宋体" panose="02010600030101010101" pitchFamily="2" charset="-122"/>
              </a:rPr>
              <a:t>其他变量为</a:t>
            </a:r>
            <a:r>
              <a:rPr lang="en-US" altLang="zh-CN" sz="2800" b="1">
                <a:latin typeface="Times New Roman" panose="02020603050405020304" pitchFamily="18" charset="0"/>
              </a:rPr>
              <a:t>0;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116741" name="Text Box 5"/>
          <p:cNvSpPr txBox="1"/>
          <p:nvPr/>
        </p:nvSpPr>
        <p:spPr>
          <a:xfrm>
            <a:off x="2438400" y="411163"/>
            <a:ext cx="3573463" cy="579437"/>
          </a:xfrm>
          <a:prstGeom prst="rect">
            <a:avLst/>
          </a:prstGeom>
          <a:solidFill>
            <a:srgbClr val="C1DFED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输入</a:t>
            </a:r>
            <a:r>
              <a:rPr lang="en-US" altLang="zh-CN" sz="2800" b="1">
                <a:latin typeface="Times New Roman" panose="02020603050405020304" pitchFamily="18" charset="0"/>
              </a:rPr>
              <a:t>LINGO</a:t>
            </a:r>
            <a:r>
              <a:rPr lang="zh-CN" altLang="en-US" sz="3200" b="1" dirty="0">
                <a:latin typeface="宋体" panose="02010600030101010101" pitchFamily="2" charset="-122"/>
              </a:rPr>
              <a:t>求解</a:t>
            </a:r>
            <a:r>
              <a:rPr lang="zh-CN" altLang="en-US" sz="2800" b="1" dirty="0">
                <a:latin typeface="宋体" panose="02010600030101010101" pitchFamily="2" charset="-122"/>
              </a:rPr>
              <a:t>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16833" name="Text Box 97"/>
          <p:cNvSpPr txBox="1"/>
          <p:nvPr/>
        </p:nvSpPr>
        <p:spPr>
          <a:xfrm>
            <a:off x="827088" y="5229225"/>
            <a:ext cx="7340600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甲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宋体" panose="02010600030101010101" pitchFamily="2" charset="-122"/>
              </a:rPr>
              <a:t>自由泳、乙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宋体" panose="02010600030101010101" pitchFamily="2" charset="-122"/>
              </a:rPr>
              <a:t>蝶泳、丙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宋体" panose="02010600030101010101" pitchFamily="2" charset="-122"/>
              </a:rPr>
              <a:t>仰泳、丁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宋体" panose="02010600030101010101" pitchFamily="2" charset="-122"/>
              </a:rPr>
              <a:t>蛙泳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graphicFrame>
        <p:nvGraphicFramePr>
          <p:cNvPr id="34818" name="Object 98"/>
          <p:cNvGraphicFramePr/>
          <p:nvPr/>
        </p:nvGraphicFramePr>
        <p:xfrm>
          <a:off x="7881938" y="403225"/>
          <a:ext cx="79375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" imgW="762000" imgH="762000" progId="MS_ClipArt_Gallery.2">
                  <p:embed/>
                </p:oleObj>
              </mc:Choice>
              <mc:Fallback>
                <p:oleObj name="" r:id="rId1" imgW="762000" imgH="762000" progId="MS_ClipArt_Gallery.2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81938" y="403225"/>
                        <a:ext cx="793750" cy="793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918" name="组合 34917"/>
          <p:cNvGrpSpPr/>
          <p:nvPr/>
        </p:nvGrpSpPr>
        <p:grpSpPr>
          <a:xfrm>
            <a:off x="900113" y="2060575"/>
            <a:ext cx="3641725" cy="519113"/>
            <a:chOff x="567" y="1298"/>
            <a:chExt cx="2294" cy="327"/>
          </a:xfrm>
        </p:grpSpPr>
        <p:graphicFrame>
          <p:nvGraphicFramePr>
            <p:cNvPr id="34915" name="对象 34914"/>
            <p:cNvGraphicFramePr/>
            <p:nvPr/>
          </p:nvGraphicFramePr>
          <p:xfrm>
            <a:off x="2245" y="1344"/>
            <a:ext cx="616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3" imgW="431165" imgH="177800" progId="Equation.3">
                    <p:embed/>
                  </p:oleObj>
                </mc:Choice>
                <mc:Fallback>
                  <p:oleObj name="" r:id="rId3" imgW="431165" imgH="1778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45" y="1344"/>
                          <a:ext cx="616" cy="2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917" name="矩形 34916"/>
            <p:cNvSpPr/>
            <p:nvPr/>
          </p:nvSpPr>
          <p:spPr>
            <a:xfrm>
              <a:off x="567" y="1298"/>
              <a:ext cx="17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buClr>
                  <a:schemeClr val="bg1"/>
                </a:buClr>
              </a:pPr>
              <a:r>
                <a:rPr lang="zh-CN" altLang="en-US" sz="2800" b="1" dirty="0">
                  <a:latin typeface="宋体" panose="02010600030101010101" pitchFamily="2" charset="-122"/>
                </a:rPr>
                <a:t>成绩为</a:t>
              </a:r>
              <a:r>
                <a:rPr lang="en-US" altLang="zh-CN" sz="2800" b="1">
                  <a:latin typeface="Times New Roman" panose="02020603050405020304" pitchFamily="18" charset="0"/>
                </a:rPr>
                <a:t>253.2</a:t>
              </a:r>
              <a:r>
                <a:rPr lang="en-US" altLang="zh-CN" sz="2800" b="1">
                  <a:latin typeface="宋体" panose="02010600030101010101" pitchFamily="2" charset="-122"/>
                </a:rPr>
                <a:t>(</a:t>
              </a:r>
              <a:r>
                <a:rPr lang="en-US" altLang="zh-CN" sz="2800" b="1">
                  <a:latin typeface="Times New Roman" panose="02020603050405020304" pitchFamily="18" charset="0"/>
                </a:rPr>
                <a:t>s</a:t>
              </a:r>
              <a:r>
                <a:rPr lang="en-US" altLang="zh-CN" sz="2800" b="1">
                  <a:latin typeface="宋体" panose="02010600030101010101" pitchFamily="2" charset="-122"/>
                </a:rPr>
                <a:t>)</a:t>
              </a:r>
              <a:r>
                <a:rPr lang="en-US" altLang="zh-CN" sz="2800" b="1">
                  <a:latin typeface="Times New Roman" panose="02020603050405020304" pitchFamily="18" charset="0"/>
                </a:rPr>
                <a:t>=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34919" name="表格 34918"/>
          <p:cNvGraphicFramePr/>
          <p:nvPr/>
        </p:nvGraphicFramePr>
        <p:xfrm>
          <a:off x="395288" y="2725738"/>
          <a:ext cx="7848600" cy="2287587"/>
        </p:xfrm>
        <a:graphic>
          <a:graphicData uri="http://schemas.openxmlformats.org/drawingml/2006/table">
            <a:tbl>
              <a:tblPr/>
              <a:tblGrid>
                <a:gridCol w="1308100"/>
                <a:gridCol w="1308100"/>
                <a:gridCol w="1308100"/>
                <a:gridCol w="1308100"/>
                <a:gridCol w="1308100"/>
                <a:gridCol w="1308100"/>
              </a:tblGrid>
              <a:tr h="455613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甲</a:t>
                      </a: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乙</a:t>
                      </a: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丙</a:t>
                      </a: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丁</a:t>
                      </a: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戊</a:t>
                      </a: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612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蝶泳</a:t>
                      </a: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613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仰泳</a:t>
                      </a: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612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蛙泳</a:t>
                      </a: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5138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 defTabSz="0">
                        <a:spcBef>
                          <a:spcPct val="0"/>
                        </a:spcBef>
                        <a:buNone/>
                        <a:tabLst>
                          <a:tab pos="266700" algn="l"/>
                        </a:tabLst>
                      </a:pPr>
                      <a:r>
                        <a:rPr lang="zh-CN" altLang="en-US" sz="2400" b="1" dirty="0"/>
                        <a:t>自由泳</a:t>
                      </a: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1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b="1" dirty="0"/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4964" name="对象 34963"/>
          <p:cNvGraphicFramePr/>
          <p:nvPr/>
        </p:nvGraphicFramePr>
        <p:xfrm>
          <a:off x="1906588" y="3221038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5" imgW="418465" imgH="177800" progId="Equation.3">
                  <p:embed/>
                </p:oleObj>
              </mc:Choice>
              <mc:Fallback>
                <p:oleObj name="" r:id="rId5" imgW="418465" imgH="1778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6588" y="3221038"/>
                        <a:ext cx="863600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65" name="对象 34964"/>
          <p:cNvGraphicFramePr/>
          <p:nvPr/>
        </p:nvGraphicFramePr>
        <p:xfrm>
          <a:off x="1906588" y="3659188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7" imgW="418465" imgH="177800" progId="Equation.3">
                  <p:embed/>
                </p:oleObj>
              </mc:Choice>
              <mc:Fallback>
                <p:oleObj name="" r:id="rId7" imgW="418465" imgH="1778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06588" y="3659188"/>
                        <a:ext cx="863600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66" name="对象 34965"/>
          <p:cNvGraphicFramePr/>
          <p:nvPr/>
        </p:nvGraphicFramePr>
        <p:xfrm>
          <a:off x="1984375" y="4165600"/>
          <a:ext cx="70643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9" imgW="342265" imgH="177800" progId="Equation.3">
                  <p:embed/>
                </p:oleObj>
              </mc:Choice>
              <mc:Fallback>
                <p:oleObj name="" r:id="rId9" imgW="342265" imgH="1778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84375" y="4165600"/>
                        <a:ext cx="706438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67" name="对象 34966"/>
          <p:cNvGraphicFramePr/>
          <p:nvPr/>
        </p:nvGraphicFramePr>
        <p:xfrm>
          <a:off x="2012950" y="4597400"/>
          <a:ext cx="6540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1" imgW="316865" imgH="177800" progId="Equation.3">
                  <p:embed/>
                </p:oleObj>
              </mc:Choice>
              <mc:Fallback>
                <p:oleObj name="" r:id="rId11" imgW="316865" imgH="1778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12950" y="4597400"/>
                        <a:ext cx="654050" cy="366713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68" name="对象 34967"/>
          <p:cNvGraphicFramePr/>
          <p:nvPr/>
        </p:nvGraphicFramePr>
        <p:xfrm>
          <a:off x="3275013" y="3230563"/>
          <a:ext cx="65405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3" imgW="316865" imgH="177800" progId="Equation.3">
                  <p:embed/>
                </p:oleObj>
              </mc:Choice>
              <mc:Fallback>
                <p:oleObj name="" r:id="rId13" imgW="316865" imgH="1778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75013" y="3230563"/>
                        <a:ext cx="654050" cy="36671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69" name="对象 34968"/>
          <p:cNvGraphicFramePr/>
          <p:nvPr/>
        </p:nvGraphicFramePr>
        <p:xfrm>
          <a:off x="3352800" y="4597400"/>
          <a:ext cx="49688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5" imgW="240665" imgH="177800" progId="Equation.3">
                  <p:embed/>
                </p:oleObj>
              </mc:Choice>
              <mc:Fallback>
                <p:oleObj name="" r:id="rId15" imgW="240665" imgH="1778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52800" y="4597400"/>
                        <a:ext cx="496888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0" name="对象 34969"/>
          <p:cNvGraphicFramePr/>
          <p:nvPr/>
        </p:nvGraphicFramePr>
        <p:xfrm>
          <a:off x="4643438" y="4597400"/>
          <a:ext cx="6540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7" imgW="316865" imgH="177800" progId="Equation.3">
                  <p:embed/>
                </p:oleObj>
              </mc:Choice>
              <mc:Fallback>
                <p:oleObj name="" r:id="rId17" imgW="316865" imgH="1778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43438" y="4597400"/>
                        <a:ext cx="654050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1" name="对象 34970"/>
          <p:cNvGraphicFramePr/>
          <p:nvPr/>
        </p:nvGraphicFramePr>
        <p:xfrm>
          <a:off x="5934075" y="4597400"/>
          <a:ext cx="6540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9" imgW="316865" imgH="177800" progId="Equation.3">
                  <p:embed/>
                </p:oleObj>
              </mc:Choice>
              <mc:Fallback>
                <p:oleObj name="" r:id="rId19" imgW="316865" imgH="1778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934075" y="4597400"/>
                        <a:ext cx="654050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2" name="对象 34971"/>
          <p:cNvGraphicFramePr/>
          <p:nvPr/>
        </p:nvGraphicFramePr>
        <p:xfrm>
          <a:off x="3281363" y="3662363"/>
          <a:ext cx="706437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21" imgW="342265" imgH="177800" progId="Equation.3">
                  <p:embed/>
                </p:oleObj>
              </mc:Choice>
              <mc:Fallback>
                <p:oleObj name="" r:id="rId21" imgW="342265" imgH="1778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81363" y="3662363"/>
                        <a:ext cx="706437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3" name="对象 34972"/>
          <p:cNvGraphicFramePr/>
          <p:nvPr/>
        </p:nvGraphicFramePr>
        <p:xfrm>
          <a:off x="3203575" y="4165600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23" imgW="418465" imgH="177800" progId="Equation.3">
                  <p:embed/>
                </p:oleObj>
              </mc:Choice>
              <mc:Fallback>
                <p:oleObj name="" r:id="rId23" imgW="418465" imgH="1778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203575" y="4165600"/>
                        <a:ext cx="863600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4" name="对象 34973"/>
          <p:cNvGraphicFramePr/>
          <p:nvPr/>
        </p:nvGraphicFramePr>
        <p:xfrm>
          <a:off x="4649788" y="3230563"/>
          <a:ext cx="706437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25" imgW="342265" imgH="177800" progId="Equation.3">
                  <p:embed/>
                </p:oleObj>
              </mc:Choice>
              <mc:Fallback>
                <p:oleObj name="" r:id="rId25" imgW="342265" imgH="1778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49788" y="3230563"/>
                        <a:ext cx="706437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5" name="对象 34974"/>
          <p:cNvGraphicFramePr/>
          <p:nvPr/>
        </p:nvGraphicFramePr>
        <p:xfrm>
          <a:off x="4498975" y="3662363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27" imgW="418465" imgH="177800" progId="Equation.3">
                  <p:embed/>
                </p:oleObj>
              </mc:Choice>
              <mc:Fallback>
                <p:oleObj name="" r:id="rId27" imgW="418465" imgH="1778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498975" y="3662363"/>
                        <a:ext cx="863600" cy="36671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6" name="对象 34975"/>
          <p:cNvGraphicFramePr/>
          <p:nvPr/>
        </p:nvGraphicFramePr>
        <p:xfrm>
          <a:off x="4498975" y="4165600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29" imgW="418465" imgH="177800" progId="Equation.3">
                  <p:embed/>
                </p:oleObj>
              </mc:Choice>
              <mc:Fallback>
                <p:oleObj name="" r:id="rId29" imgW="418465" imgH="1778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498975" y="4165600"/>
                        <a:ext cx="863600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7" name="对象 34976"/>
          <p:cNvGraphicFramePr/>
          <p:nvPr/>
        </p:nvGraphicFramePr>
        <p:xfrm>
          <a:off x="5873750" y="3230563"/>
          <a:ext cx="7064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31" imgW="342265" imgH="177800" progId="Equation.3">
                  <p:embed/>
                </p:oleObj>
              </mc:Choice>
              <mc:Fallback>
                <p:oleObj name="" r:id="rId31" imgW="342265" imgH="1778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873750" y="3230563"/>
                        <a:ext cx="706438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8" name="对象 34977"/>
          <p:cNvGraphicFramePr/>
          <p:nvPr/>
        </p:nvGraphicFramePr>
        <p:xfrm>
          <a:off x="5795963" y="3675063"/>
          <a:ext cx="8636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33" imgW="418465" imgH="165100" progId="Equation.3">
                  <p:embed/>
                </p:oleObj>
              </mc:Choice>
              <mc:Fallback>
                <p:oleObj name="" r:id="rId33" imgW="418465" imgH="1651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795963" y="3675063"/>
                        <a:ext cx="863600" cy="339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79" name="对象 34978"/>
          <p:cNvGraphicFramePr/>
          <p:nvPr/>
        </p:nvGraphicFramePr>
        <p:xfrm>
          <a:off x="5795963" y="4165600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35" imgW="418465" imgH="177800" progId="Equation.3">
                  <p:embed/>
                </p:oleObj>
              </mc:Choice>
              <mc:Fallback>
                <p:oleObj name="" r:id="rId35" imgW="418465" imgH="1778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795963" y="4165600"/>
                        <a:ext cx="863600" cy="366713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80" name="对象 34979"/>
          <p:cNvGraphicFramePr/>
          <p:nvPr/>
        </p:nvGraphicFramePr>
        <p:xfrm>
          <a:off x="7091363" y="3230563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37" imgW="418465" imgH="177800" progId="Equation.3">
                  <p:embed/>
                </p:oleObj>
              </mc:Choice>
              <mc:Fallback>
                <p:oleObj name="" r:id="rId37" imgW="418465" imgH="1778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091363" y="3230563"/>
                        <a:ext cx="863600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81" name="对象 34980"/>
          <p:cNvGraphicFramePr/>
          <p:nvPr/>
        </p:nvGraphicFramePr>
        <p:xfrm>
          <a:off x="7181850" y="3675063"/>
          <a:ext cx="68103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39" imgW="329565" imgH="165100" progId="Equation.3">
                  <p:embed/>
                </p:oleObj>
              </mc:Choice>
              <mc:Fallback>
                <p:oleObj name="" r:id="rId39" imgW="329565" imgH="1651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7181850" y="3675063"/>
                        <a:ext cx="681038" cy="339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82" name="对象 34981"/>
          <p:cNvGraphicFramePr/>
          <p:nvPr/>
        </p:nvGraphicFramePr>
        <p:xfrm>
          <a:off x="7091363" y="4094163"/>
          <a:ext cx="8636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41" imgW="418465" imgH="177800" progId="Equation.3">
                  <p:embed/>
                </p:oleObj>
              </mc:Choice>
              <mc:Fallback>
                <p:oleObj name="" r:id="rId41" imgW="418465" imgH="1778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091363" y="4094163"/>
                        <a:ext cx="863600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83" name="对象 34982"/>
          <p:cNvGraphicFramePr/>
          <p:nvPr/>
        </p:nvGraphicFramePr>
        <p:xfrm>
          <a:off x="7091363" y="4597400"/>
          <a:ext cx="8636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43" imgW="418465" imgH="177800" progId="Equation.3">
                  <p:embed/>
                </p:oleObj>
              </mc:Choice>
              <mc:Fallback>
                <p:oleObj name="" r:id="rId43" imgW="418465" imgH="1778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7091363" y="4597400"/>
                        <a:ext cx="863600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6739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4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4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4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4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4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4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116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animBg="1" build="p"/>
      <p:bldP spid="116741" grpId="0" animBg="1"/>
      <p:bldP spid="1168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Text Box 2"/>
          <p:cNvSpPr txBox="1"/>
          <p:nvPr/>
        </p:nvSpPr>
        <p:spPr>
          <a:xfrm>
            <a:off x="539750" y="1844675"/>
            <a:ext cx="8208963" cy="1203325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丁蛙泳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43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宋体" panose="02010600030101010101" pitchFamily="2" charset="-122"/>
              </a:rPr>
              <a:t>= </a:t>
            </a:r>
            <a:r>
              <a:rPr lang="en-US" altLang="zh-CN" sz="2800" b="1">
                <a:latin typeface="Times New Roman" panose="02020603050405020304" pitchFamily="18" charset="0"/>
              </a:rPr>
              <a:t>69.6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75.2 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en-US" altLang="zh-CN" sz="2800" b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</a:rPr>
              <a:t>，戊自由泳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54</a:t>
            </a:r>
            <a:r>
              <a:rPr lang="en-US" altLang="zh-CN" sz="2800" b="1">
                <a:latin typeface="宋体" panose="02010600030101010101" pitchFamily="2" charset="-122"/>
              </a:rPr>
              <a:t>= </a:t>
            </a:r>
            <a:r>
              <a:rPr lang="en-US" altLang="zh-CN" sz="2800" b="1">
                <a:latin typeface="Times New Roman" panose="02020603050405020304" pitchFamily="18" charset="0"/>
              </a:rPr>
              <a:t>62.4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57.5 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en-US" altLang="zh-CN" sz="2800" b="1">
                <a:latin typeface="Times New Roman" panose="02020603050405020304" pitchFamily="18" charset="0"/>
              </a:rPr>
              <a:t>s</a:t>
            </a:r>
            <a:r>
              <a:rPr lang="en-US" altLang="zh-CN" sz="2800" b="1">
                <a:latin typeface="宋体" panose="02010600030101010101" pitchFamily="2" charset="-122"/>
              </a:rPr>
              <a:t>)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 dirty="0">
                <a:latin typeface="宋体" panose="02010600030101010101" pitchFamily="2" charset="-122"/>
              </a:rPr>
              <a:t>方案是否调整？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75" name="Text Box 3"/>
          <p:cNvSpPr txBox="1"/>
          <p:nvPr/>
        </p:nvSpPr>
        <p:spPr>
          <a:xfrm>
            <a:off x="5292725" y="2492375"/>
            <a:ext cx="25463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敏感性分析？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54276" name="Text Box 4"/>
          <p:cNvSpPr txBox="1"/>
          <p:nvPr/>
        </p:nvSpPr>
        <p:spPr>
          <a:xfrm>
            <a:off x="323850" y="5740400"/>
            <a:ext cx="8353425" cy="6048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新方案</a:t>
            </a:r>
            <a:r>
              <a:rPr lang="en-US" altLang="zh-CN" sz="2800" b="1">
                <a:latin typeface="宋体" panose="02010600030101010101" pitchFamily="2" charset="-122"/>
              </a:rPr>
              <a:t>:</a:t>
            </a:r>
            <a:r>
              <a:rPr lang="zh-CN" altLang="en-US" sz="2800" b="1" dirty="0">
                <a:latin typeface="宋体" panose="02010600030101010101" pitchFamily="2" charset="-122"/>
              </a:rPr>
              <a:t>乙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宋体" panose="02010600030101010101" pitchFamily="2" charset="-122"/>
              </a:rPr>
              <a:t>蝶泳、丙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宋体" panose="02010600030101010101" pitchFamily="2" charset="-122"/>
              </a:rPr>
              <a:t>仰泳、丁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宋体" panose="02010600030101010101" pitchFamily="2" charset="-122"/>
              </a:rPr>
              <a:t>蛙泳、戊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宋体" panose="02010600030101010101" pitchFamily="2" charset="-122"/>
              </a:rPr>
              <a:t>自由泳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4277" name="Rectangle 5"/>
          <p:cNvSpPr/>
          <p:nvPr/>
        </p:nvSpPr>
        <p:spPr>
          <a:xfrm>
            <a:off x="684213" y="3111500"/>
            <a:ext cx="7777162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IP</a:t>
            </a:r>
            <a:r>
              <a:rPr lang="zh-CN" altLang="en-US" sz="2800" b="1" dirty="0">
                <a:latin typeface="宋体" panose="02010600030101010101" pitchFamily="2" charset="-122"/>
              </a:rPr>
              <a:t>一般没有与</a:t>
            </a:r>
            <a:r>
              <a:rPr lang="en-US" altLang="zh-CN" sz="2800" b="1">
                <a:latin typeface="Times New Roman" panose="02020603050405020304" pitchFamily="18" charset="0"/>
              </a:rPr>
              <a:t>LP</a:t>
            </a:r>
            <a:r>
              <a:rPr lang="zh-CN" altLang="en-US" sz="2800" b="1" dirty="0">
                <a:latin typeface="宋体" panose="02010600030101010101" pitchFamily="2" charset="-122"/>
              </a:rPr>
              <a:t>相类似的理论，</a:t>
            </a:r>
            <a:r>
              <a:rPr lang="en-US" altLang="zh-CN" sz="2800" b="1">
                <a:latin typeface="Times New Roman" panose="02020603050405020304" pitchFamily="18" charset="0"/>
              </a:rPr>
              <a:t>LINGO</a:t>
            </a:r>
            <a:r>
              <a:rPr lang="zh-CN" altLang="en-US" sz="2800" b="1" dirty="0">
                <a:latin typeface="宋体" panose="02010600030101010101" pitchFamily="2" charset="-122"/>
              </a:rPr>
              <a:t>输出的敏感性分析结果通常是没有意义的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54279" name="Text Box 7"/>
          <p:cNvSpPr txBox="1"/>
          <p:nvPr/>
        </p:nvSpPr>
        <p:spPr>
          <a:xfrm>
            <a:off x="684213" y="4392613"/>
            <a:ext cx="8077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43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 baseline="-30000">
                <a:latin typeface="Times New Roman" panose="02020603050405020304" pitchFamily="18" charset="0"/>
              </a:rPr>
              <a:t>54</a:t>
            </a: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的新数据重新输入模型，用</a:t>
            </a:r>
            <a:r>
              <a:rPr lang="en-US" altLang="zh-CN" sz="2800" b="1">
                <a:latin typeface="Times New Roman" panose="02020603050405020304" pitchFamily="18" charset="0"/>
              </a:rPr>
              <a:t>LINGO</a:t>
            </a:r>
            <a:r>
              <a:rPr lang="zh-CN" altLang="en-US" sz="2800" b="1" dirty="0">
                <a:latin typeface="宋体" panose="02010600030101010101" pitchFamily="2" charset="-122"/>
              </a:rPr>
              <a:t>求解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95240" name="Text Box 11"/>
          <p:cNvSpPr txBox="1"/>
          <p:nvPr/>
        </p:nvSpPr>
        <p:spPr>
          <a:xfrm>
            <a:off x="639763" y="476250"/>
            <a:ext cx="7027862" cy="120332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     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原分配方案</a:t>
            </a:r>
            <a:r>
              <a:rPr lang="en-US" altLang="zh-CN" sz="2800" b="1">
                <a:latin typeface="Times New Roman" panose="02020603050405020304" pitchFamily="18" charset="0"/>
              </a:rPr>
              <a:t>: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甲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宋体" panose="02010600030101010101" pitchFamily="2" charset="-122"/>
              </a:rPr>
              <a:t>自由泳、乙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宋体" panose="02010600030101010101" pitchFamily="2" charset="-122"/>
              </a:rPr>
              <a:t>蝶泳、丙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宋体" panose="02010600030101010101" pitchFamily="2" charset="-122"/>
              </a:rPr>
              <a:t>仰泳、丁</a:t>
            </a:r>
            <a:r>
              <a:rPr lang="en-US" altLang="zh-CN" sz="2800" b="1">
                <a:latin typeface="Times New Roman" panose="02020603050405020304" pitchFamily="18" charset="0"/>
              </a:rPr>
              <a:t>~ </a:t>
            </a:r>
            <a:r>
              <a:rPr lang="zh-CN" altLang="en-US" sz="2800" b="1" dirty="0">
                <a:latin typeface="宋体" panose="02010600030101010101" pitchFamily="2" charset="-122"/>
              </a:rPr>
              <a:t>蛙泳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95241" name="Text Box 9"/>
          <p:cNvSpPr txBox="1"/>
          <p:nvPr/>
        </p:nvSpPr>
        <p:spPr>
          <a:xfrm>
            <a:off x="684213" y="476250"/>
            <a:ext cx="1066800" cy="5794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讨论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95246" name="组合 95245"/>
          <p:cNvGrpSpPr/>
          <p:nvPr/>
        </p:nvGrpSpPr>
        <p:grpSpPr>
          <a:xfrm>
            <a:off x="395288" y="5040313"/>
            <a:ext cx="7861300" cy="519112"/>
            <a:chOff x="249" y="3175"/>
            <a:chExt cx="4952" cy="327"/>
          </a:xfrm>
        </p:grpSpPr>
        <p:sp>
          <p:nvSpPr>
            <p:cNvPr id="54278" name="Rectangle 6"/>
            <p:cNvSpPr/>
            <p:nvPr/>
          </p:nvSpPr>
          <p:spPr>
            <a:xfrm>
              <a:off x="249" y="3175"/>
              <a:ext cx="49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indent="228600" algn="just"/>
              <a:r>
                <a:rPr lang="zh-CN" altLang="en-US" sz="2800" b="1" dirty="0">
                  <a:latin typeface="Times New Roman" panose="02020603050405020304" pitchFamily="18" charset="0"/>
                </a:rPr>
                <a:t>最优解：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21</a:t>
              </a:r>
              <a:r>
                <a:rPr lang="en-US" altLang="zh-CN" sz="2800" b="1">
                  <a:latin typeface="Times New Roman" panose="02020603050405020304" pitchFamily="18" charset="0"/>
                </a:rPr>
                <a:t> =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32 </a:t>
              </a:r>
              <a:r>
                <a:rPr lang="en-US" altLang="zh-CN" sz="2800" b="1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43</a:t>
              </a:r>
              <a:r>
                <a:rPr lang="en-US" altLang="zh-CN" sz="2800" b="1">
                  <a:latin typeface="Times New Roman" panose="02020603050405020304" pitchFamily="18" charset="0"/>
                </a:rPr>
                <a:t> =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51</a:t>
              </a:r>
              <a:r>
                <a:rPr lang="en-US" altLang="zh-CN" sz="2800" b="1">
                  <a:latin typeface="Times New Roman" panose="02020603050405020304" pitchFamily="18" charset="0"/>
                </a:rPr>
                <a:t> = 1, 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成绩为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5245" name="对象 95244"/>
            <p:cNvGraphicFramePr/>
            <p:nvPr/>
          </p:nvGraphicFramePr>
          <p:xfrm>
            <a:off x="4332" y="3203"/>
            <a:ext cx="68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1" imgW="443865" imgH="177800" progId="Equation.3">
                    <p:embed/>
                  </p:oleObj>
                </mc:Choice>
                <mc:Fallback>
                  <p:oleObj name="" r:id="rId1" imgW="443865" imgH="1778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332" y="3203"/>
                          <a:ext cx="68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5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5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5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5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nimBg="1"/>
      <p:bldP spid="54275" grpId="0"/>
      <p:bldP spid="54276" grpId="0" animBg="1"/>
      <p:bldP spid="54277" grpId="0"/>
      <p:bldP spid="5427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3" name="Rectangle 4"/>
          <p:cNvSpPr/>
          <p:nvPr/>
        </p:nvSpPr>
        <p:spPr>
          <a:xfrm>
            <a:off x="1258888" y="620713"/>
            <a:ext cx="5105400" cy="5334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p>
            <a:pPr algn="ctr"/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混合泳接力队的选拔 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5842" name="Object 5"/>
          <p:cNvGraphicFramePr/>
          <p:nvPr/>
        </p:nvGraphicFramePr>
        <p:xfrm>
          <a:off x="7467600" y="417513"/>
          <a:ext cx="1066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" imgW="762000" imgH="762000" progId="MS_ClipArt_Gallery.2">
                  <p:embed/>
                </p:oleObj>
              </mc:Choice>
              <mc:Fallback>
                <p:oleObj name="" r:id="rId1" imgW="762000" imgH="762000" progId="MS_ClipArt_Gallery.2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67600" y="417513"/>
                        <a:ext cx="10668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4" name="Text Box 6"/>
          <p:cNvSpPr txBox="1"/>
          <p:nvPr/>
        </p:nvSpPr>
        <p:spPr>
          <a:xfrm>
            <a:off x="323850" y="1484313"/>
            <a:ext cx="8424863" cy="2143125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指派</a:t>
            </a:r>
            <a:r>
              <a:rPr lang="en-US" altLang="zh-CN" sz="2800" b="1">
                <a:solidFill>
                  <a:srgbClr val="FF33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Assignment</a:t>
            </a:r>
            <a:r>
              <a:rPr lang="en-US" altLang="zh-CN" sz="2800" b="1">
                <a:solidFill>
                  <a:srgbClr val="FF33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问题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b="1" dirty="0">
                <a:latin typeface="Times New Roman" panose="02020603050405020304" pitchFamily="18" charset="0"/>
              </a:rPr>
              <a:t>有若干项任务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每项任务必有且只能有一人承担，每人只能承担一项</a:t>
            </a:r>
            <a:r>
              <a:rPr lang="zh-CN" altLang="en-US" sz="2800" b="1" dirty="0">
                <a:latin typeface="Times New Roman" panose="02020603050405020304" pitchFamily="18" charset="0"/>
              </a:rPr>
              <a:t>，不同人员承担不同任务的效益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或成本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不同，怎样分派各项任务使总效益最大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或总成本最小</a:t>
            </a:r>
            <a:r>
              <a:rPr lang="en-US" altLang="zh-CN" sz="2800" b="1">
                <a:latin typeface="Times New Roman" panose="02020603050405020304" pitchFamily="18" charset="0"/>
              </a:rPr>
              <a:t>)?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94215" name="Text Box 7"/>
          <p:cNvSpPr txBox="1"/>
          <p:nvPr/>
        </p:nvSpPr>
        <p:spPr>
          <a:xfrm>
            <a:off x="395288" y="3716338"/>
            <a:ext cx="61928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人员数量与任务数量相等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94216" name="Text Box 8"/>
          <p:cNvSpPr txBox="1"/>
          <p:nvPr/>
        </p:nvSpPr>
        <p:spPr>
          <a:xfrm>
            <a:off x="395288" y="4365625"/>
            <a:ext cx="61928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人员数量大于任务数量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本例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94217" name="Text Box 9"/>
          <p:cNvSpPr txBox="1"/>
          <p:nvPr/>
        </p:nvSpPr>
        <p:spPr>
          <a:xfrm>
            <a:off x="395288" y="5013325"/>
            <a:ext cx="61928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人员数量小于任务数量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?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94218" name="Rectangle 10"/>
          <p:cNvSpPr/>
          <p:nvPr/>
        </p:nvSpPr>
        <p:spPr>
          <a:xfrm>
            <a:off x="1619250" y="5734050"/>
            <a:ext cx="5472113" cy="5334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p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建立</a:t>
            </a: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</a:rPr>
              <a:t>0-1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规划模型是常用方法 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4" grpId="0" animBg="1"/>
      <p:bldP spid="94215" grpId="0"/>
      <p:bldP spid="94216" grpId="0"/>
      <p:bldP spid="94217" grpId="0"/>
      <p:bldP spid="942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Text Box 2"/>
          <p:cNvSpPr txBox="1"/>
          <p:nvPr/>
        </p:nvSpPr>
        <p:spPr>
          <a:xfrm>
            <a:off x="228600" y="5437188"/>
            <a:ext cx="8534400" cy="582612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为了选修课程门数最少，应学习哪些课程 ？</a:t>
            </a: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6868" name="Rectangle 3"/>
          <p:cNvSpPr/>
          <p:nvPr>
            <p:ph type="title"/>
          </p:nvPr>
        </p:nvSpPr>
        <p:spPr>
          <a:xfrm>
            <a:off x="228600" y="381000"/>
            <a:ext cx="32766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chemeClr val="tx1"/>
                </a:solidFill>
                <a:ea typeface="楷体_GB2312" pitchFamily="49" charset="-122"/>
              </a:rPr>
              <a:t>2   </a:t>
            </a:r>
            <a:r>
              <a:rPr lang="zh-CN" altLang="en-US" sz="3200" b="1" dirty="0">
                <a:solidFill>
                  <a:schemeClr val="tx1"/>
                </a:solidFill>
                <a:ea typeface="楷体_GB2312" pitchFamily="49" charset="-122"/>
              </a:rPr>
              <a:t>选课策略</a:t>
            </a:r>
            <a:endParaRPr lang="zh-CN" altLang="en-US" sz="3200" dirty="0">
              <a:ea typeface="楷体_GB2312" pitchFamily="49" charset="-122"/>
            </a:endParaRPr>
          </a:p>
        </p:txBody>
      </p:sp>
      <p:sp>
        <p:nvSpPr>
          <p:cNvPr id="55300" name="Text Box 4"/>
          <p:cNvSpPr txBox="1"/>
          <p:nvPr/>
        </p:nvSpPr>
        <p:spPr>
          <a:xfrm>
            <a:off x="152400" y="4891088"/>
            <a:ext cx="8915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宋体" panose="02010600030101010101" pitchFamily="2" charset="-122"/>
              </a:rPr>
              <a:t>要求至少选两门数学课、三门运筹学课和两门计算机课 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0" y="1066800"/>
            <a:ext cx="9144000" cy="3810000"/>
            <a:chOff x="-3" y="-3"/>
            <a:chExt cx="3460" cy="3942"/>
          </a:xfrm>
        </p:grpSpPr>
        <p:grpSp>
          <p:nvGrpSpPr>
            <p:cNvPr id="36872" name="Group 6"/>
            <p:cNvGrpSpPr/>
            <p:nvPr/>
          </p:nvGrpSpPr>
          <p:grpSpPr>
            <a:xfrm>
              <a:off x="0" y="0"/>
              <a:ext cx="3454" cy="3936"/>
              <a:chOff x="0" y="0"/>
              <a:chExt cx="3454" cy="3936"/>
            </a:xfrm>
          </p:grpSpPr>
          <p:grpSp>
            <p:nvGrpSpPr>
              <p:cNvPr id="36874" name="Group 7"/>
              <p:cNvGrpSpPr/>
              <p:nvPr/>
            </p:nvGrpSpPr>
            <p:grpSpPr>
              <a:xfrm>
                <a:off x="0" y="0"/>
                <a:ext cx="518" cy="480"/>
                <a:chOff x="0" y="0"/>
                <a:chExt cx="518" cy="480"/>
              </a:xfrm>
            </p:grpSpPr>
            <p:sp>
              <p:nvSpPr>
                <p:cNvPr id="37022" name="Rectangle 8"/>
                <p:cNvSpPr/>
                <p:nvPr/>
              </p:nvSpPr>
              <p:spPr>
                <a:xfrm>
                  <a:off x="43" y="0"/>
                  <a:ext cx="432" cy="48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课号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23" name="Rectangle 9"/>
                <p:cNvSpPr/>
                <p:nvPr/>
              </p:nvSpPr>
              <p:spPr>
                <a:xfrm>
                  <a:off x="0" y="0"/>
                  <a:ext cx="518" cy="48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75" name="Group 10"/>
              <p:cNvGrpSpPr/>
              <p:nvPr/>
            </p:nvGrpSpPr>
            <p:grpSpPr>
              <a:xfrm>
                <a:off x="518" y="0"/>
                <a:ext cx="662" cy="480"/>
                <a:chOff x="518" y="0"/>
                <a:chExt cx="662" cy="480"/>
              </a:xfrm>
            </p:grpSpPr>
            <p:sp>
              <p:nvSpPr>
                <p:cNvPr id="37020" name="Rectangle 11"/>
                <p:cNvSpPr/>
                <p:nvPr/>
              </p:nvSpPr>
              <p:spPr>
                <a:xfrm>
                  <a:off x="561" y="0"/>
                  <a:ext cx="576" cy="48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课名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21" name="Rectangle 12"/>
                <p:cNvSpPr/>
                <p:nvPr/>
              </p:nvSpPr>
              <p:spPr>
                <a:xfrm>
                  <a:off x="518" y="0"/>
                  <a:ext cx="662" cy="48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76" name="Group 13"/>
              <p:cNvGrpSpPr/>
              <p:nvPr/>
            </p:nvGrpSpPr>
            <p:grpSpPr>
              <a:xfrm>
                <a:off x="1180" y="0"/>
                <a:ext cx="446" cy="480"/>
                <a:chOff x="1180" y="0"/>
                <a:chExt cx="446" cy="480"/>
              </a:xfrm>
            </p:grpSpPr>
            <p:sp>
              <p:nvSpPr>
                <p:cNvPr id="37018" name="Rectangle 14"/>
                <p:cNvSpPr/>
                <p:nvPr/>
              </p:nvSpPr>
              <p:spPr>
                <a:xfrm>
                  <a:off x="1223" y="0"/>
                  <a:ext cx="360" cy="48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学分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19" name="Rectangle 15"/>
                <p:cNvSpPr/>
                <p:nvPr/>
              </p:nvSpPr>
              <p:spPr>
                <a:xfrm>
                  <a:off x="1180" y="0"/>
                  <a:ext cx="446" cy="48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77" name="Group 16"/>
              <p:cNvGrpSpPr/>
              <p:nvPr/>
            </p:nvGrpSpPr>
            <p:grpSpPr>
              <a:xfrm>
                <a:off x="1626" y="0"/>
                <a:ext cx="878" cy="480"/>
                <a:chOff x="1626" y="0"/>
                <a:chExt cx="878" cy="480"/>
              </a:xfrm>
            </p:grpSpPr>
            <p:sp>
              <p:nvSpPr>
                <p:cNvPr id="37016" name="Rectangle 17"/>
                <p:cNvSpPr/>
                <p:nvPr/>
              </p:nvSpPr>
              <p:spPr>
                <a:xfrm>
                  <a:off x="1669" y="0"/>
                  <a:ext cx="792" cy="48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所属类别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17" name="Rectangle 18"/>
                <p:cNvSpPr/>
                <p:nvPr/>
              </p:nvSpPr>
              <p:spPr>
                <a:xfrm>
                  <a:off x="1626" y="0"/>
                  <a:ext cx="878" cy="48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78" name="Group 19"/>
              <p:cNvGrpSpPr/>
              <p:nvPr/>
            </p:nvGrpSpPr>
            <p:grpSpPr>
              <a:xfrm>
                <a:off x="2504" y="0"/>
                <a:ext cx="950" cy="480"/>
                <a:chOff x="2504" y="0"/>
                <a:chExt cx="950" cy="480"/>
              </a:xfrm>
            </p:grpSpPr>
            <p:sp>
              <p:nvSpPr>
                <p:cNvPr id="37014" name="Rectangle 20"/>
                <p:cNvSpPr/>
                <p:nvPr/>
              </p:nvSpPr>
              <p:spPr>
                <a:xfrm>
                  <a:off x="2547" y="0"/>
                  <a:ext cx="864" cy="48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先修课要求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15" name="Rectangle 21"/>
                <p:cNvSpPr/>
                <p:nvPr/>
              </p:nvSpPr>
              <p:spPr>
                <a:xfrm>
                  <a:off x="2504" y="0"/>
                  <a:ext cx="950" cy="48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79" name="Group 22"/>
              <p:cNvGrpSpPr/>
              <p:nvPr/>
            </p:nvGrpSpPr>
            <p:grpSpPr>
              <a:xfrm>
                <a:off x="0" y="480"/>
                <a:ext cx="518" cy="384"/>
                <a:chOff x="0" y="480"/>
                <a:chExt cx="518" cy="384"/>
              </a:xfrm>
            </p:grpSpPr>
            <p:sp>
              <p:nvSpPr>
                <p:cNvPr id="37012" name="Rectangle 23"/>
                <p:cNvSpPr/>
                <p:nvPr/>
              </p:nvSpPr>
              <p:spPr>
                <a:xfrm>
                  <a:off x="43" y="480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13" name="Rectangle 24"/>
                <p:cNvSpPr/>
                <p:nvPr/>
              </p:nvSpPr>
              <p:spPr>
                <a:xfrm>
                  <a:off x="0" y="480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0" name="Group 25"/>
              <p:cNvGrpSpPr/>
              <p:nvPr/>
            </p:nvGrpSpPr>
            <p:grpSpPr>
              <a:xfrm>
                <a:off x="518" y="480"/>
                <a:ext cx="662" cy="384"/>
                <a:chOff x="518" y="480"/>
                <a:chExt cx="662" cy="384"/>
              </a:xfrm>
            </p:grpSpPr>
            <p:sp>
              <p:nvSpPr>
                <p:cNvPr id="37010" name="Rectangle 26"/>
                <p:cNvSpPr/>
                <p:nvPr/>
              </p:nvSpPr>
              <p:spPr>
                <a:xfrm>
                  <a:off x="561" y="480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微积分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11" name="Rectangle 27"/>
                <p:cNvSpPr/>
                <p:nvPr/>
              </p:nvSpPr>
              <p:spPr>
                <a:xfrm>
                  <a:off x="518" y="480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1" name="Group 28"/>
              <p:cNvGrpSpPr/>
              <p:nvPr/>
            </p:nvGrpSpPr>
            <p:grpSpPr>
              <a:xfrm>
                <a:off x="1180" y="480"/>
                <a:ext cx="446" cy="384"/>
                <a:chOff x="1180" y="480"/>
                <a:chExt cx="446" cy="384"/>
              </a:xfrm>
            </p:grpSpPr>
            <p:sp>
              <p:nvSpPr>
                <p:cNvPr id="37008" name="Rectangle 29"/>
                <p:cNvSpPr/>
                <p:nvPr/>
              </p:nvSpPr>
              <p:spPr>
                <a:xfrm>
                  <a:off x="1223" y="480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5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09" name="Rectangle 30"/>
                <p:cNvSpPr/>
                <p:nvPr/>
              </p:nvSpPr>
              <p:spPr>
                <a:xfrm>
                  <a:off x="1180" y="480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2" name="Group 31"/>
              <p:cNvGrpSpPr/>
              <p:nvPr/>
            </p:nvGrpSpPr>
            <p:grpSpPr>
              <a:xfrm>
                <a:off x="1626" y="480"/>
                <a:ext cx="878" cy="384"/>
                <a:chOff x="1626" y="480"/>
                <a:chExt cx="878" cy="384"/>
              </a:xfrm>
            </p:grpSpPr>
            <p:sp>
              <p:nvSpPr>
                <p:cNvPr id="37006" name="Rectangle 32"/>
                <p:cNvSpPr/>
                <p:nvPr/>
              </p:nvSpPr>
              <p:spPr>
                <a:xfrm>
                  <a:off x="1669" y="480"/>
                  <a:ext cx="79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数学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07" name="Rectangle 33"/>
                <p:cNvSpPr/>
                <p:nvPr/>
              </p:nvSpPr>
              <p:spPr>
                <a:xfrm>
                  <a:off x="1626" y="480"/>
                  <a:ext cx="87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3" name="Group 34"/>
              <p:cNvGrpSpPr/>
              <p:nvPr/>
            </p:nvGrpSpPr>
            <p:grpSpPr>
              <a:xfrm>
                <a:off x="2504" y="480"/>
                <a:ext cx="950" cy="384"/>
                <a:chOff x="2504" y="480"/>
                <a:chExt cx="950" cy="384"/>
              </a:xfrm>
            </p:grpSpPr>
            <p:sp>
              <p:nvSpPr>
                <p:cNvPr id="37004" name="Rectangle 35"/>
                <p:cNvSpPr/>
                <p:nvPr/>
              </p:nvSpPr>
              <p:spPr>
                <a:xfrm>
                  <a:off x="2547" y="480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05" name="Rectangle 36"/>
                <p:cNvSpPr/>
                <p:nvPr/>
              </p:nvSpPr>
              <p:spPr>
                <a:xfrm>
                  <a:off x="2504" y="480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4" name="Group 37"/>
              <p:cNvGrpSpPr/>
              <p:nvPr/>
            </p:nvGrpSpPr>
            <p:grpSpPr>
              <a:xfrm>
                <a:off x="0" y="864"/>
                <a:ext cx="518" cy="384"/>
                <a:chOff x="0" y="864"/>
                <a:chExt cx="518" cy="384"/>
              </a:xfrm>
            </p:grpSpPr>
            <p:sp>
              <p:nvSpPr>
                <p:cNvPr id="37002" name="Rectangle 38"/>
                <p:cNvSpPr/>
                <p:nvPr/>
              </p:nvSpPr>
              <p:spPr>
                <a:xfrm>
                  <a:off x="43" y="864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03" name="Rectangle 39"/>
                <p:cNvSpPr/>
                <p:nvPr/>
              </p:nvSpPr>
              <p:spPr>
                <a:xfrm>
                  <a:off x="0" y="864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5" name="Group 40"/>
              <p:cNvGrpSpPr/>
              <p:nvPr/>
            </p:nvGrpSpPr>
            <p:grpSpPr>
              <a:xfrm>
                <a:off x="518" y="864"/>
                <a:ext cx="662" cy="384"/>
                <a:chOff x="518" y="864"/>
                <a:chExt cx="662" cy="384"/>
              </a:xfrm>
            </p:grpSpPr>
            <p:sp>
              <p:nvSpPr>
                <p:cNvPr id="37000" name="Rectangle 41"/>
                <p:cNvSpPr/>
                <p:nvPr/>
              </p:nvSpPr>
              <p:spPr>
                <a:xfrm>
                  <a:off x="561" y="864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线性代数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001" name="Rectangle 42"/>
                <p:cNvSpPr/>
                <p:nvPr/>
              </p:nvSpPr>
              <p:spPr>
                <a:xfrm>
                  <a:off x="518" y="864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6" name="Group 43"/>
              <p:cNvGrpSpPr/>
              <p:nvPr/>
            </p:nvGrpSpPr>
            <p:grpSpPr>
              <a:xfrm>
                <a:off x="1180" y="864"/>
                <a:ext cx="446" cy="384"/>
                <a:chOff x="1180" y="864"/>
                <a:chExt cx="446" cy="384"/>
              </a:xfrm>
            </p:grpSpPr>
            <p:sp>
              <p:nvSpPr>
                <p:cNvPr id="36998" name="Rectangle 44"/>
                <p:cNvSpPr/>
                <p:nvPr/>
              </p:nvSpPr>
              <p:spPr>
                <a:xfrm>
                  <a:off x="1223" y="864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99" name="Rectangle 45"/>
                <p:cNvSpPr/>
                <p:nvPr/>
              </p:nvSpPr>
              <p:spPr>
                <a:xfrm>
                  <a:off x="1180" y="864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7" name="Group 46"/>
              <p:cNvGrpSpPr/>
              <p:nvPr/>
            </p:nvGrpSpPr>
            <p:grpSpPr>
              <a:xfrm>
                <a:off x="1626" y="864"/>
                <a:ext cx="878" cy="384"/>
                <a:chOff x="1626" y="864"/>
                <a:chExt cx="878" cy="384"/>
              </a:xfrm>
            </p:grpSpPr>
            <p:sp>
              <p:nvSpPr>
                <p:cNvPr id="36996" name="Rectangle 47"/>
                <p:cNvSpPr/>
                <p:nvPr/>
              </p:nvSpPr>
              <p:spPr>
                <a:xfrm>
                  <a:off x="1669" y="864"/>
                  <a:ext cx="79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数学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97" name="Rectangle 48"/>
                <p:cNvSpPr/>
                <p:nvPr/>
              </p:nvSpPr>
              <p:spPr>
                <a:xfrm>
                  <a:off x="1626" y="864"/>
                  <a:ext cx="87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8" name="Group 49"/>
              <p:cNvGrpSpPr/>
              <p:nvPr/>
            </p:nvGrpSpPr>
            <p:grpSpPr>
              <a:xfrm>
                <a:off x="2504" y="864"/>
                <a:ext cx="950" cy="384"/>
                <a:chOff x="2504" y="864"/>
                <a:chExt cx="950" cy="384"/>
              </a:xfrm>
            </p:grpSpPr>
            <p:sp>
              <p:nvSpPr>
                <p:cNvPr id="36994" name="Rectangle 50"/>
                <p:cNvSpPr/>
                <p:nvPr/>
              </p:nvSpPr>
              <p:spPr>
                <a:xfrm>
                  <a:off x="2547" y="864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95" name="Rectangle 51"/>
                <p:cNvSpPr/>
                <p:nvPr/>
              </p:nvSpPr>
              <p:spPr>
                <a:xfrm>
                  <a:off x="2504" y="864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89" name="Group 52"/>
              <p:cNvGrpSpPr/>
              <p:nvPr/>
            </p:nvGrpSpPr>
            <p:grpSpPr>
              <a:xfrm>
                <a:off x="0" y="1248"/>
                <a:ext cx="518" cy="384"/>
                <a:chOff x="0" y="1248"/>
                <a:chExt cx="518" cy="384"/>
              </a:xfrm>
            </p:grpSpPr>
            <p:sp>
              <p:nvSpPr>
                <p:cNvPr id="36992" name="Rectangle 53"/>
                <p:cNvSpPr/>
                <p:nvPr/>
              </p:nvSpPr>
              <p:spPr>
                <a:xfrm>
                  <a:off x="43" y="1248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93" name="Rectangle 54"/>
                <p:cNvSpPr/>
                <p:nvPr/>
              </p:nvSpPr>
              <p:spPr>
                <a:xfrm>
                  <a:off x="0" y="1248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0" name="Group 55"/>
              <p:cNvGrpSpPr/>
              <p:nvPr/>
            </p:nvGrpSpPr>
            <p:grpSpPr>
              <a:xfrm>
                <a:off x="518" y="1248"/>
                <a:ext cx="662" cy="384"/>
                <a:chOff x="518" y="1248"/>
                <a:chExt cx="662" cy="384"/>
              </a:xfrm>
            </p:grpSpPr>
            <p:sp>
              <p:nvSpPr>
                <p:cNvPr id="36990" name="Rectangle 56"/>
                <p:cNvSpPr/>
                <p:nvPr/>
              </p:nvSpPr>
              <p:spPr>
                <a:xfrm>
                  <a:off x="561" y="1248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最优化方法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91" name="Rectangle 57"/>
                <p:cNvSpPr/>
                <p:nvPr/>
              </p:nvSpPr>
              <p:spPr>
                <a:xfrm>
                  <a:off x="518" y="1248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1" name="Group 58"/>
              <p:cNvGrpSpPr/>
              <p:nvPr/>
            </p:nvGrpSpPr>
            <p:grpSpPr>
              <a:xfrm>
                <a:off x="1180" y="1248"/>
                <a:ext cx="446" cy="384"/>
                <a:chOff x="1180" y="1248"/>
                <a:chExt cx="446" cy="384"/>
              </a:xfrm>
            </p:grpSpPr>
            <p:sp>
              <p:nvSpPr>
                <p:cNvPr id="36988" name="Rectangle 59"/>
                <p:cNvSpPr/>
                <p:nvPr/>
              </p:nvSpPr>
              <p:spPr>
                <a:xfrm>
                  <a:off x="1223" y="1248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89" name="Rectangle 60"/>
                <p:cNvSpPr/>
                <p:nvPr/>
              </p:nvSpPr>
              <p:spPr>
                <a:xfrm>
                  <a:off x="1180" y="1248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2" name="Group 61"/>
              <p:cNvGrpSpPr/>
              <p:nvPr/>
            </p:nvGrpSpPr>
            <p:grpSpPr>
              <a:xfrm>
                <a:off x="1626" y="1248"/>
                <a:ext cx="878" cy="384"/>
                <a:chOff x="1626" y="1248"/>
                <a:chExt cx="878" cy="384"/>
              </a:xfrm>
            </p:grpSpPr>
            <p:sp>
              <p:nvSpPr>
                <p:cNvPr id="36986" name="Rectangle 62"/>
                <p:cNvSpPr/>
                <p:nvPr/>
              </p:nvSpPr>
              <p:spPr>
                <a:xfrm>
                  <a:off x="1669" y="1248"/>
                  <a:ext cx="79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数学；运筹学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87" name="Rectangle 63"/>
                <p:cNvSpPr/>
                <p:nvPr/>
              </p:nvSpPr>
              <p:spPr>
                <a:xfrm>
                  <a:off x="1626" y="1248"/>
                  <a:ext cx="87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3" name="Group 64"/>
              <p:cNvGrpSpPr/>
              <p:nvPr/>
            </p:nvGrpSpPr>
            <p:grpSpPr>
              <a:xfrm>
                <a:off x="2504" y="1248"/>
                <a:ext cx="950" cy="384"/>
                <a:chOff x="2504" y="1248"/>
                <a:chExt cx="950" cy="384"/>
              </a:xfrm>
            </p:grpSpPr>
            <p:sp>
              <p:nvSpPr>
                <p:cNvPr id="36984" name="Rectangle 65"/>
                <p:cNvSpPr/>
                <p:nvPr/>
              </p:nvSpPr>
              <p:spPr>
                <a:xfrm>
                  <a:off x="2547" y="1248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微积分；线性代数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85" name="Rectangle 66"/>
                <p:cNvSpPr/>
                <p:nvPr/>
              </p:nvSpPr>
              <p:spPr>
                <a:xfrm>
                  <a:off x="2504" y="1248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4" name="Group 67"/>
              <p:cNvGrpSpPr/>
              <p:nvPr/>
            </p:nvGrpSpPr>
            <p:grpSpPr>
              <a:xfrm>
                <a:off x="0" y="1632"/>
                <a:ext cx="518" cy="384"/>
                <a:chOff x="0" y="1632"/>
                <a:chExt cx="518" cy="384"/>
              </a:xfrm>
            </p:grpSpPr>
            <p:sp>
              <p:nvSpPr>
                <p:cNvPr id="36982" name="Rectangle 68"/>
                <p:cNvSpPr/>
                <p:nvPr/>
              </p:nvSpPr>
              <p:spPr>
                <a:xfrm>
                  <a:off x="43" y="1632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83" name="Rectangle 69"/>
                <p:cNvSpPr/>
                <p:nvPr/>
              </p:nvSpPr>
              <p:spPr>
                <a:xfrm>
                  <a:off x="0" y="1632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5" name="Group 70"/>
              <p:cNvGrpSpPr/>
              <p:nvPr/>
            </p:nvGrpSpPr>
            <p:grpSpPr>
              <a:xfrm>
                <a:off x="518" y="1632"/>
                <a:ext cx="662" cy="384"/>
                <a:chOff x="518" y="1632"/>
                <a:chExt cx="662" cy="384"/>
              </a:xfrm>
            </p:grpSpPr>
            <p:sp>
              <p:nvSpPr>
                <p:cNvPr id="36980" name="Rectangle 71"/>
                <p:cNvSpPr/>
                <p:nvPr/>
              </p:nvSpPr>
              <p:spPr>
                <a:xfrm>
                  <a:off x="561" y="1632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数据结构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81" name="Rectangle 72"/>
                <p:cNvSpPr/>
                <p:nvPr/>
              </p:nvSpPr>
              <p:spPr>
                <a:xfrm>
                  <a:off x="518" y="1632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6" name="Group 73"/>
              <p:cNvGrpSpPr/>
              <p:nvPr/>
            </p:nvGrpSpPr>
            <p:grpSpPr>
              <a:xfrm>
                <a:off x="1180" y="1632"/>
                <a:ext cx="446" cy="384"/>
                <a:chOff x="1180" y="1632"/>
                <a:chExt cx="446" cy="384"/>
              </a:xfrm>
            </p:grpSpPr>
            <p:sp>
              <p:nvSpPr>
                <p:cNvPr id="36978" name="Rectangle 74"/>
                <p:cNvSpPr/>
                <p:nvPr/>
              </p:nvSpPr>
              <p:spPr>
                <a:xfrm>
                  <a:off x="1223" y="1632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79" name="Rectangle 75"/>
                <p:cNvSpPr/>
                <p:nvPr/>
              </p:nvSpPr>
              <p:spPr>
                <a:xfrm>
                  <a:off x="1180" y="1632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7" name="Group 76"/>
              <p:cNvGrpSpPr/>
              <p:nvPr/>
            </p:nvGrpSpPr>
            <p:grpSpPr>
              <a:xfrm>
                <a:off x="1626" y="1632"/>
                <a:ext cx="878" cy="384"/>
                <a:chOff x="1626" y="1632"/>
                <a:chExt cx="878" cy="384"/>
              </a:xfrm>
            </p:grpSpPr>
            <p:sp>
              <p:nvSpPr>
                <p:cNvPr id="36976" name="Rectangle 77"/>
                <p:cNvSpPr/>
                <p:nvPr/>
              </p:nvSpPr>
              <p:spPr>
                <a:xfrm>
                  <a:off x="1669" y="1632"/>
                  <a:ext cx="79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数学；计算机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77" name="Rectangle 78"/>
                <p:cNvSpPr/>
                <p:nvPr/>
              </p:nvSpPr>
              <p:spPr>
                <a:xfrm>
                  <a:off x="1626" y="1632"/>
                  <a:ext cx="87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8" name="Group 79"/>
              <p:cNvGrpSpPr/>
              <p:nvPr/>
            </p:nvGrpSpPr>
            <p:grpSpPr>
              <a:xfrm>
                <a:off x="2504" y="1632"/>
                <a:ext cx="950" cy="384"/>
                <a:chOff x="2504" y="1632"/>
                <a:chExt cx="950" cy="384"/>
              </a:xfrm>
            </p:grpSpPr>
            <p:sp>
              <p:nvSpPr>
                <p:cNvPr id="36974" name="Rectangle 80"/>
                <p:cNvSpPr/>
                <p:nvPr/>
              </p:nvSpPr>
              <p:spPr>
                <a:xfrm>
                  <a:off x="2547" y="1632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计算机编程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75" name="Rectangle 81"/>
                <p:cNvSpPr/>
                <p:nvPr/>
              </p:nvSpPr>
              <p:spPr>
                <a:xfrm>
                  <a:off x="2504" y="1632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899" name="Group 82"/>
              <p:cNvGrpSpPr/>
              <p:nvPr/>
            </p:nvGrpSpPr>
            <p:grpSpPr>
              <a:xfrm>
                <a:off x="0" y="2016"/>
                <a:ext cx="518" cy="384"/>
                <a:chOff x="0" y="2016"/>
                <a:chExt cx="518" cy="384"/>
              </a:xfrm>
            </p:grpSpPr>
            <p:sp>
              <p:nvSpPr>
                <p:cNvPr id="36972" name="Rectangle 83"/>
                <p:cNvSpPr/>
                <p:nvPr/>
              </p:nvSpPr>
              <p:spPr>
                <a:xfrm>
                  <a:off x="43" y="2016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5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73" name="Rectangle 84"/>
                <p:cNvSpPr/>
                <p:nvPr/>
              </p:nvSpPr>
              <p:spPr>
                <a:xfrm>
                  <a:off x="0" y="2016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0" name="Group 85"/>
              <p:cNvGrpSpPr/>
              <p:nvPr/>
            </p:nvGrpSpPr>
            <p:grpSpPr>
              <a:xfrm>
                <a:off x="518" y="2016"/>
                <a:ext cx="662" cy="384"/>
                <a:chOff x="518" y="2016"/>
                <a:chExt cx="662" cy="384"/>
              </a:xfrm>
            </p:grpSpPr>
            <p:sp>
              <p:nvSpPr>
                <p:cNvPr id="36970" name="Rectangle 86"/>
                <p:cNvSpPr/>
                <p:nvPr/>
              </p:nvSpPr>
              <p:spPr>
                <a:xfrm>
                  <a:off x="561" y="2016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应用统计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71" name="Rectangle 87"/>
                <p:cNvSpPr/>
                <p:nvPr/>
              </p:nvSpPr>
              <p:spPr>
                <a:xfrm>
                  <a:off x="518" y="2016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1" name="Group 88"/>
              <p:cNvGrpSpPr/>
              <p:nvPr/>
            </p:nvGrpSpPr>
            <p:grpSpPr>
              <a:xfrm>
                <a:off x="1180" y="2016"/>
                <a:ext cx="446" cy="384"/>
                <a:chOff x="1180" y="2016"/>
                <a:chExt cx="446" cy="384"/>
              </a:xfrm>
            </p:grpSpPr>
            <p:sp>
              <p:nvSpPr>
                <p:cNvPr id="36968" name="Rectangle 89"/>
                <p:cNvSpPr/>
                <p:nvPr/>
              </p:nvSpPr>
              <p:spPr>
                <a:xfrm>
                  <a:off x="1223" y="2016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69" name="Rectangle 90"/>
                <p:cNvSpPr/>
                <p:nvPr/>
              </p:nvSpPr>
              <p:spPr>
                <a:xfrm>
                  <a:off x="1180" y="2016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2" name="Group 91"/>
              <p:cNvGrpSpPr/>
              <p:nvPr/>
            </p:nvGrpSpPr>
            <p:grpSpPr>
              <a:xfrm>
                <a:off x="1626" y="2016"/>
                <a:ext cx="878" cy="384"/>
                <a:chOff x="1626" y="2016"/>
                <a:chExt cx="878" cy="384"/>
              </a:xfrm>
            </p:grpSpPr>
            <p:sp>
              <p:nvSpPr>
                <p:cNvPr id="36966" name="Rectangle 92"/>
                <p:cNvSpPr/>
                <p:nvPr/>
              </p:nvSpPr>
              <p:spPr>
                <a:xfrm>
                  <a:off x="1669" y="2016"/>
                  <a:ext cx="79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数学；运筹学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67" name="Rectangle 93"/>
                <p:cNvSpPr/>
                <p:nvPr/>
              </p:nvSpPr>
              <p:spPr>
                <a:xfrm>
                  <a:off x="1626" y="2016"/>
                  <a:ext cx="87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3" name="Group 94"/>
              <p:cNvGrpSpPr/>
              <p:nvPr/>
            </p:nvGrpSpPr>
            <p:grpSpPr>
              <a:xfrm>
                <a:off x="2504" y="2016"/>
                <a:ext cx="950" cy="384"/>
                <a:chOff x="2504" y="2016"/>
                <a:chExt cx="950" cy="384"/>
              </a:xfrm>
            </p:grpSpPr>
            <p:sp>
              <p:nvSpPr>
                <p:cNvPr id="36964" name="Rectangle 95"/>
                <p:cNvSpPr/>
                <p:nvPr/>
              </p:nvSpPr>
              <p:spPr>
                <a:xfrm>
                  <a:off x="2547" y="2016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微积分；线性代数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65" name="Rectangle 96"/>
                <p:cNvSpPr/>
                <p:nvPr/>
              </p:nvSpPr>
              <p:spPr>
                <a:xfrm>
                  <a:off x="2504" y="2016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4" name="Group 97"/>
              <p:cNvGrpSpPr/>
              <p:nvPr/>
            </p:nvGrpSpPr>
            <p:grpSpPr>
              <a:xfrm>
                <a:off x="0" y="2400"/>
                <a:ext cx="518" cy="384"/>
                <a:chOff x="0" y="2400"/>
                <a:chExt cx="518" cy="384"/>
              </a:xfrm>
            </p:grpSpPr>
            <p:sp>
              <p:nvSpPr>
                <p:cNvPr id="36962" name="Rectangle 98"/>
                <p:cNvSpPr/>
                <p:nvPr/>
              </p:nvSpPr>
              <p:spPr>
                <a:xfrm>
                  <a:off x="43" y="2400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6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63" name="Rectangle 99"/>
                <p:cNvSpPr/>
                <p:nvPr/>
              </p:nvSpPr>
              <p:spPr>
                <a:xfrm>
                  <a:off x="0" y="2400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5" name="Group 100"/>
              <p:cNvGrpSpPr/>
              <p:nvPr/>
            </p:nvGrpSpPr>
            <p:grpSpPr>
              <a:xfrm>
                <a:off x="518" y="2400"/>
                <a:ext cx="662" cy="384"/>
                <a:chOff x="518" y="2400"/>
                <a:chExt cx="662" cy="384"/>
              </a:xfrm>
            </p:grpSpPr>
            <p:sp>
              <p:nvSpPr>
                <p:cNvPr id="36960" name="Rectangle 101"/>
                <p:cNvSpPr/>
                <p:nvPr/>
              </p:nvSpPr>
              <p:spPr>
                <a:xfrm>
                  <a:off x="561" y="2400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计算机模拟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61" name="Rectangle 102"/>
                <p:cNvSpPr/>
                <p:nvPr/>
              </p:nvSpPr>
              <p:spPr>
                <a:xfrm>
                  <a:off x="518" y="2400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6" name="Group 103"/>
              <p:cNvGrpSpPr/>
              <p:nvPr/>
            </p:nvGrpSpPr>
            <p:grpSpPr>
              <a:xfrm>
                <a:off x="1180" y="2400"/>
                <a:ext cx="446" cy="384"/>
                <a:chOff x="1180" y="2400"/>
                <a:chExt cx="446" cy="384"/>
              </a:xfrm>
            </p:grpSpPr>
            <p:sp>
              <p:nvSpPr>
                <p:cNvPr id="36958" name="Rectangle 104"/>
                <p:cNvSpPr/>
                <p:nvPr/>
              </p:nvSpPr>
              <p:spPr>
                <a:xfrm>
                  <a:off x="1223" y="2400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59" name="Rectangle 105"/>
                <p:cNvSpPr/>
                <p:nvPr/>
              </p:nvSpPr>
              <p:spPr>
                <a:xfrm>
                  <a:off x="1180" y="2400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7" name="Group 106"/>
              <p:cNvGrpSpPr/>
              <p:nvPr/>
            </p:nvGrpSpPr>
            <p:grpSpPr>
              <a:xfrm>
                <a:off x="1626" y="2400"/>
                <a:ext cx="878" cy="384"/>
                <a:chOff x="1626" y="2400"/>
                <a:chExt cx="878" cy="384"/>
              </a:xfrm>
            </p:grpSpPr>
            <p:sp>
              <p:nvSpPr>
                <p:cNvPr id="36956" name="Rectangle 107"/>
                <p:cNvSpPr/>
                <p:nvPr/>
              </p:nvSpPr>
              <p:spPr>
                <a:xfrm>
                  <a:off x="1669" y="2400"/>
                  <a:ext cx="79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计算机；运筹学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57" name="Rectangle 108"/>
                <p:cNvSpPr/>
                <p:nvPr/>
              </p:nvSpPr>
              <p:spPr>
                <a:xfrm>
                  <a:off x="1626" y="2400"/>
                  <a:ext cx="87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8" name="Group 109"/>
              <p:cNvGrpSpPr/>
              <p:nvPr/>
            </p:nvGrpSpPr>
            <p:grpSpPr>
              <a:xfrm>
                <a:off x="2504" y="2400"/>
                <a:ext cx="950" cy="384"/>
                <a:chOff x="2504" y="2400"/>
                <a:chExt cx="950" cy="384"/>
              </a:xfrm>
            </p:grpSpPr>
            <p:sp>
              <p:nvSpPr>
                <p:cNvPr id="36954" name="Rectangle 110"/>
                <p:cNvSpPr/>
                <p:nvPr/>
              </p:nvSpPr>
              <p:spPr>
                <a:xfrm>
                  <a:off x="2547" y="2400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计算机编程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55" name="Rectangle 111"/>
                <p:cNvSpPr/>
                <p:nvPr/>
              </p:nvSpPr>
              <p:spPr>
                <a:xfrm>
                  <a:off x="2504" y="2400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09" name="Group 112"/>
              <p:cNvGrpSpPr/>
              <p:nvPr/>
            </p:nvGrpSpPr>
            <p:grpSpPr>
              <a:xfrm>
                <a:off x="0" y="2784"/>
                <a:ext cx="518" cy="384"/>
                <a:chOff x="0" y="2784"/>
                <a:chExt cx="518" cy="384"/>
              </a:xfrm>
            </p:grpSpPr>
            <p:sp>
              <p:nvSpPr>
                <p:cNvPr id="36952" name="Rectangle 113"/>
                <p:cNvSpPr/>
                <p:nvPr/>
              </p:nvSpPr>
              <p:spPr>
                <a:xfrm>
                  <a:off x="43" y="2784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7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53" name="Rectangle 114"/>
                <p:cNvSpPr/>
                <p:nvPr/>
              </p:nvSpPr>
              <p:spPr>
                <a:xfrm>
                  <a:off x="0" y="2784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0" name="Group 115"/>
              <p:cNvGrpSpPr/>
              <p:nvPr/>
            </p:nvGrpSpPr>
            <p:grpSpPr>
              <a:xfrm>
                <a:off x="518" y="2784"/>
                <a:ext cx="662" cy="384"/>
                <a:chOff x="518" y="2784"/>
                <a:chExt cx="662" cy="384"/>
              </a:xfrm>
            </p:grpSpPr>
            <p:sp>
              <p:nvSpPr>
                <p:cNvPr id="36950" name="Rectangle 116"/>
                <p:cNvSpPr/>
                <p:nvPr/>
              </p:nvSpPr>
              <p:spPr>
                <a:xfrm>
                  <a:off x="561" y="2784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计算机编程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51" name="Rectangle 117"/>
                <p:cNvSpPr/>
                <p:nvPr/>
              </p:nvSpPr>
              <p:spPr>
                <a:xfrm>
                  <a:off x="518" y="2784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1" name="Group 118"/>
              <p:cNvGrpSpPr/>
              <p:nvPr/>
            </p:nvGrpSpPr>
            <p:grpSpPr>
              <a:xfrm>
                <a:off x="1180" y="2784"/>
                <a:ext cx="446" cy="384"/>
                <a:chOff x="1180" y="2784"/>
                <a:chExt cx="446" cy="384"/>
              </a:xfrm>
            </p:grpSpPr>
            <p:sp>
              <p:nvSpPr>
                <p:cNvPr id="36948" name="Rectangle 119"/>
                <p:cNvSpPr/>
                <p:nvPr/>
              </p:nvSpPr>
              <p:spPr>
                <a:xfrm>
                  <a:off x="1223" y="2784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49" name="Rectangle 120"/>
                <p:cNvSpPr/>
                <p:nvPr/>
              </p:nvSpPr>
              <p:spPr>
                <a:xfrm>
                  <a:off x="1180" y="2784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2" name="Group 121"/>
              <p:cNvGrpSpPr/>
              <p:nvPr/>
            </p:nvGrpSpPr>
            <p:grpSpPr>
              <a:xfrm>
                <a:off x="1626" y="2784"/>
                <a:ext cx="878" cy="384"/>
                <a:chOff x="1626" y="2784"/>
                <a:chExt cx="878" cy="384"/>
              </a:xfrm>
            </p:grpSpPr>
            <p:sp>
              <p:nvSpPr>
                <p:cNvPr id="36946" name="Rectangle 122"/>
                <p:cNvSpPr/>
                <p:nvPr/>
              </p:nvSpPr>
              <p:spPr>
                <a:xfrm>
                  <a:off x="1669" y="2784"/>
                  <a:ext cx="79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计算机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47" name="Rectangle 123"/>
                <p:cNvSpPr/>
                <p:nvPr/>
              </p:nvSpPr>
              <p:spPr>
                <a:xfrm>
                  <a:off x="1626" y="2784"/>
                  <a:ext cx="87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3" name="Group 124"/>
              <p:cNvGrpSpPr/>
              <p:nvPr/>
            </p:nvGrpSpPr>
            <p:grpSpPr>
              <a:xfrm>
                <a:off x="2504" y="2784"/>
                <a:ext cx="950" cy="384"/>
                <a:chOff x="2504" y="2784"/>
                <a:chExt cx="950" cy="384"/>
              </a:xfrm>
            </p:grpSpPr>
            <p:sp>
              <p:nvSpPr>
                <p:cNvPr id="36944" name="Rectangle 125"/>
                <p:cNvSpPr/>
                <p:nvPr/>
              </p:nvSpPr>
              <p:spPr>
                <a:xfrm>
                  <a:off x="2547" y="2784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45" name="Rectangle 126"/>
                <p:cNvSpPr/>
                <p:nvPr/>
              </p:nvSpPr>
              <p:spPr>
                <a:xfrm>
                  <a:off x="2504" y="2784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4" name="Group 127"/>
              <p:cNvGrpSpPr/>
              <p:nvPr/>
            </p:nvGrpSpPr>
            <p:grpSpPr>
              <a:xfrm>
                <a:off x="0" y="3168"/>
                <a:ext cx="518" cy="384"/>
                <a:chOff x="0" y="3168"/>
                <a:chExt cx="518" cy="384"/>
              </a:xfrm>
            </p:grpSpPr>
            <p:sp>
              <p:nvSpPr>
                <p:cNvPr id="36942" name="Rectangle 128"/>
                <p:cNvSpPr/>
                <p:nvPr/>
              </p:nvSpPr>
              <p:spPr>
                <a:xfrm>
                  <a:off x="43" y="3168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8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43" name="Rectangle 129"/>
                <p:cNvSpPr/>
                <p:nvPr/>
              </p:nvSpPr>
              <p:spPr>
                <a:xfrm>
                  <a:off x="0" y="3168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5" name="Group 130"/>
              <p:cNvGrpSpPr/>
              <p:nvPr/>
            </p:nvGrpSpPr>
            <p:grpSpPr>
              <a:xfrm>
                <a:off x="518" y="3168"/>
                <a:ext cx="662" cy="384"/>
                <a:chOff x="518" y="3168"/>
                <a:chExt cx="662" cy="384"/>
              </a:xfrm>
            </p:grpSpPr>
            <p:sp>
              <p:nvSpPr>
                <p:cNvPr id="36940" name="Rectangle 131"/>
                <p:cNvSpPr/>
                <p:nvPr/>
              </p:nvSpPr>
              <p:spPr>
                <a:xfrm>
                  <a:off x="561" y="3168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预测理论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41" name="Rectangle 132"/>
                <p:cNvSpPr/>
                <p:nvPr/>
              </p:nvSpPr>
              <p:spPr>
                <a:xfrm>
                  <a:off x="518" y="3168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6" name="Group 133"/>
              <p:cNvGrpSpPr/>
              <p:nvPr/>
            </p:nvGrpSpPr>
            <p:grpSpPr>
              <a:xfrm>
                <a:off x="1180" y="3168"/>
                <a:ext cx="446" cy="384"/>
                <a:chOff x="1180" y="3168"/>
                <a:chExt cx="446" cy="384"/>
              </a:xfrm>
            </p:grpSpPr>
            <p:sp>
              <p:nvSpPr>
                <p:cNvPr id="36938" name="Rectangle 134"/>
                <p:cNvSpPr/>
                <p:nvPr/>
              </p:nvSpPr>
              <p:spPr>
                <a:xfrm>
                  <a:off x="1223" y="3168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39" name="Rectangle 135"/>
                <p:cNvSpPr/>
                <p:nvPr/>
              </p:nvSpPr>
              <p:spPr>
                <a:xfrm>
                  <a:off x="1180" y="3168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7" name="Group 136"/>
              <p:cNvGrpSpPr/>
              <p:nvPr/>
            </p:nvGrpSpPr>
            <p:grpSpPr>
              <a:xfrm>
                <a:off x="1626" y="3168"/>
                <a:ext cx="878" cy="384"/>
                <a:chOff x="1626" y="3168"/>
                <a:chExt cx="878" cy="384"/>
              </a:xfrm>
            </p:grpSpPr>
            <p:sp>
              <p:nvSpPr>
                <p:cNvPr id="36936" name="Rectangle 137"/>
                <p:cNvSpPr/>
                <p:nvPr/>
              </p:nvSpPr>
              <p:spPr>
                <a:xfrm>
                  <a:off x="1669" y="3168"/>
                  <a:ext cx="79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运筹学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37" name="Rectangle 138"/>
                <p:cNvSpPr/>
                <p:nvPr/>
              </p:nvSpPr>
              <p:spPr>
                <a:xfrm>
                  <a:off x="1626" y="3168"/>
                  <a:ext cx="87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8" name="Group 139"/>
              <p:cNvGrpSpPr/>
              <p:nvPr/>
            </p:nvGrpSpPr>
            <p:grpSpPr>
              <a:xfrm>
                <a:off x="2504" y="3168"/>
                <a:ext cx="950" cy="384"/>
                <a:chOff x="2504" y="3168"/>
                <a:chExt cx="950" cy="384"/>
              </a:xfrm>
            </p:grpSpPr>
            <p:sp>
              <p:nvSpPr>
                <p:cNvPr id="36934" name="Rectangle 140"/>
                <p:cNvSpPr/>
                <p:nvPr/>
              </p:nvSpPr>
              <p:spPr>
                <a:xfrm>
                  <a:off x="2547" y="3168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应用统计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35" name="Rectangle 141"/>
                <p:cNvSpPr/>
                <p:nvPr/>
              </p:nvSpPr>
              <p:spPr>
                <a:xfrm>
                  <a:off x="2504" y="3168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19" name="Group 142"/>
              <p:cNvGrpSpPr/>
              <p:nvPr/>
            </p:nvGrpSpPr>
            <p:grpSpPr>
              <a:xfrm>
                <a:off x="0" y="3552"/>
                <a:ext cx="518" cy="384"/>
                <a:chOff x="0" y="3552"/>
                <a:chExt cx="518" cy="384"/>
              </a:xfrm>
            </p:grpSpPr>
            <p:sp>
              <p:nvSpPr>
                <p:cNvPr id="36932" name="Rectangle 143"/>
                <p:cNvSpPr/>
                <p:nvPr/>
              </p:nvSpPr>
              <p:spPr>
                <a:xfrm>
                  <a:off x="43" y="3552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9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33" name="Rectangle 144"/>
                <p:cNvSpPr/>
                <p:nvPr/>
              </p:nvSpPr>
              <p:spPr>
                <a:xfrm>
                  <a:off x="0" y="3552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20" name="Group 145"/>
              <p:cNvGrpSpPr/>
              <p:nvPr/>
            </p:nvGrpSpPr>
            <p:grpSpPr>
              <a:xfrm>
                <a:off x="518" y="3552"/>
                <a:ext cx="662" cy="384"/>
                <a:chOff x="518" y="3552"/>
                <a:chExt cx="662" cy="384"/>
              </a:xfrm>
            </p:grpSpPr>
            <p:sp>
              <p:nvSpPr>
                <p:cNvPr id="36930" name="Rectangle 146"/>
                <p:cNvSpPr/>
                <p:nvPr/>
              </p:nvSpPr>
              <p:spPr>
                <a:xfrm>
                  <a:off x="561" y="3552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数学实验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31" name="Rectangle 147"/>
                <p:cNvSpPr/>
                <p:nvPr/>
              </p:nvSpPr>
              <p:spPr>
                <a:xfrm>
                  <a:off x="518" y="3552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21" name="Group 148"/>
              <p:cNvGrpSpPr/>
              <p:nvPr/>
            </p:nvGrpSpPr>
            <p:grpSpPr>
              <a:xfrm>
                <a:off x="1180" y="3552"/>
                <a:ext cx="446" cy="384"/>
                <a:chOff x="1180" y="3552"/>
                <a:chExt cx="446" cy="384"/>
              </a:xfrm>
            </p:grpSpPr>
            <p:sp>
              <p:nvSpPr>
                <p:cNvPr id="36928" name="Rectangle 149"/>
                <p:cNvSpPr/>
                <p:nvPr/>
              </p:nvSpPr>
              <p:spPr>
                <a:xfrm>
                  <a:off x="1223" y="3552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29" name="Rectangle 150"/>
                <p:cNvSpPr/>
                <p:nvPr/>
              </p:nvSpPr>
              <p:spPr>
                <a:xfrm>
                  <a:off x="1180" y="3552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22" name="Group 151"/>
              <p:cNvGrpSpPr/>
              <p:nvPr/>
            </p:nvGrpSpPr>
            <p:grpSpPr>
              <a:xfrm>
                <a:off x="1626" y="3552"/>
                <a:ext cx="878" cy="384"/>
                <a:chOff x="1626" y="3552"/>
                <a:chExt cx="878" cy="384"/>
              </a:xfrm>
            </p:grpSpPr>
            <p:sp>
              <p:nvSpPr>
                <p:cNvPr id="36926" name="Rectangle 152"/>
                <p:cNvSpPr/>
                <p:nvPr/>
              </p:nvSpPr>
              <p:spPr>
                <a:xfrm>
                  <a:off x="1669" y="3552"/>
                  <a:ext cx="79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运筹学；计算机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27" name="Rectangle 153"/>
                <p:cNvSpPr/>
                <p:nvPr/>
              </p:nvSpPr>
              <p:spPr>
                <a:xfrm>
                  <a:off x="1626" y="3552"/>
                  <a:ext cx="87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23" name="Group 154"/>
              <p:cNvGrpSpPr/>
              <p:nvPr/>
            </p:nvGrpSpPr>
            <p:grpSpPr>
              <a:xfrm>
                <a:off x="2504" y="3552"/>
                <a:ext cx="950" cy="384"/>
                <a:chOff x="2504" y="3552"/>
                <a:chExt cx="950" cy="384"/>
              </a:xfrm>
            </p:grpSpPr>
            <p:sp>
              <p:nvSpPr>
                <p:cNvPr id="36924" name="Rectangle 155"/>
                <p:cNvSpPr/>
                <p:nvPr/>
              </p:nvSpPr>
              <p:spPr>
                <a:xfrm>
                  <a:off x="2547" y="3552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微积分；线性代数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25" name="Rectangle 156"/>
                <p:cNvSpPr/>
                <p:nvPr/>
              </p:nvSpPr>
              <p:spPr>
                <a:xfrm>
                  <a:off x="2504" y="3552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36873" name="Rectangle 157"/>
            <p:cNvSpPr/>
            <p:nvPr/>
          </p:nvSpPr>
          <p:spPr>
            <a:xfrm>
              <a:off x="-3" y="-3"/>
              <a:ext cx="3460" cy="3942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5454" name="Text Box 158"/>
          <p:cNvSpPr txBox="1"/>
          <p:nvPr/>
        </p:nvSpPr>
        <p:spPr>
          <a:xfrm>
            <a:off x="228600" y="5970588"/>
            <a:ext cx="8534400" cy="582612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选修课程最少，且学分尽量多，应学习哪些课程 ？</a:t>
            </a: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6866" name="Object 159"/>
          <p:cNvGraphicFramePr/>
          <p:nvPr/>
        </p:nvGraphicFramePr>
        <p:xfrm>
          <a:off x="7467600" y="476250"/>
          <a:ext cx="83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1" imgW="762000" imgH="434340" progId="MS_ClipArt_Gallery.2">
                  <p:embed/>
                </p:oleObj>
              </mc:Choice>
              <mc:Fallback>
                <p:oleObj name="" r:id="rId1" imgW="762000" imgH="434340" progId="MS_ClipArt_Gallery.2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67600" y="476250"/>
                        <a:ext cx="8382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5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animBg="1"/>
      <p:bldP spid="55300" grpId="0" animBg="1"/>
      <p:bldP spid="5545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4" name="Rectangle 2"/>
          <p:cNvSpPr/>
          <p:nvPr/>
        </p:nvSpPr>
        <p:spPr>
          <a:xfrm>
            <a:off x="381000" y="381000"/>
            <a:ext cx="2514600" cy="5334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anchor="ctr"/>
          <a:p>
            <a:pPr algn="ctr"/>
            <a:r>
              <a:rPr lang="en-US" altLang="zh-CN" sz="3200" b="1">
                <a:latin typeface="Times New Roman" panose="02020603050405020304" pitchFamily="18" charset="0"/>
              </a:rPr>
              <a:t>0-1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规划模型</a:t>
            </a:r>
            <a:r>
              <a:rPr lang="zh-CN" altLang="en-US" sz="3200" b="1" dirty="0">
                <a:latin typeface="宋体" panose="02010600030101010101" pitchFamily="2" charset="-122"/>
              </a:rPr>
              <a:t> 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3" name="Text Box 3"/>
          <p:cNvSpPr txBox="1"/>
          <p:nvPr/>
        </p:nvSpPr>
        <p:spPr>
          <a:xfrm>
            <a:off x="6324600" y="490538"/>
            <a:ext cx="1676400" cy="519112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决策变量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6324" name="Text Box 4"/>
          <p:cNvSpPr txBox="1"/>
          <p:nvPr/>
        </p:nvSpPr>
        <p:spPr>
          <a:xfrm>
            <a:off x="6400800" y="2319338"/>
            <a:ext cx="1676400" cy="519112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目标函数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6325" name="Text Box 5"/>
          <p:cNvSpPr txBox="1"/>
          <p:nvPr/>
        </p:nvSpPr>
        <p:spPr>
          <a:xfrm>
            <a:off x="5724525" y="1125538"/>
            <a:ext cx="3249613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30000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=1 ~</a:t>
            </a:r>
            <a:r>
              <a:rPr lang="zh-CN" altLang="en-US" sz="2800" b="1" dirty="0">
                <a:latin typeface="宋体" panose="02010600030101010101" pitchFamily="2" charset="-122"/>
              </a:rPr>
              <a:t>选修课号</a:t>
            </a:r>
            <a:r>
              <a:rPr lang="en-US" altLang="zh-CN" sz="2800" b="1" i="1">
                <a:latin typeface="Times New Roman" panose="02020603050405020304" pitchFamily="18" charset="0"/>
              </a:rPr>
              <a:t>i </a:t>
            </a:r>
            <a:r>
              <a:rPr lang="zh-CN" altLang="en-US" sz="2800" b="1" dirty="0">
                <a:latin typeface="宋体" panose="02010600030101010101" pitchFamily="2" charset="-122"/>
              </a:rPr>
              <a:t>的课程（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30000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=0 ~</a:t>
            </a:r>
            <a:r>
              <a:rPr lang="zh-CN" altLang="en-US" sz="2800" b="1" dirty="0">
                <a:latin typeface="宋体" panose="02010600030101010101" pitchFamily="2" charset="-122"/>
              </a:rPr>
              <a:t>不选）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7890" name="Object 6"/>
          <p:cNvGraphicFramePr/>
          <p:nvPr/>
        </p:nvGraphicFramePr>
        <p:xfrm>
          <a:off x="5961063" y="3614738"/>
          <a:ext cx="2632075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" r:id="rId1" imgW="989965" imgH="431800" progId="Equation.3">
                  <p:embed/>
                </p:oleObj>
              </mc:Choice>
              <mc:Fallback>
                <p:oleObj name="" r:id="rId1" imgW="989965" imgH="431800" progId="Equation.3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61063" y="3614738"/>
                        <a:ext cx="2632075" cy="1109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7" name="Text Box 7"/>
          <p:cNvSpPr txBox="1"/>
          <p:nvPr/>
        </p:nvSpPr>
        <p:spPr>
          <a:xfrm>
            <a:off x="5715000" y="2928938"/>
            <a:ext cx="3124200" cy="604837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选修课程总数最少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6328" name="Text Box 8"/>
          <p:cNvSpPr txBox="1"/>
          <p:nvPr/>
        </p:nvSpPr>
        <p:spPr>
          <a:xfrm>
            <a:off x="228600" y="5410200"/>
            <a:ext cx="1676400" cy="519113"/>
          </a:xfrm>
          <a:prstGeom prst="rect">
            <a:avLst/>
          </a:prstGeom>
          <a:solidFill>
            <a:srgbClr val="99FFCC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约束条件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329" name="Text Box 9"/>
          <p:cNvSpPr txBox="1"/>
          <p:nvPr/>
        </p:nvSpPr>
        <p:spPr>
          <a:xfrm>
            <a:off x="2051050" y="4953000"/>
            <a:ext cx="2952750" cy="1630363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最少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</a:rPr>
              <a:t>门数学课，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</a:rPr>
              <a:t>门运筹学课，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</a:rPr>
              <a:t>门计算机课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56330" name="Object 10"/>
          <p:cNvGraphicFramePr/>
          <p:nvPr/>
        </p:nvGraphicFramePr>
        <p:xfrm>
          <a:off x="5257800" y="4800600"/>
          <a:ext cx="34290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" r:id="rId3" imgW="1574800" imgH="228600" progId="Equation.3">
                  <p:embed/>
                </p:oleObj>
              </mc:Choice>
              <mc:Fallback>
                <p:oleObj name="" r:id="rId3" imgW="1574800" imgH="228600" progId="Equation.3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57800" y="4800600"/>
                        <a:ext cx="3429000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1" name="Object 11"/>
          <p:cNvGraphicFramePr/>
          <p:nvPr/>
        </p:nvGraphicFramePr>
        <p:xfrm>
          <a:off x="5257800" y="5410200"/>
          <a:ext cx="35814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" r:id="rId5" imgW="1562100" imgH="228600" progId="Equation.3">
                  <p:embed/>
                </p:oleObj>
              </mc:Choice>
              <mc:Fallback>
                <p:oleObj name="" r:id="rId5" imgW="1562100" imgH="228600" progId="Equation.3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57800" y="5410200"/>
                        <a:ext cx="3581400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2" name="Object 12"/>
          <p:cNvGraphicFramePr/>
          <p:nvPr/>
        </p:nvGraphicFramePr>
        <p:xfrm>
          <a:off x="5257800" y="5992813"/>
          <a:ext cx="29718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7" imgW="1308100" imgH="228600" progId="Equation.3">
                  <p:embed/>
                </p:oleObj>
              </mc:Choice>
              <mc:Fallback>
                <p:oleObj name="" r:id="rId7" imgW="1308100" imgH="228600" progId="Equation.3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57800" y="5992813"/>
                        <a:ext cx="2971800" cy="560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/>
          <p:nvPr/>
        </p:nvGrpSpPr>
        <p:grpSpPr>
          <a:xfrm>
            <a:off x="381000" y="1069975"/>
            <a:ext cx="4911725" cy="3806825"/>
            <a:chOff x="336" y="480"/>
            <a:chExt cx="3094" cy="2398"/>
          </a:xfrm>
        </p:grpSpPr>
        <p:grpSp>
          <p:nvGrpSpPr>
            <p:cNvPr id="37902" name="Group 14"/>
            <p:cNvGrpSpPr/>
            <p:nvPr/>
          </p:nvGrpSpPr>
          <p:grpSpPr>
            <a:xfrm>
              <a:off x="336" y="480"/>
              <a:ext cx="531" cy="294"/>
              <a:chOff x="0" y="0"/>
              <a:chExt cx="518" cy="480"/>
            </a:xfrm>
          </p:grpSpPr>
          <p:sp>
            <p:nvSpPr>
              <p:cNvPr id="37990" name="Rectangle 15"/>
              <p:cNvSpPr/>
              <p:nvPr/>
            </p:nvSpPr>
            <p:spPr>
              <a:xfrm>
                <a:off x="43" y="0"/>
                <a:ext cx="432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课号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91" name="Rectangle 16"/>
              <p:cNvSpPr/>
              <p:nvPr/>
            </p:nvSpPr>
            <p:spPr>
              <a:xfrm>
                <a:off x="0" y="0"/>
                <a:ext cx="518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03" name="Group 17"/>
            <p:cNvGrpSpPr/>
            <p:nvPr/>
          </p:nvGrpSpPr>
          <p:grpSpPr>
            <a:xfrm>
              <a:off x="867" y="482"/>
              <a:ext cx="1102" cy="292"/>
              <a:chOff x="518" y="0"/>
              <a:chExt cx="662" cy="480"/>
            </a:xfrm>
          </p:grpSpPr>
          <p:sp>
            <p:nvSpPr>
              <p:cNvPr id="37988" name="Rectangle 18"/>
              <p:cNvSpPr/>
              <p:nvPr/>
            </p:nvSpPr>
            <p:spPr>
              <a:xfrm>
                <a:off x="561" y="0"/>
                <a:ext cx="576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课名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89" name="Rectangle 19"/>
              <p:cNvSpPr/>
              <p:nvPr/>
            </p:nvSpPr>
            <p:spPr>
              <a:xfrm>
                <a:off x="518" y="0"/>
                <a:ext cx="662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04" name="Group 20"/>
            <p:cNvGrpSpPr/>
            <p:nvPr/>
          </p:nvGrpSpPr>
          <p:grpSpPr>
            <a:xfrm>
              <a:off x="1968" y="482"/>
              <a:ext cx="1462" cy="292"/>
              <a:chOff x="1626" y="0"/>
              <a:chExt cx="878" cy="480"/>
            </a:xfrm>
          </p:grpSpPr>
          <p:sp>
            <p:nvSpPr>
              <p:cNvPr id="37986" name="Rectangle 21"/>
              <p:cNvSpPr/>
              <p:nvPr/>
            </p:nvSpPr>
            <p:spPr>
              <a:xfrm>
                <a:off x="1669" y="0"/>
                <a:ext cx="792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所属类别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87" name="Rectangle 22"/>
              <p:cNvSpPr/>
              <p:nvPr/>
            </p:nvSpPr>
            <p:spPr>
              <a:xfrm>
                <a:off x="1626" y="0"/>
                <a:ext cx="878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05" name="Group 23"/>
            <p:cNvGrpSpPr/>
            <p:nvPr/>
          </p:nvGrpSpPr>
          <p:grpSpPr>
            <a:xfrm>
              <a:off x="336" y="773"/>
              <a:ext cx="531" cy="235"/>
              <a:chOff x="0" y="480"/>
              <a:chExt cx="518" cy="384"/>
            </a:xfrm>
          </p:grpSpPr>
          <p:sp>
            <p:nvSpPr>
              <p:cNvPr id="37984" name="Rectangle 24"/>
              <p:cNvSpPr/>
              <p:nvPr/>
            </p:nvSpPr>
            <p:spPr>
              <a:xfrm>
                <a:off x="43" y="480"/>
                <a:ext cx="43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1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85" name="Rectangle 25"/>
              <p:cNvSpPr/>
              <p:nvPr/>
            </p:nvSpPr>
            <p:spPr>
              <a:xfrm>
                <a:off x="0" y="480"/>
                <a:ext cx="51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06" name="Group 26"/>
            <p:cNvGrpSpPr/>
            <p:nvPr/>
          </p:nvGrpSpPr>
          <p:grpSpPr>
            <a:xfrm>
              <a:off x="867" y="774"/>
              <a:ext cx="1102" cy="234"/>
              <a:chOff x="518" y="480"/>
              <a:chExt cx="662" cy="384"/>
            </a:xfrm>
          </p:grpSpPr>
          <p:sp>
            <p:nvSpPr>
              <p:cNvPr id="37982" name="Rectangle 27"/>
              <p:cNvSpPr/>
              <p:nvPr/>
            </p:nvSpPr>
            <p:spPr>
              <a:xfrm>
                <a:off x="561" y="480"/>
                <a:ext cx="576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微积分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83" name="Rectangle 28"/>
              <p:cNvSpPr/>
              <p:nvPr/>
            </p:nvSpPr>
            <p:spPr>
              <a:xfrm>
                <a:off x="518" y="480"/>
                <a:ext cx="662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07" name="Group 29"/>
            <p:cNvGrpSpPr/>
            <p:nvPr/>
          </p:nvGrpSpPr>
          <p:grpSpPr>
            <a:xfrm>
              <a:off x="1968" y="774"/>
              <a:ext cx="1462" cy="234"/>
              <a:chOff x="1626" y="480"/>
              <a:chExt cx="878" cy="384"/>
            </a:xfrm>
          </p:grpSpPr>
          <p:sp>
            <p:nvSpPr>
              <p:cNvPr id="37980" name="Rectangle 30"/>
              <p:cNvSpPr/>
              <p:nvPr/>
            </p:nvSpPr>
            <p:spPr>
              <a:xfrm>
                <a:off x="1669" y="480"/>
                <a:ext cx="79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数学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81" name="Rectangle 31"/>
              <p:cNvSpPr/>
              <p:nvPr/>
            </p:nvSpPr>
            <p:spPr>
              <a:xfrm>
                <a:off x="1626" y="480"/>
                <a:ext cx="87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08" name="Group 32"/>
            <p:cNvGrpSpPr/>
            <p:nvPr/>
          </p:nvGrpSpPr>
          <p:grpSpPr>
            <a:xfrm>
              <a:off x="336" y="1007"/>
              <a:ext cx="531" cy="235"/>
              <a:chOff x="0" y="864"/>
              <a:chExt cx="518" cy="384"/>
            </a:xfrm>
          </p:grpSpPr>
          <p:sp>
            <p:nvSpPr>
              <p:cNvPr id="37978" name="Rectangle 33"/>
              <p:cNvSpPr/>
              <p:nvPr/>
            </p:nvSpPr>
            <p:spPr>
              <a:xfrm>
                <a:off x="43" y="864"/>
                <a:ext cx="43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2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79" name="Rectangle 34"/>
              <p:cNvSpPr/>
              <p:nvPr/>
            </p:nvSpPr>
            <p:spPr>
              <a:xfrm>
                <a:off x="0" y="864"/>
                <a:ext cx="51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09" name="Group 35"/>
            <p:cNvGrpSpPr/>
            <p:nvPr/>
          </p:nvGrpSpPr>
          <p:grpSpPr>
            <a:xfrm>
              <a:off x="867" y="1008"/>
              <a:ext cx="1102" cy="234"/>
              <a:chOff x="518" y="864"/>
              <a:chExt cx="662" cy="384"/>
            </a:xfrm>
          </p:grpSpPr>
          <p:sp>
            <p:nvSpPr>
              <p:cNvPr id="37976" name="Rectangle 36"/>
              <p:cNvSpPr/>
              <p:nvPr/>
            </p:nvSpPr>
            <p:spPr>
              <a:xfrm>
                <a:off x="561" y="864"/>
                <a:ext cx="576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线性代数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77" name="Rectangle 37"/>
              <p:cNvSpPr/>
              <p:nvPr/>
            </p:nvSpPr>
            <p:spPr>
              <a:xfrm>
                <a:off x="518" y="864"/>
                <a:ext cx="662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10" name="Group 38"/>
            <p:cNvGrpSpPr/>
            <p:nvPr/>
          </p:nvGrpSpPr>
          <p:grpSpPr>
            <a:xfrm>
              <a:off x="1968" y="1008"/>
              <a:ext cx="1462" cy="234"/>
              <a:chOff x="1626" y="864"/>
              <a:chExt cx="878" cy="384"/>
            </a:xfrm>
          </p:grpSpPr>
          <p:sp>
            <p:nvSpPr>
              <p:cNvPr id="37974" name="Rectangle 39"/>
              <p:cNvSpPr/>
              <p:nvPr/>
            </p:nvSpPr>
            <p:spPr>
              <a:xfrm>
                <a:off x="1669" y="864"/>
                <a:ext cx="79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数学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75" name="Rectangle 40"/>
              <p:cNvSpPr/>
              <p:nvPr/>
            </p:nvSpPr>
            <p:spPr>
              <a:xfrm>
                <a:off x="1626" y="864"/>
                <a:ext cx="87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11" name="Group 41"/>
            <p:cNvGrpSpPr/>
            <p:nvPr/>
          </p:nvGrpSpPr>
          <p:grpSpPr>
            <a:xfrm>
              <a:off x="336" y="1241"/>
              <a:ext cx="531" cy="234"/>
              <a:chOff x="0" y="1248"/>
              <a:chExt cx="518" cy="384"/>
            </a:xfrm>
          </p:grpSpPr>
          <p:sp>
            <p:nvSpPr>
              <p:cNvPr id="37972" name="Rectangle 42"/>
              <p:cNvSpPr/>
              <p:nvPr/>
            </p:nvSpPr>
            <p:spPr>
              <a:xfrm>
                <a:off x="43" y="1248"/>
                <a:ext cx="43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3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73" name="Rectangle 43"/>
              <p:cNvSpPr/>
              <p:nvPr/>
            </p:nvSpPr>
            <p:spPr>
              <a:xfrm>
                <a:off x="0" y="1248"/>
                <a:ext cx="51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12" name="Group 44"/>
            <p:cNvGrpSpPr/>
            <p:nvPr/>
          </p:nvGrpSpPr>
          <p:grpSpPr>
            <a:xfrm>
              <a:off x="867" y="1242"/>
              <a:ext cx="1102" cy="233"/>
              <a:chOff x="518" y="1248"/>
              <a:chExt cx="662" cy="384"/>
            </a:xfrm>
          </p:grpSpPr>
          <p:sp>
            <p:nvSpPr>
              <p:cNvPr id="37970" name="Rectangle 45"/>
              <p:cNvSpPr/>
              <p:nvPr/>
            </p:nvSpPr>
            <p:spPr>
              <a:xfrm>
                <a:off x="561" y="1248"/>
                <a:ext cx="576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最优化方法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71" name="Rectangle 46"/>
              <p:cNvSpPr/>
              <p:nvPr/>
            </p:nvSpPr>
            <p:spPr>
              <a:xfrm>
                <a:off x="518" y="1248"/>
                <a:ext cx="662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13" name="Group 47"/>
            <p:cNvGrpSpPr/>
            <p:nvPr/>
          </p:nvGrpSpPr>
          <p:grpSpPr>
            <a:xfrm>
              <a:off x="1968" y="1242"/>
              <a:ext cx="1462" cy="233"/>
              <a:chOff x="1626" y="1248"/>
              <a:chExt cx="878" cy="384"/>
            </a:xfrm>
          </p:grpSpPr>
          <p:sp>
            <p:nvSpPr>
              <p:cNvPr id="37968" name="Rectangle 48"/>
              <p:cNvSpPr/>
              <p:nvPr/>
            </p:nvSpPr>
            <p:spPr>
              <a:xfrm>
                <a:off x="1669" y="1248"/>
                <a:ext cx="79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数学；运筹学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69" name="Rectangle 49"/>
              <p:cNvSpPr/>
              <p:nvPr/>
            </p:nvSpPr>
            <p:spPr>
              <a:xfrm>
                <a:off x="1626" y="1248"/>
                <a:ext cx="87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14" name="Group 50"/>
            <p:cNvGrpSpPr/>
            <p:nvPr/>
          </p:nvGrpSpPr>
          <p:grpSpPr>
            <a:xfrm>
              <a:off x="336" y="1474"/>
              <a:ext cx="531" cy="235"/>
              <a:chOff x="0" y="1632"/>
              <a:chExt cx="518" cy="384"/>
            </a:xfrm>
          </p:grpSpPr>
          <p:sp>
            <p:nvSpPr>
              <p:cNvPr id="37966" name="Rectangle 51"/>
              <p:cNvSpPr/>
              <p:nvPr/>
            </p:nvSpPr>
            <p:spPr>
              <a:xfrm>
                <a:off x="43" y="1632"/>
                <a:ext cx="43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4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67" name="Rectangle 52"/>
              <p:cNvSpPr/>
              <p:nvPr/>
            </p:nvSpPr>
            <p:spPr>
              <a:xfrm>
                <a:off x="0" y="1632"/>
                <a:ext cx="51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15" name="Group 53"/>
            <p:cNvGrpSpPr/>
            <p:nvPr/>
          </p:nvGrpSpPr>
          <p:grpSpPr>
            <a:xfrm>
              <a:off x="867" y="1475"/>
              <a:ext cx="1102" cy="234"/>
              <a:chOff x="518" y="1632"/>
              <a:chExt cx="662" cy="384"/>
            </a:xfrm>
          </p:grpSpPr>
          <p:sp>
            <p:nvSpPr>
              <p:cNvPr id="37964" name="Rectangle 54"/>
              <p:cNvSpPr/>
              <p:nvPr/>
            </p:nvSpPr>
            <p:spPr>
              <a:xfrm>
                <a:off x="561" y="1632"/>
                <a:ext cx="576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数据结构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65" name="Rectangle 55"/>
              <p:cNvSpPr/>
              <p:nvPr/>
            </p:nvSpPr>
            <p:spPr>
              <a:xfrm>
                <a:off x="518" y="1632"/>
                <a:ext cx="662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16" name="Group 56"/>
            <p:cNvGrpSpPr/>
            <p:nvPr/>
          </p:nvGrpSpPr>
          <p:grpSpPr>
            <a:xfrm>
              <a:off x="1968" y="1475"/>
              <a:ext cx="1462" cy="234"/>
              <a:chOff x="1626" y="1632"/>
              <a:chExt cx="878" cy="384"/>
            </a:xfrm>
          </p:grpSpPr>
          <p:sp>
            <p:nvSpPr>
              <p:cNvPr id="37962" name="Rectangle 57"/>
              <p:cNvSpPr/>
              <p:nvPr/>
            </p:nvSpPr>
            <p:spPr>
              <a:xfrm>
                <a:off x="1669" y="1632"/>
                <a:ext cx="79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数学；计算机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63" name="Rectangle 58"/>
              <p:cNvSpPr/>
              <p:nvPr/>
            </p:nvSpPr>
            <p:spPr>
              <a:xfrm>
                <a:off x="1626" y="1632"/>
                <a:ext cx="87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17" name="Group 59"/>
            <p:cNvGrpSpPr/>
            <p:nvPr/>
          </p:nvGrpSpPr>
          <p:grpSpPr>
            <a:xfrm>
              <a:off x="336" y="1708"/>
              <a:ext cx="531" cy="235"/>
              <a:chOff x="0" y="2016"/>
              <a:chExt cx="518" cy="384"/>
            </a:xfrm>
          </p:grpSpPr>
          <p:sp>
            <p:nvSpPr>
              <p:cNvPr id="37960" name="Rectangle 60"/>
              <p:cNvSpPr/>
              <p:nvPr/>
            </p:nvSpPr>
            <p:spPr>
              <a:xfrm>
                <a:off x="43" y="2016"/>
                <a:ext cx="43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5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61" name="Rectangle 61"/>
              <p:cNvSpPr/>
              <p:nvPr/>
            </p:nvSpPr>
            <p:spPr>
              <a:xfrm>
                <a:off x="0" y="2016"/>
                <a:ext cx="51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18" name="Group 62"/>
            <p:cNvGrpSpPr/>
            <p:nvPr/>
          </p:nvGrpSpPr>
          <p:grpSpPr>
            <a:xfrm>
              <a:off x="867" y="1709"/>
              <a:ext cx="1102" cy="234"/>
              <a:chOff x="518" y="2016"/>
              <a:chExt cx="662" cy="384"/>
            </a:xfrm>
          </p:grpSpPr>
          <p:sp>
            <p:nvSpPr>
              <p:cNvPr id="37958" name="Rectangle 63"/>
              <p:cNvSpPr/>
              <p:nvPr/>
            </p:nvSpPr>
            <p:spPr>
              <a:xfrm>
                <a:off x="561" y="2016"/>
                <a:ext cx="576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应用统计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59" name="Rectangle 64"/>
              <p:cNvSpPr/>
              <p:nvPr/>
            </p:nvSpPr>
            <p:spPr>
              <a:xfrm>
                <a:off x="518" y="2016"/>
                <a:ext cx="662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19" name="Group 65"/>
            <p:cNvGrpSpPr/>
            <p:nvPr/>
          </p:nvGrpSpPr>
          <p:grpSpPr>
            <a:xfrm>
              <a:off x="1968" y="1709"/>
              <a:ext cx="1462" cy="234"/>
              <a:chOff x="1626" y="2016"/>
              <a:chExt cx="878" cy="384"/>
            </a:xfrm>
          </p:grpSpPr>
          <p:sp>
            <p:nvSpPr>
              <p:cNvPr id="37956" name="Rectangle 66"/>
              <p:cNvSpPr/>
              <p:nvPr/>
            </p:nvSpPr>
            <p:spPr>
              <a:xfrm>
                <a:off x="1669" y="2016"/>
                <a:ext cx="79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数学；运筹学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57" name="Rectangle 67"/>
              <p:cNvSpPr/>
              <p:nvPr/>
            </p:nvSpPr>
            <p:spPr>
              <a:xfrm>
                <a:off x="1626" y="2016"/>
                <a:ext cx="87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20" name="Group 68"/>
            <p:cNvGrpSpPr/>
            <p:nvPr/>
          </p:nvGrpSpPr>
          <p:grpSpPr>
            <a:xfrm>
              <a:off x="336" y="1942"/>
              <a:ext cx="531" cy="235"/>
              <a:chOff x="0" y="2400"/>
              <a:chExt cx="518" cy="384"/>
            </a:xfrm>
          </p:grpSpPr>
          <p:sp>
            <p:nvSpPr>
              <p:cNvPr id="37954" name="Rectangle 69"/>
              <p:cNvSpPr/>
              <p:nvPr/>
            </p:nvSpPr>
            <p:spPr>
              <a:xfrm>
                <a:off x="43" y="2400"/>
                <a:ext cx="43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6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55" name="Rectangle 70"/>
              <p:cNvSpPr/>
              <p:nvPr/>
            </p:nvSpPr>
            <p:spPr>
              <a:xfrm>
                <a:off x="0" y="2400"/>
                <a:ext cx="51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21" name="Group 71"/>
            <p:cNvGrpSpPr/>
            <p:nvPr/>
          </p:nvGrpSpPr>
          <p:grpSpPr>
            <a:xfrm>
              <a:off x="867" y="1943"/>
              <a:ext cx="1102" cy="234"/>
              <a:chOff x="518" y="2400"/>
              <a:chExt cx="662" cy="384"/>
            </a:xfrm>
          </p:grpSpPr>
          <p:sp>
            <p:nvSpPr>
              <p:cNvPr id="37952" name="Rectangle 72"/>
              <p:cNvSpPr/>
              <p:nvPr/>
            </p:nvSpPr>
            <p:spPr>
              <a:xfrm>
                <a:off x="561" y="2400"/>
                <a:ext cx="576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计算机模拟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53" name="Rectangle 73"/>
              <p:cNvSpPr/>
              <p:nvPr/>
            </p:nvSpPr>
            <p:spPr>
              <a:xfrm>
                <a:off x="518" y="2400"/>
                <a:ext cx="662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22" name="Group 74"/>
            <p:cNvGrpSpPr/>
            <p:nvPr/>
          </p:nvGrpSpPr>
          <p:grpSpPr>
            <a:xfrm>
              <a:off x="1968" y="1943"/>
              <a:ext cx="1462" cy="234"/>
              <a:chOff x="1626" y="2400"/>
              <a:chExt cx="878" cy="384"/>
            </a:xfrm>
          </p:grpSpPr>
          <p:sp>
            <p:nvSpPr>
              <p:cNvPr id="37950" name="Rectangle 75"/>
              <p:cNvSpPr/>
              <p:nvPr/>
            </p:nvSpPr>
            <p:spPr>
              <a:xfrm>
                <a:off x="1669" y="2400"/>
                <a:ext cx="79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计算机；运筹学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51" name="Rectangle 76"/>
              <p:cNvSpPr/>
              <p:nvPr/>
            </p:nvSpPr>
            <p:spPr>
              <a:xfrm>
                <a:off x="1626" y="2400"/>
                <a:ext cx="87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23" name="Group 77"/>
            <p:cNvGrpSpPr/>
            <p:nvPr/>
          </p:nvGrpSpPr>
          <p:grpSpPr>
            <a:xfrm>
              <a:off x="336" y="2176"/>
              <a:ext cx="531" cy="234"/>
              <a:chOff x="0" y="2784"/>
              <a:chExt cx="518" cy="384"/>
            </a:xfrm>
          </p:grpSpPr>
          <p:sp>
            <p:nvSpPr>
              <p:cNvPr id="37948" name="Rectangle 78"/>
              <p:cNvSpPr/>
              <p:nvPr/>
            </p:nvSpPr>
            <p:spPr>
              <a:xfrm>
                <a:off x="43" y="2784"/>
                <a:ext cx="43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7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49" name="Rectangle 79"/>
              <p:cNvSpPr/>
              <p:nvPr/>
            </p:nvSpPr>
            <p:spPr>
              <a:xfrm>
                <a:off x="0" y="2784"/>
                <a:ext cx="51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24" name="Group 80"/>
            <p:cNvGrpSpPr/>
            <p:nvPr/>
          </p:nvGrpSpPr>
          <p:grpSpPr>
            <a:xfrm>
              <a:off x="867" y="2177"/>
              <a:ext cx="1102" cy="233"/>
              <a:chOff x="518" y="2784"/>
              <a:chExt cx="662" cy="384"/>
            </a:xfrm>
          </p:grpSpPr>
          <p:sp>
            <p:nvSpPr>
              <p:cNvPr id="37946" name="Rectangle 81"/>
              <p:cNvSpPr/>
              <p:nvPr/>
            </p:nvSpPr>
            <p:spPr>
              <a:xfrm>
                <a:off x="561" y="2784"/>
                <a:ext cx="576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计算机编程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47" name="Rectangle 82"/>
              <p:cNvSpPr/>
              <p:nvPr/>
            </p:nvSpPr>
            <p:spPr>
              <a:xfrm>
                <a:off x="518" y="2784"/>
                <a:ext cx="662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25" name="Group 83"/>
            <p:cNvGrpSpPr/>
            <p:nvPr/>
          </p:nvGrpSpPr>
          <p:grpSpPr>
            <a:xfrm>
              <a:off x="1968" y="2177"/>
              <a:ext cx="1462" cy="233"/>
              <a:chOff x="1626" y="2784"/>
              <a:chExt cx="878" cy="384"/>
            </a:xfrm>
          </p:grpSpPr>
          <p:sp>
            <p:nvSpPr>
              <p:cNvPr id="37944" name="Rectangle 84"/>
              <p:cNvSpPr/>
              <p:nvPr/>
            </p:nvSpPr>
            <p:spPr>
              <a:xfrm>
                <a:off x="1669" y="2784"/>
                <a:ext cx="79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计算机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45" name="Rectangle 85"/>
              <p:cNvSpPr/>
              <p:nvPr/>
            </p:nvSpPr>
            <p:spPr>
              <a:xfrm>
                <a:off x="1626" y="2784"/>
                <a:ext cx="87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26" name="Group 86"/>
            <p:cNvGrpSpPr/>
            <p:nvPr/>
          </p:nvGrpSpPr>
          <p:grpSpPr>
            <a:xfrm>
              <a:off x="336" y="2409"/>
              <a:ext cx="531" cy="235"/>
              <a:chOff x="0" y="3168"/>
              <a:chExt cx="518" cy="384"/>
            </a:xfrm>
          </p:grpSpPr>
          <p:sp>
            <p:nvSpPr>
              <p:cNvPr id="37942" name="Rectangle 87"/>
              <p:cNvSpPr/>
              <p:nvPr/>
            </p:nvSpPr>
            <p:spPr>
              <a:xfrm>
                <a:off x="43" y="3168"/>
                <a:ext cx="43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8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43" name="Rectangle 88"/>
              <p:cNvSpPr/>
              <p:nvPr/>
            </p:nvSpPr>
            <p:spPr>
              <a:xfrm>
                <a:off x="0" y="3168"/>
                <a:ext cx="51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27" name="Group 89"/>
            <p:cNvGrpSpPr/>
            <p:nvPr/>
          </p:nvGrpSpPr>
          <p:grpSpPr>
            <a:xfrm>
              <a:off x="867" y="2410"/>
              <a:ext cx="1102" cy="234"/>
              <a:chOff x="518" y="3168"/>
              <a:chExt cx="662" cy="384"/>
            </a:xfrm>
          </p:grpSpPr>
          <p:sp>
            <p:nvSpPr>
              <p:cNvPr id="37940" name="Rectangle 90"/>
              <p:cNvSpPr/>
              <p:nvPr/>
            </p:nvSpPr>
            <p:spPr>
              <a:xfrm>
                <a:off x="561" y="3168"/>
                <a:ext cx="576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预测理论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41" name="Rectangle 91"/>
              <p:cNvSpPr/>
              <p:nvPr/>
            </p:nvSpPr>
            <p:spPr>
              <a:xfrm>
                <a:off x="518" y="3168"/>
                <a:ext cx="662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28" name="Group 92"/>
            <p:cNvGrpSpPr/>
            <p:nvPr/>
          </p:nvGrpSpPr>
          <p:grpSpPr>
            <a:xfrm>
              <a:off x="1968" y="2410"/>
              <a:ext cx="1462" cy="234"/>
              <a:chOff x="1626" y="3168"/>
              <a:chExt cx="878" cy="384"/>
            </a:xfrm>
          </p:grpSpPr>
          <p:sp>
            <p:nvSpPr>
              <p:cNvPr id="37938" name="Rectangle 93"/>
              <p:cNvSpPr/>
              <p:nvPr/>
            </p:nvSpPr>
            <p:spPr>
              <a:xfrm>
                <a:off x="1669" y="3168"/>
                <a:ext cx="79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运筹学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39" name="Rectangle 94"/>
              <p:cNvSpPr/>
              <p:nvPr/>
            </p:nvSpPr>
            <p:spPr>
              <a:xfrm>
                <a:off x="1626" y="3168"/>
                <a:ext cx="87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29" name="Group 95"/>
            <p:cNvGrpSpPr/>
            <p:nvPr/>
          </p:nvGrpSpPr>
          <p:grpSpPr>
            <a:xfrm>
              <a:off x="336" y="2643"/>
              <a:ext cx="531" cy="235"/>
              <a:chOff x="0" y="3552"/>
              <a:chExt cx="518" cy="384"/>
            </a:xfrm>
          </p:grpSpPr>
          <p:sp>
            <p:nvSpPr>
              <p:cNvPr id="37936" name="Rectangle 96"/>
              <p:cNvSpPr/>
              <p:nvPr/>
            </p:nvSpPr>
            <p:spPr>
              <a:xfrm>
                <a:off x="43" y="3552"/>
                <a:ext cx="43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9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37" name="Rectangle 97"/>
              <p:cNvSpPr/>
              <p:nvPr/>
            </p:nvSpPr>
            <p:spPr>
              <a:xfrm>
                <a:off x="0" y="3552"/>
                <a:ext cx="51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30" name="Group 98"/>
            <p:cNvGrpSpPr/>
            <p:nvPr/>
          </p:nvGrpSpPr>
          <p:grpSpPr>
            <a:xfrm>
              <a:off x="867" y="2644"/>
              <a:ext cx="1102" cy="234"/>
              <a:chOff x="518" y="3552"/>
              <a:chExt cx="662" cy="384"/>
            </a:xfrm>
          </p:grpSpPr>
          <p:sp>
            <p:nvSpPr>
              <p:cNvPr id="37934" name="Rectangle 99"/>
              <p:cNvSpPr/>
              <p:nvPr/>
            </p:nvSpPr>
            <p:spPr>
              <a:xfrm>
                <a:off x="561" y="3552"/>
                <a:ext cx="576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数学实验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35" name="Rectangle 100"/>
              <p:cNvSpPr/>
              <p:nvPr/>
            </p:nvSpPr>
            <p:spPr>
              <a:xfrm>
                <a:off x="518" y="3552"/>
                <a:ext cx="662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31" name="Group 101"/>
            <p:cNvGrpSpPr/>
            <p:nvPr/>
          </p:nvGrpSpPr>
          <p:grpSpPr>
            <a:xfrm>
              <a:off x="1968" y="2644"/>
              <a:ext cx="1462" cy="234"/>
              <a:chOff x="1626" y="3552"/>
              <a:chExt cx="878" cy="384"/>
            </a:xfrm>
          </p:grpSpPr>
          <p:sp>
            <p:nvSpPr>
              <p:cNvPr id="37932" name="Rectangle 102"/>
              <p:cNvSpPr/>
              <p:nvPr/>
            </p:nvSpPr>
            <p:spPr>
              <a:xfrm>
                <a:off x="1669" y="3552"/>
                <a:ext cx="79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defTabSz="0">
                  <a:tabLst>
                    <a:tab pos="266700" algn="l"/>
                  </a:tabLst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运筹学；计算机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pPr algn="ctr" defTabSz="0" eaLnBrk="0" hangingPunct="0">
                  <a:tabLst>
                    <a:tab pos="266700" algn="l"/>
                  </a:tabLst>
                </a:pP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33" name="Rectangle 103"/>
              <p:cNvSpPr/>
              <p:nvPr/>
            </p:nvSpPr>
            <p:spPr>
              <a:xfrm>
                <a:off x="1626" y="3552"/>
                <a:ext cx="87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animBg="1"/>
      <p:bldP spid="56324" grpId="0" animBg="1"/>
      <p:bldP spid="56325" grpId="0" animBg="1"/>
      <p:bldP spid="56327" grpId="0" animBg="1"/>
      <p:bldP spid="56328" grpId="0" animBg="1"/>
      <p:bldP spid="563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Text Box 2"/>
          <p:cNvSpPr txBox="1"/>
          <p:nvPr/>
        </p:nvSpPr>
        <p:spPr>
          <a:xfrm>
            <a:off x="5943600" y="1081088"/>
            <a:ext cx="2362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先修课程要求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7347" name="Object 3"/>
          <p:cNvGraphicFramePr/>
          <p:nvPr/>
        </p:nvGraphicFramePr>
        <p:xfrm>
          <a:off x="6019800" y="3657600"/>
          <a:ext cx="11430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" r:id="rId1" imgW="482600" imgH="228600" progId="Equation.3">
                  <p:embed/>
                </p:oleObj>
              </mc:Choice>
              <mc:Fallback>
                <p:oleObj name="" r:id="rId1" imgW="482600" imgH="228600" progId="Equation.3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19800" y="3657600"/>
                        <a:ext cx="1143000" cy="538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8" name="Object 4"/>
          <p:cNvGraphicFramePr/>
          <p:nvPr/>
        </p:nvGraphicFramePr>
        <p:xfrm>
          <a:off x="6019800" y="4294188"/>
          <a:ext cx="25146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" r:id="rId3" imgW="1066800" imgH="228600" progId="Equation.3">
                  <p:embed/>
                </p:oleObj>
              </mc:Choice>
              <mc:Fallback>
                <p:oleObj name="" r:id="rId3" imgW="1066800" imgH="228600" progId="Equation.3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19800" y="4294188"/>
                        <a:ext cx="2514600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5"/>
          <p:cNvGraphicFramePr/>
          <p:nvPr/>
        </p:nvGraphicFramePr>
        <p:xfrm>
          <a:off x="6019800" y="4803775"/>
          <a:ext cx="16764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3" name="" r:id="rId5" imgW="711200" imgH="228600" progId="Equation.3">
                  <p:embed/>
                </p:oleObj>
              </mc:Choice>
              <mc:Fallback>
                <p:oleObj name="" r:id="rId5" imgW="711200" imgH="228600" progId="Equation.3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19800" y="4803775"/>
                        <a:ext cx="1676400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6"/>
          <p:cNvGraphicFramePr/>
          <p:nvPr/>
        </p:nvGraphicFramePr>
        <p:xfrm>
          <a:off x="6019800" y="5386388"/>
          <a:ext cx="16764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" r:id="rId7" imgW="698500" imgH="228600" progId="Equation.3">
                  <p:embed/>
                </p:oleObj>
              </mc:Choice>
              <mc:Fallback>
                <p:oleObj name="" r:id="rId7" imgW="698500" imgH="228600" progId="Equation.3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19800" y="5386388"/>
                        <a:ext cx="1676400" cy="576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7"/>
          <p:cNvGraphicFramePr/>
          <p:nvPr/>
        </p:nvGraphicFramePr>
        <p:xfrm>
          <a:off x="6019800" y="6019800"/>
          <a:ext cx="25146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" name="" r:id="rId9" imgW="1054100" imgH="228600" progId="Equation.3">
                  <p:embed/>
                </p:oleObj>
              </mc:Choice>
              <mc:Fallback>
                <p:oleObj name="" r:id="rId9" imgW="1054100" imgH="228600" progId="Equation.3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19800" y="6019800"/>
                        <a:ext cx="251460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2" name="Text Box 8"/>
          <p:cNvSpPr txBox="1"/>
          <p:nvPr/>
        </p:nvSpPr>
        <p:spPr>
          <a:xfrm>
            <a:off x="228600" y="5410200"/>
            <a:ext cx="54864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最优解：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9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 =1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宋体" panose="02010600030101010101" pitchFamily="2" charset="-122"/>
              </a:rPr>
              <a:t>其他为</a:t>
            </a:r>
            <a:r>
              <a:rPr lang="en-US" altLang="zh-CN" sz="2800" b="1"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</a:rPr>
              <a:t>；</a:t>
            </a:r>
            <a:r>
              <a:rPr lang="en-US" altLang="zh-CN" sz="2800" b="1">
                <a:latin typeface="Times New Roman" panose="02020603050405020304" pitchFamily="18" charset="0"/>
              </a:rPr>
              <a:t>6</a:t>
            </a:r>
            <a:r>
              <a:rPr lang="zh-CN" altLang="en-US" sz="2800" b="1" dirty="0">
                <a:latin typeface="宋体" panose="02010600030101010101" pitchFamily="2" charset="-122"/>
              </a:rPr>
              <a:t>门课程，总学分</a:t>
            </a:r>
            <a:r>
              <a:rPr lang="en-US" altLang="zh-CN" sz="2800" b="1">
                <a:latin typeface="Times New Roman" panose="02020603050405020304" pitchFamily="18" charset="0"/>
              </a:rPr>
              <a:t>21. 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6019800" y="2895600"/>
            <a:ext cx="2590800" cy="708025"/>
            <a:chOff x="3792" y="1824"/>
            <a:chExt cx="1632" cy="446"/>
          </a:xfrm>
        </p:grpSpPr>
        <p:graphicFrame>
          <p:nvGraphicFramePr>
            <p:cNvPr id="38921" name="Object 10"/>
            <p:cNvGraphicFramePr/>
            <p:nvPr/>
          </p:nvGraphicFramePr>
          <p:xfrm>
            <a:off x="3792" y="1920"/>
            <a:ext cx="1632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7" name="" r:id="rId11" imgW="1066800" imgH="228600" progId="Equation.3">
                    <p:embed/>
                  </p:oleObj>
                </mc:Choice>
                <mc:Fallback>
                  <p:oleObj name="" r:id="rId11" imgW="1066800" imgH="228600" progId="Equation.3">
                    <p:embed/>
                    <p:pic>
                      <p:nvPicPr>
                        <p:cNvPr id="0" name="图片 326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92" y="1920"/>
                          <a:ext cx="1632" cy="3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030" name="AutoShape 11"/>
            <p:cNvSpPr/>
            <p:nvPr/>
          </p:nvSpPr>
          <p:spPr>
            <a:xfrm rot="5400000">
              <a:off x="4512" y="1776"/>
              <a:ext cx="144" cy="240"/>
            </a:xfrm>
            <a:prstGeom prst="leftRightArrow">
              <a:avLst>
                <a:gd name="adj1" fmla="val 50000"/>
                <a:gd name="adj2" fmla="val 2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8925" name="Rectangle 12"/>
          <p:cNvSpPr/>
          <p:nvPr/>
        </p:nvSpPr>
        <p:spPr>
          <a:xfrm>
            <a:off x="381000" y="381000"/>
            <a:ext cx="2514600" cy="5334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anchor="ctr"/>
          <a:p>
            <a:pPr algn="ctr"/>
            <a:r>
              <a:rPr lang="en-US" altLang="zh-CN" sz="3200" b="1">
                <a:latin typeface="Times New Roman" panose="02020603050405020304" pitchFamily="18" charset="0"/>
              </a:rPr>
              <a:t>0-1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规划模型</a:t>
            </a:r>
            <a:r>
              <a:rPr lang="zh-CN" altLang="en-US" sz="3200" b="1" dirty="0">
                <a:latin typeface="宋体" panose="02010600030101010101" pitchFamily="2" charset="-122"/>
              </a:rPr>
              <a:t> 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57" name="Text Box 13"/>
          <p:cNvSpPr txBox="1"/>
          <p:nvPr/>
        </p:nvSpPr>
        <p:spPr>
          <a:xfrm>
            <a:off x="6324600" y="533400"/>
            <a:ext cx="16764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约束条件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358" name="Text Box 14"/>
          <p:cNvSpPr txBox="1"/>
          <p:nvPr/>
        </p:nvSpPr>
        <p:spPr>
          <a:xfrm>
            <a:off x="5791200" y="1614488"/>
            <a:ext cx="3048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</a:rPr>
              <a:t>=1</a:t>
            </a:r>
            <a:r>
              <a:rPr lang="zh-CN" altLang="en-US" sz="2800" b="1" dirty="0">
                <a:latin typeface="Times New Roman" panose="02020603050405020304" pitchFamily="18" charset="0"/>
              </a:rPr>
              <a:t>必有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en-US" altLang="zh-CN" sz="2800" b="1"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 </a:t>
            </a:r>
            <a:r>
              <a:rPr lang="en-US" altLang="zh-CN" sz="2800" b="1">
                <a:latin typeface="Times New Roman" panose="02020603050405020304" pitchFamily="18" charset="0"/>
              </a:rPr>
              <a:t>=1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grpSp>
        <p:nvGrpSpPr>
          <p:cNvPr id="3" name="Group 15"/>
          <p:cNvGrpSpPr/>
          <p:nvPr/>
        </p:nvGrpSpPr>
        <p:grpSpPr>
          <a:xfrm>
            <a:off x="6096000" y="2133600"/>
            <a:ext cx="2362200" cy="714375"/>
            <a:chOff x="3840" y="1344"/>
            <a:chExt cx="1488" cy="450"/>
          </a:xfrm>
        </p:grpSpPr>
        <p:graphicFrame>
          <p:nvGraphicFramePr>
            <p:cNvPr id="38920" name="Object 16"/>
            <p:cNvGraphicFramePr/>
            <p:nvPr/>
          </p:nvGraphicFramePr>
          <p:xfrm>
            <a:off x="3840" y="1440"/>
            <a:ext cx="1488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8" name="" r:id="rId13" imgW="965200" imgH="228600" progId="Equation.3">
                    <p:embed/>
                  </p:oleObj>
                </mc:Choice>
                <mc:Fallback>
                  <p:oleObj name="" r:id="rId13" imgW="965200" imgH="228600" progId="Equation.3">
                    <p:embed/>
                    <p:pic>
                      <p:nvPicPr>
                        <p:cNvPr id="0" name="图片 326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840" y="1440"/>
                          <a:ext cx="1488" cy="3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029" name="AutoShape 17"/>
            <p:cNvSpPr/>
            <p:nvPr/>
          </p:nvSpPr>
          <p:spPr>
            <a:xfrm>
              <a:off x="4416" y="1344"/>
              <a:ext cx="306" cy="96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8"/>
          <p:cNvGrpSpPr/>
          <p:nvPr/>
        </p:nvGrpSpPr>
        <p:grpSpPr>
          <a:xfrm>
            <a:off x="7239000" y="3657600"/>
            <a:ext cx="1828800" cy="538163"/>
            <a:chOff x="4560" y="2304"/>
            <a:chExt cx="1152" cy="339"/>
          </a:xfrm>
        </p:grpSpPr>
        <p:graphicFrame>
          <p:nvGraphicFramePr>
            <p:cNvPr id="38919" name="Object 19"/>
            <p:cNvGraphicFramePr/>
            <p:nvPr/>
          </p:nvGraphicFramePr>
          <p:xfrm>
            <a:off x="4708" y="2304"/>
            <a:ext cx="1004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" name="" r:id="rId15" imgW="673100" imgH="228600" progId="Equation.3">
                    <p:embed/>
                  </p:oleObj>
                </mc:Choice>
                <mc:Fallback>
                  <p:oleObj name="" r:id="rId15" imgW="673100" imgH="228600" progId="Equation.3">
                    <p:embed/>
                    <p:pic>
                      <p:nvPicPr>
                        <p:cNvPr id="0" name="图片 326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708" y="2304"/>
                          <a:ext cx="1004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028" name="AutoShape 20"/>
            <p:cNvSpPr/>
            <p:nvPr/>
          </p:nvSpPr>
          <p:spPr>
            <a:xfrm>
              <a:off x="4560" y="2352"/>
              <a:ext cx="96" cy="258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7365" name="Text Box 21"/>
          <p:cNvSpPr txBox="1"/>
          <p:nvPr/>
        </p:nvSpPr>
        <p:spPr>
          <a:xfrm>
            <a:off x="304800" y="4967288"/>
            <a:ext cx="3690938" cy="51911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模型求解（</a:t>
            </a:r>
            <a:r>
              <a:rPr lang="en-US" altLang="zh-CN" sz="2800" b="1">
                <a:latin typeface="Times New Roman" panose="02020603050405020304" pitchFamily="18" charset="0"/>
              </a:rPr>
              <a:t>LINGO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5" name="Group 22"/>
          <p:cNvGrpSpPr/>
          <p:nvPr/>
        </p:nvGrpSpPr>
        <p:grpSpPr>
          <a:xfrm>
            <a:off x="179388" y="1484313"/>
            <a:ext cx="457200" cy="3444875"/>
            <a:chOff x="144" y="720"/>
            <a:chExt cx="288" cy="2170"/>
          </a:xfrm>
        </p:grpSpPr>
        <p:sp>
          <p:nvSpPr>
            <p:cNvPr id="39025" name="Text Box 23"/>
            <p:cNvSpPr txBox="1"/>
            <p:nvPr/>
          </p:nvSpPr>
          <p:spPr>
            <a:xfrm>
              <a:off x="144" y="720"/>
              <a:ext cx="288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   </a:t>
              </a:r>
              <a:endParaRPr lang="en-US" altLang="zh-CN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9026" name="Text Box 24"/>
            <p:cNvSpPr txBox="1"/>
            <p:nvPr/>
          </p:nvSpPr>
          <p:spPr>
            <a:xfrm>
              <a:off x="144" y="1872"/>
              <a:ext cx="28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   </a:t>
              </a:r>
              <a:endParaRPr lang="en-US" altLang="zh-CN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39027" name="Text Box 25"/>
            <p:cNvSpPr txBox="1"/>
            <p:nvPr/>
          </p:nvSpPr>
          <p:spPr>
            <a:xfrm>
              <a:off x="144" y="2602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  </a:t>
              </a:r>
              <a:endParaRPr lang="en-US" altLang="zh-CN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6" name="Group 26"/>
          <p:cNvGrpSpPr/>
          <p:nvPr/>
        </p:nvGrpSpPr>
        <p:grpSpPr>
          <a:xfrm>
            <a:off x="80963" y="1062038"/>
            <a:ext cx="5329237" cy="3814762"/>
            <a:chOff x="51" y="475"/>
            <a:chExt cx="3357" cy="2403"/>
          </a:xfrm>
        </p:grpSpPr>
        <p:grpSp>
          <p:nvGrpSpPr>
            <p:cNvPr id="38933" name="Group 27"/>
            <p:cNvGrpSpPr/>
            <p:nvPr/>
          </p:nvGrpSpPr>
          <p:grpSpPr>
            <a:xfrm>
              <a:off x="51" y="475"/>
              <a:ext cx="3357" cy="2403"/>
              <a:chOff x="960" y="475"/>
              <a:chExt cx="3357" cy="2403"/>
            </a:xfrm>
          </p:grpSpPr>
          <p:grpSp>
            <p:nvGrpSpPr>
              <p:cNvPr id="38935" name="Group 28"/>
              <p:cNvGrpSpPr/>
              <p:nvPr/>
            </p:nvGrpSpPr>
            <p:grpSpPr>
              <a:xfrm>
                <a:off x="960" y="475"/>
                <a:ext cx="670" cy="299"/>
                <a:chOff x="0" y="0"/>
                <a:chExt cx="518" cy="480"/>
              </a:xfrm>
            </p:grpSpPr>
            <p:sp>
              <p:nvSpPr>
                <p:cNvPr id="39023" name="Rectangle 29"/>
                <p:cNvSpPr/>
                <p:nvPr/>
              </p:nvSpPr>
              <p:spPr>
                <a:xfrm>
                  <a:off x="43" y="0"/>
                  <a:ext cx="432" cy="48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课号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024" name="Rectangle 30"/>
                <p:cNvSpPr/>
                <p:nvPr/>
              </p:nvSpPr>
              <p:spPr>
                <a:xfrm>
                  <a:off x="0" y="0"/>
                  <a:ext cx="518" cy="48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36" name="Group 31"/>
              <p:cNvGrpSpPr/>
              <p:nvPr/>
            </p:nvGrpSpPr>
            <p:grpSpPr>
              <a:xfrm>
                <a:off x="1630" y="482"/>
                <a:ext cx="1102" cy="292"/>
                <a:chOff x="518" y="0"/>
                <a:chExt cx="662" cy="480"/>
              </a:xfrm>
            </p:grpSpPr>
            <p:sp>
              <p:nvSpPr>
                <p:cNvPr id="39021" name="Rectangle 32"/>
                <p:cNvSpPr/>
                <p:nvPr/>
              </p:nvSpPr>
              <p:spPr>
                <a:xfrm>
                  <a:off x="561" y="0"/>
                  <a:ext cx="576" cy="48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课名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022" name="Rectangle 33"/>
                <p:cNvSpPr/>
                <p:nvPr/>
              </p:nvSpPr>
              <p:spPr>
                <a:xfrm>
                  <a:off x="518" y="0"/>
                  <a:ext cx="662" cy="48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37" name="Group 34"/>
              <p:cNvGrpSpPr/>
              <p:nvPr/>
            </p:nvGrpSpPr>
            <p:grpSpPr>
              <a:xfrm>
                <a:off x="2736" y="482"/>
                <a:ext cx="1581" cy="292"/>
                <a:chOff x="2504" y="0"/>
                <a:chExt cx="950" cy="480"/>
              </a:xfrm>
            </p:grpSpPr>
            <p:sp>
              <p:nvSpPr>
                <p:cNvPr id="39019" name="Rectangle 35"/>
                <p:cNvSpPr/>
                <p:nvPr/>
              </p:nvSpPr>
              <p:spPr>
                <a:xfrm>
                  <a:off x="2547" y="0"/>
                  <a:ext cx="864" cy="48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先修课要求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020" name="Rectangle 36"/>
                <p:cNvSpPr/>
                <p:nvPr/>
              </p:nvSpPr>
              <p:spPr>
                <a:xfrm>
                  <a:off x="2504" y="0"/>
                  <a:ext cx="950" cy="48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38" name="Group 37"/>
              <p:cNvGrpSpPr/>
              <p:nvPr/>
            </p:nvGrpSpPr>
            <p:grpSpPr>
              <a:xfrm>
                <a:off x="960" y="768"/>
                <a:ext cx="670" cy="240"/>
                <a:chOff x="0" y="480"/>
                <a:chExt cx="518" cy="384"/>
              </a:xfrm>
            </p:grpSpPr>
            <p:sp>
              <p:nvSpPr>
                <p:cNvPr id="39017" name="Rectangle 38"/>
                <p:cNvSpPr/>
                <p:nvPr/>
              </p:nvSpPr>
              <p:spPr>
                <a:xfrm>
                  <a:off x="43" y="480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018" name="Rectangle 39"/>
                <p:cNvSpPr/>
                <p:nvPr/>
              </p:nvSpPr>
              <p:spPr>
                <a:xfrm>
                  <a:off x="0" y="480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39" name="Group 40"/>
              <p:cNvGrpSpPr/>
              <p:nvPr/>
            </p:nvGrpSpPr>
            <p:grpSpPr>
              <a:xfrm>
                <a:off x="1630" y="774"/>
                <a:ext cx="1102" cy="234"/>
                <a:chOff x="518" y="480"/>
                <a:chExt cx="662" cy="384"/>
              </a:xfrm>
            </p:grpSpPr>
            <p:sp>
              <p:nvSpPr>
                <p:cNvPr id="39015" name="Rectangle 41"/>
                <p:cNvSpPr/>
                <p:nvPr/>
              </p:nvSpPr>
              <p:spPr>
                <a:xfrm>
                  <a:off x="561" y="480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微积分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016" name="Rectangle 42"/>
                <p:cNvSpPr/>
                <p:nvPr/>
              </p:nvSpPr>
              <p:spPr>
                <a:xfrm>
                  <a:off x="518" y="480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40" name="Group 43"/>
              <p:cNvGrpSpPr/>
              <p:nvPr/>
            </p:nvGrpSpPr>
            <p:grpSpPr>
              <a:xfrm>
                <a:off x="2736" y="774"/>
                <a:ext cx="1581" cy="234"/>
                <a:chOff x="2504" y="480"/>
                <a:chExt cx="950" cy="384"/>
              </a:xfrm>
            </p:grpSpPr>
            <p:sp>
              <p:nvSpPr>
                <p:cNvPr id="39013" name="Rectangle 44"/>
                <p:cNvSpPr/>
                <p:nvPr/>
              </p:nvSpPr>
              <p:spPr>
                <a:xfrm>
                  <a:off x="2547" y="480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014" name="Rectangle 45"/>
                <p:cNvSpPr/>
                <p:nvPr/>
              </p:nvSpPr>
              <p:spPr>
                <a:xfrm>
                  <a:off x="2504" y="480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41" name="Group 46"/>
              <p:cNvGrpSpPr/>
              <p:nvPr/>
            </p:nvGrpSpPr>
            <p:grpSpPr>
              <a:xfrm>
                <a:off x="960" y="1002"/>
                <a:ext cx="670" cy="240"/>
                <a:chOff x="0" y="864"/>
                <a:chExt cx="518" cy="384"/>
              </a:xfrm>
            </p:grpSpPr>
            <p:sp>
              <p:nvSpPr>
                <p:cNvPr id="39011" name="Rectangle 47"/>
                <p:cNvSpPr/>
                <p:nvPr/>
              </p:nvSpPr>
              <p:spPr>
                <a:xfrm>
                  <a:off x="43" y="864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012" name="Rectangle 48"/>
                <p:cNvSpPr/>
                <p:nvPr/>
              </p:nvSpPr>
              <p:spPr>
                <a:xfrm>
                  <a:off x="0" y="864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42" name="Group 49"/>
              <p:cNvGrpSpPr/>
              <p:nvPr/>
            </p:nvGrpSpPr>
            <p:grpSpPr>
              <a:xfrm>
                <a:off x="1630" y="1008"/>
                <a:ext cx="1102" cy="234"/>
                <a:chOff x="518" y="864"/>
                <a:chExt cx="662" cy="384"/>
              </a:xfrm>
            </p:grpSpPr>
            <p:sp>
              <p:nvSpPr>
                <p:cNvPr id="39009" name="Rectangle 50"/>
                <p:cNvSpPr/>
                <p:nvPr/>
              </p:nvSpPr>
              <p:spPr>
                <a:xfrm>
                  <a:off x="561" y="864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线性代数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010" name="Rectangle 51"/>
                <p:cNvSpPr/>
                <p:nvPr/>
              </p:nvSpPr>
              <p:spPr>
                <a:xfrm>
                  <a:off x="518" y="864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43" name="Group 52"/>
              <p:cNvGrpSpPr/>
              <p:nvPr/>
            </p:nvGrpSpPr>
            <p:grpSpPr>
              <a:xfrm>
                <a:off x="2736" y="1008"/>
                <a:ext cx="1581" cy="234"/>
                <a:chOff x="2504" y="864"/>
                <a:chExt cx="950" cy="384"/>
              </a:xfrm>
            </p:grpSpPr>
            <p:sp>
              <p:nvSpPr>
                <p:cNvPr id="39007" name="Rectangle 53"/>
                <p:cNvSpPr/>
                <p:nvPr/>
              </p:nvSpPr>
              <p:spPr>
                <a:xfrm>
                  <a:off x="2547" y="864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008" name="Rectangle 54"/>
                <p:cNvSpPr/>
                <p:nvPr/>
              </p:nvSpPr>
              <p:spPr>
                <a:xfrm>
                  <a:off x="2504" y="864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44" name="Group 55"/>
              <p:cNvGrpSpPr/>
              <p:nvPr/>
            </p:nvGrpSpPr>
            <p:grpSpPr>
              <a:xfrm>
                <a:off x="960" y="1236"/>
                <a:ext cx="670" cy="239"/>
                <a:chOff x="0" y="1248"/>
                <a:chExt cx="518" cy="384"/>
              </a:xfrm>
            </p:grpSpPr>
            <p:sp>
              <p:nvSpPr>
                <p:cNvPr id="39005" name="Rectangle 56"/>
                <p:cNvSpPr/>
                <p:nvPr/>
              </p:nvSpPr>
              <p:spPr>
                <a:xfrm>
                  <a:off x="43" y="1248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006" name="Rectangle 57"/>
                <p:cNvSpPr/>
                <p:nvPr/>
              </p:nvSpPr>
              <p:spPr>
                <a:xfrm>
                  <a:off x="0" y="1248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45" name="Group 58"/>
              <p:cNvGrpSpPr/>
              <p:nvPr/>
            </p:nvGrpSpPr>
            <p:grpSpPr>
              <a:xfrm>
                <a:off x="1630" y="1242"/>
                <a:ext cx="1102" cy="233"/>
                <a:chOff x="518" y="1248"/>
                <a:chExt cx="662" cy="384"/>
              </a:xfrm>
            </p:grpSpPr>
            <p:sp>
              <p:nvSpPr>
                <p:cNvPr id="39003" name="Rectangle 59"/>
                <p:cNvSpPr/>
                <p:nvPr/>
              </p:nvSpPr>
              <p:spPr>
                <a:xfrm>
                  <a:off x="561" y="1248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最优化方法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004" name="Rectangle 60"/>
                <p:cNvSpPr/>
                <p:nvPr/>
              </p:nvSpPr>
              <p:spPr>
                <a:xfrm>
                  <a:off x="518" y="1248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46" name="Group 61"/>
              <p:cNvGrpSpPr/>
              <p:nvPr/>
            </p:nvGrpSpPr>
            <p:grpSpPr>
              <a:xfrm>
                <a:off x="2736" y="1242"/>
                <a:ext cx="1581" cy="233"/>
                <a:chOff x="2504" y="1248"/>
                <a:chExt cx="950" cy="384"/>
              </a:xfrm>
            </p:grpSpPr>
            <p:sp>
              <p:nvSpPr>
                <p:cNvPr id="39001" name="Rectangle 62"/>
                <p:cNvSpPr/>
                <p:nvPr/>
              </p:nvSpPr>
              <p:spPr>
                <a:xfrm>
                  <a:off x="2547" y="1248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微积分；线性代数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002" name="Rectangle 63"/>
                <p:cNvSpPr/>
                <p:nvPr/>
              </p:nvSpPr>
              <p:spPr>
                <a:xfrm>
                  <a:off x="2504" y="1248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47" name="Group 64"/>
              <p:cNvGrpSpPr/>
              <p:nvPr/>
            </p:nvGrpSpPr>
            <p:grpSpPr>
              <a:xfrm>
                <a:off x="960" y="1469"/>
                <a:ext cx="670" cy="240"/>
                <a:chOff x="0" y="1632"/>
                <a:chExt cx="518" cy="384"/>
              </a:xfrm>
            </p:grpSpPr>
            <p:sp>
              <p:nvSpPr>
                <p:cNvPr id="38999" name="Rectangle 65"/>
                <p:cNvSpPr/>
                <p:nvPr/>
              </p:nvSpPr>
              <p:spPr>
                <a:xfrm>
                  <a:off x="43" y="1632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000" name="Rectangle 66"/>
                <p:cNvSpPr/>
                <p:nvPr/>
              </p:nvSpPr>
              <p:spPr>
                <a:xfrm>
                  <a:off x="0" y="1632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48" name="Group 67"/>
              <p:cNvGrpSpPr/>
              <p:nvPr/>
            </p:nvGrpSpPr>
            <p:grpSpPr>
              <a:xfrm>
                <a:off x="1630" y="1475"/>
                <a:ext cx="1102" cy="234"/>
                <a:chOff x="518" y="1632"/>
                <a:chExt cx="662" cy="384"/>
              </a:xfrm>
            </p:grpSpPr>
            <p:sp>
              <p:nvSpPr>
                <p:cNvPr id="38997" name="Rectangle 68"/>
                <p:cNvSpPr/>
                <p:nvPr/>
              </p:nvSpPr>
              <p:spPr>
                <a:xfrm>
                  <a:off x="561" y="1632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数据结构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98" name="Rectangle 69"/>
                <p:cNvSpPr/>
                <p:nvPr/>
              </p:nvSpPr>
              <p:spPr>
                <a:xfrm>
                  <a:off x="518" y="1632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49" name="Group 70"/>
              <p:cNvGrpSpPr/>
              <p:nvPr/>
            </p:nvGrpSpPr>
            <p:grpSpPr>
              <a:xfrm>
                <a:off x="2736" y="1475"/>
                <a:ext cx="1581" cy="234"/>
                <a:chOff x="2504" y="1632"/>
                <a:chExt cx="950" cy="384"/>
              </a:xfrm>
            </p:grpSpPr>
            <p:sp>
              <p:nvSpPr>
                <p:cNvPr id="38995" name="Rectangle 71"/>
                <p:cNvSpPr/>
                <p:nvPr/>
              </p:nvSpPr>
              <p:spPr>
                <a:xfrm>
                  <a:off x="2547" y="1632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计算机编程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96" name="Rectangle 72"/>
                <p:cNvSpPr/>
                <p:nvPr/>
              </p:nvSpPr>
              <p:spPr>
                <a:xfrm>
                  <a:off x="2504" y="1632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50" name="Group 73"/>
              <p:cNvGrpSpPr/>
              <p:nvPr/>
            </p:nvGrpSpPr>
            <p:grpSpPr>
              <a:xfrm>
                <a:off x="960" y="1703"/>
                <a:ext cx="670" cy="240"/>
                <a:chOff x="0" y="2016"/>
                <a:chExt cx="518" cy="384"/>
              </a:xfrm>
            </p:grpSpPr>
            <p:sp>
              <p:nvSpPr>
                <p:cNvPr id="38993" name="Rectangle 74"/>
                <p:cNvSpPr/>
                <p:nvPr/>
              </p:nvSpPr>
              <p:spPr>
                <a:xfrm>
                  <a:off x="43" y="2016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5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94" name="Rectangle 75"/>
                <p:cNvSpPr/>
                <p:nvPr/>
              </p:nvSpPr>
              <p:spPr>
                <a:xfrm>
                  <a:off x="0" y="2016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51" name="Group 76"/>
              <p:cNvGrpSpPr/>
              <p:nvPr/>
            </p:nvGrpSpPr>
            <p:grpSpPr>
              <a:xfrm>
                <a:off x="1630" y="1709"/>
                <a:ext cx="1102" cy="234"/>
                <a:chOff x="518" y="2016"/>
                <a:chExt cx="662" cy="384"/>
              </a:xfrm>
            </p:grpSpPr>
            <p:sp>
              <p:nvSpPr>
                <p:cNvPr id="38991" name="Rectangle 77"/>
                <p:cNvSpPr/>
                <p:nvPr/>
              </p:nvSpPr>
              <p:spPr>
                <a:xfrm>
                  <a:off x="561" y="2016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应用统计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92" name="Rectangle 78"/>
                <p:cNvSpPr/>
                <p:nvPr/>
              </p:nvSpPr>
              <p:spPr>
                <a:xfrm>
                  <a:off x="518" y="2016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52" name="Group 79"/>
              <p:cNvGrpSpPr/>
              <p:nvPr/>
            </p:nvGrpSpPr>
            <p:grpSpPr>
              <a:xfrm>
                <a:off x="2736" y="1709"/>
                <a:ext cx="1581" cy="234"/>
                <a:chOff x="2504" y="2016"/>
                <a:chExt cx="950" cy="384"/>
              </a:xfrm>
            </p:grpSpPr>
            <p:sp>
              <p:nvSpPr>
                <p:cNvPr id="38989" name="Rectangle 80"/>
                <p:cNvSpPr/>
                <p:nvPr/>
              </p:nvSpPr>
              <p:spPr>
                <a:xfrm>
                  <a:off x="2547" y="2016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微积分；线性代数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90" name="Rectangle 81"/>
                <p:cNvSpPr/>
                <p:nvPr/>
              </p:nvSpPr>
              <p:spPr>
                <a:xfrm>
                  <a:off x="2504" y="2016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53" name="Group 82"/>
              <p:cNvGrpSpPr/>
              <p:nvPr/>
            </p:nvGrpSpPr>
            <p:grpSpPr>
              <a:xfrm>
                <a:off x="960" y="1937"/>
                <a:ext cx="670" cy="240"/>
                <a:chOff x="0" y="2400"/>
                <a:chExt cx="518" cy="384"/>
              </a:xfrm>
            </p:grpSpPr>
            <p:sp>
              <p:nvSpPr>
                <p:cNvPr id="38987" name="Rectangle 83"/>
                <p:cNvSpPr/>
                <p:nvPr/>
              </p:nvSpPr>
              <p:spPr>
                <a:xfrm>
                  <a:off x="43" y="2400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6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88" name="Rectangle 84"/>
                <p:cNvSpPr/>
                <p:nvPr/>
              </p:nvSpPr>
              <p:spPr>
                <a:xfrm>
                  <a:off x="0" y="2400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54" name="Group 85"/>
              <p:cNvGrpSpPr/>
              <p:nvPr/>
            </p:nvGrpSpPr>
            <p:grpSpPr>
              <a:xfrm>
                <a:off x="1630" y="1943"/>
                <a:ext cx="1102" cy="234"/>
                <a:chOff x="518" y="2400"/>
                <a:chExt cx="662" cy="384"/>
              </a:xfrm>
            </p:grpSpPr>
            <p:sp>
              <p:nvSpPr>
                <p:cNvPr id="38985" name="Rectangle 86"/>
                <p:cNvSpPr/>
                <p:nvPr/>
              </p:nvSpPr>
              <p:spPr>
                <a:xfrm>
                  <a:off x="561" y="2400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计算机模拟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86" name="Rectangle 87"/>
                <p:cNvSpPr/>
                <p:nvPr/>
              </p:nvSpPr>
              <p:spPr>
                <a:xfrm>
                  <a:off x="518" y="2400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55" name="Group 88"/>
              <p:cNvGrpSpPr/>
              <p:nvPr/>
            </p:nvGrpSpPr>
            <p:grpSpPr>
              <a:xfrm>
                <a:off x="2736" y="1943"/>
                <a:ext cx="1581" cy="234"/>
                <a:chOff x="2504" y="2400"/>
                <a:chExt cx="950" cy="384"/>
              </a:xfrm>
            </p:grpSpPr>
            <p:sp>
              <p:nvSpPr>
                <p:cNvPr id="38983" name="Rectangle 89"/>
                <p:cNvSpPr/>
                <p:nvPr/>
              </p:nvSpPr>
              <p:spPr>
                <a:xfrm>
                  <a:off x="2547" y="2400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计算机编程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84" name="Rectangle 90"/>
                <p:cNvSpPr/>
                <p:nvPr/>
              </p:nvSpPr>
              <p:spPr>
                <a:xfrm>
                  <a:off x="2504" y="2400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56" name="Group 91"/>
              <p:cNvGrpSpPr/>
              <p:nvPr/>
            </p:nvGrpSpPr>
            <p:grpSpPr>
              <a:xfrm>
                <a:off x="960" y="2171"/>
                <a:ext cx="670" cy="239"/>
                <a:chOff x="0" y="2784"/>
                <a:chExt cx="518" cy="384"/>
              </a:xfrm>
            </p:grpSpPr>
            <p:sp>
              <p:nvSpPr>
                <p:cNvPr id="38981" name="Rectangle 92"/>
                <p:cNvSpPr/>
                <p:nvPr/>
              </p:nvSpPr>
              <p:spPr>
                <a:xfrm>
                  <a:off x="43" y="2784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7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82" name="Rectangle 93"/>
                <p:cNvSpPr/>
                <p:nvPr/>
              </p:nvSpPr>
              <p:spPr>
                <a:xfrm>
                  <a:off x="0" y="2784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57" name="Group 94"/>
              <p:cNvGrpSpPr/>
              <p:nvPr/>
            </p:nvGrpSpPr>
            <p:grpSpPr>
              <a:xfrm>
                <a:off x="1630" y="2177"/>
                <a:ext cx="1102" cy="233"/>
                <a:chOff x="518" y="2784"/>
                <a:chExt cx="662" cy="384"/>
              </a:xfrm>
            </p:grpSpPr>
            <p:sp>
              <p:nvSpPr>
                <p:cNvPr id="38979" name="Rectangle 95"/>
                <p:cNvSpPr/>
                <p:nvPr/>
              </p:nvSpPr>
              <p:spPr>
                <a:xfrm>
                  <a:off x="561" y="2784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计算机编程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80" name="Rectangle 96"/>
                <p:cNvSpPr/>
                <p:nvPr/>
              </p:nvSpPr>
              <p:spPr>
                <a:xfrm>
                  <a:off x="518" y="2784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58" name="Group 97"/>
              <p:cNvGrpSpPr/>
              <p:nvPr/>
            </p:nvGrpSpPr>
            <p:grpSpPr>
              <a:xfrm>
                <a:off x="2736" y="2177"/>
                <a:ext cx="1581" cy="233"/>
                <a:chOff x="2504" y="2784"/>
                <a:chExt cx="950" cy="384"/>
              </a:xfrm>
            </p:grpSpPr>
            <p:sp>
              <p:nvSpPr>
                <p:cNvPr id="38977" name="Rectangle 98"/>
                <p:cNvSpPr/>
                <p:nvPr/>
              </p:nvSpPr>
              <p:spPr>
                <a:xfrm>
                  <a:off x="2547" y="2784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 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78" name="Rectangle 99"/>
                <p:cNvSpPr/>
                <p:nvPr/>
              </p:nvSpPr>
              <p:spPr>
                <a:xfrm>
                  <a:off x="2504" y="2784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59" name="Group 100"/>
              <p:cNvGrpSpPr/>
              <p:nvPr/>
            </p:nvGrpSpPr>
            <p:grpSpPr>
              <a:xfrm>
                <a:off x="960" y="2404"/>
                <a:ext cx="670" cy="240"/>
                <a:chOff x="0" y="3168"/>
                <a:chExt cx="518" cy="384"/>
              </a:xfrm>
            </p:grpSpPr>
            <p:sp>
              <p:nvSpPr>
                <p:cNvPr id="38975" name="Rectangle 101"/>
                <p:cNvSpPr/>
                <p:nvPr/>
              </p:nvSpPr>
              <p:spPr>
                <a:xfrm>
                  <a:off x="43" y="3168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8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76" name="Rectangle 102"/>
                <p:cNvSpPr/>
                <p:nvPr/>
              </p:nvSpPr>
              <p:spPr>
                <a:xfrm>
                  <a:off x="0" y="3168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60" name="Group 103"/>
              <p:cNvGrpSpPr/>
              <p:nvPr/>
            </p:nvGrpSpPr>
            <p:grpSpPr>
              <a:xfrm>
                <a:off x="1630" y="2410"/>
                <a:ext cx="1102" cy="234"/>
                <a:chOff x="518" y="3168"/>
                <a:chExt cx="662" cy="384"/>
              </a:xfrm>
            </p:grpSpPr>
            <p:sp>
              <p:nvSpPr>
                <p:cNvPr id="38973" name="Rectangle 104"/>
                <p:cNvSpPr/>
                <p:nvPr/>
              </p:nvSpPr>
              <p:spPr>
                <a:xfrm>
                  <a:off x="561" y="3168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预测理论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74" name="Rectangle 105"/>
                <p:cNvSpPr/>
                <p:nvPr/>
              </p:nvSpPr>
              <p:spPr>
                <a:xfrm>
                  <a:off x="518" y="3168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61" name="Group 106"/>
              <p:cNvGrpSpPr/>
              <p:nvPr/>
            </p:nvGrpSpPr>
            <p:grpSpPr>
              <a:xfrm>
                <a:off x="2736" y="2410"/>
                <a:ext cx="1581" cy="234"/>
                <a:chOff x="2504" y="3168"/>
                <a:chExt cx="950" cy="384"/>
              </a:xfrm>
            </p:grpSpPr>
            <p:sp>
              <p:nvSpPr>
                <p:cNvPr id="38971" name="Rectangle 107"/>
                <p:cNvSpPr/>
                <p:nvPr/>
              </p:nvSpPr>
              <p:spPr>
                <a:xfrm>
                  <a:off x="2547" y="3168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应用统计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72" name="Rectangle 108"/>
                <p:cNvSpPr/>
                <p:nvPr/>
              </p:nvSpPr>
              <p:spPr>
                <a:xfrm>
                  <a:off x="2504" y="3168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62" name="Group 109"/>
              <p:cNvGrpSpPr/>
              <p:nvPr/>
            </p:nvGrpSpPr>
            <p:grpSpPr>
              <a:xfrm>
                <a:off x="960" y="2638"/>
                <a:ext cx="670" cy="240"/>
                <a:chOff x="0" y="3552"/>
                <a:chExt cx="518" cy="384"/>
              </a:xfrm>
            </p:grpSpPr>
            <p:sp>
              <p:nvSpPr>
                <p:cNvPr id="38969" name="Rectangle 110"/>
                <p:cNvSpPr/>
                <p:nvPr/>
              </p:nvSpPr>
              <p:spPr>
                <a:xfrm>
                  <a:off x="43" y="3552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9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70" name="Rectangle 111"/>
                <p:cNvSpPr/>
                <p:nvPr/>
              </p:nvSpPr>
              <p:spPr>
                <a:xfrm>
                  <a:off x="0" y="3552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63" name="Group 112"/>
              <p:cNvGrpSpPr/>
              <p:nvPr/>
            </p:nvGrpSpPr>
            <p:grpSpPr>
              <a:xfrm>
                <a:off x="1630" y="2644"/>
                <a:ext cx="1102" cy="234"/>
                <a:chOff x="518" y="3552"/>
                <a:chExt cx="662" cy="384"/>
              </a:xfrm>
            </p:grpSpPr>
            <p:sp>
              <p:nvSpPr>
                <p:cNvPr id="38967" name="Rectangle 113"/>
                <p:cNvSpPr/>
                <p:nvPr/>
              </p:nvSpPr>
              <p:spPr>
                <a:xfrm>
                  <a:off x="561" y="3552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数学实验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68" name="Rectangle 114"/>
                <p:cNvSpPr/>
                <p:nvPr/>
              </p:nvSpPr>
              <p:spPr>
                <a:xfrm>
                  <a:off x="518" y="3552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8964" name="Group 115"/>
              <p:cNvGrpSpPr/>
              <p:nvPr/>
            </p:nvGrpSpPr>
            <p:grpSpPr>
              <a:xfrm>
                <a:off x="2736" y="2644"/>
                <a:ext cx="1581" cy="234"/>
                <a:chOff x="2504" y="3552"/>
                <a:chExt cx="950" cy="384"/>
              </a:xfrm>
            </p:grpSpPr>
            <p:sp>
              <p:nvSpPr>
                <p:cNvPr id="38965" name="Rectangle 116"/>
                <p:cNvSpPr/>
                <p:nvPr/>
              </p:nvSpPr>
              <p:spPr>
                <a:xfrm>
                  <a:off x="2547" y="3552"/>
                  <a:ext cx="86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微积分；线性代数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66" name="Rectangle 117"/>
                <p:cNvSpPr/>
                <p:nvPr/>
              </p:nvSpPr>
              <p:spPr>
                <a:xfrm>
                  <a:off x="2504" y="3552"/>
                  <a:ext cx="950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38934" name="Line 118"/>
            <p:cNvSpPr/>
            <p:nvPr/>
          </p:nvSpPr>
          <p:spPr>
            <a:xfrm>
              <a:off x="720" y="1248"/>
              <a:ext cx="26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7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7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animBg="1"/>
      <p:bldP spid="57352" grpId="0" animBg="1"/>
      <p:bldP spid="57357" grpId="0" animBg="1"/>
      <p:bldP spid="57358" grpId="0" animBg="1"/>
      <p:bldP spid="5736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Text Box 2"/>
          <p:cNvSpPr txBox="1"/>
          <p:nvPr/>
        </p:nvSpPr>
        <p:spPr>
          <a:xfrm>
            <a:off x="5562600" y="1071563"/>
            <a:ext cx="1752600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学分最多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58371" name="Text Box 3"/>
          <p:cNvSpPr txBox="1"/>
          <p:nvPr/>
        </p:nvSpPr>
        <p:spPr>
          <a:xfrm>
            <a:off x="762000" y="3500438"/>
            <a:ext cx="71945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多目标优化的处理方法：化成单目标优化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58372" name="Text Box 4"/>
          <p:cNvSpPr txBox="1"/>
          <p:nvPr/>
        </p:nvSpPr>
        <p:spPr>
          <a:xfrm>
            <a:off x="762000" y="2900363"/>
            <a:ext cx="40386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两目标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多目标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规划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9938" name="Object 5"/>
          <p:cNvGraphicFramePr/>
          <p:nvPr/>
        </p:nvGraphicFramePr>
        <p:xfrm>
          <a:off x="3930650" y="1681163"/>
          <a:ext cx="47974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" r:id="rId1" imgW="2286000" imgH="457200" progId="Equation.3">
                  <p:embed/>
                </p:oleObj>
              </mc:Choice>
              <mc:Fallback>
                <p:oleObj name="" r:id="rId1" imgW="2286000" imgH="457200" progId="Equation.3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30650" y="1681163"/>
                        <a:ext cx="4797425" cy="1108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6"/>
          <p:cNvGraphicFramePr/>
          <p:nvPr/>
        </p:nvGraphicFramePr>
        <p:xfrm>
          <a:off x="5351463" y="2976563"/>
          <a:ext cx="22748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3" name="" r:id="rId3" imgW="850265" imgH="203200" progId="Equation.3">
                  <p:embed/>
                </p:oleObj>
              </mc:Choice>
              <mc:Fallback>
                <p:oleObj name="" r:id="rId3" imgW="850265" imgH="203200" progId="Equation.3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51463" y="2976563"/>
                        <a:ext cx="2274887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4" name="Text Box 7"/>
          <p:cNvSpPr txBox="1"/>
          <p:nvPr/>
        </p:nvSpPr>
        <p:spPr>
          <a:xfrm>
            <a:off x="152400" y="407988"/>
            <a:ext cx="8839200" cy="58261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algn="ctr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讨论：选修课程最少，学分尽量多，应学习哪些课程？ 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9940" name="Object 8"/>
          <p:cNvGraphicFramePr/>
          <p:nvPr/>
        </p:nvGraphicFramePr>
        <p:xfrm>
          <a:off x="777875" y="1681163"/>
          <a:ext cx="2633663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" name="" r:id="rId5" imgW="989965" imgH="431800" progId="Equation.3">
                  <p:embed/>
                </p:oleObj>
              </mc:Choice>
              <mc:Fallback>
                <p:oleObj name="" r:id="rId5" imgW="989965" imgH="431800" progId="Equation.3">
                  <p:embed/>
                  <p:pic>
                    <p:nvPicPr>
                      <p:cNvPr id="0" name="图片 327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7875" y="1681163"/>
                        <a:ext cx="2633663" cy="1109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Text Box 9"/>
          <p:cNvSpPr txBox="1"/>
          <p:nvPr/>
        </p:nvSpPr>
        <p:spPr>
          <a:xfrm>
            <a:off x="1219200" y="1071563"/>
            <a:ext cx="1676400" cy="604837"/>
          </a:xfrm>
          <a:prstGeom prst="rect">
            <a:avLst/>
          </a:prstGeom>
          <a:solidFill>
            <a:srgbClr val="99FFCC"/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课程最少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8378" name="Text Box 10"/>
          <p:cNvSpPr txBox="1"/>
          <p:nvPr/>
        </p:nvSpPr>
        <p:spPr>
          <a:xfrm>
            <a:off x="762000" y="5249863"/>
            <a:ext cx="3429000" cy="11176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algn="ctr"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以</a:t>
            </a:r>
            <a:r>
              <a:rPr lang="zh-CN" altLang="en-US" sz="2800" b="1" dirty="0">
                <a:latin typeface="宋体" panose="02010600030101010101" pitchFamily="2" charset="-122"/>
              </a:rPr>
              <a:t>学分最多为目标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</a:rPr>
              <a:t>不管课程多少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58379" name="Text Box 11"/>
          <p:cNvSpPr txBox="1"/>
          <p:nvPr/>
        </p:nvSpPr>
        <p:spPr>
          <a:xfrm>
            <a:off x="611188" y="4005263"/>
            <a:ext cx="3579812" cy="1117600"/>
          </a:xfrm>
          <a:prstGeom prst="rect">
            <a:avLst/>
          </a:prstGeom>
          <a:solidFill>
            <a:srgbClr val="66FFFF"/>
          </a:solidFill>
          <a:ln w="9525">
            <a:noFill/>
          </a:ln>
        </p:spPr>
        <p:txBody>
          <a:bodyPr>
            <a:spAutoFit/>
          </a:bodyPr>
          <a:p>
            <a:pPr algn="ctr"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以课程最少</a:t>
            </a:r>
            <a:r>
              <a:rPr lang="zh-CN" altLang="en-US" sz="2800" b="1" dirty="0">
                <a:latin typeface="宋体" panose="02010600030101010101" pitchFamily="2" charset="-122"/>
              </a:rPr>
              <a:t>为目标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</a:rPr>
              <a:t>不管学分多少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39948" name="Text Box 12"/>
          <p:cNvSpPr txBox="1"/>
          <p:nvPr/>
        </p:nvSpPr>
        <p:spPr>
          <a:xfrm>
            <a:off x="4724400" y="4122738"/>
            <a:ext cx="3505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endParaRPr lang="zh-CN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4419600" y="4005263"/>
            <a:ext cx="3276600" cy="1117600"/>
            <a:chOff x="2784" y="2592"/>
            <a:chExt cx="2064" cy="704"/>
          </a:xfrm>
        </p:grpSpPr>
        <p:sp>
          <p:nvSpPr>
            <p:cNvPr id="39953" name="Text Box 14"/>
            <p:cNvSpPr txBox="1"/>
            <p:nvPr/>
          </p:nvSpPr>
          <p:spPr>
            <a:xfrm>
              <a:off x="2976" y="2592"/>
              <a:ext cx="1872" cy="704"/>
            </a:xfrm>
            <a:prstGeom prst="rect">
              <a:avLst/>
            </a:prstGeom>
            <a:solidFill>
              <a:srgbClr val="66FFFF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 dirty="0">
                  <a:latin typeface="宋体" panose="02010600030101010101" pitchFamily="2" charset="-122"/>
                </a:rPr>
                <a:t>最优解如上，</a:t>
              </a:r>
              <a:r>
                <a:rPr lang="en-US" altLang="zh-CN" sz="2800" b="1">
                  <a:latin typeface="Times New Roman" panose="02020603050405020304" pitchFamily="18" charset="0"/>
                </a:rPr>
                <a:t>6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门课程，总学分</a:t>
              </a:r>
              <a:r>
                <a:rPr lang="en-US" altLang="zh-CN" sz="2800" b="1">
                  <a:latin typeface="Times New Roman" panose="02020603050405020304" pitchFamily="18" charset="0"/>
                </a:rPr>
                <a:t>21 .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39954" name="AutoShape 15"/>
            <p:cNvSpPr/>
            <p:nvPr/>
          </p:nvSpPr>
          <p:spPr>
            <a:xfrm>
              <a:off x="2784" y="2832"/>
              <a:ext cx="96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66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6"/>
          <p:cNvGrpSpPr/>
          <p:nvPr/>
        </p:nvGrpSpPr>
        <p:grpSpPr>
          <a:xfrm>
            <a:off x="4343400" y="5224463"/>
            <a:ext cx="3352800" cy="1117600"/>
            <a:chOff x="2736" y="3360"/>
            <a:chExt cx="2112" cy="704"/>
          </a:xfrm>
        </p:grpSpPr>
        <p:sp>
          <p:nvSpPr>
            <p:cNvPr id="39951" name="Text Box 17"/>
            <p:cNvSpPr txBox="1"/>
            <p:nvPr/>
          </p:nvSpPr>
          <p:spPr>
            <a:xfrm>
              <a:off x="2928" y="3360"/>
              <a:ext cx="1920" cy="704"/>
            </a:xfrm>
            <a:prstGeom prst="rect">
              <a:avLst/>
            </a:prstGeom>
            <a:solidFill>
              <a:srgbClr val="FFCCFF"/>
            </a:solidFill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 dirty="0">
                  <a:latin typeface="宋体" panose="02010600030101010101" pitchFamily="2" charset="-122"/>
                </a:rPr>
                <a:t>最优解显然是选修所有</a:t>
              </a:r>
              <a:r>
                <a:rPr lang="en-US" altLang="zh-CN" sz="2800" b="1">
                  <a:latin typeface="Times New Roman" panose="02020603050405020304" pitchFamily="18" charset="0"/>
                </a:rPr>
                <a:t>9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门课程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>
                  <a:latin typeface="Times New Roman" panose="02020603050405020304" pitchFamily="18" charset="0"/>
                </a:rPr>
                <a:t>.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39952" name="AutoShape 18"/>
            <p:cNvSpPr/>
            <p:nvPr/>
          </p:nvSpPr>
          <p:spPr>
            <a:xfrm>
              <a:off x="2736" y="3534"/>
              <a:ext cx="96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nimBg="1"/>
      <p:bldP spid="58371" grpId="0"/>
      <p:bldP spid="58372" grpId="0" animBg="1"/>
      <p:bldP spid="58377" grpId="0" animBg="1"/>
      <p:bldP spid="58378" grpId="0" animBg="1"/>
      <p:bldP spid="5837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4" name="Text Box 2"/>
          <p:cNvSpPr txBox="1"/>
          <p:nvPr/>
        </p:nvSpPr>
        <p:spPr>
          <a:xfrm>
            <a:off x="609600" y="450850"/>
            <a:ext cx="2438400" cy="5794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多目标规划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9395" name="Text Box 3"/>
          <p:cNvSpPr txBox="1"/>
          <p:nvPr/>
        </p:nvSpPr>
        <p:spPr>
          <a:xfrm>
            <a:off x="533400" y="1136650"/>
            <a:ext cx="3751263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</a:t>
            </a:r>
            <a:r>
              <a:rPr lang="zh-CN" altLang="en-US" sz="2800" b="1" dirty="0">
                <a:latin typeface="宋体" panose="02010600030101010101" pitchFamily="2" charset="-122"/>
              </a:rPr>
              <a:t>课程最少的前提下</a:t>
            </a:r>
            <a:r>
              <a:rPr lang="zh-CN" altLang="en-US" sz="2800" b="1" dirty="0">
                <a:latin typeface="Times New Roman" panose="02020603050405020304" pitchFamily="18" charset="0"/>
              </a:rPr>
              <a:t>以</a:t>
            </a:r>
            <a:r>
              <a:rPr lang="zh-CN" altLang="en-US" sz="2800" b="1" dirty="0">
                <a:latin typeface="宋体" panose="02010600030101010101" pitchFamily="2" charset="-122"/>
              </a:rPr>
              <a:t>学分最多为目标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59396" name="Text Box 4"/>
          <p:cNvSpPr txBox="1"/>
          <p:nvPr/>
        </p:nvSpPr>
        <p:spPr>
          <a:xfrm>
            <a:off x="4953000" y="2432050"/>
            <a:ext cx="4191000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最优解：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9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 =1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zh-CN" altLang="en-US" sz="2800" b="1" dirty="0">
                <a:latin typeface="宋体" panose="02010600030101010101" pitchFamily="2" charset="-122"/>
              </a:rPr>
              <a:t>其他为</a:t>
            </a:r>
            <a:r>
              <a:rPr lang="en-US" altLang="zh-CN" sz="2800" b="1"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</a:rPr>
              <a:t>；</a:t>
            </a:r>
            <a:r>
              <a:rPr lang="zh-CN" altLang="en-US" sz="2800" b="1" dirty="0">
                <a:latin typeface="宋体" panose="02010600030101010101" pitchFamily="2" charset="-122"/>
              </a:rPr>
              <a:t>总学分由</a:t>
            </a:r>
            <a:r>
              <a:rPr lang="en-US" altLang="zh-CN" sz="2800" b="1">
                <a:latin typeface="Times New Roman" panose="02020603050405020304" pitchFamily="18" charset="0"/>
              </a:rPr>
              <a:t>21</a:t>
            </a:r>
            <a:r>
              <a:rPr lang="zh-CN" altLang="en-US" sz="2800" b="1" dirty="0">
                <a:latin typeface="Times New Roman" panose="02020603050405020304" pitchFamily="18" charset="0"/>
              </a:rPr>
              <a:t>增至</a:t>
            </a:r>
            <a:r>
              <a:rPr lang="en-US" altLang="zh-CN" sz="2800" b="1">
                <a:latin typeface="Times New Roman" panose="02020603050405020304" pitchFamily="18" charset="0"/>
              </a:rPr>
              <a:t>22.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9397" name="Text Box 5"/>
          <p:cNvSpPr txBox="1"/>
          <p:nvPr/>
        </p:nvSpPr>
        <p:spPr>
          <a:xfrm>
            <a:off x="4953000" y="4184650"/>
            <a:ext cx="40116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注意：最优解不唯一！</a:t>
            </a:r>
            <a:endParaRPr lang="zh-CN" altLang="en-US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350838" y="2432050"/>
            <a:ext cx="4297362" cy="3825875"/>
            <a:chOff x="221" y="1488"/>
            <a:chExt cx="2707" cy="2410"/>
          </a:xfrm>
        </p:grpSpPr>
        <p:grpSp>
          <p:nvGrpSpPr>
            <p:cNvPr id="40980" name="Group 7"/>
            <p:cNvGrpSpPr/>
            <p:nvPr/>
          </p:nvGrpSpPr>
          <p:grpSpPr>
            <a:xfrm>
              <a:off x="221" y="1488"/>
              <a:ext cx="2707" cy="2396"/>
              <a:chOff x="221" y="1536"/>
              <a:chExt cx="2707" cy="2396"/>
            </a:xfrm>
          </p:grpSpPr>
          <p:grpSp>
            <p:nvGrpSpPr>
              <p:cNvPr id="40984" name="Group 8"/>
              <p:cNvGrpSpPr/>
              <p:nvPr/>
            </p:nvGrpSpPr>
            <p:grpSpPr>
              <a:xfrm>
                <a:off x="221" y="1536"/>
                <a:ext cx="862" cy="292"/>
                <a:chOff x="0" y="0"/>
                <a:chExt cx="518" cy="480"/>
              </a:xfrm>
            </p:grpSpPr>
            <p:sp>
              <p:nvSpPr>
                <p:cNvPr id="41072" name="Rectangle 9"/>
                <p:cNvSpPr/>
                <p:nvPr/>
              </p:nvSpPr>
              <p:spPr>
                <a:xfrm>
                  <a:off x="43" y="0"/>
                  <a:ext cx="432" cy="48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课号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73" name="Rectangle 10"/>
                <p:cNvSpPr/>
                <p:nvPr/>
              </p:nvSpPr>
              <p:spPr>
                <a:xfrm>
                  <a:off x="0" y="0"/>
                  <a:ext cx="518" cy="48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85" name="Group 11"/>
              <p:cNvGrpSpPr/>
              <p:nvPr/>
            </p:nvGrpSpPr>
            <p:grpSpPr>
              <a:xfrm>
                <a:off x="1083" y="1536"/>
                <a:ext cx="1102" cy="292"/>
                <a:chOff x="518" y="0"/>
                <a:chExt cx="662" cy="480"/>
              </a:xfrm>
            </p:grpSpPr>
            <p:sp>
              <p:nvSpPr>
                <p:cNvPr id="41070" name="Rectangle 12"/>
                <p:cNvSpPr/>
                <p:nvPr/>
              </p:nvSpPr>
              <p:spPr>
                <a:xfrm>
                  <a:off x="561" y="0"/>
                  <a:ext cx="576" cy="48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课名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71" name="Rectangle 13"/>
                <p:cNvSpPr/>
                <p:nvPr/>
              </p:nvSpPr>
              <p:spPr>
                <a:xfrm>
                  <a:off x="518" y="0"/>
                  <a:ext cx="662" cy="48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86" name="Group 14"/>
              <p:cNvGrpSpPr/>
              <p:nvPr/>
            </p:nvGrpSpPr>
            <p:grpSpPr>
              <a:xfrm>
                <a:off x="2185" y="1536"/>
                <a:ext cx="743" cy="292"/>
                <a:chOff x="1180" y="0"/>
                <a:chExt cx="446" cy="480"/>
              </a:xfrm>
            </p:grpSpPr>
            <p:sp>
              <p:nvSpPr>
                <p:cNvPr id="41068" name="Rectangle 15"/>
                <p:cNvSpPr/>
                <p:nvPr/>
              </p:nvSpPr>
              <p:spPr>
                <a:xfrm>
                  <a:off x="1223" y="0"/>
                  <a:ext cx="360" cy="48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学分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69" name="Rectangle 16"/>
                <p:cNvSpPr/>
                <p:nvPr/>
              </p:nvSpPr>
              <p:spPr>
                <a:xfrm>
                  <a:off x="1180" y="0"/>
                  <a:ext cx="446" cy="48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87" name="Group 17"/>
              <p:cNvGrpSpPr/>
              <p:nvPr/>
            </p:nvGrpSpPr>
            <p:grpSpPr>
              <a:xfrm>
                <a:off x="221" y="1828"/>
                <a:ext cx="862" cy="234"/>
                <a:chOff x="0" y="480"/>
                <a:chExt cx="518" cy="384"/>
              </a:xfrm>
            </p:grpSpPr>
            <p:sp>
              <p:nvSpPr>
                <p:cNvPr id="41066" name="Rectangle 18"/>
                <p:cNvSpPr/>
                <p:nvPr/>
              </p:nvSpPr>
              <p:spPr>
                <a:xfrm>
                  <a:off x="43" y="480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67" name="Rectangle 19"/>
                <p:cNvSpPr/>
                <p:nvPr/>
              </p:nvSpPr>
              <p:spPr>
                <a:xfrm>
                  <a:off x="0" y="480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88" name="Group 20"/>
              <p:cNvGrpSpPr/>
              <p:nvPr/>
            </p:nvGrpSpPr>
            <p:grpSpPr>
              <a:xfrm>
                <a:off x="1083" y="1828"/>
                <a:ext cx="1102" cy="234"/>
                <a:chOff x="518" y="480"/>
                <a:chExt cx="662" cy="384"/>
              </a:xfrm>
            </p:grpSpPr>
            <p:sp>
              <p:nvSpPr>
                <p:cNvPr id="41064" name="Rectangle 21"/>
                <p:cNvSpPr/>
                <p:nvPr/>
              </p:nvSpPr>
              <p:spPr>
                <a:xfrm>
                  <a:off x="561" y="480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微积分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65" name="Rectangle 22"/>
                <p:cNvSpPr/>
                <p:nvPr/>
              </p:nvSpPr>
              <p:spPr>
                <a:xfrm>
                  <a:off x="518" y="480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89" name="Group 23"/>
              <p:cNvGrpSpPr/>
              <p:nvPr/>
            </p:nvGrpSpPr>
            <p:grpSpPr>
              <a:xfrm>
                <a:off x="2185" y="1828"/>
                <a:ext cx="743" cy="234"/>
                <a:chOff x="1180" y="480"/>
                <a:chExt cx="446" cy="384"/>
              </a:xfrm>
            </p:grpSpPr>
            <p:sp>
              <p:nvSpPr>
                <p:cNvPr id="41062" name="Rectangle 24"/>
                <p:cNvSpPr/>
                <p:nvPr/>
              </p:nvSpPr>
              <p:spPr>
                <a:xfrm>
                  <a:off x="1223" y="480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5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63" name="Rectangle 25"/>
                <p:cNvSpPr/>
                <p:nvPr/>
              </p:nvSpPr>
              <p:spPr>
                <a:xfrm>
                  <a:off x="1180" y="480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90" name="Group 26"/>
              <p:cNvGrpSpPr/>
              <p:nvPr/>
            </p:nvGrpSpPr>
            <p:grpSpPr>
              <a:xfrm>
                <a:off x="221" y="2062"/>
                <a:ext cx="862" cy="234"/>
                <a:chOff x="0" y="864"/>
                <a:chExt cx="518" cy="384"/>
              </a:xfrm>
            </p:grpSpPr>
            <p:sp>
              <p:nvSpPr>
                <p:cNvPr id="41060" name="Rectangle 27"/>
                <p:cNvSpPr/>
                <p:nvPr/>
              </p:nvSpPr>
              <p:spPr>
                <a:xfrm>
                  <a:off x="43" y="864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61" name="Rectangle 28"/>
                <p:cNvSpPr/>
                <p:nvPr/>
              </p:nvSpPr>
              <p:spPr>
                <a:xfrm>
                  <a:off x="0" y="864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91" name="Group 29"/>
              <p:cNvGrpSpPr/>
              <p:nvPr/>
            </p:nvGrpSpPr>
            <p:grpSpPr>
              <a:xfrm>
                <a:off x="1083" y="2062"/>
                <a:ext cx="1102" cy="234"/>
                <a:chOff x="518" y="864"/>
                <a:chExt cx="662" cy="384"/>
              </a:xfrm>
            </p:grpSpPr>
            <p:sp>
              <p:nvSpPr>
                <p:cNvPr id="41058" name="Rectangle 30"/>
                <p:cNvSpPr/>
                <p:nvPr/>
              </p:nvSpPr>
              <p:spPr>
                <a:xfrm>
                  <a:off x="561" y="864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线性代数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59" name="Rectangle 31"/>
                <p:cNvSpPr/>
                <p:nvPr/>
              </p:nvSpPr>
              <p:spPr>
                <a:xfrm>
                  <a:off x="518" y="864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92" name="Group 32"/>
              <p:cNvGrpSpPr/>
              <p:nvPr/>
            </p:nvGrpSpPr>
            <p:grpSpPr>
              <a:xfrm>
                <a:off x="2185" y="2062"/>
                <a:ext cx="743" cy="234"/>
                <a:chOff x="1180" y="864"/>
                <a:chExt cx="446" cy="384"/>
              </a:xfrm>
            </p:grpSpPr>
            <p:sp>
              <p:nvSpPr>
                <p:cNvPr id="41056" name="Rectangle 33"/>
                <p:cNvSpPr/>
                <p:nvPr/>
              </p:nvSpPr>
              <p:spPr>
                <a:xfrm>
                  <a:off x="1223" y="864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57" name="Rectangle 34"/>
                <p:cNvSpPr/>
                <p:nvPr/>
              </p:nvSpPr>
              <p:spPr>
                <a:xfrm>
                  <a:off x="1180" y="864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93" name="Group 35"/>
              <p:cNvGrpSpPr/>
              <p:nvPr/>
            </p:nvGrpSpPr>
            <p:grpSpPr>
              <a:xfrm>
                <a:off x="221" y="2296"/>
                <a:ext cx="862" cy="233"/>
                <a:chOff x="0" y="1248"/>
                <a:chExt cx="518" cy="384"/>
              </a:xfrm>
            </p:grpSpPr>
            <p:sp>
              <p:nvSpPr>
                <p:cNvPr id="41054" name="Rectangle 36"/>
                <p:cNvSpPr/>
                <p:nvPr/>
              </p:nvSpPr>
              <p:spPr>
                <a:xfrm>
                  <a:off x="43" y="1248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55" name="Rectangle 37"/>
                <p:cNvSpPr/>
                <p:nvPr/>
              </p:nvSpPr>
              <p:spPr>
                <a:xfrm>
                  <a:off x="0" y="1248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94" name="Group 38"/>
              <p:cNvGrpSpPr/>
              <p:nvPr/>
            </p:nvGrpSpPr>
            <p:grpSpPr>
              <a:xfrm>
                <a:off x="1083" y="2296"/>
                <a:ext cx="1102" cy="233"/>
                <a:chOff x="518" y="1248"/>
                <a:chExt cx="662" cy="384"/>
              </a:xfrm>
            </p:grpSpPr>
            <p:sp>
              <p:nvSpPr>
                <p:cNvPr id="41052" name="Rectangle 39"/>
                <p:cNvSpPr/>
                <p:nvPr/>
              </p:nvSpPr>
              <p:spPr>
                <a:xfrm>
                  <a:off x="561" y="1248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最优化方法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53" name="Rectangle 40"/>
                <p:cNvSpPr/>
                <p:nvPr/>
              </p:nvSpPr>
              <p:spPr>
                <a:xfrm>
                  <a:off x="518" y="1248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95" name="Group 41"/>
              <p:cNvGrpSpPr/>
              <p:nvPr/>
            </p:nvGrpSpPr>
            <p:grpSpPr>
              <a:xfrm>
                <a:off x="2185" y="2296"/>
                <a:ext cx="743" cy="233"/>
                <a:chOff x="1180" y="1248"/>
                <a:chExt cx="446" cy="384"/>
              </a:xfrm>
            </p:grpSpPr>
            <p:sp>
              <p:nvSpPr>
                <p:cNvPr id="41050" name="Rectangle 42"/>
                <p:cNvSpPr/>
                <p:nvPr/>
              </p:nvSpPr>
              <p:spPr>
                <a:xfrm>
                  <a:off x="1223" y="1248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51" name="Rectangle 43"/>
                <p:cNvSpPr/>
                <p:nvPr/>
              </p:nvSpPr>
              <p:spPr>
                <a:xfrm>
                  <a:off x="1180" y="1248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96" name="Group 44"/>
              <p:cNvGrpSpPr/>
              <p:nvPr/>
            </p:nvGrpSpPr>
            <p:grpSpPr>
              <a:xfrm>
                <a:off x="221" y="2529"/>
                <a:ext cx="862" cy="234"/>
                <a:chOff x="0" y="1632"/>
                <a:chExt cx="518" cy="384"/>
              </a:xfrm>
            </p:grpSpPr>
            <p:sp>
              <p:nvSpPr>
                <p:cNvPr id="41048" name="Rectangle 45"/>
                <p:cNvSpPr/>
                <p:nvPr/>
              </p:nvSpPr>
              <p:spPr>
                <a:xfrm>
                  <a:off x="43" y="1632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49" name="Rectangle 46"/>
                <p:cNvSpPr/>
                <p:nvPr/>
              </p:nvSpPr>
              <p:spPr>
                <a:xfrm>
                  <a:off x="0" y="1632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97" name="Group 47"/>
              <p:cNvGrpSpPr/>
              <p:nvPr/>
            </p:nvGrpSpPr>
            <p:grpSpPr>
              <a:xfrm>
                <a:off x="1083" y="2529"/>
                <a:ext cx="1102" cy="234"/>
                <a:chOff x="518" y="1632"/>
                <a:chExt cx="662" cy="384"/>
              </a:xfrm>
            </p:grpSpPr>
            <p:sp>
              <p:nvSpPr>
                <p:cNvPr id="41046" name="Rectangle 48"/>
                <p:cNvSpPr/>
                <p:nvPr/>
              </p:nvSpPr>
              <p:spPr>
                <a:xfrm>
                  <a:off x="561" y="1632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数据结构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47" name="Rectangle 49"/>
                <p:cNvSpPr/>
                <p:nvPr/>
              </p:nvSpPr>
              <p:spPr>
                <a:xfrm>
                  <a:off x="518" y="1632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98" name="Group 50"/>
              <p:cNvGrpSpPr/>
              <p:nvPr/>
            </p:nvGrpSpPr>
            <p:grpSpPr>
              <a:xfrm>
                <a:off x="2185" y="2529"/>
                <a:ext cx="743" cy="234"/>
                <a:chOff x="1180" y="1632"/>
                <a:chExt cx="446" cy="384"/>
              </a:xfrm>
            </p:grpSpPr>
            <p:sp>
              <p:nvSpPr>
                <p:cNvPr id="41044" name="Rectangle 51"/>
                <p:cNvSpPr/>
                <p:nvPr/>
              </p:nvSpPr>
              <p:spPr>
                <a:xfrm>
                  <a:off x="1223" y="1632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45" name="Rectangle 52"/>
                <p:cNvSpPr/>
                <p:nvPr/>
              </p:nvSpPr>
              <p:spPr>
                <a:xfrm>
                  <a:off x="1180" y="1632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0999" name="Group 53"/>
              <p:cNvGrpSpPr/>
              <p:nvPr/>
            </p:nvGrpSpPr>
            <p:grpSpPr>
              <a:xfrm>
                <a:off x="221" y="2763"/>
                <a:ext cx="862" cy="234"/>
                <a:chOff x="0" y="2016"/>
                <a:chExt cx="518" cy="384"/>
              </a:xfrm>
            </p:grpSpPr>
            <p:sp>
              <p:nvSpPr>
                <p:cNvPr id="41042" name="Rectangle 54"/>
                <p:cNvSpPr/>
                <p:nvPr/>
              </p:nvSpPr>
              <p:spPr>
                <a:xfrm>
                  <a:off x="43" y="2016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5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43" name="Rectangle 55"/>
                <p:cNvSpPr/>
                <p:nvPr/>
              </p:nvSpPr>
              <p:spPr>
                <a:xfrm>
                  <a:off x="0" y="2016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000" name="Group 56"/>
              <p:cNvGrpSpPr/>
              <p:nvPr/>
            </p:nvGrpSpPr>
            <p:grpSpPr>
              <a:xfrm>
                <a:off x="1083" y="2763"/>
                <a:ext cx="1102" cy="234"/>
                <a:chOff x="518" y="2016"/>
                <a:chExt cx="662" cy="384"/>
              </a:xfrm>
            </p:grpSpPr>
            <p:sp>
              <p:nvSpPr>
                <p:cNvPr id="41040" name="Rectangle 57"/>
                <p:cNvSpPr/>
                <p:nvPr/>
              </p:nvSpPr>
              <p:spPr>
                <a:xfrm>
                  <a:off x="561" y="2016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应用统计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41" name="Rectangle 58"/>
                <p:cNvSpPr/>
                <p:nvPr/>
              </p:nvSpPr>
              <p:spPr>
                <a:xfrm>
                  <a:off x="518" y="2016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001" name="Group 59"/>
              <p:cNvGrpSpPr/>
              <p:nvPr/>
            </p:nvGrpSpPr>
            <p:grpSpPr>
              <a:xfrm>
                <a:off x="2185" y="2763"/>
                <a:ext cx="743" cy="234"/>
                <a:chOff x="1180" y="2016"/>
                <a:chExt cx="446" cy="384"/>
              </a:xfrm>
            </p:grpSpPr>
            <p:sp>
              <p:nvSpPr>
                <p:cNvPr id="41038" name="Rectangle 60"/>
                <p:cNvSpPr/>
                <p:nvPr/>
              </p:nvSpPr>
              <p:spPr>
                <a:xfrm>
                  <a:off x="1223" y="2016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39" name="Rectangle 61"/>
                <p:cNvSpPr/>
                <p:nvPr/>
              </p:nvSpPr>
              <p:spPr>
                <a:xfrm>
                  <a:off x="1180" y="2016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002" name="Group 62"/>
              <p:cNvGrpSpPr/>
              <p:nvPr/>
            </p:nvGrpSpPr>
            <p:grpSpPr>
              <a:xfrm>
                <a:off x="221" y="2997"/>
                <a:ext cx="862" cy="234"/>
                <a:chOff x="0" y="2400"/>
                <a:chExt cx="518" cy="384"/>
              </a:xfrm>
            </p:grpSpPr>
            <p:sp>
              <p:nvSpPr>
                <p:cNvPr id="41036" name="Rectangle 63"/>
                <p:cNvSpPr/>
                <p:nvPr/>
              </p:nvSpPr>
              <p:spPr>
                <a:xfrm>
                  <a:off x="43" y="2400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6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37" name="Rectangle 64"/>
                <p:cNvSpPr/>
                <p:nvPr/>
              </p:nvSpPr>
              <p:spPr>
                <a:xfrm>
                  <a:off x="0" y="2400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003" name="Group 65"/>
              <p:cNvGrpSpPr/>
              <p:nvPr/>
            </p:nvGrpSpPr>
            <p:grpSpPr>
              <a:xfrm>
                <a:off x="1083" y="2997"/>
                <a:ext cx="1102" cy="234"/>
                <a:chOff x="518" y="2400"/>
                <a:chExt cx="662" cy="384"/>
              </a:xfrm>
            </p:grpSpPr>
            <p:sp>
              <p:nvSpPr>
                <p:cNvPr id="41034" name="Rectangle 66"/>
                <p:cNvSpPr/>
                <p:nvPr/>
              </p:nvSpPr>
              <p:spPr>
                <a:xfrm>
                  <a:off x="561" y="2400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计算机模拟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35" name="Rectangle 67"/>
                <p:cNvSpPr/>
                <p:nvPr/>
              </p:nvSpPr>
              <p:spPr>
                <a:xfrm>
                  <a:off x="518" y="2400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004" name="Group 68"/>
              <p:cNvGrpSpPr/>
              <p:nvPr/>
            </p:nvGrpSpPr>
            <p:grpSpPr>
              <a:xfrm>
                <a:off x="2185" y="2997"/>
                <a:ext cx="743" cy="234"/>
                <a:chOff x="1180" y="2400"/>
                <a:chExt cx="446" cy="384"/>
              </a:xfrm>
            </p:grpSpPr>
            <p:sp>
              <p:nvSpPr>
                <p:cNvPr id="41032" name="Rectangle 69"/>
                <p:cNvSpPr/>
                <p:nvPr/>
              </p:nvSpPr>
              <p:spPr>
                <a:xfrm>
                  <a:off x="1223" y="2400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33" name="Rectangle 70"/>
                <p:cNvSpPr/>
                <p:nvPr/>
              </p:nvSpPr>
              <p:spPr>
                <a:xfrm>
                  <a:off x="1180" y="2400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005" name="Group 71"/>
              <p:cNvGrpSpPr/>
              <p:nvPr/>
            </p:nvGrpSpPr>
            <p:grpSpPr>
              <a:xfrm>
                <a:off x="221" y="3231"/>
                <a:ext cx="862" cy="233"/>
                <a:chOff x="0" y="2784"/>
                <a:chExt cx="518" cy="384"/>
              </a:xfrm>
            </p:grpSpPr>
            <p:sp>
              <p:nvSpPr>
                <p:cNvPr id="41030" name="Rectangle 72"/>
                <p:cNvSpPr/>
                <p:nvPr/>
              </p:nvSpPr>
              <p:spPr>
                <a:xfrm>
                  <a:off x="43" y="2784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7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31" name="Rectangle 73"/>
                <p:cNvSpPr/>
                <p:nvPr/>
              </p:nvSpPr>
              <p:spPr>
                <a:xfrm>
                  <a:off x="0" y="2784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006" name="Group 74"/>
              <p:cNvGrpSpPr/>
              <p:nvPr/>
            </p:nvGrpSpPr>
            <p:grpSpPr>
              <a:xfrm>
                <a:off x="1083" y="3231"/>
                <a:ext cx="1102" cy="233"/>
                <a:chOff x="518" y="2784"/>
                <a:chExt cx="662" cy="384"/>
              </a:xfrm>
            </p:grpSpPr>
            <p:sp>
              <p:nvSpPr>
                <p:cNvPr id="41028" name="Rectangle 75"/>
                <p:cNvSpPr/>
                <p:nvPr/>
              </p:nvSpPr>
              <p:spPr>
                <a:xfrm>
                  <a:off x="561" y="2784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计算机编程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29" name="Rectangle 76"/>
                <p:cNvSpPr/>
                <p:nvPr/>
              </p:nvSpPr>
              <p:spPr>
                <a:xfrm>
                  <a:off x="518" y="2784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007" name="Group 77"/>
              <p:cNvGrpSpPr/>
              <p:nvPr/>
            </p:nvGrpSpPr>
            <p:grpSpPr>
              <a:xfrm>
                <a:off x="2185" y="3231"/>
                <a:ext cx="743" cy="233"/>
                <a:chOff x="1180" y="2784"/>
                <a:chExt cx="446" cy="384"/>
              </a:xfrm>
            </p:grpSpPr>
            <p:sp>
              <p:nvSpPr>
                <p:cNvPr id="41026" name="Rectangle 78"/>
                <p:cNvSpPr/>
                <p:nvPr/>
              </p:nvSpPr>
              <p:spPr>
                <a:xfrm>
                  <a:off x="1223" y="2784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27" name="Rectangle 79"/>
                <p:cNvSpPr/>
                <p:nvPr/>
              </p:nvSpPr>
              <p:spPr>
                <a:xfrm>
                  <a:off x="1180" y="2784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008" name="Group 80"/>
              <p:cNvGrpSpPr/>
              <p:nvPr/>
            </p:nvGrpSpPr>
            <p:grpSpPr>
              <a:xfrm>
                <a:off x="221" y="3464"/>
                <a:ext cx="862" cy="234"/>
                <a:chOff x="0" y="3168"/>
                <a:chExt cx="518" cy="384"/>
              </a:xfrm>
            </p:grpSpPr>
            <p:sp>
              <p:nvSpPr>
                <p:cNvPr id="41024" name="Rectangle 81"/>
                <p:cNvSpPr/>
                <p:nvPr/>
              </p:nvSpPr>
              <p:spPr>
                <a:xfrm>
                  <a:off x="43" y="3168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8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25" name="Rectangle 82"/>
                <p:cNvSpPr/>
                <p:nvPr/>
              </p:nvSpPr>
              <p:spPr>
                <a:xfrm>
                  <a:off x="0" y="3168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009" name="Group 83"/>
              <p:cNvGrpSpPr/>
              <p:nvPr/>
            </p:nvGrpSpPr>
            <p:grpSpPr>
              <a:xfrm>
                <a:off x="1083" y="3464"/>
                <a:ext cx="1102" cy="234"/>
                <a:chOff x="518" y="3168"/>
                <a:chExt cx="662" cy="384"/>
              </a:xfrm>
            </p:grpSpPr>
            <p:sp>
              <p:nvSpPr>
                <p:cNvPr id="41022" name="Rectangle 84"/>
                <p:cNvSpPr/>
                <p:nvPr/>
              </p:nvSpPr>
              <p:spPr>
                <a:xfrm>
                  <a:off x="561" y="3168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预测理论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23" name="Rectangle 85"/>
                <p:cNvSpPr/>
                <p:nvPr/>
              </p:nvSpPr>
              <p:spPr>
                <a:xfrm>
                  <a:off x="518" y="3168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010" name="Group 86"/>
              <p:cNvGrpSpPr/>
              <p:nvPr/>
            </p:nvGrpSpPr>
            <p:grpSpPr>
              <a:xfrm>
                <a:off x="2185" y="3464"/>
                <a:ext cx="743" cy="234"/>
                <a:chOff x="1180" y="3168"/>
                <a:chExt cx="446" cy="384"/>
              </a:xfrm>
            </p:grpSpPr>
            <p:sp>
              <p:nvSpPr>
                <p:cNvPr id="41020" name="Rectangle 87"/>
                <p:cNvSpPr/>
                <p:nvPr/>
              </p:nvSpPr>
              <p:spPr>
                <a:xfrm>
                  <a:off x="1223" y="3168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21" name="Rectangle 88"/>
                <p:cNvSpPr/>
                <p:nvPr/>
              </p:nvSpPr>
              <p:spPr>
                <a:xfrm>
                  <a:off x="1180" y="3168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011" name="Group 89"/>
              <p:cNvGrpSpPr/>
              <p:nvPr/>
            </p:nvGrpSpPr>
            <p:grpSpPr>
              <a:xfrm>
                <a:off x="221" y="3698"/>
                <a:ext cx="862" cy="234"/>
                <a:chOff x="0" y="3552"/>
                <a:chExt cx="518" cy="384"/>
              </a:xfrm>
            </p:grpSpPr>
            <p:sp>
              <p:nvSpPr>
                <p:cNvPr id="41018" name="Rectangle 90"/>
                <p:cNvSpPr/>
                <p:nvPr/>
              </p:nvSpPr>
              <p:spPr>
                <a:xfrm>
                  <a:off x="43" y="3552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9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19" name="Rectangle 91"/>
                <p:cNvSpPr/>
                <p:nvPr/>
              </p:nvSpPr>
              <p:spPr>
                <a:xfrm>
                  <a:off x="0" y="3552"/>
                  <a:ext cx="51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012" name="Group 92"/>
              <p:cNvGrpSpPr/>
              <p:nvPr/>
            </p:nvGrpSpPr>
            <p:grpSpPr>
              <a:xfrm>
                <a:off x="1083" y="3698"/>
                <a:ext cx="1102" cy="234"/>
                <a:chOff x="518" y="3552"/>
                <a:chExt cx="662" cy="384"/>
              </a:xfrm>
            </p:grpSpPr>
            <p:sp>
              <p:nvSpPr>
                <p:cNvPr id="41016" name="Rectangle 93"/>
                <p:cNvSpPr/>
                <p:nvPr/>
              </p:nvSpPr>
              <p:spPr>
                <a:xfrm>
                  <a:off x="561" y="3552"/>
                  <a:ext cx="57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数学实验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17" name="Rectangle 94"/>
                <p:cNvSpPr/>
                <p:nvPr/>
              </p:nvSpPr>
              <p:spPr>
                <a:xfrm>
                  <a:off x="518" y="3552"/>
                  <a:ext cx="66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013" name="Group 95"/>
              <p:cNvGrpSpPr/>
              <p:nvPr/>
            </p:nvGrpSpPr>
            <p:grpSpPr>
              <a:xfrm>
                <a:off x="2185" y="3698"/>
                <a:ext cx="743" cy="234"/>
                <a:chOff x="1180" y="3552"/>
                <a:chExt cx="446" cy="384"/>
              </a:xfrm>
            </p:grpSpPr>
            <p:sp>
              <p:nvSpPr>
                <p:cNvPr id="41014" name="Rectangle 96"/>
                <p:cNvSpPr/>
                <p:nvPr/>
              </p:nvSpPr>
              <p:spPr>
                <a:xfrm>
                  <a:off x="1223" y="3552"/>
                  <a:ext cx="360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ctr" defTabSz="0">
                    <a:tabLst>
                      <a:tab pos="266700" algn="l"/>
                    </a:tabLst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  <a:p>
                  <a:pPr algn="ctr" defTabSz="0" eaLnBrk="0" hangingPunct="0">
                    <a:tabLst>
                      <a:tab pos="266700" algn="l"/>
                    </a:tabLst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015" name="Rectangle 97"/>
                <p:cNvSpPr/>
                <p:nvPr/>
              </p:nvSpPr>
              <p:spPr>
                <a:xfrm>
                  <a:off x="1180" y="3552"/>
                  <a:ext cx="446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0981" name="Text Box 98"/>
            <p:cNvSpPr txBox="1"/>
            <p:nvPr/>
          </p:nvSpPr>
          <p:spPr>
            <a:xfrm>
              <a:off x="384" y="1728"/>
              <a:ext cx="288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   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982" name="Text Box 99"/>
            <p:cNvSpPr txBox="1"/>
            <p:nvPr/>
          </p:nvSpPr>
          <p:spPr>
            <a:xfrm>
              <a:off x="384" y="2880"/>
              <a:ext cx="28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   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983" name="Text Box 100"/>
            <p:cNvSpPr txBox="1"/>
            <p:nvPr/>
          </p:nvSpPr>
          <p:spPr>
            <a:xfrm>
              <a:off x="384" y="3610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  </a:t>
              </a:r>
              <a:endParaRPr lang="en-US" altLang="zh-CN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3" name="Group 101"/>
          <p:cNvGrpSpPr/>
          <p:nvPr/>
        </p:nvGrpSpPr>
        <p:grpSpPr>
          <a:xfrm>
            <a:off x="1143000" y="2813050"/>
            <a:ext cx="457200" cy="3429000"/>
            <a:chOff x="720" y="1728"/>
            <a:chExt cx="288" cy="2160"/>
          </a:xfrm>
        </p:grpSpPr>
        <p:sp>
          <p:nvSpPr>
            <p:cNvPr id="40976" name="Text Box 102"/>
            <p:cNvSpPr txBox="1"/>
            <p:nvPr/>
          </p:nvSpPr>
          <p:spPr>
            <a:xfrm>
              <a:off x="720" y="1728"/>
              <a:ext cx="288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   </a:t>
              </a:r>
              <a:endParaRPr lang="en-US" altLang="zh-CN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977" name="Text Box 103"/>
            <p:cNvSpPr txBox="1"/>
            <p:nvPr/>
          </p:nvSpPr>
          <p:spPr>
            <a:xfrm>
              <a:off x="720" y="3120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  </a:t>
              </a:r>
              <a:endParaRPr lang="en-US" altLang="zh-CN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978" name="Text Box 104"/>
            <p:cNvSpPr txBox="1"/>
            <p:nvPr/>
          </p:nvSpPr>
          <p:spPr>
            <a:xfrm>
              <a:off x="720" y="2688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  </a:t>
              </a:r>
              <a:endParaRPr lang="en-US" altLang="zh-CN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979" name="Text Box 105"/>
            <p:cNvSpPr txBox="1"/>
            <p:nvPr/>
          </p:nvSpPr>
          <p:spPr>
            <a:xfrm>
              <a:off x="720" y="3600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  </a:t>
              </a:r>
              <a:endParaRPr lang="en-US" altLang="zh-CN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59498" name="Text Box 106"/>
          <p:cNvSpPr txBox="1"/>
          <p:nvPr/>
        </p:nvSpPr>
        <p:spPr>
          <a:xfrm>
            <a:off x="4953000" y="5403850"/>
            <a:ext cx="3581400" cy="1073150"/>
          </a:xfrm>
          <a:prstGeom prst="rect">
            <a:avLst/>
          </a:prstGeom>
          <a:solidFill>
            <a:srgbClr val="BAEEF4"/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LINGO</a:t>
            </a:r>
            <a:r>
              <a:rPr lang="zh-CN" altLang="en-US" sz="2800" b="1" dirty="0">
                <a:latin typeface="Times New Roman" panose="02020603050405020304" pitchFamily="18" charset="0"/>
              </a:rPr>
              <a:t>不能告诉优化问题的解是否唯一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59499" name="Text Box 107"/>
          <p:cNvSpPr txBox="1"/>
          <p:nvPr/>
        </p:nvSpPr>
        <p:spPr>
          <a:xfrm>
            <a:off x="5029200" y="4794250"/>
            <a:ext cx="3581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可将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9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 =1 </a:t>
            </a:r>
            <a:r>
              <a:rPr lang="zh-CN" altLang="en-US" sz="2800" b="1" dirty="0">
                <a:latin typeface="Times New Roman" panose="02020603050405020304" pitchFamily="18" charset="0"/>
              </a:rPr>
              <a:t>易为</a:t>
            </a:r>
            <a:r>
              <a:rPr lang="en-US" altLang="zh-CN" sz="28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 =1</a:t>
            </a:r>
            <a:endParaRPr lang="en-US" altLang="zh-CN" sz="2800" b="1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108"/>
          <p:cNvGrpSpPr/>
          <p:nvPr/>
        </p:nvGrpSpPr>
        <p:grpSpPr>
          <a:xfrm>
            <a:off x="4343400" y="984250"/>
            <a:ext cx="4621213" cy="1312863"/>
            <a:chOff x="2736" y="480"/>
            <a:chExt cx="2592" cy="827"/>
          </a:xfrm>
        </p:grpSpPr>
        <p:grpSp>
          <p:nvGrpSpPr>
            <p:cNvPr id="40973" name="Group 109"/>
            <p:cNvGrpSpPr/>
            <p:nvPr/>
          </p:nvGrpSpPr>
          <p:grpSpPr>
            <a:xfrm>
              <a:off x="2928" y="480"/>
              <a:ext cx="2400" cy="827"/>
              <a:chOff x="2928" y="480"/>
              <a:chExt cx="2400" cy="827"/>
            </a:xfrm>
          </p:grpSpPr>
          <p:sp>
            <p:nvSpPr>
              <p:cNvPr id="40975" name="Text Box 110"/>
              <p:cNvSpPr txBox="1"/>
              <p:nvPr/>
            </p:nvSpPr>
            <p:spPr>
              <a:xfrm>
                <a:off x="2928" y="576"/>
                <a:ext cx="2400" cy="7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宋体" panose="02010600030101010101" pitchFamily="2" charset="-122"/>
                  </a:rPr>
                  <a:t>增加约束           ，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宋体" panose="02010600030101010101" pitchFamily="2" charset="-122"/>
                  </a:rPr>
                  <a:t>以学分最多为目标求解</a:t>
                </a:r>
                <a:r>
                  <a:rPr lang="en-US" altLang="zh-CN" sz="2800" b="1">
                    <a:latin typeface="宋体" panose="02010600030101010101" pitchFamily="2" charset="-122"/>
                  </a:rPr>
                  <a:t>.</a:t>
                </a:r>
                <a:endParaRPr lang="en-US" altLang="zh-CN" sz="2800" b="1">
                  <a:latin typeface="宋体" panose="02010600030101010101" pitchFamily="2" charset="-122"/>
                </a:endParaRPr>
              </a:p>
            </p:txBody>
          </p:sp>
          <p:graphicFrame>
            <p:nvGraphicFramePr>
              <p:cNvPr id="40963" name="Object 111"/>
              <p:cNvGraphicFramePr/>
              <p:nvPr/>
            </p:nvGraphicFramePr>
            <p:xfrm>
              <a:off x="4080" y="480"/>
              <a:ext cx="842" cy="5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75" name="" r:id="rId1" imgW="571500" imgH="431800" progId="Equation.3">
                      <p:embed/>
                    </p:oleObj>
                  </mc:Choice>
                  <mc:Fallback>
                    <p:oleObj name="" r:id="rId1" imgW="571500" imgH="431800" progId="Equation.3">
                      <p:embed/>
                      <p:pic>
                        <p:nvPicPr>
                          <p:cNvPr id="0" name="图片 327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4080" y="480"/>
                            <a:ext cx="842" cy="56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0974" name="AutoShape 112"/>
            <p:cNvSpPr/>
            <p:nvPr/>
          </p:nvSpPr>
          <p:spPr>
            <a:xfrm>
              <a:off x="2736" y="816"/>
              <a:ext cx="96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40962" name="Object 113"/>
          <p:cNvGraphicFramePr/>
          <p:nvPr/>
        </p:nvGraphicFramePr>
        <p:xfrm>
          <a:off x="7837488" y="544513"/>
          <a:ext cx="83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4" name="" r:id="rId3" imgW="762000" imgH="434340" progId="MS_ClipArt_Gallery.2">
                  <p:embed/>
                </p:oleObj>
              </mc:Choice>
              <mc:Fallback>
                <p:oleObj name="" r:id="rId3" imgW="762000" imgH="434340" progId="MS_ClipArt_Gallery.2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37488" y="544513"/>
                        <a:ext cx="8382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5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9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9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animBg="1"/>
      <p:bldP spid="59396" grpId="0" animBg="1"/>
      <p:bldP spid="59397" grpId="0" animBg="1"/>
      <p:bldP spid="59498" grpId="0" animBg="1"/>
      <p:bldP spid="5949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5" name="Rectangle 4"/>
          <p:cNvSpPr/>
          <p:nvPr/>
        </p:nvSpPr>
        <p:spPr>
          <a:xfrm>
            <a:off x="2843213" y="549275"/>
            <a:ext cx="2879725" cy="57626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p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选 课 策 略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4034" name="Object 5"/>
          <p:cNvGraphicFramePr/>
          <p:nvPr/>
        </p:nvGraphicFramePr>
        <p:xfrm>
          <a:off x="7467600" y="544513"/>
          <a:ext cx="83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" name="" r:id="rId1" imgW="762000" imgH="434340" progId="MS_ClipArt_Gallery.2">
                  <p:embed/>
                </p:oleObj>
              </mc:Choice>
              <mc:Fallback>
                <p:oleObj name="" r:id="rId1" imgW="762000" imgH="434340" progId="MS_ClipArt_Gallery.2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67600" y="544513"/>
                        <a:ext cx="8382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8" name="Text Box 6"/>
          <p:cNvSpPr txBox="1"/>
          <p:nvPr/>
        </p:nvSpPr>
        <p:spPr>
          <a:xfrm>
            <a:off x="1187450" y="1341438"/>
            <a:ext cx="6335713" cy="519112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用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0-1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变量表示策略选择是常用的方法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5239" name="Text Box 7"/>
          <p:cNvSpPr txBox="1"/>
          <p:nvPr/>
        </p:nvSpPr>
        <p:spPr>
          <a:xfrm>
            <a:off x="1258888" y="1916113"/>
            <a:ext cx="69135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“</a:t>
            </a:r>
            <a:r>
              <a:rPr lang="zh-CN" altLang="en-US" sz="2800" b="1" dirty="0">
                <a:latin typeface="Times New Roman" panose="02020603050405020304" pitchFamily="18" charset="0"/>
              </a:rPr>
              <a:t>要选甲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必选乙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)” </a:t>
            </a:r>
            <a:r>
              <a:rPr lang="zh-CN" altLang="en-US" sz="2800" b="1" dirty="0">
                <a:latin typeface="Times New Roman" panose="02020603050405020304" pitchFamily="18" charset="0"/>
              </a:rPr>
              <a:t>可用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描述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endParaRPr lang="en-US" altLang="zh-CN" sz="2800" b="1" baseline="-25000">
              <a:latin typeface="Times New Roman" panose="02020603050405020304" pitchFamily="18" charset="0"/>
            </a:endParaRPr>
          </a:p>
        </p:txBody>
      </p:sp>
      <p:sp>
        <p:nvSpPr>
          <p:cNvPr id="95240" name="Text Box 8"/>
          <p:cNvSpPr txBox="1"/>
          <p:nvPr/>
        </p:nvSpPr>
        <p:spPr>
          <a:xfrm>
            <a:off x="1258888" y="2563813"/>
            <a:ext cx="69135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“</a:t>
            </a:r>
            <a:r>
              <a:rPr lang="zh-CN" altLang="en-US" sz="2800" b="1" dirty="0">
                <a:latin typeface="Times New Roman" panose="02020603050405020304" pitchFamily="18" charset="0"/>
              </a:rPr>
              <a:t>要选甲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必不选乙 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)” </a:t>
            </a:r>
            <a:r>
              <a:rPr lang="zh-CN" altLang="en-US" sz="2800" b="1" dirty="0">
                <a:latin typeface="Times New Roman" panose="02020603050405020304" pitchFamily="18" charset="0"/>
              </a:rPr>
              <a:t>怎样描述</a:t>
            </a:r>
            <a:r>
              <a:rPr lang="en-US" altLang="zh-CN" sz="2800" b="1">
                <a:latin typeface="Times New Roman" panose="02020603050405020304" pitchFamily="18" charset="0"/>
              </a:rPr>
              <a:t>?</a:t>
            </a:r>
            <a:endParaRPr lang="en-US" altLang="zh-CN" sz="2800" b="1" baseline="-25000">
              <a:latin typeface="Times New Roman" panose="02020603050405020304" pitchFamily="18" charset="0"/>
            </a:endParaRPr>
          </a:p>
        </p:txBody>
      </p:sp>
      <p:sp>
        <p:nvSpPr>
          <p:cNvPr id="95241" name="Text Box 9"/>
          <p:cNvSpPr txBox="1"/>
          <p:nvPr/>
        </p:nvSpPr>
        <p:spPr>
          <a:xfrm>
            <a:off x="1258888" y="3211513"/>
            <a:ext cx="69135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“</a:t>
            </a:r>
            <a:r>
              <a:rPr lang="zh-CN" altLang="en-US" sz="2800" b="1" dirty="0">
                <a:latin typeface="Times New Roman" panose="02020603050405020304" pitchFamily="18" charset="0"/>
              </a:rPr>
              <a:t>甲乙二人至多选一人” 怎样描述</a:t>
            </a:r>
            <a:r>
              <a:rPr lang="en-US" altLang="zh-CN" sz="2800" b="1">
                <a:latin typeface="Times New Roman" panose="02020603050405020304" pitchFamily="18" charset="0"/>
              </a:rPr>
              <a:t>?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95242" name="Text Box 10"/>
          <p:cNvSpPr txBox="1"/>
          <p:nvPr/>
        </p:nvSpPr>
        <p:spPr>
          <a:xfrm>
            <a:off x="1258888" y="3860800"/>
            <a:ext cx="69135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“</a:t>
            </a:r>
            <a:r>
              <a:rPr lang="zh-CN" altLang="en-US" sz="2800" b="1" dirty="0">
                <a:latin typeface="Times New Roman" panose="02020603050405020304" pitchFamily="18" charset="0"/>
              </a:rPr>
              <a:t>甲乙二人至少选一人” 怎样描述</a:t>
            </a:r>
            <a:r>
              <a:rPr lang="en-US" altLang="zh-CN" sz="2800" b="1">
                <a:latin typeface="Times New Roman" panose="02020603050405020304" pitchFamily="18" charset="0"/>
              </a:rPr>
              <a:t>?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95243" name="Text Box 11"/>
          <p:cNvSpPr txBox="1"/>
          <p:nvPr/>
        </p:nvSpPr>
        <p:spPr>
          <a:xfrm>
            <a:off x="1331913" y="4508500"/>
            <a:ext cx="4608512" cy="519113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双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多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目标规划的处理方法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5244" name="Text Box 12"/>
          <p:cNvSpPr txBox="1"/>
          <p:nvPr/>
        </p:nvSpPr>
        <p:spPr>
          <a:xfrm>
            <a:off x="1258888" y="5156200"/>
            <a:ext cx="69135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加权组合成一个新目标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化为单目标规划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95245" name="Text Box 13"/>
          <p:cNvSpPr txBox="1"/>
          <p:nvPr/>
        </p:nvSpPr>
        <p:spPr>
          <a:xfrm>
            <a:off x="1258888" y="5789613"/>
            <a:ext cx="69135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一个目标作为约束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zh-CN" altLang="en-US" sz="2800" b="1" dirty="0">
                <a:latin typeface="Times New Roman" panose="02020603050405020304" pitchFamily="18" charset="0"/>
              </a:rPr>
              <a:t>解另一个目标的规划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5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1000"/>
                                        <p:tgtEl>
                                          <p:spTgt spid="9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9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8" grpId="0" animBg="1"/>
      <p:bldP spid="95239" grpId="0"/>
      <p:bldP spid="95240" grpId="0"/>
      <p:bldP spid="95241" grpId="0"/>
      <p:bldP spid="95242" grpId="0"/>
      <p:bldP spid="95243" grpId="0" animBg="1"/>
      <p:bldP spid="95244" grpId="0"/>
      <p:bldP spid="9524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endParaRPr lang="zh-CN" altLang="en-US" sz="5400" i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0" indent="0" algn="ctr">
              <a:buNone/>
            </a:pPr>
            <a:r>
              <a:rPr lang="zh-CN" altLang="en-US" sz="6600" i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谢谢观看</a:t>
            </a:r>
            <a:endParaRPr lang="zh-CN" altLang="en-US" sz="6600" i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uxuemoxing">
  <a:themeElements>
    <a:clrScheme name="shuxuemoxin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huxuemoxin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J:\数学模型电子教案\shuxuemoxing.pot</Template>
  <TotalTime>0</TotalTime>
  <Words>4725</Words>
  <Application>WPS 演示</Application>
  <PresentationFormat>在屏幕上显示</PresentationFormat>
  <Paragraphs>949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85</vt:i4>
      </vt:variant>
      <vt:variant>
        <vt:lpstr>幻灯片标题</vt:lpstr>
      </vt:variant>
      <vt:variant>
        <vt:i4>24</vt:i4>
      </vt:variant>
    </vt:vector>
  </HeadingPairs>
  <TitlesOfParts>
    <vt:vector size="121" baseType="lpstr">
      <vt:lpstr>Arial</vt:lpstr>
      <vt:lpstr>宋体</vt:lpstr>
      <vt:lpstr>Wingdings</vt:lpstr>
      <vt:lpstr>Times New Roman</vt:lpstr>
      <vt:lpstr>黑体</vt:lpstr>
      <vt:lpstr>楷体_GB2312</vt:lpstr>
      <vt:lpstr>Symbol</vt:lpstr>
      <vt:lpstr>微软雅黑</vt:lpstr>
      <vt:lpstr>Arial Unicode MS</vt:lpstr>
      <vt:lpstr>Calibri</vt:lpstr>
      <vt:lpstr>新宋体</vt:lpstr>
      <vt:lpstr>shuxuemoxing</vt:lpstr>
      <vt:lpstr>Equation.3</vt:lpstr>
      <vt:lpstr>Equation.3</vt:lpstr>
      <vt:lpstr>Equation.3</vt:lpstr>
      <vt:lpstr>Equation.3</vt:lpstr>
      <vt:lpstr>Equation.3</vt:lpstr>
      <vt:lpstr>MS_ClipArt_Gallery.2</vt:lpstr>
      <vt:lpstr>MS_ClipArt_Gallery.2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MS_ClipArt_Gallery.2</vt:lpstr>
      <vt:lpstr>MS_ClipArt_Gallery.2</vt:lpstr>
      <vt:lpstr>Equation.3</vt:lpstr>
      <vt:lpstr>PowerPoint 演示文稿</vt:lpstr>
      <vt:lpstr>PowerPoint 演示文稿</vt:lpstr>
      <vt:lpstr>PowerPoint 演示文稿</vt:lpstr>
      <vt:lpstr>PowerPoint 演示文稿</vt:lpstr>
      <vt:lpstr>例1   原油采购与加工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  混合泳接力队的选拔 </vt:lpstr>
      <vt:lpstr>0-1规划模型 </vt:lpstr>
      <vt:lpstr>PowerPoint 演示文稿</vt:lpstr>
      <vt:lpstr>PowerPoint 演示文稿</vt:lpstr>
      <vt:lpstr>PowerPoint 演示文稿</vt:lpstr>
      <vt:lpstr>PowerPoint 演示文稿</vt:lpstr>
      <vt:lpstr>例2   选课策略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ngc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jp</dc:creator>
  <cp:lastModifiedBy>个性</cp:lastModifiedBy>
  <cp:revision>155</cp:revision>
  <dcterms:created xsi:type="dcterms:W3CDTF">2003-02-17T08:17:00Z</dcterms:created>
  <dcterms:modified xsi:type="dcterms:W3CDTF">2018-03-31T13:14:41Z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