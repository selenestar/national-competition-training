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6"/>
  </p:notesMasterIdLst>
  <p:sldIdLst>
    <p:sldId id="256" r:id="rId4"/>
    <p:sldId id="262" r:id="rId5"/>
    <p:sldId id="347" r:id="rId6"/>
    <p:sldId id="348" r:id="rId7"/>
    <p:sldId id="349" r:id="rId8"/>
    <p:sldId id="350" r:id="rId9"/>
    <p:sldId id="264" r:id="rId10"/>
    <p:sldId id="265" r:id="rId11"/>
    <p:sldId id="266" r:id="rId12"/>
    <p:sldId id="267" r:id="rId13"/>
    <p:sldId id="268" r:id="rId14"/>
    <p:sldId id="273" r:id="rId15"/>
    <p:sldId id="275" r:id="rId16"/>
    <p:sldId id="274" r:id="rId17"/>
    <p:sldId id="277" r:id="rId18"/>
    <p:sldId id="276" r:id="rId19"/>
    <p:sldId id="278" r:id="rId20"/>
    <p:sldId id="279" r:id="rId21"/>
    <p:sldId id="326" r:id="rId22"/>
    <p:sldId id="322" r:id="rId23"/>
    <p:sldId id="331" r:id="rId24"/>
    <p:sldId id="332" r:id="rId25"/>
    <p:sldId id="333" r:id="rId26"/>
    <p:sldId id="334" r:id="rId27"/>
    <p:sldId id="352" r:id="rId28"/>
    <p:sldId id="353" r:id="rId29"/>
    <p:sldId id="354" r:id="rId30"/>
    <p:sldId id="355" r:id="rId31"/>
    <p:sldId id="356" r:id="rId32"/>
    <p:sldId id="357" r:id="rId33"/>
    <p:sldId id="358" r:id="rId34"/>
    <p:sldId id="359" r:id="rId35"/>
    <p:sldId id="360" r:id="rId36"/>
    <p:sldId id="361" r:id="rId37"/>
    <p:sldId id="362" r:id="rId38"/>
    <p:sldId id="363" r:id="rId39"/>
    <p:sldId id="364" r:id="rId40"/>
    <p:sldId id="365" r:id="rId41"/>
    <p:sldId id="366" r:id="rId42"/>
    <p:sldId id="367" r:id="rId43"/>
    <p:sldId id="368" r:id="rId44"/>
    <p:sldId id="369" r:id="rId45"/>
    <p:sldId id="371" r:id="rId47"/>
    <p:sldId id="335" r:id="rId4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7F24"/>
    <a:srgbClr val="00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28"/>
        <p:guide pos="288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notesMaster" Target="notesMasters/notes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2050" name="Title 2049"/>
          <p:cNvSpPr>
            <a:spLocks noGrp="1"/>
          </p:cNvSpPr>
          <p:nvPr>
            <p:ph type="ctrTitle"/>
          </p:nvPr>
        </p:nvSpPr>
        <p:spPr>
          <a:xfrm>
            <a:off x="755650" y="2852738"/>
            <a:ext cx="7772400" cy="1470025"/>
          </a:xfrm>
          <a:prstGeom prst="rect">
            <a:avLst/>
          </a:prstGeom>
          <a:noFill/>
          <a:ln w="9525">
            <a:noFill/>
          </a:ln>
        </p:spPr>
        <p:txBody>
          <a:bodyPr anchor="ctr"/>
          <a:lstStyle>
            <a:lvl1pPr lvl="0">
              <a:defRPr kern="1200"/>
            </a:lvl1pPr>
          </a:lstStyle>
          <a:p>
            <a:pPr lvl="0" fontAlgn="base"/>
            <a:r>
              <a:rPr lang="zh-CN" altLang="en-US" strike="noStrike" noProof="1"/>
              <a:t>单击此处编辑母版标题样式</a:t>
            </a:r>
            <a:endParaRPr lang="zh-CN" altLang="en-US" strike="noStrike" noProof="1"/>
          </a:p>
        </p:txBody>
      </p:sp>
      <p:sp>
        <p:nvSpPr>
          <p:cNvPr id="2051" name="Subtitle 2050"/>
          <p:cNvSpPr>
            <a:spLocks noGrp="1"/>
          </p:cNvSpPr>
          <p:nvPr>
            <p:ph type="subTitle" idx="1"/>
          </p:nvPr>
        </p:nvSpPr>
        <p:spPr>
          <a:xfrm>
            <a:off x="1403350" y="4725988"/>
            <a:ext cx="6400800" cy="841375"/>
          </a:xfrm>
          <a:prstGeom prst="rect">
            <a:avLst/>
          </a:prstGeom>
          <a:noFill/>
          <a:ln w="9525">
            <a:noFill/>
          </a:ln>
        </p:spPr>
        <p:txBody>
          <a:bodyPr anchor="t"/>
          <a:lstStyle>
            <a:lvl1pPr marL="0" lvl="0" indent="0" algn="ctr">
              <a:buNone/>
              <a:defRPr kern="1200"/>
            </a:lvl1pPr>
            <a:lvl2pPr marL="457200" lvl="1" indent="-457200" algn="ctr">
              <a:buNone/>
              <a:defRPr kern="1200">
                <a:ea typeface="宋体" panose="02010600030101010101" pitchFamily="2" charset="-122"/>
              </a:defRPr>
            </a:lvl2pPr>
            <a:lvl3pPr marL="914400" lvl="2" indent="-914400" algn="ctr">
              <a:buNone/>
              <a:defRPr kern="1200">
                <a:ea typeface="宋体" panose="02010600030101010101" pitchFamily="2" charset="-122"/>
              </a:defRPr>
            </a:lvl3pPr>
            <a:lvl4pPr marL="1371600" lvl="3" indent="-1371600" algn="ctr">
              <a:buNone/>
              <a:defRPr kern="1200">
                <a:ea typeface="宋体" panose="02010600030101010101" pitchFamily="2" charset="-122"/>
              </a:defRPr>
            </a:lvl4pPr>
            <a:lvl5pPr marL="1828800" lvl="4" indent="-1828800" algn="ctr">
              <a:buNone/>
              <a:defRPr kern="1200">
                <a:ea typeface="宋体" panose="02010600030101010101" pitchFamily="2" charset="-122"/>
              </a:defRPr>
            </a:lvl5pPr>
          </a:lstStyle>
          <a:p>
            <a:pPr lvl="0" fontAlgn="base"/>
            <a:r>
              <a:rPr lang="zh-CN" altLang="en-US" strike="noStrike" noProof="1"/>
              <a:t>单击此处编辑母版副标题样式</a:t>
            </a:r>
            <a:endParaRPr lang="zh-CN" altLang="en-US" strike="noStrike" noProof="1"/>
          </a:p>
        </p:txBody>
      </p:sp>
      <p:sp>
        <p:nvSpPr>
          <p:cNvPr id="2052" name="Date Placeholder 2051"/>
          <p:cNvSpPr>
            <a:spLocks noGrp="1"/>
          </p:cNvSpPr>
          <p:nvPr>
            <p:ph type="dt" sz="half" idx="2"/>
          </p:nvPr>
        </p:nvSpPr>
        <p:spPr>
          <a:xfrm>
            <a:off x="457200" y="6245225"/>
            <a:ext cx="2133600" cy="476250"/>
          </a:xfrm>
          <a:prstGeom prst="rect">
            <a:avLst/>
          </a:prstGeom>
          <a:noFill/>
          <a:ln w="9525">
            <a:noFill/>
          </a:ln>
        </p:spPr>
        <p:txBody>
          <a:bodyPr anchor="t"/>
          <a:p>
            <a:pPr fontAlgn="base"/>
            <a:endParaRPr lang="zh-CN" altLang="en-US" strike="noStrike" noProof="1" dirty="0"/>
          </a:p>
        </p:txBody>
      </p:sp>
      <p:sp>
        <p:nvSpPr>
          <p:cNvPr id="2053" name="Footer Placeholder 2052"/>
          <p:cNvSpPr>
            <a:spLocks noGrp="1"/>
          </p:cNvSpPr>
          <p:nvPr>
            <p:ph type="ftr" sz="quarter" idx="3"/>
          </p:nvPr>
        </p:nvSpPr>
        <p:spPr>
          <a:xfrm>
            <a:off x="3124200" y="6245225"/>
            <a:ext cx="2895600" cy="476250"/>
          </a:xfrm>
          <a:prstGeom prst="rect">
            <a:avLst/>
          </a:prstGeom>
          <a:noFill/>
          <a:ln w="9525">
            <a:noFill/>
          </a:ln>
        </p:spPr>
        <p:txBody>
          <a:bodyPr anchor="t"/>
          <a:p>
            <a:pPr fontAlgn="base"/>
            <a:endParaRPr lang="zh-CN" altLang="en-US" strike="noStrike" noProof="1" dirty="0"/>
          </a:p>
        </p:txBody>
      </p:sp>
      <p:sp>
        <p:nvSpPr>
          <p:cNvPr id="2054" name="Slide Number Placeholder 2053"/>
          <p:cNvSpPr>
            <a:spLocks noGrp="1"/>
          </p:cNvSpPr>
          <p:nvPr>
            <p:ph type="sldNum" sz="quarter" idx="4"/>
          </p:nvPr>
        </p:nvSpPr>
        <p:spPr>
          <a:xfrm>
            <a:off x="6553200" y="6245225"/>
            <a:ext cx="2133600" cy="476250"/>
          </a:xfrm>
          <a:prstGeom prst="rect">
            <a:avLst/>
          </a:prstGeom>
          <a:noFill/>
          <a:ln w="9525">
            <a:noFill/>
          </a:ln>
        </p:spPr>
        <p:txBody>
          <a:bodyPr anchor="t"/>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66725" y="1412875"/>
            <a:ext cx="4032504" cy="452755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63821" y="1412875"/>
            <a:ext cx="4032504" cy="452755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p>
        </p:txBody>
      </p:sp>
      <p:sp>
        <p:nvSpPr>
          <p:cNvPr id="8" name="页脚占位符 7"/>
          <p:cNvSpPr>
            <a:spLocks noGrp="1"/>
          </p:cNvSpPr>
          <p:nvPr>
            <p:ph type="ftr" sz="quarter" idx="11"/>
          </p:nvPr>
        </p:nvSpPr>
        <p:spPr/>
        <p:txBody>
          <a:bodyPr/>
          <a:p>
            <a:pPr lvl="0" fontAlgn="base"/>
            <a:endParaRPr lang="zh-CN" altLang="en-US" strike="noStrike" noProof="1" dirty="0"/>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p>
        </p:txBody>
      </p:sp>
      <p:sp>
        <p:nvSpPr>
          <p:cNvPr id="3" name="页脚占位符 2"/>
          <p:cNvSpPr>
            <a:spLocks noGrp="1"/>
          </p:cNvSpPr>
          <p:nvPr>
            <p:ph type="ftr" sz="quarter" idx="11"/>
          </p:nvPr>
        </p:nvSpPr>
        <p:spPr/>
        <p:txBody>
          <a:bodyPr/>
          <a:p>
            <a:pPr lvl="0" fontAlgn="base"/>
            <a:endParaRPr lang="zh-CN" altLang="en-US" strike="noStrike" noProof="1" dirty="0"/>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6544" y="276225"/>
            <a:ext cx="2059781" cy="5664200"/>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76225"/>
            <a:ext cx="6059936" cy="5664200"/>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fontAlgn="base"/>
            <a:r>
              <a:rPr lang="en-US" altLang="zh-CN" strike="noStrike" noProof="0" smtClean="0"/>
              <a:t>Click to edit Master title style</a:t>
            </a:r>
            <a:endParaRPr lang="en-US" altLang="zh-CN" strike="noStrike" noProof="0" smtClean="0"/>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fontAlgn="base"/>
            <a:r>
              <a:rPr lang="en-US" altLang="zh-CN" strike="noStrike" noProof="0" smtClean="0"/>
              <a:t>Click to edit Master subtitle style</a:t>
            </a:r>
            <a:endParaRPr lang="en-US" altLang="zh-CN" strike="noStrike"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fontAlgn="base"/>
            <a:endParaRPr lang="zh-CN" altLang="en-US" strike="noStrike" noProof="1" dirty="0"/>
          </a:p>
        </p:txBody>
      </p:sp>
      <p:sp>
        <p:nvSpPr>
          <p:cNvPr id="1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fontAlgn="base"/>
            <a:endParaRPr lang="zh-CN" altLang="en-US" strike="noStrike" noProof="1" dirty="0"/>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en-US" strike="noStrike" noProof="1" smtClean="0"/>
              <a:t>Click to edit Master text styles</a:t>
            </a:r>
            <a:endParaRPr 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57200" y="1174750"/>
            <a:ext cx="4038600" cy="49530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8200" y="1174750"/>
            <a:ext cx="4038600" cy="4953000"/>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30238" y="2505075"/>
            <a:ext cx="3868737"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788"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p>
        </p:txBody>
      </p:sp>
      <p:sp>
        <p:nvSpPr>
          <p:cNvPr id="8" name="页脚占位符 7"/>
          <p:cNvSpPr>
            <a:spLocks noGrp="1"/>
          </p:cNvSpPr>
          <p:nvPr>
            <p:ph type="ftr" sz="quarter" idx="11"/>
          </p:nvPr>
        </p:nvSpPr>
        <p:spPr/>
        <p:txBody>
          <a:bodyPr/>
          <a:p>
            <a:pPr lvl="0" fontAlgn="base"/>
            <a:endParaRPr lang="zh-CN" altLang="en-US" strike="noStrike" noProof="1" dirty="0"/>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p>
        </p:txBody>
      </p:sp>
      <p:sp>
        <p:nvSpPr>
          <p:cNvPr id="3" name="页脚占位符 2"/>
          <p:cNvSpPr>
            <a:spLocks noGrp="1"/>
          </p:cNvSpPr>
          <p:nvPr>
            <p:ph type="ftr" sz="quarter" idx="11"/>
          </p:nvPr>
        </p:nvSpPr>
        <p:spPr/>
        <p:txBody>
          <a:bodyPr/>
          <a:p>
            <a:pPr lvl="0" fontAlgn="base"/>
            <a:endParaRPr lang="zh-CN" altLang="en-US" strike="noStrike" noProof="1" dirty="0"/>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smtClean="0"/>
              <a:t>Click to edit Master text styles</a:t>
            </a:r>
            <a:endParaRPr 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smtClean="0"/>
              <a:t>Click to edit Master text styles</a:t>
            </a:r>
            <a:endParaRPr 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190500"/>
            <a:ext cx="6019800" cy="5937250"/>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sz="half" idx="1"/>
          </p:nvPr>
        </p:nvSpPr>
        <p:spPr>
          <a:xfrm>
            <a:off x="628650" y="1825625"/>
            <a:ext cx="3886200" cy="435133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29150" y="1825625"/>
            <a:ext cx="3886200" cy="435133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sz="half" idx="1"/>
          </p:nvPr>
        </p:nvSpPr>
        <p:spPr>
          <a:xfrm>
            <a:off x="628650" y="1825625"/>
            <a:ext cx="3886200" cy="435133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quarter" idx="2"/>
          </p:nvPr>
        </p:nvSpPr>
        <p:spPr>
          <a:xfrm>
            <a:off x="4629150" y="1825625"/>
            <a:ext cx="3886200" cy="209867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Content Placeholder 4"/>
          <p:cNvSpPr>
            <a:spLocks noGrp="1"/>
          </p:cNvSpPr>
          <p:nvPr>
            <p:ph sz="quarter" idx="3"/>
          </p:nvPr>
        </p:nvSpPr>
        <p:spPr>
          <a:xfrm>
            <a:off x="4629150" y="4076700"/>
            <a:ext cx="3886200" cy="2100263"/>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6" name="日期占位符 5"/>
          <p:cNvSpPr>
            <a:spLocks noGrp="1"/>
          </p:cNvSpPr>
          <p:nvPr>
            <p:ph type="dt" sz="half" idx="10"/>
          </p:nvPr>
        </p:nvSpPr>
        <p:spPr/>
        <p:txBody>
          <a:bodyPr/>
          <a:p>
            <a:pPr lvl="0" fontAlgn="base"/>
            <a:endParaRPr lang="zh-CN" altLang="en-US" strike="noStrike" noProof="1" dirty="0"/>
          </a:p>
        </p:txBody>
      </p:sp>
      <p:sp>
        <p:nvSpPr>
          <p:cNvPr id="7" name="页脚占位符 6"/>
          <p:cNvSpPr>
            <a:spLocks noGrp="1"/>
          </p:cNvSpPr>
          <p:nvPr>
            <p:ph type="ftr" sz="quarter" idx="11"/>
          </p:nvPr>
        </p:nvSpPr>
        <p:spPr/>
        <p:txBody>
          <a:bodyPr/>
          <a:p>
            <a:pPr lvl="0" fontAlgn="base"/>
            <a:endParaRPr lang="zh-CN" altLang="en-US" strike="noStrike" noProof="1" dirty="0"/>
          </a:p>
        </p:txBody>
      </p:sp>
      <p:sp>
        <p:nvSpPr>
          <p:cNvPr id="8" name="灯片编号占位符 7"/>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98450"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image" Target="../media/image4.jpeg"/><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1026" name="Title 1025"/>
          <p:cNvSpPr>
            <a:spLocks noGrp="1"/>
          </p:cNvSpPr>
          <p:nvPr>
            <p:ph type="title"/>
          </p:nvPr>
        </p:nvSpPr>
        <p:spPr>
          <a:xfrm>
            <a:off x="457200" y="276225"/>
            <a:ext cx="8229600" cy="849313"/>
          </a:xfrm>
          <a:prstGeom prst="rect">
            <a:avLst/>
          </a:prstGeom>
          <a:noFill/>
          <a:ln w="9525">
            <a:noFill/>
          </a:ln>
        </p:spPr>
        <p:txBody>
          <a:bodyPr anchor="ctr"/>
          <a:p>
            <a:pPr lvl="0" indent="0"/>
            <a:r>
              <a:rPr lang="zh-CN" altLang="en-US"/>
              <a:t>单击此处编辑母版标题样式</a:t>
            </a:r>
            <a:endParaRPr lang="zh-CN" altLang="en-US"/>
          </a:p>
        </p:txBody>
      </p:sp>
      <p:sp>
        <p:nvSpPr>
          <p:cNvPr id="1027" name="Text Placeholder 1026"/>
          <p:cNvSpPr>
            <a:spLocks noGrp="1"/>
          </p:cNvSpPr>
          <p:nvPr>
            <p:ph type="body"/>
          </p:nvPr>
        </p:nvSpPr>
        <p:spPr>
          <a:xfrm>
            <a:off x="466725" y="1412875"/>
            <a:ext cx="8229600" cy="4527550"/>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dirty="0"/>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Clr>
          <a:srgbClr val="000000"/>
        </a:buClr>
        <a:buNone/>
        <a:defRPr sz="40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2050" name="Picture 9"/>
          <p:cNvPicPr>
            <a:picLocks noChangeAspect="1"/>
          </p:cNvPicPr>
          <p:nvPr/>
        </p:nvPicPr>
        <p:blipFill>
          <a:blip r:embed="rId16"/>
          <a:stretch>
            <a:fillRect/>
          </a:stretch>
        </p:blipFill>
        <p:spPr>
          <a:xfrm>
            <a:off x="0" y="0"/>
            <a:ext cx="9156700" cy="6858000"/>
          </a:xfrm>
          <a:prstGeom prst="rect">
            <a:avLst/>
          </a:prstGeom>
          <a:noFill/>
          <a:ln w="9525">
            <a:noFill/>
          </a:ln>
        </p:spPr>
      </p:pic>
      <p:sp>
        <p:nvSpPr>
          <p:cNvPr id="2051" name="Rectangle 3"/>
          <p:cNvSpPr>
            <a:spLocks noGrp="1"/>
          </p:cNvSpPr>
          <p:nvPr>
            <p:ph type="title"/>
          </p:nvPr>
        </p:nvSpPr>
        <p:spPr>
          <a:xfrm>
            <a:off x="457200" y="190500"/>
            <a:ext cx="8229600" cy="582613"/>
          </a:xfrm>
          <a:prstGeom prst="rect">
            <a:avLst/>
          </a:prstGeom>
          <a:noFill/>
          <a:ln w="9525">
            <a:noFill/>
          </a:ln>
        </p:spPr>
        <p:txBody>
          <a:bodyPr anchor="ctr"/>
          <a:p>
            <a:pPr lvl="0"/>
            <a:r>
              <a:rPr lang="en-US" altLang="zh-CN" dirty="0"/>
              <a:t>Click to edit Master title style</a:t>
            </a:r>
            <a:endParaRPr lang="en-US" altLang="zh-CN" dirty="0"/>
          </a:p>
        </p:txBody>
      </p:sp>
      <p:sp>
        <p:nvSpPr>
          <p:cNvPr id="2052" name="Rectangle 4"/>
          <p:cNvSpPr>
            <a:spLocks noGrp="1"/>
          </p:cNvSpPr>
          <p:nvPr>
            <p:ph type="body"/>
          </p:nvPr>
        </p:nvSpPr>
        <p:spPr>
          <a:xfrm>
            <a:off x="457200" y="1174750"/>
            <a:ext cx="8229600" cy="4953000"/>
          </a:xfrm>
          <a:prstGeom prst="rect">
            <a:avLst/>
          </a:prstGeom>
          <a:noFill/>
          <a:ln w="9525">
            <a:noFill/>
          </a:ln>
        </p:spPr>
        <p:txBody>
          <a:bodyPr anchor="t"/>
          <a:p>
            <a:pPr lvl="0" indent="-34290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lvl="0" fontAlgn="base"/>
            <a:endParaRPr lang="zh-CN" altLang="en-US" strike="noStrike" noProof="1" dirty="0"/>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lvl="0" fontAlgn="base"/>
            <a:endParaRPr lang="zh-CN" altLang="en-US" strike="noStrike" noProof="1" dirty="0"/>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3.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3.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4.xml"/><Relationship Id="rId4" Type="http://schemas.openxmlformats.org/officeDocument/2006/relationships/image" Target="../media/image12.wmf"/><Relationship Id="rId3" Type="http://schemas.openxmlformats.org/officeDocument/2006/relationships/oleObject" Target="../embeddings/oleObject8.bin"/><Relationship Id="rId2" Type="http://schemas.openxmlformats.org/officeDocument/2006/relationships/image" Target="../media/image11.wmf"/><Relationship Id="rId1"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4.xml"/><Relationship Id="rId4" Type="http://schemas.openxmlformats.org/officeDocument/2006/relationships/image" Target="../media/image14.wmf"/><Relationship Id="rId3" Type="http://schemas.openxmlformats.org/officeDocument/2006/relationships/oleObject" Target="../embeddings/oleObject10.bin"/><Relationship Id="rId2" Type="http://schemas.openxmlformats.org/officeDocument/2006/relationships/image" Target="../media/image13.wmf"/><Relationship Id="rId1"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13.xml"/><Relationship Id="rId6" Type="http://schemas.openxmlformats.org/officeDocument/2006/relationships/image" Target="../media/image9.wmf"/><Relationship Id="rId5" Type="http://schemas.openxmlformats.org/officeDocument/2006/relationships/oleObject" Target="../embeddings/oleObject13.bin"/><Relationship Id="rId4" Type="http://schemas.openxmlformats.org/officeDocument/2006/relationships/image" Target="../media/image16.wmf"/><Relationship Id="rId3" Type="http://schemas.openxmlformats.org/officeDocument/2006/relationships/oleObject" Target="../embeddings/oleObject12.bin"/><Relationship Id="rId2" Type="http://schemas.openxmlformats.org/officeDocument/2006/relationships/image" Target="../media/image15.wmf"/><Relationship Id="rId1" Type="http://schemas.openxmlformats.org/officeDocument/2006/relationships/oleObject" Target="../embeddings/oleObject11.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4.xml"/><Relationship Id="rId2" Type="http://schemas.openxmlformats.org/officeDocument/2006/relationships/image" Target="../media/image17.wmf"/><Relationship Id="rId1"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13.xml"/><Relationship Id="rId4" Type="http://schemas.openxmlformats.org/officeDocument/2006/relationships/image" Target="../media/image19.wmf"/><Relationship Id="rId3" Type="http://schemas.openxmlformats.org/officeDocument/2006/relationships/oleObject" Target="../embeddings/oleObject16.bin"/><Relationship Id="rId2" Type="http://schemas.openxmlformats.org/officeDocument/2006/relationships/image" Target="../media/image18.wmf"/><Relationship Id="rId1"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13.xml"/><Relationship Id="rId7" Type="http://schemas.openxmlformats.org/officeDocument/2006/relationships/oleObject" Target="../embeddings/oleObject20.bin"/><Relationship Id="rId6" Type="http://schemas.openxmlformats.org/officeDocument/2006/relationships/image" Target="../media/image22.wmf"/><Relationship Id="rId5" Type="http://schemas.openxmlformats.org/officeDocument/2006/relationships/oleObject" Target="../embeddings/oleObject19.bin"/><Relationship Id="rId4" Type="http://schemas.openxmlformats.org/officeDocument/2006/relationships/image" Target="../media/image21.wmf"/><Relationship Id="rId3" Type="http://schemas.openxmlformats.org/officeDocument/2006/relationships/oleObject" Target="../embeddings/oleObject18.bin"/><Relationship Id="rId2" Type="http://schemas.openxmlformats.org/officeDocument/2006/relationships/image" Target="../media/image20.wmf"/><Relationship Id="rId1"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GI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13.xml"/><Relationship Id="rId4" Type="http://schemas.openxmlformats.org/officeDocument/2006/relationships/image" Target="../media/image30.wmf"/><Relationship Id="rId3" Type="http://schemas.openxmlformats.org/officeDocument/2006/relationships/oleObject" Target="../embeddings/oleObject22.bin"/><Relationship Id="rId2" Type="http://schemas.openxmlformats.org/officeDocument/2006/relationships/image" Target="../media/image29.wmf"/><Relationship Id="rId1" Type="http://schemas.openxmlformats.org/officeDocument/2006/relationships/oleObject" Target="../embeddings/oleObject2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6145"/>
          <p:cNvSpPr>
            <a:spLocks noGrp="1"/>
          </p:cNvSpPr>
          <p:nvPr>
            <p:ph type="ctrTitle"/>
          </p:nvPr>
        </p:nvSpPr>
        <p:spPr>
          <a:xfrm>
            <a:off x="503238" y="1584325"/>
            <a:ext cx="8135938" cy="2190750"/>
          </a:xfrm>
        </p:spPr>
        <p:txBody>
          <a:bodyPr anchor="ctr"/>
          <a:p>
            <a:pPr defTabSz="914400" fontAlgn="base">
              <a:buNone/>
            </a:pPr>
            <a:r>
              <a:rPr lang="zh-CN" strike="noStrike" kern="1200" baseline="0" noProof="1">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rPr>
              <a:t>数模常规算法</a:t>
            </a:r>
            <a:r>
              <a:rPr lang="zh-CN" altLang="en-US" strike="noStrike" kern="1200" baseline="0" noProof="1">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rPr>
              <a:t>：蒙特卡罗方法</a:t>
            </a:r>
            <a:br>
              <a:rPr lang="zh-CN" altLang="en-US" kern="1200" baseline="0">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rPr>
            </a:br>
            <a:br>
              <a:rPr lang="zh-CN" altLang="en-US" kern="1200" baseline="0">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rPr>
            </a:br>
            <a:r>
              <a:rPr lang="zh-CN" altLang="en-US" sz="2000" strike="noStrike" kern="1200" baseline="0" noProof="1">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rPr>
              <a:t>主讲人：老教练</a:t>
            </a:r>
            <a:endParaRPr lang="zh-CN" altLang="en-US" sz="2000" strike="noStrike" kern="1200" baseline="0" noProof="1">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endParaRPr>
          </a:p>
        </p:txBody>
      </p:sp>
      <p:sp>
        <p:nvSpPr>
          <p:cNvPr id="5122" name="Subtitle 6146"/>
          <p:cNvSpPr>
            <a:spLocks noGrp="1"/>
          </p:cNvSpPr>
          <p:nvPr>
            <p:ph type="subTitle" idx="1"/>
          </p:nvPr>
        </p:nvSpPr>
        <p:spPr>
          <a:xfrm>
            <a:off x="2743200" y="5805488"/>
            <a:ext cx="6400800" cy="841375"/>
          </a:xfrm>
        </p:spPr>
        <p:txBody>
          <a:bodyPr anchor="t"/>
          <a:p>
            <a:pPr defTabSz="914400">
              <a:buSzPct val="100000"/>
              <a:buFont typeface="Webdings" panose="05030102010509060703" pitchFamily="2" charset="2"/>
            </a:pPr>
            <a:r>
              <a:rPr lang="zh-CN" altLang="en-US" sz="2800" kern="1200" baseline="0">
                <a:latin typeface="Calibri" panose="020F0502020204030204" pitchFamily="2" charset="0"/>
                <a:ea typeface="幼圆" panose="02010509060101010101" pitchFamily="1" charset="-122"/>
                <a:cs typeface="+mn-cs"/>
              </a:rPr>
              <a:t>报告人：陈蓉蓉 陈雨路 杨园园</a:t>
            </a:r>
            <a:endParaRPr lang="zh-CN" altLang="en-US" sz="2800" kern="1200" baseline="0">
              <a:latin typeface="Calibri" panose="020F0502020204030204" pitchFamily="2" charset="0"/>
              <a:ea typeface="幼圆" panose="02010509060101010101" pitchFamily="1"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itle 7169"/>
          <p:cNvSpPr>
            <a:spLocks noGrp="1"/>
          </p:cNvSpPr>
          <p:nvPr>
            <p:ph type="title"/>
          </p:nvPr>
        </p:nvSpPr>
        <p:spPr/>
        <p:txBody>
          <a:bodyPr anchor="ctr"/>
          <a:p>
            <a:r>
              <a:rPr lang="zh-CN" altLang="en-US"/>
              <a:t>什么叫蒙特卡罗方法？</a:t>
            </a:r>
            <a:endParaRPr lang="zh-CN" altLang="en-US"/>
          </a:p>
        </p:txBody>
      </p:sp>
      <p:sp>
        <p:nvSpPr>
          <p:cNvPr id="6146" name="Text Placeholder 7170"/>
          <p:cNvSpPr>
            <a:spLocks noGrp="1"/>
          </p:cNvSpPr>
          <p:nvPr>
            <p:ph idx="1"/>
          </p:nvPr>
        </p:nvSpPr>
        <p:spPr/>
        <p:txBody>
          <a:bodyPr anchor="t"/>
          <a:p>
            <a:r>
              <a:rPr lang="zh-CN" altLang="en-US" dirty="0">
                <a:solidFill>
                  <a:srgbClr val="006600"/>
                </a:solidFill>
                <a:ea typeface="华文新魏" panose="02010800040101010101" charset="-122"/>
              </a:rPr>
              <a:t>蒙特卡罗方法又称统计模拟法、随机抽样技术，是一种随机模拟方法，</a:t>
            </a:r>
            <a:r>
              <a:rPr lang="zh-CN" altLang="en-US" dirty="0">
                <a:solidFill>
                  <a:srgbClr val="FF0000"/>
                </a:solidFill>
                <a:ea typeface="华文新魏" panose="02010800040101010101" charset="-122"/>
              </a:rPr>
              <a:t>以概率和统计理论方法为基础的一种计算方法，是使用随机数（或伪随机数）来解决很多计算问题的方法。</a:t>
            </a:r>
            <a:r>
              <a:rPr lang="zh-CN" altLang="en-US" dirty="0">
                <a:solidFill>
                  <a:srgbClr val="006600"/>
                </a:solidFill>
                <a:ea typeface="华文新魏" panose="02010800040101010101" charset="-122"/>
              </a:rPr>
              <a:t>将所求解的问题同一定的概率模型相联系，用电子计算机实现统计模拟或抽样，以获得问题的近似解。为象征性地表明这一方法的概率统计特征，故借用赌城蒙特卡罗命名。</a:t>
            </a:r>
            <a:endParaRPr lang="zh-CN" altLang="en-US" dirty="0">
              <a:solidFill>
                <a:srgbClr val="006600"/>
              </a:solidFill>
              <a:ea typeface="华文新魏" panose="020108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55297"/>
          <p:cNvSpPr>
            <a:spLocks noGrp="1"/>
          </p:cNvSpPr>
          <p:nvPr>
            <p:ph type="title"/>
          </p:nvPr>
        </p:nvSpPr>
        <p:spPr/>
        <p:txBody>
          <a:bodyPr lIns="92075" tIns="46038" rIns="92075" bIns="46038" anchor="ctr"/>
          <a:p>
            <a:r>
              <a:rPr lang="zh-CN" altLang="en-US" dirty="0"/>
              <a:t>例</a:t>
            </a:r>
            <a:r>
              <a:rPr lang="en-US" altLang="zh-CN" dirty="0"/>
              <a:t>1. </a:t>
            </a:r>
            <a:r>
              <a:rPr lang="zh-CN" altLang="en-US" dirty="0"/>
              <a:t>蒲丰氏问题</a:t>
            </a:r>
            <a:endParaRPr lang="zh-CN" altLang="en-US"/>
          </a:p>
        </p:txBody>
      </p:sp>
      <p:sp>
        <p:nvSpPr>
          <p:cNvPr id="55299" name="文本占位符 55298"/>
          <p:cNvSpPr>
            <a:spLocks noGrp="1"/>
          </p:cNvSpPr>
          <p:nvPr>
            <p:ph type="body" idx="1"/>
          </p:nvPr>
        </p:nvSpPr>
        <p:spPr>
          <a:xfrm>
            <a:off x="457200" y="952500"/>
            <a:ext cx="8229600" cy="5450205"/>
          </a:xfrm>
        </p:spPr>
        <p:txBody>
          <a:bodyPr lIns="0" tIns="46038" rIns="182562" bIns="46038"/>
          <a:p>
            <a:pPr>
              <a:lnSpc>
                <a:spcPct val="80000"/>
              </a:lnSpc>
            </a:pPr>
            <a:r>
              <a:rPr lang="en-US" altLang="zh-CN" sz="2800" dirty="0"/>
              <a:t>       </a:t>
            </a:r>
            <a:r>
              <a:rPr lang="zh-CN" altLang="en-US" sz="2800" dirty="0"/>
              <a:t>为了求得圆周率</a:t>
            </a:r>
            <a:r>
              <a:rPr lang="en-US" altLang="zh-CN" sz="2800" dirty="0"/>
              <a:t>π</a:t>
            </a:r>
            <a:r>
              <a:rPr lang="zh-CN" altLang="en-US" sz="2800" dirty="0"/>
              <a:t>值，在十九世纪后期，有很多人作了这样的试验：将长为</a:t>
            </a:r>
            <a:r>
              <a:rPr lang="en-US" altLang="zh-CN" sz="2800" i="1" dirty="0"/>
              <a:t>2</a:t>
            </a:r>
            <a:r>
              <a:rPr lang="en-US" altLang="zh-CN" sz="2800" i="1"/>
              <a:t>l</a:t>
            </a:r>
            <a:r>
              <a:rPr lang="zh-CN" altLang="en-US" sz="2800" dirty="0"/>
              <a:t>的一根针任意投到地面上，用针与一组相间距离为</a:t>
            </a:r>
            <a:r>
              <a:rPr lang="en-US" altLang="zh-CN" sz="2800" i="1"/>
              <a:t>2a</a:t>
            </a:r>
            <a:r>
              <a:rPr lang="zh-CN" altLang="en-US" sz="2800"/>
              <a:t>（</a:t>
            </a:r>
            <a:r>
              <a:rPr lang="zh-CN" altLang="en-US" sz="2800" i="1"/>
              <a:t> </a:t>
            </a:r>
            <a:r>
              <a:rPr lang="en-US" altLang="zh-CN" sz="2800" i="1"/>
              <a:t>l</a:t>
            </a:r>
            <a:r>
              <a:rPr lang="zh-CN" altLang="en-US" sz="2800"/>
              <a:t>＜</a:t>
            </a:r>
            <a:r>
              <a:rPr lang="en-US" altLang="zh-CN" sz="2800" i="1"/>
              <a:t>a</a:t>
            </a:r>
            <a:r>
              <a:rPr lang="zh-CN" altLang="en-US" sz="2800" dirty="0"/>
              <a:t>）的平行线相交的频率代替概率</a:t>
            </a:r>
            <a:r>
              <a:rPr lang="en-US" altLang="zh-CN" sz="2800" i="1"/>
              <a:t>P</a:t>
            </a:r>
            <a:r>
              <a:rPr lang="zh-CN" altLang="en-US" sz="2800" dirty="0"/>
              <a:t>，再利用准确的关系式：</a:t>
            </a:r>
            <a:endParaRPr lang="zh-CN" altLang="en-US" sz="2800" dirty="0"/>
          </a:p>
          <a:p>
            <a:pPr marL="0" indent="0">
              <a:lnSpc>
                <a:spcPct val="80000"/>
              </a:lnSpc>
              <a:buNone/>
            </a:pPr>
            <a:endParaRPr lang="zh-CN" altLang="en-US" dirty="0">
              <a:solidFill>
                <a:srgbClr val="000000"/>
              </a:solidFill>
            </a:endParaRPr>
          </a:p>
          <a:p>
            <a:pPr marL="0" indent="0">
              <a:lnSpc>
                <a:spcPct val="80000"/>
              </a:lnSpc>
              <a:buNone/>
            </a:pPr>
            <a:endParaRPr lang="zh-CN" altLang="en-US" dirty="0">
              <a:solidFill>
                <a:srgbClr val="000000"/>
              </a:solidFill>
            </a:endParaRPr>
          </a:p>
          <a:p>
            <a:pPr>
              <a:lnSpc>
                <a:spcPct val="80000"/>
              </a:lnSpc>
            </a:pPr>
            <a:r>
              <a:rPr lang="zh-CN" altLang="en-US" dirty="0">
                <a:solidFill>
                  <a:srgbClr val="000000"/>
                </a:solidFill>
              </a:rPr>
              <a:t>    </a:t>
            </a:r>
            <a:r>
              <a:rPr lang="zh-CN" altLang="en-US" sz="2800" dirty="0"/>
              <a:t> 求出π值</a:t>
            </a:r>
            <a:endParaRPr lang="zh-CN" altLang="en-US" dirty="0">
              <a:solidFill>
                <a:srgbClr val="000000"/>
              </a:solidFill>
            </a:endParaRPr>
          </a:p>
          <a:p>
            <a:pPr>
              <a:lnSpc>
                <a:spcPct val="80000"/>
              </a:lnSpc>
            </a:pPr>
            <a:endParaRPr lang="zh-CN" altLang="en-US" dirty="0"/>
          </a:p>
          <a:p>
            <a:pPr>
              <a:lnSpc>
                <a:spcPct val="80000"/>
              </a:lnSpc>
            </a:pPr>
            <a:endParaRPr lang="zh-CN" altLang="en-US" dirty="0">
              <a:solidFill>
                <a:srgbClr val="000000"/>
              </a:solidFill>
            </a:endParaRPr>
          </a:p>
          <a:p>
            <a:pPr>
              <a:lnSpc>
                <a:spcPct val="80000"/>
              </a:lnSpc>
            </a:pPr>
            <a:r>
              <a:rPr lang="zh-CN" altLang="en-US" dirty="0">
                <a:solidFill>
                  <a:srgbClr val="000000"/>
                </a:solidFill>
              </a:rPr>
              <a:t>      </a:t>
            </a:r>
            <a:r>
              <a:rPr lang="zh-CN" altLang="en-US" sz="2800" dirty="0"/>
              <a:t>其中Ｎ为投计次数，n为针与平行线相交次数。这就是古典概率论中著名的蒲丰氏问题。</a:t>
            </a:r>
            <a:endParaRPr lang="zh-CN" altLang="en-US"/>
          </a:p>
        </p:txBody>
      </p:sp>
      <p:sp>
        <p:nvSpPr>
          <p:cNvPr id="55302" name="矩形 55301"/>
          <p:cNvSpPr/>
          <p:nvPr/>
        </p:nvSpPr>
        <p:spPr>
          <a:xfrm>
            <a:off x="4324350" y="3233738"/>
            <a:ext cx="9144000" cy="0"/>
          </a:xfrm>
          <a:prstGeom prst="rect">
            <a:avLst/>
          </a:prstGeom>
          <a:noFill/>
          <a:ln w="12700">
            <a:noFill/>
          </a:ln>
        </p:spPr>
        <p:txBody>
          <a:bodyPr/>
          <a:p>
            <a:endParaRPr lang="zh-CN" altLang="en-US"/>
          </a:p>
        </p:txBody>
      </p:sp>
      <p:sp>
        <p:nvSpPr>
          <p:cNvPr id="55304" name="矩形 55303"/>
          <p:cNvSpPr/>
          <p:nvPr/>
        </p:nvSpPr>
        <p:spPr>
          <a:xfrm>
            <a:off x="4324350" y="3233738"/>
            <a:ext cx="9144000" cy="0"/>
          </a:xfrm>
          <a:prstGeom prst="rect">
            <a:avLst/>
          </a:prstGeom>
          <a:noFill/>
          <a:ln w="12700">
            <a:noFill/>
          </a:ln>
        </p:spPr>
        <p:txBody>
          <a:bodyPr/>
          <a:p>
            <a:endParaRPr lang="zh-CN" altLang="en-US"/>
          </a:p>
        </p:txBody>
      </p:sp>
      <p:graphicFrame>
        <p:nvGraphicFramePr>
          <p:cNvPr id="55303" name="对象 55302"/>
          <p:cNvGraphicFramePr/>
          <p:nvPr/>
        </p:nvGraphicFramePr>
        <p:xfrm>
          <a:off x="3758565" y="2702560"/>
          <a:ext cx="1360805" cy="939165"/>
        </p:xfrm>
        <a:graphic>
          <a:graphicData uri="http://schemas.openxmlformats.org/presentationml/2006/ole">
            <mc:AlternateContent xmlns:mc="http://schemas.openxmlformats.org/markup-compatibility/2006">
              <mc:Choice xmlns:v="urn:schemas-microsoft-com:vml" Requires="v">
                <p:oleObj spid="_x0000_s3078" name="" r:id="rId1" imgW="482600" imgH="393700" progId="Equation.3">
                  <p:embed/>
                </p:oleObj>
              </mc:Choice>
              <mc:Fallback>
                <p:oleObj name="" r:id="rId1" imgW="482600" imgH="393700" progId="Equation.3">
                  <p:embed/>
                  <p:pic>
                    <p:nvPicPr>
                      <p:cNvPr id="0" name="图片 3077"/>
                      <p:cNvPicPr/>
                      <p:nvPr/>
                    </p:nvPicPr>
                    <p:blipFill>
                      <a:blip r:embed="rId2"/>
                      <a:stretch>
                        <a:fillRect/>
                      </a:stretch>
                    </p:blipFill>
                    <p:spPr>
                      <a:xfrm>
                        <a:off x="3758565" y="2702560"/>
                        <a:ext cx="1360805" cy="939165"/>
                      </a:xfrm>
                      <a:prstGeom prst="rect">
                        <a:avLst/>
                      </a:prstGeom>
                      <a:noFill/>
                      <a:ln w="38100">
                        <a:noFill/>
                        <a:miter/>
                      </a:ln>
                    </p:spPr>
                  </p:pic>
                </p:oleObj>
              </mc:Fallback>
            </mc:AlternateContent>
          </a:graphicData>
        </a:graphic>
      </p:graphicFrame>
      <p:sp>
        <p:nvSpPr>
          <p:cNvPr id="55308" name="矩形 55307"/>
          <p:cNvSpPr/>
          <p:nvPr/>
        </p:nvSpPr>
        <p:spPr>
          <a:xfrm>
            <a:off x="3888423" y="3172143"/>
            <a:ext cx="9144000" cy="0"/>
          </a:xfrm>
          <a:prstGeom prst="rect">
            <a:avLst/>
          </a:prstGeom>
          <a:noFill/>
          <a:ln w="12700">
            <a:noFill/>
          </a:ln>
        </p:spPr>
        <p:txBody>
          <a:bodyPr/>
          <a:p>
            <a:endParaRPr lang="zh-CN" altLang="en-US"/>
          </a:p>
        </p:txBody>
      </p:sp>
      <p:graphicFrame>
        <p:nvGraphicFramePr>
          <p:cNvPr id="55307" name="对象 55306"/>
          <p:cNvGraphicFramePr/>
          <p:nvPr/>
        </p:nvGraphicFramePr>
        <p:xfrm>
          <a:off x="3238500" y="4227513"/>
          <a:ext cx="2187575" cy="779462"/>
        </p:xfrm>
        <a:graphic>
          <a:graphicData uri="http://schemas.openxmlformats.org/presentationml/2006/ole">
            <mc:AlternateContent xmlns:mc="http://schemas.openxmlformats.org/markup-compatibility/2006">
              <mc:Choice xmlns:v="urn:schemas-microsoft-com:vml" Requires="v">
                <p:oleObj spid="_x0000_s3079" name="" r:id="rId3" imgW="1091565" imgH="393700" progId="Equation.3">
                  <p:embed/>
                </p:oleObj>
              </mc:Choice>
              <mc:Fallback>
                <p:oleObj name="" r:id="rId3" imgW="1091565" imgH="393700" progId="Equation.3">
                  <p:embed/>
                  <p:pic>
                    <p:nvPicPr>
                      <p:cNvPr id="0" name="图片 3078"/>
                      <p:cNvPicPr/>
                      <p:nvPr/>
                    </p:nvPicPr>
                    <p:blipFill>
                      <a:blip r:embed="rId4"/>
                      <a:stretch>
                        <a:fillRect/>
                      </a:stretch>
                    </p:blipFill>
                    <p:spPr>
                      <a:xfrm>
                        <a:off x="3238500" y="4227513"/>
                        <a:ext cx="2187575" cy="779462"/>
                      </a:xfrm>
                      <a:prstGeom prst="rect">
                        <a:avLst/>
                      </a:prstGeom>
                      <a:noFill/>
                      <a:ln w="38100">
                        <a:noFill/>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文本占位符 56322"/>
          <p:cNvSpPr>
            <a:spLocks noGrp="1"/>
          </p:cNvSpPr>
          <p:nvPr>
            <p:ph type="body" idx="1"/>
          </p:nvPr>
        </p:nvSpPr>
        <p:spPr>
          <a:xfrm>
            <a:off x="364490" y="214630"/>
            <a:ext cx="7772400" cy="5486400"/>
          </a:xfrm>
        </p:spPr>
        <p:txBody>
          <a:bodyPr lIns="0" tIns="46038" rIns="182562" bIns="46038"/>
          <a:p>
            <a:endParaRPr lang="en-US" altLang="zh-CN" sz="1800">
              <a:solidFill>
                <a:srgbClr val="000000"/>
              </a:solidFill>
            </a:endParaRPr>
          </a:p>
          <a:p>
            <a:pPr marL="0" indent="0">
              <a:buNone/>
            </a:pPr>
            <a:r>
              <a:rPr lang="zh-CN" altLang="en-US" sz="2800" dirty="0">
                <a:solidFill>
                  <a:srgbClr val="000000"/>
                </a:solidFill>
              </a:rPr>
              <a:t>一些人进行了实验，其结果列于下表</a:t>
            </a:r>
            <a:r>
              <a:rPr lang="zh-CN" altLang="en-US" sz="2800" dirty="0"/>
              <a:t> ：</a:t>
            </a:r>
            <a:endParaRPr lang="zh-CN" altLang="en-US" sz="1800"/>
          </a:p>
        </p:txBody>
      </p:sp>
      <p:grpSp>
        <p:nvGrpSpPr>
          <p:cNvPr id="56546" name="组合 56545"/>
          <p:cNvGrpSpPr/>
          <p:nvPr/>
        </p:nvGrpSpPr>
        <p:grpSpPr>
          <a:xfrm>
            <a:off x="835660" y="1487805"/>
            <a:ext cx="7200900" cy="4038600"/>
            <a:chOff x="-3" y="-3"/>
            <a:chExt cx="3024" cy="1945"/>
          </a:xfrm>
        </p:grpSpPr>
        <p:grpSp>
          <p:nvGrpSpPr>
            <p:cNvPr id="56544" name="组合 56543"/>
            <p:cNvGrpSpPr/>
            <p:nvPr/>
          </p:nvGrpSpPr>
          <p:grpSpPr>
            <a:xfrm>
              <a:off x="0" y="0"/>
              <a:ext cx="3018" cy="1939"/>
              <a:chOff x="0" y="0"/>
              <a:chExt cx="3018" cy="1939"/>
            </a:xfrm>
          </p:grpSpPr>
          <p:grpSp>
            <p:nvGrpSpPr>
              <p:cNvPr id="56505" name="组合 56504"/>
              <p:cNvGrpSpPr/>
              <p:nvPr/>
            </p:nvGrpSpPr>
            <p:grpSpPr>
              <a:xfrm>
                <a:off x="0" y="0"/>
                <a:ext cx="1000" cy="403"/>
                <a:chOff x="0" y="0"/>
                <a:chExt cx="1000" cy="403"/>
              </a:xfrm>
            </p:grpSpPr>
            <p:sp>
              <p:nvSpPr>
                <p:cNvPr id="56484" name="矩形 56483"/>
                <p:cNvSpPr/>
                <p:nvPr/>
              </p:nvSpPr>
              <p:spPr>
                <a:xfrm>
                  <a:off x="43" y="0"/>
                  <a:ext cx="914" cy="403"/>
                </a:xfrm>
                <a:prstGeom prst="rect">
                  <a:avLst/>
                </a:prstGeom>
                <a:noFill/>
                <a:ln w="12700">
                  <a:noFill/>
                </a:ln>
              </p:spPr>
              <p:txBody>
                <a:bodyPr/>
                <a:p>
                  <a:pPr algn="ct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实验者</a:t>
                  </a:r>
                  <a:endParaRPr lang="zh-CN" altLang="en-US" dirty="0">
                    <a:latin typeface="Times New Roman" panose="02020603050405020304" pitchFamily="2" charset="0"/>
                    <a:ea typeface="宋体" panose="02010600030101010101" pitchFamily="2" charset="-122"/>
                  </a:endParaRPr>
                </a:p>
                <a:p>
                  <a:pPr algn="ctr" eaLnBrk="0" hangingPunct="0">
                    <a:lnSpc>
                      <a:spcPct val="100000"/>
                    </a:lnSpc>
                    <a:spcBef>
                      <a:spcPct val="0"/>
                    </a:spcBef>
                  </a:pPr>
                  <a:endParaRPr lang="zh-CN" altLang="en-US" dirty="0">
                    <a:latin typeface="Times New Roman" panose="02020603050405020304" pitchFamily="2" charset="0"/>
                    <a:ea typeface="宋体" panose="02010600030101010101" pitchFamily="2" charset="-122"/>
                  </a:endParaRPr>
                </a:p>
              </p:txBody>
            </p:sp>
            <p:sp>
              <p:nvSpPr>
                <p:cNvPr id="56504" name="矩形 56503"/>
                <p:cNvSpPr/>
                <p:nvPr/>
              </p:nvSpPr>
              <p:spPr>
                <a:xfrm>
                  <a:off x="0" y="0"/>
                  <a:ext cx="1000" cy="403"/>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07" name="组合 56506"/>
              <p:cNvGrpSpPr/>
              <p:nvPr/>
            </p:nvGrpSpPr>
            <p:grpSpPr>
              <a:xfrm>
                <a:off x="1000" y="0"/>
                <a:ext cx="478" cy="403"/>
                <a:chOff x="1000" y="0"/>
                <a:chExt cx="478" cy="403"/>
              </a:xfrm>
            </p:grpSpPr>
            <p:sp>
              <p:nvSpPr>
                <p:cNvPr id="56485" name="矩形 56484"/>
                <p:cNvSpPr/>
                <p:nvPr/>
              </p:nvSpPr>
              <p:spPr>
                <a:xfrm>
                  <a:off x="1043" y="0"/>
                  <a:ext cx="392" cy="403"/>
                </a:xfrm>
                <a:prstGeom prst="rect">
                  <a:avLst/>
                </a:prstGeom>
                <a:noFill/>
                <a:ln w="12700">
                  <a:noFill/>
                </a:ln>
              </p:spPr>
              <p:txBody>
                <a:bodyPr/>
                <a:p>
                  <a:pPr algn="ct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年份</a:t>
                  </a:r>
                  <a:endParaRPr lang="zh-CN" altLang="en-US" dirty="0">
                    <a:latin typeface="Times New Roman" panose="02020603050405020304" pitchFamily="2" charset="0"/>
                    <a:ea typeface="宋体" panose="02010600030101010101" pitchFamily="2" charset="-122"/>
                  </a:endParaRPr>
                </a:p>
                <a:p>
                  <a:pPr algn="ctr" eaLnBrk="0" hangingPunct="0">
                    <a:lnSpc>
                      <a:spcPct val="100000"/>
                    </a:lnSpc>
                    <a:spcBef>
                      <a:spcPct val="0"/>
                    </a:spcBef>
                  </a:pPr>
                  <a:endParaRPr lang="zh-CN" altLang="en-US" dirty="0">
                    <a:latin typeface="Times New Roman" panose="02020603050405020304" pitchFamily="2" charset="0"/>
                    <a:ea typeface="宋体" panose="02010600030101010101" pitchFamily="2" charset="-122"/>
                  </a:endParaRPr>
                </a:p>
              </p:txBody>
            </p:sp>
            <p:sp>
              <p:nvSpPr>
                <p:cNvPr id="56506" name="矩形 56505"/>
                <p:cNvSpPr/>
                <p:nvPr/>
              </p:nvSpPr>
              <p:spPr>
                <a:xfrm>
                  <a:off x="1000" y="0"/>
                  <a:ext cx="478" cy="403"/>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09" name="组合 56508"/>
              <p:cNvGrpSpPr/>
              <p:nvPr/>
            </p:nvGrpSpPr>
            <p:grpSpPr>
              <a:xfrm>
                <a:off x="1478" y="0"/>
                <a:ext cx="734" cy="403"/>
                <a:chOff x="1478" y="0"/>
                <a:chExt cx="734" cy="403"/>
              </a:xfrm>
            </p:grpSpPr>
            <p:sp>
              <p:nvSpPr>
                <p:cNvPr id="56486" name="矩形 56485"/>
                <p:cNvSpPr/>
                <p:nvPr/>
              </p:nvSpPr>
              <p:spPr>
                <a:xfrm>
                  <a:off x="1521" y="0"/>
                  <a:ext cx="648" cy="403"/>
                </a:xfrm>
                <a:prstGeom prst="rect">
                  <a:avLst/>
                </a:prstGeom>
                <a:noFill/>
                <a:ln w="12700">
                  <a:noFill/>
                </a:ln>
              </p:spPr>
              <p:txBody>
                <a:bodyPr/>
                <a:p>
                  <a:pPr algn="ct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投计次数</a:t>
                  </a:r>
                  <a:endParaRPr lang="zh-CN" altLang="en-US" dirty="0">
                    <a:latin typeface="Times New Roman" panose="02020603050405020304" pitchFamily="2" charset="0"/>
                    <a:ea typeface="宋体" panose="02010600030101010101" pitchFamily="2" charset="-122"/>
                  </a:endParaRPr>
                </a:p>
                <a:p>
                  <a:pPr algn="ctr" eaLnBrk="0" hangingPunct="0">
                    <a:lnSpc>
                      <a:spcPct val="100000"/>
                    </a:lnSpc>
                    <a:spcBef>
                      <a:spcPct val="0"/>
                    </a:spcBef>
                  </a:pPr>
                  <a:endParaRPr lang="zh-CN" altLang="en-US" dirty="0">
                    <a:latin typeface="Times New Roman" panose="02020603050405020304" pitchFamily="2" charset="0"/>
                    <a:ea typeface="宋体" panose="02010600030101010101" pitchFamily="2" charset="-122"/>
                  </a:endParaRPr>
                </a:p>
              </p:txBody>
            </p:sp>
            <p:sp>
              <p:nvSpPr>
                <p:cNvPr id="56508" name="矩形 56507"/>
                <p:cNvSpPr/>
                <p:nvPr/>
              </p:nvSpPr>
              <p:spPr>
                <a:xfrm>
                  <a:off x="1478" y="0"/>
                  <a:ext cx="734" cy="403"/>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11" name="组合 56510"/>
              <p:cNvGrpSpPr/>
              <p:nvPr/>
            </p:nvGrpSpPr>
            <p:grpSpPr>
              <a:xfrm>
                <a:off x="2212" y="0"/>
                <a:ext cx="806" cy="403"/>
                <a:chOff x="2212" y="0"/>
                <a:chExt cx="806" cy="403"/>
              </a:xfrm>
            </p:grpSpPr>
            <p:sp>
              <p:nvSpPr>
                <p:cNvPr id="56487" name="矩形 56486"/>
                <p:cNvSpPr/>
                <p:nvPr/>
              </p:nvSpPr>
              <p:spPr>
                <a:xfrm>
                  <a:off x="2255" y="0"/>
                  <a:ext cx="720" cy="403"/>
                </a:xfrm>
                <a:prstGeom prst="rect">
                  <a:avLst/>
                </a:prstGeom>
                <a:noFill/>
                <a:ln w="12700">
                  <a:noFill/>
                </a:ln>
              </p:spPr>
              <p:txBody>
                <a:bodyPr/>
                <a:p>
                  <a:pPr algn="ct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π</a:t>
                  </a:r>
                  <a:r>
                    <a:rPr lang="zh-CN" altLang="en-US" dirty="0">
                      <a:solidFill>
                        <a:srgbClr val="000000"/>
                      </a:solidFill>
                      <a:latin typeface="Times New Roman" panose="02020603050405020304" pitchFamily="2" charset="0"/>
                      <a:ea typeface="宋体" panose="02010600030101010101" pitchFamily="2" charset="-122"/>
                    </a:rPr>
                    <a:t>的实验值</a:t>
                  </a:r>
                  <a:endParaRPr lang="zh-CN" altLang="en-US" dirty="0">
                    <a:latin typeface="Times New Roman" panose="02020603050405020304" pitchFamily="2" charset="0"/>
                    <a:ea typeface="宋体" panose="02010600030101010101" pitchFamily="2" charset="-122"/>
                  </a:endParaRPr>
                </a:p>
                <a:p>
                  <a:pPr algn="ctr" eaLnBrk="0" hangingPunct="0">
                    <a:lnSpc>
                      <a:spcPct val="100000"/>
                    </a:lnSpc>
                    <a:spcBef>
                      <a:spcPct val="0"/>
                    </a:spcBef>
                  </a:pPr>
                  <a:endParaRPr lang="zh-CN" altLang="en-US" dirty="0">
                    <a:latin typeface="Times New Roman" panose="02020603050405020304" pitchFamily="2" charset="0"/>
                    <a:ea typeface="宋体" panose="02010600030101010101" pitchFamily="2" charset="-122"/>
                  </a:endParaRPr>
                </a:p>
              </p:txBody>
            </p:sp>
            <p:sp>
              <p:nvSpPr>
                <p:cNvPr id="56510" name="矩形 56509"/>
                <p:cNvSpPr/>
                <p:nvPr/>
              </p:nvSpPr>
              <p:spPr>
                <a:xfrm>
                  <a:off x="2212" y="0"/>
                  <a:ext cx="806" cy="403"/>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13" name="组合 56512"/>
              <p:cNvGrpSpPr/>
              <p:nvPr/>
            </p:nvGrpSpPr>
            <p:grpSpPr>
              <a:xfrm>
                <a:off x="0" y="403"/>
                <a:ext cx="1000" cy="384"/>
                <a:chOff x="0" y="403"/>
                <a:chExt cx="1000" cy="384"/>
              </a:xfrm>
            </p:grpSpPr>
            <p:sp>
              <p:nvSpPr>
                <p:cNvPr id="56488" name="矩形 56487"/>
                <p:cNvSpPr/>
                <p:nvPr/>
              </p:nvSpPr>
              <p:spPr>
                <a:xfrm>
                  <a:off x="43" y="403"/>
                  <a:ext cx="914" cy="384"/>
                </a:xfrm>
                <a:prstGeom prst="rect">
                  <a:avLst/>
                </a:prstGeom>
                <a:noFill/>
                <a:ln w="12700">
                  <a:noFill/>
                </a:ln>
              </p:spPr>
              <p:txBody>
                <a:bodyPr/>
                <a:p>
                  <a:pP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沃尔弗</a:t>
                  </a:r>
                  <a:r>
                    <a:rPr lang="en-US" altLang="zh-CN" dirty="0">
                      <a:solidFill>
                        <a:srgbClr val="000000"/>
                      </a:solidFill>
                      <a:latin typeface="Times New Roman" panose="02020603050405020304" pitchFamily="2" charset="0"/>
                      <a:ea typeface="宋体" panose="02010600030101010101" pitchFamily="2" charset="-122"/>
                    </a:rPr>
                    <a:t>(</a:t>
                  </a:r>
                  <a:r>
                    <a:rPr lang="en-US" altLang="zh-CN">
                      <a:solidFill>
                        <a:srgbClr val="000000"/>
                      </a:solidFill>
                      <a:latin typeface="Times New Roman" panose="02020603050405020304" pitchFamily="2" charset="0"/>
                      <a:ea typeface="宋体" panose="02010600030101010101" pitchFamily="2" charset="-122"/>
                    </a:rPr>
                    <a:t>Wolf)</a:t>
                  </a:r>
                  <a:endParaRPr lang="en-US" altLang="zh-CN">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a:latin typeface="Times New Roman" panose="02020603050405020304" pitchFamily="2" charset="0"/>
                    <a:ea typeface="宋体" panose="02010600030101010101" pitchFamily="2" charset="-122"/>
                  </a:endParaRPr>
                </a:p>
              </p:txBody>
            </p:sp>
            <p:sp>
              <p:nvSpPr>
                <p:cNvPr id="56512" name="矩形 56511"/>
                <p:cNvSpPr/>
                <p:nvPr/>
              </p:nvSpPr>
              <p:spPr>
                <a:xfrm>
                  <a:off x="0" y="403"/>
                  <a:ext cx="1000"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15" name="组合 56514"/>
              <p:cNvGrpSpPr/>
              <p:nvPr/>
            </p:nvGrpSpPr>
            <p:grpSpPr>
              <a:xfrm>
                <a:off x="1000" y="403"/>
                <a:ext cx="478" cy="384"/>
                <a:chOff x="1000" y="403"/>
                <a:chExt cx="478" cy="384"/>
              </a:xfrm>
            </p:grpSpPr>
            <p:sp>
              <p:nvSpPr>
                <p:cNvPr id="56489" name="矩形 56488"/>
                <p:cNvSpPr/>
                <p:nvPr/>
              </p:nvSpPr>
              <p:spPr>
                <a:xfrm>
                  <a:off x="1043" y="403"/>
                  <a:ext cx="392"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1850</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14" name="矩形 56513"/>
                <p:cNvSpPr/>
                <p:nvPr/>
              </p:nvSpPr>
              <p:spPr>
                <a:xfrm>
                  <a:off x="1000" y="403"/>
                  <a:ext cx="478"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17" name="组合 56516"/>
              <p:cNvGrpSpPr/>
              <p:nvPr/>
            </p:nvGrpSpPr>
            <p:grpSpPr>
              <a:xfrm>
                <a:off x="1478" y="403"/>
                <a:ext cx="734" cy="384"/>
                <a:chOff x="1478" y="403"/>
                <a:chExt cx="734" cy="384"/>
              </a:xfrm>
            </p:grpSpPr>
            <p:sp>
              <p:nvSpPr>
                <p:cNvPr id="56490" name="矩形 56489"/>
                <p:cNvSpPr/>
                <p:nvPr/>
              </p:nvSpPr>
              <p:spPr>
                <a:xfrm>
                  <a:off x="1521" y="403"/>
                  <a:ext cx="648"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5000</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16" name="矩形 56515"/>
                <p:cNvSpPr/>
                <p:nvPr/>
              </p:nvSpPr>
              <p:spPr>
                <a:xfrm>
                  <a:off x="1478" y="403"/>
                  <a:ext cx="734"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19" name="组合 56518"/>
              <p:cNvGrpSpPr/>
              <p:nvPr/>
            </p:nvGrpSpPr>
            <p:grpSpPr>
              <a:xfrm>
                <a:off x="2212" y="403"/>
                <a:ext cx="806" cy="384"/>
                <a:chOff x="2212" y="403"/>
                <a:chExt cx="806" cy="384"/>
              </a:xfrm>
            </p:grpSpPr>
            <p:sp>
              <p:nvSpPr>
                <p:cNvPr id="56491" name="矩形 56490"/>
                <p:cNvSpPr/>
                <p:nvPr/>
              </p:nvSpPr>
              <p:spPr>
                <a:xfrm>
                  <a:off x="2255" y="403"/>
                  <a:ext cx="720"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3.1596</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18" name="矩形 56517"/>
                <p:cNvSpPr/>
                <p:nvPr/>
              </p:nvSpPr>
              <p:spPr>
                <a:xfrm>
                  <a:off x="2212" y="403"/>
                  <a:ext cx="806"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21" name="组合 56520"/>
              <p:cNvGrpSpPr/>
              <p:nvPr/>
            </p:nvGrpSpPr>
            <p:grpSpPr>
              <a:xfrm>
                <a:off x="0" y="787"/>
                <a:ext cx="1000" cy="384"/>
                <a:chOff x="0" y="787"/>
                <a:chExt cx="1000" cy="384"/>
              </a:xfrm>
            </p:grpSpPr>
            <p:sp>
              <p:nvSpPr>
                <p:cNvPr id="56492" name="矩形 56491"/>
                <p:cNvSpPr/>
                <p:nvPr/>
              </p:nvSpPr>
              <p:spPr>
                <a:xfrm>
                  <a:off x="43" y="787"/>
                  <a:ext cx="914" cy="384"/>
                </a:xfrm>
                <a:prstGeom prst="rect">
                  <a:avLst/>
                </a:prstGeom>
                <a:noFill/>
                <a:ln w="12700">
                  <a:noFill/>
                </a:ln>
              </p:spPr>
              <p:txBody>
                <a:bodyPr/>
                <a:p>
                  <a:pP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斯密思</a:t>
                  </a:r>
                  <a:r>
                    <a:rPr lang="en-US" altLang="zh-CN" dirty="0">
                      <a:solidFill>
                        <a:srgbClr val="000000"/>
                      </a:solidFill>
                      <a:latin typeface="Times New Roman" panose="02020603050405020304" pitchFamily="2" charset="0"/>
                      <a:ea typeface="宋体" panose="02010600030101010101" pitchFamily="2" charset="-122"/>
                    </a:rPr>
                    <a:t>(</a:t>
                  </a:r>
                  <a:r>
                    <a:rPr lang="en-US" altLang="zh-CN">
                      <a:solidFill>
                        <a:srgbClr val="000000"/>
                      </a:solidFill>
                      <a:latin typeface="Times New Roman" panose="02020603050405020304" pitchFamily="2" charset="0"/>
                      <a:ea typeface="宋体" panose="02010600030101010101" pitchFamily="2" charset="-122"/>
                    </a:rPr>
                    <a:t>Smith)</a:t>
                  </a:r>
                  <a:endParaRPr lang="en-US" altLang="zh-CN">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a:latin typeface="Times New Roman" panose="02020603050405020304" pitchFamily="2" charset="0"/>
                    <a:ea typeface="宋体" panose="02010600030101010101" pitchFamily="2" charset="-122"/>
                  </a:endParaRPr>
                </a:p>
              </p:txBody>
            </p:sp>
            <p:sp>
              <p:nvSpPr>
                <p:cNvPr id="56520" name="矩形 56519"/>
                <p:cNvSpPr/>
                <p:nvPr/>
              </p:nvSpPr>
              <p:spPr>
                <a:xfrm>
                  <a:off x="0" y="787"/>
                  <a:ext cx="1000"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23" name="组合 56522"/>
              <p:cNvGrpSpPr/>
              <p:nvPr/>
            </p:nvGrpSpPr>
            <p:grpSpPr>
              <a:xfrm>
                <a:off x="1000" y="787"/>
                <a:ext cx="478" cy="384"/>
                <a:chOff x="1000" y="787"/>
                <a:chExt cx="478" cy="384"/>
              </a:xfrm>
            </p:grpSpPr>
            <p:sp>
              <p:nvSpPr>
                <p:cNvPr id="56493" name="矩形 56492"/>
                <p:cNvSpPr/>
                <p:nvPr/>
              </p:nvSpPr>
              <p:spPr>
                <a:xfrm>
                  <a:off x="1043" y="787"/>
                  <a:ext cx="392"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1855</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22" name="矩形 56521"/>
                <p:cNvSpPr/>
                <p:nvPr/>
              </p:nvSpPr>
              <p:spPr>
                <a:xfrm>
                  <a:off x="1000" y="787"/>
                  <a:ext cx="478"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25" name="组合 56524"/>
              <p:cNvGrpSpPr/>
              <p:nvPr/>
            </p:nvGrpSpPr>
            <p:grpSpPr>
              <a:xfrm>
                <a:off x="1478" y="787"/>
                <a:ext cx="734" cy="384"/>
                <a:chOff x="1478" y="787"/>
                <a:chExt cx="734" cy="384"/>
              </a:xfrm>
            </p:grpSpPr>
            <p:sp>
              <p:nvSpPr>
                <p:cNvPr id="56494" name="矩形 56493"/>
                <p:cNvSpPr/>
                <p:nvPr/>
              </p:nvSpPr>
              <p:spPr>
                <a:xfrm>
                  <a:off x="1521" y="787"/>
                  <a:ext cx="648"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3204</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24" name="矩形 56523"/>
                <p:cNvSpPr/>
                <p:nvPr/>
              </p:nvSpPr>
              <p:spPr>
                <a:xfrm>
                  <a:off x="1478" y="787"/>
                  <a:ext cx="734"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27" name="组合 56526"/>
              <p:cNvGrpSpPr/>
              <p:nvPr/>
            </p:nvGrpSpPr>
            <p:grpSpPr>
              <a:xfrm>
                <a:off x="2212" y="787"/>
                <a:ext cx="806" cy="384"/>
                <a:chOff x="2212" y="787"/>
                <a:chExt cx="806" cy="384"/>
              </a:xfrm>
            </p:grpSpPr>
            <p:sp>
              <p:nvSpPr>
                <p:cNvPr id="56495" name="矩形 56494"/>
                <p:cNvSpPr/>
                <p:nvPr/>
              </p:nvSpPr>
              <p:spPr>
                <a:xfrm>
                  <a:off x="2255" y="787"/>
                  <a:ext cx="720"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3.1553</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26" name="矩形 56525"/>
                <p:cNvSpPr/>
                <p:nvPr/>
              </p:nvSpPr>
              <p:spPr>
                <a:xfrm>
                  <a:off x="2212" y="787"/>
                  <a:ext cx="806"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29" name="组合 56528"/>
              <p:cNvGrpSpPr/>
              <p:nvPr/>
            </p:nvGrpSpPr>
            <p:grpSpPr>
              <a:xfrm>
                <a:off x="0" y="1171"/>
                <a:ext cx="1000" cy="384"/>
                <a:chOff x="0" y="1171"/>
                <a:chExt cx="1000" cy="384"/>
              </a:xfrm>
            </p:grpSpPr>
            <p:sp>
              <p:nvSpPr>
                <p:cNvPr id="56496" name="矩形 56495"/>
                <p:cNvSpPr/>
                <p:nvPr/>
              </p:nvSpPr>
              <p:spPr>
                <a:xfrm>
                  <a:off x="43" y="1171"/>
                  <a:ext cx="914" cy="384"/>
                </a:xfrm>
                <a:prstGeom prst="rect">
                  <a:avLst/>
                </a:prstGeom>
                <a:noFill/>
                <a:ln w="12700">
                  <a:noFill/>
                </a:ln>
              </p:spPr>
              <p:txBody>
                <a:bodyPr/>
                <a:p>
                  <a:pP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福克斯</a:t>
                  </a:r>
                  <a:r>
                    <a:rPr lang="en-US" altLang="zh-CN" dirty="0">
                      <a:solidFill>
                        <a:srgbClr val="000000"/>
                      </a:solidFill>
                      <a:latin typeface="Times New Roman" panose="02020603050405020304" pitchFamily="2" charset="0"/>
                      <a:ea typeface="宋体" panose="02010600030101010101" pitchFamily="2" charset="-122"/>
                    </a:rPr>
                    <a:t>(</a:t>
                  </a:r>
                  <a:r>
                    <a:rPr lang="en-US" altLang="zh-CN">
                      <a:solidFill>
                        <a:srgbClr val="000000"/>
                      </a:solidFill>
                      <a:latin typeface="Times New Roman" panose="02020603050405020304" pitchFamily="2" charset="0"/>
                      <a:ea typeface="宋体" panose="02010600030101010101" pitchFamily="2" charset="-122"/>
                    </a:rPr>
                    <a:t>Fox)</a:t>
                  </a:r>
                  <a:endParaRPr lang="en-US" altLang="zh-CN">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a:latin typeface="Times New Roman" panose="02020603050405020304" pitchFamily="2" charset="0"/>
                    <a:ea typeface="宋体" panose="02010600030101010101" pitchFamily="2" charset="-122"/>
                  </a:endParaRPr>
                </a:p>
              </p:txBody>
            </p:sp>
            <p:sp>
              <p:nvSpPr>
                <p:cNvPr id="56528" name="矩形 56527"/>
                <p:cNvSpPr/>
                <p:nvPr/>
              </p:nvSpPr>
              <p:spPr>
                <a:xfrm>
                  <a:off x="0" y="1171"/>
                  <a:ext cx="1000"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31" name="组合 56530"/>
              <p:cNvGrpSpPr/>
              <p:nvPr/>
            </p:nvGrpSpPr>
            <p:grpSpPr>
              <a:xfrm>
                <a:off x="1000" y="1171"/>
                <a:ext cx="478" cy="384"/>
                <a:chOff x="1000" y="1171"/>
                <a:chExt cx="478" cy="384"/>
              </a:xfrm>
            </p:grpSpPr>
            <p:sp>
              <p:nvSpPr>
                <p:cNvPr id="56497" name="矩形 56496"/>
                <p:cNvSpPr/>
                <p:nvPr/>
              </p:nvSpPr>
              <p:spPr>
                <a:xfrm>
                  <a:off x="1043" y="1171"/>
                  <a:ext cx="392"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1894</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30" name="矩形 56529"/>
                <p:cNvSpPr/>
                <p:nvPr/>
              </p:nvSpPr>
              <p:spPr>
                <a:xfrm>
                  <a:off x="1000" y="1171"/>
                  <a:ext cx="478"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33" name="组合 56532"/>
              <p:cNvGrpSpPr/>
              <p:nvPr/>
            </p:nvGrpSpPr>
            <p:grpSpPr>
              <a:xfrm>
                <a:off x="1478" y="1171"/>
                <a:ext cx="734" cy="384"/>
                <a:chOff x="1478" y="1171"/>
                <a:chExt cx="734" cy="384"/>
              </a:xfrm>
            </p:grpSpPr>
            <p:sp>
              <p:nvSpPr>
                <p:cNvPr id="56498" name="矩形 56497"/>
                <p:cNvSpPr/>
                <p:nvPr/>
              </p:nvSpPr>
              <p:spPr>
                <a:xfrm>
                  <a:off x="1521" y="1171"/>
                  <a:ext cx="648"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1120</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32" name="矩形 56531"/>
                <p:cNvSpPr/>
                <p:nvPr/>
              </p:nvSpPr>
              <p:spPr>
                <a:xfrm>
                  <a:off x="1478" y="1171"/>
                  <a:ext cx="734"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35" name="组合 56534"/>
              <p:cNvGrpSpPr/>
              <p:nvPr/>
            </p:nvGrpSpPr>
            <p:grpSpPr>
              <a:xfrm>
                <a:off x="2212" y="1171"/>
                <a:ext cx="806" cy="384"/>
                <a:chOff x="2212" y="1171"/>
                <a:chExt cx="806" cy="384"/>
              </a:xfrm>
            </p:grpSpPr>
            <p:sp>
              <p:nvSpPr>
                <p:cNvPr id="56499" name="矩形 56498"/>
                <p:cNvSpPr/>
                <p:nvPr/>
              </p:nvSpPr>
              <p:spPr>
                <a:xfrm>
                  <a:off x="2255" y="1171"/>
                  <a:ext cx="720"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3.1419</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34" name="矩形 56533"/>
                <p:cNvSpPr/>
                <p:nvPr/>
              </p:nvSpPr>
              <p:spPr>
                <a:xfrm>
                  <a:off x="2212" y="1171"/>
                  <a:ext cx="806"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37" name="组合 56536"/>
              <p:cNvGrpSpPr/>
              <p:nvPr/>
            </p:nvGrpSpPr>
            <p:grpSpPr>
              <a:xfrm>
                <a:off x="0" y="1555"/>
                <a:ext cx="1000" cy="384"/>
                <a:chOff x="0" y="1555"/>
                <a:chExt cx="1000" cy="384"/>
              </a:xfrm>
            </p:grpSpPr>
            <p:sp>
              <p:nvSpPr>
                <p:cNvPr id="56500" name="矩形 56499"/>
                <p:cNvSpPr/>
                <p:nvPr/>
              </p:nvSpPr>
              <p:spPr>
                <a:xfrm>
                  <a:off x="43" y="1555"/>
                  <a:ext cx="914" cy="384"/>
                </a:xfrm>
                <a:prstGeom prst="rect">
                  <a:avLst/>
                </a:prstGeom>
                <a:noFill/>
                <a:ln w="12700">
                  <a:noFill/>
                </a:ln>
              </p:spPr>
              <p:txBody>
                <a:bodyPr/>
                <a:p>
                  <a:pPr>
                    <a:lnSpc>
                      <a:spcPct val="100000"/>
                    </a:lnSpc>
                    <a:spcBef>
                      <a:spcPct val="0"/>
                    </a:spcBef>
                  </a:pPr>
                  <a:r>
                    <a:rPr lang="zh-CN" altLang="en-US" dirty="0">
                      <a:solidFill>
                        <a:srgbClr val="000000"/>
                      </a:solidFill>
                      <a:latin typeface="Times New Roman" panose="02020603050405020304" pitchFamily="2" charset="0"/>
                      <a:ea typeface="宋体" panose="02010600030101010101" pitchFamily="2" charset="-122"/>
                    </a:rPr>
                    <a:t>拉查里尼</a:t>
                  </a:r>
                  <a:r>
                    <a:rPr lang="en-US" altLang="zh-CN" dirty="0">
                      <a:solidFill>
                        <a:srgbClr val="000000"/>
                      </a:solidFill>
                      <a:latin typeface="Times New Roman" panose="02020603050405020304" pitchFamily="2" charset="0"/>
                      <a:ea typeface="宋体" panose="02010600030101010101" pitchFamily="2" charset="-122"/>
                    </a:rPr>
                    <a:t>(</a:t>
                  </a:r>
                  <a:r>
                    <a:rPr lang="en-US" altLang="zh-CN" dirty="0" err="1">
                      <a:solidFill>
                        <a:srgbClr val="000000"/>
                      </a:solidFill>
                      <a:latin typeface="Times New Roman" panose="02020603050405020304" pitchFamily="2" charset="0"/>
                      <a:ea typeface="宋体" panose="02010600030101010101" pitchFamily="2" charset="-122"/>
                    </a:rPr>
                    <a:t>Lazzarini</a:t>
                  </a:r>
                  <a:r>
                    <a:rPr lang="en-US" altLang="zh-CN">
                      <a:solidFill>
                        <a:srgbClr val="000000"/>
                      </a:solidFill>
                      <a:latin typeface="Times New Roman" panose="02020603050405020304" pitchFamily="2" charset="0"/>
                      <a:ea typeface="宋体" panose="02010600030101010101" pitchFamily="2" charset="-122"/>
                    </a:rPr>
                    <a:t>)</a:t>
                  </a:r>
                  <a:endParaRPr lang="en-US" altLang="zh-CN">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a:latin typeface="Times New Roman" panose="02020603050405020304" pitchFamily="2" charset="0"/>
                    <a:ea typeface="宋体" panose="02010600030101010101" pitchFamily="2" charset="-122"/>
                  </a:endParaRPr>
                </a:p>
              </p:txBody>
            </p:sp>
            <p:sp>
              <p:nvSpPr>
                <p:cNvPr id="56536" name="矩形 56535"/>
                <p:cNvSpPr/>
                <p:nvPr/>
              </p:nvSpPr>
              <p:spPr>
                <a:xfrm>
                  <a:off x="0" y="1555"/>
                  <a:ext cx="1000"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39" name="组合 56538"/>
              <p:cNvGrpSpPr/>
              <p:nvPr/>
            </p:nvGrpSpPr>
            <p:grpSpPr>
              <a:xfrm>
                <a:off x="1000" y="1555"/>
                <a:ext cx="478" cy="384"/>
                <a:chOff x="1000" y="1555"/>
                <a:chExt cx="478" cy="384"/>
              </a:xfrm>
            </p:grpSpPr>
            <p:sp>
              <p:nvSpPr>
                <p:cNvPr id="56501" name="矩形 56500"/>
                <p:cNvSpPr/>
                <p:nvPr/>
              </p:nvSpPr>
              <p:spPr>
                <a:xfrm>
                  <a:off x="1043" y="1555"/>
                  <a:ext cx="392"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1901</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38" name="矩形 56537"/>
                <p:cNvSpPr/>
                <p:nvPr/>
              </p:nvSpPr>
              <p:spPr>
                <a:xfrm>
                  <a:off x="1000" y="1555"/>
                  <a:ext cx="478"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41" name="组合 56540"/>
              <p:cNvGrpSpPr/>
              <p:nvPr/>
            </p:nvGrpSpPr>
            <p:grpSpPr>
              <a:xfrm>
                <a:off x="1478" y="1555"/>
                <a:ext cx="734" cy="384"/>
                <a:chOff x="1478" y="1555"/>
                <a:chExt cx="734" cy="384"/>
              </a:xfrm>
            </p:grpSpPr>
            <p:sp>
              <p:nvSpPr>
                <p:cNvPr id="56502" name="矩形 56501"/>
                <p:cNvSpPr/>
                <p:nvPr/>
              </p:nvSpPr>
              <p:spPr>
                <a:xfrm>
                  <a:off x="1521" y="1555"/>
                  <a:ext cx="648"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3408</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40" name="矩形 56539"/>
                <p:cNvSpPr/>
                <p:nvPr/>
              </p:nvSpPr>
              <p:spPr>
                <a:xfrm>
                  <a:off x="1478" y="1555"/>
                  <a:ext cx="734"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nvGrpSpPr>
              <p:cNvPr id="56543" name="组合 56542"/>
              <p:cNvGrpSpPr/>
              <p:nvPr/>
            </p:nvGrpSpPr>
            <p:grpSpPr>
              <a:xfrm>
                <a:off x="2212" y="1555"/>
                <a:ext cx="806" cy="384"/>
                <a:chOff x="2212" y="1555"/>
                <a:chExt cx="806" cy="384"/>
              </a:xfrm>
            </p:grpSpPr>
            <p:sp>
              <p:nvSpPr>
                <p:cNvPr id="56503" name="矩形 56502"/>
                <p:cNvSpPr/>
                <p:nvPr/>
              </p:nvSpPr>
              <p:spPr>
                <a:xfrm>
                  <a:off x="2255" y="1555"/>
                  <a:ext cx="720" cy="384"/>
                </a:xfrm>
                <a:prstGeom prst="rect">
                  <a:avLst/>
                </a:prstGeom>
                <a:noFill/>
                <a:ln w="12700">
                  <a:noFill/>
                </a:ln>
              </p:spPr>
              <p:txBody>
                <a:bodyPr/>
                <a:p>
                  <a:pPr>
                    <a:lnSpc>
                      <a:spcPct val="100000"/>
                    </a:lnSpc>
                    <a:spcBef>
                      <a:spcPct val="0"/>
                    </a:spcBef>
                  </a:pPr>
                  <a:r>
                    <a:rPr lang="en-US" altLang="zh-CN" dirty="0">
                      <a:solidFill>
                        <a:srgbClr val="000000"/>
                      </a:solidFill>
                      <a:latin typeface="Times New Roman" panose="02020603050405020304" pitchFamily="2" charset="0"/>
                      <a:ea typeface="宋体" panose="02010600030101010101" pitchFamily="2" charset="-122"/>
                    </a:rPr>
                    <a:t>3.1415929</a:t>
                  </a:r>
                  <a:endParaRPr lang="en-US" altLang="zh-CN" dirty="0">
                    <a:latin typeface="Times New Roman" panose="02020603050405020304" pitchFamily="2" charset="0"/>
                    <a:ea typeface="宋体" panose="02010600030101010101" pitchFamily="2" charset="-122"/>
                  </a:endParaRPr>
                </a:p>
                <a:p>
                  <a:pPr eaLnBrk="0" hangingPunct="0">
                    <a:lnSpc>
                      <a:spcPct val="100000"/>
                    </a:lnSpc>
                    <a:spcBef>
                      <a:spcPct val="0"/>
                    </a:spcBef>
                  </a:pPr>
                  <a:endParaRPr lang="en-US" altLang="zh-CN" dirty="0">
                    <a:latin typeface="Times New Roman" panose="02020603050405020304" pitchFamily="2" charset="0"/>
                    <a:ea typeface="宋体" panose="02010600030101010101" pitchFamily="2" charset="-122"/>
                  </a:endParaRPr>
                </a:p>
              </p:txBody>
            </p:sp>
            <p:sp>
              <p:nvSpPr>
                <p:cNvPr id="56542" name="矩形 56541"/>
                <p:cNvSpPr/>
                <p:nvPr/>
              </p:nvSpPr>
              <p:spPr>
                <a:xfrm>
                  <a:off x="2212" y="1555"/>
                  <a:ext cx="806" cy="384"/>
                </a:xfrm>
                <a:prstGeom prst="rect">
                  <a:avLst/>
                </a:prstGeom>
                <a:noFill/>
                <a:ln w="7" cap="flat" cmpd="sng">
                  <a:solidFill>
                    <a:srgbClr val="A0A0A0"/>
                  </a:solidFill>
                  <a:prstDash val="solid"/>
                  <a:miter/>
                  <a:headEnd type="none" w="sm" len="sm"/>
                  <a:tailEnd type="none" w="sm" len="sm"/>
                </a:ln>
              </p:spPr>
              <p:txBody>
                <a:bodyPr/>
                <a:p>
                  <a:endParaRPr lang="zh-CN" altLang="en-US"/>
                </a:p>
              </p:txBody>
            </p:sp>
          </p:grpSp>
        </p:grpSp>
        <p:sp>
          <p:nvSpPr>
            <p:cNvPr id="56545" name="矩形 56544"/>
            <p:cNvSpPr/>
            <p:nvPr/>
          </p:nvSpPr>
          <p:spPr>
            <a:xfrm>
              <a:off x="-3" y="-3"/>
              <a:ext cx="3024" cy="1945"/>
            </a:xfrm>
            <a:prstGeom prst="rect">
              <a:avLst/>
            </a:prstGeom>
            <a:noFill/>
            <a:ln w="11112" cap="flat" cmpd="sng">
              <a:solidFill>
                <a:srgbClr val="A0A0A0"/>
              </a:solidFill>
              <a:prstDash val="solid"/>
              <a:miter/>
              <a:headEnd type="none" w="sm" len="sm"/>
              <a:tailEnd type="none" w="sm" len="sm"/>
            </a:ln>
          </p:spPr>
          <p:txBody>
            <a:bodyPr/>
            <a:p>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57345"/>
          <p:cNvSpPr>
            <a:spLocks noGrp="1"/>
          </p:cNvSpPr>
          <p:nvPr>
            <p:ph type="title"/>
          </p:nvPr>
        </p:nvSpPr>
        <p:spPr>
          <a:xfrm>
            <a:off x="263525" y="333375"/>
            <a:ext cx="8229600" cy="582613"/>
          </a:xfrm>
        </p:spPr>
        <p:txBody>
          <a:bodyPr lIns="92075" tIns="46038" rIns="92075" bIns="46038" anchor="ctr"/>
          <a:p>
            <a:r>
              <a:rPr lang="zh-CN" altLang="en-US" dirty="0">
                <a:solidFill>
                  <a:srgbClr val="000000"/>
                </a:solidFill>
                <a:latin typeface="Times New Roman" panose="02020603050405020304" pitchFamily="2" charset="0"/>
              </a:rPr>
              <a:t>例</a:t>
            </a:r>
            <a:r>
              <a:rPr lang="en-US" altLang="zh-CN" dirty="0">
                <a:solidFill>
                  <a:srgbClr val="000000"/>
                </a:solidFill>
              </a:rPr>
              <a:t>2. </a:t>
            </a:r>
            <a:r>
              <a:rPr lang="zh-CN" altLang="en-US" dirty="0">
                <a:solidFill>
                  <a:srgbClr val="000000"/>
                </a:solidFill>
                <a:latin typeface="Times New Roman" panose="02020603050405020304" pitchFamily="2" charset="0"/>
              </a:rPr>
              <a:t>射击问题（打靶游戏）</a:t>
            </a:r>
            <a:r>
              <a:rPr lang="zh-CN" altLang="en-US" sz="2800" dirty="0"/>
              <a:t> </a:t>
            </a:r>
            <a:endParaRPr lang="zh-CN" altLang="en-US" sz="2800"/>
          </a:p>
        </p:txBody>
      </p:sp>
      <p:sp>
        <p:nvSpPr>
          <p:cNvPr id="57347" name="文本占位符 57346"/>
          <p:cNvSpPr>
            <a:spLocks noGrp="1"/>
          </p:cNvSpPr>
          <p:nvPr>
            <p:ph type="body" idx="1"/>
          </p:nvPr>
        </p:nvSpPr>
        <p:spPr/>
        <p:txBody>
          <a:bodyPr lIns="0" tIns="46038" rIns="182562" bIns="46038"/>
          <a:p>
            <a:r>
              <a:rPr lang="en-US" altLang="zh-CN">
                <a:solidFill>
                  <a:srgbClr val="000000"/>
                </a:solidFill>
              </a:rPr>
              <a:t>      </a:t>
            </a:r>
            <a:r>
              <a:rPr lang="zh-CN" altLang="en-US" sz="2800">
                <a:solidFill>
                  <a:srgbClr val="000000"/>
                </a:solidFill>
              </a:rPr>
              <a:t>设</a:t>
            </a:r>
            <a:r>
              <a:rPr lang="en-US" altLang="zh-CN" sz="2800" i="1">
                <a:solidFill>
                  <a:srgbClr val="000000"/>
                </a:solidFill>
              </a:rPr>
              <a:t>r</a:t>
            </a:r>
            <a:r>
              <a:rPr lang="zh-CN" altLang="en-US" sz="2800" dirty="0">
                <a:solidFill>
                  <a:srgbClr val="000000"/>
                </a:solidFill>
              </a:rPr>
              <a:t>表示射击运动员的弹着点到靶心的距离，</a:t>
            </a:r>
            <a:r>
              <a:rPr lang="zh-CN" altLang="en-US" sz="2800" i="1" dirty="0">
                <a:solidFill>
                  <a:srgbClr val="000000"/>
                </a:solidFill>
              </a:rPr>
              <a:t>ｇ</a:t>
            </a:r>
            <a:r>
              <a:rPr lang="en-US" altLang="zh-CN" sz="2800" dirty="0">
                <a:solidFill>
                  <a:srgbClr val="000000"/>
                </a:solidFill>
              </a:rPr>
              <a:t>(</a:t>
            </a:r>
            <a:r>
              <a:rPr lang="en-US" altLang="zh-CN" sz="2800" i="1">
                <a:solidFill>
                  <a:srgbClr val="000000"/>
                </a:solidFill>
              </a:rPr>
              <a:t>r</a:t>
            </a:r>
            <a:r>
              <a:rPr lang="en-US" altLang="zh-CN" sz="2800">
                <a:solidFill>
                  <a:srgbClr val="000000"/>
                </a:solidFill>
              </a:rPr>
              <a:t>)</a:t>
            </a:r>
            <a:r>
              <a:rPr lang="zh-CN" altLang="en-US" sz="2800" dirty="0">
                <a:solidFill>
                  <a:srgbClr val="000000"/>
                </a:solidFill>
              </a:rPr>
              <a:t>表示击中</a:t>
            </a:r>
            <a:r>
              <a:rPr lang="en-US" altLang="zh-CN" sz="2800" i="1">
                <a:solidFill>
                  <a:srgbClr val="000000"/>
                </a:solidFill>
              </a:rPr>
              <a:t>r</a:t>
            </a:r>
            <a:r>
              <a:rPr lang="zh-CN" altLang="en-US" sz="2800" dirty="0">
                <a:solidFill>
                  <a:srgbClr val="000000"/>
                </a:solidFill>
              </a:rPr>
              <a:t>处相应的得分数（环数），</a:t>
            </a:r>
            <a:r>
              <a:rPr lang="en-US" altLang="zh-CN" sz="2800" i="1">
                <a:solidFill>
                  <a:srgbClr val="000000"/>
                </a:solidFill>
              </a:rPr>
              <a:t>f</a:t>
            </a:r>
            <a:r>
              <a:rPr lang="en-US" altLang="zh-CN" sz="2800">
                <a:solidFill>
                  <a:srgbClr val="000000"/>
                </a:solidFill>
              </a:rPr>
              <a:t>(</a:t>
            </a:r>
            <a:r>
              <a:rPr lang="en-US" altLang="zh-CN" sz="2800" i="1">
                <a:solidFill>
                  <a:srgbClr val="000000"/>
                </a:solidFill>
              </a:rPr>
              <a:t>r</a:t>
            </a:r>
            <a:r>
              <a:rPr lang="en-US" altLang="zh-CN" sz="2800">
                <a:solidFill>
                  <a:srgbClr val="000000"/>
                </a:solidFill>
              </a:rPr>
              <a:t>)</a:t>
            </a:r>
            <a:r>
              <a:rPr lang="zh-CN" altLang="en-US" sz="2800" dirty="0">
                <a:solidFill>
                  <a:srgbClr val="000000"/>
                </a:solidFill>
              </a:rPr>
              <a:t>为该运动员的弹着点的分布密度函数，它反映运动员的射击水平。该运动员的射击成绩为</a:t>
            </a:r>
            <a:r>
              <a:rPr lang="zh-CN" altLang="en-US" sz="2800" dirty="0"/>
              <a:t> </a:t>
            </a:r>
            <a:endParaRPr lang="zh-CN" altLang="en-US" sz="2800" dirty="0"/>
          </a:p>
          <a:p>
            <a:endParaRPr lang="zh-CN" altLang="en-US" sz="2800" dirty="0"/>
          </a:p>
          <a:p>
            <a:endParaRPr lang="zh-CN" altLang="en-US" sz="2800" dirty="0"/>
          </a:p>
          <a:p>
            <a:r>
              <a:rPr lang="zh-CN" altLang="en-US" sz="2800" dirty="0">
                <a:solidFill>
                  <a:srgbClr val="000000"/>
                </a:solidFill>
              </a:rPr>
              <a:t>       用概率语言来说，</a:t>
            </a:r>
            <a:r>
              <a:rPr lang="en-US" altLang="zh-CN" sz="2800" dirty="0">
                <a:solidFill>
                  <a:srgbClr val="000000"/>
                </a:solidFill>
              </a:rPr>
              <a:t>&lt;</a:t>
            </a:r>
            <a:r>
              <a:rPr lang="en-US" altLang="zh-CN" sz="2800" i="1">
                <a:solidFill>
                  <a:srgbClr val="000000"/>
                </a:solidFill>
              </a:rPr>
              <a:t>g</a:t>
            </a:r>
            <a:r>
              <a:rPr lang="en-US" altLang="zh-CN" sz="2800">
                <a:solidFill>
                  <a:srgbClr val="000000"/>
                </a:solidFill>
              </a:rPr>
              <a:t>&gt;</a:t>
            </a:r>
            <a:r>
              <a:rPr lang="zh-CN" altLang="en-US" sz="2800" dirty="0">
                <a:solidFill>
                  <a:srgbClr val="000000"/>
                </a:solidFill>
              </a:rPr>
              <a:t>是随机变量</a:t>
            </a:r>
            <a:r>
              <a:rPr lang="zh-CN" altLang="en-US" sz="2800" i="1" dirty="0">
                <a:solidFill>
                  <a:srgbClr val="000000"/>
                </a:solidFill>
              </a:rPr>
              <a:t>ｇ</a:t>
            </a:r>
            <a:r>
              <a:rPr lang="en-US" altLang="zh-CN" sz="2800" dirty="0">
                <a:solidFill>
                  <a:srgbClr val="000000"/>
                </a:solidFill>
              </a:rPr>
              <a:t>(</a:t>
            </a:r>
            <a:r>
              <a:rPr lang="en-US" altLang="zh-CN" sz="2800" i="1">
                <a:solidFill>
                  <a:srgbClr val="000000"/>
                </a:solidFill>
              </a:rPr>
              <a:t>r</a:t>
            </a:r>
            <a:r>
              <a:rPr lang="en-US" altLang="zh-CN" sz="2800">
                <a:solidFill>
                  <a:srgbClr val="000000"/>
                </a:solidFill>
              </a:rPr>
              <a:t>)</a:t>
            </a:r>
            <a:r>
              <a:rPr lang="zh-CN" altLang="en-US" sz="2800" dirty="0">
                <a:solidFill>
                  <a:srgbClr val="000000"/>
                </a:solidFill>
              </a:rPr>
              <a:t>的数学期望，即</a:t>
            </a:r>
            <a:r>
              <a:rPr lang="zh-CN" altLang="en-US" sz="2800" dirty="0"/>
              <a:t> </a:t>
            </a:r>
            <a:endParaRPr lang="zh-CN" altLang="en-US" sz="2800" dirty="0"/>
          </a:p>
          <a:p>
            <a:endParaRPr lang="zh-CN" altLang="en-US" dirty="0"/>
          </a:p>
          <a:p>
            <a:endParaRPr lang="zh-CN" altLang="en-US" dirty="0"/>
          </a:p>
          <a:p>
            <a:endParaRPr lang="zh-CN" altLang="en-US"/>
          </a:p>
        </p:txBody>
      </p:sp>
      <p:grpSp>
        <p:nvGrpSpPr>
          <p:cNvPr id="57358" name="组合 57357"/>
          <p:cNvGrpSpPr/>
          <p:nvPr/>
        </p:nvGrpSpPr>
        <p:grpSpPr>
          <a:xfrm>
            <a:off x="2652713" y="3018473"/>
            <a:ext cx="3332162" cy="1919288"/>
            <a:chOff x="1671" y="1929"/>
            <a:chExt cx="2099" cy="1209"/>
          </a:xfrm>
        </p:grpSpPr>
        <p:graphicFrame>
          <p:nvGraphicFramePr>
            <p:cNvPr id="57350" name="对象 57349"/>
            <p:cNvGraphicFramePr/>
            <p:nvPr/>
          </p:nvGraphicFramePr>
          <p:xfrm>
            <a:off x="1671" y="2862"/>
            <a:ext cx="1196" cy="276"/>
          </p:xfrm>
          <a:graphic>
            <a:graphicData uri="http://schemas.openxmlformats.org/presentationml/2006/ole">
              <mc:AlternateContent xmlns:mc="http://schemas.openxmlformats.org/markup-compatibility/2006">
                <mc:Choice xmlns:v="urn:schemas-microsoft-com:vml" Requires="v">
                  <p:oleObj spid="_x0000_s3080" name="" r:id="rId1" imgW="952500" imgH="215900" progId="Equation.3">
                    <p:embed/>
                  </p:oleObj>
                </mc:Choice>
                <mc:Fallback>
                  <p:oleObj name="" r:id="rId1" imgW="952500" imgH="215900" progId="Equation.3">
                    <p:embed/>
                    <p:pic>
                      <p:nvPicPr>
                        <p:cNvPr id="0" name="图片 3079"/>
                        <p:cNvPicPr/>
                        <p:nvPr/>
                      </p:nvPicPr>
                      <p:blipFill>
                        <a:blip r:embed="rId2"/>
                        <a:stretch>
                          <a:fillRect/>
                        </a:stretch>
                      </p:blipFill>
                      <p:spPr>
                        <a:xfrm>
                          <a:off x="1671" y="2862"/>
                          <a:ext cx="1196" cy="276"/>
                        </a:xfrm>
                        <a:prstGeom prst="rect">
                          <a:avLst/>
                        </a:prstGeom>
                        <a:noFill/>
                        <a:ln w="38100">
                          <a:noFill/>
                          <a:miter/>
                        </a:ln>
                      </p:spPr>
                    </p:pic>
                  </p:oleObj>
                </mc:Fallback>
              </mc:AlternateContent>
            </a:graphicData>
          </a:graphic>
        </p:graphicFrame>
        <p:graphicFrame>
          <p:nvGraphicFramePr>
            <p:cNvPr id="57348" name="对象 57347"/>
            <p:cNvGraphicFramePr/>
            <p:nvPr/>
          </p:nvGraphicFramePr>
          <p:xfrm>
            <a:off x="1746" y="1929"/>
            <a:ext cx="2024" cy="606"/>
          </p:xfrm>
          <a:graphic>
            <a:graphicData uri="http://schemas.openxmlformats.org/presentationml/2006/ole">
              <mc:AlternateContent xmlns:mc="http://schemas.openxmlformats.org/markup-compatibility/2006">
                <mc:Choice xmlns:v="urn:schemas-microsoft-com:vml" Requires="v">
                  <p:oleObj spid="_x0000_s3081" name="" r:id="rId3" imgW="1371600" imgH="330200" progId="Equation.3">
                    <p:embed/>
                  </p:oleObj>
                </mc:Choice>
                <mc:Fallback>
                  <p:oleObj name="" r:id="rId3" imgW="1371600" imgH="330200" progId="Equation.3">
                    <p:embed/>
                    <p:pic>
                      <p:nvPicPr>
                        <p:cNvPr id="0" name="图片 3080"/>
                        <p:cNvPicPr/>
                        <p:nvPr/>
                      </p:nvPicPr>
                      <p:blipFill>
                        <a:blip r:embed="rId4"/>
                        <a:stretch>
                          <a:fillRect/>
                        </a:stretch>
                      </p:blipFill>
                      <p:spPr>
                        <a:xfrm>
                          <a:off x="1746" y="1929"/>
                          <a:ext cx="2024" cy="606"/>
                        </a:xfrm>
                        <a:prstGeom prst="rect">
                          <a:avLst/>
                        </a:prstGeom>
                        <a:noFill/>
                        <a:ln w="38100">
                          <a:noFill/>
                          <a:miter/>
                        </a:ln>
                      </p:spPr>
                    </p:pic>
                  </p:oleObj>
                </mc:Fallback>
              </mc:AlternateContent>
            </a:graphicData>
          </a:graphic>
        </p:graphicFrame>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文本占位符 58370"/>
          <p:cNvSpPr>
            <a:spLocks noGrp="1"/>
          </p:cNvSpPr>
          <p:nvPr>
            <p:ph type="body" idx="1"/>
          </p:nvPr>
        </p:nvSpPr>
        <p:spPr>
          <a:xfrm>
            <a:off x="459740" y="327025"/>
            <a:ext cx="7772400" cy="5212080"/>
          </a:xfrm>
        </p:spPr>
        <p:txBody>
          <a:bodyPr lIns="0" tIns="46038" rIns="182562" bIns="46038"/>
          <a:p>
            <a:pPr marL="0" indent="0" algn="just">
              <a:buNone/>
            </a:pPr>
            <a:r>
              <a:rPr lang="en-US" altLang="zh-CN" dirty="0">
                <a:solidFill>
                  <a:srgbClr val="000000"/>
                </a:solidFill>
              </a:rPr>
              <a:t>      </a:t>
            </a:r>
            <a:r>
              <a:rPr lang="zh-CN" altLang="en-US" sz="2800" dirty="0">
                <a:solidFill>
                  <a:srgbClr val="000000"/>
                </a:solidFill>
              </a:rPr>
              <a:t>现假设该运动员进行了</a:t>
            </a:r>
            <a:r>
              <a:rPr lang="zh-CN" altLang="en-US" sz="2800" i="1" dirty="0">
                <a:solidFill>
                  <a:srgbClr val="000000"/>
                </a:solidFill>
              </a:rPr>
              <a:t>Ｎ</a:t>
            </a:r>
            <a:r>
              <a:rPr lang="zh-CN" altLang="en-US" sz="2800" dirty="0">
                <a:solidFill>
                  <a:srgbClr val="000000"/>
                </a:solidFill>
              </a:rPr>
              <a:t>次射击，每次射击的弹着点依次为</a:t>
            </a:r>
            <a:r>
              <a:rPr lang="en-US" altLang="zh-CN" sz="2800" i="1">
                <a:solidFill>
                  <a:srgbClr val="000000"/>
                </a:solidFill>
              </a:rPr>
              <a:t>r</a:t>
            </a:r>
            <a:r>
              <a:rPr lang="en-US" altLang="zh-CN" sz="2800" i="1" baseline="-30000">
                <a:solidFill>
                  <a:srgbClr val="000000"/>
                </a:solidFill>
              </a:rPr>
              <a:t>1</a:t>
            </a:r>
            <a:r>
              <a:rPr lang="zh-CN" altLang="en-US" sz="2800">
                <a:solidFill>
                  <a:srgbClr val="000000"/>
                </a:solidFill>
              </a:rPr>
              <a:t>，</a:t>
            </a:r>
            <a:r>
              <a:rPr lang="en-US" altLang="zh-CN" sz="2800" i="1">
                <a:solidFill>
                  <a:srgbClr val="000000"/>
                </a:solidFill>
              </a:rPr>
              <a:t>r</a:t>
            </a:r>
            <a:r>
              <a:rPr lang="en-US" altLang="zh-CN" sz="2800" i="1" baseline="-30000">
                <a:solidFill>
                  <a:srgbClr val="000000"/>
                </a:solidFill>
              </a:rPr>
              <a:t>2</a:t>
            </a:r>
            <a:r>
              <a:rPr lang="zh-CN" altLang="en-US" sz="2800">
                <a:solidFill>
                  <a:srgbClr val="000000"/>
                </a:solidFill>
              </a:rPr>
              <a:t>，</a:t>
            </a:r>
            <a:r>
              <a:rPr lang="en-US" altLang="zh-CN" sz="2800">
                <a:solidFill>
                  <a:srgbClr val="000000"/>
                </a:solidFill>
                <a:latin typeface="Times New Roman" panose="02020603050405020304" pitchFamily="2" charset="0"/>
              </a:rPr>
              <a:t>…</a:t>
            </a:r>
            <a:r>
              <a:rPr lang="zh-CN" altLang="en-US" sz="2800">
                <a:solidFill>
                  <a:srgbClr val="000000"/>
                </a:solidFill>
              </a:rPr>
              <a:t>，</a:t>
            </a:r>
            <a:r>
              <a:rPr lang="en-US" altLang="zh-CN" sz="2800" i="1" err="1">
                <a:solidFill>
                  <a:srgbClr val="000000"/>
                </a:solidFill>
              </a:rPr>
              <a:t>r</a:t>
            </a:r>
            <a:r>
              <a:rPr lang="en-US" altLang="zh-CN" sz="2800" i="1" baseline="-30000" err="1">
                <a:solidFill>
                  <a:srgbClr val="000000"/>
                </a:solidFill>
              </a:rPr>
              <a:t>N</a:t>
            </a:r>
            <a:r>
              <a:rPr lang="zh-CN" altLang="en-US" sz="2800" dirty="0">
                <a:solidFill>
                  <a:srgbClr val="000000"/>
                </a:solidFill>
              </a:rPr>
              <a:t>，则</a:t>
            </a:r>
            <a:r>
              <a:rPr lang="zh-CN" altLang="en-US" sz="2800" i="1" dirty="0">
                <a:solidFill>
                  <a:srgbClr val="000000"/>
                </a:solidFill>
              </a:rPr>
              <a:t>Ｎ</a:t>
            </a:r>
            <a:r>
              <a:rPr lang="zh-CN" altLang="en-US" sz="2800" dirty="0">
                <a:solidFill>
                  <a:srgbClr val="000000"/>
                </a:solidFill>
              </a:rPr>
              <a:t>次得分</a:t>
            </a:r>
            <a:r>
              <a:rPr lang="en-US" altLang="zh-CN" sz="2800" i="1">
                <a:solidFill>
                  <a:srgbClr val="000000"/>
                </a:solidFill>
              </a:rPr>
              <a:t>g</a:t>
            </a:r>
            <a:r>
              <a:rPr lang="en-US" altLang="zh-CN" sz="2800">
                <a:solidFill>
                  <a:srgbClr val="000000"/>
                </a:solidFill>
              </a:rPr>
              <a:t>(</a:t>
            </a:r>
            <a:r>
              <a:rPr lang="en-US" altLang="zh-CN" sz="2800" i="1">
                <a:solidFill>
                  <a:srgbClr val="000000"/>
                </a:solidFill>
              </a:rPr>
              <a:t>r</a:t>
            </a:r>
            <a:r>
              <a:rPr lang="en-US" altLang="zh-CN" sz="2800" i="1" baseline="-30000">
                <a:solidFill>
                  <a:srgbClr val="000000"/>
                </a:solidFill>
              </a:rPr>
              <a:t>1</a:t>
            </a:r>
            <a:r>
              <a:rPr lang="en-US" altLang="zh-CN" sz="2800">
                <a:solidFill>
                  <a:srgbClr val="000000"/>
                </a:solidFill>
              </a:rPr>
              <a:t>)</a:t>
            </a:r>
            <a:r>
              <a:rPr lang="zh-CN" altLang="en-US" sz="2800">
                <a:solidFill>
                  <a:srgbClr val="000000"/>
                </a:solidFill>
              </a:rPr>
              <a:t>，</a:t>
            </a:r>
            <a:r>
              <a:rPr lang="en-US" altLang="zh-CN" sz="2800" i="1">
                <a:solidFill>
                  <a:srgbClr val="000000"/>
                </a:solidFill>
              </a:rPr>
              <a:t>g</a:t>
            </a:r>
            <a:r>
              <a:rPr lang="en-US" altLang="zh-CN" sz="2800">
                <a:solidFill>
                  <a:srgbClr val="000000"/>
                </a:solidFill>
              </a:rPr>
              <a:t>(</a:t>
            </a:r>
            <a:r>
              <a:rPr lang="en-US" altLang="zh-CN" sz="2800" i="1">
                <a:solidFill>
                  <a:srgbClr val="000000"/>
                </a:solidFill>
              </a:rPr>
              <a:t>r</a:t>
            </a:r>
            <a:r>
              <a:rPr lang="en-US" altLang="zh-CN" sz="2800" i="1" baseline="-30000">
                <a:solidFill>
                  <a:srgbClr val="000000"/>
                </a:solidFill>
              </a:rPr>
              <a:t>2</a:t>
            </a:r>
            <a:r>
              <a:rPr lang="en-US" altLang="zh-CN" sz="2800">
                <a:solidFill>
                  <a:srgbClr val="000000"/>
                </a:solidFill>
              </a:rPr>
              <a:t>)</a:t>
            </a:r>
            <a:r>
              <a:rPr lang="zh-CN" altLang="en-US" sz="2800">
                <a:solidFill>
                  <a:srgbClr val="000000"/>
                </a:solidFill>
              </a:rPr>
              <a:t>，</a:t>
            </a:r>
            <a:r>
              <a:rPr lang="en-US" altLang="zh-CN" sz="2800">
                <a:solidFill>
                  <a:srgbClr val="000000"/>
                </a:solidFill>
                <a:latin typeface="Times New Roman" panose="02020603050405020304" pitchFamily="2" charset="0"/>
              </a:rPr>
              <a:t>…</a:t>
            </a:r>
            <a:r>
              <a:rPr lang="zh-CN" altLang="en-US" sz="2800">
                <a:solidFill>
                  <a:srgbClr val="000000"/>
                </a:solidFill>
              </a:rPr>
              <a:t>，</a:t>
            </a:r>
            <a:r>
              <a:rPr lang="en-US" altLang="zh-CN" sz="2800" i="1">
                <a:solidFill>
                  <a:srgbClr val="000000"/>
                </a:solidFill>
              </a:rPr>
              <a:t>g</a:t>
            </a:r>
            <a:r>
              <a:rPr lang="en-US" altLang="zh-CN" sz="2800">
                <a:solidFill>
                  <a:srgbClr val="000000"/>
                </a:solidFill>
              </a:rPr>
              <a:t>(</a:t>
            </a:r>
            <a:r>
              <a:rPr lang="en-US" altLang="zh-CN" sz="2800" i="1" err="1">
                <a:solidFill>
                  <a:srgbClr val="000000"/>
                </a:solidFill>
              </a:rPr>
              <a:t>r</a:t>
            </a:r>
            <a:r>
              <a:rPr lang="en-US" altLang="zh-CN" sz="2800" i="1" baseline="-30000" err="1">
                <a:solidFill>
                  <a:srgbClr val="000000"/>
                </a:solidFill>
              </a:rPr>
              <a:t>N</a:t>
            </a:r>
            <a:r>
              <a:rPr lang="en-US" altLang="zh-CN" sz="2800">
                <a:solidFill>
                  <a:srgbClr val="000000"/>
                </a:solidFill>
              </a:rPr>
              <a:t>)</a:t>
            </a:r>
            <a:r>
              <a:rPr lang="zh-CN" altLang="en-US" sz="2800" dirty="0">
                <a:solidFill>
                  <a:srgbClr val="000000"/>
                </a:solidFill>
              </a:rPr>
              <a:t>的算术平均值</a:t>
            </a:r>
            <a:endParaRPr lang="zh-CN" altLang="en-US" sz="2800" dirty="0">
              <a:solidFill>
                <a:srgbClr val="000000"/>
              </a:solidFill>
            </a:endParaRPr>
          </a:p>
          <a:p>
            <a:pPr algn="just"/>
            <a:endParaRPr lang="zh-CN" altLang="en-US" sz="2800" dirty="0">
              <a:solidFill>
                <a:srgbClr val="000000"/>
              </a:solidFill>
            </a:endParaRPr>
          </a:p>
          <a:p>
            <a:pPr algn="just"/>
            <a:endParaRPr lang="zh-CN" altLang="en-US" sz="2800" dirty="0">
              <a:solidFill>
                <a:srgbClr val="000000"/>
              </a:solidFill>
            </a:endParaRPr>
          </a:p>
          <a:p>
            <a:pPr algn="just"/>
            <a:endParaRPr lang="zh-CN" altLang="en-US" sz="2800" dirty="0"/>
          </a:p>
          <a:p>
            <a:pPr algn="just"/>
            <a:r>
              <a:rPr lang="zh-CN" altLang="en-US" sz="2800" dirty="0">
                <a:solidFill>
                  <a:srgbClr val="000000"/>
                </a:solidFill>
              </a:rPr>
              <a:t>      代表了该运动员的成绩。换言之，为积分</a:t>
            </a:r>
            <a:r>
              <a:rPr lang="en-US" altLang="zh-CN" sz="2800" dirty="0">
                <a:solidFill>
                  <a:srgbClr val="000000"/>
                </a:solidFill>
              </a:rPr>
              <a:t>&lt;</a:t>
            </a:r>
            <a:r>
              <a:rPr lang="en-US" altLang="zh-CN" sz="2800" i="1">
                <a:solidFill>
                  <a:srgbClr val="000000"/>
                </a:solidFill>
              </a:rPr>
              <a:t>g</a:t>
            </a:r>
            <a:r>
              <a:rPr lang="en-US" altLang="zh-CN" sz="2800">
                <a:solidFill>
                  <a:srgbClr val="000000"/>
                </a:solidFill>
              </a:rPr>
              <a:t>&gt;</a:t>
            </a:r>
            <a:r>
              <a:rPr lang="zh-CN" altLang="en-US" sz="2800" dirty="0">
                <a:solidFill>
                  <a:srgbClr val="000000"/>
                </a:solidFill>
              </a:rPr>
              <a:t>的估计值，或近似值。</a:t>
            </a:r>
            <a:endParaRPr lang="zh-CN" altLang="en-US" sz="2800" dirty="0"/>
          </a:p>
          <a:p>
            <a:r>
              <a:rPr lang="zh-CN" altLang="en-US" sz="2800" dirty="0">
                <a:solidFill>
                  <a:srgbClr val="000000"/>
                </a:solidFill>
              </a:rPr>
              <a:t>      在该例中，用</a:t>
            </a:r>
            <a:r>
              <a:rPr lang="zh-CN" altLang="en-US" sz="2800" i="1" dirty="0">
                <a:solidFill>
                  <a:srgbClr val="000000"/>
                </a:solidFill>
              </a:rPr>
              <a:t>Ｎ</a:t>
            </a:r>
            <a:r>
              <a:rPr lang="zh-CN" altLang="en-US" sz="2800" dirty="0">
                <a:solidFill>
                  <a:srgbClr val="000000"/>
                </a:solidFill>
              </a:rPr>
              <a:t>次试验所得成绩的算术平均值作为数学期望</a:t>
            </a:r>
            <a:r>
              <a:rPr lang="en-US" altLang="zh-CN" sz="2800" dirty="0">
                <a:solidFill>
                  <a:srgbClr val="000000"/>
                </a:solidFill>
              </a:rPr>
              <a:t>&lt;</a:t>
            </a:r>
            <a:r>
              <a:rPr lang="en-US" altLang="zh-CN" sz="2800" i="1">
                <a:solidFill>
                  <a:srgbClr val="000000"/>
                </a:solidFill>
              </a:rPr>
              <a:t>g</a:t>
            </a:r>
            <a:r>
              <a:rPr lang="en-US" altLang="zh-CN" sz="2800">
                <a:solidFill>
                  <a:srgbClr val="000000"/>
                </a:solidFill>
              </a:rPr>
              <a:t>&gt;</a:t>
            </a:r>
            <a:r>
              <a:rPr lang="zh-CN" altLang="en-US" sz="2800" dirty="0">
                <a:solidFill>
                  <a:srgbClr val="000000"/>
                </a:solidFill>
              </a:rPr>
              <a:t>的估计值</a:t>
            </a:r>
            <a:r>
              <a:rPr lang="zh-CN" altLang="en-US" dirty="0">
                <a:solidFill>
                  <a:srgbClr val="000000"/>
                </a:solidFill>
              </a:rPr>
              <a:t>（积分近似值）。</a:t>
            </a:r>
            <a:r>
              <a:rPr lang="zh-CN" altLang="en-US" dirty="0"/>
              <a:t> </a:t>
            </a:r>
            <a:endParaRPr lang="zh-CN" altLang="en-US"/>
          </a:p>
        </p:txBody>
      </p:sp>
      <p:graphicFrame>
        <p:nvGraphicFramePr>
          <p:cNvPr id="58372" name="对象 58371"/>
          <p:cNvGraphicFramePr/>
          <p:nvPr/>
        </p:nvGraphicFramePr>
        <p:xfrm>
          <a:off x="3128645" y="1927860"/>
          <a:ext cx="2433955" cy="1196340"/>
        </p:xfrm>
        <a:graphic>
          <a:graphicData uri="http://schemas.openxmlformats.org/presentationml/2006/ole">
            <mc:AlternateContent xmlns:mc="http://schemas.openxmlformats.org/markup-compatibility/2006">
              <mc:Choice xmlns:v="urn:schemas-microsoft-com:vml" Requires="v">
                <p:oleObj spid="_x0000_s3082" name="" r:id="rId1" imgW="1054100" imgH="431800" progId="Equation.3">
                  <p:embed/>
                </p:oleObj>
              </mc:Choice>
              <mc:Fallback>
                <p:oleObj name="" r:id="rId1" imgW="1054100" imgH="431800" progId="Equation.3">
                  <p:embed/>
                  <p:pic>
                    <p:nvPicPr>
                      <p:cNvPr id="0" name="图片 3081"/>
                      <p:cNvPicPr/>
                      <p:nvPr/>
                    </p:nvPicPr>
                    <p:blipFill>
                      <a:blip r:embed="rId2"/>
                      <a:stretch>
                        <a:fillRect/>
                      </a:stretch>
                    </p:blipFill>
                    <p:spPr>
                      <a:xfrm>
                        <a:off x="3128645" y="1927860"/>
                        <a:ext cx="2433955" cy="1196340"/>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8193"/>
          <p:cNvSpPr>
            <a:spLocks noGrp="1"/>
          </p:cNvSpPr>
          <p:nvPr>
            <p:ph type="title"/>
          </p:nvPr>
        </p:nvSpPr>
        <p:spPr/>
        <p:txBody>
          <a:bodyPr anchor="ctr"/>
          <a:p>
            <a:r>
              <a:rPr lang="zh-CN" altLang="en-US"/>
              <a:t>基本思想</a:t>
            </a:r>
            <a:endParaRPr lang="zh-CN" altLang="en-US"/>
          </a:p>
        </p:txBody>
      </p:sp>
      <p:sp>
        <p:nvSpPr>
          <p:cNvPr id="7170" name="Text Placeholder 8194"/>
          <p:cNvSpPr>
            <a:spLocks noGrp="1"/>
          </p:cNvSpPr>
          <p:nvPr>
            <p:ph idx="1"/>
          </p:nvPr>
        </p:nvSpPr>
        <p:spPr>
          <a:xfrm>
            <a:off x="391160" y="952500"/>
            <a:ext cx="8229600" cy="4953000"/>
          </a:xfrm>
        </p:spPr>
        <p:txBody>
          <a:bodyPr anchor="t"/>
          <a:p>
            <a:r>
              <a:rPr lang="zh-CN" altLang="en-US">
                <a:ea typeface="华文新魏" panose="02010800040101010101" charset="-122"/>
              </a:rPr>
              <a:t>当所求问题的解是某个事件的</a:t>
            </a:r>
            <a:r>
              <a:rPr lang="zh-CN" altLang="en-US" i="1" u="sng">
                <a:solidFill>
                  <a:srgbClr val="FF0000"/>
                </a:solidFill>
                <a:ea typeface="华文新魏" panose="02010800040101010101" charset="-122"/>
              </a:rPr>
              <a:t>概率</a:t>
            </a:r>
            <a:r>
              <a:rPr lang="zh-CN" altLang="en-US">
                <a:ea typeface="华文新魏" panose="02010800040101010101" charset="-122"/>
              </a:rPr>
              <a:t>，或者是某个随机变量的</a:t>
            </a:r>
            <a:r>
              <a:rPr lang="zh-CN" altLang="en-US" i="1" u="sng">
                <a:solidFill>
                  <a:srgbClr val="FF0000"/>
                </a:solidFill>
                <a:ea typeface="华文新魏" panose="02010800040101010101" charset="-122"/>
              </a:rPr>
              <a:t>数学期望</a:t>
            </a:r>
            <a:r>
              <a:rPr lang="zh-CN" altLang="en-US">
                <a:ea typeface="华文新魏" panose="02010800040101010101" charset="-122"/>
              </a:rPr>
              <a:t>，或者是</a:t>
            </a:r>
            <a:r>
              <a:rPr lang="zh-CN" altLang="en-US">
                <a:solidFill>
                  <a:srgbClr val="FF0000"/>
                </a:solidFill>
                <a:ea typeface="华文新魏" panose="02010800040101010101" charset="-122"/>
              </a:rPr>
              <a:t>与概率，数学期望有关的量时</a:t>
            </a:r>
            <a:r>
              <a:rPr lang="zh-CN" altLang="en-US">
                <a:ea typeface="华文新魏" panose="02010800040101010101" charset="-122"/>
              </a:rPr>
              <a:t>，通过某种试验的方法，得出该事件发生的</a:t>
            </a:r>
            <a:r>
              <a:rPr lang="zh-CN" altLang="en-US">
                <a:solidFill>
                  <a:srgbClr val="FF0000"/>
                </a:solidFill>
                <a:ea typeface="华文新魏" panose="02010800040101010101" charset="-122"/>
              </a:rPr>
              <a:t>概率</a:t>
            </a:r>
            <a:r>
              <a:rPr lang="zh-CN" altLang="en-US">
                <a:ea typeface="华文新魏" panose="02010800040101010101" charset="-122"/>
              </a:rPr>
              <a:t>，或者该随机变量若干个具体观察值的</a:t>
            </a:r>
            <a:r>
              <a:rPr lang="zh-CN" altLang="en-US">
                <a:solidFill>
                  <a:srgbClr val="FF0000"/>
                </a:solidFill>
                <a:ea typeface="华文新魏" panose="02010800040101010101" charset="-122"/>
              </a:rPr>
              <a:t>算术平均值</a:t>
            </a:r>
            <a:r>
              <a:rPr lang="zh-CN" altLang="en-US">
                <a:ea typeface="华文新魏" panose="02010800040101010101" charset="-122"/>
              </a:rPr>
              <a:t>，通过它得到问题的解。</a:t>
            </a:r>
            <a:endParaRPr lang="zh-CN" altLang="en-US">
              <a:ea typeface="华文新魏" panose="02010800040101010101" charset="-122"/>
            </a:endParaRPr>
          </a:p>
          <a:p>
            <a:pPr algn="just"/>
            <a:r>
              <a:rPr lang="zh-CN" altLang="en-US"/>
              <a:t>当随机变量的取值仅为</a:t>
            </a:r>
            <a:r>
              <a:rPr lang="en-US" altLang="zh-CN"/>
              <a:t>1</a:t>
            </a:r>
            <a:r>
              <a:rPr lang="zh-CN" altLang="en-US"/>
              <a:t>或</a:t>
            </a:r>
            <a:r>
              <a:rPr lang="en-US" altLang="zh-CN"/>
              <a:t>0</a:t>
            </a:r>
            <a:r>
              <a:rPr lang="zh-CN" altLang="en-US"/>
              <a:t>时，它的数学期望就是某个事件的概率。或者说，某种事件的概率也是随机变量（仅取值为</a:t>
            </a:r>
            <a:r>
              <a:rPr lang="en-US" altLang="zh-CN"/>
              <a:t>1</a:t>
            </a:r>
            <a:r>
              <a:rPr lang="zh-CN" altLang="en-US"/>
              <a:t>或</a:t>
            </a:r>
            <a:r>
              <a:rPr lang="en-US" altLang="zh-CN"/>
              <a:t>0</a:t>
            </a:r>
            <a:r>
              <a:rPr lang="zh-CN" altLang="en-US"/>
              <a:t>）的数学期望</a:t>
            </a:r>
            <a:r>
              <a:rPr lang="zh-CN" altLang="en-US">
                <a:solidFill>
                  <a:schemeClr val="accent1"/>
                </a:solidFill>
              </a:rPr>
              <a:t>。 </a:t>
            </a:r>
            <a:endParaRPr lang="zh-CN" altLang="en-US">
              <a:solidFill>
                <a:schemeClr val="accent1"/>
              </a:solidFill>
            </a:endParaRPr>
          </a:p>
          <a:p>
            <a:endParaRPr lang="zh-CN" altLang="en-US">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itle 9217"/>
          <p:cNvSpPr>
            <a:spLocks noGrp="1"/>
          </p:cNvSpPr>
          <p:nvPr>
            <p:ph type="title"/>
          </p:nvPr>
        </p:nvSpPr>
        <p:spPr/>
        <p:txBody>
          <a:bodyPr anchor="ctr"/>
          <a:p>
            <a:r>
              <a:rPr lang="zh-CN" altLang="en-US"/>
              <a:t>蒙特卡罗方法的特点</a:t>
            </a:r>
            <a:endParaRPr lang="zh-CN" altLang="en-US"/>
          </a:p>
        </p:txBody>
      </p:sp>
      <p:sp>
        <p:nvSpPr>
          <p:cNvPr id="8194" name="Text Placeholder 9218"/>
          <p:cNvSpPr>
            <a:spLocks noGrp="1"/>
          </p:cNvSpPr>
          <p:nvPr>
            <p:ph idx="1"/>
          </p:nvPr>
        </p:nvSpPr>
        <p:spPr/>
        <p:txBody>
          <a:bodyPr anchor="t"/>
          <a:p>
            <a:r>
              <a:rPr lang="zh-CN" altLang="en-US" sz="3600" b="1" dirty="0"/>
              <a:t>优点：</a:t>
            </a:r>
            <a:endParaRPr lang="zh-CN" altLang="en-US" sz="3600" b="1" dirty="0"/>
          </a:p>
          <a:p>
            <a:r>
              <a:rPr lang="zh-CN" altLang="en-US" sz="2800" dirty="0">
                <a:latin typeface="华文新魏" panose="02010800040101010101" charset="-122"/>
                <a:ea typeface="华文新魏" panose="02010800040101010101" charset="-122"/>
              </a:rPr>
              <a:t>1、能够比较逼真地描述具有随机性质的事物的      特点及物理实验过程</a:t>
            </a:r>
            <a:endParaRPr lang="zh-CN" altLang="en-US" sz="2800" dirty="0">
              <a:latin typeface="华文新魏" panose="02010800040101010101" charset="-122"/>
              <a:ea typeface="华文新魏" panose="02010800040101010101" charset="-122"/>
            </a:endParaRPr>
          </a:p>
          <a:p>
            <a:r>
              <a:rPr lang="zh-CN" altLang="en-US" sz="2800" dirty="0">
                <a:latin typeface="华文新魏" panose="02010800040101010101" charset="-122"/>
                <a:ea typeface="华文新魏" panose="02010800040101010101" charset="-122"/>
              </a:rPr>
              <a:t>2、受几何条件限制小</a:t>
            </a:r>
            <a:endParaRPr lang="zh-CN" altLang="en-US" sz="2800" dirty="0">
              <a:latin typeface="华文新魏" panose="02010800040101010101" charset="-122"/>
              <a:ea typeface="华文新魏" panose="02010800040101010101" charset="-122"/>
            </a:endParaRPr>
          </a:p>
          <a:p>
            <a:r>
              <a:rPr lang="zh-CN" altLang="en-US" sz="2800" dirty="0">
                <a:latin typeface="华文新魏" panose="02010800040101010101" charset="-122"/>
                <a:ea typeface="华文新魏" panose="02010800040101010101" charset="-122"/>
              </a:rPr>
              <a:t>3、收敛速度与问题的维数无关</a:t>
            </a:r>
            <a:endParaRPr lang="zh-CN" altLang="en-US" sz="2800" dirty="0">
              <a:latin typeface="华文新魏" panose="02010800040101010101" charset="-122"/>
              <a:ea typeface="华文新魏" panose="02010800040101010101" charset="-122"/>
            </a:endParaRPr>
          </a:p>
          <a:p>
            <a:r>
              <a:rPr lang="zh-CN" altLang="en-US" sz="2800" dirty="0">
                <a:latin typeface="华文新魏" panose="02010800040101010101" charset="-122"/>
                <a:ea typeface="华文新魏" panose="02010800040101010101" charset="-122"/>
              </a:rPr>
              <a:t>4、具有同时计算多个方案与多个未知量的能力</a:t>
            </a:r>
            <a:endParaRPr lang="zh-CN" altLang="en-US" sz="2800" dirty="0">
              <a:latin typeface="华文新魏" panose="02010800040101010101" charset="-122"/>
              <a:ea typeface="华文新魏" panose="02010800040101010101" charset="-122"/>
            </a:endParaRPr>
          </a:p>
          <a:p>
            <a:r>
              <a:rPr lang="zh-CN" altLang="en-US" sz="2800" dirty="0">
                <a:latin typeface="华文新魏" panose="02010800040101010101" charset="-122"/>
                <a:ea typeface="华文新魏" panose="02010800040101010101" charset="-122"/>
              </a:rPr>
              <a:t>5、误差容易确定</a:t>
            </a:r>
            <a:endParaRPr lang="zh-CN" altLang="en-US" sz="2800" dirty="0">
              <a:latin typeface="华文新魏" panose="02010800040101010101" charset="-122"/>
              <a:ea typeface="华文新魏" panose="02010800040101010101" charset="-122"/>
            </a:endParaRPr>
          </a:p>
          <a:p>
            <a:r>
              <a:rPr lang="zh-CN" altLang="en-US" sz="2800" dirty="0">
                <a:latin typeface="华文新魏" panose="02010800040101010101" charset="-122"/>
                <a:ea typeface="华文新魏" panose="02010800040101010101" charset="-122"/>
              </a:rPr>
              <a:t>6、程序结构简单，易于实现</a:t>
            </a:r>
            <a:endParaRPr lang="zh-CN" altLang="en-US" sz="2800" dirty="0">
              <a:latin typeface="华文新魏" panose="02010800040101010101" charset="-122"/>
              <a:ea typeface="华文新魏" panose="020108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itle 10241"/>
          <p:cNvSpPr>
            <a:spLocks noGrp="1"/>
          </p:cNvSpPr>
          <p:nvPr>
            <p:ph type="title"/>
          </p:nvPr>
        </p:nvSpPr>
        <p:spPr/>
        <p:txBody>
          <a:bodyPr anchor="ctr"/>
          <a:p>
            <a:endParaRPr lang="zh-CN" altLang="en-US"/>
          </a:p>
        </p:txBody>
      </p:sp>
      <p:sp>
        <p:nvSpPr>
          <p:cNvPr id="9218" name="Text Placeholder 10242"/>
          <p:cNvSpPr>
            <a:spLocks noGrp="1"/>
          </p:cNvSpPr>
          <p:nvPr>
            <p:ph idx="1"/>
          </p:nvPr>
        </p:nvSpPr>
        <p:spPr>
          <a:xfrm>
            <a:off x="456883" y="1065530"/>
            <a:ext cx="8124825" cy="4870450"/>
          </a:xfrm>
        </p:spPr>
        <p:txBody>
          <a:bodyPr anchor="t"/>
          <a:p>
            <a:r>
              <a:rPr lang="zh-CN" altLang="en-US" sz="3600" b="1" dirty="0"/>
              <a:t>缺点：</a:t>
            </a:r>
            <a:endParaRPr lang="zh-CN" altLang="en-US" sz="3600" b="1" dirty="0"/>
          </a:p>
          <a:p>
            <a:r>
              <a:rPr lang="zh-CN" altLang="en-US" sz="2400" dirty="0">
                <a:latin typeface="华文新魏" panose="02010800040101010101" charset="-122"/>
                <a:ea typeface="华文新魏" panose="02010800040101010101" charset="-122"/>
              </a:rPr>
              <a:t>1收敛速度慢</a:t>
            </a:r>
            <a:endParaRPr lang="zh-CN" altLang="en-US" sz="2400" dirty="0">
              <a:latin typeface="华文新魏" panose="02010800040101010101" charset="-122"/>
              <a:ea typeface="华文新魏" panose="02010800040101010101" charset="-122"/>
            </a:endParaRPr>
          </a:p>
          <a:p>
            <a:r>
              <a:rPr lang="zh-CN" altLang="en-US" sz="2400" dirty="0">
                <a:latin typeface="华文新魏" panose="02010800040101010101" charset="-122"/>
                <a:ea typeface="华文新魏" panose="02010800040101010101" charset="-122"/>
              </a:rPr>
              <a:t>2误差具有概率性</a:t>
            </a:r>
            <a:endParaRPr lang="zh-CN" altLang="en-US" sz="2400" dirty="0">
              <a:latin typeface="华文新魏" panose="02010800040101010101" charset="-122"/>
              <a:ea typeface="华文新魏" panose="02010800040101010101" charset="-122"/>
            </a:endParaRPr>
          </a:p>
          <a:p>
            <a:r>
              <a:rPr lang="zh-CN" altLang="en-US" sz="2400" dirty="0">
                <a:latin typeface="华文新魏" panose="02010800040101010101" charset="-122"/>
                <a:ea typeface="华文新魏" panose="02010800040101010101" charset="-122"/>
              </a:rPr>
              <a:t>3在粒子输运问题中，计算结果与系统大小有关</a:t>
            </a:r>
            <a:endParaRPr lang="zh-CN" altLang="en-US" sz="2400" dirty="0">
              <a:latin typeface="华文新魏" panose="02010800040101010101" charset="-122"/>
              <a:ea typeface="华文新魏" panose="02010800040101010101" charset="-122"/>
            </a:endParaRPr>
          </a:p>
          <a:p>
            <a:endParaRPr lang="zh-CN" altLang="en-US" sz="2400" dirty="0">
              <a:latin typeface="华文新魏" panose="02010800040101010101" charset="-122"/>
              <a:ea typeface="华文新魏" panose="02010800040101010101" charset="-122"/>
            </a:endParaRPr>
          </a:p>
          <a:p>
            <a:r>
              <a:rPr lang="zh-CN" altLang="en-US" sz="2400" dirty="0">
                <a:latin typeface="华文新魏" panose="02010800040101010101" charset="-122"/>
                <a:ea typeface="华文新魏" panose="02010800040101010101" charset="-122"/>
              </a:rPr>
              <a:t>   所以在使用蒙特卡罗方法时，要“扬长避短”，只对问题中难以用解析（或数值）方法处理的部分，使用蒙特卡罗方法计算，对那些能用解析（或数值）方法处理的部分，应当尽量使用解析方法</a:t>
            </a:r>
            <a:endParaRPr lang="zh-CN" altLang="en-US" sz="2400" dirty="0">
              <a:latin typeface="华文新魏" panose="02010800040101010101" charset="-122"/>
              <a:ea typeface="华文新魏" panose="020108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itle 11265"/>
          <p:cNvSpPr>
            <a:spLocks noGrp="1"/>
          </p:cNvSpPr>
          <p:nvPr>
            <p:ph type="title"/>
          </p:nvPr>
        </p:nvSpPr>
        <p:spPr>
          <a:xfrm>
            <a:off x="457200" y="288925"/>
            <a:ext cx="8229600" cy="582613"/>
          </a:xfrm>
        </p:spPr>
        <p:txBody>
          <a:bodyPr anchor="ctr"/>
          <a:p>
            <a:r>
              <a:rPr lang="zh-CN" altLang="en-US"/>
              <a:t>主要应用范围</a:t>
            </a:r>
            <a:endParaRPr lang="zh-CN" altLang="en-US"/>
          </a:p>
        </p:txBody>
      </p:sp>
      <p:sp>
        <p:nvSpPr>
          <p:cNvPr id="10242" name="Text Placeholder 11266"/>
          <p:cNvSpPr>
            <a:spLocks noGrp="1"/>
          </p:cNvSpPr>
          <p:nvPr>
            <p:ph type="body" sz="half" idx="1"/>
          </p:nvPr>
        </p:nvSpPr>
        <p:spPr>
          <a:xfrm>
            <a:off x="457200" y="1092835"/>
            <a:ext cx="7916863" cy="4892675"/>
          </a:xfrm>
        </p:spPr>
        <p:txBody>
          <a:bodyPr anchor="t"/>
          <a:p>
            <a:r>
              <a:rPr lang="zh-CN" altLang="en-US">
                <a:ea typeface="华文新魏" panose="02010800040101010101" charset="-122"/>
              </a:rPr>
              <a:t>粒子输运问题（实验物理，反应堆物理，高能物理）</a:t>
            </a:r>
            <a:endParaRPr lang="zh-CN" altLang="en-US">
              <a:ea typeface="华文新魏" panose="02010800040101010101" charset="-122"/>
            </a:endParaRPr>
          </a:p>
          <a:p>
            <a:r>
              <a:rPr lang="zh-CN" altLang="en-US">
                <a:ea typeface="华文新魏" panose="02010800040101010101" charset="-122"/>
              </a:rPr>
              <a:t>统计物理</a:t>
            </a:r>
            <a:endParaRPr lang="zh-CN" altLang="en-US">
              <a:ea typeface="华文新魏" panose="02010800040101010101" charset="-122"/>
            </a:endParaRPr>
          </a:p>
          <a:p>
            <a:r>
              <a:rPr lang="zh-CN" altLang="en-US">
                <a:ea typeface="华文新魏" panose="02010800040101010101" charset="-122"/>
              </a:rPr>
              <a:t>典型数学问题</a:t>
            </a:r>
            <a:endParaRPr lang="zh-CN" altLang="en-US">
              <a:ea typeface="华文新魏" panose="02010800040101010101" charset="-122"/>
            </a:endParaRPr>
          </a:p>
          <a:p>
            <a:r>
              <a:rPr lang="zh-CN" altLang="en-US">
                <a:ea typeface="华文新魏" panose="02010800040101010101" charset="-122"/>
              </a:rPr>
              <a:t>真空技术</a:t>
            </a:r>
            <a:endParaRPr lang="zh-CN" altLang="en-US">
              <a:ea typeface="华文新魏" panose="02010800040101010101" charset="-122"/>
            </a:endParaRPr>
          </a:p>
          <a:p>
            <a:r>
              <a:rPr lang="zh-CN" altLang="en-US">
                <a:ea typeface="华文新魏" panose="02010800040101010101" charset="-122"/>
              </a:rPr>
              <a:t>激光技术以及医学</a:t>
            </a:r>
            <a:endParaRPr lang="zh-CN" altLang="en-US">
              <a:ea typeface="华文新魏" panose="02010800040101010101" charset="-122"/>
            </a:endParaRPr>
          </a:p>
          <a:p>
            <a:r>
              <a:rPr lang="zh-CN" altLang="en-US">
                <a:ea typeface="华文新魏" panose="02010800040101010101" charset="-122"/>
              </a:rPr>
              <a:t>生物</a:t>
            </a:r>
            <a:endParaRPr lang="zh-CN" altLang="en-US">
              <a:ea typeface="华文新魏" panose="02010800040101010101" charset="-122"/>
            </a:endParaRPr>
          </a:p>
          <a:p>
            <a:r>
              <a:rPr lang="zh-CN" altLang="en-US">
                <a:ea typeface="华文新魏" panose="02010800040101010101" charset="-122"/>
              </a:rPr>
              <a:t>探矿</a:t>
            </a:r>
            <a:endParaRPr lang="zh-CN" altLang="en-US">
              <a:ea typeface="华文新魏" panose="0201080004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itle 12289"/>
          <p:cNvSpPr>
            <a:spLocks noGrp="1"/>
          </p:cNvSpPr>
          <p:nvPr>
            <p:ph type="title"/>
          </p:nvPr>
        </p:nvSpPr>
        <p:spPr>
          <a:xfrm>
            <a:off x="366395" y="473075"/>
            <a:ext cx="8229600" cy="582613"/>
          </a:xfrm>
        </p:spPr>
        <p:txBody>
          <a:bodyPr anchor="ctr"/>
          <a:p>
            <a:r>
              <a:rPr lang="zh-CN" altLang="en-US"/>
              <a:t>什么是随机数？</a:t>
            </a:r>
            <a:endParaRPr lang="zh-CN" altLang="en-US"/>
          </a:p>
        </p:txBody>
      </p:sp>
      <p:sp>
        <p:nvSpPr>
          <p:cNvPr id="11266" name="Text Placeholder 12290"/>
          <p:cNvSpPr>
            <a:spLocks noGrp="1"/>
          </p:cNvSpPr>
          <p:nvPr>
            <p:ph type="body" sz="half" idx="1"/>
          </p:nvPr>
        </p:nvSpPr>
        <p:spPr>
          <a:xfrm>
            <a:off x="466725" y="1412875"/>
            <a:ext cx="8499475" cy="4527550"/>
          </a:xfrm>
        </p:spPr>
        <p:txBody>
          <a:bodyPr anchor="t"/>
          <a:p>
            <a:r>
              <a:rPr lang="zh-CN" altLang="en-US" sz="2800"/>
              <a:t>在连续型随机变量的分布中，最简单而且最基本的分布是单位均匀分布。由该分布抽取的简单子样称为随机数序列，其中每一个体称为随机数</a:t>
            </a:r>
            <a:endParaRPr lang="zh-CN" altLang="en-US" sz="2800"/>
          </a:p>
          <a:p>
            <a:r>
              <a:rPr lang="zh-CN" altLang="en-US" sz="2800"/>
              <a:t>符号：</a:t>
            </a:r>
            <a:endParaRPr lang="zh-CN" altLang="en-US" sz="2800"/>
          </a:p>
          <a:p>
            <a:endParaRPr lang="zh-CN" altLang="en-US" sz="2800"/>
          </a:p>
          <a:p>
            <a:r>
              <a:rPr lang="zh-CN" altLang="en-US" sz="2800"/>
              <a:t>两个特点：独立性，均匀性</a:t>
            </a:r>
            <a:endParaRPr lang="zh-CN" altLang="en-US" sz="2800"/>
          </a:p>
        </p:txBody>
      </p:sp>
      <p:graphicFrame>
        <p:nvGraphicFramePr>
          <p:cNvPr id="11267" name="Content Placeholder 12291"/>
          <p:cNvGraphicFramePr>
            <a:graphicFrameLocks noGrp="1" noChangeAspect="1"/>
          </p:cNvGraphicFramePr>
          <p:nvPr>
            <p:ph sz="half" idx="2"/>
          </p:nvPr>
        </p:nvGraphicFramePr>
        <p:xfrm>
          <a:off x="3111500" y="2846388"/>
          <a:ext cx="2209800" cy="890587"/>
        </p:xfrm>
        <a:graphic>
          <a:graphicData uri="http://schemas.openxmlformats.org/presentationml/2006/ole">
            <mc:AlternateContent xmlns:mc="http://schemas.openxmlformats.org/markup-compatibility/2006">
              <mc:Choice xmlns:v="urn:schemas-microsoft-com:vml" Requires="v">
                <p:oleObj spid="_x0000_s3076" name="" r:id="rId1" imgW="587375" imgH="216535" progId="Equation.3">
                  <p:embed/>
                </p:oleObj>
              </mc:Choice>
              <mc:Fallback>
                <p:oleObj name="" r:id="rId1" imgW="587375" imgH="216535" progId="Equation.3">
                  <p:embed/>
                  <p:pic>
                    <p:nvPicPr>
                      <p:cNvPr id="0" name="图片 3075"/>
                      <p:cNvPicPr/>
                      <p:nvPr/>
                    </p:nvPicPr>
                    <p:blipFill>
                      <a:blip r:embed="rId2"/>
                      <a:stretch>
                        <a:fillRect/>
                      </a:stretch>
                    </p:blipFill>
                    <p:spPr>
                      <a:xfrm>
                        <a:off x="3111500" y="2846388"/>
                        <a:ext cx="2209800" cy="890587"/>
                      </a:xfrm>
                      <a:prstGeom prst="rect">
                        <a:avLst/>
                      </a:prstGeom>
                      <a:noFill/>
                      <a:ln w="38100">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itle 13313"/>
          <p:cNvSpPr>
            <a:spLocks noGrp="1"/>
          </p:cNvSpPr>
          <p:nvPr>
            <p:ph type="title"/>
          </p:nvPr>
        </p:nvSpPr>
        <p:spPr/>
        <p:txBody>
          <a:bodyPr anchor="ctr"/>
          <a:p>
            <a:r>
              <a:rPr lang="zh-CN" altLang="en-US"/>
              <a:t>产生随机数</a:t>
            </a:r>
            <a:endParaRPr lang="zh-CN" altLang="en-US"/>
          </a:p>
        </p:txBody>
      </p:sp>
      <p:sp>
        <p:nvSpPr>
          <p:cNvPr id="12290" name="Text Placeholder 13314"/>
          <p:cNvSpPr>
            <a:spLocks noGrp="1"/>
          </p:cNvSpPr>
          <p:nvPr>
            <p:ph idx="1"/>
          </p:nvPr>
        </p:nvSpPr>
        <p:spPr/>
        <p:txBody>
          <a:bodyPr anchor="t"/>
          <a:p>
            <a:r>
              <a:rPr lang="zh-CN" altLang="en-US" sz="3600"/>
              <a:t>随机数表方法</a:t>
            </a:r>
            <a:endParaRPr lang="zh-CN" altLang="en-US" sz="3600"/>
          </a:p>
          <a:p>
            <a:r>
              <a:rPr lang="zh-CN" altLang="en-US" sz="3600"/>
              <a:t>物理方法</a:t>
            </a:r>
            <a:endParaRPr lang="zh-CN" altLang="en-US" sz="3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itle 14337"/>
          <p:cNvSpPr>
            <a:spLocks noGrp="1"/>
          </p:cNvSpPr>
          <p:nvPr>
            <p:ph type="title"/>
          </p:nvPr>
        </p:nvSpPr>
        <p:spPr>
          <a:xfrm>
            <a:off x="415925" y="341313"/>
            <a:ext cx="8229600" cy="582612"/>
          </a:xfrm>
        </p:spPr>
        <p:txBody>
          <a:bodyPr anchor="ctr"/>
          <a:p>
            <a:r>
              <a:rPr lang="zh-CN" altLang="en-US"/>
              <a:t>随机数表</a:t>
            </a:r>
            <a:endParaRPr lang="zh-CN" altLang="en-US"/>
          </a:p>
        </p:txBody>
      </p:sp>
      <p:sp>
        <p:nvSpPr>
          <p:cNvPr id="13314" name="Text Placeholder 14338"/>
          <p:cNvSpPr>
            <a:spLocks noGrp="1"/>
          </p:cNvSpPr>
          <p:nvPr>
            <p:ph type="body" sz="half" idx="1"/>
          </p:nvPr>
        </p:nvSpPr>
        <p:spPr>
          <a:xfrm>
            <a:off x="514350" y="982663"/>
            <a:ext cx="8131175" cy="4892675"/>
          </a:xfrm>
        </p:spPr>
        <p:txBody>
          <a:bodyPr anchor="t"/>
          <a:p>
            <a:r>
              <a:rPr lang="zh-CN" altLang="en-US"/>
              <a:t>随机数表是由</a:t>
            </a:r>
            <a:r>
              <a:rPr lang="en-US" altLang="zh-CN"/>
              <a:t>0,1,2,3,4,5,6,7,8,9</a:t>
            </a:r>
            <a:r>
              <a:rPr lang="zh-CN" altLang="en-US"/>
              <a:t>十个数字组成，每个数字以</a:t>
            </a:r>
            <a:r>
              <a:rPr lang="en-US" altLang="zh-CN"/>
              <a:t>0.1</a:t>
            </a:r>
            <a:r>
              <a:rPr lang="zh-CN" altLang="en-US"/>
              <a:t>的等概率出现，数字之间相互独立，这些数字序列叫作随机数字序列。</a:t>
            </a:r>
            <a:endParaRPr lang="zh-CN" altLang="en-US"/>
          </a:p>
          <a:p>
            <a:r>
              <a:rPr lang="zh-CN" altLang="en-US"/>
              <a:t>（如果要得到</a:t>
            </a:r>
            <a:r>
              <a:rPr lang="en-US" altLang="zh-CN"/>
              <a:t>n</a:t>
            </a:r>
            <a:r>
              <a:rPr lang="zh-CN" altLang="en-US"/>
              <a:t>位有效数字的随机数，只需将表中每</a:t>
            </a:r>
            <a:r>
              <a:rPr lang="en-US" altLang="zh-CN"/>
              <a:t>n</a:t>
            </a:r>
            <a:r>
              <a:rPr lang="zh-CN" altLang="en-US"/>
              <a:t>个相邻的随机数字合并在一起，且在最高位的前边加上小数点即可。例如，某随机数表的第一行数字为</a:t>
            </a:r>
            <a:r>
              <a:rPr lang="en-US" altLang="zh-CN"/>
              <a:t>7 6 3 4 2 5 8 9 1...</a:t>
            </a:r>
            <a:r>
              <a:rPr lang="zh-CN" altLang="en-US"/>
              <a:t>，要想得到三位有效数字的随机数一次为</a:t>
            </a:r>
            <a:r>
              <a:rPr lang="en-US" altLang="zh-CN"/>
              <a:t>0.763</a:t>
            </a:r>
            <a:r>
              <a:rPr lang="zh-CN" altLang="en-US"/>
              <a:t>，</a:t>
            </a:r>
            <a:r>
              <a:rPr lang="en-US" altLang="zh-CN"/>
              <a:t>0.425</a:t>
            </a:r>
            <a:r>
              <a:rPr lang="zh-CN" altLang="en-US"/>
              <a:t>，</a:t>
            </a:r>
            <a:r>
              <a:rPr lang="en-US" altLang="zh-CN"/>
              <a:t>0.891...</a:t>
            </a:r>
            <a:r>
              <a:rPr lang="zh-CN" altLang="en-US"/>
              <a:t>）</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itle 15361"/>
          <p:cNvSpPr>
            <a:spLocks noGrp="1"/>
          </p:cNvSpPr>
          <p:nvPr>
            <p:ph type="title"/>
          </p:nvPr>
        </p:nvSpPr>
        <p:spPr/>
        <p:txBody>
          <a:bodyPr anchor="ctr"/>
          <a:p>
            <a:r>
              <a:rPr lang="zh-CN" altLang="en-US"/>
              <a:t>物理方法</a:t>
            </a:r>
            <a:endParaRPr lang="zh-CN" altLang="en-US"/>
          </a:p>
        </p:txBody>
      </p:sp>
      <p:sp>
        <p:nvSpPr>
          <p:cNvPr id="14338" name="Text Placeholder 15362"/>
          <p:cNvSpPr>
            <a:spLocks noGrp="1"/>
          </p:cNvSpPr>
          <p:nvPr>
            <p:ph type="body" sz="half" idx="1"/>
          </p:nvPr>
        </p:nvSpPr>
        <p:spPr>
          <a:xfrm>
            <a:off x="469900" y="1073150"/>
            <a:ext cx="8423275" cy="5257800"/>
          </a:xfrm>
        </p:spPr>
        <p:txBody>
          <a:bodyPr anchor="t"/>
          <a:p>
            <a:r>
              <a:rPr lang="zh-CN" altLang="en-US" sz="2400" dirty="0"/>
              <a:t>利用某些物理现象，在计算机上增加些特殊设备，可以在计算机上直接产生随机数。</a:t>
            </a:r>
            <a:endParaRPr lang="zh-CN" altLang="en-US" sz="2400" dirty="0"/>
          </a:p>
          <a:p>
            <a:r>
              <a:rPr lang="zh-CN" altLang="en-US" sz="2400" dirty="0"/>
              <a:t>作为随机数发生器的物理源主要有两种：一种是根据放射性物质的放射性，另一种是利用计算机的固有噪声。</a:t>
            </a:r>
            <a:endParaRPr lang="zh-CN" altLang="en-US" sz="2400" dirty="0"/>
          </a:p>
          <a:p>
            <a:r>
              <a:rPr lang="zh-CN" altLang="en-US" sz="2400" dirty="0"/>
              <a:t>一般情况下，任意一个随机数在计算机内总是用二进制的数表示的：</a:t>
            </a:r>
            <a:endParaRPr lang="zh-CN" altLang="en-US" sz="2400" dirty="0"/>
          </a:p>
          <a:p>
            <a:endParaRPr lang="zh-CN" altLang="en-US" sz="2400" dirty="0"/>
          </a:p>
          <a:p>
            <a:r>
              <a:rPr lang="zh-CN" altLang="en-US" sz="2400" dirty="0"/>
              <a:t>其中                              或者为0，或者为1。因此，利用物理方法在计算机产生随机数，就是要产生只取0或1的随机数字序列，数字之间相互独立，每个数字取0或1的概率均为0.5</a:t>
            </a:r>
            <a:endParaRPr lang="zh-CN" altLang="en-US" sz="2400" dirty="0"/>
          </a:p>
        </p:txBody>
      </p:sp>
      <p:graphicFrame>
        <p:nvGraphicFramePr>
          <p:cNvPr id="14339" name="Content Placeholder 15363"/>
          <p:cNvGraphicFramePr>
            <a:graphicFrameLocks noGrp="1" noChangeAspect="1"/>
          </p:cNvGraphicFramePr>
          <p:nvPr>
            <p:ph sz="quarter" idx="3"/>
          </p:nvPr>
        </p:nvGraphicFramePr>
        <p:xfrm>
          <a:off x="1663700" y="3941763"/>
          <a:ext cx="2333625" cy="385762"/>
        </p:xfrm>
        <a:graphic>
          <a:graphicData uri="http://schemas.openxmlformats.org/presentationml/2006/ole">
            <mc:AlternateContent xmlns:mc="http://schemas.openxmlformats.org/markup-compatibility/2006">
              <mc:Choice xmlns:v="urn:schemas-microsoft-com:vml" Requires="v">
                <p:oleObj spid="_x0000_s3077" name="" r:id="rId1" imgW="1029970" imgH="215900" progId="Equation.3">
                  <p:embed/>
                </p:oleObj>
              </mc:Choice>
              <mc:Fallback>
                <p:oleObj name="" r:id="rId1" imgW="1029970" imgH="215900" progId="Equation.3">
                  <p:embed/>
                  <p:pic>
                    <p:nvPicPr>
                      <p:cNvPr id="0" name="图片 3076"/>
                      <p:cNvPicPr/>
                      <p:nvPr/>
                    </p:nvPicPr>
                    <p:blipFill>
                      <a:blip r:embed="rId2"/>
                      <a:stretch>
                        <a:fillRect/>
                      </a:stretch>
                    </p:blipFill>
                    <p:spPr>
                      <a:xfrm>
                        <a:off x="1663700" y="3941763"/>
                        <a:ext cx="2333625" cy="385762"/>
                      </a:xfrm>
                      <a:prstGeom prst="rect">
                        <a:avLst/>
                      </a:prstGeom>
                      <a:noFill/>
                      <a:ln w="38100">
                        <a:miter/>
                      </a:ln>
                    </p:spPr>
                  </p:pic>
                </p:oleObj>
              </mc:Fallback>
            </mc:AlternateContent>
          </a:graphicData>
        </a:graphic>
      </p:graphicFrame>
      <p:graphicFrame>
        <p:nvGraphicFramePr>
          <p:cNvPr id="14340" name="Content Placeholder 15364"/>
          <p:cNvGraphicFramePr>
            <a:graphicFrameLocks noGrp="1" noChangeAspect="1"/>
          </p:cNvGraphicFramePr>
          <p:nvPr>
            <p:ph sz="quarter" idx="2"/>
          </p:nvPr>
        </p:nvGraphicFramePr>
        <p:xfrm>
          <a:off x="2527300" y="3338513"/>
          <a:ext cx="4308475" cy="508000"/>
        </p:xfrm>
        <a:graphic>
          <a:graphicData uri="http://schemas.openxmlformats.org/presentationml/2006/ole">
            <mc:AlternateContent xmlns:mc="http://schemas.openxmlformats.org/markup-compatibility/2006">
              <mc:Choice xmlns:v="urn:schemas-microsoft-com:vml" Requires="v">
                <p:oleObj spid="_x0000_s3078" name="" r:id="rId3" imgW="2120900" imgH="228600" progId="Equation.3">
                  <p:embed/>
                </p:oleObj>
              </mc:Choice>
              <mc:Fallback>
                <p:oleObj name="" r:id="rId3" imgW="2120900" imgH="228600" progId="Equation.3">
                  <p:embed/>
                  <p:pic>
                    <p:nvPicPr>
                      <p:cNvPr id="0" name="图片 3077"/>
                      <p:cNvPicPr/>
                      <p:nvPr/>
                    </p:nvPicPr>
                    <p:blipFill>
                      <a:blip r:embed="rId4"/>
                      <a:stretch>
                        <a:fillRect/>
                      </a:stretch>
                    </p:blipFill>
                    <p:spPr>
                      <a:xfrm>
                        <a:off x="2527300" y="3338513"/>
                        <a:ext cx="4308475" cy="508000"/>
                      </a:xfrm>
                      <a:prstGeom prst="rect">
                        <a:avLst/>
                      </a:prstGeom>
                      <a:noFill/>
                      <a:ln w="38100">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itle 16385"/>
          <p:cNvSpPr>
            <a:spLocks noGrp="1"/>
          </p:cNvSpPr>
          <p:nvPr>
            <p:ph type="title"/>
          </p:nvPr>
        </p:nvSpPr>
        <p:spPr/>
        <p:txBody>
          <a:bodyPr anchor="ctr"/>
          <a:p>
            <a:r>
              <a:rPr lang="zh-CN" altLang="en-US" dirty="0"/>
              <a:t>缺点</a:t>
            </a:r>
            <a:endParaRPr lang="zh-CN" altLang="en-US" dirty="0"/>
          </a:p>
        </p:txBody>
      </p:sp>
      <p:sp>
        <p:nvSpPr>
          <p:cNvPr id="15362" name="Text Placeholder 16386"/>
          <p:cNvSpPr>
            <a:spLocks noGrp="1"/>
          </p:cNvSpPr>
          <p:nvPr>
            <p:ph idx="1"/>
          </p:nvPr>
        </p:nvSpPr>
        <p:spPr>
          <a:xfrm>
            <a:off x="457200" y="952500"/>
            <a:ext cx="8229600" cy="4953000"/>
          </a:xfrm>
        </p:spPr>
        <p:txBody>
          <a:bodyPr anchor="t"/>
          <a:p>
            <a:pPr>
              <a:lnSpc>
                <a:spcPct val="150000"/>
              </a:lnSpc>
            </a:pPr>
            <a:r>
              <a:rPr lang="zh-CN" altLang="en-US" sz="2400"/>
              <a:t>随机数表需在计算机中占有很大内存，而且也难以满足蒙特卡罗方法对随机数需要量非常大的要求，因此，该方法不适于在计算机上使用。</a:t>
            </a:r>
            <a:endParaRPr lang="zh-CN" altLang="en-US" sz="2400"/>
          </a:p>
          <a:p>
            <a:pPr>
              <a:lnSpc>
                <a:spcPct val="150000"/>
              </a:lnSpc>
            </a:pPr>
            <a:r>
              <a:rPr lang="zh-CN" altLang="en-US" sz="2400"/>
              <a:t>物理方法产生的随机数序列无法重复实现，不能进行程序复算。给验证结果带来很大困难。而且增加随机数发生器和电路联接等附加设备，费用昂贵。因此该方法也不适合在计算机上使用。</a:t>
            </a:r>
            <a:endParaRPr lang="zh-C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itle 17409"/>
          <p:cNvSpPr>
            <a:spLocks noGrp="1"/>
          </p:cNvSpPr>
          <p:nvPr>
            <p:ph type="title"/>
          </p:nvPr>
        </p:nvSpPr>
        <p:spPr/>
        <p:txBody>
          <a:bodyPr anchor="ctr"/>
          <a:p>
            <a:r>
              <a:rPr lang="zh-CN" altLang="en-US"/>
              <a:t>伪随机数</a:t>
            </a:r>
            <a:endParaRPr lang="zh-CN" altLang="en-US"/>
          </a:p>
        </p:txBody>
      </p:sp>
      <p:sp>
        <p:nvSpPr>
          <p:cNvPr id="16386" name="Text Placeholder 17410"/>
          <p:cNvSpPr>
            <a:spLocks noGrp="1"/>
          </p:cNvSpPr>
          <p:nvPr>
            <p:ph type="body" sz="half" idx="1"/>
          </p:nvPr>
        </p:nvSpPr>
        <p:spPr>
          <a:xfrm>
            <a:off x="466725" y="1412875"/>
            <a:ext cx="8353425" cy="4527550"/>
          </a:xfrm>
        </p:spPr>
        <p:txBody>
          <a:bodyPr anchor="t"/>
          <a:p>
            <a:r>
              <a:rPr lang="zh-CN" altLang="en-US" sz="2400" dirty="0"/>
              <a:t>用递推公式</a:t>
            </a:r>
            <a:endParaRPr lang="zh-CN" altLang="en-US" sz="2400" dirty="0"/>
          </a:p>
          <a:p>
            <a:endParaRPr lang="zh-CN" altLang="en-US" sz="2400" dirty="0"/>
          </a:p>
          <a:p>
            <a:endParaRPr lang="zh-CN" altLang="en-US" sz="2400" dirty="0"/>
          </a:p>
          <a:p>
            <a:pPr>
              <a:buNone/>
            </a:pPr>
            <a:endParaRPr lang="zh-CN" altLang="en-US" sz="2400" dirty="0"/>
          </a:p>
          <a:p>
            <a:pPr>
              <a:buNone/>
            </a:pPr>
            <a:r>
              <a:rPr lang="zh-CN" altLang="en-US" sz="2400" dirty="0"/>
              <a:t>产生随机数序列。</a:t>
            </a:r>
            <a:endParaRPr lang="zh-CN" altLang="en-US" sz="2400" dirty="0"/>
          </a:p>
          <a:p>
            <a:pPr>
              <a:buNone/>
            </a:pPr>
            <a:r>
              <a:rPr lang="zh-CN" altLang="en-US" sz="2400" dirty="0"/>
              <a:t> </a:t>
            </a:r>
            <a:endParaRPr lang="zh-CN" altLang="en-US" sz="2400" dirty="0"/>
          </a:p>
          <a:p>
            <a:pPr>
              <a:buNone/>
            </a:pPr>
            <a:endParaRPr lang="zh-CN" altLang="en-US" sz="2400" dirty="0"/>
          </a:p>
        </p:txBody>
      </p:sp>
      <p:graphicFrame>
        <p:nvGraphicFramePr>
          <p:cNvPr id="16387" name="Content Placeholder 17411"/>
          <p:cNvGraphicFramePr>
            <a:graphicFrameLocks noGrp="1" noChangeAspect="1"/>
          </p:cNvGraphicFramePr>
          <p:nvPr>
            <p:ph sz="quarter" idx="2"/>
          </p:nvPr>
        </p:nvGraphicFramePr>
        <p:xfrm>
          <a:off x="1849438" y="2127250"/>
          <a:ext cx="6970712" cy="779463"/>
        </p:xfrm>
        <a:graphic>
          <a:graphicData uri="http://schemas.openxmlformats.org/presentationml/2006/ole">
            <mc:AlternateContent xmlns:mc="http://schemas.openxmlformats.org/markup-compatibility/2006">
              <mc:Choice xmlns:v="urn:schemas-microsoft-com:vml" Requires="v">
                <p:oleObj spid="_x0000_s3076" name="" r:id="rId1" imgW="2234565" imgH="228600" progId="Equation.3">
                  <p:embed/>
                </p:oleObj>
              </mc:Choice>
              <mc:Fallback>
                <p:oleObj name="" r:id="rId1" imgW="2234565" imgH="228600" progId="Equation.3">
                  <p:embed/>
                  <p:pic>
                    <p:nvPicPr>
                      <p:cNvPr id="0" name="图片 3075"/>
                      <p:cNvPicPr/>
                      <p:nvPr/>
                    </p:nvPicPr>
                    <p:blipFill>
                      <a:blip r:embed="rId2"/>
                      <a:stretch>
                        <a:fillRect/>
                      </a:stretch>
                    </p:blipFill>
                    <p:spPr>
                      <a:xfrm>
                        <a:off x="1849438" y="2127250"/>
                        <a:ext cx="6970712" cy="779463"/>
                      </a:xfrm>
                      <a:prstGeom prst="rect">
                        <a:avLst/>
                      </a:prstGeom>
                      <a:noFill/>
                      <a:ln w="38100">
                        <a:miter/>
                      </a:ln>
                    </p:spPr>
                  </p:pic>
                </p:oleObj>
              </mc:Fallback>
            </mc:AlternateContent>
          </a:graphicData>
        </a:graphic>
      </p:graphicFrame>
      <p:graphicFrame>
        <p:nvGraphicFramePr>
          <p:cNvPr id="16388" name="Content Placeholder 17412"/>
          <p:cNvGraphicFramePr>
            <a:graphicFrameLocks noGrp="1" noChangeAspect="1"/>
          </p:cNvGraphicFramePr>
          <p:nvPr>
            <p:ph sz="quarter" idx="3"/>
          </p:nvPr>
        </p:nvGraphicFramePr>
        <p:xfrm>
          <a:off x="2928938" y="3752850"/>
          <a:ext cx="2495550" cy="500063"/>
        </p:xfrm>
        <a:graphic>
          <a:graphicData uri="http://schemas.openxmlformats.org/presentationml/2006/ole">
            <mc:AlternateContent xmlns:mc="http://schemas.openxmlformats.org/markup-compatibility/2006">
              <mc:Choice xmlns:v="urn:schemas-microsoft-com:vml" Requires="v">
                <p:oleObj spid="_x0000_s3077" name="" r:id="rId3" imgW="906145" imgH="216535" progId="Equation.3">
                  <p:embed/>
                </p:oleObj>
              </mc:Choice>
              <mc:Fallback>
                <p:oleObj name="" r:id="rId3" imgW="906145" imgH="216535" progId="Equation.3">
                  <p:embed/>
                  <p:pic>
                    <p:nvPicPr>
                      <p:cNvPr id="0" name="图片 3076"/>
                      <p:cNvPicPr/>
                      <p:nvPr/>
                    </p:nvPicPr>
                    <p:blipFill>
                      <a:blip r:embed="rId4"/>
                      <a:stretch>
                        <a:fillRect/>
                      </a:stretch>
                    </p:blipFill>
                    <p:spPr>
                      <a:xfrm>
                        <a:off x="2928938" y="3752850"/>
                        <a:ext cx="2495550" cy="500063"/>
                      </a:xfrm>
                      <a:prstGeom prst="rect">
                        <a:avLst/>
                      </a:prstGeom>
                      <a:noFill/>
                      <a:ln w="38100">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itle 18433"/>
          <p:cNvSpPr>
            <a:spLocks noGrp="1"/>
          </p:cNvSpPr>
          <p:nvPr>
            <p:ph type="title"/>
          </p:nvPr>
        </p:nvSpPr>
        <p:spPr/>
        <p:txBody>
          <a:bodyPr anchor="ctr"/>
          <a:p>
            <a:r>
              <a:rPr lang="zh-CN" altLang="en-US"/>
              <a:t>伪随机数存在的两个问题</a:t>
            </a:r>
            <a:endParaRPr lang="zh-CN" altLang="en-US"/>
          </a:p>
        </p:txBody>
      </p:sp>
      <p:sp>
        <p:nvSpPr>
          <p:cNvPr id="17410" name="Text Placeholder 18434"/>
          <p:cNvSpPr>
            <a:spLocks noGrp="1"/>
          </p:cNvSpPr>
          <p:nvPr>
            <p:ph idx="1"/>
          </p:nvPr>
        </p:nvSpPr>
        <p:spPr/>
        <p:txBody>
          <a:bodyPr anchor="t"/>
          <a:p>
            <a:r>
              <a:rPr lang="zh-CN" altLang="en-US" sz="2800"/>
              <a:t>递推公式和初始值确定后，整个随机数序列便被唯一确定。不满足随机数相互独立的要求。</a:t>
            </a:r>
            <a:endParaRPr lang="zh-CN" altLang="en-US" sz="2800"/>
          </a:p>
          <a:p>
            <a:r>
              <a:rPr lang="zh-CN" altLang="en-US" sz="2800"/>
              <a:t>由于随机数序列是由递推公式确定的，而在计算机上所能表示的</a:t>
            </a:r>
            <a:r>
              <a:rPr lang="en-US" altLang="zh-CN" sz="2800"/>
              <a:t>[0</a:t>
            </a:r>
            <a:r>
              <a:rPr lang="zh-CN" altLang="en-US" sz="2800"/>
              <a:t>，</a:t>
            </a:r>
            <a:r>
              <a:rPr lang="en-US" altLang="zh-CN" sz="2800"/>
              <a:t>1]</a:t>
            </a:r>
            <a:r>
              <a:rPr lang="zh-CN" altLang="en-US" sz="2800"/>
              <a:t>上的数又是有限的，因此，这种方法产生的随机数序列就不可能不出现重复。随机数序列出现周期性的循环现象。</a:t>
            </a:r>
            <a:endParaRPr lang="zh-CN" alt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itle 19457"/>
          <p:cNvSpPr>
            <a:spLocks noGrp="1"/>
          </p:cNvSpPr>
          <p:nvPr>
            <p:ph type="title"/>
          </p:nvPr>
        </p:nvSpPr>
        <p:spPr/>
        <p:txBody>
          <a:bodyPr anchor="ctr"/>
          <a:p>
            <a:r>
              <a:rPr lang="zh-CN" altLang="en-US"/>
              <a:t>解决方案</a:t>
            </a:r>
            <a:endParaRPr lang="zh-CN" altLang="en-US"/>
          </a:p>
        </p:txBody>
      </p:sp>
      <p:sp>
        <p:nvSpPr>
          <p:cNvPr id="18434" name="Text Placeholder 19458"/>
          <p:cNvSpPr>
            <a:spLocks noGrp="1"/>
          </p:cNvSpPr>
          <p:nvPr>
            <p:ph idx="1"/>
          </p:nvPr>
        </p:nvSpPr>
        <p:spPr/>
        <p:txBody>
          <a:bodyPr anchor="t"/>
          <a:p>
            <a:r>
              <a:rPr lang="zh-CN" altLang="en-US" sz="2800"/>
              <a:t>第一个问题：不能从本质上加以改变，但只要递推公式选的比较好，随机数间的相互独立性是可以近似满足的。</a:t>
            </a:r>
            <a:endParaRPr lang="zh-CN" altLang="en-US" sz="2800"/>
          </a:p>
          <a:p>
            <a:r>
              <a:rPr lang="zh-CN" altLang="en-US" sz="2800"/>
              <a:t>第二个问题：因为用蒙特卡罗方法解任何具体问题时，所使用的随机数的个数总是有限的，只要所用随机数的个数不超过伪随机数序列出现循环现象时的长度就可以了。</a:t>
            </a:r>
            <a:endParaRPr lang="zh-CN" alt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itle 20481"/>
          <p:cNvSpPr>
            <a:spLocks noGrp="1"/>
          </p:cNvSpPr>
          <p:nvPr>
            <p:ph type="title"/>
          </p:nvPr>
        </p:nvSpPr>
        <p:spPr>
          <a:xfrm>
            <a:off x="457200" y="341313"/>
            <a:ext cx="8229600" cy="582612"/>
          </a:xfrm>
        </p:spPr>
        <p:txBody>
          <a:bodyPr anchor="ctr"/>
          <a:p>
            <a:r>
              <a:rPr lang="zh-CN" altLang="en-US" dirty="0"/>
              <a:t>应用：蒙特卡罗方法计算积分</a:t>
            </a:r>
            <a:endParaRPr lang="zh-CN" altLang="en-US" dirty="0"/>
          </a:p>
        </p:txBody>
      </p:sp>
      <p:sp>
        <p:nvSpPr>
          <p:cNvPr id="19458" name="Text Placeholder 20482"/>
          <p:cNvSpPr>
            <a:spLocks noGrp="1"/>
          </p:cNvSpPr>
          <p:nvPr>
            <p:ph idx="1"/>
          </p:nvPr>
        </p:nvSpPr>
        <p:spPr>
          <a:xfrm>
            <a:off x="539750" y="1125538"/>
            <a:ext cx="8150225" cy="5324475"/>
          </a:xfrm>
        </p:spPr>
        <p:txBody>
          <a:bodyPr anchor="t"/>
          <a:p>
            <a:pPr marL="0" indent="0" fontAlgn="base">
              <a:lnSpc>
                <a:spcPct val="80000"/>
              </a:lnSpc>
              <a:buNone/>
            </a:pPr>
            <a:r>
              <a:rPr lang="en-US" altLang="zh-CN" sz="2400" strike="noStrike" noProof="1"/>
              <a:t>       </a:t>
            </a:r>
            <a:r>
              <a:rPr lang="zh-CN" altLang="en-US" sz="2400" strike="noStrike" noProof="1"/>
              <a:t>可以通俗地说，蒙特卡罗方法是用随机试验的方法计算积分，即将所要计算的积分看作服从某种分布密度函数</a:t>
            </a:r>
            <a:r>
              <a:rPr lang="en-US" altLang="zh-CN" sz="2400" i="1" strike="noStrike" noProof="1"/>
              <a:t>f</a:t>
            </a:r>
            <a:r>
              <a:rPr lang="en-US" altLang="zh-CN" sz="2400" strike="noStrike" noProof="1"/>
              <a:t>(</a:t>
            </a:r>
            <a:r>
              <a:rPr lang="en-US" altLang="zh-CN" sz="2400" i="1" strike="noStrike" noProof="1"/>
              <a:t>r</a:t>
            </a:r>
            <a:r>
              <a:rPr lang="en-US" altLang="zh-CN" sz="2400" strike="noStrike" noProof="1"/>
              <a:t>)</a:t>
            </a:r>
            <a:r>
              <a:rPr lang="zh-CN" altLang="en-US" sz="2400" strike="noStrike" noProof="1"/>
              <a:t>的随机变量</a:t>
            </a:r>
            <a:r>
              <a:rPr lang="zh-CN" altLang="en-US" sz="2400" i="1" strike="noStrike" noProof="1"/>
              <a:t>ｇ</a:t>
            </a:r>
            <a:r>
              <a:rPr lang="en-US" altLang="zh-CN" sz="2400" strike="noStrike" noProof="1"/>
              <a:t>(</a:t>
            </a:r>
            <a:r>
              <a:rPr lang="en-US" altLang="zh-CN" sz="2400" i="1" strike="noStrike" noProof="1"/>
              <a:t>r</a:t>
            </a:r>
            <a:r>
              <a:rPr lang="en-US" altLang="zh-CN" sz="2400" strike="noStrike" noProof="1"/>
              <a:t>)</a:t>
            </a:r>
            <a:r>
              <a:rPr lang="zh-CN" altLang="en-US" sz="2400" strike="noStrike" noProof="1"/>
              <a:t>的数学期望 </a:t>
            </a:r>
            <a:endParaRPr lang="zh-CN" altLang="en-US" sz="2400" strike="noStrike" noProof="1"/>
          </a:p>
          <a:p>
            <a:pPr fontAlgn="base">
              <a:lnSpc>
                <a:spcPct val="80000"/>
              </a:lnSpc>
            </a:pPr>
            <a:endParaRPr lang="zh-CN" altLang="en-US" sz="2400" strike="noStrike" noProof="1"/>
          </a:p>
          <a:p>
            <a:pPr marL="0" indent="0" algn="just" fontAlgn="base">
              <a:lnSpc>
                <a:spcPct val="80000"/>
              </a:lnSpc>
              <a:buNone/>
            </a:pPr>
            <a:endParaRPr lang="zh-CN" altLang="en-US" sz="2400" strike="noStrike" noProof="1"/>
          </a:p>
          <a:p>
            <a:pPr marL="0" indent="0" algn="just" fontAlgn="base">
              <a:lnSpc>
                <a:spcPct val="100000"/>
              </a:lnSpc>
              <a:buNone/>
            </a:pPr>
            <a:r>
              <a:rPr lang="zh-CN" altLang="en-US" sz="2400" strike="noStrike" noProof="1"/>
              <a:t>       通过某种试验，得到</a:t>
            </a:r>
            <a:r>
              <a:rPr lang="zh-CN" altLang="en-US" sz="2400" i="1" strike="noStrike" noProof="1"/>
              <a:t>Ｎ</a:t>
            </a:r>
            <a:r>
              <a:rPr lang="zh-CN" altLang="en-US" sz="2400" strike="noStrike" noProof="1"/>
              <a:t>观察值</a:t>
            </a:r>
            <a:r>
              <a:rPr lang="en-US" altLang="zh-CN" sz="2400" i="1" strike="noStrike" noProof="1"/>
              <a:t>r</a:t>
            </a:r>
            <a:r>
              <a:rPr lang="en-US" altLang="zh-CN" sz="2400" i="1" strike="noStrike" baseline="-30000" noProof="1"/>
              <a:t>1</a:t>
            </a:r>
            <a:r>
              <a:rPr lang="zh-CN" altLang="en-US" sz="2400" strike="noStrike" noProof="1"/>
              <a:t>，</a:t>
            </a:r>
            <a:r>
              <a:rPr lang="en-US" altLang="zh-CN" sz="2400" i="1" strike="noStrike" noProof="1"/>
              <a:t>r</a:t>
            </a:r>
            <a:r>
              <a:rPr lang="en-US" altLang="zh-CN" sz="2400" i="1" strike="noStrike" baseline="-30000" noProof="1"/>
              <a:t>2</a:t>
            </a:r>
            <a:r>
              <a:rPr lang="zh-CN" altLang="en-US" sz="2400" strike="noStrike" noProof="1"/>
              <a:t>，</a:t>
            </a:r>
            <a:r>
              <a:rPr lang="en-US" altLang="zh-CN" sz="2400" strike="noStrike" noProof="1"/>
              <a:t>…</a:t>
            </a:r>
            <a:r>
              <a:rPr lang="zh-CN" altLang="en-US" sz="2400" strike="noStrike" noProof="1"/>
              <a:t>，</a:t>
            </a:r>
            <a:r>
              <a:rPr lang="en-US" altLang="zh-CN" sz="2400" i="1" strike="noStrike" noProof="1"/>
              <a:t>r</a:t>
            </a:r>
            <a:r>
              <a:rPr lang="en-US" altLang="zh-CN" sz="2400" i="1" strike="noStrike" baseline="-30000" noProof="1"/>
              <a:t>N</a:t>
            </a:r>
            <a:r>
              <a:rPr lang="zh-CN" altLang="en-US" sz="2400" strike="noStrike" noProof="1"/>
              <a:t>（用概率语言来说，从分布密度函数</a:t>
            </a:r>
            <a:r>
              <a:rPr lang="en-US" altLang="zh-CN" sz="2400" i="1" strike="noStrike" noProof="1"/>
              <a:t>f</a:t>
            </a:r>
            <a:r>
              <a:rPr lang="en-US" altLang="zh-CN" sz="2400" strike="noStrike" noProof="1"/>
              <a:t>(</a:t>
            </a:r>
            <a:r>
              <a:rPr lang="en-US" altLang="zh-CN" sz="2400" i="1" strike="noStrike" noProof="1"/>
              <a:t>r</a:t>
            </a:r>
            <a:r>
              <a:rPr lang="en-US" altLang="zh-CN" sz="2400" strike="noStrike" noProof="1"/>
              <a:t>)</a:t>
            </a:r>
            <a:r>
              <a:rPr lang="zh-CN" altLang="en-US" sz="2400" strike="noStrike" noProof="1"/>
              <a:t>中抽取</a:t>
            </a:r>
            <a:r>
              <a:rPr lang="zh-CN" altLang="en-US" sz="2400" i="1" strike="noStrike" noProof="1"/>
              <a:t>Ｎ</a:t>
            </a:r>
            <a:r>
              <a:rPr lang="zh-CN" altLang="en-US" sz="2400" strike="noStrike" noProof="1"/>
              <a:t>个子样</a:t>
            </a:r>
            <a:r>
              <a:rPr lang="en-US" altLang="zh-CN" sz="2400" i="1" strike="noStrike" noProof="1"/>
              <a:t>r</a:t>
            </a:r>
            <a:r>
              <a:rPr lang="en-US" altLang="zh-CN" sz="2400" i="1" strike="noStrike" baseline="-30000" noProof="1"/>
              <a:t>1</a:t>
            </a:r>
            <a:r>
              <a:rPr lang="zh-CN" altLang="en-US" sz="2400" strike="noStrike" noProof="1"/>
              <a:t>，</a:t>
            </a:r>
            <a:r>
              <a:rPr lang="en-US" altLang="zh-CN" sz="2400" i="1" strike="noStrike" noProof="1"/>
              <a:t>r</a:t>
            </a:r>
            <a:r>
              <a:rPr lang="en-US" altLang="zh-CN" sz="2400" i="1" strike="noStrike" baseline="-30000" noProof="1"/>
              <a:t>2</a:t>
            </a:r>
            <a:r>
              <a:rPr lang="zh-CN" altLang="en-US" sz="2400" strike="noStrike" noProof="1"/>
              <a:t>，</a:t>
            </a:r>
            <a:r>
              <a:rPr lang="en-US" altLang="zh-CN" sz="2400" strike="noStrike" noProof="1"/>
              <a:t>…</a:t>
            </a:r>
            <a:r>
              <a:rPr lang="zh-CN" altLang="en-US" sz="2400" strike="noStrike" noProof="1"/>
              <a:t>，</a:t>
            </a:r>
            <a:r>
              <a:rPr lang="en-US" altLang="zh-CN" sz="2400" i="1" strike="noStrike" noProof="1"/>
              <a:t>r</a:t>
            </a:r>
            <a:r>
              <a:rPr lang="en-US" altLang="zh-CN" sz="2400" i="1" strike="noStrike" baseline="-30000" noProof="1"/>
              <a:t>N</a:t>
            </a:r>
            <a:r>
              <a:rPr lang="zh-CN" altLang="en-US" sz="2400" strike="noStrike" noProof="1"/>
              <a:t>，），将相应的</a:t>
            </a:r>
            <a:r>
              <a:rPr lang="zh-CN" altLang="en-US" sz="2400" i="1" strike="noStrike" noProof="1"/>
              <a:t>Ｎ</a:t>
            </a:r>
            <a:r>
              <a:rPr lang="zh-CN" altLang="en-US" sz="2400" strike="noStrike" noProof="1"/>
              <a:t>个随机变量的值</a:t>
            </a:r>
            <a:r>
              <a:rPr lang="en-US" altLang="zh-CN" sz="2400" i="1" strike="noStrike" noProof="1"/>
              <a:t>g</a:t>
            </a:r>
            <a:r>
              <a:rPr lang="en-US" altLang="zh-CN" sz="2400" strike="noStrike" noProof="1"/>
              <a:t>(</a:t>
            </a:r>
            <a:r>
              <a:rPr lang="en-US" altLang="zh-CN" sz="2400" i="1" strike="noStrike" noProof="1"/>
              <a:t>r</a:t>
            </a:r>
            <a:r>
              <a:rPr lang="en-US" altLang="zh-CN" sz="2400" i="1" strike="noStrike" baseline="-30000" noProof="1"/>
              <a:t>1</a:t>
            </a:r>
            <a:r>
              <a:rPr lang="en-US" altLang="zh-CN" sz="2400" strike="noStrike" noProof="1"/>
              <a:t>)</a:t>
            </a:r>
            <a:r>
              <a:rPr lang="zh-CN" altLang="en-US" sz="2400" strike="noStrike" noProof="1"/>
              <a:t>，</a:t>
            </a:r>
            <a:r>
              <a:rPr lang="en-US" altLang="zh-CN" sz="2400" i="1" strike="noStrike" noProof="1"/>
              <a:t>g</a:t>
            </a:r>
            <a:r>
              <a:rPr lang="en-US" altLang="zh-CN" sz="2400" strike="noStrike" noProof="1"/>
              <a:t>(</a:t>
            </a:r>
            <a:r>
              <a:rPr lang="en-US" altLang="zh-CN" sz="2400" i="1" strike="noStrike" noProof="1"/>
              <a:t>r</a:t>
            </a:r>
            <a:r>
              <a:rPr lang="en-US" altLang="zh-CN" sz="2400" i="1" strike="noStrike" baseline="-30000" noProof="1"/>
              <a:t>2</a:t>
            </a:r>
            <a:r>
              <a:rPr lang="en-US" altLang="zh-CN" sz="2400" strike="noStrike" noProof="1"/>
              <a:t>)</a:t>
            </a:r>
            <a:r>
              <a:rPr lang="zh-CN" altLang="en-US" sz="2400" strike="noStrike" noProof="1"/>
              <a:t>，</a:t>
            </a:r>
            <a:r>
              <a:rPr lang="en-US" altLang="zh-CN" sz="2400" strike="noStrike" noProof="1"/>
              <a:t>…</a:t>
            </a:r>
            <a:r>
              <a:rPr lang="zh-CN" altLang="en-US" sz="2400" strike="noStrike" noProof="1"/>
              <a:t>，</a:t>
            </a:r>
            <a:r>
              <a:rPr lang="en-US" altLang="zh-CN" sz="2400" i="1" strike="noStrike" noProof="1"/>
              <a:t>g</a:t>
            </a:r>
            <a:r>
              <a:rPr lang="en-US" altLang="zh-CN" sz="2400" strike="noStrike" noProof="1"/>
              <a:t>(</a:t>
            </a:r>
            <a:r>
              <a:rPr lang="en-US" altLang="zh-CN" sz="2400" i="1" strike="noStrike" noProof="1"/>
              <a:t>r</a:t>
            </a:r>
            <a:r>
              <a:rPr lang="en-US" altLang="zh-CN" sz="2400" i="1" strike="noStrike" baseline="-30000" noProof="1"/>
              <a:t>N</a:t>
            </a:r>
            <a:r>
              <a:rPr lang="en-US" altLang="zh-CN" sz="2400" strike="noStrike" noProof="1"/>
              <a:t>)</a:t>
            </a:r>
            <a:r>
              <a:rPr lang="zh-CN" altLang="en-US" sz="2400" strike="noStrike" noProof="1"/>
              <a:t>的算术平均值</a:t>
            </a:r>
            <a:endParaRPr lang="zh-CN" altLang="en-US" sz="2400" strike="noStrike" noProof="1"/>
          </a:p>
          <a:p>
            <a:pPr algn="just" fontAlgn="base">
              <a:lnSpc>
                <a:spcPct val="80000"/>
              </a:lnSpc>
            </a:pPr>
            <a:endParaRPr lang="zh-CN" altLang="en-US" sz="2400" strike="noStrike" noProof="1"/>
          </a:p>
          <a:p>
            <a:pPr fontAlgn="base">
              <a:lnSpc>
                <a:spcPct val="80000"/>
              </a:lnSpc>
            </a:pPr>
            <a:r>
              <a:rPr lang="zh-CN" altLang="en-US" sz="2400" strike="noStrike" noProof="1"/>
              <a:t>   作为积分的估计值（近似值）。</a:t>
            </a:r>
            <a:r>
              <a:rPr lang="zh-CN" altLang="en-US" strike="noStrike" noProof="1"/>
              <a:t> </a:t>
            </a:r>
            <a:endParaRPr lang="zh-CN" altLang="en-US" strike="noStrike" noProof="1"/>
          </a:p>
          <a:p>
            <a:pPr fontAlgn="base">
              <a:lnSpc>
                <a:spcPct val="80000"/>
              </a:lnSpc>
            </a:pPr>
            <a:endParaRPr lang="zh-CN" altLang="en-US" strike="noStrike" noProof="1"/>
          </a:p>
        </p:txBody>
      </p:sp>
      <p:graphicFrame>
        <p:nvGraphicFramePr>
          <p:cNvPr id="19459" name="Object 20483">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3078" name="" r:id="rId1" imgW="915670" imgH="215900" progId="Equation.3">
                  <p:embed/>
                </p:oleObj>
              </mc:Choice>
              <mc:Fallback>
                <p:oleObj name="" r:id="rId1" imgW="915670" imgH="215900" progId="Equation.3">
                  <p:embed/>
                  <p:pic>
                    <p:nvPicPr>
                      <p:cNvPr id="0" name="图片 3077"/>
                      <p:cNvPicPr/>
                      <p:nvPr/>
                    </p:nvPicPr>
                    <p:blipFill>
                      <a:blip r:embed="rId2"/>
                      <a:stretch>
                        <a:fillRect/>
                      </a:stretch>
                    </p:blipFill>
                    <p:spPr>
                      <a:xfrm>
                        <a:off x="4114800" y="3321050"/>
                        <a:ext cx="914400" cy="215900"/>
                      </a:xfrm>
                      <a:prstGeom prst="rect">
                        <a:avLst/>
                      </a:prstGeom>
                      <a:noFill/>
                      <a:ln w="38100">
                        <a:noFill/>
                        <a:miter/>
                      </a:ln>
                    </p:spPr>
                  </p:pic>
                </p:oleObj>
              </mc:Fallback>
            </mc:AlternateContent>
          </a:graphicData>
        </a:graphic>
      </p:graphicFrame>
      <p:graphicFrame>
        <p:nvGraphicFramePr>
          <p:cNvPr id="19460" name="Object 20484"/>
          <p:cNvGraphicFramePr>
            <a:graphicFrameLocks noChangeAspect="1"/>
          </p:cNvGraphicFramePr>
          <p:nvPr/>
        </p:nvGraphicFramePr>
        <p:xfrm>
          <a:off x="2811463" y="2098675"/>
          <a:ext cx="2717800" cy="666750"/>
        </p:xfrm>
        <a:graphic>
          <a:graphicData uri="http://schemas.openxmlformats.org/presentationml/2006/ole">
            <mc:AlternateContent xmlns:mc="http://schemas.openxmlformats.org/markup-compatibility/2006">
              <mc:Choice xmlns:v="urn:schemas-microsoft-com:vml" Requires="v">
                <p:oleObj spid="_x0000_s3079" name="" r:id="rId3" imgW="1360805" imgH="330835" progId="Equation.3">
                  <p:embed/>
                </p:oleObj>
              </mc:Choice>
              <mc:Fallback>
                <p:oleObj name="" r:id="rId3" imgW="1360805" imgH="330835" progId="Equation.3">
                  <p:embed/>
                  <p:pic>
                    <p:nvPicPr>
                      <p:cNvPr id="0" name="图片 3078"/>
                      <p:cNvPicPr/>
                      <p:nvPr/>
                    </p:nvPicPr>
                    <p:blipFill>
                      <a:blip r:embed="rId4"/>
                      <a:stretch>
                        <a:fillRect/>
                      </a:stretch>
                    </p:blipFill>
                    <p:spPr>
                      <a:xfrm>
                        <a:off x="2811463" y="2098675"/>
                        <a:ext cx="2717800" cy="666750"/>
                      </a:xfrm>
                      <a:prstGeom prst="rect">
                        <a:avLst/>
                      </a:prstGeom>
                      <a:noFill/>
                      <a:ln w="38100">
                        <a:noFill/>
                        <a:miter/>
                      </a:ln>
                    </p:spPr>
                  </p:pic>
                </p:oleObj>
              </mc:Fallback>
            </mc:AlternateContent>
          </a:graphicData>
        </a:graphic>
      </p:graphicFrame>
      <p:graphicFrame>
        <p:nvGraphicFramePr>
          <p:cNvPr id="19461" name="Object 20485"/>
          <p:cNvGraphicFramePr>
            <a:graphicFrameLocks noChangeAspect="1"/>
          </p:cNvGraphicFramePr>
          <p:nvPr/>
        </p:nvGraphicFramePr>
        <p:xfrm>
          <a:off x="3030538" y="3914775"/>
          <a:ext cx="2116137" cy="857250"/>
        </p:xfrm>
        <a:graphic>
          <a:graphicData uri="http://schemas.openxmlformats.org/presentationml/2006/ole">
            <mc:AlternateContent xmlns:mc="http://schemas.openxmlformats.org/markup-compatibility/2006">
              <mc:Choice xmlns:v="urn:schemas-microsoft-com:vml" Requires="v">
                <p:oleObj spid="_x0000_s3086" name="" r:id="rId5" imgW="1054100" imgH="431800" progId="Equation.3">
                  <p:embed/>
                </p:oleObj>
              </mc:Choice>
              <mc:Fallback>
                <p:oleObj name="" r:id="rId5" imgW="1054100" imgH="431800" progId="Equation.3">
                  <p:embed/>
                  <p:pic>
                    <p:nvPicPr>
                      <p:cNvPr id="0" name="图片 3085"/>
                      <p:cNvPicPr/>
                      <p:nvPr/>
                    </p:nvPicPr>
                    <p:blipFill>
                      <a:blip r:embed="rId6"/>
                      <a:stretch>
                        <a:fillRect/>
                      </a:stretch>
                    </p:blipFill>
                    <p:spPr>
                      <a:xfrm>
                        <a:off x="3030538" y="3914775"/>
                        <a:ext cx="2116137" cy="857250"/>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Title 21505"/>
          <p:cNvSpPr>
            <a:spLocks noGrp="1"/>
          </p:cNvSpPr>
          <p:nvPr>
            <p:ph type="title"/>
          </p:nvPr>
        </p:nvSpPr>
        <p:spPr/>
        <p:txBody>
          <a:bodyPr anchor="ctr"/>
          <a:p>
            <a:endParaRPr lang="zh-CN" altLang="en-US" dirty="0"/>
          </a:p>
        </p:txBody>
      </p:sp>
      <p:sp>
        <p:nvSpPr>
          <p:cNvPr id="20482" name="Text Placeholder 21506"/>
          <p:cNvSpPr>
            <a:spLocks noGrp="1"/>
          </p:cNvSpPr>
          <p:nvPr>
            <p:ph type="body" sz="half" idx="1"/>
          </p:nvPr>
        </p:nvSpPr>
        <p:spPr>
          <a:xfrm>
            <a:off x="514350" y="1463675"/>
            <a:ext cx="8131175" cy="4892675"/>
          </a:xfrm>
        </p:spPr>
        <p:txBody>
          <a:bodyPr anchor="t"/>
          <a:p>
            <a:r>
              <a:rPr lang="zh-CN" altLang="en-US" sz="2800"/>
              <a:t>求积分</a:t>
            </a:r>
            <a:endParaRPr lang="zh-CN" altLang="en-US" sz="2800"/>
          </a:p>
        </p:txBody>
      </p:sp>
      <p:sp>
        <p:nvSpPr>
          <p:cNvPr id="20483" name="Text Box 21507"/>
          <p:cNvSpPr txBox="1"/>
          <p:nvPr/>
        </p:nvSpPr>
        <p:spPr>
          <a:xfrm>
            <a:off x="6445250" y="2420938"/>
            <a:ext cx="2014538" cy="519112"/>
          </a:xfrm>
          <a:prstGeom prst="rect">
            <a:avLst/>
          </a:prstGeom>
          <a:noFill/>
          <a:ln w="9525">
            <a:noFill/>
          </a:ln>
        </p:spPr>
        <p:txBody>
          <a:bodyPr wrap="square" anchor="t">
            <a:spAutoFit/>
          </a:bodyPr>
          <a:p>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2.1</a:t>
            </a:r>
            <a:r>
              <a:rPr lang="zh-CN" altLang="en-US" sz="2800">
                <a:latin typeface="Arial" panose="020B0604020202020204" pitchFamily="34" charset="0"/>
                <a:ea typeface="宋体" panose="02010600030101010101" pitchFamily="2" charset="-122"/>
              </a:rPr>
              <a:t>）</a:t>
            </a:r>
            <a:endParaRPr lang="zh-CN" altLang="en-US" sz="2800">
              <a:latin typeface="Arial" panose="020B0604020202020204" pitchFamily="34" charset="0"/>
              <a:ea typeface="宋体" panose="02010600030101010101" pitchFamily="2" charset="-122"/>
            </a:endParaRPr>
          </a:p>
        </p:txBody>
      </p:sp>
      <p:graphicFrame>
        <p:nvGraphicFramePr>
          <p:cNvPr id="20484" name="Object 21508">
            <a:hlinkClick r:id="" action="ppaction://ole?verb="/>
          </p:cNvPr>
          <p:cNvGraphicFramePr>
            <a:graphicFrameLocks noChangeAspect="1"/>
          </p:cNvGraphicFramePr>
          <p:nvPr/>
        </p:nvGraphicFramePr>
        <p:xfrm>
          <a:off x="2268538" y="1844675"/>
          <a:ext cx="3765550" cy="1484313"/>
        </p:xfrm>
        <a:graphic>
          <a:graphicData uri="http://schemas.openxmlformats.org/presentationml/2006/ole">
            <mc:AlternateContent xmlns:mc="http://schemas.openxmlformats.org/markup-compatibility/2006">
              <mc:Choice xmlns:v="urn:schemas-microsoft-com:vml" Requires="v">
                <p:oleObj spid="_x0000_s3084" name="" r:id="rId1" imgW="838835" imgH="330200" progId="Equation.3">
                  <p:embed/>
                </p:oleObj>
              </mc:Choice>
              <mc:Fallback>
                <p:oleObj name="" r:id="rId1" imgW="838835" imgH="330200" progId="Equation.3">
                  <p:embed/>
                  <p:pic>
                    <p:nvPicPr>
                      <p:cNvPr id="0" name="图片 3083"/>
                      <p:cNvPicPr/>
                      <p:nvPr/>
                    </p:nvPicPr>
                    <p:blipFill>
                      <a:blip r:embed="rId2"/>
                      <a:stretch>
                        <a:fillRect/>
                      </a:stretch>
                    </p:blipFill>
                    <p:spPr>
                      <a:xfrm>
                        <a:off x="2268538" y="1844675"/>
                        <a:ext cx="3765550" cy="1484313"/>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Title 22529"/>
          <p:cNvSpPr>
            <a:spLocks noGrp="1"/>
          </p:cNvSpPr>
          <p:nvPr>
            <p:ph type="title"/>
          </p:nvPr>
        </p:nvSpPr>
        <p:spPr/>
        <p:txBody>
          <a:bodyPr anchor="ctr"/>
          <a:p>
            <a:r>
              <a:rPr lang="zh-CN" altLang="en-US" dirty="0"/>
              <a:t>蒙特卡罗方法步骤如下：</a:t>
            </a:r>
            <a:endParaRPr lang="zh-CN" altLang="en-US" dirty="0"/>
          </a:p>
        </p:txBody>
      </p:sp>
      <p:sp>
        <p:nvSpPr>
          <p:cNvPr id="21506" name="Text Placeholder 22530"/>
          <p:cNvSpPr>
            <a:spLocks noGrp="1"/>
          </p:cNvSpPr>
          <p:nvPr>
            <p:ph idx="1"/>
          </p:nvPr>
        </p:nvSpPr>
        <p:spPr>
          <a:xfrm>
            <a:off x="514350" y="1052513"/>
            <a:ext cx="8150225" cy="5303837"/>
          </a:xfrm>
        </p:spPr>
        <p:txBody>
          <a:bodyPr anchor="t"/>
          <a:p>
            <a:r>
              <a:rPr lang="zh-CN" altLang="en-US" sz="2800" dirty="0"/>
              <a:t>1、在区间【a,b】上利用计算机均匀产生n个随机数x1，x2·····xn，这个可以在MATLAB软件中用unifrnd命令实现。</a:t>
            </a:r>
            <a:endParaRPr lang="zh-CN" altLang="en-US" sz="2800" dirty="0"/>
          </a:p>
          <a:p>
            <a:r>
              <a:rPr lang="zh-CN" altLang="en-US" sz="2800" dirty="0"/>
              <a:t>2、计算每一个随机数相应的被积函数值f（x1），f（x2）····f（xn）。</a:t>
            </a:r>
            <a:endParaRPr lang="zh-CN" altLang="en-US" sz="2800" dirty="0"/>
          </a:p>
          <a:p>
            <a:r>
              <a:rPr lang="zh-CN" altLang="en-US" sz="2800" dirty="0"/>
              <a:t>3、计算被积函数值的平均值</a:t>
            </a:r>
            <a:endParaRPr lang="zh-CN" altLang="en-US" sz="2800" dirty="0">
              <a:sym typeface="Arial" panose="020B0604020202020204" pitchFamily="34" charset="0"/>
            </a:endParaRPr>
          </a:p>
          <a:p>
            <a:endParaRPr lang="zh-CN" altLang="en-US" sz="2800" dirty="0"/>
          </a:p>
          <a:p>
            <a:r>
              <a:rPr lang="zh-CN" altLang="en-US" sz="2800" dirty="0"/>
              <a:t>4、所以2.1式的值≈</a:t>
            </a:r>
            <a:endParaRPr lang="en-US" altLang="zh-CN" sz="2800" dirty="0"/>
          </a:p>
        </p:txBody>
      </p:sp>
      <p:graphicFrame>
        <p:nvGraphicFramePr>
          <p:cNvPr id="21507" name="Object 22531">
            <a:hlinkClick r:id="" action="ppaction://ole?verb="/>
          </p:cNvPr>
          <p:cNvGraphicFramePr>
            <a:graphicFrameLocks noChangeAspect="1"/>
          </p:cNvGraphicFramePr>
          <p:nvPr/>
        </p:nvGraphicFramePr>
        <p:xfrm>
          <a:off x="5651500" y="2947988"/>
          <a:ext cx="1512888" cy="1511300"/>
        </p:xfrm>
        <a:graphic>
          <a:graphicData uri="http://schemas.openxmlformats.org/presentationml/2006/ole">
            <mc:AlternateContent xmlns:mc="http://schemas.openxmlformats.org/markup-compatibility/2006">
              <mc:Choice xmlns:v="urn:schemas-microsoft-com:vml" Requires="v">
                <p:oleObj spid="_x0000_s3081" name="" r:id="rId1" imgW="610235" imgH="610235" progId="Equation.3">
                  <p:embed/>
                </p:oleObj>
              </mc:Choice>
              <mc:Fallback>
                <p:oleObj name="" r:id="rId1" imgW="610235" imgH="610235" progId="Equation.3">
                  <p:embed/>
                  <p:pic>
                    <p:nvPicPr>
                      <p:cNvPr id="0" name="图片 3080"/>
                      <p:cNvPicPr/>
                      <p:nvPr/>
                    </p:nvPicPr>
                    <p:blipFill>
                      <a:blip r:embed="rId2"/>
                      <a:stretch>
                        <a:fillRect/>
                      </a:stretch>
                    </p:blipFill>
                    <p:spPr>
                      <a:xfrm>
                        <a:off x="5651500" y="2947988"/>
                        <a:ext cx="1512888" cy="1511300"/>
                      </a:xfrm>
                      <a:prstGeom prst="rect">
                        <a:avLst/>
                      </a:prstGeom>
                      <a:noFill/>
                      <a:ln w="38100">
                        <a:noFill/>
                        <a:miter/>
                      </a:ln>
                    </p:spPr>
                  </p:pic>
                </p:oleObj>
              </mc:Fallback>
            </mc:AlternateContent>
          </a:graphicData>
        </a:graphic>
      </p:graphicFrame>
      <p:graphicFrame>
        <p:nvGraphicFramePr>
          <p:cNvPr id="21508" name="Object 22532">
            <a:hlinkClick r:id="" action="ppaction://ole?verb="/>
          </p:cNvPr>
          <p:cNvGraphicFramePr>
            <a:graphicFrameLocks noChangeAspect="1"/>
          </p:cNvGraphicFramePr>
          <p:nvPr/>
        </p:nvGraphicFramePr>
        <p:xfrm>
          <a:off x="4152900" y="3809365"/>
          <a:ext cx="2517140" cy="1510030"/>
        </p:xfrm>
        <a:graphic>
          <a:graphicData uri="http://schemas.openxmlformats.org/presentationml/2006/ole">
            <mc:AlternateContent xmlns:mc="http://schemas.openxmlformats.org/markup-compatibility/2006">
              <mc:Choice xmlns:v="urn:schemas-microsoft-com:vml" Requires="v">
                <p:oleObj spid="_x0000_s3080" name="" r:id="rId3" imgW="1016000" imgH="609600" progId="Equation.3">
                  <p:embed/>
                </p:oleObj>
              </mc:Choice>
              <mc:Fallback>
                <p:oleObj name="" r:id="rId3" imgW="1016000" imgH="609600" progId="Equation.3">
                  <p:embed/>
                  <p:pic>
                    <p:nvPicPr>
                      <p:cNvPr id="0" name="图片 3079"/>
                      <p:cNvPicPr/>
                      <p:nvPr/>
                    </p:nvPicPr>
                    <p:blipFill>
                      <a:blip r:embed="rId4"/>
                      <a:stretch>
                        <a:fillRect/>
                      </a:stretch>
                    </p:blipFill>
                    <p:spPr>
                      <a:xfrm>
                        <a:off x="4152900" y="3809365"/>
                        <a:ext cx="2517140" cy="1510030"/>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itle 23553"/>
          <p:cNvSpPr>
            <a:spLocks noGrp="1"/>
          </p:cNvSpPr>
          <p:nvPr>
            <p:ph type="title"/>
          </p:nvPr>
        </p:nvSpPr>
        <p:spPr>
          <a:xfrm>
            <a:off x="684213" y="260350"/>
            <a:ext cx="8137525" cy="981075"/>
          </a:xfrm>
        </p:spPr>
        <p:txBody>
          <a:bodyPr anchor="ctr"/>
          <a:p>
            <a:r>
              <a:rPr lang="zh-CN" altLang="en-US" sz="3200" dirty="0"/>
              <a:t>简单定积分例子：用蒙特卡罗方法求</a:t>
            </a:r>
            <a:endParaRPr lang="zh-CN" altLang="en-US" sz="3200" dirty="0"/>
          </a:p>
        </p:txBody>
      </p:sp>
      <p:sp>
        <p:nvSpPr>
          <p:cNvPr id="22530" name="Text Placeholder 23554"/>
          <p:cNvSpPr>
            <a:spLocks noGrp="1"/>
          </p:cNvSpPr>
          <p:nvPr>
            <p:ph idx="1"/>
          </p:nvPr>
        </p:nvSpPr>
        <p:spPr>
          <a:xfrm>
            <a:off x="396875" y="1412875"/>
            <a:ext cx="8437563" cy="4965700"/>
          </a:xfrm>
        </p:spPr>
        <p:txBody>
          <a:bodyPr anchor="t"/>
          <a:p>
            <a:pPr>
              <a:lnSpc>
                <a:spcPct val="100000"/>
              </a:lnSpc>
            </a:pPr>
            <a:r>
              <a:rPr lang="zh-CN" altLang="en-US" sz="2400" dirty="0"/>
              <a:t>首先我们进行严格的数学计算， 便于后面与蒙特卡洛计算方法所得结果形成对比：已知       的原函数是    ，那么定积分值就是：</a:t>
            </a:r>
            <a:endParaRPr lang="zh-CN" altLang="en-US" sz="2400" dirty="0"/>
          </a:p>
          <a:p>
            <a:pPr>
              <a:lnSpc>
                <a:spcPct val="100000"/>
              </a:lnSpc>
            </a:pPr>
            <a:endParaRPr lang="zh-CN" altLang="en-US" sz="2400" dirty="0"/>
          </a:p>
          <a:p>
            <a:pPr>
              <a:lnSpc>
                <a:spcPct val="100000"/>
              </a:lnSpc>
            </a:pPr>
            <a:r>
              <a:rPr lang="zh-CN" altLang="en-US" sz="2400" dirty="0"/>
              <a:t>我们可以在Matlab中输入以下代码进行精确计算：exp（2）-exp（0），这个值是此定积分的真实值.</a:t>
            </a:r>
            <a:endParaRPr lang="zh-CN" altLang="en-US" sz="2400" dirty="0"/>
          </a:p>
          <a:p>
            <a:pPr>
              <a:lnSpc>
                <a:spcPct val="100000"/>
              </a:lnSpc>
            </a:pPr>
            <a:r>
              <a:rPr lang="zh-CN" altLang="en-US" sz="2400" dirty="0"/>
              <a:t>下面进行蒙特卡洛计算上述定积分，其MATLAB代码如下：</a:t>
            </a:r>
            <a:endParaRPr lang="zh-CN" altLang="en-US" sz="2400" dirty="0"/>
          </a:p>
          <a:p>
            <a:pPr>
              <a:lnSpc>
                <a:spcPct val="100000"/>
              </a:lnSpc>
            </a:pPr>
            <a:r>
              <a:rPr lang="zh-CN" altLang="en-US" sz="2400" dirty="0"/>
              <a:t>N=500</a:t>
            </a:r>
            <a:r>
              <a:rPr lang="en-US" altLang="zh-CN" sz="2400" dirty="0"/>
              <a:t>;</a:t>
            </a:r>
            <a:endParaRPr lang="en-US" altLang="zh-CN" sz="2400" dirty="0"/>
          </a:p>
          <a:p>
            <a:pPr>
              <a:lnSpc>
                <a:spcPct val="100000"/>
              </a:lnSpc>
            </a:pPr>
            <a:r>
              <a:rPr lang="zh-CN" altLang="en-US" sz="2400" dirty="0"/>
              <a:t>x=unifrnd</a:t>
            </a:r>
            <a:r>
              <a:rPr lang="en-US" altLang="zh-CN" sz="2400" dirty="0"/>
              <a:t>(</a:t>
            </a:r>
            <a:r>
              <a:rPr lang="zh-CN" altLang="en-US" sz="2400" dirty="0"/>
              <a:t>0</a:t>
            </a:r>
            <a:r>
              <a:rPr lang="en-US" altLang="zh-CN" sz="2400" dirty="0"/>
              <a:t>,</a:t>
            </a:r>
            <a:r>
              <a:rPr lang="zh-CN" altLang="en-US" sz="2400" dirty="0"/>
              <a:t>2</a:t>
            </a:r>
            <a:r>
              <a:rPr lang="en-US" altLang="zh-CN" sz="2400" dirty="0"/>
              <a:t>,</a:t>
            </a:r>
            <a:r>
              <a:rPr lang="zh-CN" altLang="en-US" sz="2400" dirty="0"/>
              <a:t>N</a:t>
            </a:r>
            <a:r>
              <a:rPr lang="en-US" altLang="zh-CN" sz="2400" dirty="0"/>
              <a:t>,</a:t>
            </a:r>
            <a:r>
              <a:rPr lang="zh-CN" altLang="en-US" sz="2400" dirty="0"/>
              <a:t>1</a:t>
            </a:r>
            <a:r>
              <a:rPr lang="en-US" altLang="zh-CN" sz="2400" dirty="0"/>
              <a:t>);</a:t>
            </a:r>
            <a:endParaRPr lang="zh-CN" altLang="en-US" sz="2400" dirty="0"/>
          </a:p>
          <a:p>
            <a:pPr>
              <a:lnSpc>
                <a:spcPct val="100000"/>
              </a:lnSpc>
            </a:pPr>
            <a:r>
              <a:rPr lang="zh-CN" altLang="en-US" sz="2400" dirty="0"/>
              <a:t>mean</a:t>
            </a:r>
            <a:r>
              <a:rPr lang="en-US" altLang="zh-CN" sz="2400" dirty="0"/>
              <a:t>(</a:t>
            </a:r>
            <a:r>
              <a:rPr lang="zh-CN" altLang="en-US" sz="2400" dirty="0"/>
              <a:t>2*exp</a:t>
            </a:r>
            <a:r>
              <a:rPr lang="en-US" altLang="zh-CN" sz="2400" dirty="0"/>
              <a:t>(x))</a:t>
            </a:r>
            <a:endParaRPr lang="en-US" altLang="zh-CN" sz="2400" dirty="0"/>
          </a:p>
        </p:txBody>
      </p:sp>
      <p:graphicFrame>
        <p:nvGraphicFramePr>
          <p:cNvPr id="22531" name="Object 23555">
            <a:hlinkClick r:id="" action="ppaction://ole?verb="/>
          </p:cNvPr>
          <p:cNvGraphicFramePr>
            <a:graphicFrameLocks noChangeAspect="1"/>
          </p:cNvGraphicFramePr>
          <p:nvPr/>
        </p:nvGraphicFramePr>
        <p:xfrm>
          <a:off x="7280434" y="260191"/>
          <a:ext cx="1296670" cy="935355"/>
        </p:xfrm>
        <a:graphic>
          <a:graphicData uri="http://schemas.openxmlformats.org/presentationml/2006/ole">
            <mc:AlternateContent xmlns:mc="http://schemas.openxmlformats.org/markup-compatibility/2006">
              <mc:Choice xmlns:v="urn:schemas-microsoft-com:vml" Requires="v">
                <p:oleObj spid="_x0000_s3082" name="" r:id="rId1" imgW="457200" imgH="330200" progId="Equation.3">
                  <p:embed/>
                </p:oleObj>
              </mc:Choice>
              <mc:Fallback>
                <p:oleObj name="" r:id="rId1" imgW="457200" imgH="330200" progId="Equation.3">
                  <p:embed/>
                  <p:pic>
                    <p:nvPicPr>
                      <p:cNvPr id="0" name="图片 3081"/>
                      <p:cNvPicPr/>
                      <p:nvPr/>
                    </p:nvPicPr>
                    <p:blipFill>
                      <a:blip r:embed="rId2"/>
                      <a:stretch>
                        <a:fillRect/>
                      </a:stretch>
                    </p:blipFill>
                    <p:spPr>
                      <a:xfrm>
                        <a:off x="7280434" y="260191"/>
                        <a:ext cx="1296670" cy="935355"/>
                      </a:xfrm>
                      <a:prstGeom prst="rect">
                        <a:avLst/>
                      </a:prstGeom>
                      <a:noFill/>
                      <a:ln w="38100">
                        <a:noFill/>
                        <a:miter/>
                      </a:ln>
                    </p:spPr>
                  </p:pic>
                </p:oleObj>
              </mc:Fallback>
            </mc:AlternateContent>
          </a:graphicData>
        </a:graphic>
      </p:graphicFrame>
      <p:graphicFrame>
        <p:nvGraphicFramePr>
          <p:cNvPr id="22532" name="Object 23556">
            <a:hlinkClick r:id="" action="ppaction://ole?verb="/>
          </p:cNvPr>
          <p:cNvGraphicFramePr>
            <a:graphicFrameLocks noChangeAspect="1"/>
          </p:cNvGraphicFramePr>
          <p:nvPr/>
        </p:nvGraphicFramePr>
        <p:xfrm>
          <a:off x="2665413" y="2262188"/>
          <a:ext cx="4176712" cy="696912"/>
        </p:xfrm>
        <a:graphic>
          <a:graphicData uri="http://schemas.openxmlformats.org/presentationml/2006/ole">
            <mc:AlternateContent xmlns:mc="http://schemas.openxmlformats.org/markup-compatibility/2006">
              <mc:Choice xmlns:v="urn:schemas-microsoft-com:vml" Requires="v">
                <p:oleObj spid="_x0000_s3083" name="" r:id="rId3" imgW="1373505" imgH="228600" progId="Equation.3">
                  <p:embed/>
                </p:oleObj>
              </mc:Choice>
              <mc:Fallback>
                <p:oleObj name="" r:id="rId3" imgW="1373505" imgH="228600" progId="Equation.3">
                  <p:embed/>
                  <p:pic>
                    <p:nvPicPr>
                      <p:cNvPr id="0" name="图片 3082"/>
                      <p:cNvPicPr/>
                      <p:nvPr/>
                    </p:nvPicPr>
                    <p:blipFill>
                      <a:blip r:embed="rId4"/>
                      <a:stretch>
                        <a:fillRect/>
                      </a:stretch>
                    </p:blipFill>
                    <p:spPr>
                      <a:xfrm>
                        <a:off x="2665413" y="2262188"/>
                        <a:ext cx="4176712" cy="696912"/>
                      </a:xfrm>
                      <a:prstGeom prst="rect">
                        <a:avLst/>
                      </a:prstGeom>
                      <a:noFill/>
                      <a:ln w="38100">
                        <a:noFill/>
                        <a:miter/>
                      </a:ln>
                    </p:spPr>
                  </p:pic>
                </p:oleObj>
              </mc:Fallback>
            </mc:AlternateContent>
          </a:graphicData>
        </a:graphic>
      </p:graphicFrame>
      <p:graphicFrame>
        <p:nvGraphicFramePr>
          <p:cNvPr id="22533" name="Object 23557">
            <a:hlinkClick r:id="" action="ppaction://ole?verb="/>
          </p:cNvPr>
          <p:cNvGraphicFramePr>
            <a:graphicFrameLocks noChangeAspect="1"/>
          </p:cNvGraphicFramePr>
          <p:nvPr/>
        </p:nvGraphicFramePr>
        <p:xfrm>
          <a:off x="4864100" y="1606550"/>
          <a:ext cx="501650" cy="574675"/>
        </p:xfrm>
        <a:graphic>
          <a:graphicData uri="http://schemas.openxmlformats.org/presentationml/2006/ole">
            <mc:AlternateContent xmlns:mc="http://schemas.openxmlformats.org/markup-compatibility/2006">
              <mc:Choice xmlns:v="urn:schemas-microsoft-com:vml" Requires="v">
                <p:oleObj spid="_x0000_s3085" name="" r:id="rId5" imgW="177800" imgH="203835" progId="Equation.KSEE3">
                  <p:embed/>
                </p:oleObj>
              </mc:Choice>
              <mc:Fallback>
                <p:oleObj name="" r:id="rId5" imgW="177800" imgH="203835" progId="Equation.KSEE3">
                  <p:embed/>
                  <p:pic>
                    <p:nvPicPr>
                      <p:cNvPr id="0" name="图片 3084"/>
                      <p:cNvPicPr/>
                      <p:nvPr/>
                    </p:nvPicPr>
                    <p:blipFill>
                      <a:blip r:embed="rId6"/>
                      <a:stretch>
                        <a:fillRect/>
                      </a:stretch>
                    </p:blipFill>
                    <p:spPr>
                      <a:xfrm>
                        <a:off x="4864100" y="1606550"/>
                        <a:ext cx="501650" cy="574675"/>
                      </a:xfrm>
                      <a:prstGeom prst="rect">
                        <a:avLst/>
                      </a:prstGeom>
                      <a:noFill/>
                      <a:ln w="38100">
                        <a:noFill/>
                        <a:miter/>
                      </a:ln>
                    </p:spPr>
                  </p:pic>
                </p:oleObj>
              </mc:Fallback>
            </mc:AlternateContent>
          </a:graphicData>
        </a:graphic>
      </p:graphicFrame>
      <p:graphicFrame>
        <p:nvGraphicFramePr>
          <p:cNvPr id="22534" name="Object 23558">
            <a:hlinkClick r:id="" action="ppaction://ole?verb="/>
          </p:cNvPr>
          <p:cNvGraphicFramePr>
            <a:graphicFrameLocks noChangeAspect="1"/>
          </p:cNvGraphicFramePr>
          <p:nvPr/>
        </p:nvGraphicFramePr>
        <p:xfrm>
          <a:off x="6842125" y="1677988"/>
          <a:ext cx="439738" cy="503237"/>
        </p:xfrm>
        <a:graphic>
          <a:graphicData uri="http://schemas.openxmlformats.org/presentationml/2006/ole">
            <mc:AlternateContent xmlns:mc="http://schemas.openxmlformats.org/markup-compatibility/2006">
              <mc:Choice xmlns:v="urn:schemas-microsoft-com:vml" Requires="v">
                <p:oleObj spid="_x0000_s3087" name="" r:id="rId7" imgW="177800" imgH="203835" progId="Equation.3">
                  <p:embed/>
                </p:oleObj>
              </mc:Choice>
              <mc:Fallback>
                <p:oleObj name="" r:id="rId7" imgW="177800" imgH="203835" progId="Equation.3">
                  <p:embed/>
                  <p:pic>
                    <p:nvPicPr>
                      <p:cNvPr id="0" name="图片 3086"/>
                      <p:cNvPicPr/>
                      <p:nvPr/>
                    </p:nvPicPr>
                    <p:blipFill>
                      <a:blip r:embed="rId6"/>
                      <a:stretch>
                        <a:fillRect/>
                      </a:stretch>
                    </p:blipFill>
                    <p:spPr>
                      <a:xfrm>
                        <a:off x="6842125" y="1677988"/>
                        <a:ext cx="439738" cy="503237"/>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itle 24577"/>
          <p:cNvSpPr>
            <a:spLocks noGrp="1"/>
          </p:cNvSpPr>
          <p:nvPr>
            <p:ph type="title"/>
          </p:nvPr>
        </p:nvSpPr>
        <p:spPr>
          <a:xfrm>
            <a:off x="457200" y="163513"/>
            <a:ext cx="8229600" cy="582612"/>
          </a:xfrm>
        </p:spPr>
        <p:txBody>
          <a:bodyPr anchor="ctr"/>
          <a:p>
            <a:r>
              <a:rPr lang="zh-CN" altLang="en-US" dirty="0"/>
              <a:t>解释语句：</a:t>
            </a:r>
            <a:endParaRPr lang="zh-CN" altLang="en-US" dirty="0"/>
          </a:p>
        </p:txBody>
      </p:sp>
      <p:sp>
        <p:nvSpPr>
          <p:cNvPr id="23554" name="Text Placeholder 24578"/>
          <p:cNvSpPr>
            <a:spLocks noGrp="1"/>
          </p:cNvSpPr>
          <p:nvPr>
            <p:ph idx="1"/>
          </p:nvPr>
        </p:nvSpPr>
        <p:spPr>
          <a:xfrm>
            <a:off x="457200" y="992188"/>
            <a:ext cx="8229600" cy="4953000"/>
          </a:xfrm>
        </p:spPr>
        <p:txBody>
          <a:bodyPr anchor="t"/>
          <a:p>
            <a:r>
              <a:rPr lang="zh-CN" altLang="en-US" sz="2800"/>
              <a:t>上述三条语句完整实现了蒙特卡洛计算上述定积分步骤</a:t>
            </a:r>
            <a:r>
              <a:rPr lang="en-US" altLang="zh-CN" sz="2800"/>
              <a:t>.</a:t>
            </a:r>
            <a:r>
              <a:rPr lang="zh-CN" altLang="en-US" sz="2800"/>
              <a:t>第一条语句是设定了停止条件， 共做</a:t>
            </a:r>
            <a:r>
              <a:rPr lang="en-US" altLang="zh-CN" sz="2800"/>
              <a:t>N</a:t>
            </a:r>
            <a:r>
              <a:rPr lang="zh-CN" altLang="en-US" sz="2800"/>
              <a:t>次</a:t>
            </a:r>
            <a:r>
              <a:rPr lang="en-US" altLang="zh-CN" sz="2800"/>
              <a:t>Monte Carlo </a:t>
            </a:r>
            <a:r>
              <a:rPr lang="zh-CN" altLang="en-US" sz="2800"/>
              <a:t>模拟</a:t>
            </a:r>
            <a:r>
              <a:rPr lang="en-US" altLang="zh-CN" sz="2800"/>
              <a:t>.</a:t>
            </a:r>
            <a:r>
              <a:rPr lang="zh-CN" altLang="en-US" sz="2800"/>
              <a:t>第二条语句实现了在积分区间上均匀产生</a:t>
            </a:r>
            <a:r>
              <a:rPr lang="en-US" altLang="zh-CN" sz="2800"/>
              <a:t>N</a:t>
            </a:r>
            <a:r>
              <a:rPr lang="zh-CN" altLang="en-US" sz="2800"/>
              <a:t>个随机数</a:t>
            </a:r>
            <a:r>
              <a:rPr lang="en-US" altLang="zh-CN" sz="2800"/>
              <a:t>.</a:t>
            </a:r>
            <a:r>
              <a:rPr lang="zh-CN" altLang="en-US" sz="2800"/>
              <a:t>第三条语句实现蒙特卡洛计算方法的面积逼近</a:t>
            </a:r>
            <a:r>
              <a:rPr lang="en-US" altLang="zh-CN" sz="2800"/>
              <a:t>.</a:t>
            </a:r>
            <a:r>
              <a:rPr lang="zh-CN" altLang="en-US" sz="2800"/>
              <a:t>对</a:t>
            </a:r>
            <a:r>
              <a:rPr lang="en-US" altLang="zh-CN" sz="2800"/>
              <a:t>N</a:t>
            </a:r>
            <a:r>
              <a:rPr lang="zh-CN" altLang="en-US" sz="2800"/>
              <a:t>设置不同的值，观察所得蒙特卡洛计算方法定积分值，如表</a:t>
            </a:r>
            <a:r>
              <a:rPr lang="en-US" altLang="zh-CN" sz="2800"/>
              <a:t>1</a:t>
            </a:r>
            <a:r>
              <a:rPr lang="zh-CN" altLang="en-US" sz="2800"/>
              <a:t>所示，我们可以发现：当不断增大</a:t>
            </a:r>
            <a:r>
              <a:rPr lang="en-US" altLang="zh-CN" sz="2800"/>
              <a:t>N</a:t>
            </a:r>
            <a:r>
              <a:rPr lang="zh-CN" altLang="en-US" sz="2800"/>
              <a:t>值时，所得结果越来越接近真实值</a:t>
            </a:r>
            <a:r>
              <a:rPr lang="en-US" altLang="zh-CN" sz="2800"/>
              <a:t>.</a:t>
            </a:r>
            <a:endParaRPr lang="en-US" altLang="zh-CN" sz="2800"/>
          </a:p>
          <a:p>
            <a:endParaRPr lang="en-US" altLang="zh-CN" sz="2800"/>
          </a:p>
        </p:txBody>
      </p:sp>
      <p:pic>
        <p:nvPicPr>
          <p:cNvPr id="23555" name="Picture 24579" descr="360软件小助手截图20141208211614"/>
          <p:cNvPicPr>
            <a:picLocks noChangeAspect="1"/>
          </p:cNvPicPr>
          <p:nvPr/>
        </p:nvPicPr>
        <p:blipFill>
          <a:blip r:embed="rId1"/>
          <a:stretch>
            <a:fillRect/>
          </a:stretch>
        </p:blipFill>
        <p:spPr>
          <a:xfrm>
            <a:off x="1246188" y="4595813"/>
            <a:ext cx="7019925" cy="15843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itle 25601"/>
          <p:cNvSpPr>
            <a:spLocks noGrp="1"/>
          </p:cNvSpPr>
          <p:nvPr>
            <p:ph type="title"/>
          </p:nvPr>
        </p:nvSpPr>
        <p:spPr/>
        <p:txBody>
          <a:bodyPr anchor="ctr"/>
          <a:p>
            <a:r>
              <a:rPr lang="zh-CN" altLang="en-US" dirty="0"/>
              <a:t>蒙特卡罗计算方法性质：</a:t>
            </a:r>
            <a:endParaRPr lang="zh-CN" altLang="en-US" dirty="0"/>
          </a:p>
        </p:txBody>
      </p:sp>
      <p:sp>
        <p:nvSpPr>
          <p:cNvPr id="24578" name="Text Placeholder 25602"/>
          <p:cNvSpPr>
            <a:spLocks noGrp="1"/>
          </p:cNvSpPr>
          <p:nvPr>
            <p:ph idx="1"/>
          </p:nvPr>
        </p:nvSpPr>
        <p:spPr>
          <a:xfrm>
            <a:off x="539750" y="981075"/>
            <a:ext cx="8150225" cy="4892675"/>
          </a:xfrm>
        </p:spPr>
        <p:txBody>
          <a:bodyPr anchor="t"/>
          <a:p>
            <a:r>
              <a:rPr lang="zh-CN" altLang="en-US" sz="2400"/>
              <a:t>蒙特卡洛计算方法依据概率统计理论，具有统计特性，主要表现在以下三个方面</a:t>
            </a:r>
            <a:r>
              <a:rPr lang="en-US" altLang="zh-CN" sz="2400"/>
              <a:t>.</a:t>
            </a:r>
            <a:endParaRPr lang="en-US" altLang="zh-CN" sz="2400"/>
          </a:p>
          <a:p>
            <a:r>
              <a:rPr lang="en-US" altLang="zh-CN" sz="2400"/>
              <a:t>1.</a:t>
            </a:r>
            <a:r>
              <a:rPr lang="zh-CN" altLang="en-US" sz="2400"/>
              <a:t>蒙特卡洛计算方法具有随机性、不确定性</a:t>
            </a:r>
            <a:r>
              <a:rPr lang="en-US" altLang="zh-CN" sz="2400"/>
              <a:t>.</a:t>
            </a:r>
            <a:r>
              <a:rPr lang="zh-CN" altLang="en-US" sz="2400"/>
              <a:t>即每次运行结果都会不一样，因为计算机产生随机数并不是可以重现的</a:t>
            </a:r>
            <a:r>
              <a:rPr lang="en-US" altLang="zh-CN" sz="2400"/>
              <a:t>.</a:t>
            </a:r>
            <a:endParaRPr lang="en-US" altLang="zh-CN" sz="2400"/>
          </a:p>
          <a:p>
            <a:r>
              <a:rPr lang="en-US" altLang="zh-CN" sz="2400"/>
              <a:t>2.</a:t>
            </a:r>
            <a:r>
              <a:rPr lang="zh-CN" altLang="en-US" sz="2400"/>
              <a:t>蒙特卡洛计算方法具有统计稳定性。虽然每次运行产生随机数是不一样的，但是随机数的概率分布是一样的，所以蒙特卡洛计算方法可以满足概率统计的稳定性</a:t>
            </a:r>
            <a:r>
              <a:rPr lang="en-US" altLang="zh-CN" sz="2400"/>
              <a:t>.</a:t>
            </a:r>
            <a:endParaRPr lang="en-US" altLang="zh-CN" sz="2400"/>
          </a:p>
          <a:p>
            <a:r>
              <a:rPr lang="en-US" altLang="zh-CN" sz="2400"/>
              <a:t>3.</a:t>
            </a:r>
            <a:r>
              <a:rPr lang="zh-CN" altLang="en-US" sz="2400"/>
              <a:t>随着随机数数量增加，蒙特卡洛计算方法所得结果会更加逼近真实值，这就是我们所讲的依概率收敛到真实值意义</a:t>
            </a:r>
            <a:r>
              <a:rPr lang="en-US" altLang="zh-CN" sz="2400"/>
              <a:t>.</a:t>
            </a:r>
            <a:endParaRPr lang="en-US" altLang="zh-CN"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856" y="548680"/>
            <a:ext cx="8229600" cy="780696"/>
          </a:xfrm>
        </p:spPr>
        <p:txBody>
          <a:bodyPr>
            <a:normAutofit/>
          </a:bodyPr>
          <a:lstStyle/>
          <a:p>
            <a:r>
              <a:rPr lang="zh-CN" altLang="en-US" dirty="0" smtClean="0"/>
              <a:t>例</a:t>
            </a:r>
            <a:r>
              <a:rPr lang="en-US" altLang="zh-CN" dirty="0" smtClean="0"/>
              <a:t>1 </a:t>
            </a:r>
            <a:r>
              <a:rPr lang="en-US" altLang="zh-CN" sz="3600" dirty="0" smtClean="0"/>
              <a:t>求π的近似值</a:t>
            </a:r>
            <a:endParaRPr lang="en-US" altLang="zh-CN" dirty="0" smtClean="0"/>
          </a:p>
        </p:txBody>
      </p:sp>
      <p:sp>
        <p:nvSpPr>
          <p:cNvPr id="3" name="Content Placeholder 2"/>
          <p:cNvSpPr>
            <a:spLocks noGrp="1"/>
          </p:cNvSpPr>
          <p:nvPr>
            <p:ph idx="1"/>
          </p:nvPr>
        </p:nvSpPr>
        <p:spPr>
          <a:xfrm>
            <a:off x="457200" y="1484784"/>
            <a:ext cx="8229600" cy="4839816"/>
          </a:xfrm>
        </p:spPr>
        <p:txBody>
          <a:bodyPr/>
          <a:lstStyle/>
          <a:p>
            <a:r>
              <a:rPr lang="zh-CN" altLang="en-US" sz="2400" dirty="0" smtClean="0"/>
              <a:t>如</a:t>
            </a:r>
            <a:r>
              <a:rPr lang="zh-CN" altLang="en-US" sz="2400" dirty="0"/>
              <a:t>右图，正方形的面积</a:t>
            </a:r>
            <a:r>
              <a:rPr lang="en-US" altLang="zh-CN" sz="2400" dirty="0"/>
              <a:t>A=1；1/4</a:t>
            </a:r>
            <a:r>
              <a:rPr lang="zh-CN" altLang="en-US" sz="2400" dirty="0"/>
              <a:t>圆的面积</a:t>
            </a:r>
            <a:r>
              <a:rPr lang="en-US" altLang="zh-CN" sz="2400" dirty="0"/>
              <a:t>B= </a:t>
            </a:r>
            <a:r>
              <a:rPr lang="el-GR" altLang="zh-CN" sz="2400" dirty="0"/>
              <a:t>π</a:t>
            </a:r>
            <a:r>
              <a:rPr lang="en-US" altLang="zh-CN" sz="2400" dirty="0"/>
              <a:t> /4。</a:t>
            </a:r>
            <a:r>
              <a:rPr lang="zh-CN" altLang="en-US" sz="2400" dirty="0"/>
              <a:t>我们想象有一个容器在正方形中夹有一个极薄的圆弧隔板。下小雨时搬至屋外，经一定时间后，称1/4圆的容器内的水重</a:t>
            </a:r>
            <a:r>
              <a:rPr lang="en-US" altLang="zh-CN" sz="2400" dirty="0"/>
              <a:t>C，</a:t>
            </a:r>
            <a:r>
              <a:rPr lang="zh-CN" altLang="en-US" sz="2400" dirty="0"/>
              <a:t>与作为一个整体的正方形中的水重</a:t>
            </a:r>
            <a:r>
              <a:rPr lang="en-US" altLang="zh-CN" sz="2400" dirty="0"/>
              <a:t>D。C</a:t>
            </a:r>
            <a:r>
              <a:rPr lang="zh-CN" altLang="en-US" sz="2400" dirty="0"/>
              <a:t>与</a:t>
            </a:r>
            <a:r>
              <a:rPr lang="en-US" altLang="zh-CN" sz="2400" dirty="0"/>
              <a:t>D</a:t>
            </a:r>
            <a:r>
              <a:rPr lang="zh-CN" altLang="en-US" sz="2400" dirty="0"/>
              <a:t>之比应该等于</a:t>
            </a:r>
            <a:r>
              <a:rPr lang="en-US" altLang="zh-CN" sz="2400" dirty="0"/>
              <a:t>B</a:t>
            </a:r>
            <a:r>
              <a:rPr lang="zh-CN" altLang="en-US" sz="2400" dirty="0"/>
              <a:t>与</a:t>
            </a:r>
            <a:r>
              <a:rPr lang="en-US" altLang="zh-CN" sz="2400" dirty="0"/>
              <a:t>A</a:t>
            </a:r>
            <a:r>
              <a:rPr lang="zh-CN" altLang="en-US" sz="2400" dirty="0"/>
              <a:t>之比，</a:t>
            </a:r>
            <a:endParaRPr lang="zh-CN" altLang="en-US" sz="2400" dirty="0"/>
          </a:p>
          <a:p>
            <a:r>
              <a:rPr lang="zh-CN" altLang="en-US" sz="2400" dirty="0" smtClean="0"/>
              <a:t>即</a:t>
            </a:r>
            <a:endParaRPr lang="en-US" altLang="zh-CN" sz="2400" dirty="0" smtClean="0"/>
          </a:p>
          <a:p>
            <a:endParaRPr lang="en-US" sz="2400" dirty="0"/>
          </a:p>
          <a:p>
            <a:endParaRPr lang="en-US" sz="2400" dirty="0" smtClean="0"/>
          </a:p>
          <a:p>
            <a:r>
              <a:rPr lang="zh-CN" altLang="en-US" sz="2400" dirty="0"/>
              <a:t>可得</a:t>
            </a:r>
            <a:endParaRPr lang="en-US" dirty="0"/>
          </a:p>
        </p:txBody>
      </p:sp>
      <p:pic>
        <p:nvPicPr>
          <p:cNvPr id="7" name="Picture 2" descr="C:\Users\Pebble\SkyDrive\CodePractice\Part 2\220px-Pi_30K.gif"/>
          <p:cNvPicPr>
            <a:picLocks noChangeAspect="1" noChangeArrowheads="1" noCrop="1"/>
          </p:cNvPicPr>
          <p:nvPr/>
        </p:nvPicPr>
        <p:blipFill>
          <a:blip r:embed="rId1"/>
          <a:srcRect/>
          <a:stretch>
            <a:fillRect/>
          </a:stretch>
        </p:blipFill>
        <p:spPr bwMode="auto">
          <a:xfrm>
            <a:off x="5588644" y="3581548"/>
            <a:ext cx="3087812" cy="3087812"/>
          </a:xfrm>
          <a:prstGeom prst="rect">
            <a:avLst/>
          </a:prstGeom>
          <a:noFill/>
        </p:spPr>
      </p:pic>
      <mc:AlternateContent xmlns:mc="http://schemas.openxmlformats.org/markup-compatibility/2006">
        <mc:Choice xmlns:a14="http://schemas.microsoft.com/office/drawing/2010/main" Requires="a14">
          <p:sp>
            <p:nvSpPr>
              <p:cNvPr id="9" name="TextBox 8"/>
              <p:cNvSpPr txBox="1"/>
              <p:nvPr/>
            </p:nvSpPr>
            <p:spPr>
              <a:xfrm>
                <a:off x="1507868" y="4042200"/>
                <a:ext cx="1224136"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a:rPr>
                          </m:ctrlPr>
                        </m:fPr>
                        <m:num>
                          <m:r>
                            <a:rPr lang="en-US" b="0" i="1" smtClean="0">
                              <a:latin typeface="Cambria Math"/>
                            </a:rPr>
                            <m:t>𝐶</m:t>
                          </m:r>
                        </m:num>
                        <m:den>
                          <m:r>
                            <a:rPr lang="en-US" b="0" i="1" smtClean="0">
                              <a:latin typeface="Cambria Math"/>
                            </a:rPr>
                            <m:t>𝐷</m:t>
                          </m:r>
                        </m:den>
                      </m:f>
                      <m:r>
                        <a:rPr lang="en-US" b="0" i="1" smtClean="0">
                          <a:latin typeface="Cambria Math"/>
                        </a:rPr>
                        <m:t>=</m:t>
                      </m:r>
                      <m:f>
                        <m:fPr>
                          <m:ctrlPr>
                            <a:rPr lang="en-US" b="0" i="1" smtClean="0">
                              <a:latin typeface="Cambria Math"/>
                            </a:rPr>
                          </m:ctrlPr>
                        </m:fPr>
                        <m:num>
                          <m:r>
                            <a:rPr lang="en-US" b="0" i="1" smtClean="0">
                              <a:latin typeface="Cambria Math"/>
                            </a:rPr>
                            <m:t>𝐵</m:t>
                          </m:r>
                        </m:num>
                        <m:den>
                          <m:r>
                            <a:rPr lang="en-US" altLang="zh-CN" b="0" i="1" smtClean="0">
                              <a:latin typeface="Cambria Math"/>
                            </a:rPr>
                            <m:t>𝐴</m:t>
                          </m:r>
                        </m:den>
                      </m:f>
                    </m:oMath>
                  </m:oMathPara>
                </a14:m>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1507868" y="4042200"/>
                <a:ext cx="1224136" cy="610936"/>
              </a:xfrm>
              <a:prstGeom prst="rect">
                <a:avLst/>
              </a:prstGeom>
              <a:blipFill rotWithShape="1">
                <a:blip r:embed="rId2"/>
                <a:stretch>
                  <a:fillRect/>
                </a:stretch>
              </a:blipFill>
            </p:spPr>
            <p:txBody>
              <a:bodyPr/>
              <a:lstStyle/>
              <a:p>
                <a:r>
                  <a:rPr lang="en-US">
                    <a:noFill/>
                  </a:rPr>
                  <a:t> </a:t>
                </a:r>
                <a:endParaRPr lang="en-US">
                  <a:noFill/>
                </a:endParaRP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619672" y="5247504"/>
                <a:ext cx="1904420"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l-GR" altLang="zh-CN" b="0" i="1" dirty="0" smtClean="0">
                          <a:latin typeface="Cambria Math"/>
                        </a:rPr>
                        <m:t>𝜋</m:t>
                      </m:r>
                      <m:r>
                        <a:rPr lang="en-US" altLang="zh-CN" b="0" i="1" dirty="0" smtClean="0">
                          <a:latin typeface="Cambria Math"/>
                        </a:rPr>
                        <m:t>=4</m:t>
                      </m:r>
                      <m:r>
                        <a:rPr lang="el-GR" altLang="zh-CN" i="1" dirty="0" smtClean="0">
                          <a:latin typeface="Cambria Math"/>
                          <a:ea typeface="Cambria Math"/>
                        </a:rPr>
                        <m:t>×</m:t>
                      </m:r>
                      <m:f>
                        <m:fPr>
                          <m:ctrlPr>
                            <a:rPr lang="el-GR" altLang="zh-CN" i="1" dirty="0">
                              <a:latin typeface="Cambria Math"/>
                            </a:rPr>
                          </m:ctrlPr>
                        </m:fPr>
                        <m:num>
                          <m:r>
                            <a:rPr lang="en-US" altLang="zh-CN" i="1" dirty="0">
                              <a:latin typeface="Cambria Math"/>
                            </a:rPr>
                            <m:t>𝐶</m:t>
                          </m:r>
                        </m:num>
                        <m:den>
                          <m:r>
                            <a:rPr lang="en-US" altLang="zh-CN" i="1" dirty="0">
                              <a:latin typeface="Cambria Math"/>
                            </a:rPr>
                            <m:t>𝐷</m:t>
                          </m:r>
                        </m:den>
                      </m:f>
                    </m:oMath>
                  </m:oMathPara>
                </a14:m>
                <a:endParaRPr lang="en-US" dirty="0"/>
              </a:p>
            </p:txBody>
          </p:sp>
        </mc:Choice>
        <mc:Fallback>
          <p:sp>
            <p:nvSpPr>
              <p:cNvPr id="10" name="TextBox 9"/>
              <p:cNvSpPr txBox="1">
                <a:spLocks noRot="1" noChangeAspect="1" noMove="1" noResize="1" noEditPoints="1" noAdjustHandles="1" noChangeArrowheads="1" noChangeShapeType="1" noTextEdit="1"/>
              </p:cNvSpPr>
              <p:nvPr/>
            </p:nvSpPr>
            <p:spPr>
              <a:xfrm>
                <a:off x="1619672" y="5247504"/>
                <a:ext cx="1904420" cy="610936"/>
              </a:xfrm>
              <a:prstGeom prst="rect">
                <a:avLst/>
              </a:prstGeom>
              <a:blipFill rotWithShape="1">
                <a:blip r:embed="rId3"/>
                <a:stretch>
                  <a:fillRect/>
                </a:stretch>
              </a:blipFill>
            </p:spPr>
            <p:txBody>
              <a:bodyPr/>
              <a:lstStyle/>
              <a:p>
                <a:r>
                  <a:rPr lang="en-US">
                    <a:noFill/>
                  </a:rPr>
                  <a:t> </a:t>
                </a:r>
                <a:endParaRPr 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99" y="548680"/>
            <a:ext cx="8229600" cy="638831"/>
          </a:xfrm>
        </p:spPr>
        <p:txBody>
          <a:bodyPr>
            <a:normAutofit fontScale="90000"/>
          </a:bodyPr>
          <a:lstStyle/>
          <a:p>
            <a:r>
              <a:rPr lang="zh-CN" altLang="en-US" dirty="0"/>
              <a:t>例</a:t>
            </a:r>
            <a:r>
              <a:rPr lang="en-US" altLang="zh-CN" dirty="0"/>
              <a:t>2</a:t>
            </a:r>
            <a:r>
              <a:rPr lang="zh-CN" altLang="en-US" dirty="0" smtClean="0"/>
              <a:t>：</a:t>
            </a:r>
            <a:r>
              <a:rPr lang="zh-CN" altLang="en-US" dirty="0"/>
              <a:t>计算</a:t>
            </a:r>
            <a:r>
              <a:rPr lang="zh-CN" altLang="en-US" dirty="0" smtClean="0"/>
              <a:t>阴影部分面积</a:t>
            </a:r>
            <a:endParaRPr lang="en-US" dirty="0"/>
          </a:p>
        </p:txBody>
      </p:sp>
      <p:sp>
        <p:nvSpPr>
          <p:cNvPr id="3" name="Content Placeholder 2"/>
          <p:cNvSpPr>
            <a:spLocks noGrp="1"/>
          </p:cNvSpPr>
          <p:nvPr>
            <p:ph idx="1"/>
          </p:nvPr>
        </p:nvSpPr>
        <p:spPr>
          <a:xfrm>
            <a:off x="457200" y="1624498"/>
            <a:ext cx="3898776" cy="4700102"/>
          </a:xfrm>
        </p:spPr>
        <p:txBody>
          <a:bodyPr/>
          <a:lstStyle/>
          <a:p>
            <a:r>
              <a:rPr lang="zh-CN" altLang="en-US" sz="2400" dirty="0"/>
              <a:t>乍看似乎有些难，</a:t>
            </a:r>
            <a:r>
              <a:rPr lang="zh-CN" altLang="en-US" sz="2400" dirty="0" smtClean="0"/>
              <a:t>但有了前面的基础就不难了。</a:t>
            </a:r>
            <a:endParaRPr lang="en-US" altLang="zh-CN" sz="2400" dirty="0" smtClean="0"/>
          </a:p>
          <a:p>
            <a:endParaRPr lang="en-US" altLang="zh-CN" sz="2400" dirty="0" smtClean="0"/>
          </a:p>
          <a:p>
            <a:r>
              <a:rPr lang="zh-CN" altLang="en-US" dirty="0" smtClean="0"/>
              <a:t>思路：</a:t>
            </a:r>
            <a:r>
              <a:rPr lang="zh-CN" altLang="en-US" sz="2400" dirty="0"/>
              <a:t>考虑落在阴影这块面积上的雨点数</a:t>
            </a:r>
            <a:r>
              <a:rPr lang="en-US" altLang="zh-CN" sz="2400" dirty="0"/>
              <a:t>g</a:t>
            </a:r>
            <a:r>
              <a:rPr lang="zh-CN" altLang="en-US" sz="2400" dirty="0"/>
              <a:t>与落在正方形整体上的雨点数</a:t>
            </a:r>
            <a:r>
              <a:rPr lang="en-US" altLang="zh-CN" sz="2400" dirty="0"/>
              <a:t>d</a:t>
            </a:r>
            <a:r>
              <a:rPr lang="zh-CN" altLang="en-US" sz="2400" dirty="0"/>
              <a:t>的比</a:t>
            </a:r>
            <a:r>
              <a:rPr lang="zh-CN" altLang="en-US" sz="2400" dirty="0" smtClean="0"/>
              <a:t>就是阴影部分面积的</a:t>
            </a:r>
            <a:r>
              <a:rPr lang="zh-CN" altLang="en-US" sz="2400" dirty="0"/>
              <a:t>近似值。</a:t>
            </a:r>
            <a:endParaRPr lang="en-US" altLang="zh-CN" dirty="0" smtClean="0"/>
          </a:p>
        </p:txBody>
      </p:sp>
      <p:grpSp>
        <p:nvGrpSpPr>
          <p:cNvPr id="29" name="Group 28"/>
          <p:cNvGrpSpPr/>
          <p:nvPr/>
        </p:nvGrpSpPr>
        <p:grpSpPr>
          <a:xfrm>
            <a:off x="4054816" y="2492896"/>
            <a:ext cx="5015216" cy="4032448"/>
            <a:chOff x="4054816" y="1556792"/>
            <a:chExt cx="5015216" cy="4032448"/>
          </a:xfrm>
        </p:grpSpPr>
        <p:cxnSp>
          <p:nvCxnSpPr>
            <p:cNvPr id="7" name="Straight Arrow Connector 6"/>
            <p:cNvCxnSpPr/>
            <p:nvPr/>
          </p:nvCxnSpPr>
          <p:spPr>
            <a:xfrm>
              <a:off x="5436096" y="3645024"/>
              <a:ext cx="2664296" cy="0"/>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5796136" y="1556792"/>
              <a:ext cx="0" cy="2376264"/>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796136" y="2060848"/>
              <a:ext cx="1656184" cy="0"/>
            </a:xfrm>
            <a:prstGeom prst="line">
              <a:avLst/>
            </a:prstGeom>
            <a:ln w="34925">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452320" y="2060848"/>
              <a:ext cx="0" cy="1584176"/>
            </a:xfrm>
            <a:prstGeom prst="line">
              <a:avLst/>
            </a:prstGeom>
            <a:ln w="34925">
              <a:tailEnd type="none"/>
            </a:ln>
          </p:spPr>
          <p:style>
            <a:lnRef idx="1">
              <a:schemeClr val="accent1"/>
            </a:lnRef>
            <a:fillRef idx="0">
              <a:schemeClr val="accent1"/>
            </a:fillRef>
            <a:effectRef idx="0">
              <a:schemeClr val="accent1"/>
            </a:effectRef>
            <a:fontRef idx="minor">
              <a:schemeClr val="tx1"/>
            </a:fontRef>
          </p:style>
        </p:cxnSp>
        <p:sp>
          <p:nvSpPr>
            <p:cNvPr id="16" name="Arc 15"/>
            <p:cNvSpPr/>
            <p:nvPr/>
          </p:nvSpPr>
          <p:spPr>
            <a:xfrm>
              <a:off x="4054816" y="2060848"/>
              <a:ext cx="3397504" cy="3528392"/>
            </a:xfrm>
            <a:prstGeom prst="arc">
              <a:avLst>
                <a:gd name="adj1" fmla="val 16283238"/>
                <a:gd name="adj2" fmla="val 21248160"/>
              </a:avLst>
            </a:prstGeom>
            <a:ln w="34925">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p:cNvSpPr/>
            <p:nvPr/>
          </p:nvSpPr>
          <p:spPr>
            <a:xfrm>
              <a:off x="5794176" y="2060848"/>
              <a:ext cx="3275856" cy="3240360"/>
            </a:xfrm>
            <a:prstGeom prst="arc">
              <a:avLst>
                <a:gd name="adj1" fmla="val 10710085"/>
                <a:gd name="adj2" fmla="val 16210085"/>
              </a:avLst>
            </a:prstGeom>
            <a:ln w="34925">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p:cNvCxnSpPr/>
            <p:nvPr/>
          </p:nvCxnSpPr>
          <p:spPr>
            <a:xfrm>
              <a:off x="6300192" y="2060848"/>
              <a:ext cx="144016" cy="144016"/>
            </a:xfrm>
            <a:prstGeom prst="line">
              <a:avLst/>
            </a:prstGeom>
            <a:ln w="3492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444208" y="2060848"/>
              <a:ext cx="180020" cy="216024"/>
            </a:xfrm>
            <a:prstGeom prst="line">
              <a:avLst/>
            </a:prstGeom>
            <a:ln w="3492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88224" y="2060848"/>
              <a:ext cx="144016" cy="144016"/>
            </a:xfrm>
            <a:prstGeom prst="line">
              <a:avLst/>
            </a:prstGeom>
            <a:ln w="3492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768244" y="2060848"/>
              <a:ext cx="108012" cy="144016"/>
            </a:xfrm>
            <a:prstGeom prst="line">
              <a:avLst/>
            </a:prstGeom>
            <a:ln w="34925">
              <a:solidFill>
                <a:srgbClr val="FF0000"/>
              </a:solidFill>
              <a:tailEnd type="none"/>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7020272" y="2279023"/>
            <a:ext cx="1683151" cy="1293993"/>
            <a:chOff x="7020272" y="1342919"/>
            <a:chExt cx="1683151" cy="1293993"/>
          </a:xfrm>
        </p:grpSpPr>
        <p:cxnSp>
          <p:nvCxnSpPr>
            <p:cNvPr id="31" name="Straight Arrow Connector 30"/>
            <p:cNvCxnSpPr>
              <a:stCxn id="35" idx="2"/>
            </p:cNvCxnSpPr>
            <p:nvPr/>
          </p:nvCxnSpPr>
          <p:spPr>
            <a:xfrm flipH="1">
              <a:off x="7020272" y="1770665"/>
              <a:ext cx="877642" cy="866247"/>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TextBox 34"/>
                <p:cNvSpPr txBox="1"/>
                <p:nvPr/>
              </p:nvSpPr>
              <p:spPr>
                <a:xfrm>
                  <a:off x="7092405" y="1342919"/>
                  <a:ext cx="1611018" cy="42774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ad>
                          <m:radPr>
                            <m:degHide m:val="on"/>
                            <m:ctrlPr>
                              <a:rPr lang="en-US" i="1" smtClean="0">
                                <a:latin typeface="Cambria Math"/>
                              </a:rPr>
                            </m:ctrlPr>
                          </m:radPr>
                          <m:deg/>
                          <m:e>
                            <m:sSup>
                              <m:sSupPr>
                                <m:ctrlPr>
                                  <a:rPr lang="en-US" i="1" smtClean="0">
                                    <a:latin typeface="Cambria Math"/>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i="1" smtClean="0">
                                    <a:latin typeface="Cambria Math"/>
                                  </a:rPr>
                                </m:ctrlPr>
                              </m:sSupPr>
                              <m:e>
                                <m:r>
                                  <a:rPr lang="en-US" b="0" i="1" smtClean="0">
                                    <a:latin typeface="Cambria Math"/>
                                  </a:rPr>
                                  <m:t>𝑦</m:t>
                                </m:r>
                              </m:e>
                              <m:sup>
                                <m:r>
                                  <a:rPr lang="en-US" b="0" i="1" smtClean="0">
                                    <a:latin typeface="Cambria Math"/>
                                  </a:rPr>
                                  <m:t>2</m:t>
                                </m:r>
                              </m:sup>
                            </m:sSup>
                          </m:e>
                        </m:rad>
                        <m:r>
                          <a:rPr lang="en-US" b="0" i="1" smtClean="0">
                            <a:latin typeface="Cambria Math"/>
                          </a:rPr>
                          <m:t>=1</m:t>
                        </m:r>
                      </m:oMath>
                    </m:oMathPara>
                  </a14:m>
                  <a:endParaRPr lang="en-US" dirty="0"/>
                </a:p>
              </p:txBody>
            </p:sp>
          </mc:Choice>
          <mc:Fallback>
            <p:sp>
              <p:nvSpPr>
                <p:cNvPr id="35" name="TextBox 34"/>
                <p:cNvSpPr txBox="1">
                  <a:spLocks noRot="1" noChangeAspect="1" noMove="1" noResize="1" noEditPoints="1" noAdjustHandles="1" noChangeArrowheads="1" noChangeShapeType="1" noTextEdit="1"/>
                </p:cNvSpPr>
                <p:nvPr/>
              </p:nvSpPr>
              <p:spPr>
                <a:xfrm>
                  <a:off x="7092405" y="1342919"/>
                  <a:ext cx="1611018" cy="427746"/>
                </a:xfrm>
                <a:prstGeom prst="rect">
                  <a:avLst/>
                </a:prstGeom>
                <a:blipFill rotWithShape="1">
                  <a:blip r:embed="rId1"/>
                  <a:stretch>
                    <a:fillRect b="-5714"/>
                  </a:stretch>
                </a:blipFill>
              </p:spPr>
              <p:txBody>
                <a:bodyPr/>
                <a:lstStyle/>
                <a:p>
                  <a:r>
                    <a:rPr lang="en-US">
                      <a:noFill/>
                    </a:rPr>
                    <a:t> </a:t>
                  </a:r>
                  <a:endParaRPr lang="en-US">
                    <a:noFill/>
                  </a:endParaRPr>
                </a:p>
              </p:txBody>
            </p:sp>
          </mc:Fallback>
        </mc:AlternateContent>
      </p:grpSp>
      <p:grpSp>
        <p:nvGrpSpPr>
          <p:cNvPr id="40" name="Group 39"/>
          <p:cNvGrpSpPr/>
          <p:nvPr/>
        </p:nvGrpSpPr>
        <p:grpSpPr>
          <a:xfrm>
            <a:off x="3923929" y="2132856"/>
            <a:ext cx="2376264" cy="1296144"/>
            <a:chOff x="7092405" y="1342919"/>
            <a:chExt cx="1728067" cy="1051658"/>
          </a:xfrm>
        </p:grpSpPr>
        <p:cxnSp>
          <p:nvCxnSpPr>
            <p:cNvPr id="41" name="Straight Arrow Connector 40"/>
            <p:cNvCxnSpPr>
              <a:stCxn id="42" idx="2"/>
            </p:cNvCxnSpPr>
            <p:nvPr/>
          </p:nvCxnSpPr>
          <p:spPr>
            <a:xfrm>
              <a:off x="7892962" y="1689981"/>
              <a:ext cx="927510" cy="704596"/>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TextBox 41"/>
                <p:cNvSpPr txBox="1"/>
                <p:nvPr/>
              </p:nvSpPr>
              <p:spPr>
                <a:xfrm>
                  <a:off x="7092405" y="1342919"/>
                  <a:ext cx="1601115" cy="34706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ad>
                          <m:radPr>
                            <m:degHide m:val="on"/>
                            <m:ctrlPr>
                              <a:rPr lang="en-US" i="1" smtClean="0">
                                <a:latin typeface="Cambria Math"/>
                              </a:rPr>
                            </m:ctrlPr>
                          </m:radPr>
                          <m:deg/>
                          <m:e>
                            <m:r>
                              <a:rPr lang="en-US" b="0" i="1" smtClean="0">
                                <a:latin typeface="Cambria Math"/>
                              </a:rPr>
                              <m:t>(</m:t>
                            </m:r>
                            <m:sSup>
                              <m:sSupPr>
                                <m:ctrlPr>
                                  <a:rPr lang="en-US" i="1" smtClean="0">
                                    <a:latin typeface="Cambria Math"/>
                                  </a:rPr>
                                </m:ctrlPr>
                              </m:sSupPr>
                              <m:e>
                                <m:r>
                                  <a:rPr lang="en-US" b="0" i="1" smtClean="0">
                                    <a:latin typeface="Cambria Math"/>
                                  </a:rPr>
                                  <m:t>𝑥</m:t>
                                </m:r>
                                <m:r>
                                  <a:rPr lang="en-US" b="0" i="1" smtClean="0">
                                    <a:latin typeface="Cambria Math"/>
                                  </a:rPr>
                                  <m:t>−1)</m:t>
                                </m:r>
                              </m:e>
                              <m:sup>
                                <m:r>
                                  <a:rPr lang="en-US" b="0" i="1" smtClean="0">
                                    <a:latin typeface="Cambria Math"/>
                                  </a:rPr>
                                  <m:t>2</m:t>
                                </m:r>
                              </m:sup>
                            </m:sSup>
                            <m:r>
                              <a:rPr lang="en-US" b="0" i="1" smtClean="0">
                                <a:latin typeface="Cambria Math"/>
                              </a:rPr>
                              <m:t>+</m:t>
                            </m:r>
                            <m:sSup>
                              <m:sSupPr>
                                <m:ctrlPr>
                                  <a:rPr lang="en-US" i="1" smtClean="0">
                                    <a:latin typeface="Cambria Math"/>
                                  </a:rPr>
                                </m:ctrlPr>
                              </m:sSupPr>
                              <m:e>
                                <m:r>
                                  <a:rPr lang="en-US" b="0" i="1" smtClean="0">
                                    <a:latin typeface="Cambria Math"/>
                                  </a:rPr>
                                  <m:t>𝑦</m:t>
                                </m:r>
                              </m:e>
                              <m:sup>
                                <m:r>
                                  <a:rPr lang="en-US" b="0" i="1" smtClean="0">
                                    <a:latin typeface="Cambria Math"/>
                                  </a:rPr>
                                  <m:t>2</m:t>
                                </m:r>
                              </m:sup>
                            </m:sSup>
                          </m:e>
                        </m:rad>
                        <m:r>
                          <a:rPr lang="en-US" b="0" i="1" smtClean="0">
                            <a:latin typeface="Cambria Math"/>
                          </a:rPr>
                          <m:t>=1</m:t>
                        </m:r>
                      </m:oMath>
                    </m:oMathPara>
                  </a14:m>
                  <a:endParaRPr lang="en-US" dirty="0"/>
                </a:p>
              </p:txBody>
            </p:sp>
          </mc:Choice>
          <mc:Fallback>
            <p:sp>
              <p:nvSpPr>
                <p:cNvPr id="42" name="TextBox 41"/>
                <p:cNvSpPr txBox="1">
                  <a:spLocks noRot="1" noChangeAspect="1" noMove="1" noResize="1" noEditPoints="1" noAdjustHandles="1" noChangeArrowheads="1" noChangeShapeType="1" noTextEdit="1"/>
                </p:cNvSpPr>
                <p:nvPr/>
              </p:nvSpPr>
              <p:spPr>
                <a:xfrm>
                  <a:off x="7092405" y="1342919"/>
                  <a:ext cx="1601115" cy="347062"/>
                </a:xfrm>
                <a:prstGeom prst="rect">
                  <a:avLst/>
                </a:prstGeom>
                <a:blipFill rotWithShape="1">
                  <a:blip r:embed="rId2"/>
                  <a:stretch>
                    <a:fillRect b="-11429"/>
                  </a:stretch>
                </a:blipFill>
              </p:spPr>
              <p:txBody>
                <a:bodyPr/>
                <a:lstStyle/>
                <a:p>
                  <a:r>
                    <a:rPr lang="en-US">
                      <a:noFill/>
                    </a:rPr>
                    <a:t> </a:t>
                  </a:r>
                  <a:endParaRPr lang="en-US">
                    <a:noFill/>
                  </a:endParaRP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标题 172033"/>
          <p:cNvSpPr>
            <a:spLocks noGrp="1" noRot="1"/>
          </p:cNvSpPr>
          <p:nvPr>
            <p:ph type="title"/>
          </p:nvPr>
        </p:nvSpPr>
        <p:spPr>
          <a:xfrm>
            <a:off x="237490" y="333375"/>
            <a:ext cx="8229600" cy="582613"/>
          </a:xfrm>
        </p:spPr>
        <p:txBody>
          <a:bodyPr anchor="ctr"/>
          <a:p>
            <a:r>
              <a:rPr lang="zh-CN" altLang="en-US" dirty="0"/>
              <a:t>例</a:t>
            </a:r>
            <a:r>
              <a:rPr lang="en-US" altLang="zh-CN" dirty="0"/>
              <a:t>3</a:t>
            </a:r>
            <a:r>
              <a:rPr lang="zh-CN" altLang="en-US" dirty="0"/>
              <a:t>：项目风险案例分析 </a:t>
            </a:r>
            <a:endParaRPr lang="zh-CN" altLang="en-US" dirty="0"/>
          </a:p>
        </p:txBody>
      </p:sp>
      <p:sp>
        <p:nvSpPr>
          <p:cNvPr id="172035" name="文本占位符 172034"/>
          <p:cNvSpPr>
            <a:spLocks noGrp="1" noRot="1"/>
          </p:cNvSpPr>
          <p:nvPr>
            <p:ph type="body" idx="1"/>
          </p:nvPr>
        </p:nvSpPr>
        <p:spPr>
          <a:xfrm>
            <a:off x="237490" y="1196975"/>
            <a:ext cx="8229600" cy="4953000"/>
          </a:xfrm>
        </p:spPr>
        <p:txBody>
          <a:bodyPr/>
          <a:p>
            <a:pPr>
              <a:buNone/>
            </a:pPr>
            <a:r>
              <a:rPr lang="en-US" altLang="zh-CN" dirty="0"/>
              <a:t>         </a:t>
            </a:r>
            <a:r>
              <a:rPr lang="zh-CN" altLang="en-US" sz="3000" dirty="0"/>
              <a:t>现以成都某房地产开发公司对一综合开发用地进行投资开发为例，用基于蒙特卡罗模拟方法为原理的 </a:t>
            </a:r>
            <a:r>
              <a:rPr lang="en-US" altLang="zh-CN" sz="3000" dirty="0"/>
              <a:t>EXCEL </a:t>
            </a:r>
            <a:r>
              <a:rPr lang="zh-CN" altLang="en-US" sz="3000" dirty="0"/>
              <a:t>插件</a:t>
            </a:r>
            <a:r>
              <a:rPr lang="en-US" altLang="zh-CN" sz="3000">
                <a:latin typeface="Arial" panose="020B0604020202020204" pitchFamily="34" charset="0"/>
              </a:rPr>
              <a:t>——</a:t>
            </a:r>
            <a:r>
              <a:rPr lang="en-US" altLang="zh-CN" sz="3000" dirty="0"/>
              <a:t>Crystal Ball</a:t>
            </a:r>
            <a:r>
              <a:rPr lang="zh-CN" altLang="en-US" sz="3000" dirty="0"/>
              <a:t>工具对该开发项目进行风险决策分析。</a:t>
            </a:r>
            <a:endParaRPr lang="zh-CN" altLang="en-US" sz="3000" dirty="0"/>
          </a:p>
          <a:p>
            <a:pPr>
              <a:buNone/>
            </a:pPr>
            <a:r>
              <a:rPr lang="zh-CN" altLang="en-US" sz="3000" dirty="0"/>
              <a:t>        一、项目概况和基本数据的确定 </a:t>
            </a:r>
            <a:endParaRPr lang="zh-CN" alt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3" name="文本占位符 230402"/>
          <p:cNvSpPr>
            <a:spLocks noGrp="1" noRot="1"/>
          </p:cNvSpPr>
          <p:nvPr>
            <p:ph type="body" idx="1"/>
          </p:nvPr>
        </p:nvSpPr>
        <p:spPr>
          <a:xfrm>
            <a:off x="269875" y="620713"/>
            <a:ext cx="8229600" cy="5005387"/>
          </a:xfrm>
        </p:spPr>
        <p:txBody>
          <a:bodyPr/>
          <a:p>
            <a:pPr>
              <a:buNone/>
            </a:pPr>
            <a:r>
              <a:rPr lang="en-US" altLang="zh-CN" dirty="0"/>
              <a:t>        </a:t>
            </a:r>
            <a:r>
              <a:rPr lang="zh-CN" altLang="en-US" dirty="0"/>
              <a:t>该项目位于成都市锦江区，占地面积 </a:t>
            </a:r>
            <a:r>
              <a:rPr lang="en-US" altLang="zh-CN" dirty="0"/>
              <a:t>47 </a:t>
            </a:r>
            <a:r>
              <a:rPr lang="zh-CN" altLang="en-US" dirty="0"/>
              <a:t>亩；该房地产公司根据市场状况调查，结合该地块的规划说明，在做了充分的方案设计之后，确定了两套主要的投资方案。</a:t>
            </a:r>
            <a:endParaRPr lang="zh-CN" altLang="en-US" dirty="0"/>
          </a:p>
          <a:p>
            <a:pPr>
              <a:buNone/>
            </a:pPr>
            <a:r>
              <a:rPr lang="zh-CN" altLang="en-US" dirty="0"/>
              <a:t>         甲方案：该地块主要以小高层电梯住宅开发为主，辅以车库和部分商业配套设施，开发期共三年。甲方案预测出的的主要经济技术指标见表</a:t>
            </a:r>
            <a:r>
              <a:rPr lang="en-US" altLang="zh-CN" dirty="0"/>
              <a:t>5-1</a:t>
            </a:r>
            <a:r>
              <a:rPr lang="zh-CN" altLang="en-US" dirty="0"/>
              <a:t>。 </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866" name="标题 227865"/>
          <p:cNvSpPr>
            <a:spLocks noGrp="1" noRot="1"/>
          </p:cNvSpPr>
          <p:nvPr>
            <p:ph type="title"/>
          </p:nvPr>
        </p:nvSpPr>
        <p:spPr>
          <a:xfrm>
            <a:off x="215900" y="135890"/>
            <a:ext cx="8229600" cy="582613"/>
          </a:xfrm>
        </p:spPr>
        <p:txBody>
          <a:bodyPr anchor="ctr"/>
          <a:p>
            <a:r>
              <a:rPr lang="zh-CN" altLang="en-US" sz="2800" dirty="0"/>
              <a:t>表</a:t>
            </a:r>
            <a:r>
              <a:rPr lang="en-US" altLang="zh-CN" sz="2800" dirty="0"/>
              <a:t>5-1 </a:t>
            </a:r>
            <a:r>
              <a:rPr lang="zh-CN" altLang="en-US" sz="2800" dirty="0"/>
              <a:t>甲方案的主要经济技术指标</a:t>
            </a:r>
            <a:r>
              <a:rPr lang="zh-CN" altLang="en-US" dirty="0"/>
              <a:t> </a:t>
            </a:r>
            <a:endParaRPr lang="zh-CN" altLang="en-US" dirty="0"/>
          </a:p>
        </p:txBody>
      </p:sp>
      <p:graphicFrame>
        <p:nvGraphicFramePr>
          <p:cNvPr id="227882" name="内容占位符 227881"/>
          <p:cNvGraphicFramePr/>
          <p:nvPr>
            <p:ph idx="1"/>
          </p:nvPr>
        </p:nvGraphicFramePr>
        <p:xfrm>
          <a:off x="369570" y="895033"/>
          <a:ext cx="8229600" cy="5259705"/>
        </p:xfrm>
        <a:graphic>
          <a:graphicData uri="http://schemas.openxmlformats.org/drawingml/2006/table">
            <a:tbl>
              <a:tblPr/>
              <a:tblGrid>
                <a:gridCol w="658813"/>
                <a:gridCol w="2881312"/>
                <a:gridCol w="1173163"/>
                <a:gridCol w="1238250"/>
                <a:gridCol w="1238250"/>
                <a:gridCol w="1039812"/>
              </a:tblGrid>
              <a:tr h="513080">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序号</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项目</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合计</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建设经营期</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651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一</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现金流入</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45306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18064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27242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销售收入</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45306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18064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27242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二</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现金流出</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41353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12329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12747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开发建设投资</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26583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8502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1804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营业税金及附加</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2514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1003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1512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土地增值税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2292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2292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所得税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9964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2825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7139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三</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净现金流量（税后）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3953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5735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14495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累计净现金流量（税后）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-10542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3953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四</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现值系数（</a:t>
                      </a:r>
                      <a:r>
                        <a:rPr lang="en-US" altLang="zh-CN" sz="1800">
                          <a:latin typeface="Times New Roman" panose="02020603050405020304" pitchFamily="2" charset="0"/>
                        </a:rPr>
                        <a:t>i=10%)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0.909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0.826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五</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净现值（税后）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915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5214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11979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累计净现值（税后）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-16277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-11064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915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7" name="文本占位符 226306"/>
          <p:cNvSpPr>
            <a:spLocks noGrp="1" noRot="1"/>
          </p:cNvSpPr>
          <p:nvPr>
            <p:ph type="body" idx="1"/>
          </p:nvPr>
        </p:nvSpPr>
        <p:spPr>
          <a:xfrm>
            <a:off x="259715" y="615950"/>
            <a:ext cx="8229600" cy="4953000"/>
          </a:xfrm>
        </p:spPr>
        <p:txBody>
          <a:bodyPr/>
          <a:p>
            <a:pPr>
              <a:buNone/>
            </a:pPr>
            <a:r>
              <a:rPr lang="en-US" altLang="zh-CN" dirty="0"/>
              <a:t>        </a:t>
            </a:r>
            <a:r>
              <a:rPr lang="en-US" altLang="zh-CN" sz="4000" dirty="0"/>
              <a:t>   </a:t>
            </a:r>
            <a:r>
              <a:rPr lang="zh-CN" altLang="en-US" sz="4000" dirty="0"/>
              <a:t>乙方案：将该地块开发为商业类地产为主，外设露天停车场，配以部分小户型电梯公寓，开发期仍为三年。乙方案预测出的的主要经济技术指标见表</a:t>
            </a:r>
            <a:r>
              <a:rPr lang="en-US" altLang="zh-CN" sz="4000" dirty="0"/>
              <a:t>5-2</a:t>
            </a:r>
            <a:r>
              <a:rPr lang="zh-CN" altLang="en-US" sz="4000" dirty="0"/>
              <a:t>。</a:t>
            </a:r>
            <a:r>
              <a:rPr lang="zh-CN" altLang="en-US" sz="4400" dirty="0"/>
              <a:t> </a:t>
            </a:r>
            <a:endParaRPr lang="zh-CN" altLang="en-US" sz="4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标题 225281"/>
          <p:cNvSpPr>
            <a:spLocks noGrp="1" noRot="1"/>
          </p:cNvSpPr>
          <p:nvPr>
            <p:ph type="title"/>
          </p:nvPr>
        </p:nvSpPr>
        <p:spPr>
          <a:xfrm>
            <a:off x="259715" y="124460"/>
            <a:ext cx="8229600" cy="582613"/>
          </a:xfrm>
        </p:spPr>
        <p:txBody>
          <a:bodyPr anchor="ctr"/>
          <a:p>
            <a:r>
              <a:rPr lang="zh-CN" altLang="en-US" sz="2800" dirty="0"/>
              <a:t>表</a:t>
            </a:r>
            <a:r>
              <a:rPr lang="en-US" altLang="zh-CN" sz="2800" dirty="0"/>
              <a:t>5-2 </a:t>
            </a:r>
            <a:r>
              <a:rPr lang="zh-CN" altLang="en-US" sz="2800" dirty="0"/>
              <a:t>乙方案的主要经济技术指标</a:t>
            </a:r>
            <a:r>
              <a:rPr lang="zh-CN" altLang="en-US" dirty="0"/>
              <a:t> </a:t>
            </a:r>
            <a:endParaRPr lang="zh-CN" altLang="en-US" dirty="0"/>
          </a:p>
        </p:txBody>
      </p:sp>
      <p:graphicFrame>
        <p:nvGraphicFramePr>
          <p:cNvPr id="225827" name="内容占位符 225826"/>
          <p:cNvGraphicFramePr/>
          <p:nvPr>
            <p:ph idx="1"/>
          </p:nvPr>
        </p:nvGraphicFramePr>
        <p:xfrm>
          <a:off x="457200" y="868363"/>
          <a:ext cx="8229600" cy="5112385"/>
        </p:xfrm>
        <a:graphic>
          <a:graphicData uri="http://schemas.openxmlformats.org/drawingml/2006/table">
            <a:tbl>
              <a:tblPr/>
              <a:tblGrid>
                <a:gridCol w="647700"/>
                <a:gridCol w="2892425"/>
                <a:gridCol w="1171575"/>
                <a:gridCol w="1173163"/>
                <a:gridCol w="1171575"/>
                <a:gridCol w="1173162"/>
              </a:tblGrid>
              <a:tr h="365760">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序号</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项目</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合计</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建设经营期</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651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2007</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一</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现金流入</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54660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32082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21840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销售收入</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54660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32082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21840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二</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现金流出</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49215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19391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12196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开发建设投资</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30626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10955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2043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营业税金及附加</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3034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1822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1212</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3</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土地增值税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4190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4190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所得税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11365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6614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4750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三</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净现金流量（税后）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5445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13429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9644</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累计净现金流量（税后）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-4199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5445</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四</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现值系数（</a:t>
                      </a:r>
                      <a:r>
                        <a:rPr lang="en-US" altLang="zh-CN" sz="1800">
                          <a:latin typeface="Times New Roman" panose="02020603050405020304" pitchFamily="2" charset="0"/>
                        </a:rPr>
                        <a:t>i=10%)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0.909</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0.826</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五</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净现值（税后）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2550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12208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7970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800" dirty="0">
                          <a:latin typeface="Times New Roman" panose="02020603050405020304" pitchFamily="2" charset="0"/>
                        </a:rPr>
                        <a:t>累计净现值（税后）</a:t>
                      </a: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-17628</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-5420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1800">
                          <a:latin typeface="Times New Roman" panose="02020603050405020304" pitchFamily="2" charset="0"/>
                        </a:rPr>
                        <a:t>2550</a:t>
                      </a:r>
                      <a:endParaRPr lang="zh-CN" altLang="en-US" sz="18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9" name="文本占位符 224258"/>
          <p:cNvSpPr>
            <a:spLocks noGrp="1" noRot="1"/>
          </p:cNvSpPr>
          <p:nvPr>
            <p:ph type="body" idx="1"/>
          </p:nvPr>
        </p:nvSpPr>
        <p:spPr>
          <a:xfrm>
            <a:off x="106363" y="381000"/>
            <a:ext cx="8229600" cy="5726113"/>
          </a:xfrm>
        </p:spPr>
        <p:txBody>
          <a:bodyPr/>
          <a:p>
            <a:pPr>
              <a:buNone/>
            </a:pPr>
            <a:r>
              <a:rPr lang="en-US" altLang="zh-CN" sz="2800" dirty="0"/>
              <a:t>         </a:t>
            </a:r>
            <a:r>
              <a:rPr lang="zh-CN" altLang="en-US" sz="2800" dirty="0"/>
              <a:t>根据该表 </a:t>
            </a:r>
            <a:r>
              <a:rPr lang="en-US" altLang="zh-CN" sz="2800" dirty="0"/>
              <a:t>5-1 </a:t>
            </a:r>
            <a:r>
              <a:rPr lang="zh-CN" altLang="en-US" sz="2800" dirty="0"/>
              <a:t>第五项，我们可以得出甲方案的财务净现值</a:t>
            </a:r>
            <a:r>
              <a:rPr lang="en-US" altLang="zh-CN" sz="2800" dirty="0"/>
              <a:t>NPV =915 </a:t>
            </a:r>
            <a:r>
              <a:rPr lang="zh-CN" altLang="en-US" sz="2800" dirty="0"/>
              <a:t>万元，同样根据该表 </a:t>
            </a:r>
            <a:r>
              <a:rPr lang="en-US" altLang="zh-CN" sz="2800" dirty="0"/>
              <a:t>5-2 </a:t>
            </a:r>
            <a:r>
              <a:rPr lang="zh-CN" altLang="en-US" sz="2800" dirty="0"/>
              <a:t>第五项，我们可以得出乙方案的财务净现值</a:t>
            </a:r>
            <a:r>
              <a:rPr lang="en-US" altLang="zh-CN" sz="2800" dirty="0"/>
              <a:t>NPV =2550 </a:t>
            </a:r>
            <a:r>
              <a:rPr lang="zh-CN" altLang="en-US" sz="2800" dirty="0"/>
              <a:t>万元。通过对两种方案动态财务指标的比较，我们可以很明确的断定采用乙方案将是开发商最佳的选择。但不容忽略的一点是，以商业类开发为主的乙方案，在销售期间，销售面积和销售价格具有较大的不确定性；而以住宅类开发为主的甲方案在对未来的销售面积和销售价格方面将有更大的把握度。仅从这点上我们就可以判断乙方案的风险大于甲方案。为了做出精准的判断，需要在此基础之上进行更精准的风险分析。 </a:t>
            </a:r>
            <a:endParaRPr lang="zh-CN"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标题 243713"/>
          <p:cNvSpPr>
            <a:spLocks noGrp="1" noRot="1"/>
          </p:cNvSpPr>
          <p:nvPr>
            <p:ph type="title"/>
          </p:nvPr>
        </p:nvSpPr>
        <p:spPr>
          <a:xfrm>
            <a:off x="142875" y="42545"/>
            <a:ext cx="8540750" cy="920750"/>
          </a:xfrm>
        </p:spPr>
        <p:txBody>
          <a:bodyPr anchor="ctr"/>
          <a:p>
            <a:r>
              <a:rPr lang="zh-CN" altLang="en-US" sz="3400" dirty="0"/>
              <a:t>二、采用蒙特卡罗方法进行风险决策分析</a:t>
            </a:r>
            <a:r>
              <a:rPr lang="zh-CN" altLang="en-US" dirty="0"/>
              <a:t> </a:t>
            </a:r>
            <a:endParaRPr lang="zh-CN" altLang="en-US" dirty="0"/>
          </a:p>
        </p:txBody>
      </p:sp>
      <p:sp>
        <p:nvSpPr>
          <p:cNvPr id="243715" name="文本占位符 243714"/>
          <p:cNvSpPr>
            <a:spLocks noGrp="1" noRot="1"/>
          </p:cNvSpPr>
          <p:nvPr>
            <p:ph type="body" idx="1"/>
          </p:nvPr>
        </p:nvSpPr>
        <p:spPr>
          <a:xfrm>
            <a:off x="298133" y="1072198"/>
            <a:ext cx="8229600" cy="5005387"/>
          </a:xfrm>
        </p:spPr>
        <p:txBody>
          <a:bodyPr/>
          <a:p>
            <a:pPr>
              <a:buNone/>
            </a:pPr>
            <a:r>
              <a:rPr lang="zh-CN" altLang="en-US" sz="2800" dirty="0"/>
              <a:t>（一）、识别项目风险 </a:t>
            </a:r>
            <a:endParaRPr lang="zh-CN" altLang="en-US" sz="2800" dirty="0"/>
          </a:p>
          <a:p>
            <a:pPr>
              <a:buNone/>
            </a:pPr>
            <a:r>
              <a:rPr lang="zh-CN" altLang="en-US" sz="2800" dirty="0"/>
              <a:t>         在投资开发项目时，实际情况千差万别，重要的风险变量也各不相同，这就需要分析人员根据项目的具体情况，运用适当的风险辨识的方法从影响投资的众多因素中找出关键的风险变量。本案例采用“德尔菲法”确定影响该项目的</a:t>
            </a:r>
            <a:r>
              <a:rPr lang="en-US" altLang="zh-CN" sz="2800" dirty="0"/>
              <a:t>7</a:t>
            </a:r>
            <a:r>
              <a:rPr lang="zh-CN" altLang="en-US" sz="2800" dirty="0"/>
              <a:t>个主要风险变量：住宅销售收入（</a:t>
            </a:r>
            <a:r>
              <a:rPr lang="en-US" altLang="zh-CN" sz="2800" dirty="0"/>
              <a:t>P1*S1</a:t>
            </a:r>
            <a:r>
              <a:rPr lang="zh-CN" altLang="en-US" sz="2800" dirty="0"/>
              <a:t>）、商业销售收入（</a:t>
            </a:r>
            <a:r>
              <a:rPr lang="en-US" altLang="zh-CN" sz="2800" dirty="0"/>
              <a:t>P2*S2</a:t>
            </a:r>
            <a:r>
              <a:rPr lang="zh-CN" altLang="en-US" sz="2800" dirty="0"/>
              <a:t>）、土地费用（</a:t>
            </a:r>
            <a:r>
              <a:rPr lang="en-US" altLang="zh-CN" sz="2800" dirty="0"/>
              <a:t>K1</a:t>
            </a:r>
            <a:r>
              <a:rPr lang="zh-CN" altLang="en-US" sz="2800" dirty="0"/>
              <a:t>）、前期费用（</a:t>
            </a:r>
            <a:r>
              <a:rPr lang="en-US" altLang="zh-CN" sz="2800" dirty="0"/>
              <a:t>K2</a:t>
            </a:r>
            <a:r>
              <a:rPr lang="zh-CN" altLang="en-US" sz="2800" dirty="0"/>
              <a:t>）、开发建设费用（</a:t>
            </a:r>
            <a:r>
              <a:rPr lang="en-US" altLang="zh-CN" sz="2800" dirty="0"/>
              <a:t>K3</a:t>
            </a:r>
            <a:r>
              <a:rPr lang="zh-CN" altLang="en-US" sz="2800" dirty="0"/>
              <a:t>）、营销费用（</a:t>
            </a:r>
            <a:r>
              <a:rPr lang="en-US" altLang="zh-CN" sz="2800" dirty="0"/>
              <a:t>K4</a:t>
            </a:r>
            <a:r>
              <a:rPr lang="zh-CN" altLang="en-US" sz="2800" dirty="0"/>
              <a:t>）、其他费用（</a:t>
            </a:r>
            <a:r>
              <a:rPr lang="en-US" altLang="zh-CN" sz="2800" dirty="0"/>
              <a:t>K5</a:t>
            </a:r>
            <a:r>
              <a:rPr lang="zh-CN" altLang="en-US" sz="2800" dirty="0"/>
              <a:t>）。 </a:t>
            </a:r>
            <a:endParaRPr lang="zh-CN"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7" name="文本占位符 246786"/>
          <p:cNvSpPr>
            <a:spLocks noGrp="1" noRot="1"/>
          </p:cNvSpPr>
          <p:nvPr>
            <p:ph type="body" idx="1"/>
          </p:nvPr>
        </p:nvSpPr>
        <p:spPr>
          <a:xfrm>
            <a:off x="44133" y="668973"/>
            <a:ext cx="8229600" cy="4706937"/>
          </a:xfrm>
        </p:spPr>
        <p:txBody>
          <a:bodyPr/>
          <a:p>
            <a:pPr>
              <a:buNone/>
            </a:pPr>
            <a:r>
              <a:rPr lang="en-US" altLang="zh-CN" sz="4400" dirty="0"/>
              <a:t>      </a:t>
            </a:r>
            <a:r>
              <a:rPr lang="zh-CN" altLang="en-US" sz="3800" dirty="0"/>
              <a:t>（二）、确定每个风险变量的概率分布</a:t>
            </a:r>
            <a:endParaRPr lang="zh-CN" altLang="en-US" sz="3800" dirty="0"/>
          </a:p>
          <a:p>
            <a:pPr>
              <a:buNone/>
            </a:pPr>
            <a:r>
              <a:rPr lang="zh-CN" altLang="en-US" sz="3800" dirty="0"/>
              <a:t>        同样采用“德尔菲法”估计出以上 </a:t>
            </a:r>
            <a:r>
              <a:rPr lang="en-US" altLang="zh-CN" sz="3800" dirty="0"/>
              <a:t>7 </a:t>
            </a:r>
            <a:r>
              <a:rPr lang="zh-CN" altLang="en-US" sz="3800" dirty="0"/>
              <a:t>个风险变量概率分布和其分布函数中的具体参数</a:t>
            </a:r>
            <a:r>
              <a:rPr lang="en-US" altLang="zh-CN" sz="3800" dirty="0"/>
              <a:t>,</a:t>
            </a:r>
            <a:r>
              <a:rPr lang="zh-CN" altLang="en-US" sz="3800" dirty="0"/>
              <a:t>如下表所示：</a:t>
            </a:r>
            <a:r>
              <a:rPr lang="zh-CN" altLang="en-US" dirty="0"/>
              <a:t> </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235" name="标题 246234"/>
          <p:cNvSpPr>
            <a:spLocks noGrp="1" noRot="1"/>
          </p:cNvSpPr>
          <p:nvPr>
            <p:ph type="title"/>
          </p:nvPr>
        </p:nvSpPr>
        <p:spPr>
          <a:xfrm>
            <a:off x="468313" y="-242887"/>
            <a:ext cx="8229600" cy="935037"/>
          </a:xfrm>
        </p:spPr>
        <p:txBody>
          <a:bodyPr anchor="ctr"/>
          <a:p>
            <a:r>
              <a:rPr lang="zh-CN" altLang="en-US" sz="2400" dirty="0"/>
              <a:t>表</a:t>
            </a:r>
            <a:r>
              <a:rPr lang="en-US" altLang="zh-CN" sz="2400" dirty="0"/>
              <a:t>5-3 </a:t>
            </a:r>
            <a:r>
              <a:rPr lang="zh-CN" altLang="en-US" sz="2400" dirty="0"/>
              <a:t>甲方案风险变量概率分布</a:t>
            </a:r>
            <a:r>
              <a:rPr lang="zh-CN" altLang="en-US" dirty="0"/>
              <a:t> </a:t>
            </a:r>
            <a:endParaRPr lang="zh-CN" altLang="en-US" dirty="0"/>
          </a:p>
        </p:txBody>
      </p:sp>
      <p:graphicFrame>
        <p:nvGraphicFramePr>
          <p:cNvPr id="246250" name="内容占位符 246249"/>
          <p:cNvGraphicFramePr/>
          <p:nvPr>
            <p:ph idx="1"/>
          </p:nvPr>
        </p:nvGraphicFramePr>
        <p:xfrm>
          <a:off x="468630" y="555308"/>
          <a:ext cx="8229600" cy="6029642"/>
        </p:xfrm>
        <a:graphic>
          <a:graphicData uri="http://schemas.openxmlformats.org/drawingml/2006/table">
            <a:tbl>
              <a:tblPr/>
              <a:tblGrid>
                <a:gridCol w="2405063"/>
                <a:gridCol w="1392237"/>
                <a:gridCol w="4432300"/>
              </a:tblGrid>
              <a:tr h="335280">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600" dirty="0">
                          <a:latin typeface="Times New Roman" panose="02020603050405020304" pitchFamily="2" charset="0"/>
                        </a:rPr>
                        <a:t>第一年</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参数</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住宅类销售收入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商业类销售收入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土地费用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均匀分布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a:latin typeface="Times New Roman" panose="02020603050405020304" pitchFamily="2" charset="0"/>
                        </a:rPr>
                        <a:t>11182  b:12105</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前期费用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911  </a:t>
                      </a:r>
                      <a:r>
                        <a:rPr lang="zh-CN" altLang="en-US" sz="1600" dirty="0">
                          <a:latin typeface="Times New Roman" panose="02020603050405020304" pitchFamily="2" charset="0"/>
                        </a:rPr>
                        <a:t>方差：</a:t>
                      </a:r>
                      <a:r>
                        <a:rPr lang="en-US" altLang="zh-CN" sz="1600">
                          <a:latin typeface="Times New Roman" panose="02020603050405020304" pitchFamily="2" charset="0"/>
                        </a:rPr>
                        <a:t>50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开发建设费用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3112 b</a:t>
                      </a:r>
                      <a:r>
                        <a:rPr lang="zh-CN" altLang="en-US" sz="1600" dirty="0">
                          <a:latin typeface="Times New Roman" panose="02020603050405020304" pitchFamily="2" charset="0"/>
                        </a:rPr>
                        <a:t>：</a:t>
                      </a:r>
                      <a:r>
                        <a:rPr lang="en-US" altLang="zh-CN" sz="1600" dirty="0">
                          <a:latin typeface="Times New Roman" panose="02020603050405020304" pitchFamily="2" charset="0"/>
                        </a:rPr>
                        <a:t>3374 m</a:t>
                      </a:r>
                      <a:r>
                        <a:rPr lang="zh-CN" altLang="en-US" sz="1600" dirty="0">
                          <a:latin typeface="Times New Roman" panose="02020603050405020304" pitchFamily="2" charset="0"/>
                        </a:rPr>
                        <a:t>：</a:t>
                      </a:r>
                      <a:r>
                        <a:rPr lang="en-US" altLang="zh-CN" sz="1600">
                          <a:latin typeface="Times New Roman" panose="02020603050405020304" pitchFamily="2" charset="0"/>
                        </a:rPr>
                        <a:t>3276</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营销费用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235  b</a:t>
                      </a:r>
                      <a:r>
                        <a:rPr lang="zh-CN" altLang="en-US" sz="1600" dirty="0">
                          <a:latin typeface="Times New Roman" panose="02020603050405020304" pitchFamily="2" charset="0"/>
                        </a:rPr>
                        <a:t>：</a:t>
                      </a:r>
                      <a:r>
                        <a:rPr lang="en-US" altLang="zh-CN" sz="1600" dirty="0">
                          <a:latin typeface="Times New Roman" panose="02020603050405020304" pitchFamily="2" charset="0"/>
                        </a:rPr>
                        <a:t>329  m</a:t>
                      </a:r>
                      <a:r>
                        <a:rPr lang="zh-CN" altLang="en-US" sz="1600" dirty="0">
                          <a:latin typeface="Times New Roman" panose="02020603050405020304" pitchFamily="2" charset="0"/>
                        </a:rPr>
                        <a:t>：</a:t>
                      </a:r>
                      <a:r>
                        <a:rPr lang="en-US" altLang="zh-CN" sz="1600">
                          <a:latin typeface="Times New Roman" panose="02020603050405020304" pitchFamily="2" charset="0"/>
                        </a:rPr>
                        <a:t>313</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其他费用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249  </a:t>
                      </a:r>
                      <a:r>
                        <a:rPr lang="zh-CN" altLang="en-US" sz="1600" dirty="0">
                          <a:latin typeface="Times New Roman" panose="02020603050405020304" pitchFamily="2" charset="0"/>
                        </a:rPr>
                        <a:t>方差：</a:t>
                      </a:r>
                      <a:r>
                        <a:rPr lang="en-US" altLang="zh-CN" sz="1600">
                          <a:latin typeface="Times New Roman" panose="02020603050405020304" pitchFamily="2" charset="0"/>
                        </a:rPr>
                        <a:t>15</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600" dirty="0">
                          <a:latin typeface="Times New Roman" panose="02020603050405020304" pitchFamily="2" charset="0"/>
                        </a:rPr>
                        <a:t>第二年</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参数</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住宅类销售收入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13710 b</a:t>
                      </a:r>
                      <a:r>
                        <a:rPr lang="zh-CN" altLang="en-US" sz="1600" dirty="0">
                          <a:latin typeface="Times New Roman" panose="02020603050405020304" pitchFamily="2" charset="0"/>
                        </a:rPr>
                        <a:t>：</a:t>
                      </a:r>
                      <a:r>
                        <a:rPr lang="en-US" altLang="zh-CN" sz="1600" dirty="0">
                          <a:latin typeface="Times New Roman" panose="02020603050405020304" pitchFamily="2" charset="0"/>
                        </a:rPr>
                        <a:t>18762 m</a:t>
                      </a:r>
                      <a:r>
                        <a:rPr lang="zh-CN" altLang="en-US" sz="1600" dirty="0">
                          <a:latin typeface="Times New Roman" panose="02020603050405020304" pitchFamily="2" charset="0"/>
                        </a:rPr>
                        <a:t>：</a:t>
                      </a:r>
                      <a:r>
                        <a:rPr lang="en-US" altLang="zh-CN" sz="1600">
                          <a:latin typeface="Times New Roman" panose="02020603050405020304" pitchFamily="2" charset="0"/>
                        </a:rPr>
                        <a:t>14432</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商业类销售收入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759 b</a:t>
                      </a:r>
                      <a:r>
                        <a:rPr lang="zh-CN" altLang="en-US" sz="1600" dirty="0">
                          <a:latin typeface="Times New Roman" panose="02020603050405020304" pitchFamily="2" charset="0"/>
                        </a:rPr>
                        <a:t>：</a:t>
                      </a:r>
                      <a:r>
                        <a:rPr lang="en-US" altLang="zh-CN" sz="1600" dirty="0">
                          <a:latin typeface="Times New Roman" panose="02020603050405020304" pitchFamily="2" charset="0"/>
                        </a:rPr>
                        <a:t>1036 m</a:t>
                      </a:r>
                      <a:r>
                        <a:rPr lang="zh-CN" altLang="en-US" sz="1600" dirty="0">
                          <a:latin typeface="Times New Roman" panose="02020603050405020304" pitchFamily="2" charset="0"/>
                        </a:rPr>
                        <a:t>：</a:t>
                      </a:r>
                      <a:r>
                        <a:rPr lang="en-US" altLang="zh-CN" sz="1600">
                          <a:latin typeface="Times New Roman" panose="02020603050405020304" pitchFamily="2" charset="0"/>
                        </a:rPr>
                        <a:t>1012</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土地费用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均匀分布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无支出</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前期费用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727  </a:t>
                      </a:r>
                      <a:r>
                        <a:rPr lang="zh-CN" altLang="en-US" sz="1600" dirty="0">
                          <a:latin typeface="Times New Roman" panose="02020603050405020304" pitchFamily="2" charset="0"/>
                        </a:rPr>
                        <a:t>方差：</a:t>
                      </a:r>
                      <a:r>
                        <a:rPr lang="en-US" altLang="zh-CN" sz="1600">
                          <a:latin typeface="Times New Roman" panose="02020603050405020304" pitchFamily="2" charset="0"/>
                        </a:rPr>
                        <a:t>30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开发建设费用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6027 b</a:t>
                      </a:r>
                      <a:r>
                        <a:rPr lang="zh-CN" altLang="en-US" sz="1600" dirty="0">
                          <a:latin typeface="Times New Roman" panose="02020603050405020304" pitchFamily="2" charset="0"/>
                        </a:rPr>
                        <a:t>：</a:t>
                      </a:r>
                      <a:r>
                        <a:rPr lang="en-US" altLang="zh-CN" sz="1600" dirty="0">
                          <a:latin typeface="Times New Roman" panose="02020603050405020304" pitchFamily="2" charset="0"/>
                        </a:rPr>
                        <a:t>6813 m</a:t>
                      </a:r>
                      <a:r>
                        <a:rPr lang="zh-CN" altLang="en-US" sz="1600" dirty="0">
                          <a:latin typeface="Times New Roman" panose="02020603050405020304" pitchFamily="2" charset="0"/>
                        </a:rPr>
                        <a:t>：</a:t>
                      </a:r>
                      <a:r>
                        <a:rPr lang="en-US" altLang="zh-CN" sz="1600">
                          <a:latin typeface="Times New Roman" panose="02020603050405020304" pitchFamily="2" charset="0"/>
                        </a:rPr>
                        <a:t>6551</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营销费用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251 b</a:t>
                      </a:r>
                      <a:r>
                        <a:rPr lang="zh-CN" altLang="en-US" sz="1600" dirty="0">
                          <a:latin typeface="Times New Roman" panose="02020603050405020304" pitchFamily="2" charset="0"/>
                        </a:rPr>
                        <a:t>：</a:t>
                      </a:r>
                      <a:r>
                        <a:rPr lang="en-US" altLang="zh-CN" sz="1600" dirty="0">
                          <a:latin typeface="Times New Roman" panose="02020603050405020304" pitchFamily="2" charset="0"/>
                        </a:rPr>
                        <a:t>326 m</a:t>
                      </a:r>
                      <a:r>
                        <a:rPr lang="zh-CN" altLang="en-US" sz="1600" dirty="0">
                          <a:latin typeface="Times New Roman" panose="02020603050405020304" pitchFamily="2" charset="0"/>
                        </a:rPr>
                        <a:t>：</a:t>
                      </a:r>
                      <a:r>
                        <a:rPr lang="en-US" altLang="zh-CN" sz="1600">
                          <a:latin typeface="Times New Roman" panose="02020603050405020304" pitchFamily="2" charset="0"/>
                        </a:rPr>
                        <a:t>313</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其他费用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911 </a:t>
                      </a:r>
                      <a:r>
                        <a:rPr lang="zh-CN" altLang="en-US" sz="1600" dirty="0">
                          <a:latin typeface="Times New Roman" panose="02020603050405020304" pitchFamily="2" charset="0"/>
                        </a:rPr>
                        <a:t>方差：</a:t>
                      </a:r>
                      <a:r>
                        <a:rPr lang="en-US" altLang="zh-CN" sz="1600">
                          <a:latin typeface="Times New Roman" panose="02020603050405020304" pitchFamily="2" charset="0"/>
                        </a:rPr>
                        <a:t>55</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218" name="内容占位符 245217"/>
          <p:cNvGraphicFramePr/>
          <p:nvPr>
            <p:ph/>
          </p:nvPr>
        </p:nvGraphicFramePr>
        <p:xfrm>
          <a:off x="381318" y="1368743"/>
          <a:ext cx="8380413" cy="3582988"/>
        </p:xfrm>
        <a:graphic>
          <a:graphicData uri="http://schemas.openxmlformats.org/drawingml/2006/table">
            <a:tbl>
              <a:tblPr/>
              <a:tblGrid>
                <a:gridCol w="2447925"/>
                <a:gridCol w="1419225"/>
                <a:gridCol w="4513263"/>
              </a:tblGrid>
              <a:tr h="447675">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000" dirty="0">
                          <a:latin typeface="Times New Roman" panose="02020603050405020304" pitchFamily="2" charset="0"/>
                        </a:rPr>
                        <a:t>第三年</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住宅类销售收入</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21569 b</a:t>
                      </a:r>
                      <a:r>
                        <a:rPr lang="zh-CN" altLang="en-US" sz="2000" dirty="0">
                          <a:latin typeface="Times New Roman" panose="02020603050405020304" pitchFamily="2" charset="0"/>
                        </a:rPr>
                        <a:t>：</a:t>
                      </a:r>
                      <a:r>
                        <a:rPr lang="en-US" altLang="zh-CN" sz="2000" dirty="0">
                          <a:latin typeface="Times New Roman" panose="02020603050405020304" pitchFamily="2" charset="0"/>
                        </a:rPr>
                        <a:t>28515 m</a:t>
                      </a:r>
                      <a:r>
                        <a:rPr lang="zh-CN" altLang="en-US" sz="2000" dirty="0">
                          <a:latin typeface="Times New Roman" panose="02020603050405020304" pitchFamily="2" charset="0"/>
                        </a:rPr>
                        <a:t>：</a:t>
                      </a:r>
                      <a:r>
                        <a:rPr lang="en-US" altLang="zh-CN" sz="2000">
                          <a:latin typeface="Times New Roman" panose="02020603050405020304" pitchFamily="2" charset="0"/>
                        </a:rPr>
                        <a:t>22704</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商业类销售收入</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1304 b</a:t>
                      </a:r>
                      <a:r>
                        <a:rPr lang="zh-CN" altLang="en-US" sz="2000" dirty="0">
                          <a:latin typeface="Times New Roman" panose="02020603050405020304" pitchFamily="2" charset="0"/>
                        </a:rPr>
                        <a:t>：</a:t>
                      </a:r>
                      <a:r>
                        <a:rPr lang="en-US" altLang="zh-CN" sz="2000" dirty="0">
                          <a:latin typeface="Times New Roman" panose="02020603050405020304" pitchFamily="2" charset="0"/>
                        </a:rPr>
                        <a:t>1739 m</a:t>
                      </a:r>
                      <a:r>
                        <a:rPr lang="zh-CN" altLang="en-US" sz="2000" dirty="0">
                          <a:latin typeface="Times New Roman" panose="02020603050405020304" pitchFamily="2" charset="0"/>
                        </a:rPr>
                        <a:t>：</a:t>
                      </a:r>
                      <a:r>
                        <a:rPr lang="en-US" altLang="zh-CN" sz="2000">
                          <a:latin typeface="Times New Roman" panose="02020603050405020304" pitchFamily="2" charset="0"/>
                        </a:rPr>
                        <a:t>1656</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92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土地费用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均匀分布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无支出</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前期费用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正态分布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无支出</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开发建设费用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1085 b</a:t>
                      </a:r>
                      <a:r>
                        <a:rPr lang="zh-CN" altLang="en-US" sz="2000" dirty="0">
                          <a:latin typeface="Times New Roman" panose="02020603050405020304" pitchFamily="2" charset="0"/>
                        </a:rPr>
                        <a:t>：</a:t>
                      </a:r>
                      <a:r>
                        <a:rPr lang="en-US" altLang="zh-CN" sz="2000" dirty="0">
                          <a:latin typeface="Times New Roman" panose="02020603050405020304" pitchFamily="2" charset="0"/>
                        </a:rPr>
                        <a:t>1136 m</a:t>
                      </a:r>
                      <a:r>
                        <a:rPr lang="zh-CN" altLang="en-US" sz="2000" dirty="0">
                          <a:latin typeface="Times New Roman" panose="02020603050405020304" pitchFamily="2" charset="0"/>
                        </a:rPr>
                        <a:t>：</a:t>
                      </a:r>
                      <a:r>
                        <a:rPr lang="en-US" altLang="zh-CN" sz="2000">
                          <a:latin typeface="Times New Roman" panose="02020603050405020304" pitchFamily="2" charset="0"/>
                        </a:rPr>
                        <a:t>1092</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营销费用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334 b</a:t>
                      </a:r>
                      <a:r>
                        <a:rPr lang="zh-CN" altLang="en-US" sz="2000" dirty="0">
                          <a:latin typeface="Times New Roman" panose="02020603050405020304" pitchFamily="2" charset="0"/>
                        </a:rPr>
                        <a:t>：</a:t>
                      </a:r>
                      <a:r>
                        <a:rPr lang="en-US" altLang="zh-CN" sz="2000" dirty="0">
                          <a:latin typeface="Times New Roman" panose="02020603050405020304" pitchFamily="2" charset="0"/>
                        </a:rPr>
                        <a:t>443 m</a:t>
                      </a:r>
                      <a:r>
                        <a:rPr lang="zh-CN" altLang="en-US" sz="2000" dirty="0">
                          <a:latin typeface="Times New Roman" panose="02020603050405020304" pitchFamily="2" charset="0"/>
                        </a:rPr>
                        <a:t>：</a:t>
                      </a:r>
                      <a:r>
                        <a:rPr lang="en-US" altLang="zh-CN" sz="2000">
                          <a:latin typeface="Times New Roman" panose="02020603050405020304" pitchFamily="2" charset="0"/>
                        </a:rPr>
                        <a:t>418</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其他费用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正态分布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均值：</a:t>
                      </a:r>
                      <a:r>
                        <a:rPr lang="en-US" altLang="zh-CN" sz="2000" dirty="0">
                          <a:latin typeface="Times New Roman" panose="02020603050405020304" pitchFamily="2" charset="0"/>
                        </a:rPr>
                        <a:t>294 </a:t>
                      </a:r>
                      <a:r>
                        <a:rPr lang="zh-CN" altLang="en-US" sz="2000" dirty="0">
                          <a:latin typeface="Times New Roman" panose="02020603050405020304" pitchFamily="2" charset="0"/>
                        </a:rPr>
                        <a:t>方差：</a:t>
                      </a:r>
                      <a:r>
                        <a:rPr lang="en-US" altLang="zh-CN" sz="2000">
                          <a:latin typeface="Times New Roman" panose="02020603050405020304" pitchFamily="2" charset="0"/>
                        </a:rPr>
                        <a:t>20</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标题 249857"/>
          <p:cNvSpPr>
            <a:spLocks noGrp="1" noRot="1"/>
          </p:cNvSpPr>
          <p:nvPr>
            <p:ph type="title"/>
          </p:nvPr>
        </p:nvSpPr>
        <p:spPr>
          <a:xfrm>
            <a:off x="193358" y="34608"/>
            <a:ext cx="8229600" cy="431800"/>
          </a:xfrm>
        </p:spPr>
        <p:txBody>
          <a:bodyPr anchor="ctr"/>
          <a:p>
            <a:r>
              <a:rPr lang="zh-CN" altLang="en-US" sz="2000" dirty="0"/>
              <a:t>表</a:t>
            </a:r>
            <a:r>
              <a:rPr lang="en-US" altLang="zh-CN" sz="2000" dirty="0"/>
              <a:t>5-4 </a:t>
            </a:r>
            <a:r>
              <a:rPr lang="zh-CN" altLang="en-US" sz="2000" dirty="0"/>
              <a:t>乙方案风险变量概率分布</a:t>
            </a:r>
            <a:r>
              <a:rPr lang="zh-CN" altLang="en-US" sz="4000" dirty="0"/>
              <a:t> </a:t>
            </a:r>
            <a:endParaRPr lang="zh-CN" altLang="en-US" sz="4000" dirty="0"/>
          </a:p>
        </p:txBody>
      </p:sp>
      <p:graphicFrame>
        <p:nvGraphicFramePr>
          <p:cNvPr id="250336" name="内容占位符 250335"/>
          <p:cNvGraphicFramePr/>
          <p:nvPr>
            <p:ph idx="1"/>
          </p:nvPr>
        </p:nvGraphicFramePr>
        <p:xfrm>
          <a:off x="457200" y="626745"/>
          <a:ext cx="8229600" cy="6029325"/>
        </p:xfrm>
        <a:graphic>
          <a:graphicData uri="http://schemas.openxmlformats.org/drawingml/2006/table">
            <a:tbl>
              <a:tblPr/>
              <a:tblGrid>
                <a:gridCol w="2405063"/>
                <a:gridCol w="1392237"/>
                <a:gridCol w="4432300"/>
              </a:tblGrid>
              <a:tr h="334963">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600" dirty="0">
                          <a:latin typeface="Times New Roman" panose="02020603050405020304" pitchFamily="2" charset="0"/>
                        </a:rPr>
                        <a:t>第一年</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参数</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住宅类销售收入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商业类销售收入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土地费用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均匀分布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a:latin typeface="Times New Roman" panose="02020603050405020304" pitchFamily="2" charset="0"/>
                        </a:rPr>
                        <a:t>11182  b:12105</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前期费用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1249  </a:t>
                      </a:r>
                      <a:r>
                        <a:rPr lang="zh-CN" altLang="en-US" sz="1600" dirty="0">
                          <a:latin typeface="Times New Roman" panose="02020603050405020304" pitchFamily="2" charset="0"/>
                        </a:rPr>
                        <a:t>方差：</a:t>
                      </a:r>
                      <a:r>
                        <a:rPr lang="en-US" altLang="zh-CN" sz="1600">
                          <a:latin typeface="Times New Roman" panose="02020603050405020304" pitchFamily="2" charset="0"/>
                        </a:rPr>
                        <a:t>80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开发建设费用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4007 b</a:t>
                      </a:r>
                      <a:r>
                        <a:rPr lang="zh-CN" altLang="en-US" sz="1600" dirty="0">
                          <a:latin typeface="Times New Roman" panose="02020603050405020304" pitchFamily="2" charset="0"/>
                        </a:rPr>
                        <a:t>：</a:t>
                      </a:r>
                      <a:r>
                        <a:rPr lang="en-US" altLang="zh-CN" sz="1600" dirty="0">
                          <a:latin typeface="Times New Roman" panose="02020603050405020304" pitchFamily="2" charset="0"/>
                        </a:rPr>
                        <a:t>4555 m</a:t>
                      </a:r>
                      <a:r>
                        <a:rPr lang="zh-CN" altLang="en-US" sz="1600" dirty="0">
                          <a:latin typeface="Times New Roman" panose="02020603050405020304" pitchFamily="2" charset="0"/>
                        </a:rPr>
                        <a:t>：</a:t>
                      </a:r>
                      <a:r>
                        <a:rPr lang="en-US" altLang="zh-CN" sz="1600">
                          <a:latin typeface="Times New Roman" panose="02020603050405020304" pitchFamily="2" charset="0"/>
                        </a:rPr>
                        <a:t>4218</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营销费用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258  b</a:t>
                      </a:r>
                      <a:r>
                        <a:rPr lang="zh-CN" altLang="en-US" sz="1600" dirty="0">
                          <a:latin typeface="Times New Roman" panose="02020603050405020304" pitchFamily="2" charset="0"/>
                        </a:rPr>
                        <a:t>：</a:t>
                      </a:r>
                      <a:r>
                        <a:rPr lang="en-US" altLang="zh-CN" sz="1600" dirty="0">
                          <a:latin typeface="Times New Roman" panose="02020603050405020304" pitchFamily="2" charset="0"/>
                        </a:rPr>
                        <a:t>413  m</a:t>
                      </a:r>
                      <a:r>
                        <a:rPr lang="zh-CN" altLang="en-US" sz="1600" dirty="0">
                          <a:latin typeface="Times New Roman" panose="02020603050405020304" pitchFamily="2" charset="0"/>
                        </a:rPr>
                        <a:t>：</a:t>
                      </a:r>
                      <a:r>
                        <a:rPr lang="en-US" altLang="zh-CN" sz="1600">
                          <a:latin typeface="Times New Roman" panose="02020603050405020304" pitchFamily="2" charset="0"/>
                        </a:rPr>
                        <a:t>368</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其他费用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265  </a:t>
                      </a:r>
                      <a:r>
                        <a:rPr lang="zh-CN" altLang="en-US" sz="1600" dirty="0">
                          <a:latin typeface="Times New Roman" panose="02020603050405020304" pitchFamily="2" charset="0"/>
                        </a:rPr>
                        <a:t>方差：</a:t>
                      </a:r>
                      <a:r>
                        <a:rPr lang="en-US" altLang="zh-CN" sz="1600">
                          <a:latin typeface="Times New Roman" panose="02020603050405020304" pitchFamily="2" charset="0"/>
                        </a:rPr>
                        <a:t>30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1600" dirty="0">
                          <a:latin typeface="Times New Roman" panose="02020603050405020304" pitchFamily="2" charset="0"/>
                        </a:rPr>
                        <a:t>第二年</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参数</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住宅类销售收入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3996 b</a:t>
                      </a:r>
                      <a:r>
                        <a:rPr lang="zh-CN" altLang="en-US" sz="1600" dirty="0">
                          <a:latin typeface="Times New Roman" panose="02020603050405020304" pitchFamily="2" charset="0"/>
                        </a:rPr>
                        <a:t>：</a:t>
                      </a:r>
                      <a:r>
                        <a:rPr lang="en-US" altLang="zh-CN" sz="1600" dirty="0">
                          <a:latin typeface="Times New Roman" panose="02020603050405020304" pitchFamily="2" charset="0"/>
                        </a:rPr>
                        <a:t>5328 m</a:t>
                      </a:r>
                      <a:r>
                        <a:rPr lang="zh-CN" altLang="en-US" sz="1600" dirty="0">
                          <a:latin typeface="Times New Roman" panose="02020603050405020304" pitchFamily="2" charset="0"/>
                        </a:rPr>
                        <a:t>：</a:t>
                      </a:r>
                      <a:r>
                        <a:rPr lang="en-US" altLang="zh-CN" sz="1600">
                          <a:latin typeface="Times New Roman" panose="02020603050405020304" pitchFamily="2" charset="0"/>
                        </a:rPr>
                        <a:t>4440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商业类销售收入</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14190 b</a:t>
                      </a:r>
                      <a:r>
                        <a:rPr lang="zh-CN" altLang="en-US" sz="1600" dirty="0">
                          <a:latin typeface="Times New Roman" panose="02020603050405020304" pitchFamily="2" charset="0"/>
                        </a:rPr>
                        <a:t>：</a:t>
                      </a:r>
                      <a:r>
                        <a:rPr lang="en-US" altLang="zh-CN" sz="1600" dirty="0">
                          <a:latin typeface="Times New Roman" panose="02020603050405020304" pitchFamily="2" charset="0"/>
                        </a:rPr>
                        <a:t>28948 m</a:t>
                      </a:r>
                      <a:r>
                        <a:rPr lang="zh-CN" altLang="en-US" sz="1600" dirty="0">
                          <a:latin typeface="Times New Roman" panose="02020603050405020304" pitchFamily="2" charset="0"/>
                        </a:rPr>
                        <a:t>：</a:t>
                      </a:r>
                      <a:r>
                        <a:rPr lang="en-US" altLang="zh-CN" sz="1600">
                          <a:latin typeface="Times New Roman" panose="02020603050405020304" pitchFamily="2" charset="0"/>
                        </a:rPr>
                        <a:t>28380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土地费用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均匀分布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无支出</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前期费用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1003  </a:t>
                      </a:r>
                      <a:r>
                        <a:rPr lang="zh-CN" altLang="en-US" sz="1600" dirty="0">
                          <a:latin typeface="Times New Roman" panose="02020603050405020304" pitchFamily="2" charset="0"/>
                        </a:rPr>
                        <a:t>方差：</a:t>
                      </a:r>
                      <a:r>
                        <a:rPr lang="en-US" altLang="zh-CN" sz="1600">
                          <a:latin typeface="Times New Roman" panose="02020603050405020304" pitchFamily="2" charset="0"/>
                        </a:rPr>
                        <a:t>90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开发建设费用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7760 b</a:t>
                      </a:r>
                      <a:r>
                        <a:rPr lang="zh-CN" altLang="en-US" sz="1600" dirty="0">
                          <a:latin typeface="Times New Roman" panose="02020603050405020304" pitchFamily="2" charset="0"/>
                        </a:rPr>
                        <a:t>：</a:t>
                      </a:r>
                      <a:r>
                        <a:rPr lang="en-US" altLang="zh-CN" sz="1600" dirty="0">
                          <a:latin typeface="Times New Roman" panose="02020603050405020304" pitchFamily="2" charset="0"/>
                        </a:rPr>
                        <a:t>9110 m</a:t>
                      </a:r>
                      <a:r>
                        <a:rPr lang="zh-CN" altLang="en-US" sz="1600" dirty="0">
                          <a:latin typeface="Times New Roman" panose="02020603050405020304" pitchFamily="2" charset="0"/>
                        </a:rPr>
                        <a:t>：</a:t>
                      </a:r>
                      <a:r>
                        <a:rPr lang="en-US" altLang="zh-CN" sz="1600">
                          <a:latin typeface="Times New Roman" panose="02020603050405020304" pitchFamily="2" charset="0"/>
                        </a:rPr>
                        <a:t>8435</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营销费用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三角分布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1600" dirty="0">
                          <a:latin typeface="Times New Roman" panose="02020603050405020304" pitchFamily="2" charset="0"/>
                        </a:rPr>
                        <a:t>a</a:t>
                      </a:r>
                      <a:r>
                        <a:rPr lang="zh-CN" altLang="en-US" sz="1600" dirty="0">
                          <a:latin typeface="Times New Roman" panose="02020603050405020304" pitchFamily="2" charset="0"/>
                        </a:rPr>
                        <a:t>：</a:t>
                      </a:r>
                      <a:r>
                        <a:rPr lang="en-US" altLang="zh-CN" sz="1600" dirty="0">
                          <a:latin typeface="Times New Roman" panose="02020603050405020304" pitchFamily="2" charset="0"/>
                        </a:rPr>
                        <a:t>472 b</a:t>
                      </a:r>
                      <a:r>
                        <a:rPr lang="zh-CN" altLang="en-US" sz="1600" dirty="0">
                          <a:latin typeface="Times New Roman" panose="02020603050405020304" pitchFamily="2" charset="0"/>
                        </a:rPr>
                        <a:t>：</a:t>
                      </a:r>
                      <a:r>
                        <a:rPr lang="en-US" altLang="zh-CN" sz="1600" dirty="0">
                          <a:latin typeface="Times New Roman" panose="02020603050405020304" pitchFamily="2" charset="0"/>
                        </a:rPr>
                        <a:t>565 m</a:t>
                      </a:r>
                      <a:r>
                        <a:rPr lang="zh-CN" altLang="en-US" sz="1600" dirty="0">
                          <a:latin typeface="Times New Roman" panose="02020603050405020304" pitchFamily="2" charset="0"/>
                        </a:rPr>
                        <a:t>：</a:t>
                      </a:r>
                      <a:r>
                        <a:rPr lang="en-US" altLang="zh-CN" sz="1600">
                          <a:latin typeface="Times New Roman" panose="02020603050405020304" pitchFamily="2" charset="0"/>
                        </a:rPr>
                        <a:t>491</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其他费用</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正态分布</a:t>
                      </a:r>
                      <a:endParaRPr lang="zh-CN" altLang="en-US" sz="16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1600" dirty="0">
                          <a:latin typeface="Times New Roman" panose="02020603050405020304" pitchFamily="2" charset="0"/>
                        </a:rPr>
                        <a:t>均值：</a:t>
                      </a:r>
                      <a:r>
                        <a:rPr lang="en-US" altLang="zh-CN" sz="1600" dirty="0">
                          <a:latin typeface="Times New Roman" panose="02020603050405020304" pitchFamily="2" charset="0"/>
                        </a:rPr>
                        <a:t>1025 </a:t>
                      </a:r>
                      <a:r>
                        <a:rPr lang="zh-CN" altLang="en-US" sz="1600" dirty="0">
                          <a:latin typeface="Times New Roman" panose="02020603050405020304" pitchFamily="2" charset="0"/>
                        </a:rPr>
                        <a:t>方差：</a:t>
                      </a:r>
                      <a:r>
                        <a:rPr lang="en-US" altLang="zh-CN" sz="1600">
                          <a:latin typeface="Times New Roman" panose="02020603050405020304" pitchFamily="2" charset="0"/>
                        </a:rPr>
                        <a:t>100</a:t>
                      </a:r>
                      <a:endParaRPr lang="zh-CN" altLang="en-US" sz="16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6482" name="内容占位符 256481"/>
          <p:cNvGraphicFramePr/>
          <p:nvPr>
            <p:ph/>
          </p:nvPr>
        </p:nvGraphicFramePr>
        <p:xfrm>
          <a:off x="287973" y="1343343"/>
          <a:ext cx="8378825" cy="3581400"/>
        </p:xfrm>
        <a:graphic>
          <a:graphicData uri="http://schemas.openxmlformats.org/drawingml/2006/table">
            <a:tbl>
              <a:tblPr/>
              <a:tblGrid>
                <a:gridCol w="2447925"/>
                <a:gridCol w="1419225"/>
                <a:gridCol w="4511675"/>
              </a:tblGrid>
              <a:tr h="447675">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000" dirty="0">
                          <a:latin typeface="Times New Roman" panose="02020603050405020304" pitchFamily="2" charset="0"/>
                        </a:rPr>
                        <a:t>第三年</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住宅类销售收入</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1080 b</a:t>
                      </a:r>
                      <a:r>
                        <a:rPr lang="zh-CN" altLang="en-US" sz="2000" dirty="0">
                          <a:latin typeface="Times New Roman" panose="02020603050405020304" pitchFamily="2" charset="0"/>
                        </a:rPr>
                        <a:t>：</a:t>
                      </a:r>
                      <a:r>
                        <a:rPr lang="en-US" altLang="zh-CN" sz="2000" dirty="0">
                          <a:latin typeface="Times New Roman" panose="02020603050405020304" pitchFamily="2" charset="0"/>
                        </a:rPr>
                        <a:t>1440 m</a:t>
                      </a:r>
                      <a:r>
                        <a:rPr lang="zh-CN" altLang="en-US" sz="2000" dirty="0">
                          <a:latin typeface="Times New Roman" panose="02020603050405020304" pitchFamily="2" charset="0"/>
                        </a:rPr>
                        <a:t>：</a:t>
                      </a:r>
                      <a:r>
                        <a:rPr lang="en-US" altLang="zh-CN" sz="2000">
                          <a:latin typeface="Times New Roman" panose="02020603050405020304" pitchFamily="2" charset="0"/>
                        </a:rPr>
                        <a:t>1200</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商业类销售收入</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10526 b</a:t>
                      </a:r>
                      <a:r>
                        <a:rPr lang="zh-CN" altLang="en-US" sz="2000" dirty="0">
                          <a:latin typeface="Times New Roman" panose="02020603050405020304" pitchFamily="2" charset="0"/>
                        </a:rPr>
                        <a:t>：</a:t>
                      </a:r>
                      <a:r>
                        <a:rPr lang="en-US" altLang="zh-CN" sz="2000" dirty="0">
                          <a:latin typeface="Times New Roman" panose="02020603050405020304" pitchFamily="2" charset="0"/>
                        </a:rPr>
                        <a:t>21053 m</a:t>
                      </a:r>
                      <a:r>
                        <a:rPr lang="zh-CN" altLang="en-US" sz="2000" dirty="0">
                          <a:latin typeface="Times New Roman" panose="02020603050405020304" pitchFamily="2" charset="0"/>
                        </a:rPr>
                        <a:t>：</a:t>
                      </a:r>
                      <a:r>
                        <a:rPr lang="en-US" altLang="zh-CN" sz="2000">
                          <a:latin typeface="Times New Roman" panose="02020603050405020304" pitchFamily="2" charset="0"/>
                        </a:rPr>
                        <a:t>20640</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土地费用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均匀分布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无支出</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前期费用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正态分布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无支出</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开发建设费用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1397 b</a:t>
                      </a:r>
                      <a:r>
                        <a:rPr lang="zh-CN" altLang="en-US" sz="2000" dirty="0">
                          <a:latin typeface="Times New Roman" panose="02020603050405020304" pitchFamily="2" charset="0"/>
                        </a:rPr>
                        <a:t>：</a:t>
                      </a:r>
                      <a:r>
                        <a:rPr lang="en-US" altLang="zh-CN" sz="2000" dirty="0">
                          <a:latin typeface="Times New Roman" panose="02020603050405020304" pitchFamily="2" charset="0"/>
                        </a:rPr>
                        <a:t>1518 m</a:t>
                      </a:r>
                      <a:r>
                        <a:rPr lang="zh-CN" altLang="en-US" sz="2000" dirty="0">
                          <a:latin typeface="Times New Roman" panose="02020603050405020304" pitchFamily="2" charset="0"/>
                        </a:rPr>
                        <a:t>：</a:t>
                      </a:r>
                      <a:r>
                        <a:rPr lang="en-US" altLang="zh-CN" sz="2000">
                          <a:latin typeface="Times New Roman" panose="02020603050405020304" pitchFamily="2" charset="0"/>
                        </a:rPr>
                        <a:t>1405</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营销费用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三角分布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en-US" altLang="zh-CN" sz="2000" dirty="0">
                          <a:latin typeface="Times New Roman" panose="02020603050405020304" pitchFamily="2" charset="0"/>
                        </a:rPr>
                        <a:t>a</a:t>
                      </a:r>
                      <a:r>
                        <a:rPr lang="zh-CN" altLang="en-US" sz="2000" dirty="0">
                          <a:latin typeface="Times New Roman" panose="02020603050405020304" pitchFamily="2" charset="0"/>
                        </a:rPr>
                        <a:t>：</a:t>
                      </a:r>
                      <a:r>
                        <a:rPr lang="en-US" altLang="zh-CN" sz="2000" dirty="0">
                          <a:latin typeface="Times New Roman" panose="02020603050405020304" pitchFamily="2" charset="0"/>
                        </a:rPr>
                        <a:t>350 b</a:t>
                      </a:r>
                      <a:r>
                        <a:rPr lang="zh-CN" altLang="en-US" sz="2000" dirty="0">
                          <a:latin typeface="Times New Roman" panose="02020603050405020304" pitchFamily="2" charset="0"/>
                        </a:rPr>
                        <a:t>：</a:t>
                      </a:r>
                      <a:r>
                        <a:rPr lang="en-US" altLang="zh-CN" sz="2000" dirty="0">
                          <a:latin typeface="Times New Roman" panose="02020603050405020304" pitchFamily="2" charset="0"/>
                        </a:rPr>
                        <a:t>442 m</a:t>
                      </a:r>
                      <a:r>
                        <a:rPr lang="zh-CN" altLang="en-US" sz="2000" dirty="0">
                          <a:latin typeface="Times New Roman" panose="02020603050405020304" pitchFamily="2" charset="0"/>
                        </a:rPr>
                        <a:t>：</a:t>
                      </a:r>
                      <a:r>
                        <a:rPr lang="en-US" altLang="zh-CN" sz="2000">
                          <a:latin typeface="Times New Roman" panose="02020603050405020304" pitchFamily="2" charset="0"/>
                        </a:rPr>
                        <a:t>368</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67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其他费用</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正态分布</a:t>
                      </a:r>
                      <a:endParaRPr lang="zh-CN" altLang="en-US" sz="20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spcBef>
                          <a:spcPct val="0"/>
                        </a:spcBef>
                        <a:buClrTx/>
                        <a:buNone/>
                      </a:pPr>
                      <a:r>
                        <a:rPr lang="zh-CN" altLang="en-US" sz="2000" dirty="0">
                          <a:latin typeface="Times New Roman" panose="02020603050405020304" pitchFamily="2" charset="0"/>
                        </a:rPr>
                        <a:t>均值：</a:t>
                      </a:r>
                      <a:r>
                        <a:rPr lang="en-US" altLang="zh-CN" sz="2000" dirty="0">
                          <a:latin typeface="Times New Roman" panose="02020603050405020304" pitchFamily="2" charset="0"/>
                        </a:rPr>
                        <a:t>269 </a:t>
                      </a:r>
                      <a:r>
                        <a:rPr lang="zh-CN" altLang="en-US" sz="2000" dirty="0">
                          <a:latin typeface="Times New Roman" panose="02020603050405020304" pitchFamily="2" charset="0"/>
                        </a:rPr>
                        <a:t>方差：</a:t>
                      </a:r>
                      <a:r>
                        <a:rPr lang="en-US" altLang="zh-CN" sz="2000">
                          <a:latin typeface="Times New Roman" panose="02020603050405020304" pitchFamily="2" charset="0"/>
                        </a:rPr>
                        <a:t>30</a:t>
                      </a:r>
                      <a:endParaRPr lang="zh-CN" altLang="en-US" sz="20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标题 254977"/>
          <p:cNvSpPr>
            <a:spLocks noGrp="1" noRot="1"/>
          </p:cNvSpPr>
          <p:nvPr>
            <p:ph type="title"/>
          </p:nvPr>
        </p:nvSpPr>
        <p:spPr>
          <a:xfrm>
            <a:off x="298450" y="228600"/>
            <a:ext cx="8540750" cy="558800"/>
          </a:xfrm>
        </p:spPr>
        <p:txBody>
          <a:bodyPr anchor="ctr"/>
          <a:p>
            <a:r>
              <a:rPr lang="zh-CN" altLang="en-US" sz="4000" dirty="0"/>
              <a:t>三、定义模型并确定模拟次数 </a:t>
            </a:r>
            <a:endParaRPr lang="zh-CN" altLang="en-US" sz="4000" dirty="0"/>
          </a:p>
        </p:txBody>
      </p:sp>
      <p:sp>
        <p:nvSpPr>
          <p:cNvPr id="254979" name="文本占位符 254978"/>
          <p:cNvSpPr>
            <a:spLocks noGrp="1" noRot="1"/>
          </p:cNvSpPr>
          <p:nvPr>
            <p:ph type="body" idx="1"/>
          </p:nvPr>
        </p:nvSpPr>
        <p:spPr>
          <a:xfrm>
            <a:off x="457200" y="981075"/>
            <a:ext cx="8229600" cy="5149850"/>
          </a:xfrm>
        </p:spPr>
        <p:txBody>
          <a:bodyPr/>
          <a:p>
            <a:pPr>
              <a:buNone/>
            </a:pPr>
            <a:r>
              <a:rPr lang="en-US" altLang="zh-CN" dirty="0"/>
              <a:t>      </a:t>
            </a:r>
            <a:r>
              <a:rPr lang="zh-CN" altLang="en-US" dirty="0"/>
              <a:t>定义财务净现值</a:t>
            </a:r>
            <a:r>
              <a:rPr lang="en-US" altLang="zh-CN" dirty="0"/>
              <a:t>NPV</a:t>
            </a:r>
            <a:r>
              <a:rPr lang="zh-CN" altLang="en-US" dirty="0"/>
              <a:t>的模型为：</a:t>
            </a:r>
            <a:endParaRPr lang="zh-CN" altLang="en-US" dirty="0"/>
          </a:p>
          <a:p>
            <a:pPr>
              <a:buNone/>
            </a:pPr>
            <a:endParaRPr lang="zh-CN" altLang="en-US" dirty="0"/>
          </a:p>
          <a:p>
            <a:pPr>
              <a:buNone/>
            </a:pPr>
            <a:endParaRPr lang="zh-CN" altLang="en-US" dirty="0"/>
          </a:p>
          <a:p>
            <a:pPr>
              <a:buNone/>
            </a:pPr>
            <a:r>
              <a:rPr lang="zh-CN" altLang="en-US" dirty="0"/>
              <a:t>其中，                       ，</a:t>
            </a:r>
            <a:r>
              <a:rPr lang="en-US" altLang="zh-CN" dirty="0"/>
              <a:t>i</a:t>
            </a:r>
            <a:r>
              <a:rPr lang="zh-CN" altLang="en-US" dirty="0"/>
              <a:t>为基准折现率，</a:t>
            </a:r>
            <a:r>
              <a:rPr lang="en-US" altLang="zh-CN" dirty="0"/>
              <a:t>n</a:t>
            </a:r>
            <a:r>
              <a:rPr lang="zh-CN" altLang="en-US" dirty="0"/>
              <a:t>为项目的生命周期。</a:t>
            </a:r>
            <a:endParaRPr lang="zh-CN" altLang="en-US" dirty="0"/>
          </a:p>
          <a:p>
            <a:pPr>
              <a:buNone/>
            </a:pPr>
            <a:r>
              <a:rPr lang="zh-CN" altLang="en-US" dirty="0"/>
              <a:t>      为了确保模拟结果与实际分布最大限度的接近一致，我们取</a:t>
            </a:r>
            <a:r>
              <a:rPr lang="en-US" altLang="zh-CN" dirty="0"/>
              <a:t>95%</a:t>
            </a:r>
            <a:r>
              <a:rPr lang="zh-CN" altLang="en-US" dirty="0"/>
              <a:t>的置信度，拟进行</a:t>
            </a:r>
            <a:r>
              <a:rPr lang="en-US" altLang="zh-CN" dirty="0"/>
              <a:t>10000</a:t>
            </a:r>
            <a:r>
              <a:rPr lang="zh-CN" altLang="en-US" dirty="0"/>
              <a:t>次的模拟实验。进行</a:t>
            </a:r>
            <a:r>
              <a:rPr lang="en-US" altLang="zh-CN" dirty="0"/>
              <a:t>10000</a:t>
            </a:r>
            <a:r>
              <a:rPr lang="zh-CN" altLang="en-US" dirty="0"/>
              <a:t>次的模拟，得出甲、乙方案的</a:t>
            </a:r>
            <a:r>
              <a:rPr lang="en-US" altLang="zh-CN" dirty="0"/>
              <a:t>NPV</a:t>
            </a:r>
            <a:r>
              <a:rPr lang="zh-CN" altLang="en-US" dirty="0"/>
              <a:t>的统计数据。 </a:t>
            </a:r>
            <a:endParaRPr lang="zh-CN" altLang="en-US" dirty="0"/>
          </a:p>
        </p:txBody>
      </p:sp>
      <p:sp>
        <p:nvSpPr>
          <p:cNvPr id="254981" name="矩形 254980"/>
          <p:cNvSpPr/>
          <p:nvPr/>
        </p:nvSpPr>
        <p:spPr>
          <a:xfrm>
            <a:off x="0" y="0"/>
            <a:ext cx="9144000" cy="0"/>
          </a:xfrm>
          <a:prstGeom prst="rect">
            <a:avLst/>
          </a:prstGeom>
          <a:noFill/>
          <a:ln w="9525">
            <a:noFill/>
          </a:ln>
        </p:spPr>
        <p:txBody>
          <a:bodyPr/>
          <a:p>
            <a:endParaRPr lang="zh-CN" altLang="en-US"/>
          </a:p>
        </p:txBody>
      </p:sp>
      <p:graphicFrame>
        <p:nvGraphicFramePr>
          <p:cNvPr id="254980" name="对象 254979"/>
          <p:cNvGraphicFramePr/>
          <p:nvPr/>
        </p:nvGraphicFramePr>
        <p:xfrm>
          <a:off x="1187450" y="1773238"/>
          <a:ext cx="6408738" cy="935037"/>
        </p:xfrm>
        <a:graphic>
          <a:graphicData uri="http://schemas.openxmlformats.org/presentationml/2006/ole">
            <mc:AlternateContent xmlns:mc="http://schemas.openxmlformats.org/markup-compatibility/2006">
              <mc:Choice xmlns:v="urn:schemas-microsoft-com:vml" Requires="v">
                <p:oleObj spid="_x0000_s3157" name="" r:id="rId1" imgW="3352800" imgH="431800" progId="Equation.DSMT4">
                  <p:embed/>
                </p:oleObj>
              </mc:Choice>
              <mc:Fallback>
                <p:oleObj name="" r:id="rId1" imgW="3352800" imgH="431800" progId="Equation.DSMT4">
                  <p:embed/>
                  <p:pic>
                    <p:nvPicPr>
                      <p:cNvPr id="0" name="图片 3156"/>
                      <p:cNvPicPr/>
                      <p:nvPr/>
                    </p:nvPicPr>
                    <p:blipFill>
                      <a:blip r:embed="rId2"/>
                      <a:stretch>
                        <a:fillRect/>
                      </a:stretch>
                    </p:blipFill>
                    <p:spPr>
                      <a:xfrm>
                        <a:off x="1187450" y="1773238"/>
                        <a:ext cx="6408738" cy="935037"/>
                      </a:xfrm>
                      <a:prstGeom prst="rect">
                        <a:avLst/>
                      </a:prstGeom>
                      <a:noFill/>
                      <a:ln w="38100">
                        <a:noFill/>
                        <a:miter/>
                      </a:ln>
                    </p:spPr>
                  </p:pic>
                </p:oleObj>
              </mc:Fallback>
            </mc:AlternateContent>
          </a:graphicData>
        </a:graphic>
      </p:graphicFrame>
      <p:sp>
        <p:nvSpPr>
          <p:cNvPr id="254983" name="矩形 254982"/>
          <p:cNvSpPr/>
          <p:nvPr/>
        </p:nvSpPr>
        <p:spPr>
          <a:xfrm>
            <a:off x="0" y="0"/>
            <a:ext cx="9144000" cy="0"/>
          </a:xfrm>
          <a:prstGeom prst="rect">
            <a:avLst/>
          </a:prstGeom>
          <a:noFill/>
          <a:ln w="9525">
            <a:noFill/>
          </a:ln>
        </p:spPr>
        <p:txBody>
          <a:bodyPr/>
          <a:p>
            <a:endParaRPr lang="zh-CN" altLang="en-US"/>
          </a:p>
        </p:txBody>
      </p:sp>
      <p:graphicFrame>
        <p:nvGraphicFramePr>
          <p:cNvPr id="254982" name="对象 254981"/>
          <p:cNvGraphicFramePr/>
          <p:nvPr/>
        </p:nvGraphicFramePr>
        <p:xfrm>
          <a:off x="1908175" y="2492375"/>
          <a:ext cx="2447925" cy="1077913"/>
        </p:xfrm>
        <a:graphic>
          <a:graphicData uri="http://schemas.openxmlformats.org/presentationml/2006/ole">
            <mc:AlternateContent xmlns:mc="http://schemas.openxmlformats.org/markup-compatibility/2006">
              <mc:Choice xmlns:v="urn:schemas-microsoft-com:vml" Requires="v">
                <p:oleObj spid="_x0000_s3158" name="" r:id="rId3" imgW="1320165" imgH="469900" progId="Equation.DSMT4">
                  <p:embed/>
                </p:oleObj>
              </mc:Choice>
              <mc:Fallback>
                <p:oleObj name="" r:id="rId3" imgW="1320165" imgH="469900" progId="Equation.DSMT4">
                  <p:embed/>
                  <p:pic>
                    <p:nvPicPr>
                      <p:cNvPr id="0" name="图片 3157"/>
                      <p:cNvPicPr/>
                      <p:nvPr/>
                    </p:nvPicPr>
                    <p:blipFill>
                      <a:blip r:embed="rId4"/>
                      <a:stretch>
                        <a:fillRect/>
                      </a:stretch>
                    </p:blipFill>
                    <p:spPr>
                      <a:xfrm>
                        <a:off x="1908175" y="2492375"/>
                        <a:ext cx="2447925" cy="1077913"/>
                      </a:xfrm>
                      <a:prstGeom prst="rect">
                        <a:avLst/>
                      </a:prstGeom>
                      <a:noFill/>
                      <a:ln w="38100">
                        <a:noFill/>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标题 253953"/>
          <p:cNvSpPr>
            <a:spLocks noGrp="1" noRot="1"/>
          </p:cNvSpPr>
          <p:nvPr>
            <p:ph type="title"/>
          </p:nvPr>
        </p:nvSpPr>
        <p:spPr>
          <a:xfrm>
            <a:off x="73660" y="-21590"/>
            <a:ext cx="8229600" cy="759460"/>
          </a:xfrm>
        </p:spPr>
        <p:txBody>
          <a:bodyPr anchor="ctr"/>
          <a:p>
            <a:r>
              <a:rPr lang="zh-CN" altLang="en-US" sz="2400" dirty="0"/>
              <a:t>表</a:t>
            </a:r>
            <a:r>
              <a:rPr lang="en-US" altLang="zh-CN" sz="2400" dirty="0"/>
              <a:t>5-5  </a:t>
            </a:r>
            <a:r>
              <a:rPr lang="zh-CN" altLang="en-US" sz="2400" dirty="0"/>
              <a:t>甲方案的评价指标统计值</a:t>
            </a:r>
            <a:r>
              <a:rPr lang="zh-CN" altLang="en-US" dirty="0"/>
              <a:t> </a:t>
            </a:r>
            <a:endParaRPr lang="zh-CN" altLang="en-US" dirty="0"/>
          </a:p>
        </p:txBody>
      </p:sp>
      <p:graphicFrame>
        <p:nvGraphicFramePr>
          <p:cNvPr id="254166" name="内容占位符 254165"/>
          <p:cNvGraphicFramePr/>
          <p:nvPr>
            <p:ph idx="1"/>
          </p:nvPr>
        </p:nvGraphicFramePr>
        <p:xfrm>
          <a:off x="237808" y="814070"/>
          <a:ext cx="8229600" cy="5497830"/>
        </p:xfrm>
        <a:graphic>
          <a:graphicData uri="http://schemas.openxmlformats.org/drawingml/2006/table">
            <a:tbl>
              <a:tblPr/>
              <a:tblGrid>
                <a:gridCol w="5129213"/>
                <a:gridCol w="3100387"/>
              </a:tblGrid>
              <a:tr h="46863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统计值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NPV</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模拟次数</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10000</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均值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672.24</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中值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604.66</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标准差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1052.27</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方差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1107271.23</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偏差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0.3347</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峰度</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2.72</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err="1">
                          <a:latin typeface="Times New Roman" panose="02020603050405020304" pitchFamily="2" charset="0"/>
                        </a:rPr>
                        <a:t>Coeff</a:t>
                      </a:r>
                      <a:r>
                        <a:rPr lang="en-US" altLang="zh-CN" sz="2400">
                          <a:latin typeface="Times New Roman" panose="02020603050405020304" pitchFamily="2" charset="0"/>
                        </a:rPr>
                        <a:t>. of Variability</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1.57</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最小值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-1833.45</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最大值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4448.76</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标准误差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1052</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标题 252929"/>
          <p:cNvSpPr>
            <a:spLocks noGrp="1" noRot="1"/>
          </p:cNvSpPr>
          <p:nvPr>
            <p:ph type="title"/>
          </p:nvPr>
        </p:nvSpPr>
        <p:spPr>
          <a:xfrm>
            <a:off x="157480" y="-1270"/>
            <a:ext cx="8540750" cy="776288"/>
          </a:xfrm>
        </p:spPr>
        <p:txBody>
          <a:bodyPr anchor="ctr"/>
          <a:p>
            <a:r>
              <a:rPr lang="zh-CN" altLang="en-US" sz="2800" dirty="0"/>
              <a:t>表</a:t>
            </a:r>
            <a:r>
              <a:rPr lang="en-US" altLang="zh-CN" sz="2800" dirty="0"/>
              <a:t>5-6  </a:t>
            </a:r>
            <a:r>
              <a:rPr lang="zh-CN" altLang="en-US" sz="2800" dirty="0"/>
              <a:t>乙方案的评价指标统计值</a:t>
            </a:r>
            <a:r>
              <a:rPr lang="zh-CN" altLang="en-US" sz="4800" dirty="0"/>
              <a:t> </a:t>
            </a:r>
            <a:endParaRPr lang="zh-CN" altLang="en-US" sz="4800" dirty="0"/>
          </a:p>
        </p:txBody>
      </p:sp>
      <p:graphicFrame>
        <p:nvGraphicFramePr>
          <p:cNvPr id="253082" name="内容占位符 253081"/>
          <p:cNvGraphicFramePr/>
          <p:nvPr>
            <p:ph idx="1"/>
          </p:nvPr>
        </p:nvGraphicFramePr>
        <p:xfrm>
          <a:off x="312738" y="889635"/>
          <a:ext cx="8229600" cy="5468937"/>
        </p:xfrm>
        <a:graphic>
          <a:graphicData uri="http://schemas.openxmlformats.org/drawingml/2006/table">
            <a:tbl>
              <a:tblPr/>
              <a:tblGrid>
                <a:gridCol w="5129213"/>
                <a:gridCol w="3100387"/>
              </a:tblGrid>
              <a:tr h="45720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统计值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NPV</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模拟次数</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10000</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均值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432.59</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中值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617.6</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标准差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2157.44</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方差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4654568.25</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偏差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-0.3882</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峰度</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2.66</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err="1">
                          <a:latin typeface="Times New Roman" panose="02020603050405020304" pitchFamily="2" charset="0"/>
                        </a:rPr>
                        <a:t>Coeff</a:t>
                      </a:r>
                      <a:r>
                        <a:rPr lang="en-US" altLang="zh-CN" sz="2400">
                          <a:latin typeface="Times New Roman" panose="02020603050405020304" pitchFamily="2" charset="0"/>
                        </a:rPr>
                        <a:t>. of Variability</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4.99</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最小值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-7334.47</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最大值</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5529.92</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zh-CN" altLang="en-US" sz="2400" dirty="0">
                          <a:latin typeface="Times New Roman" panose="02020603050405020304" pitchFamily="2" charset="0"/>
                        </a:rPr>
                        <a:t>标准误差</a:t>
                      </a:r>
                      <a:endParaRPr lang="zh-CN" altLang="en-US" sz="2400" dirty="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lvl="0" algn="ctr">
                        <a:spcBef>
                          <a:spcPct val="0"/>
                        </a:spcBef>
                        <a:buClrTx/>
                        <a:buNone/>
                      </a:pPr>
                      <a:r>
                        <a:rPr lang="en-US" altLang="zh-CN" sz="2400">
                          <a:latin typeface="Times New Roman" panose="02020603050405020304" pitchFamily="2" charset="0"/>
                        </a:rPr>
                        <a:t>21.57</a:t>
                      </a:r>
                      <a:endParaRPr lang="zh-CN" altLang="en-US" sz="2400"/>
                    </a:p>
                  </a:txBody>
                  <a:tcPr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7" name="文本占位符 251906"/>
          <p:cNvSpPr>
            <a:spLocks noGrp="1" noRot="1"/>
          </p:cNvSpPr>
          <p:nvPr>
            <p:ph type="body" idx="1"/>
          </p:nvPr>
        </p:nvSpPr>
        <p:spPr>
          <a:xfrm>
            <a:off x="40005" y="191135"/>
            <a:ext cx="8229600" cy="5654675"/>
          </a:xfrm>
        </p:spPr>
        <p:txBody>
          <a:bodyPr/>
          <a:p>
            <a:pPr>
              <a:lnSpc>
                <a:spcPct val="90000"/>
              </a:lnSpc>
              <a:buNone/>
            </a:pPr>
            <a:r>
              <a:rPr lang="en-US" altLang="zh-CN" sz="2800" dirty="0"/>
              <a:t>  (</a:t>
            </a:r>
            <a:r>
              <a:rPr lang="zh-CN" altLang="en-US" sz="2800" dirty="0"/>
              <a:t>四）、分析决策</a:t>
            </a:r>
            <a:endParaRPr lang="zh-CN" altLang="en-US" sz="2800" dirty="0"/>
          </a:p>
          <a:p>
            <a:pPr>
              <a:lnSpc>
                <a:spcPct val="90000"/>
              </a:lnSpc>
              <a:buNone/>
            </a:pPr>
            <a:r>
              <a:rPr lang="zh-CN" altLang="en-US" sz="2800" dirty="0"/>
              <a:t>        </a:t>
            </a:r>
            <a:endParaRPr lang="zh-CN" altLang="en-US" sz="2800" dirty="0"/>
          </a:p>
          <a:p>
            <a:pPr>
              <a:lnSpc>
                <a:spcPct val="90000"/>
              </a:lnSpc>
              <a:buNone/>
            </a:pPr>
            <a:r>
              <a:rPr lang="zh-CN" altLang="en-US" sz="2800" dirty="0"/>
              <a:t>         </a:t>
            </a:r>
            <a:r>
              <a:rPr lang="en-US" altLang="zh-CN" sz="2500" dirty="0"/>
              <a:t>1</a:t>
            </a:r>
            <a:r>
              <a:rPr lang="zh-CN" altLang="en-US" sz="2500" dirty="0"/>
              <a:t>、通过表 </a:t>
            </a:r>
            <a:r>
              <a:rPr lang="en-US" altLang="zh-CN" sz="2500" dirty="0"/>
              <a:t>5-5 </a:t>
            </a:r>
            <a:r>
              <a:rPr lang="zh-CN" altLang="en-US" sz="2500" dirty="0"/>
              <a:t>甲方案的财务净现值统计值和表 </a:t>
            </a:r>
            <a:r>
              <a:rPr lang="en-US" altLang="zh-CN" sz="2500" dirty="0"/>
              <a:t>5-6 </a:t>
            </a:r>
            <a:r>
              <a:rPr lang="zh-CN" altLang="en-US" sz="2500" dirty="0"/>
              <a:t>乙方案的财务净现值统计值，我们可以出，两个方案的</a:t>
            </a:r>
            <a:r>
              <a:rPr lang="en-US" altLang="zh-CN" sz="2500" dirty="0"/>
              <a:t>NPV </a:t>
            </a:r>
            <a:r>
              <a:rPr lang="zh-CN" altLang="en-US" sz="2500" dirty="0"/>
              <a:t>期望值均大于零，但甲方案的值大于乙方案。</a:t>
            </a:r>
            <a:endParaRPr lang="zh-CN" altLang="en-US" sz="2500" dirty="0"/>
          </a:p>
          <a:p>
            <a:pPr>
              <a:lnSpc>
                <a:spcPct val="90000"/>
              </a:lnSpc>
              <a:buNone/>
            </a:pPr>
            <a:r>
              <a:rPr lang="zh-CN" altLang="en-US" sz="2500" dirty="0"/>
              <a:t>         </a:t>
            </a:r>
            <a:endParaRPr lang="zh-CN" altLang="en-US" sz="2500" dirty="0"/>
          </a:p>
          <a:p>
            <a:pPr>
              <a:lnSpc>
                <a:spcPct val="90000"/>
              </a:lnSpc>
              <a:buNone/>
            </a:pPr>
            <a:r>
              <a:rPr lang="zh-CN" altLang="en-US" sz="2500" dirty="0"/>
              <a:t>          </a:t>
            </a:r>
            <a:r>
              <a:rPr lang="en-US" altLang="zh-CN" sz="2500" dirty="0"/>
              <a:t>2</a:t>
            </a:r>
            <a:r>
              <a:rPr lang="zh-CN" altLang="en-US" sz="2500" dirty="0"/>
              <a:t>、进一步对各方案的风险度进行比较，甲方案</a:t>
            </a:r>
            <a:r>
              <a:rPr lang="en-US" altLang="zh-CN" sz="2500" dirty="0"/>
              <a:t>NPV </a:t>
            </a:r>
            <a:r>
              <a:rPr lang="zh-CN" altLang="en-US" sz="2500" dirty="0"/>
              <a:t>的标准差为</a:t>
            </a:r>
            <a:r>
              <a:rPr lang="en-US" altLang="zh-CN" sz="2500" dirty="0"/>
              <a:t>1052.27</a:t>
            </a:r>
            <a:r>
              <a:rPr lang="zh-CN" altLang="en-US" sz="2500" dirty="0"/>
              <a:t>，而乙的标准差为 </a:t>
            </a:r>
            <a:r>
              <a:rPr lang="en-US" altLang="zh-CN" sz="2500" dirty="0"/>
              <a:t>2157.44</a:t>
            </a:r>
            <a:r>
              <a:rPr lang="zh-CN" altLang="en-US" sz="2500" dirty="0"/>
              <a:t>，说明乙方案的偏离程度较大；并且甲方案</a:t>
            </a:r>
            <a:r>
              <a:rPr lang="en-US" altLang="zh-CN" sz="2500" dirty="0"/>
              <a:t>NPV </a:t>
            </a:r>
            <a:r>
              <a:rPr lang="zh-CN" altLang="en-US" sz="2500" dirty="0"/>
              <a:t>介于</a:t>
            </a:r>
            <a:r>
              <a:rPr lang="en-US" altLang="zh-CN" sz="2500" dirty="0"/>
              <a:t>[min:-1833.45,max:4448.76]</a:t>
            </a:r>
            <a:r>
              <a:rPr lang="zh-CN" altLang="en-US" sz="2500" dirty="0"/>
              <a:t>之间</a:t>
            </a:r>
            <a:r>
              <a:rPr lang="en-US" altLang="zh-CN" sz="2500" dirty="0"/>
              <a:t>,</a:t>
            </a:r>
            <a:r>
              <a:rPr lang="zh-CN" altLang="en-US" sz="2500" dirty="0"/>
              <a:t>乙方案</a:t>
            </a:r>
            <a:r>
              <a:rPr lang="en-US" altLang="zh-CN" sz="2500" dirty="0"/>
              <a:t>NPV </a:t>
            </a:r>
            <a:r>
              <a:rPr lang="zh-CN" altLang="en-US" sz="2500" dirty="0"/>
              <a:t>在</a:t>
            </a:r>
            <a:r>
              <a:rPr lang="en-US" altLang="zh-CN" sz="2500" dirty="0"/>
              <a:t>[min:-7334.47,max:5529.92]</a:t>
            </a:r>
            <a:r>
              <a:rPr lang="zh-CN" altLang="en-US" sz="2500" dirty="0"/>
              <a:t>之间，再次说明乙方案 </a:t>
            </a:r>
            <a:r>
              <a:rPr lang="en-US" altLang="zh-CN" sz="2500" dirty="0"/>
              <a:t>NPV </a:t>
            </a:r>
            <a:r>
              <a:rPr lang="zh-CN" altLang="en-US" sz="2500" dirty="0"/>
              <a:t>的风险度大于甲方案。</a:t>
            </a:r>
            <a:endParaRPr lang="zh-CN" altLang="en-US" sz="2500" dirty="0"/>
          </a:p>
          <a:p>
            <a:pPr>
              <a:lnSpc>
                <a:spcPct val="90000"/>
              </a:lnSpc>
              <a:buNone/>
            </a:pPr>
            <a:endParaRPr lang="zh-CN"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7" name="文本占位符 262146"/>
          <p:cNvSpPr>
            <a:spLocks noGrp="1" noRot="1"/>
          </p:cNvSpPr>
          <p:nvPr>
            <p:ph type="body" idx="1"/>
          </p:nvPr>
        </p:nvSpPr>
        <p:spPr>
          <a:xfrm>
            <a:off x="193675" y="272733"/>
            <a:ext cx="8229600" cy="5726112"/>
          </a:xfrm>
        </p:spPr>
        <p:txBody>
          <a:bodyPr/>
          <a:p>
            <a:pPr>
              <a:lnSpc>
                <a:spcPct val="90000"/>
              </a:lnSpc>
              <a:buNone/>
            </a:pPr>
            <a:r>
              <a:rPr lang="en-US" altLang="zh-CN" dirty="0"/>
              <a:t>        </a:t>
            </a:r>
            <a:r>
              <a:rPr lang="en-US" altLang="zh-CN" sz="2800" dirty="0"/>
              <a:t> </a:t>
            </a:r>
            <a:r>
              <a:rPr lang="zh-CN" altLang="en-US" sz="2800" dirty="0"/>
              <a:t>因此，应该采用甲方案。</a:t>
            </a:r>
            <a:endParaRPr lang="zh-CN" altLang="en-US" sz="2800" dirty="0"/>
          </a:p>
          <a:p>
            <a:pPr>
              <a:lnSpc>
                <a:spcPct val="90000"/>
              </a:lnSpc>
              <a:buNone/>
            </a:pPr>
            <a:r>
              <a:rPr lang="zh-CN" altLang="en-US" sz="2800" dirty="0"/>
              <a:t>         </a:t>
            </a:r>
            <a:r>
              <a:rPr lang="en-US" altLang="zh-CN" sz="2800" dirty="0"/>
              <a:t>4</a:t>
            </a:r>
            <a:r>
              <a:rPr lang="zh-CN" altLang="en-US" sz="2800" dirty="0"/>
              <a:t>、总结</a:t>
            </a:r>
            <a:endParaRPr lang="zh-CN" altLang="en-US" sz="2800" dirty="0"/>
          </a:p>
          <a:p>
            <a:pPr>
              <a:lnSpc>
                <a:spcPct val="90000"/>
              </a:lnSpc>
              <a:buNone/>
            </a:pPr>
            <a:r>
              <a:rPr lang="zh-CN" altLang="en-US" sz="2800" dirty="0"/>
              <a:t>         通过上面的分析，利用蒙特卡罗方法模拟分析得出的结果与使用传统的分析技术得出的结果相比，不仅能够分析风险因素对整个项目预期收益的影响程度，而且还能科学地估计出风险发生的概率大小，并且这样的估计是建立在充分考虑了多个风险变量共同影响、共同作用的基础之上，能够为风险决策者提供有实用价值的决策依据。因此有助于我们对多套投资方案进行筛选比较。 </a:t>
            </a:r>
            <a:endParaRPr lang="zh-CN" alt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itle 26625"/>
          <p:cNvSpPr>
            <a:spLocks noGrp="1"/>
          </p:cNvSpPr>
          <p:nvPr>
            <p:ph type="title"/>
          </p:nvPr>
        </p:nvSpPr>
        <p:spPr/>
        <p:txBody>
          <a:bodyPr anchor="ctr"/>
          <a:p>
            <a:endParaRPr lang="zh-CN" altLang="en-US"/>
          </a:p>
        </p:txBody>
      </p:sp>
      <p:sp>
        <p:nvSpPr>
          <p:cNvPr id="34818" name="Text Placeholder 26626"/>
          <p:cNvSpPr>
            <a:spLocks noGrp="1"/>
          </p:cNvSpPr>
          <p:nvPr>
            <p:ph idx="1"/>
          </p:nvPr>
        </p:nvSpPr>
        <p:spPr/>
        <p:txBody>
          <a:bodyPr anchor="t"/>
          <a:p>
            <a:endParaRPr lang="zh-CN" altLang="en-US"/>
          </a:p>
        </p:txBody>
      </p:sp>
      <p:sp>
        <p:nvSpPr>
          <p:cNvPr id="34819" name="Rectangle 26627"/>
          <p:cNvSpPr/>
          <p:nvPr/>
        </p:nvSpPr>
        <p:spPr>
          <a:xfrm>
            <a:off x="1836738" y="2493963"/>
            <a:ext cx="5903912" cy="2087562"/>
          </a:xfrm>
          <a:prstGeom prst="rect">
            <a:avLst/>
          </a:prstGeom>
        </p:spPr>
        <p:txBody>
          <a:bodyPr wrap="none" fromWordArt="1">
            <a:prstTxWarp prst="textWave1">
              <a:avLst>
                <a:gd name="adj1" fmla="val 13005"/>
                <a:gd name="adj2" fmla="val 0"/>
              </a:avLst>
            </a:prstTxWarp>
            <a:normAutofit/>
          </a:bodyPr>
          <a:p>
            <a:pPr algn="ctr"/>
            <a:r>
              <a:rPr lang="zh-CN" altLang="en-US" sz="3600">
                <a:gradFill rotWithShape="0">
                  <a:gsLst>
                    <a:gs pos="0">
                      <a:srgbClr val="9999FF"/>
                    </a:gs>
                    <a:gs pos="100000">
                      <a:srgbClr val="009999"/>
                    </a:gs>
                  </a:gsLst>
                  <a:lin ang="5400000" scaled="1"/>
                  <a:tileRect/>
                </a:gradFill>
                <a:effectLst>
                  <a:outerShdw dist="53882" dir="2699999" algn="ctr" rotWithShape="0">
                    <a:srgbClr val="C0C0C0">
                      <a:alpha val="79999"/>
                    </a:srgbClr>
                  </a:outerShdw>
                </a:effectLst>
                <a:latin typeface="宋体" panose="02010600030101010101" pitchFamily="2" charset="-122"/>
                <a:ea typeface="宋体" panose="02010600030101010101" pitchFamily="2" charset="-122"/>
              </a:rPr>
              <a:t>谢谢</a:t>
            </a:r>
            <a:endParaRPr lang="zh-CN" altLang="en-US" sz="3600">
              <a:gradFill rotWithShape="0">
                <a:gsLst>
                  <a:gs pos="0">
                    <a:srgbClr val="9999FF"/>
                  </a:gs>
                  <a:gs pos="100000">
                    <a:srgbClr val="009999"/>
                  </a:gs>
                </a:gsLst>
                <a:lin ang="5400000" scaled="1"/>
                <a:tileRect/>
              </a:gradFill>
              <a:effectLst>
                <a:outerShdw dist="53882" dir="2699999" algn="ctr" rotWithShape="0">
                  <a:srgbClr val="C0C0C0">
                    <a:alpha val="79999"/>
                  </a:srgbClr>
                </a:outerShdw>
              </a:effectLst>
              <a:latin typeface="宋体" panose="02010600030101010101" pitchFamily="2" charset="-122"/>
              <a:ea typeface="宋体" panose="02010600030101010101" pitchFamily="2" charset="-122"/>
            </a:endParaRPr>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7016</Words>
  <Application>WPS 演示</Application>
  <PresentationFormat>在屏幕上显示</PresentationFormat>
  <Paragraphs>1015</Paragraphs>
  <Slides>44</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22</vt:i4>
      </vt:variant>
      <vt:variant>
        <vt:lpstr>幻灯片标题</vt:lpstr>
      </vt:variant>
      <vt:variant>
        <vt:i4>44</vt:i4>
      </vt:variant>
    </vt:vector>
  </HeadingPairs>
  <TitlesOfParts>
    <vt:vector size="79" baseType="lpstr">
      <vt:lpstr>Arial</vt:lpstr>
      <vt:lpstr>宋体</vt:lpstr>
      <vt:lpstr>Wingdings</vt:lpstr>
      <vt:lpstr>微软雅黑</vt:lpstr>
      <vt:lpstr>Webdings</vt:lpstr>
      <vt:lpstr>Calibri</vt:lpstr>
      <vt:lpstr>幼圆</vt:lpstr>
      <vt:lpstr>华文新魏</vt:lpstr>
      <vt:lpstr>Times New Roman</vt:lpstr>
      <vt:lpstr>Arial Unicode MS</vt:lpstr>
      <vt:lpstr>Wingdings 2</vt:lpstr>
      <vt:lpstr>默认设计模板</vt:lpstr>
      <vt:lpstr>Blue Waves</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数模常规算法：蒙特卡罗方法  主讲人：老教练</vt:lpstr>
      <vt:lpstr>什么叫蒙特卡罗方法？</vt:lpstr>
      <vt:lpstr>例1. 蒲丰氏问题</vt:lpstr>
      <vt:lpstr>PowerPoint 演示文稿</vt:lpstr>
      <vt:lpstr>例2. 射击问题（打靶游戏） </vt:lpstr>
      <vt:lpstr>PowerPoint 演示文稿</vt:lpstr>
      <vt:lpstr>基本思想</vt:lpstr>
      <vt:lpstr>蒙特卡罗方法的特点</vt:lpstr>
      <vt:lpstr>PowerPoint 演示文稿</vt:lpstr>
      <vt:lpstr>主要应用范围</vt:lpstr>
      <vt:lpstr>什么是随机数？</vt:lpstr>
      <vt:lpstr>产生随机数</vt:lpstr>
      <vt:lpstr>随机数表</vt:lpstr>
      <vt:lpstr>物理方法</vt:lpstr>
      <vt:lpstr>缺点</vt:lpstr>
      <vt:lpstr>伪随机数</vt:lpstr>
      <vt:lpstr>伪随机数存在的两个问题</vt:lpstr>
      <vt:lpstr>解决方案</vt:lpstr>
      <vt:lpstr>应用：蒙特卡罗方法计算积分</vt:lpstr>
      <vt:lpstr>PowerPoint 演示文稿</vt:lpstr>
      <vt:lpstr>蒙特卡罗方法步骤如下：</vt:lpstr>
      <vt:lpstr>简单定积分例子：用蒙特卡罗方法求</vt:lpstr>
      <vt:lpstr>解释语句：</vt:lpstr>
      <vt:lpstr>蒙特卡罗计算方法性质：</vt:lpstr>
      <vt:lpstr>例1 求π的近似值</vt:lpstr>
      <vt:lpstr>例2：计算阴影部分面积</vt:lpstr>
      <vt:lpstr>例3：项目风险案例分析 </vt:lpstr>
      <vt:lpstr>PowerPoint 演示文稿</vt:lpstr>
      <vt:lpstr>表5-1 甲方案的主要经济技术指标 </vt:lpstr>
      <vt:lpstr>PowerPoint 演示文稿</vt:lpstr>
      <vt:lpstr>表5-2 乙方案的主要经济技术指标 </vt:lpstr>
      <vt:lpstr>PowerPoint 演示文稿</vt:lpstr>
      <vt:lpstr>二、采用蒙特卡罗方法进行风险决策分析 </vt:lpstr>
      <vt:lpstr>PowerPoint 演示文稿</vt:lpstr>
      <vt:lpstr>表5-3 甲方案风险变量概率分布 </vt:lpstr>
      <vt:lpstr>PowerPoint 演示文稿</vt:lpstr>
      <vt:lpstr>表5-4 乙方案风险变量概率分布 </vt:lpstr>
      <vt:lpstr>PowerPoint 演示文稿</vt:lpstr>
      <vt:lpstr>三、定义模型并确定模拟次数 </vt:lpstr>
      <vt:lpstr>表5-5  甲方案的评价指标统计值 </vt:lpstr>
      <vt:lpstr>表5-6  乙方案的评价指标统计值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蒙特卡罗方法</dc:title>
  <dc:creator/>
  <cp:lastModifiedBy>gongzuo123456789</cp:lastModifiedBy>
  <cp:revision>8</cp:revision>
  <dcterms:created xsi:type="dcterms:W3CDTF">2010-10-28T16:01:00Z</dcterms:created>
  <dcterms:modified xsi:type="dcterms:W3CDTF">2018-05-23T14:04:42Z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