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07" r:id="rId4"/>
    <p:sldId id="311" r:id="rId5"/>
    <p:sldId id="310" r:id="rId6"/>
    <p:sldId id="308" r:id="rId7"/>
    <p:sldId id="309" r:id="rId8"/>
    <p:sldId id="258" r:id="rId9"/>
    <p:sldId id="312" r:id="rId10"/>
    <p:sldId id="259" r:id="rId11"/>
    <p:sldId id="261" r:id="rId12"/>
    <p:sldId id="265" r:id="rId13"/>
    <p:sldId id="313" r:id="rId14"/>
    <p:sldId id="314" r:id="rId15"/>
    <p:sldId id="268" r:id="rId16"/>
    <p:sldId id="269" r:id="rId17"/>
    <p:sldId id="271" r:id="rId18"/>
    <p:sldId id="272" r:id="rId19"/>
    <p:sldId id="273" r:id="rId20"/>
    <p:sldId id="315" r:id="rId21"/>
    <p:sldId id="316" r:id="rId22"/>
    <p:sldId id="317" r:id="rId23"/>
    <p:sldId id="401" r:id="rId24"/>
    <p:sldId id="318" r:id="rId25"/>
    <p:sldId id="319" r:id="rId26"/>
    <p:sldId id="320" r:id="rId27"/>
    <p:sldId id="275" r:id="rId28"/>
    <p:sldId id="276" r:id="rId29"/>
    <p:sldId id="277" r:id="rId30"/>
    <p:sldId id="365" r:id="rId31"/>
    <p:sldId id="367" r:id="rId32"/>
    <p:sldId id="295" r:id="rId33"/>
    <p:sldId id="322" r:id="rId34"/>
    <p:sldId id="321" r:id="rId35"/>
    <p:sldId id="364" r:id="rId36"/>
    <p:sldId id="368" r:id="rId37"/>
    <p:sldId id="370" r:id="rId38"/>
    <p:sldId id="371" r:id="rId39"/>
    <p:sldId id="326" r:id="rId40"/>
    <p:sldId id="327" r:id="rId41"/>
    <p:sldId id="328" r:id="rId42"/>
    <p:sldId id="329" r:id="rId43"/>
    <p:sldId id="283" r:id="rId44"/>
    <p:sldId id="284" r:id="rId45"/>
    <p:sldId id="285" r:id="rId46"/>
    <p:sldId id="286" r:id="rId47"/>
    <p:sldId id="330" r:id="rId48"/>
    <p:sldId id="331" r:id="rId49"/>
    <p:sldId id="332" r:id="rId50"/>
    <p:sldId id="346" r:id="rId51"/>
    <p:sldId id="338" r:id="rId52"/>
    <p:sldId id="347" r:id="rId53"/>
    <p:sldId id="348" r:id="rId54"/>
    <p:sldId id="349" r:id="rId55"/>
    <p:sldId id="334" r:id="rId56"/>
    <p:sldId id="335" r:id="rId57"/>
    <p:sldId id="336" r:id="rId58"/>
    <p:sldId id="340" r:id="rId59"/>
    <p:sldId id="341" r:id="rId60"/>
    <p:sldId id="342" r:id="rId61"/>
    <p:sldId id="343" r:id="rId62"/>
    <p:sldId id="345" r:id="rId63"/>
    <p:sldId id="344" r:id="rId64"/>
    <p:sldId id="372" r:id="rId6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384"/>
    <p:restoredTop sz="94660"/>
  </p:normalViewPr>
  <p:slideViewPr>
    <p:cSldViewPr showGuides="1"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image" Target="../media/image29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26.wmf"/><Relationship Id="rId2" Type="http://schemas.openxmlformats.org/officeDocument/2006/relationships/image" Target="../media/image27.wmf"/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26.wmf"/><Relationship Id="rId2" Type="http://schemas.openxmlformats.org/officeDocument/2006/relationships/image" Target="../media/image27.wmf"/><Relationship Id="rId1" Type="http://schemas.openxmlformats.org/officeDocument/2006/relationships/image" Target="../media/image50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63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7" Type="http://schemas.openxmlformats.org/officeDocument/2006/relationships/image" Target="../media/image71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7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png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wmf"/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98.wmf"/><Relationship Id="rId8" Type="http://schemas.openxmlformats.org/officeDocument/2006/relationships/image" Target="../media/image97.wmf"/><Relationship Id="rId7" Type="http://schemas.openxmlformats.org/officeDocument/2006/relationships/image" Target="../media/image96.wmf"/><Relationship Id="rId6" Type="http://schemas.openxmlformats.org/officeDocument/2006/relationships/image" Target="../media/image95.wmf"/><Relationship Id="rId5" Type="http://schemas.openxmlformats.org/officeDocument/2006/relationships/image" Target="../media/image91.wmf"/><Relationship Id="rId4" Type="http://schemas.openxmlformats.org/officeDocument/2006/relationships/image" Target="../media/image87.wmf"/><Relationship Id="rId3" Type="http://schemas.openxmlformats.org/officeDocument/2006/relationships/image" Target="../media/image90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wmf"/><Relationship Id="rId8" Type="http://schemas.openxmlformats.org/officeDocument/2006/relationships/image" Target="../media/image106.wmf"/><Relationship Id="rId7" Type="http://schemas.openxmlformats.org/officeDocument/2006/relationships/image" Target="../media/image105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4" Type="http://schemas.openxmlformats.org/officeDocument/2006/relationships/image" Target="../media/image98.wmf"/><Relationship Id="rId13" Type="http://schemas.openxmlformats.org/officeDocument/2006/relationships/image" Target="../media/image97.wmf"/><Relationship Id="rId12" Type="http://schemas.openxmlformats.org/officeDocument/2006/relationships/image" Target="../media/image96.wmf"/><Relationship Id="rId11" Type="http://schemas.openxmlformats.org/officeDocument/2006/relationships/image" Target="../media/image95.wmf"/><Relationship Id="rId10" Type="http://schemas.openxmlformats.org/officeDocument/2006/relationships/image" Target="../media/image108.wmf"/><Relationship Id="rId1" Type="http://schemas.openxmlformats.org/officeDocument/2006/relationships/image" Target="../media/image99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9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gradFill rotWithShape="0">
          <a:gsLst>
            <a:gs pos="0">
              <a:srgbClr val="99CCFF"/>
            </a:gs>
            <a:gs pos="100000">
              <a:srgbClr val="EBF5FF"/>
            </a:gs>
          </a:gsLst>
          <a:path path="rect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6694488" y="131763"/>
            <a:ext cx="2133600" cy="2714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D73830-4C10-45C5-B0CA-C13DD52D1B63}" type="datetime3"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99CCFF"/>
            </a:gs>
            <a:gs pos="100000">
              <a:srgbClr val="EBF5FF"/>
            </a:gs>
          </a:gsLst>
          <a:path path="rect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5542" name="Line 6"/>
          <p:cNvSpPr>
            <a:spLocks noChangeShapeType="1"/>
          </p:cNvSpPr>
          <p:nvPr/>
        </p:nvSpPr>
        <p:spPr bwMode="auto">
          <a:xfrm flipV="1">
            <a:off x="0" y="6248400"/>
            <a:ext cx="91440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wmf"/><Relationship Id="rId8" Type="http://schemas.openxmlformats.org/officeDocument/2006/relationships/oleObject" Target="../embeddings/oleObject5.bin"/><Relationship Id="rId7" Type="http://schemas.openxmlformats.org/officeDocument/2006/relationships/image" Target="../media/image3.wmf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9" Type="http://schemas.openxmlformats.org/officeDocument/2006/relationships/image" Target="../media/image9.wmf"/><Relationship Id="rId18" Type="http://schemas.openxmlformats.org/officeDocument/2006/relationships/oleObject" Target="../embeddings/oleObject10.bin"/><Relationship Id="rId17" Type="http://schemas.openxmlformats.org/officeDocument/2006/relationships/image" Target="../media/image8.wmf"/><Relationship Id="rId16" Type="http://schemas.openxmlformats.org/officeDocument/2006/relationships/oleObject" Target="../embeddings/oleObject9.bin"/><Relationship Id="rId15" Type="http://schemas.openxmlformats.org/officeDocument/2006/relationships/image" Target="../media/image7.wmf"/><Relationship Id="rId14" Type="http://schemas.openxmlformats.org/officeDocument/2006/relationships/oleObject" Target="../embeddings/oleObject8.bin"/><Relationship Id="rId13" Type="http://schemas.openxmlformats.org/officeDocument/2006/relationships/image" Target="../media/image6.wmf"/><Relationship Id="rId12" Type="http://schemas.openxmlformats.org/officeDocument/2006/relationships/oleObject" Target="../embeddings/oleObject7.bin"/><Relationship Id="rId11" Type="http://schemas.openxmlformats.org/officeDocument/2006/relationships/image" Target="../media/image5.wmf"/><Relationship Id="rId10" Type="http://schemas.openxmlformats.org/officeDocument/2006/relationships/oleObject" Target="../embeddings/oleObject6.bin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0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20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4.bin"/><Relationship Id="rId22" Type="http://schemas.openxmlformats.org/officeDocument/2006/relationships/vmlDrawing" Target="../drawings/vmlDrawing7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0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32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31.bin"/><Relationship Id="rId14" Type="http://schemas.openxmlformats.org/officeDocument/2006/relationships/oleObject" Target="../embeddings/oleObject30.bin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23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4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oleObject" Target="../embeddings/oleObject39.bin"/><Relationship Id="rId7" Type="http://schemas.openxmlformats.org/officeDocument/2006/relationships/oleObject" Target="../embeddings/oleObject38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36.bin"/><Relationship Id="rId21" Type="http://schemas.openxmlformats.org/officeDocument/2006/relationships/vmlDrawing" Target="../drawings/vmlDrawing9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32.wmf"/><Relationship Id="rId19" Type="http://schemas.openxmlformats.org/officeDocument/2006/relationships/image" Target="../media/image36.wmf"/><Relationship Id="rId18" Type="http://schemas.openxmlformats.org/officeDocument/2006/relationships/oleObject" Target="../embeddings/oleObject46.bin"/><Relationship Id="rId17" Type="http://schemas.openxmlformats.org/officeDocument/2006/relationships/image" Target="../media/image35.wmf"/><Relationship Id="rId16" Type="http://schemas.openxmlformats.org/officeDocument/2006/relationships/oleObject" Target="../embeddings/oleObject45.bin"/><Relationship Id="rId15" Type="http://schemas.openxmlformats.org/officeDocument/2006/relationships/image" Target="../media/image34.wmf"/><Relationship Id="rId14" Type="http://schemas.openxmlformats.org/officeDocument/2006/relationships/oleObject" Target="../embeddings/oleObject44.bin"/><Relationship Id="rId13" Type="http://schemas.openxmlformats.org/officeDocument/2006/relationships/oleObject" Target="../embeddings/oleObject43.bin"/><Relationship Id="rId12" Type="http://schemas.openxmlformats.org/officeDocument/2006/relationships/oleObject" Target="../embeddings/oleObject42.bin"/><Relationship Id="rId11" Type="http://schemas.openxmlformats.org/officeDocument/2006/relationships/image" Target="../media/image33.wmf"/><Relationship Id="rId10" Type="http://schemas.openxmlformats.org/officeDocument/2006/relationships/oleObject" Target="../embeddings/oleObject41.bin"/><Relationship Id="rId1" Type="http://schemas.openxmlformats.org/officeDocument/2006/relationships/oleObject" Target="../embeddings/oleObject3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37.w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2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47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6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43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53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57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wmf"/><Relationship Id="rId1" Type="http://schemas.openxmlformats.org/officeDocument/2006/relationships/oleObject" Target="../embeddings/oleObject59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oleObject" Target="../embeddings/oleObject64.bin"/><Relationship Id="rId7" Type="http://schemas.openxmlformats.org/officeDocument/2006/relationships/oleObject" Target="../embeddings/oleObject63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61.bin"/><Relationship Id="rId21" Type="http://schemas.openxmlformats.org/officeDocument/2006/relationships/vmlDrawing" Target="../drawings/vmlDrawing14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50.wmf"/><Relationship Id="rId19" Type="http://schemas.openxmlformats.org/officeDocument/2006/relationships/image" Target="../media/image52.wmf"/><Relationship Id="rId18" Type="http://schemas.openxmlformats.org/officeDocument/2006/relationships/oleObject" Target="../embeddings/oleObject71.bin"/><Relationship Id="rId17" Type="http://schemas.openxmlformats.org/officeDocument/2006/relationships/image" Target="../media/image51.wmf"/><Relationship Id="rId16" Type="http://schemas.openxmlformats.org/officeDocument/2006/relationships/oleObject" Target="../embeddings/oleObject70.bin"/><Relationship Id="rId15" Type="http://schemas.openxmlformats.org/officeDocument/2006/relationships/image" Target="../media/image34.wmf"/><Relationship Id="rId14" Type="http://schemas.openxmlformats.org/officeDocument/2006/relationships/oleObject" Target="../embeddings/oleObject69.bin"/><Relationship Id="rId13" Type="http://schemas.openxmlformats.org/officeDocument/2006/relationships/oleObject" Target="../embeddings/oleObject68.bin"/><Relationship Id="rId12" Type="http://schemas.openxmlformats.org/officeDocument/2006/relationships/oleObject" Target="../embeddings/oleObject67.bin"/><Relationship Id="rId11" Type="http://schemas.openxmlformats.org/officeDocument/2006/relationships/image" Target="../media/image33.wmf"/><Relationship Id="rId10" Type="http://schemas.openxmlformats.org/officeDocument/2006/relationships/oleObject" Target="../embeddings/oleObject66.bin"/><Relationship Id="rId1" Type="http://schemas.openxmlformats.org/officeDocument/2006/relationships/oleObject" Target="../embeddings/oleObject60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72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74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wmf"/><Relationship Id="rId1" Type="http://schemas.openxmlformats.org/officeDocument/2006/relationships/oleObject" Target="../embeddings/oleObject75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55.wmf"/><Relationship Id="rId1" Type="http://schemas.openxmlformats.org/officeDocument/2006/relationships/oleObject" Target="../embeddings/oleObject76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2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81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57.wmf"/><Relationship Id="rId16" Type="http://schemas.openxmlformats.org/officeDocument/2006/relationships/vmlDrawing" Target="../drawings/vmlDrawing1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63.wmf"/><Relationship Id="rId13" Type="http://schemas.openxmlformats.org/officeDocument/2006/relationships/oleObject" Target="../embeddings/oleObject84.bin"/><Relationship Id="rId12" Type="http://schemas.openxmlformats.org/officeDocument/2006/relationships/image" Target="../media/image62.wmf"/><Relationship Id="rId11" Type="http://schemas.openxmlformats.org/officeDocument/2006/relationships/oleObject" Target="../embeddings/oleObject83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78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4.wmf"/><Relationship Id="rId1" Type="http://schemas.openxmlformats.org/officeDocument/2006/relationships/oleObject" Target="../embeddings/oleObject85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68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65.wmf"/><Relationship Id="rId18" Type="http://schemas.openxmlformats.org/officeDocument/2006/relationships/vmlDrawing" Target="../drawings/vmlDrawing21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72.wmf"/><Relationship Id="rId15" Type="http://schemas.openxmlformats.org/officeDocument/2006/relationships/oleObject" Target="../embeddings/oleObject93.bin"/><Relationship Id="rId14" Type="http://schemas.openxmlformats.org/officeDocument/2006/relationships/image" Target="../media/image71.w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70.w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69.wmf"/><Relationship Id="rId1" Type="http://schemas.openxmlformats.org/officeDocument/2006/relationships/oleObject" Target="../embeddings/oleObject86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6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73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94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77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103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98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7.xml"/><Relationship Id="rId6" Type="http://schemas.openxmlformats.org/officeDocument/2006/relationships/oleObject" Target="../embeddings/oleObject107.bin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83.png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82.png"/><Relationship Id="rId1" Type="http://schemas.openxmlformats.org/officeDocument/2006/relationships/oleObject" Target="../embeddings/oleObject104.bin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1" Type="http://schemas.openxmlformats.org/officeDocument/2006/relationships/oleObject" Target="../embeddings/oleObject108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oleObject" Target="../embeddings/oleObject113.bin"/><Relationship Id="rId7" Type="http://schemas.openxmlformats.org/officeDocument/2006/relationships/image" Target="../media/image86.wmf"/><Relationship Id="rId6" Type="http://schemas.openxmlformats.org/officeDocument/2006/relationships/oleObject" Target="../embeddings/oleObject112.bin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110.bin"/><Relationship Id="rId21" Type="http://schemas.openxmlformats.org/officeDocument/2006/relationships/vmlDrawing" Target="../drawings/vmlDrawing26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84.wmf"/><Relationship Id="rId19" Type="http://schemas.openxmlformats.org/officeDocument/2006/relationships/image" Target="../media/image92.wmf"/><Relationship Id="rId18" Type="http://schemas.openxmlformats.org/officeDocument/2006/relationships/oleObject" Target="../embeddings/oleObject118.bin"/><Relationship Id="rId17" Type="http://schemas.openxmlformats.org/officeDocument/2006/relationships/image" Target="../media/image91.wmf"/><Relationship Id="rId16" Type="http://schemas.openxmlformats.org/officeDocument/2006/relationships/oleObject" Target="../embeddings/oleObject117.bin"/><Relationship Id="rId15" Type="http://schemas.openxmlformats.org/officeDocument/2006/relationships/image" Target="../media/image90.wmf"/><Relationship Id="rId14" Type="http://schemas.openxmlformats.org/officeDocument/2006/relationships/oleObject" Target="../embeddings/oleObject116.bin"/><Relationship Id="rId13" Type="http://schemas.openxmlformats.org/officeDocument/2006/relationships/image" Target="../media/image89.wmf"/><Relationship Id="rId12" Type="http://schemas.openxmlformats.org/officeDocument/2006/relationships/oleObject" Target="../embeddings/oleObject115.bin"/><Relationship Id="rId11" Type="http://schemas.openxmlformats.org/officeDocument/2006/relationships/image" Target="../media/image88.wmf"/><Relationship Id="rId10" Type="http://schemas.openxmlformats.org/officeDocument/2006/relationships/oleObject" Target="../embeddings/oleObject114.bin"/><Relationship Id="rId1" Type="http://schemas.openxmlformats.org/officeDocument/2006/relationships/oleObject" Target="../embeddings/oleObject109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3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120.bin"/><Relationship Id="rId20" Type="http://schemas.openxmlformats.org/officeDocument/2006/relationships/vmlDrawing" Target="../drawings/vmlDrawing27.vml"/><Relationship Id="rId2" Type="http://schemas.openxmlformats.org/officeDocument/2006/relationships/image" Target="../media/image93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98.wmf"/><Relationship Id="rId17" Type="http://schemas.openxmlformats.org/officeDocument/2006/relationships/oleObject" Target="../embeddings/oleObject127.bin"/><Relationship Id="rId16" Type="http://schemas.openxmlformats.org/officeDocument/2006/relationships/image" Target="../media/image97.wmf"/><Relationship Id="rId15" Type="http://schemas.openxmlformats.org/officeDocument/2006/relationships/oleObject" Target="../embeddings/oleObject126.bin"/><Relationship Id="rId14" Type="http://schemas.openxmlformats.org/officeDocument/2006/relationships/image" Target="../media/image96.wmf"/><Relationship Id="rId13" Type="http://schemas.openxmlformats.org/officeDocument/2006/relationships/oleObject" Target="../embeddings/oleObject125.bin"/><Relationship Id="rId12" Type="http://schemas.openxmlformats.org/officeDocument/2006/relationships/image" Target="../media/image95.wmf"/><Relationship Id="rId11" Type="http://schemas.openxmlformats.org/officeDocument/2006/relationships/oleObject" Target="../embeddings/oleObject124.bin"/><Relationship Id="rId10" Type="http://schemas.openxmlformats.org/officeDocument/2006/relationships/image" Target="../media/image91.wmf"/><Relationship Id="rId1" Type="http://schemas.openxmlformats.org/officeDocument/2006/relationships/oleObject" Target="../embeddings/oleObject119.bin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2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00.wmf"/><Relationship Id="rId30" Type="http://schemas.openxmlformats.org/officeDocument/2006/relationships/vmlDrawing" Target="../drawings/vmlDrawing28.vml"/><Relationship Id="rId3" Type="http://schemas.openxmlformats.org/officeDocument/2006/relationships/oleObject" Target="../embeddings/oleObject129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98.wmf"/><Relationship Id="rId27" Type="http://schemas.openxmlformats.org/officeDocument/2006/relationships/oleObject" Target="../embeddings/oleObject141.bin"/><Relationship Id="rId26" Type="http://schemas.openxmlformats.org/officeDocument/2006/relationships/image" Target="../media/image97.wmf"/><Relationship Id="rId25" Type="http://schemas.openxmlformats.org/officeDocument/2006/relationships/oleObject" Target="../embeddings/oleObject140.bin"/><Relationship Id="rId24" Type="http://schemas.openxmlformats.org/officeDocument/2006/relationships/image" Target="../media/image96.wmf"/><Relationship Id="rId23" Type="http://schemas.openxmlformats.org/officeDocument/2006/relationships/oleObject" Target="../embeddings/oleObject139.bin"/><Relationship Id="rId22" Type="http://schemas.openxmlformats.org/officeDocument/2006/relationships/image" Target="../media/image95.wmf"/><Relationship Id="rId21" Type="http://schemas.openxmlformats.org/officeDocument/2006/relationships/oleObject" Target="../embeddings/oleObject138.bin"/><Relationship Id="rId20" Type="http://schemas.openxmlformats.org/officeDocument/2006/relationships/image" Target="../media/image108.wmf"/><Relationship Id="rId2" Type="http://schemas.openxmlformats.org/officeDocument/2006/relationships/image" Target="../media/image99.wmf"/><Relationship Id="rId19" Type="http://schemas.openxmlformats.org/officeDocument/2006/relationships/oleObject" Target="../embeddings/oleObject137.bin"/><Relationship Id="rId18" Type="http://schemas.openxmlformats.org/officeDocument/2006/relationships/image" Target="../media/image107.wmf"/><Relationship Id="rId17" Type="http://schemas.openxmlformats.org/officeDocument/2006/relationships/oleObject" Target="../embeddings/oleObject136.bin"/><Relationship Id="rId16" Type="http://schemas.openxmlformats.org/officeDocument/2006/relationships/image" Target="../media/image106.wmf"/><Relationship Id="rId15" Type="http://schemas.openxmlformats.org/officeDocument/2006/relationships/oleObject" Target="../embeddings/oleObject135.bin"/><Relationship Id="rId14" Type="http://schemas.openxmlformats.org/officeDocument/2006/relationships/image" Target="../media/image105.wmf"/><Relationship Id="rId13" Type="http://schemas.openxmlformats.org/officeDocument/2006/relationships/oleObject" Target="../embeddings/oleObject134.bin"/><Relationship Id="rId12" Type="http://schemas.openxmlformats.org/officeDocument/2006/relationships/image" Target="../media/image104.wmf"/><Relationship Id="rId11" Type="http://schemas.openxmlformats.org/officeDocument/2006/relationships/oleObject" Target="../embeddings/oleObject133.bin"/><Relationship Id="rId10" Type="http://schemas.openxmlformats.org/officeDocument/2006/relationships/image" Target="../media/image103.wmf"/><Relationship Id="rId1" Type="http://schemas.openxmlformats.org/officeDocument/2006/relationships/oleObject" Target="../embeddings/oleObject128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8.wmf"/><Relationship Id="rId3" Type="http://schemas.openxmlformats.org/officeDocument/2006/relationships/oleObject" Target="../embeddings/oleObject143.bin"/><Relationship Id="rId2" Type="http://schemas.openxmlformats.org/officeDocument/2006/relationships/image" Target="../media/image96.wmf"/><Relationship Id="rId1" Type="http://schemas.openxmlformats.org/officeDocument/2006/relationships/oleObject" Target="../embeddings/oleObject142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39850" y="1797050"/>
            <a:ext cx="6115050" cy="1476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45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数模常规算法之</a:t>
            </a:r>
            <a:endParaRPr lang="zh-CN" altLang="en-US" sz="45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45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聚类分析</a:t>
            </a:r>
            <a:endParaRPr lang="zh-CN" altLang="en-US" sz="45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52700" y="3689350"/>
            <a:ext cx="3689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accent2"/>
                </a:solidFill>
              </a:rPr>
              <a:t>主讲人：老教练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8"/>
          <p:cNvSpPr/>
          <p:nvPr/>
        </p:nvSpPr>
        <p:spPr>
          <a:xfrm>
            <a:off x="228600" y="609600"/>
            <a:ext cx="8915400" cy="242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</a:t>
            </a:r>
            <a:r>
              <a:rPr lang="zh-CN" altLang="en-US" sz="3200" dirty="0">
                <a:latin typeface="Times New Roman" panose="02020603050405020304" pitchFamily="18" charset="0"/>
              </a:rPr>
              <a:t>一、聚类分析（</a:t>
            </a:r>
            <a:r>
              <a:rPr lang="en-US" altLang="zh-CN" sz="3200" dirty="0">
                <a:solidFill>
                  <a:srgbClr val="436DA4"/>
                </a:solidFill>
                <a:latin typeface="Arial" panose="020B0604020202020204" pitchFamily="34" charset="0"/>
              </a:rPr>
              <a:t>Cluster Analysis</a:t>
            </a:r>
            <a:r>
              <a:rPr lang="zh-CN" altLang="en-US" sz="3200" dirty="0">
                <a:latin typeface="Times New Roman" panose="02020603050405020304" pitchFamily="18" charset="0"/>
              </a:rPr>
              <a:t>）简介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聚类分析是直接比较各事物之间的性质，将性质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相近</a:t>
            </a:r>
            <a:r>
              <a:rPr lang="zh-CN" altLang="en-US" dirty="0">
                <a:latin typeface="Times New Roman" panose="02020603050405020304" pitchFamily="18" charset="0"/>
              </a:rPr>
              <a:t>的归为一类，将性质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差别较大</a:t>
            </a:r>
            <a:r>
              <a:rPr lang="zh-CN" altLang="en-US" dirty="0">
                <a:latin typeface="Times New Roman" panose="02020603050405020304" pitchFamily="18" charset="0"/>
              </a:rPr>
              <a:t>的归入不同的类的分析技术。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381000" y="2678430"/>
            <a:ext cx="8763000" cy="2314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数理统计中的数值分类有两种问题：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判别分析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：已知分类情况，将未知个体归入正确类别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聚类分析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：分类情况未知，对数据结构进行分类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06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charRg st="1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8068">
                                            <p:txEl>
                                              <p:charRg st="1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charRg st="2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068">
                                            <p:txEl>
                                              <p:charRg st="24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charRg st="49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8068">
                                            <p:txEl>
                                              <p:charRg st="49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/>
          <p:nvPr>
            <p:ph type="title"/>
          </p:nvPr>
        </p:nvSpPr>
        <p:spPr>
          <a:xfrm>
            <a:off x="1066800" y="228600"/>
            <a:ext cx="1958975" cy="5048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/>
            <a:r>
              <a:rPr lang="zh-CN" altLang="en-US" dirty="0">
                <a:ea typeface="黑体" panose="02010609060101010101" pitchFamily="2" charset="-122"/>
              </a:rPr>
              <a:t>基本思想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70659" name="Text Box 3"/>
          <p:cNvSpPr txBox="1"/>
          <p:nvPr/>
        </p:nvSpPr>
        <p:spPr>
          <a:xfrm>
            <a:off x="381000" y="841375"/>
            <a:ext cx="8442325" cy="5278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5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聚类分析的基本思想</a:t>
            </a:r>
            <a:r>
              <a:rPr lang="en-US" altLang="zh-CN" dirty="0">
                <a:latin typeface="宋体" panose="02010600030101010101" pitchFamily="2" charset="-122"/>
              </a:rPr>
              <a:t>: </a:t>
            </a:r>
            <a:r>
              <a:rPr lang="zh-CN" altLang="en-US" dirty="0">
                <a:latin typeface="宋体" panose="02010600030101010101" pitchFamily="2" charset="-122"/>
              </a:rPr>
              <a:t>对所研究的样品或指标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变量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之间存在着程度不同的相似性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或亲疏关系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）根据一批样品的多个指标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具体找出一些能够度量样品或指标之间的相似程度的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统计量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</a:rPr>
              <a:t>）以这些统计量为分类的依据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把一些相似程度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较大</a:t>
            </a:r>
            <a:r>
              <a:rPr lang="zh-CN" altLang="en-US" dirty="0">
                <a:latin typeface="宋体" panose="02010600030101010101" pitchFamily="2" charset="-122"/>
              </a:rPr>
              <a:t>的样品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或指标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聚合为一类。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    把另一些彼此之间相似程度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较大</a:t>
            </a:r>
            <a:r>
              <a:rPr lang="zh-CN" altLang="en-US" dirty="0">
                <a:latin typeface="宋体" panose="02010600030101010101" pitchFamily="2" charset="-122"/>
              </a:rPr>
              <a:t>的样品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或指标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聚合为另一类。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    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51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charRg st="51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95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charRg st="95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136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59">
                                            <p:txEl>
                                              <p:charRg st="136" end="1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/>
          <p:nvPr>
            <p:ph type="title"/>
          </p:nvPr>
        </p:nvSpPr>
        <p:spPr>
          <a:xfrm>
            <a:off x="1066800" y="228600"/>
            <a:ext cx="1958975" cy="5048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/>
            <a:r>
              <a:rPr lang="zh-CN" altLang="en-US" dirty="0">
                <a:ea typeface="黑体" panose="02010609060101010101" pitchFamily="2" charset="-122"/>
              </a:rPr>
              <a:t>基本思想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69635" name="Text Box 3"/>
          <p:cNvSpPr txBox="1"/>
          <p:nvPr/>
        </p:nvSpPr>
        <p:spPr>
          <a:xfrm>
            <a:off x="228600" y="533400"/>
            <a:ext cx="8442325" cy="5278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5000"/>
              </a:lnSpc>
            </a:pP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按相似程度的大小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把关系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密切</a:t>
            </a:r>
            <a:r>
              <a:rPr lang="zh-CN" altLang="en-US" dirty="0">
                <a:latin typeface="宋体" panose="02010600030101010101" pitchFamily="2" charset="-122"/>
              </a:rPr>
              <a:t>的样品聚合到一个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小</a:t>
            </a:r>
            <a:r>
              <a:rPr lang="zh-CN" altLang="en-US" dirty="0">
                <a:latin typeface="宋体" panose="02010600030101010101" pitchFamily="2" charset="-122"/>
              </a:rPr>
              <a:t>的分类单位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关系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疏远</a:t>
            </a:r>
            <a:r>
              <a:rPr lang="zh-CN" altLang="en-US" dirty="0">
                <a:latin typeface="宋体" panose="02010600030101010101" pitchFamily="2" charset="-122"/>
              </a:rPr>
              <a:t>的样品聚合到一个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大</a:t>
            </a:r>
            <a:r>
              <a:rPr lang="zh-CN" altLang="en-US" dirty="0">
                <a:latin typeface="宋体" panose="02010600030101010101" pitchFamily="2" charset="-122"/>
              </a:rPr>
              <a:t>的分类单位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直到把所有的样品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或指标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都聚合完毕。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    把不同的类型一一划分出来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形成一个由小到大的分类系统。再把整个分类系统画成一张分群图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又称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谱系</a:t>
            </a:r>
            <a:r>
              <a:rPr lang="zh-CN" altLang="en-US" dirty="0">
                <a:latin typeface="宋体" panose="02010600030101010101" pitchFamily="2" charset="-122"/>
              </a:rPr>
              <a:t>图</a:t>
            </a:r>
            <a:r>
              <a:rPr lang="en-US" altLang="zh-CN" dirty="0">
                <a:latin typeface="宋体" panose="02010600030101010101" pitchFamily="2" charset="-122"/>
              </a:rPr>
              <a:t>), </a:t>
            </a:r>
            <a:r>
              <a:rPr lang="zh-CN" altLang="en-US" dirty="0">
                <a:latin typeface="宋体" panose="02010600030101010101" pitchFamily="2" charset="-122"/>
              </a:rPr>
              <a:t>用它把所有样品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或指标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间的亲疏关系表示出来。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1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charRg st="1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1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charRg st="14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3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charRg st="36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5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charRg st="57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77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charRg st="77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3"/>
          <p:cNvSpPr/>
          <p:nvPr/>
        </p:nvSpPr>
        <p:spPr>
          <a:xfrm>
            <a:off x="228600" y="914400"/>
            <a:ext cx="8610600" cy="175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要做聚类分析，首先得按照我们聚类的目的，从对象中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提取</a:t>
            </a:r>
            <a:r>
              <a:rPr lang="zh-CN" altLang="en-US" dirty="0">
                <a:latin typeface="Times New Roman" panose="02020603050405020304" pitchFamily="18" charset="0"/>
              </a:rPr>
              <a:t>出能表现这个目的的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特征指标</a:t>
            </a:r>
            <a:r>
              <a:rPr lang="zh-CN" altLang="en-US" dirty="0">
                <a:latin typeface="Times New Roman" panose="02020603050405020304" pitchFamily="18" charset="0"/>
              </a:rPr>
              <a:t>；然后根据亲疏程度进行分类。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63" name="Rectangle 4"/>
          <p:cNvSpPr/>
          <p:nvPr/>
        </p:nvSpPr>
        <p:spPr>
          <a:xfrm>
            <a:off x="304800" y="2895600"/>
            <a:ext cx="8686800" cy="528638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聚类分析根据分类对象的不同可分为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型和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型两大类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64" name="Rectangle 5"/>
          <p:cNvSpPr/>
          <p:nvPr/>
        </p:nvSpPr>
        <p:spPr>
          <a:xfrm>
            <a:off x="228600" y="3733800"/>
            <a:ext cx="8610600" cy="231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型是对样本进行分类处理，其作用在于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30000"/>
              </a:lnSpc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具有共同特点的样本聚在一起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30000"/>
              </a:lnSpc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所得结果比传统的定性分类方法更细致、全面、合理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821" name="Rectangle 6"/>
          <p:cNvSpPr/>
          <p:nvPr/>
        </p:nvSpPr>
        <p:spPr>
          <a:xfrm>
            <a:off x="228600" y="228600"/>
            <a:ext cx="3048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二、聚类对象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63" grpId="0" animBg="1"/>
      <p:bldP spid="665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3"/>
          <p:cNvSpPr/>
          <p:nvPr/>
        </p:nvSpPr>
        <p:spPr>
          <a:xfrm>
            <a:off x="304800" y="381000"/>
            <a:ext cx="8458200" cy="231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型是对变量进行分类处理，其作用在于：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30000"/>
              </a:lnSpc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可以了解变量间及变量组合间的亲疏关系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30000"/>
              </a:lnSpc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可以根据变量的聚类结果及它们之间的关系，选择主要变量进行回归分析或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型聚类分析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/>
          <p:nvPr>
            <p:ph type="title"/>
          </p:nvPr>
        </p:nvSpPr>
        <p:spPr>
          <a:xfrm>
            <a:off x="2209800" y="685800"/>
            <a:ext cx="4249738" cy="685800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/>
            <a:r>
              <a:rPr lang="en-US" altLang="zh-CN" dirty="0">
                <a:solidFill>
                  <a:srgbClr val="000000"/>
                </a:solidFill>
              </a:rPr>
              <a:t>    2   </a:t>
            </a:r>
            <a:r>
              <a:rPr lang="zh-CN" altLang="en-US" dirty="0">
                <a:solidFill>
                  <a:srgbClr val="000000"/>
                </a:solidFill>
              </a:rPr>
              <a:t>相似性度量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0247" name="Text Box 7"/>
          <p:cNvSpPr txBox="1"/>
          <p:nvPr/>
        </p:nvSpPr>
        <p:spPr>
          <a:xfrm>
            <a:off x="457200" y="1600200"/>
            <a:ext cx="8061325" cy="18875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进行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相关性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”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或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相似性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”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度量。在相似性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度量中常常包含有许多主观上的考虑，但是最重要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的是考虑指标性质或观测的尺度。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8" name="Text Box 8"/>
          <p:cNvSpPr txBox="1"/>
          <p:nvPr/>
        </p:nvSpPr>
        <p:spPr>
          <a:xfrm>
            <a:off x="609600" y="3581400"/>
            <a:ext cx="79248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ahoma" panose="020B0604030504040204" pitchFamily="34" charset="0"/>
              </a:rPr>
              <a:t>      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当样品进行聚类时，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靠近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”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往往是</a:t>
            </a:r>
            <a:r>
              <a:rPr lang="zh-CN" altLang="en-US" dirty="0">
                <a:solidFill>
                  <a:srgbClr val="FF3300"/>
                </a:solidFill>
                <a:latin typeface="Tahoma" panose="020B0604030504040204" pitchFamily="34" charset="0"/>
              </a:rPr>
              <a:t>距离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。同时对指标进行聚类时，根据</a:t>
            </a:r>
            <a:r>
              <a:rPr lang="zh-CN" altLang="en-US" dirty="0">
                <a:solidFill>
                  <a:srgbClr val="FF3300"/>
                </a:solidFill>
                <a:latin typeface="Tahoma" panose="020B0604030504040204" pitchFamily="34" charset="0"/>
              </a:rPr>
              <a:t>相关系</a:t>
            </a:r>
            <a:r>
              <a:rPr lang="zh-CN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数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或某种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3300"/>
                </a:solidFill>
                <a:latin typeface="Tahoma" panose="020B0604030504040204" pitchFamily="34" charset="0"/>
              </a:rPr>
              <a:t>关联性度量来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聚类。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7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7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charRg st="5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7">
                                            <p:txEl>
                                              <p:charRg st="5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7">
                                            <p:txEl>
                                              <p:charRg st="51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8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8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charRg st="4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8">
                                            <p:txEl>
                                              <p:charRg st="4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8">
                                            <p:txEl>
                                              <p:charRg st="4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47" grpId="0" build="p"/>
      <p:bldP spid="1024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6" name="Rectangle 2"/>
          <p:cNvSpPr/>
          <p:nvPr>
            <p:ph type="title"/>
          </p:nvPr>
        </p:nvSpPr>
        <p:spPr>
          <a:xfrm>
            <a:off x="1350963" y="115888"/>
            <a:ext cx="6743700" cy="569912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Q</a:t>
            </a:r>
            <a:r>
              <a:rPr lang="zh-CN" altLang="en-US" dirty="0">
                <a:solidFill>
                  <a:schemeClr val="tx1"/>
                </a:solidFill>
              </a:rPr>
              <a:t>型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样品间的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“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相似性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</a:rPr>
              <a:t>”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度量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—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距离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37" name="Rectangle 3"/>
          <p:cNvSpPr/>
          <p:nvPr/>
        </p:nvSpPr>
        <p:spPr>
          <a:xfrm>
            <a:off x="0" y="33480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38" name="Rectangle 4"/>
          <p:cNvSpPr/>
          <p:nvPr/>
        </p:nvSpPr>
        <p:spPr>
          <a:xfrm>
            <a:off x="0" y="33480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39" name="Rectangle 5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40" name="Rectangle 6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41" name="Rectangle 7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42" name="Rectangle 8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43" name="Rectangle 9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44" name="Rectangle 10"/>
          <p:cNvSpPr/>
          <p:nvPr/>
        </p:nvSpPr>
        <p:spPr>
          <a:xfrm>
            <a:off x="-27940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2715" name="Text Box 11"/>
          <p:cNvSpPr txBox="1"/>
          <p:nvPr/>
        </p:nvSpPr>
        <p:spPr>
          <a:xfrm>
            <a:off x="228600" y="914400"/>
            <a:ext cx="8308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设每个样品有 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p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个指标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,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观察值记为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72716" name="Object 12"/>
          <p:cNvGraphicFramePr/>
          <p:nvPr/>
        </p:nvGraphicFramePr>
        <p:xfrm>
          <a:off x="1781175" y="1412875"/>
          <a:ext cx="4662488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71700" imgH="254000" progId="Equation.3">
                  <p:embed/>
                </p:oleObj>
              </mc:Choice>
              <mc:Fallback>
                <p:oleObj name="" r:id="rId1" imgW="2171700" imgH="254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81175" y="1412875"/>
                        <a:ext cx="4662488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7" name="Text Box 13"/>
          <p:cNvSpPr txBox="1"/>
          <p:nvPr/>
        </p:nvSpPr>
        <p:spPr>
          <a:xfrm>
            <a:off x="7097713" y="1412875"/>
            <a:ext cx="1130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(1)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2718" name="Text Box 14"/>
          <p:cNvSpPr txBox="1"/>
          <p:nvPr/>
        </p:nvSpPr>
        <p:spPr>
          <a:xfrm>
            <a:off x="384175" y="1916113"/>
            <a:ext cx="8507413" cy="418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40000"/>
              </a:lnSpc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每个样品  可看成是 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p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2" charset="-122"/>
              </a:rPr>
              <a:t>维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空间的一个点。于是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,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可用各点之间的距离来衡量各样品点之间的接近程度。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样品  和  之间的距离        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,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一般应满足如下条件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 (ⅰ)                         , </a:t>
            </a:r>
            <a:r>
              <a:rPr lang="zh-CN" altLang="en-US" sz="2400" b="0" dirty="0">
                <a:latin typeface="Times New Roman" panose="02020603050405020304" pitchFamily="18" charset="0"/>
              </a:rPr>
              <a:t>且                       时当且仅当              </a:t>
            </a:r>
            <a:r>
              <a:rPr lang="en-US" altLang="zh-CN" sz="2400" b="0" dirty="0">
                <a:latin typeface="Times New Roman" panose="02020603050405020304" pitchFamily="18" charset="0"/>
              </a:rPr>
              <a:t>;</a:t>
            </a:r>
            <a:endParaRPr lang="en-US" altLang="zh-CN" sz="2400" b="0" dirty="0"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 (ⅱ)                                 ;</a:t>
            </a:r>
            <a:endParaRPr lang="en-US" altLang="zh-CN" sz="2400" b="0" dirty="0"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 (ⅲ)                                                            ;</a:t>
            </a:r>
            <a:endParaRPr lang="en-US" altLang="zh-CN" sz="2400" b="0" dirty="0"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有时所用的距离不满足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(ⅲ),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但在广义的角度上仍称为距离。常用的距离有如下几种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72719" name="Object 15"/>
          <p:cNvGraphicFramePr/>
          <p:nvPr/>
        </p:nvGraphicFramePr>
        <p:xfrm>
          <a:off x="1662113" y="2049463"/>
          <a:ext cx="3175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52400" imgH="228600" progId="Equation.3">
                  <p:embed/>
                </p:oleObj>
              </mc:Choice>
              <mc:Fallback>
                <p:oleObj name="" r:id="rId3" imgW="152400" imgH="228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2113" y="2049463"/>
                        <a:ext cx="317500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0" name="Object 16"/>
          <p:cNvGraphicFramePr/>
          <p:nvPr/>
        </p:nvGraphicFramePr>
        <p:xfrm>
          <a:off x="1676400" y="3048000"/>
          <a:ext cx="3175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52400" imgH="228600" progId="Equation.3">
                  <p:embed/>
                </p:oleObj>
              </mc:Choice>
              <mc:Fallback>
                <p:oleObj name="" r:id="rId5" imgW="152400" imgH="228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3048000"/>
                        <a:ext cx="31750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1" name="Object 17"/>
          <p:cNvGraphicFramePr/>
          <p:nvPr/>
        </p:nvGraphicFramePr>
        <p:xfrm>
          <a:off x="2286000" y="3048000"/>
          <a:ext cx="3698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6" imgW="177800" imgH="241300" progId="Equation.3">
                  <p:embed/>
                </p:oleObj>
              </mc:Choice>
              <mc:Fallback>
                <p:oleObj name="" r:id="rId6" imgW="177800" imgH="2413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6000" y="3048000"/>
                        <a:ext cx="369888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2" name="Object 18"/>
          <p:cNvGraphicFramePr/>
          <p:nvPr/>
        </p:nvGraphicFramePr>
        <p:xfrm>
          <a:off x="4191000" y="3048000"/>
          <a:ext cx="1193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8" imgW="571500" imgH="241300" progId="Equation.3">
                  <p:embed/>
                </p:oleObj>
              </mc:Choice>
              <mc:Fallback>
                <p:oleObj name="" r:id="rId8" imgW="571500" imgH="241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91000" y="3048000"/>
                        <a:ext cx="11938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3" name="Object 19"/>
          <p:cNvGraphicFramePr/>
          <p:nvPr/>
        </p:nvGraphicFramePr>
        <p:xfrm>
          <a:off x="1603375" y="3573463"/>
          <a:ext cx="14827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0" imgW="786765" imgH="241300" progId="Equation.3">
                  <p:embed/>
                </p:oleObj>
              </mc:Choice>
              <mc:Fallback>
                <p:oleObj name="" r:id="rId10" imgW="786765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03375" y="3573463"/>
                        <a:ext cx="148272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4" name="Object 20"/>
          <p:cNvGraphicFramePr/>
          <p:nvPr/>
        </p:nvGraphicFramePr>
        <p:xfrm>
          <a:off x="4038600" y="3581400"/>
          <a:ext cx="15446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2" imgW="812165" imgH="241300" progId="Equation.3">
                  <p:embed/>
                </p:oleObj>
              </mc:Choice>
              <mc:Fallback>
                <p:oleObj name="" r:id="rId12" imgW="812165" imgH="2413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38600" y="3581400"/>
                        <a:ext cx="1544638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5" name="Object 21"/>
          <p:cNvGraphicFramePr/>
          <p:nvPr/>
        </p:nvGraphicFramePr>
        <p:xfrm>
          <a:off x="7239000" y="3581400"/>
          <a:ext cx="9302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4" imgW="469900" imgH="241300" progId="Equation.3">
                  <p:embed/>
                </p:oleObj>
              </mc:Choice>
              <mc:Fallback>
                <p:oleObj name="" r:id="rId14" imgW="469900" imgH="2413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239000" y="3581400"/>
                        <a:ext cx="930275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6" name="Object 22"/>
          <p:cNvGraphicFramePr/>
          <p:nvPr/>
        </p:nvGraphicFramePr>
        <p:xfrm>
          <a:off x="1581150" y="4076700"/>
          <a:ext cx="25923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6" imgW="1269365" imgH="241300" progId="Equation.3">
                  <p:embed/>
                </p:oleObj>
              </mc:Choice>
              <mc:Fallback>
                <p:oleObj name="" r:id="rId16" imgW="1269365" imgH="24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1150" y="4076700"/>
                        <a:ext cx="259238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7" name="Object 23"/>
          <p:cNvGraphicFramePr/>
          <p:nvPr/>
        </p:nvGraphicFramePr>
        <p:xfrm>
          <a:off x="1581150" y="4581525"/>
          <a:ext cx="40798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8" imgW="1968500" imgH="241300" progId="Equation.3">
                  <p:embed/>
                </p:oleObj>
              </mc:Choice>
              <mc:Fallback>
                <p:oleObj name="" r:id="rId18" imgW="1968500" imgH="2413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1150" y="4581525"/>
                        <a:ext cx="4079875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5" grpId="0"/>
      <p:bldP spid="72717" grpId="0"/>
      <p:bldP spid="727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267" name="Object 3"/>
          <p:cNvGraphicFramePr/>
          <p:nvPr/>
        </p:nvGraphicFramePr>
        <p:xfrm>
          <a:off x="5638800" y="228600"/>
          <a:ext cx="24225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053465" imgH="444500" progId="Equation.3">
                  <p:embed/>
                </p:oleObj>
              </mc:Choice>
              <mc:Fallback>
                <p:oleObj name="" r:id="rId1" imgW="1053465" imgH="4445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228600"/>
                        <a:ext cx="2422525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/>
          <p:nvPr/>
        </p:nvGraphicFramePr>
        <p:xfrm>
          <a:off x="2286000" y="1752600"/>
          <a:ext cx="355441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1434465" imgH="533400" progId="Equation.3">
                  <p:embed/>
                </p:oleObj>
              </mc:Choice>
              <mc:Fallback>
                <p:oleObj name="" r:id="rId3" imgW="1434465" imgH="5334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0" y="1752600"/>
                        <a:ext cx="3554413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/>
          <p:nvPr/>
        </p:nvSpPr>
        <p:spPr>
          <a:xfrm>
            <a:off x="0" y="3124200"/>
            <a:ext cx="7696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3200" b="0" dirty="0">
                <a:latin typeface="Tahoma" panose="020B0604030504040204" pitchFamily="34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、明考斯基距离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(Minkowski)</a:t>
            </a:r>
            <a:endParaRPr lang="en-US" altLang="zh-CN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270" name="Text Box 6"/>
          <p:cNvSpPr txBox="1"/>
          <p:nvPr/>
        </p:nvSpPr>
        <p:spPr>
          <a:xfrm>
            <a:off x="685800" y="533400"/>
            <a:ext cx="6264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、绝对距离（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Block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距离）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271" name="Text Box 7"/>
          <p:cNvSpPr txBox="1"/>
          <p:nvPr/>
        </p:nvSpPr>
        <p:spPr>
          <a:xfrm>
            <a:off x="609600" y="1295400"/>
            <a:ext cx="58499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、欧氏距离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(Euclidean distance)</a:t>
            </a:r>
            <a:endParaRPr lang="en-US" altLang="zh-CN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1272" name="Object 8"/>
          <p:cNvGraphicFramePr>
            <a:graphicFrameLocks noGrp="1"/>
          </p:cNvGraphicFramePr>
          <p:nvPr>
            <p:ph idx="1"/>
          </p:nvPr>
        </p:nvGraphicFramePr>
        <p:xfrm>
          <a:off x="6096000" y="2971800"/>
          <a:ext cx="27432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1447165" imgH="533400" progId="Equation.3">
                  <p:embed/>
                </p:oleObj>
              </mc:Choice>
              <mc:Fallback>
                <p:oleObj name="" r:id="rId5" imgW="1447165" imgH="5334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0" y="2971800"/>
                        <a:ext cx="2743200" cy="1011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1"/>
          <p:cNvSpPr/>
          <p:nvPr/>
        </p:nvSpPr>
        <p:spPr>
          <a:xfrm>
            <a:off x="533400" y="4114800"/>
            <a:ext cx="7543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000000"/>
                </a:solidFill>
                <a:latin typeface="Tahoma" panose="020B0604030504040204" pitchFamily="34" charset="0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、切比雪夫距离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(Chebychev)</a:t>
            </a:r>
            <a:endParaRPr lang="en-US" altLang="zh-CN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1276" name="Object 12"/>
          <p:cNvGraphicFramePr/>
          <p:nvPr/>
        </p:nvGraphicFramePr>
        <p:xfrm>
          <a:off x="2286000" y="4953000"/>
          <a:ext cx="32766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1357630" imgH="317500" progId="Equation.3">
                  <p:embed/>
                </p:oleObj>
              </mc:Choice>
              <mc:Fallback>
                <p:oleObj name="" r:id="rId7" imgW="1357630" imgH="317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6000" y="4953000"/>
                        <a:ext cx="3276600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11270" grpId="0"/>
      <p:bldP spid="11271" grpId="0"/>
      <p:bldP spid="112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/>
          <p:nvPr/>
        </p:nvSpPr>
        <p:spPr>
          <a:xfrm>
            <a:off x="685800" y="4114800"/>
            <a:ext cx="441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6.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马氏距离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315" name="Text Box 3"/>
          <p:cNvSpPr txBox="1"/>
          <p:nvPr/>
        </p:nvSpPr>
        <p:spPr>
          <a:xfrm>
            <a:off x="685800" y="1828800"/>
            <a:ext cx="2743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5.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数据的标准化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3316" name="Object 4"/>
          <p:cNvGraphicFramePr/>
          <p:nvPr/>
        </p:nvGraphicFramePr>
        <p:xfrm>
          <a:off x="3505200" y="1981200"/>
          <a:ext cx="2209800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825500" imgH="469900" progId="Equation.DSMT4">
                  <p:embed/>
                </p:oleObj>
              </mc:Choice>
              <mc:Fallback>
                <p:oleObj name="" r:id="rId1" imgW="825500" imgH="4699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200" y="1981200"/>
                        <a:ext cx="2209800" cy="1258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/>
          <p:nvPr/>
        </p:nvGraphicFramePr>
        <p:xfrm>
          <a:off x="838200" y="3352800"/>
          <a:ext cx="73914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2665730" imgH="241300" progId="Equation.DSMT4">
                  <p:embed/>
                </p:oleObj>
              </mc:Choice>
              <mc:Fallback>
                <p:oleObj name="" r:id="rId3" imgW="2665730" imgH="2413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352800"/>
                        <a:ext cx="7391400" cy="666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Text Box 6"/>
          <p:cNvSpPr txBox="1"/>
          <p:nvPr/>
        </p:nvSpPr>
        <p:spPr>
          <a:xfrm>
            <a:off x="609600" y="533400"/>
            <a:ext cx="77724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以上距离与各变量的量纲有关，为了消除量纲的</a:t>
            </a:r>
            <a:endParaRPr lang="zh-CN" altLang="en-US" dirty="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影响，可对数据标准化。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13319" name="Object 7"/>
          <p:cNvGraphicFramePr/>
          <p:nvPr/>
        </p:nvGraphicFramePr>
        <p:xfrm>
          <a:off x="893763" y="4953000"/>
          <a:ext cx="690086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2144395" imgH="254000" progId="Equation.DSMT4">
                  <p:embed/>
                </p:oleObj>
              </mc:Choice>
              <mc:Fallback>
                <p:oleObj name="" r:id="rId5" imgW="2144395" imgH="2540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3763" y="4953000"/>
                        <a:ext cx="6900862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  <p:bldP spid="133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2"/>
          <p:cNvSpPr txBox="1"/>
          <p:nvPr/>
        </p:nvSpPr>
        <p:spPr>
          <a:xfrm>
            <a:off x="387350" y="990600"/>
            <a:ext cx="8756650" cy="3683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40000"/>
              </a:lnSpc>
            </a:pPr>
            <a:r>
              <a:rPr lang="en-US" altLang="zh-CN" sz="2400" b="0" dirty="0">
                <a:latin typeface="Tahoma" panose="020B0604030504040204" pitchFamily="34" charset="0"/>
              </a:rPr>
              <a:t>     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1    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欧洲各国的语言有许多相似之处，有的十分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相似。为了研究这些语言的历史关系，也许通过比较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他们数字的表达式比较恰当。表列举出英语，挪威语，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丹麦语，荷兰语，德语，法语，西班牙语，意大利语，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波兰语，匈牙利语和芬兰语的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1,2,…,10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的拼法，希望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计算这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11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种语言之间的语言的距离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31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charRg st="31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5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charRg st="55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8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charRg st="80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105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charRg st="105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133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charRg st="133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9" name="Text Box 3"/>
          <p:cNvSpPr txBox="1"/>
          <p:nvPr/>
        </p:nvSpPr>
        <p:spPr>
          <a:xfrm>
            <a:off x="2844800" y="101600"/>
            <a:ext cx="37211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11</a:t>
            </a:r>
            <a:r>
              <a:rPr lang="zh-CN" altLang="en-US" b="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种欧洲语言的数词</a:t>
            </a:r>
            <a:endParaRPr lang="zh-CN" altLang="en-US" b="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4098" name="Object 4"/>
          <p:cNvGraphicFramePr>
            <a:graphicFrameLocks noGrp="1"/>
          </p:cNvGraphicFramePr>
          <p:nvPr>
            <p:ph idx="1"/>
          </p:nvPr>
        </p:nvGraphicFramePr>
        <p:xfrm>
          <a:off x="152400" y="762000"/>
          <a:ext cx="87376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10083800" imgH="3848100" progId="Excel.Sheet.8">
                  <p:embed/>
                </p:oleObj>
              </mc:Choice>
              <mc:Fallback>
                <p:oleObj name="" r:id="rId1" imgW="10083800" imgH="3848100" progId="Excel.Sheet.8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" y="762000"/>
                        <a:ext cx="8737600" cy="518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/>
          <p:nvPr>
            <p:ph type="title"/>
          </p:nvPr>
        </p:nvSpPr>
        <p:spPr>
          <a:xfrm>
            <a:off x="1219200" y="228600"/>
            <a:ext cx="3090863" cy="576263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/>
            <a:r>
              <a:rPr lang="zh-CN" altLang="en-US" sz="2800" dirty="0">
                <a:ea typeface="黑体" panose="02010609060101010101" pitchFamily="2" charset="-122"/>
              </a:rPr>
              <a:t>选择适用的距离</a:t>
            </a:r>
            <a:endParaRPr lang="zh-CN" altLang="en-US" sz="2800" dirty="0">
              <a:ea typeface="黑体" panose="02010609060101010101" pitchFamily="2" charset="-122"/>
            </a:endParaRPr>
          </a:p>
        </p:txBody>
      </p:sp>
      <p:sp>
        <p:nvSpPr>
          <p:cNvPr id="74755" name="Text Box 3"/>
          <p:cNvSpPr txBox="1"/>
          <p:nvPr/>
        </p:nvSpPr>
        <p:spPr>
          <a:xfrm>
            <a:off x="384175" y="981075"/>
            <a:ext cx="8507413" cy="5278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5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在聚类分析中通常要结合实际问题来选择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适用</a:t>
            </a:r>
            <a:r>
              <a:rPr lang="zh-CN" altLang="en-US" dirty="0">
                <a:latin typeface="宋体" panose="02010600030101010101" pitchFamily="2" charset="-122"/>
              </a:rPr>
              <a:t>的距离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有时应根据实际问题定义新的距离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显然，本例无法直接用上述公式来计算距离。但可以发现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前三种文字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英、挪、丹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很相似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特别是每个单词的第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一</a:t>
            </a:r>
            <a:r>
              <a:rPr lang="zh-CN" altLang="en-US" dirty="0">
                <a:latin typeface="宋体" panose="02010600030101010101" pitchFamily="2" charset="-122"/>
              </a:rPr>
              <a:t>个字母。可以用</a:t>
            </a:r>
            <a:r>
              <a:rPr lang="en-US" altLang="zh-CN" dirty="0">
                <a:latin typeface="宋体" panose="02010600030101010101" pitchFamily="2" charset="-122"/>
              </a:rPr>
              <a:t>10</a:t>
            </a:r>
            <a:r>
              <a:rPr lang="zh-CN" altLang="en-US" dirty="0">
                <a:latin typeface="宋体" panose="02010600030101010101" pitchFamily="2" charset="-122"/>
              </a:rPr>
              <a:t>个数词中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第一个</a:t>
            </a:r>
            <a:r>
              <a:rPr lang="zh-CN" altLang="en-US" dirty="0">
                <a:latin typeface="宋体" panose="02010600030101010101" pitchFamily="2" charset="-122"/>
              </a:rPr>
              <a:t>字母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不同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个数</a:t>
            </a:r>
            <a:r>
              <a:rPr lang="zh-CN" altLang="en-US" dirty="0">
                <a:latin typeface="宋体" panose="02010600030101010101" pitchFamily="2" charset="-122"/>
              </a:rPr>
              <a:t>来定义两种语言之间的距离。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例如：英语和挪威语中只有</a:t>
            </a:r>
            <a:r>
              <a:rPr lang="en-US" altLang="zh-CN" dirty="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</a:rPr>
              <a:t>8</a:t>
            </a:r>
            <a:r>
              <a:rPr lang="zh-CN" altLang="en-US" dirty="0">
                <a:latin typeface="宋体" panose="02010600030101010101" pitchFamily="2" charset="-122"/>
              </a:rPr>
              <a:t>的第一个字母不同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则它们之间的距离为</a:t>
            </a:r>
            <a:r>
              <a:rPr lang="en-US" altLang="zh-CN" dirty="0">
                <a:latin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charRg st="47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charRg st="47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charRg st="93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charRg st="93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charRg st="144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charRg st="144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482" name="Object 2"/>
          <p:cNvGraphicFramePr/>
          <p:nvPr/>
        </p:nvGraphicFramePr>
        <p:xfrm>
          <a:off x="574675" y="685800"/>
          <a:ext cx="829945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3314700" imgH="2692400" progId="Equation.DSMT4">
                  <p:embed/>
                </p:oleObj>
              </mc:Choice>
              <mc:Fallback>
                <p:oleObj name="" r:id="rId1" imgW="3314700" imgH="26924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4675" y="685800"/>
                        <a:ext cx="8299450" cy="548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506" name="Object 2"/>
          <p:cNvGraphicFramePr/>
          <p:nvPr/>
        </p:nvGraphicFramePr>
        <p:xfrm>
          <a:off x="3886200" y="228600"/>
          <a:ext cx="3581400" cy="202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1625600" imgH="939800" progId="Equation.DSMT4">
                  <p:embed/>
                </p:oleObj>
              </mc:Choice>
              <mc:Fallback>
                <p:oleObj name="" r:id="rId1" imgW="1625600" imgH="9398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86200" y="228600"/>
                        <a:ext cx="3581400" cy="2027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/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" imgW="114300" imgH="215265" progId="Equation.3">
                  <p:embed/>
                </p:oleObj>
              </mc:Choice>
              <mc:Fallback>
                <p:oleObj name="" r:id="rId3" imgW="114300" imgH="21526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/>
          <p:nvPr/>
        </p:nvGraphicFramePr>
        <p:xfrm>
          <a:off x="3886200" y="2362200"/>
          <a:ext cx="3810000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5" imgW="2006600" imgH="889000" progId="Equation.DSMT4">
                  <p:embed/>
                </p:oleObj>
              </mc:Choice>
              <mc:Fallback>
                <p:oleObj name="" r:id="rId5" imgW="2006600" imgH="8890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6200" y="2362200"/>
                        <a:ext cx="3810000" cy="168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6"/>
          <p:cNvSpPr txBox="1"/>
          <p:nvPr/>
        </p:nvSpPr>
        <p:spPr>
          <a:xfrm>
            <a:off x="1219200" y="1066800"/>
            <a:ext cx="21971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、夹角余弦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511" name="Text Box 7"/>
          <p:cNvSpPr txBox="1"/>
          <p:nvPr/>
        </p:nvSpPr>
        <p:spPr>
          <a:xfrm>
            <a:off x="1219200" y="2895600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、相关系数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512" name="Rectangle 8"/>
          <p:cNvSpPr/>
          <p:nvPr/>
        </p:nvSpPr>
        <p:spPr>
          <a:xfrm>
            <a:off x="838200" y="228600"/>
            <a:ext cx="25860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R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型聚类统计量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513" name="Rectangle 9"/>
          <p:cNvSpPr/>
          <p:nvPr/>
        </p:nvSpPr>
        <p:spPr>
          <a:xfrm>
            <a:off x="457200" y="3886200"/>
            <a:ext cx="8440738" cy="2486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40000"/>
              </a:lnSpc>
            </a:pPr>
            <a:r>
              <a:rPr lang="en-US" altLang="zh-CN" sz="2400" b="0" dirty="0">
                <a:latin typeface="Tahoma" panose="020B0604030504040204" pitchFamily="34" charset="0"/>
              </a:rPr>
              <a:t>        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对两个指标之间的相似程度用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相似系数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来刻划，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相似系数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绝对对值越接近于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，表示指标间的关系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越密切，绝对值越接近于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，表示指标间的关系越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疏远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51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charRg st="3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513">
                                            <p:txEl>
                                              <p:charRg st="3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charRg st="53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513">
                                            <p:txEl>
                                              <p:charRg st="53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charRg st="76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513">
                                            <p:txEl>
                                              <p:charRg st="76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build="p"/>
      <p:bldP spid="21511" grpId="0" build="p"/>
      <p:bldP spid="21512" grpId="0" build="p"/>
      <p:bldP spid="2151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ext Box 2"/>
          <p:cNvSpPr txBox="1"/>
          <p:nvPr/>
        </p:nvSpPr>
        <p:spPr>
          <a:xfrm>
            <a:off x="609600" y="381000"/>
            <a:ext cx="7162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三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系统聚类分析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457200" y="1066800"/>
            <a:ext cx="6019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1.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系统聚类分析的基本思想是：</a:t>
            </a:r>
            <a:r>
              <a:rPr lang="zh-CN" altLang="en-US" b="0" dirty="0">
                <a:latin typeface="Tahoma" panose="020B0604030504040204" pitchFamily="34" charset="0"/>
              </a:rPr>
              <a:t> </a:t>
            </a:r>
            <a:endParaRPr lang="zh-CN" altLang="en-US" b="0" dirty="0">
              <a:latin typeface="Tahoma" panose="020B0604030504040204" pitchFamily="34" charset="0"/>
            </a:endParaRPr>
          </a:p>
        </p:txBody>
      </p:sp>
      <p:sp>
        <p:nvSpPr>
          <p:cNvPr id="24580" name="Text Box 4"/>
          <p:cNvSpPr txBox="1"/>
          <p:nvPr/>
        </p:nvSpPr>
        <p:spPr>
          <a:xfrm>
            <a:off x="1219200" y="1828800"/>
            <a:ext cx="7543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距离相近的样品（或变量）先聚成类，距离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4581" name="Text Box 5"/>
          <p:cNvSpPr txBox="1"/>
          <p:nvPr/>
        </p:nvSpPr>
        <p:spPr>
          <a:xfrm>
            <a:off x="533400" y="2514600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相远的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聚成类，过程一直下去，每个样品（或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24582" name="Text Box 6"/>
          <p:cNvSpPr txBox="1"/>
          <p:nvPr/>
        </p:nvSpPr>
        <p:spPr>
          <a:xfrm>
            <a:off x="457200" y="3276600"/>
            <a:ext cx="53498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变量）总能聚到合适的类中。</a:t>
            </a:r>
            <a:r>
              <a:rPr lang="zh-CN" altLang="en-US" dirty="0">
                <a:latin typeface="Tahoma" panose="020B0604030504040204" pitchFamily="34" charset="0"/>
              </a:rPr>
              <a:t> 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24583" name="Text Box 7"/>
          <p:cNvSpPr txBox="1"/>
          <p:nvPr/>
        </p:nvSpPr>
        <p:spPr>
          <a:xfrm>
            <a:off x="1371600" y="4038600"/>
            <a:ext cx="37560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系统聚类分析过程是：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24584" name="Text Box 8"/>
          <p:cNvSpPr txBox="1"/>
          <p:nvPr/>
        </p:nvSpPr>
        <p:spPr>
          <a:xfrm>
            <a:off x="1219200" y="4800600"/>
            <a:ext cx="7375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假设总共有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个样品（或变量），第一步将每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4585" name="Text Box 9"/>
          <p:cNvSpPr txBox="1"/>
          <p:nvPr/>
        </p:nvSpPr>
        <p:spPr>
          <a:xfrm>
            <a:off x="609600" y="5486400"/>
            <a:ext cx="73088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个样品（或变量）独自聚成一类，共有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类；</a:t>
            </a:r>
            <a:r>
              <a:rPr lang="zh-CN" altLang="en-US" b="0" dirty="0">
                <a:latin typeface="Tahoma" panose="020B0604030504040204" pitchFamily="34" charset="0"/>
              </a:rPr>
              <a:t> </a:t>
            </a:r>
            <a:endParaRPr lang="zh-CN" altLang="en-US" b="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79" grpId="0"/>
      <p:bldP spid="24580" grpId="0"/>
      <p:bldP spid="24581" grpId="0"/>
      <p:bldP spid="24582" grpId="0"/>
      <p:bldP spid="24583" grpId="0"/>
      <p:bldP spid="24584" grpId="0"/>
      <p:bldP spid="2458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ext Box 2"/>
          <p:cNvSpPr txBox="1"/>
          <p:nvPr/>
        </p:nvSpPr>
        <p:spPr>
          <a:xfrm>
            <a:off x="609600" y="990600"/>
            <a:ext cx="81454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第二步根据所确定的样品（或变量）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距离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公式，</a:t>
            </a:r>
            <a:r>
              <a:rPr lang="zh-CN" altLang="en-US" dirty="0">
                <a:latin typeface="Tahoma" panose="020B0604030504040204" pitchFamily="34" charset="0"/>
              </a:rPr>
              <a:t> 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669925" y="1644650"/>
            <a:ext cx="80422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将距离较近的两个样品（或变量）聚合为一类，其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5604" name="Text Box 4"/>
          <p:cNvSpPr txBox="1"/>
          <p:nvPr/>
        </p:nvSpPr>
        <p:spPr>
          <a:xfrm>
            <a:off x="655638" y="2438400"/>
            <a:ext cx="82280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他样品（或变量）仍各自聚为一类，共有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类；</a:t>
            </a:r>
            <a:r>
              <a:rPr lang="zh-CN" altLang="en-US" b="0" dirty="0">
                <a:latin typeface="Times New Roman" panose="02020603050405020304" pitchFamily="18" charset="0"/>
              </a:rPr>
              <a:t> 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5605" name="Text Box 5"/>
          <p:cNvSpPr txBox="1"/>
          <p:nvPr/>
        </p:nvSpPr>
        <p:spPr>
          <a:xfrm>
            <a:off x="685800" y="3124200"/>
            <a:ext cx="804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第三步将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距离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最近的两个类进一步聚成一类，共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5606" name="Text Box 6"/>
          <p:cNvSpPr txBox="1"/>
          <p:nvPr/>
        </p:nvSpPr>
        <p:spPr>
          <a:xfrm>
            <a:off x="685800" y="3810000"/>
            <a:ext cx="7778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聚成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类；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以上步骤一直进行下去，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最后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5607" name="Text Box 7"/>
          <p:cNvSpPr txBox="1"/>
          <p:nvPr/>
        </p:nvSpPr>
        <p:spPr>
          <a:xfrm>
            <a:off x="762000" y="4495800"/>
            <a:ext cx="55419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将所有的样品或变量）聚成一类。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8" name="Text Box 8"/>
          <p:cNvSpPr txBox="1"/>
          <p:nvPr/>
        </p:nvSpPr>
        <p:spPr>
          <a:xfrm>
            <a:off x="457200" y="5029200"/>
            <a:ext cx="8105775" cy="1203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3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ahoma" panose="020B0604030504040204" pitchFamily="34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将整个分类系统地画成一张谱系图，所以有时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F3300"/>
                </a:solidFill>
                <a:latin typeface="Tahoma" panose="020B0604030504040204" pitchFamily="34" charset="0"/>
              </a:rPr>
              <a:t>系统聚类分析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也叫</a:t>
            </a:r>
            <a:r>
              <a:rPr lang="zh-CN" altLang="en-US" dirty="0">
                <a:solidFill>
                  <a:srgbClr val="FF3300"/>
                </a:solidFill>
                <a:latin typeface="Tahoma" panose="020B0604030504040204" pitchFamily="34" charset="0"/>
              </a:rPr>
              <a:t>谱系聚类分析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/>
      <p:bldP spid="25604" grpId="0"/>
      <p:bldP spid="25605" grpId="0"/>
      <p:bldP spid="25606" grpId="0"/>
      <p:bldP spid="25607" grpId="0"/>
      <p:bldP spid="2560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2"/>
          <p:cNvSpPr txBox="1"/>
          <p:nvPr/>
        </p:nvSpPr>
        <p:spPr>
          <a:xfrm>
            <a:off x="1219200" y="914400"/>
            <a:ext cx="3048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2.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类间距离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27" name="Text Box 3"/>
          <p:cNvSpPr txBox="1"/>
          <p:nvPr/>
        </p:nvSpPr>
        <p:spPr>
          <a:xfrm>
            <a:off x="1143000" y="1600200"/>
            <a:ext cx="77739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首先定义类与类之间地距离，又类间的距离定义</a:t>
            </a:r>
            <a:r>
              <a:rPr lang="zh-CN" altLang="en-US" b="0" dirty="0">
                <a:latin typeface="Times New Roman" panose="02020603050405020304" pitchFamily="18" charset="0"/>
              </a:rPr>
              <a:t> 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6628" name="Text Box 4"/>
          <p:cNvSpPr txBox="1"/>
          <p:nvPr/>
        </p:nvSpPr>
        <p:spPr>
          <a:xfrm>
            <a:off x="457200" y="2416175"/>
            <a:ext cx="83994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不同产生不同的系统聚类分析。常见的类间的距离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有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6629" name="Rectangle 5"/>
          <p:cNvSpPr/>
          <p:nvPr/>
        </p:nvSpPr>
        <p:spPr>
          <a:xfrm>
            <a:off x="609600" y="5410200"/>
            <a:ext cx="6629400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法。它们的归类步骤基本是一致的。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0" name="Text Box 6"/>
          <p:cNvSpPr txBox="1"/>
          <p:nvPr/>
        </p:nvSpPr>
        <p:spPr>
          <a:xfrm>
            <a:off x="533400" y="3048000"/>
            <a:ext cx="8139113" cy="647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种之多，与之相应的系统聚类分析也有</a:t>
            </a:r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种之多、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1" name="Text Box 7"/>
          <p:cNvSpPr txBox="1"/>
          <p:nvPr/>
        </p:nvSpPr>
        <p:spPr>
          <a:xfrm>
            <a:off x="533400" y="3810000"/>
            <a:ext cx="8839200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分别为最短距离法、最长距离法、中间距离法、重心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2" name="Text Box 8"/>
          <p:cNvSpPr txBox="1"/>
          <p:nvPr/>
        </p:nvSpPr>
        <p:spPr>
          <a:xfrm>
            <a:off x="492125" y="4724400"/>
            <a:ext cx="8499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</a:rPr>
              <a:t>法、类平均法、可变类平均法、可变法和离差平方和</a:t>
            </a:r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/>
      <p:bldP spid="26628" grpId="0"/>
      <p:bldP spid="26629" grpId="0"/>
      <p:bldP spid="26630" grpId="0"/>
      <p:bldP spid="26631" grpId="0"/>
      <p:bldP spid="266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81" name="Rectangle 3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82" name="Rectangle 4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83" name="Rectangle 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84" name="Rectangle 6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85" name="Rectangle 7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86" name="Rectangle 8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87" name="Rectangle 9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88" name="Rectangle 10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89" name="Rectangle 11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90" name="Rectangle 12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91" name="Rectangle 13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92" name="Rectangle 14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193" name="Text Box 16"/>
          <p:cNvSpPr txBox="1"/>
          <p:nvPr/>
        </p:nvSpPr>
        <p:spPr>
          <a:xfrm>
            <a:off x="304800" y="990600"/>
            <a:ext cx="8509000" cy="2830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 </a:t>
            </a:r>
            <a:endParaRPr lang="en-US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用 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i , j 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表示样品      。用    表示   与   之间的距离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,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用    与    表示两个类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,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所包含的样品数分别为     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    与    之间的距离用          表示。下面给出四种最常用的类与类之间距离的定义。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7170" name="Object 17"/>
          <p:cNvGraphicFramePr/>
          <p:nvPr/>
        </p:nvGraphicFramePr>
        <p:xfrm>
          <a:off x="3200400" y="1676400"/>
          <a:ext cx="7905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355600" imgH="241300" progId="Equation.3">
                  <p:embed/>
                </p:oleObj>
              </mc:Choice>
              <mc:Fallback>
                <p:oleObj name="" r:id="rId1" imgW="355600" imgH="2413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0400" y="1676400"/>
                        <a:ext cx="790575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8"/>
          <p:cNvGraphicFramePr/>
          <p:nvPr/>
        </p:nvGraphicFramePr>
        <p:xfrm>
          <a:off x="6096000" y="1676400"/>
          <a:ext cx="3349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3" imgW="152400" imgH="228600" progId="Equation.3">
                  <p:embed/>
                </p:oleObj>
              </mc:Choice>
              <mc:Fallback>
                <p:oleObj name="" r:id="rId3" imgW="152400" imgH="2286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1676400"/>
                        <a:ext cx="334963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9"/>
          <p:cNvGraphicFramePr/>
          <p:nvPr/>
        </p:nvGraphicFramePr>
        <p:xfrm>
          <a:off x="4876800" y="1676400"/>
          <a:ext cx="4064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190500" imgH="241300" progId="Equation.3">
                  <p:embed/>
                </p:oleObj>
              </mc:Choice>
              <mc:Fallback>
                <p:oleObj name="" r:id="rId5" imgW="190500" imgH="2413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6800" y="1676400"/>
                        <a:ext cx="406400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20"/>
          <p:cNvGraphicFramePr/>
          <p:nvPr/>
        </p:nvGraphicFramePr>
        <p:xfrm>
          <a:off x="6781800" y="1676400"/>
          <a:ext cx="3381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7" imgW="177800" imgH="241300" progId="Equation.3">
                  <p:embed/>
                </p:oleObj>
              </mc:Choice>
              <mc:Fallback>
                <p:oleObj name="" r:id="rId7" imgW="177800" imgH="2413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81800" y="1676400"/>
                        <a:ext cx="338138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21"/>
          <p:cNvGraphicFramePr/>
          <p:nvPr/>
        </p:nvGraphicFramePr>
        <p:xfrm>
          <a:off x="1447800" y="2819400"/>
          <a:ext cx="4191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9" imgW="203200" imgH="241300" progId="Equation.3">
                  <p:embed/>
                </p:oleObj>
              </mc:Choice>
              <mc:Fallback>
                <p:oleObj name="" r:id="rId9" imgW="203200" imgH="2413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47800" y="2819400"/>
                        <a:ext cx="419100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22"/>
          <p:cNvGraphicFramePr/>
          <p:nvPr/>
        </p:nvGraphicFramePr>
        <p:xfrm>
          <a:off x="838200" y="2286000"/>
          <a:ext cx="4238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1" imgW="215900" imgH="241300" progId="Equation.3">
                  <p:embed/>
                </p:oleObj>
              </mc:Choice>
              <mc:Fallback>
                <p:oleObj name="" r:id="rId11" imgW="215900" imgH="2413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8200" y="2286000"/>
                        <a:ext cx="423863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23"/>
          <p:cNvGraphicFramePr/>
          <p:nvPr/>
        </p:nvGraphicFramePr>
        <p:xfrm>
          <a:off x="457200" y="2743200"/>
          <a:ext cx="4667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3" imgW="215900" imgH="241300" progId="Equation.3">
                  <p:embed/>
                </p:oleObj>
              </mc:Choice>
              <mc:Fallback>
                <p:oleObj name="" r:id="rId13" imgW="215900" imgH="2413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200" y="2743200"/>
                        <a:ext cx="466725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24"/>
          <p:cNvGraphicFramePr/>
          <p:nvPr/>
        </p:nvGraphicFramePr>
        <p:xfrm>
          <a:off x="1752600" y="2286000"/>
          <a:ext cx="4397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4" imgW="203200" imgH="241300" progId="Equation.3">
                  <p:embed/>
                </p:oleObj>
              </mc:Choice>
              <mc:Fallback>
                <p:oleObj name="" r:id="rId14" imgW="203200" imgH="2413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52600" y="2286000"/>
                        <a:ext cx="439738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25"/>
          <p:cNvGraphicFramePr/>
          <p:nvPr/>
        </p:nvGraphicFramePr>
        <p:xfrm>
          <a:off x="7086600" y="2209800"/>
          <a:ext cx="40798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5" imgW="190500" imgH="241300" progId="Equation.3">
                  <p:embed/>
                </p:oleObj>
              </mc:Choice>
              <mc:Fallback>
                <p:oleObj name="" r:id="rId15" imgW="190500" imgH="2413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86600" y="2209800"/>
                        <a:ext cx="407988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26"/>
          <p:cNvGraphicFramePr/>
          <p:nvPr/>
        </p:nvGraphicFramePr>
        <p:xfrm>
          <a:off x="7620000" y="2209800"/>
          <a:ext cx="4127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7" imgW="177800" imgH="240665" progId="Equation.3">
                  <p:embed/>
                </p:oleObj>
              </mc:Choice>
              <mc:Fallback>
                <p:oleObj name="" r:id="rId17" imgW="177800" imgH="24066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20000" y="2209800"/>
                        <a:ext cx="41275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27"/>
          <p:cNvGraphicFramePr/>
          <p:nvPr/>
        </p:nvGraphicFramePr>
        <p:xfrm>
          <a:off x="3810000" y="2819400"/>
          <a:ext cx="13716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9" imgW="698500" imgH="241300" progId="Equation.3">
                  <p:embed/>
                </p:oleObj>
              </mc:Choice>
              <mc:Fallback>
                <p:oleObj name="" r:id="rId19" imgW="698500" imgH="2413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10000" y="2819400"/>
                        <a:ext cx="1371600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1" name="Rectangle 3"/>
          <p:cNvSpPr/>
          <p:nvPr>
            <p:ph idx="1"/>
          </p:nvPr>
        </p:nvSpPr>
        <p:spPr>
          <a:xfrm>
            <a:off x="304800" y="1447800"/>
            <a:ext cx="8153400" cy="609600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/>
              <a:t>1 </a:t>
            </a:r>
            <a:r>
              <a:rPr lang="zh-CN" altLang="en-US" dirty="0"/>
              <a:t>、最短距离（</a:t>
            </a:r>
            <a:r>
              <a:rPr lang="en-US" altLang="zh-CN" dirty="0"/>
              <a:t>Nearest Neighbor)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2286000" y="3657600"/>
            <a:ext cx="4876800" cy="1905000"/>
            <a:chOff x="1440" y="2304"/>
            <a:chExt cx="3072" cy="1200"/>
          </a:xfrm>
        </p:grpSpPr>
        <p:sp>
          <p:nvSpPr>
            <p:cNvPr id="8198" name="Oval 5"/>
            <p:cNvSpPr/>
            <p:nvPr/>
          </p:nvSpPr>
          <p:spPr>
            <a:xfrm>
              <a:off x="1440" y="2400"/>
              <a:ext cx="1104" cy="110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endParaRPr lang="zh-CN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199" name="Oval 6"/>
            <p:cNvSpPr/>
            <p:nvPr/>
          </p:nvSpPr>
          <p:spPr>
            <a:xfrm>
              <a:off x="3216" y="2304"/>
              <a:ext cx="1296" cy="1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8200" name="Rectangle 7"/>
            <p:cNvSpPr/>
            <p:nvPr/>
          </p:nvSpPr>
          <p:spPr>
            <a:xfrm>
              <a:off x="3600" y="2448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201" name="Rectangle 8"/>
            <p:cNvSpPr/>
            <p:nvPr/>
          </p:nvSpPr>
          <p:spPr>
            <a:xfrm>
              <a:off x="1536" y="2832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202" name="Rectangle 9"/>
            <p:cNvSpPr/>
            <p:nvPr/>
          </p:nvSpPr>
          <p:spPr>
            <a:xfrm>
              <a:off x="3264" y="2784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203" name="Rectangle 10"/>
            <p:cNvSpPr/>
            <p:nvPr/>
          </p:nvSpPr>
          <p:spPr>
            <a:xfrm>
              <a:off x="1824" y="2544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8194" name="Object 11"/>
            <p:cNvGraphicFramePr/>
            <p:nvPr/>
          </p:nvGraphicFramePr>
          <p:xfrm>
            <a:off x="2736" y="2448"/>
            <a:ext cx="22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1" imgW="355600" imgH="393065" progId="Equation.3">
                    <p:embed/>
                  </p:oleObj>
                </mc:Choice>
                <mc:Fallback>
                  <p:oleObj name="" r:id="rId1" imgW="355600" imgH="393065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36" y="2448"/>
                          <a:ext cx="22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860" name="Line 12"/>
          <p:cNvSpPr/>
          <p:nvPr/>
        </p:nvSpPr>
        <p:spPr>
          <a:xfrm>
            <a:off x="3419475" y="4292600"/>
            <a:ext cx="2232025" cy="360363"/>
          </a:xfrm>
          <a:prstGeom prst="line">
            <a:avLst/>
          </a:prstGeom>
          <a:ln w="28575" cap="sq" cmpd="sng">
            <a:solidFill>
              <a:srgbClr val="FF0066"/>
            </a:solidFill>
            <a:prstDash val="solid"/>
            <a:miter/>
            <a:headEnd type="none" w="sm" len="sm"/>
            <a:tailEnd type="none" w="sm" len="sm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788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0901" name="Object 5"/>
          <p:cNvGraphicFramePr/>
          <p:nvPr/>
        </p:nvGraphicFramePr>
        <p:xfrm>
          <a:off x="1166813" y="1066800"/>
          <a:ext cx="563086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2590800" imgH="279400" progId="Equation.3">
                  <p:embed/>
                </p:oleObj>
              </mc:Choice>
              <mc:Fallback>
                <p:oleObj name="" r:id="rId1" imgW="2590800" imgH="2794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66813" y="1066800"/>
                        <a:ext cx="5630862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Text Box 6"/>
          <p:cNvSpPr txBox="1"/>
          <p:nvPr/>
        </p:nvSpPr>
        <p:spPr>
          <a:xfrm>
            <a:off x="7704138" y="1066800"/>
            <a:ext cx="12969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0903" name="Text Box 7"/>
          <p:cNvSpPr txBox="1"/>
          <p:nvPr/>
        </p:nvSpPr>
        <p:spPr>
          <a:xfrm>
            <a:off x="0" y="1590675"/>
            <a:ext cx="9217025" cy="2066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5000"/>
              </a:lnSpc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即定义    与    之间的距离为    与    中最近的两个样品的距离。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400" b="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类与类之间的最短距离有如下的递推公式。设   由    与 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合并而成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,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则   与其它类            的最短距离为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Group 21"/>
          <p:cNvGrpSpPr/>
          <p:nvPr/>
        </p:nvGrpSpPr>
        <p:grpSpPr>
          <a:xfrm>
            <a:off x="1074738" y="1687513"/>
            <a:ext cx="3827462" cy="600075"/>
            <a:chOff x="677" y="1063"/>
            <a:chExt cx="2411" cy="378"/>
          </a:xfrm>
        </p:grpSpPr>
        <p:graphicFrame>
          <p:nvGraphicFramePr>
            <p:cNvPr id="9227" name="Object 8"/>
            <p:cNvGraphicFramePr/>
            <p:nvPr/>
          </p:nvGraphicFramePr>
          <p:xfrm>
            <a:off x="677" y="1063"/>
            <a:ext cx="32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3" imgW="215900" imgH="241300" progId="Equation.3">
                    <p:embed/>
                  </p:oleObj>
                </mc:Choice>
                <mc:Fallback>
                  <p:oleObj name="" r:id="rId3" imgW="215900" imgH="2413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77" y="1063"/>
                          <a:ext cx="321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8" name="Object 9"/>
            <p:cNvGraphicFramePr/>
            <p:nvPr/>
          </p:nvGraphicFramePr>
          <p:xfrm>
            <a:off x="1240" y="1063"/>
            <a:ext cx="302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5" imgW="203200" imgH="241300" progId="Equation.3">
                    <p:embed/>
                  </p:oleObj>
                </mc:Choice>
                <mc:Fallback>
                  <p:oleObj name="" r:id="rId5" imgW="203200" imgH="2413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40" y="1063"/>
                          <a:ext cx="302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9" name="Object 10"/>
            <p:cNvGraphicFramePr/>
            <p:nvPr/>
          </p:nvGraphicFramePr>
          <p:xfrm>
            <a:off x="2767" y="1093"/>
            <a:ext cx="321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7" imgW="215900" imgH="241300" progId="Equation.3">
                    <p:embed/>
                  </p:oleObj>
                </mc:Choice>
                <mc:Fallback>
                  <p:oleObj name="" r:id="rId7" imgW="215900" imgH="2413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67" y="1093"/>
                          <a:ext cx="321" cy="3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0907" name="Object 11"/>
          <p:cNvGraphicFramePr/>
          <p:nvPr/>
        </p:nvGraphicFramePr>
        <p:xfrm>
          <a:off x="5327650" y="1687513"/>
          <a:ext cx="4762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8" imgW="203200" imgH="241300" progId="Equation.3">
                  <p:embed/>
                </p:oleObj>
              </mc:Choice>
              <mc:Fallback>
                <p:oleObj name="" r:id="rId8" imgW="203200" imgH="2413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27650" y="1687513"/>
                        <a:ext cx="476250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/>
          <p:nvPr/>
        </p:nvGraphicFramePr>
        <p:xfrm>
          <a:off x="7632700" y="2695575"/>
          <a:ext cx="5048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9" imgW="215900" imgH="241300" progId="Equation.3">
                  <p:embed/>
                </p:oleObj>
              </mc:Choice>
              <mc:Fallback>
                <p:oleObj name="" r:id="rId9" imgW="215900" imgH="2413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32700" y="2695575"/>
                        <a:ext cx="504825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Object 13"/>
          <p:cNvGraphicFramePr/>
          <p:nvPr/>
        </p:nvGraphicFramePr>
        <p:xfrm>
          <a:off x="6840538" y="2713038"/>
          <a:ext cx="4476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0" imgW="203200" imgH="215900" progId="Equation.3">
                  <p:embed/>
                </p:oleObj>
              </mc:Choice>
              <mc:Fallback>
                <p:oleObj name="" r:id="rId10" imgW="203200" imgH="2159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40538" y="2713038"/>
                        <a:ext cx="447675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0" name="Object 14"/>
          <p:cNvGraphicFramePr/>
          <p:nvPr/>
        </p:nvGraphicFramePr>
        <p:xfrm>
          <a:off x="8521700" y="2670175"/>
          <a:ext cx="4794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2" imgW="203200" imgH="241300" progId="Equation.3">
                  <p:embed/>
                </p:oleObj>
              </mc:Choice>
              <mc:Fallback>
                <p:oleObj name="" r:id="rId12" imgW="203200" imgH="2413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21700" y="2670175"/>
                        <a:ext cx="479425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1" name="Object 15"/>
          <p:cNvGraphicFramePr/>
          <p:nvPr/>
        </p:nvGraphicFramePr>
        <p:xfrm>
          <a:off x="1943100" y="3186113"/>
          <a:ext cx="4762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3" imgW="203200" imgH="215900" progId="Equation.3">
                  <p:embed/>
                </p:oleObj>
              </mc:Choice>
              <mc:Fallback>
                <p:oleObj name="" r:id="rId13" imgW="203200" imgH="2159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43100" y="3186113"/>
                        <a:ext cx="47625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2" name="Object 16"/>
          <p:cNvGraphicFramePr/>
          <p:nvPr/>
        </p:nvGraphicFramePr>
        <p:xfrm>
          <a:off x="3654425" y="3197225"/>
          <a:ext cx="18176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4" imgW="812165" imgH="228600" progId="Equation.3">
                  <p:embed/>
                </p:oleObj>
              </mc:Choice>
              <mc:Fallback>
                <p:oleObj name="" r:id="rId14" imgW="812165" imgH="2286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54425" y="3197225"/>
                        <a:ext cx="1817688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7"/>
          <p:cNvGrpSpPr/>
          <p:nvPr/>
        </p:nvGrpSpPr>
        <p:grpSpPr>
          <a:xfrm>
            <a:off x="503238" y="3751263"/>
            <a:ext cx="8280400" cy="1692275"/>
            <a:chOff x="489" y="2387"/>
            <a:chExt cx="5216" cy="1066"/>
          </a:xfrm>
        </p:grpSpPr>
        <p:graphicFrame>
          <p:nvGraphicFramePr>
            <p:cNvPr id="9225" name="Object 18"/>
            <p:cNvGraphicFramePr/>
            <p:nvPr/>
          </p:nvGraphicFramePr>
          <p:xfrm>
            <a:off x="489" y="2387"/>
            <a:ext cx="5216" cy="7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6" imgW="3962400" imgH="533400" progId="Equation.3">
                    <p:embed/>
                  </p:oleObj>
                </mc:Choice>
                <mc:Fallback>
                  <p:oleObj name="" r:id="rId16" imgW="3962400" imgH="5334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89" y="2387"/>
                          <a:ext cx="5216" cy="7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" name="Object 19"/>
            <p:cNvGraphicFramePr/>
            <p:nvPr/>
          </p:nvGraphicFramePr>
          <p:xfrm>
            <a:off x="1373" y="3145"/>
            <a:ext cx="238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18" imgW="1841500" imgH="241300" progId="Equation.3">
                    <p:embed/>
                  </p:oleObj>
                </mc:Choice>
                <mc:Fallback>
                  <p:oleObj name="" r:id="rId18" imgW="1841500" imgH="2413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373" y="3145"/>
                          <a:ext cx="2382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34" name="Text Box 20"/>
          <p:cNvSpPr txBox="1"/>
          <p:nvPr/>
        </p:nvSpPr>
        <p:spPr>
          <a:xfrm>
            <a:off x="7775575" y="5021263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3" name="Rectangle 3"/>
          <p:cNvSpPr/>
          <p:nvPr>
            <p:ph idx="1"/>
          </p:nvPr>
        </p:nvSpPr>
        <p:spPr>
          <a:xfrm>
            <a:off x="0" y="1981200"/>
            <a:ext cx="8610600" cy="1397000"/>
          </a:xfrm>
          <a:solidFill>
            <a:schemeClr val="bg1">
              <a:alpha val="0"/>
            </a:schemeClr>
          </a:solidFill>
          <a:ln>
            <a:noFill/>
          </a:ln>
        </p:spPr>
        <p:txBody>
          <a:bodyPr/>
          <a:p>
            <a:pPr algn="just" eaLnBrk="1" hangingPunct="1">
              <a:lnSpc>
                <a:spcPct val="125000"/>
              </a:lnSpc>
              <a:buNone/>
            </a:pP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    1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2800" dirty="0">
                <a:latin typeface="宋体" panose="02010600030101010101" pitchFamily="2" charset="-122"/>
              </a:rPr>
              <a:t>根据样品的特征，规定样品之间的距离  ，共有   个。将所有列表，记为</a:t>
            </a:r>
            <a:r>
              <a:rPr lang="en-US" altLang="zh-CN" sz="2800" b="0" dirty="0">
                <a:latin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</a:rPr>
              <a:t>）表，该表是一张对称表。所有的样本点各自为一类。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10249" name="Rectangle 4"/>
          <p:cNvSpPr/>
          <p:nvPr/>
        </p:nvSpPr>
        <p:spPr>
          <a:xfrm>
            <a:off x="447675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0" name="Rectangle 5"/>
          <p:cNvSpPr/>
          <p:nvPr/>
        </p:nvSpPr>
        <p:spPr>
          <a:xfrm>
            <a:off x="4462463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1" name="Rectangle 6"/>
          <p:cNvSpPr/>
          <p:nvPr/>
        </p:nvSpPr>
        <p:spPr>
          <a:xfrm>
            <a:off x="4462463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2" name="Rectangle 7"/>
          <p:cNvSpPr/>
          <p:nvPr/>
        </p:nvSpPr>
        <p:spPr>
          <a:xfrm>
            <a:off x="4471988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3" name="Rectangle 8"/>
          <p:cNvSpPr/>
          <p:nvPr/>
        </p:nvSpPr>
        <p:spPr>
          <a:xfrm>
            <a:off x="447675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1929" name="Rectangle 9"/>
          <p:cNvSpPr/>
          <p:nvPr/>
        </p:nvSpPr>
        <p:spPr>
          <a:xfrm>
            <a:off x="152400" y="4114800"/>
            <a:ext cx="8991600" cy="121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57200" indent="-457200">
              <a:lnSpc>
                <a:spcPct val="125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0" dirty="0">
                <a:latin typeface="Times New Roman" panose="02020603050405020304" pitchFamily="18" charset="0"/>
              </a:rPr>
              <a:t>        2</a:t>
            </a:r>
            <a:r>
              <a:rPr lang="zh-CN" altLang="en-US" b="0" dirty="0">
                <a:latin typeface="Times New Roman" panose="02020603050405020304" pitchFamily="18" charset="0"/>
              </a:rPr>
              <a:t>、</a:t>
            </a:r>
            <a:r>
              <a:rPr lang="zh-CN" altLang="en-US" dirty="0">
                <a:latin typeface="宋体" panose="02010600030101010101" pitchFamily="2" charset="-122"/>
              </a:rPr>
              <a:t>选择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宋体" panose="02010600030101010101" pitchFamily="2" charset="-122"/>
              </a:rPr>
              <a:t>）表中最小的非零数，不妨假设   ，于是将   和   合并为一类，记为            。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5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en-US" altLang="zh-CN" dirty="0">
              <a:latin typeface="宋体" panose="02010600030101010101" pitchFamily="2" charset="-122"/>
            </a:endParaRPr>
          </a:p>
        </p:txBody>
      </p:sp>
      <p:graphicFrame>
        <p:nvGraphicFramePr>
          <p:cNvPr id="81931" name="Object 11"/>
          <p:cNvGraphicFramePr/>
          <p:nvPr/>
        </p:nvGraphicFramePr>
        <p:xfrm>
          <a:off x="7924800" y="4191000"/>
          <a:ext cx="4270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431800" imgH="457200" progId="Equation.3">
                  <p:embed/>
                </p:oleObj>
              </mc:Choice>
              <mc:Fallback>
                <p:oleObj name="" r:id="rId1" imgW="431800" imgH="4572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24800" y="4191000"/>
                        <a:ext cx="427038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2" name="Object 12"/>
          <p:cNvGraphicFramePr/>
          <p:nvPr/>
        </p:nvGraphicFramePr>
        <p:xfrm>
          <a:off x="1905000" y="4800600"/>
          <a:ext cx="4000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3" imgW="393700" imgH="457200" progId="Equation.3">
                  <p:embed/>
                </p:oleObj>
              </mc:Choice>
              <mc:Fallback>
                <p:oleObj name="" r:id="rId3" imgW="393700" imgH="4572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5000" y="4800600"/>
                        <a:ext cx="400050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3" name="Object 13"/>
          <p:cNvGraphicFramePr/>
          <p:nvPr/>
        </p:nvGraphicFramePr>
        <p:xfrm>
          <a:off x="2819400" y="4800600"/>
          <a:ext cx="3619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5" imgW="368300" imgH="457200" progId="Equation.3">
                  <p:embed/>
                </p:oleObj>
              </mc:Choice>
              <mc:Fallback>
                <p:oleObj name="" r:id="rId5" imgW="368300" imgH="4572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4800600"/>
                        <a:ext cx="361950" cy="452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4" name="Object 14"/>
          <p:cNvGraphicFramePr/>
          <p:nvPr/>
        </p:nvGraphicFramePr>
        <p:xfrm>
          <a:off x="6096000" y="4800600"/>
          <a:ext cx="2000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7" imgW="2006600" imgH="457200" progId="Equation.3">
                  <p:embed/>
                </p:oleObj>
              </mc:Choice>
              <mc:Fallback>
                <p:oleObj name="" r:id="rId7" imgW="2006600" imgH="4572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6000" y="4800600"/>
                        <a:ext cx="2000250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5" name="Object 15"/>
          <p:cNvGraphicFramePr/>
          <p:nvPr/>
        </p:nvGraphicFramePr>
        <p:xfrm>
          <a:off x="914400" y="2667000"/>
          <a:ext cx="3857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9" imgW="381000" imgH="444500" progId="Equation.3">
                  <p:embed/>
                </p:oleObj>
              </mc:Choice>
              <mc:Fallback>
                <p:oleObj name="" r:id="rId9" imgW="381000" imgH="4445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2667000"/>
                        <a:ext cx="385763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6" name="Object 16"/>
          <p:cNvGraphicFramePr/>
          <p:nvPr/>
        </p:nvGraphicFramePr>
        <p:xfrm>
          <a:off x="7467600" y="2133600"/>
          <a:ext cx="3302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1" imgW="330200" imgH="457200" progId="Equation.3">
                  <p:embed/>
                </p:oleObj>
              </mc:Choice>
              <mc:Fallback>
                <p:oleObj name="" r:id="rId11" imgW="330200" imgH="4572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67600" y="2133600"/>
                        <a:ext cx="330200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8" name="Rectangle 18"/>
          <p:cNvSpPr/>
          <p:nvPr/>
        </p:nvSpPr>
        <p:spPr>
          <a:xfrm>
            <a:off x="914400" y="1219200"/>
            <a:ext cx="3657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开始各样本自成一类</a:t>
            </a:r>
            <a:endParaRPr lang="zh-CN" altLang="en-US" dirty="0">
              <a:latin typeface="Times New Roman" panose="02020603050405020304" pitchFamily="18" charset="0"/>
              <a:ea typeface="华文琥珀" panose="02010800040101010101" pitchFamily="2" charset="-122"/>
            </a:endParaRPr>
          </a:p>
        </p:txBody>
      </p:sp>
      <p:sp>
        <p:nvSpPr>
          <p:cNvPr id="81940" name="Text Box 20"/>
          <p:cNvSpPr txBox="1"/>
          <p:nvPr/>
        </p:nvSpPr>
        <p:spPr>
          <a:xfrm>
            <a:off x="762000" y="457200"/>
            <a:ext cx="6324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最短距离法进行聚类分析的步骤如下：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nimBg="1" build="p"/>
      <p:bldP spid="81929" grpId="0"/>
      <p:bldP spid="81938" grpId="0"/>
      <p:bldP spid="819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2"/>
          <p:cNvSpPr/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 algn="just" defTabSz="0" eaLnBrk="1" hangingPunct="1">
              <a:lnSpc>
                <a:spcPct val="125000"/>
              </a:lnSpc>
              <a:spcBef>
                <a:spcPct val="0"/>
              </a:spcBef>
              <a:buNone/>
              <a:tabLst>
                <a:tab pos="495300" algn="l"/>
              </a:tabLst>
            </a:pPr>
            <a:r>
              <a:rPr lang="en-US" altLang="zh-CN" dirty="0"/>
              <a:t>    3</a:t>
            </a:r>
            <a:r>
              <a:rPr lang="zh-CN" altLang="en-US" dirty="0"/>
              <a:t>、利用递推公式计算新类与其它类之间的距离。分别</a:t>
            </a:r>
            <a:r>
              <a:rPr lang="zh-CN" altLang="en-US" dirty="0">
                <a:solidFill>
                  <a:srgbClr val="FF3300"/>
                </a:solidFill>
              </a:rPr>
              <a:t>删除</a:t>
            </a:r>
            <a:r>
              <a:rPr lang="en-US" altLang="zh-CN" b="0" dirty="0"/>
              <a:t>D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）表的第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行和第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列，并新增一行和一列添上的结果，产生</a:t>
            </a:r>
            <a:r>
              <a:rPr lang="en-US" altLang="zh-CN" b="0" dirty="0"/>
              <a:t>D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）表。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/>
          <p:nvPr>
            <p:ph idx="1"/>
          </p:nvPr>
        </p:nvSpPr>
        <p:spPr>
          <a:xfrm>
            <a:off x="457200" y="1066800"/>
            <a:ext cx="8229600" cy="4525963"/>
          </a:xfrm>
          <a:noFill/>
          <a:ln>
            <a:noFill/>
          </a:ln>
        </p:spPr>
        <p:txBody>
          <a:bodyPr/>
          <a:p>
            <a:pPr algn="just" defTabSz="0" eaLnBrk="1" hangingPunct="1">
              <a:lnSpc>
                <a:spcPct val="125000"/>
              </a:lnSpc>
              <a:spcBef>
                <a:spcPct val="0"/>
              </a:spcBef>
              <a:buNone/>
              <a:tabLst>
                <a:tab pos="495300" algn="l"/>
              </a:tabLst>
            </a:pPr>
            <a:r>
              <a:rPr lang="en-US" altLang="zh-CN" dirty="0"/>
              <a:t>    4</a:t>
            </a:r>
            <a:r>
              <a:rPr lang="zh-CN" altLang="en-US" dirty="0"/>
              <a:t>、在</a:t>
            </a:r>
            <a:r>
              <a:rPr lang="en-US" altLang="zh-CN" b="0" dirty="0"/>
              <a:t>D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）表再选择</a:t>
            </a:r>
            <a:r>
              <a:rPr lang="zh-CN" altLang="en-US" dirty="0">
                <a:solidFill>
                  <a:srgbClr val="FF3300"/>
                </a:solidFill>
              </a:rPr>
              <a:t>最小</a:t>
            </a:r>
            <a:r>
              <a:rPr lang="zh-CN" altLang="en-US" dirty="0"/>
              <a:t>的非零数，其对应的两类有构成新类，再利用递推公式计算新类与其它类之间的距离。分别删除</a:t>
            </a:r>
            <a:r>
              <a:rPr lang="en-US" altLang="zh-CN" b="0" dirty="0"/>
              <a:t>D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）表的相应的行和列，并新增一行和一列添上的新类和旧类之间的距离。结果，产生</a:t>
            </a:r>
            <a:r>
              <a:rPr lang="en-US" altLang="zh-CN" b="0" dirty="0"/>
              <a:t>D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）表。类推直至所有的样本点归为一类为止。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6" name="Text Box 4"/>
          <p:cNvSpPr txBox="1"/>
          <p:nvPr/>
        </p:nvSpPr>
        <p:spPr>
          <a:xfrm>
            <a:off x="762000" y="457200"/>
            <a:ext cx="6324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最短距离法进行聚类分析的步骤如下：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77" name="Text Box 5"/>
          <p:cNvSpPr txBox="1"/>
          <p:nvPr/>
        </p:nvSpPr>
        <p:spPr>
          <a:xfrm>
            <a:off x="762000" y="1066800"/>
            <a:ext cx="47688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1)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定义样品之间的距离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838200" y="1752600"/>
            <a:ext cx="7467600" cy="635000"/>
            <a:chOff x="624" y="2962"/>
            <a:chExt cx="4704" cy="400"/>
          </a:xfrm>
        </p:grpSpPr>
        <p:sp>
          <p:nvSpPr>
            <p:cNvPr id="11279" name="Text Box 7"/>
            <p:cNvSpPr txBox="1"/>
            <p:nvPr/>
          </p:nvSpPr>
          <p:spPr>
            <a:xfrm>
              <a:off x="624" y="2962"/>
              <a:ext cx="30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（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</a:rPr>
                <a:t>2)</a:t>
              </a:r>
              <a:r>
                <a:rPr lang="zh-CN" altLang="en-US" dirty="0">
                  <a:solidFill>
                    <a:srgbClr val="000000"/>
                  </a:solidFill>
                  <a:latin typeface="宋体" panose="02010600030101010101" pitchFamily="2" charset="-122"/>
                </a:rPr>
                <a:t>找出距离最小元素，设为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0" name="Text Box 8"/>
            <p:cNvSpPr txBox="1"/>
            <p:nvPr/>
          </p:nvSpPr>
          <p:spPr>
            <a:xfrm>
              <a:off x="3792" y="2976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r>
                <a:rPr lang="zh-CN" altLang="en-US" dirty="0">
                  <a:solidFill>
                    <a:srgbClr val="000000"/>
                  </a:solidFill>
                  <a:latin typeface="宋体" panose="02010600030101010101" pitchFamily="2" charset="-122"/>
                </a:rPr>
                <a:t>则将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268" name="Object 9"/>
            <p:cNvGraphicFramePr/>
            <p:nvPr/>
          </p:nvGraphicFramePr>
          <p:xfrm>
            <a:off x="3600" y="2976"/>
            <a:ext cx="432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7" name="" r:id="rId1" imgW="266700" imgH="241300" progId="Equation.DSMT4">
                    <p:embed/>
                  </p:oleObj>
                </mc:Choice>
                <mc:Fallback>
                  <p:oleObj name="" r:id="rId1" imgW="266700" imgH="241300" progId="Equation.DSMT4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00" y="2976"/>
                          <a:ext cx="432" cy="3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9" name="Object 10"/>
            <p:cNvGraphicFramePr/>
            <p:nvPr/>
          </p:nvGraphicFramePr>
          <p:xfrm>
            <a:off x="4560" y="2976"/>
            <a:ext cx="768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3" imgW="520700" imgH="241300" progId="Equation.DSMT4">
                    <p:embed/>
                  </p:oleObj>
                </mc:Choice>
                <mc:Fallback>
                  <p:oleObj name="" r:id="rId3" imgW="520700" imgH="241300" progId="Equation.DSMT4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60" y="2976"/>
                          <a:ext cx="768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/>
          <p:cNvGrpSpPr/>
          <p:nvPr/>
        </p:nvGrpSpPr>
        <p:grpSpPr>
          <a:xfrm>
            <a:off x="457200" y="2362200"/>
            <a:ext cx="6477000" cy="609600"/>
            <a:chOff x="336" y="3552"/>
            <a:chExt cx="4080" cy="384"/>
          </a:xfrm>
        </p:grpSpPr>
        <p:sp>
          <p:nvSpPr>
            <p:cNvPr id="11277" name="Text Box 12"/>
            <p:cNvSpPr txBox="1"/>
            <p:nvPr/>
          </p:nvSpPr>
          <p:spPr>
            <a:xfrm>
              <a:off x="336" y="3552"/>
              <a:ext cx="19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rgbClr val="000000"/>
                  </a:solidFill>
                  <a:latin typeface="宋体" panose="02010600030101010101" pitchFamily="2" charset="-122"/>
                </a:rPr>
                <a:t>合并成一新类记为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266" name="Object 13"/>
            <p:cNvGraphicFramePr/>
            <p:nvPr/>
          </p:nvGraphicFramePr>
          <p:xfrm>
            <a:off x="2160" y="3552"/>
            <a:ext cx="3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5" imgW="190500" imgH="228600" progId="Equation.DSMT4">
                    <p:embed/>
                  </p:oleObj>
                </mc:Choice>
                <mc:Fallback>
                  <p:oleObj name="" r:id="rId5" imgW="190500" imgH="228600" progId="Equation.DSMT4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60" y="3552"/>
                          <a:ext cx="320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8" name="Text Box 14"/>
            <p:cNvSpPr txBox="1"/>
            <p:nvPr/>
          </p:nvSpPr>
          <p:spPr>
            <a:xfrm>
              <a:off x="2448" y="3552"/>
              <a:ext cx="7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latin typeface="宋体" panose="02010600030101010101" pitchFamily="2" charset="-122"/>
                </a:rPr>
                <a:t>记为</a:t>
              </a:r>
              <a:r>
                <a:rPr lang="zh-CN" altLang="en-US" b="0" dirty="0">
                  <a:latin typeface="Times New Roman" panose="02020603050405020304" pitchFamily="18" charset="0"/>
                </a:rPr>
                <a:t> </a:t>
              </a:r>
              <a:endParaRPr lang="zh-CN" altLang="en-US" b="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267" name="Object 15"/>
            <p:cNvGraphicFramePr/>
            <p:nvPr/>
          </p:nvGraphicFramePr>
          <p:xfrm>
            <a:off x="3072" y="3552"/>
            <a:ext cx="1344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7" imgW="862965" imgH="241300" progId="Equation.DSMT4">
                    <p:embed/>
                  </p:oleObj>
                </mc:Choice>
                <mc:Fallback>
                  <p:oleObj name="" r:id="rId7" imgW="862965" imgH="241300" progId="Equation.DSMT4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2" y="3552"/>
                          <a:ext cx="1344" cy="3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88" name="Text Box 16"/>
          <p:cNvSpPr txBox="1"/>
          <p:nvPr/>
        </p:nvSpPr>
        <p:spPr>
          <a:xfrm>
            <a:off x="685800" y="3048000"/>
            <a:ext cx="73977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ahoma" panose="020B0604030504040204" pitchFamily="34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按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上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式计算新类与其他类之间的距离。 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8689" name="Text Box 17"/>
          <p:cNvSpPr txBox="1"/>
          <p:nvPr/>
        </p:nvSpPr>
        <p:spPr>
          <a:xfrm>
            <a:off x="146050" y="3657600"/>
            <a:ext cx="8997950" cy="1289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40000"/>
              </a:lnSpc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） 重复（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），（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）的步骤，直到将所有元素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并成一类为止。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90" name="Text Box 18"/>
          <p:cNvSpPr txBox="1"/>
          <p:nvPr/>
        </p:nvSpPr>
        <p:spPr>
          <a:xfrm>
            <a:off x="609600" y="4876800"/>
            <a:ext cx="8534400" cy="1289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40000"/>
              </a:lnSpc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如果某一步距离最小的元素不止一个，则将对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应这些最小元素的类可以同时合并）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677" grpId="0"/>
      <p:bldP spid="28688" grpId="0"/>
      <p:bldP spid="28689" grpId="0"/>
      <p:bldP spid="2869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01" name="Text Box 5"/>
          <p:cNvSpPr txBox="1"/>
          <p:nvPr/>
        </p:nvSpPr>
        <p:spPr>
          <a:xfrm>
            <a:off x="457200" y="1066800"/>
            <a:ext cx="8362950" cy="18875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40000"/>
              </a:lnSpc>
            </a:pPr>
            <a:r>
              <a:rPr lang="en-US" altLang="zh-CN" b="0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设有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个样品，每个只测一个指标，分别是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，试采用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绝对值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距离用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最短距离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法将它们进行分类。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2"/>
          <p:cNvSpPr txBox="1"/>
          <p:nvPr/>
        </p:nvSpPr>
        <p:spPr>
          <a:xfrm>
            <a:off x="381000" y="457200"/>
            <a:ext cx="8305800" cy="1289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4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解 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）样品首先采用绝对值距离，计算样品之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间的距离阵为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(0).</a:t>
            </a:r>
            <a:endParaRPr lang="en-US" altLang="zh-CN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6083" name="表格 46082"/>
          <p:cNvGraphicFramePr/>
          <p:nvPr/>
        </p:nvGraphicFramePr>
        <p:xfrm>
          <a:off x="1066800" y="2438400"/>
          <a:ext cx="6324600" cy="3713480"/>
        </p:xfrm>
        <a:graphic>
          <a:graphicData uri="http://schemas.openxmlformats.org/drawingml/2006/table">
            <a:tbl>
              <a:tblPr/>
              <a:tblGrid>
                <a:gridCol w="903288"/>
                <a:gridCol w="904875"/>
                <a:gridCol w="903287"/>
                <a:gridCol w="901700"/>
                <a:gridCol w="903288"/>
                <a:gridCol w="904875"/>
                <a:gridCol w="903287"/>
              </a:tblGrid>
              <a:tr h="60515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8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(0)</a:t>
                      </a: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90" name="Text Box 70"/>
          <p:cNvSpPr txBox="1"/>
          <p:nvPr/>
        </p:nvSpPr>
        <p:spPr>
          <a:xfrm>
            <a:off x="3352800" y="1752600"/>
            <a:ext cx="17637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D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(0)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91" name="Line 71"/>
          <p:cNvSpPr/>
          <p:nvPr/>
        </p:nvSpPr>
        <p:spPr>
          <a:xfrm>
            <a:off x="2438400" y="2514600"/>
            <a:ext cx="0" cy="3657600"/>
          </a:xfrm>
          <a:prstGeom prst="line">
            <a:avLst/>
          </a:prstGeom>
          <a:ln w="28575" cap="sq" cmpd="sng">
            <a:solidFill>
              <a:srgbClr val="FC3F04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30792" name="Line 72"/>
          <p:cNvSpPr/>
          <p:nvPr/>
        </p:nvSpPr>
        <p:spPr>
          <a:xfrm>
            <a:off x="1069975" y="3763963"/>
            <a:ext cx="5472113" cy="0"/>
          </a:xfrm>
          <a:prstGeom prst="line">
            <a:avLst/>
          </a:prstGeom>
          <a:ln w="28575" cap="sq" cmpd="sng">
            <a:solidFill>
              <a:srgbClr val="FC3F04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30793" name="Line 73"/>
          <p:cNvSpPr/>
          <p:nvPr/>
        </p:nvSpPr>
        <p:spPr>
          <a:xfrm>
            <a:off x="5788025" y="2484438"/>
            <a:ext cx="0" cy="3657600"/>
          </a:xfrm>
          <a:prstGeom prst="line">
            <a:avLst/>
          </a:prstGeom>
          <a:ln w="28575" cap="sq" cmpd="sng">
            <a:solidFill>
              <a:srgbClr val="FC3F04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30794" name="Line 74"/>
          <p:cNvSpPr/>
          <p:nvPr/>
        </p:nvSpPr>
        <p:spPr>
          <a:xfrm>
            <a:off x="1981200" y="5867400"/>
            <a:ext cx="5472113" cy="0"/>
          </a:xfrm>
          <a:prstGeom prst="line">
            <a:avLst/>
          </a:prstGeom>
          <a:ln w="28575" cap="sq" cmpd="sng">
            <a:solidFill>
              <a:srgbClr val="FC3F04"/>
            </a:solidFill>
            <a:prstDash val="solid"/>
            <a:miter/>
            <a:headEnd type="none" w="sm" len="sm"/>
            <a:tailEnd type="none" w="sm" len="sm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9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6083" name="表格 46082"/>
          <p:cNvGraphicFramePr/>
          <p:nvPr/>
        </p:nvGraphicFramePr>
        <p:xfrm>
          <a:off x="2109470" y="1384300"/>
          <a:ext cx="4924425" cy="3201035"/>
        </p:xfrm>
        <a:graphic>
          <a:graphicData uri="http://schemas.openxmlformats.org/drawingml/2006/table">
            <a:tbl>
              <a:tblPr/>
              <a:tblGrid>
                <a:gridCol w="1683385"/>
                <a:gridCol w="961390"/>
                <a:gridCol w="819150"/>
                <a:gridCol w="882015"/>
                <a:gridCol w="578485"/>
              </a:tblGrid>
              <a:tr h="72326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8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(1)</a:t>
                      </a: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849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7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039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09470" y="2273300"/>
          <a:ext cx="1574165" cy="41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876300" imgH="228600" progId="Equation.KSEE3">
                  <p:embed/>
                </p:oleObj>
              </mc:Choice>
              <mc:Fallback>
                <p:oleObj name="" r:id="rId1" imgW="8763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9470" y="2273300"/>
                        <a:ext cx="1574165" cy="410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98040" y="4089400"/>
          <a:ext cx="1597025" cy="41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889000" imgH="228600" progId="Equation.KSEE3">
                  <p:embed/>
                </p:oleObj>
              </mc:Choice>
              <mc:Fallback>
                <p:oleObj name="" r:id="rId3" imgW="8890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98040" y="4089400"/>
                        <a:ext cx="1597025" cy="410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6083" name="表格 46082"/>
          <p:cNvGraphicFramePr/>
          <p:nvPr/>
        </p:nvGraphicFramePr>
        <p:xfrm>
          <a:off x="2399030" y="571500"/>
          <a:ext cx="4924425" cy="3201035"/>
        </p:xfrm>
        <a:graphic>
          <a:graphicData uri="http://schemas.openxmlformats.org/drawingml/2006/table">
            <a:tbl>
              <a:tblPr/>
              <a:tblGrid>
                <a:gridCol w="1683385"/>
                <a:gridCol w="961390"/>
                <a:gridCol w="819150"/>
                <a:gridCol w="882015"/>
              </a:tblGrid>
              <a:tr h="72326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8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(2)</a:t>
                      </a: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849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G</a:t>
                      </a:r>
                      <a:r>
                        <a:rPr lang="en-US" altLang="zh-CN" sz="2800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7</a:t>
                      </a: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7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3001645" y="3721100"/>
          <a:ext cx="4924425" cy="3201035"/>
        </p:xfrm>
        <a:graphic>
          <a:graphicData uri="http://schemas.openxmlformats.org/drawingml/2006/table">
            <a:tbl>
              <a:tblPr/>
              <a:tblGrid>
                <a:gridCol w="1683385"/>
                <a:gridCol w="961390"/>
                <a:gridCol w="819150"/>
              </a:tblGrid>
              <a:tr h="72326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8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(3)</a:t>
                      </a: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849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G</a:t>
                      </a:r>
                      <a:r>
                        <a:rPr lang="en-US" altLang="zh-CN" sz="2800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7</a:t>
                      </a: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7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0"/>
          <p:cNvGrpSpPr/>
          <p:nvPr/>
        </p:nvGrpSpPr>
        <p:grpSpPr>
          <a:xfrm>
            <a:off x="685800" y="838200"/>
            <a:ext cx="1524000" cy="5029200"/>
            <a:chOff x="432" y="528"/>
            <a:chExt cx="960" cy="3168"/>
          </a:xfrm>
        </p:grpSpPr>
        <p:sp>
          <p:nvSpPr>
            <p:cNvPr id="47142" name="Rectangle 9"/>
            <p:cNvSpPr/>
            <p:nvPr/>
          </p:nvSpPr>
          <p:spPr>
            <a:xfrm>
              <a:off x="432" y="1082"/>
              <a:ext cx="960" cy="357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={2}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7143" name="Group 29"/>
            <p:cNvGrpSpPr/>
            <p:nvPr/>
          </p:nvGrpSpPr>
          <p:grpSpPr>
            <a:xfrm>
              <a:off x="432" y="528"/>
              <a:ext cx="960" cy="3168"/>
              <a:chOff x="432" y="528"/>
              <a:chExt cx="960" cy="3168"/>
            </a:xfrm>
          </p:grpSpPr>
          <p:sp>
            <p:nvSpPr>
              <p:cNvPr id="47144" name="Rectangle 8"/>
              <p:cNvSpPr/>
              <p:nvPr/>
            </p:nvSpPr>
            <p:spPr>
              <a:xfrm>
                <a:off x="432" y="528"/>
                <a:ext cx="960" cy="356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={1}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5" name="Rectangle 10"/>
              <p:cNvSpPr/>
              <p:nvPr/>
            </p:nvSpPr>
            <p:spPr>
              <a:xfrm>
                <a:off x="432" y="1637"/>
                <a:ext cx="960" cy="356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={5}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6" name="Rectangle 11"/>
              <p:cNvSpPr/>
              <p:nvPr/>
            </p:nvSpPr>
            <p:spPr>
              <a:xfrm>
                <a:off x="432" y="2191"/>
                <a:ext cx="960" cy="357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={7}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7" name="Rectangle 12"/>
              <p:cNvSpPr/>
              <p:nvPr/>
            </p:nvSpPr>
            <p:spPr>
              <a:xfrm>
                <a:off x="432" y="2785"/>
                <a:ext cx="960" cy="357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endParaRPr lang="en-US" altLang="zh-CN" b="0" i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={9}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8" name="Rectangle 13"/>
              <p:cNvSpPr/>
              <p:nvPr/>
            </p:nvSpPr>
            <p:spPr>
              <a:xfrm>
                <a:off x="432" y="3340"/>
                <a:ext cx="960" cy="356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={10}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36"/>
          <p:cNvGrpSpPr/>
          <p:nvPr/>
        </p:nvGrpSpPr>
        <p:grpSpPr>
          <a:xfrm>
            <a:off x="3505200" y="1143000"/>
            <a:ext cx="638175" cy="4176713"/>
            <a:chOff x="2208" y="720"/>
            <a:chExt cx="402" cy="2631"/>
          </a:xfrm>
        </p:grpSpPr>
        <p:sp>
          <p:nvSpPr>
            <p:cNvPr id="47140" name="Text Box 24"/>
            <p:cNvSpPr txBox="1"/>
            <p:nvPr/>
          </p:nvSpPr>
          <p:spPr>
            <a:xfrm>
              <a:off x="2256" y="720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1" name="Rectangle 25"/>
            <p:cNvSpPr/>
            <p:nvPr/>
          </p:nvSpPr>
          <p:spPr>
            <a:xfrm>
              <a:off x="2208" y="3024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226" name="Rectangle 26"/>
          <p:cNvSpPr/>
          <p:nvPr/>
        </p:nvSpPr>
        <p:spPr>
          <a:xfrm>
            <a:off x="4800600" y="3810000"/>
            <a:ext cx="56197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endParaRPr lang="en-US" altLang="zh-CN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35"/>
          <p:cNvGrpSpPr/>
          <p:nvPr/>
        </p:nvGrpSpPr>
        <p:grpSpPr>
          <a:xfrm>
            <a:off x="2209800" y="1143000"/>
            <a:ext cx="1295400" cy="4473575"/>
            <a:chOff x="1392" y="720"/>
            <a:chExt cx="816" cy="2818"/>
          </a:xfrm>
        </p:grpSpPr>
        <p:grpSp>
          <p:nvGrpSpPr>
            <p:cNvPr id="47132" name="Group 28"/>
            <p:cNvGrpSpPr/>
            <p:nvPr/>
          </p:nvGrpSpPr>
          <p:grpSpPr>
            <a:xfrm>
              <a:off x="1392" y="2983"/>
              <a:ext cx="816" cy="555"/>
              <a:chOff x="1392" y="2983"/>
              <a:chExt cx="816" cy="555"/>
            </a:xfrm>
          </p:grpSpPr>
          <p:sp>
            <p:nvSpPr>
              <p:cNvPr id="47137" name="Line 19"/>
              <p:cNvSpPr/>
              <p:nvPr/>
            </p:nvSpPr>
            <p:spPr>
              <a:xfrm>
                <a:off x="1392" y="2983"/>
                <a:ext cx="81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38" name="Line 20"/>
              <p:cNvSpPr/>
              <p:nvPr/>
            </p:nvSpPr>
            <p:spPr>
              <a:xfrm>
                <a:off x="1392" y="3538"/>
                <a:ext cx="81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39" name="Line 21"/>
              <p:cNvSpPr/>
              <p:nvPr/>
            </p:nvSpPr>
            <p:spPr>
              <a:xfrm>
                <a:off x="2208" y="2983"/>
                <a:ext cx="0" cy="5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47133" name="Group 31"/>
            <p:cNvGrpSpPr/>
            <p:nvPr/>
          </p:nvGrpSpPr>
          <p:grpSpPr>
            <a:xfrm>
              <a:off x="1392" y="720"/>
              <a:ext cx="816" cy="555"/>
              <a:chOff x="1392" y="2983"/>
              <a:chExt cx="816" cy="555"/>
            </a:xfrm>
          </p:grpSpPr>
          <p:sp>
            <p:nvSpPr>
              <p:cNvPr id="47134" name="Line 32"/>
              <p:cNvSpPr/>
              <p:nvPr/>
            </p:nvSpPr>
            <p:spPr>
              <a:xfrm>
                <a:off x="1392" y="2983"/>
                <a:ext cx="81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35" name="Line 33"/>
              <p:cNvSpPr/>
              <p:nvPr/>
            </p:nvSpPr>
            <p:spPr>
              <a:xfrm>
                <a:off x="1392" y="3538"/>
                <a:ext cx="81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36" name="Line 34"/>
              <p:cNvSpPr/>
              <p:nvPr/>
            </p:nvSpPr>
            <p:spPr>
              <a:xfrm>
                <a:off x="2208" y="2983"/>
                <a:ext cx="0" cy="5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8" name="Group 64"/>
          <p:cNvGrpSpPr/>
          <p:nvPr/>
        </p:nvGrpSpPr>
        <p:grpSpPr>
          <a:xfrm>
            <a:off x="2209800" y="2971800"/>
            <a:ext cx="2590800" cy="2286000"/>
            <a:chOff x="1392" y="1872"/>
            <a:chExt cx="1632" cy="1440"/>
          </a:xfrm>
        </p:grpSpPr>
        <p:sp>
          <p:nvSpPr>
            <p:cNvPr id="47128" name="Line 37"/>
            <p:cNvSpPr/>
            <p:nvPr/>
          </p:nvSpPr>
          <p:spPr>
            <a:xfrm>
              <a:off x="2208" y="3312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29" name="Line 38"/>
            <p:cNvSpPr/>
            <p:nvPr/>
          </p:nvSpPr>
          <p:spPr>
            <a:xfrm>
              <a:off x="1392" y="1872"/>
              <a:ext cx="16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30" name="Line 39"/>
            <p:cNvSpPr/>
            <p:nvPr/>
          </p:nvSpPr>
          <p:spPr>
            <a:xfrm>
              <a:off x="1392" y="2448"/>
              <a:ext cx="16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31" name="Line 63"/>
            <p:cNvSpPr/>
            <p:nvPr/>
          </p:nvSpPr>
          <p:spPr>
            <a:xfrm>
              <a:off x="3024" y="1872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67" name="Rectangle 67"/>
          <p:cNvSpPr/>
          <p:nvPr/>
        </p:nvSpPr>
        <p:spPr>
          <a:xfrm>
            <a:off x="6019800" y="2590800"/>
            <a:ext cx="6826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en-US" altLang="zh-CN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Group 71"/>
          <p:cNvGrpSpPr/>
          <p:nvPr/>
        </p:nvGrpSpPr>
        <p:grpSpPr>
          <a:xfrm>
            <a:off x="3505200" y="1447800"/>
            <a:ext cx="2514600" cy="2895600"/>
            <a:chOff x="2208" y="912"/>
            <a:chExt cx="1584" cy="1824"/>
          </a:xfrm>
        </p:grpSpPr>
        <p:sp>
          <p:nvSpPr>
            <p:cNvPr id="47125" name="Line 68"/>
            <p:cNvSpPr/>
            <p:nvPr/>
          </p:nvSpPr>
          <p:spPr>
            <a:xfrm>
              <a:off x="2208" y="912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6" name="Line 69"/>
            <p:cNvSpPr/>
            <p:nvPr/>
          </p:nvSpPr>
          <p:spPr>
            <a:xfrm>
              <a:off x="3024" y="2736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7" name="Line 70"/>
            <p:cNvSpPr/>
            <p:nvPr/>
          </p:nvSpPr>
          <p:spPr>
            <a:xfrm>
              <a:off x="3792" y="912"/>
              <a:ext cx="0" cy="18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72"/>
          <p:cNvGrpSpPr/>
          <p:nvPr/>
        </p:nvGrpSpPr>
        <p:grpSpPr>
          <a:xfrm>
            <a:off x="2133600" y="6162675"/>
            <a:ext cx="5378450" cy="695325"/>
            <a:chOff x="1392" y="3882"/>
            <a:chExt cx="3388" cy="438"/>
          </a:xfrm>
        </p:grpSpPr>
        <p:grpSp>
          <p:nvGrpSpPr>
            <p:cNvPr id="47114" name="Group 73"/>
            <p:cNvGrpSpPr/>
            <p:nvPr/>
          </p:nvGrpSpPr>
          <p:grpSpPr>
            <a:xfrm>
              <a:off x="1392" y="3903"/>
              <a:ext cx="2976" cy="417"/>
              <a:chOff x="1440" y="3984"/>
              <a:chExt cx="2976" cy="417"/>
            </a:xfrm>
          </p:grpSpPr>
          <p:sp>
            <p:nvSpPr>
              <p:cNvPr id="47116" name="Line 74"/>
              <p:cNvSpPr/>
              <p:nvPr/>
            </p:nvSpPr>
            <p:spPr>
              <a:xfrm>
                <a:off x="1440" y="4080"/>
                <a:ext cx="25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17" name="Line 75"/>
              <p:cNvSpPr/>
              <p:nvPr/>
            </p:nvSpPr>
            <p:spPr>
              <a:xfrm flipV="1">
                <a:off x="1440" y="398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18" name="Line 76"/>
              <p:cNvSpPr/>
              <p:nvPr/>
            </p:nvSpPr>
            <p:spPr>
              <a:xfrm flipV="1">
                <a:off x="2256" y="398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19" name="Line 77"/>
              <p:cNvSpPr/>
              <p:nvPr/>
            </p:nvSpPr>
            <p:spPr>
              <a:xfrm flipV="1">
                <a:off x="3072" y="398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20" name="Line 78"/>
              <p:cNvSpPr/>
              <p:nvPr/>
            </p:nvSpPr>
            <p:spPr>
              <a:xfrm flipV="1">
                <a:off x="3936" y="398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21" name="Line 79"/>
              <p:cNvSpPr/>
              <p:nvPr/>
            </p:nvSpPr>
            <p:spPr>
              <a:xfrm>
                <a:off x="3936" y="4080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22" name="Text Box 80"/>
              <p:cNvSpPr txBox="1"/>
              <p:nvPr/>
            </p:nvSpPr>
            <p:spPr>
              <a:xfrm>
                <a:off x="2198" y="4074"/>
                <a:ext cx="22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dirty="0">
                    <a:latin typeface="Times New Roman" panose="02020603050405020304" pitchFamily="18" charset="0"/>
                  </a:rPr>
                  <a:t>1</a:t>
                </a:r>
                <a:endParaRPr lang="en-US" altLang="zh-CN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23" name="Text Box 81"/>
              <p:cNvSpPr txBox="1"/>
              <p:nvPr/>
            </p:nvSpPr>
            <p:spPr>
              <a:xfrm>
                <a:off x="2966" y="4074"/>
                <a:ext cx="22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dirty="0">
                    <a:latin typeface="Times New Roman" panose="02020603050405020304" pitchFamily="18" charset="0"/>
                  </a:rPr>
                  <a:t>2</a:t>
                </a:r>
                <a:endParaRPr lang="en-US" altLang="zh-CN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24" name="Text Box 82"/>
              <p:cNvSpPr txBox="1"/>
              <p:nvPr/>
            </p:nvSpPr>
            <p:spPr>
              <a:xfrm>
                <a:off x="3830" y="4074"/>
                <a:ext cx="22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dirty="0">
                    <a:latin typeface="Times New Roman" panose="02020603050405020304" pitchFamily="18" charset="0"/>
                  </a:rPr>
                  <a:t>3</a:t>
                </a:r>
                <a:endParaRPr lang="en-US" altLang="zh-CN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7115" name="Text Box 83"/>
            <p:cNvSpPr txBox="1"/>
            <p:nvPr/>
          </p:nvSpPr>
          <p:spPr>
            <a:xfrm>
              <a:off x="4502" y="3882"/>
              <a:ext cx="27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1000"/>
                                        <p:tgtEl>
                                          <p:spTgt spid="5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6" grpId="0"/>
      <p:bldP spid="5126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2"/>
          <p:cNvSpPr/>
          <p:nvPr>
            <p:ph idx="1"/>
          </p:nvPr>
        </p:nvSpPr>
        <p:spPr>
          <a:xfrm>
            <a:off x="684213" y="908050"/>
            <a:ext cx="7486650" cy="828675"/>
          </a:xfr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>
              <a:buNone/>
            </a:pPr>
            <a:r>
              <a:rPr lang="en-US" altLang="zh-CN" dirty="0"/>
              <a:t>2.</a:t>
            </a:r>
            <a:r>
              <a:rPr lang="zh-CN" altLang="en-US" dirty="0"/>
              <a:t>最长距离（</a:t>
            </a:r>
            <a:r>
              <a:rPr lang="en-US" altLang="zh-CN" dirty="0"/>
              <a:t>Furthest </a:t>
            </a:r>
            <a:r>
              <a:rPr lang="en-US" altLang="zh-CN" sz="4000" dirty="0"/>
              <a:t>Neighbor</a:t>
            </a:r>
            <a:r>
              <a:rPr lang="en-US" altLang="zh-CN" dirty="0"/>
              <a:t> </a:t>
            </a:r>
            <a:r>
              <a:rPr lang="zh-CN" altLang="en-US" dirty="0"/>
              <a:t>）</a:t>
            </a:r>
            <a:endParaRPr lang="zh-CN" altLang="en-US" sz="4000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>
              <a:buNone/>
            </a:pPr>
            <a:endParaRPr lang="en-US" altLang="zh-CN" sz="4000" dirty="0"/>
          </a:p>
        </p:txBody>
      </p:sp>
      <p:grpSp>
        <p:nvGrpSpPr>
          <p:cNvPr id="2" name="Group 3"/>
          <p:cNvGrpSpPr/>
          <p:nvPr/>
        </p:nvGrpSpPr>
        <p:grpSpPr>
          <a:xfrm>
            <a:off x="1403350" y="2895600"/>
            <a:ext cx="6121400" cy="2333625"/>
            <a:chOff x="884" y="1824"/>
            <a:chExt cx="3856" cy="1470"/>
          </a:xfrm>
        </p:grpSpPr>
        <p:sp>
          <p:nvSpPr>
            <p:cNvPr id="12294" name="Oval 4"/>
            <p:cNvSpPr/>
            <p:nvPr/>
          </p:nvSpPr>
          <p:spPr>
            <a:xfrm>
              <a:off x="884" y="1824"/>
              <a:ext cx="1564" cy="1425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endParaRPr lang="zh-CN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2295" name="Oval 5"/>
            <p:cNvSpPr/>
            <p:nvPr/>
          </p:nvSpPr>
          <p:spPr>
            <a:xfrm>
              <a:off x="3408" y="1824"/>
              <a:ext cx="1332" cy="14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2296" name="Rectangle 6"/>
            <p:cNvSpPr/>
            <p:nvPr/>
          </p:nvSpPr>
          <p:spPr>
            <a:xfrm>
              <a:off x="1610" y="2795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297" name="Rectangle 7"/>
            <p:cNvSpPr/>
            <p:nvPr/>
          </p:nvSpPr>
          <p:spPr>
            <a:xfrm>
              <a:off x="2018" y="2568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298" name="Rectangle 8"/>
            <p:cNvSpPr/>
            <p:nvPr/>
          </p:nvSpPr>
          <p:spPr>
            <a:xfrm>
              <a:off x="1610" y="202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299" name="Rectangle 9"/>
            <p:cNvSpPr/>
            <p:nvPr/>
          </p:nvSpPr>
          <p:spPr>
            <a:xfrm>
              <a:off x="1020" y="2387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300" name="Rectangle 10"/>
            <p:cNvSpPr/>
            <p:nvPr/>
          </p:nvSpPr>
          <p:spPr>
            <a:xfrm>
              <a:off x="3787" y="1979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301" name="Rectangle 11"/>
            <p:cNvSpPr/>
            <p:nvPr/>
          </p:nvSpPr>
          <p:spPr>
            <a:xfrm>
              <a:off x="4468" y="2432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302" name="Rectangle 12"/>
            <p:cNvSpPr/>
            <p:nvPr/>
          </p:nvSpPr>
          <p:spPr>
            <a:xfrm>
              <a:off x="4105" y="2795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303" name="Rectangle 13"/>
            <p:cNvSpPr/>
            <p:nvPr/>
          </p:nvSpPr>
          <p:spPr>
            <a:xfrm>
              <a:off x="3833" y="2659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2290" name="Object 14"/>
            <p:cNvGraphicFramePr/>
            <p:nvPr/>
          </p:nvGraphicFramePr>
          <p:xfrm>
            <a:off x="2736" y="2304"/>
            <a:ext cx="23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" imgW="368300" imgH="393700" progId="Equation.3">
                    <p:embed/>
                  </p:oleObj>
                </mc:Choice>
                <mc:Fallback>
                  <p:oleObj name="" r:id="rId1" imgW="368300" imgH="3937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36" y="2304"/>
                          <a:ext cx="23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055" name="Line 15"/>
          <p:cNvSpPr/>
          <p:nvPr/>
        </p:nvSpPr>
        <p:spPr>
          <a:xfrm>
            <a:off x="2124075" y="4005263"/>
            <a:ext cx="5111750" cy="71437"/>
          </a:xfrm>
          <a:prstGeom prst="line">
            <a:avLst/>
          </a:prstGeom>
          <a:ln w="28575" cap="sq" cmpd="sng">
            <a:solidFill>
              <a:srgbClr val="FFCC00"/>
            </a:solidFill>
            <a:prstDash val="solid"/>
            <a:miter/>
            <a:headEnd type="none" w="sm" len="sm"/>
            <a:tailEnd type="none" w="sm" len="sm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42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870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nimBg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6021" name="Object 5"/>
          <p:cNvGraphicFramePr/>
          <p:nvPr/>
        </p:nvGraphicFramePr>
        <p:xfrm>
          <a:off x="1296988" y="1143000"/>
          <a:ext cx="50323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2298700" imgH="279400" progId="Equation.3">
                  <p:embed/>
                </p:oleObj>
              </mc:Choice>
              <mc:Fallback>
                <p:oleObj name="" r:id="rId1" imgW="2298700" imgH="2794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1143000"/>
                        <a:ext cx="5032375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3" name="Text Box 7"/>
          <p:cNvSpPr txBox="1"/>
          <p:nvPr/>
        </p:nvSpPr>
        <p:spPr>
          <a:xfrm>
            <a:off x="0" y="1655763"/>
            <a:ext cx="9145588" cy="2066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5000"/>
              </a:lnSpc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即定义    与    之间的距离为    与    中最远的两个样品的距离。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400" b="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类与类之间的最长距离有如下的递推公式。设   由   与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合并而成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, 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</a:rPr>
              <a:t>则    到             的最长距离为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86024" name="Object 8"/>
          <p:cNvGraphicFramePr/>
          <p:nvPr/>
        </p:nvGraphicFramePr>
        <p:xfrm>
          <a:off x="1074738" y="1789113"/>
          <a:ext cx="50958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3" imgW="215900" imgH="241300" progId="Equation.3">
                  <p:embed/>
                </p:oleObj>
              </mc:Choice>
              <mc:Fallback>
                <p:oleObj name="" r:id="rId3" imgW="215900" imgH="2413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4738" y="1789113"/>
                        <a:ext cx="509587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/>
          <p:cNvGraphicFramePr/>
          <p:nvPr/>
        </p:nvGraphicFramePr>
        <p:xfrm>
          <a:off x="1944688" y="1789113"/>
          <a:ext cx="4794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5" imgW="203200" imgH="241300" progId="Equation.3">
                  <p:embed/>
                </p:oleObj>
              </mc:Choice>
              <mc:Fallback>
                <p:oleObj name="" r:id="rId5" imgW="203200" imgH="2413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44688" y="1789113"/>
                        <a:ext cx="479425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6" name="Object 10"/>
          <p:cNvGraphicFramePr/>
          <p:nvPr/>
        </p:nvGraphicFramePr>
        <p:xfrm>
          <a:off x="4391025" y="1789113"/>
          <a:ext cx="506413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7" imgW="215900" imgH="241300" progId="Equation.3">
                  <p:embed/>
                </p:oleObj>
              </mc:Choice>
              <mc:Fallback>
                <p:oleObj name="" r:id="rId7" imgW="215900" imgH="2413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91025" y="1789113"/>
                        <a:ext cx="506413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7" name="Object 11"/>
          <p:cNvGraphicFramePr/>
          <p:nvPr/>
        </p:nvGraphicFramePr>
        <p:xfrm>
          <a:off x="5356225" y="1741488"/>
          <a:ext cx="4762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8" imgW="203200" imgH="241300" progId="Equation.3">
                  <p:embed/>
                </p:oleObj>
              </mc:Choice>
              <mc:Fallback>
                <p:oleObj name="" r:id="rId8" imgW="203200" imgH="2413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56225" y="1741488"/>
                        <a:ext cx="476250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8" name="Object 12"/>
          <p:cNvGraphicFramePr/>
          <p:nvPr/>
        </p:nvGraphicFramePr>
        <p:xfrm>
          <a:off x="7605713" y="2724150"/>
          <a:ext cx="4603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9" imgW="215900" imgH="241300" progId="Equation.3">
                  <p:embed/>
                </p:oleObj>
              </mc:Choice>
              <mc:Fallback>
                <p:oleObj name="" r:id="rId9" imgW="215900" imgH="2413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05713" y="2724150"/>
                        <a:ext cx="46037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9" name="Object 13"/>
          <p:cNvGraphicFramePr/>
          <p:nvPr/>
        </p:nvGraphicFramePr>
        <p:xfrm>
          <a:off x="6807200" y="2724150"/>
          <a:ext cx="4667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0" imgW="203200" imgH="215900" progId="Equation.3">
                  <p:embed/>
                </p:oleObj>
              </mc:Choice>
              <mc:Fallback>
                <p:oleObj name="" r:id="rId10" imgW="203200" imgH="2159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07200" y="2724150"/>
                        <a:ext cx="466725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0" name="Object 14"/>
          <p:cNvGraphicFramePr/>
          <p:nvPr/>
        </p:nvGraphicFramePr>
        <p:xfrm>
          <a:off x="8424863" y="2724150"/>
          <a:ext cx="4794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2" imgW="203200" imgH="241300" progId="Equation.3">
                  <p:embed/>
                </p:oleObj>
              </mc:Choice>
              <mc:Fallback>
                <p:oleObj name="" r:id="rId12" imgW="203200" imgH="2413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24863" y="2724150"/>
                        <a:ext cx="479425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1" name="Object 15"/>
          <p:cNvGraphicFramePr/>
          <p:nvPr/>
        </p:nvGraphicFramePr>
        <p:xfrm>
          <a:off x="2016125" y="3228975"/>
          <a:ext cx="4778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3" imgW="203200" imgH="215900" progId="Equation.3">
                  <p:embed/>
                </p:oleObj>
              </mc:Choice>
              <mc:Fallback>
                <p:oleObj name="" r:id="rId13" imgW="203200" imgH="2159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16125" y="3228975"/>
                        <a:ext cx="477838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2" name="Object 16"/>
          <p:cNvGraphicFramePr/>
          <p:nvPr/>
        </p:nvGraphicFramePr>
        <p:xfrm>
          <a:off x="2881313" y="3251200"/>
          <a:ext cx="19621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4" imgW="812165" imgH="228600" progId="Equation.3">
                  <p:embed/>
                </p:oleObj>
              </mc:Choice>
              <mc:Fallback>
                <p:oleObj name="" r:id="rId14" imgW="812165" imgH="2286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81313" y="3251200"/>
                        <a:ext cx="1962150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/>
          <p:cNvGrpSpPr/>
          <p:nvPr/>
        </p:nvGrpSpPr>
        <p:grpSpPr>
          <a:xfrm>
            <a:off x="287338" y="3876675"/>
            <a:ext cx="8713787" cy="1711325"/>
            <a:chOff x="443" y="2432"/>
            <a:chExt cx="5489" cy="1078"/>
          </a:xfrm>
        </p:grpSpPr>
        <p:graphicFrame>
          <p:nvGraphicFramePr>
            <p:cNvPr id="13324" name="Object 18"/>
            <p:cNvGraphicFramePr/>
            <p:nvPr/>
          </p:nvGraphicFramePr>
          <p:xfrm>
            <a:off x="443" y="2432"/>
            <a:ext cx="5489" cy="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16" imgW="4025900" imgH="533400" progId="Equation.3">
                    <p:embed/>
                  </p:oleObj>
                </mc:Choice>
                <mc:Fallback>
                  <p:oleObj name="" r:id="rId16" imgW="4025900" imgH="5334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43" y="2432"/>
                          <a:ext cx="5489" cy="7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Object 19"/>
            <p:cNvGraphicFramePr/>
            <p:nvPr/>
          </p:nvGraphicFramePr>
          <p:xfrm>
            <a:off x="1351" y="3203"/>
            <a:ext cx="240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18" imgW="1866900" imgH="241300" progId="Equation.3">
                    <p:embed/>
                  </p:oleObj>
                </mc:Choice>
                <mc:Fallback>
                  <p:oleObj name="" r:id="rId18" imgW="1866900" imgH="2413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351" y="3203"/>
                          <a:ext cx="2404" cy="3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6037" name="Rectangle 21"/>
          <p:cNvSpPr/>
          <p:nvPr>
            <p:ph idx="1"/>
          </p:nvPr>
        </p:nvSpPr>
        <p:spPr>
          <a:xfrm>
            <a:off x="304800" y="381000"/>
            <a:ext cx="7486650" cy="828675"/>
          </a:xfr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>
              <a:buNone/>
            </a:pPr>
            <a:r>
              <a:rPr lang="en-US" altLang="zh-CN" dirty="0"/>
              <a:t>2.</a:t>
            </a:r>
            <a:r>
              <a:rPr lang="zh-CN" altLang="en-US" dirty="0"/>
              <a:t>最长距离（</a:t>
            </a:r>
            <a:r>
              <a:rPr lang="en-US" altLang="zh-CN" dirty="0"/>
              <a:t>Furthest Neighbor 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>
              <a:buNone/>
            </a:pPr>
            <a:endParaRPr lang="en-US" altLang="zh-CN" sz="4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23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charRg st="4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6023">
                                            <p:txEl>
                                              <p:charRg st="40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charRg st="77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023">
                                            <p:txEl>
                                              <p:charRg st="77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603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7" grpId="0" animBg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6083" name="内容占位符 46082"/>
          <p:cNvGraphicFramePr/>
          <p:nvPr>
            <p:ph idx="1"/>
          </p:nvPr>
        </p:nvGraphicFramePr>
        <p:xfrm>
          <a:off x="457200" y="1600200"/>
          <a:ext cx="8229600" cy="3716020"/>
        </p:xfrm>
        <a:graphic>
          <a:graphicData uri="http://schemas.openxmlformats.org/drawingml/2006/table">
            <a:tbl>
              <a:tblPr/>
              <a:tblGrid>
                <a:gridCol w="1176020"/>
                <a:gridCol w="1177290"/>
                <a:gridCol w="1174750"/>
                <a:gridCol w="1173480"/>
                <a:gridCol w="1175385"/>
                <a:gridCol w="1177925"/>
                <a:gridCol w="1174750"/>
              </a:tblGrid>
              <a:tr h="60515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8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(0)</a:t>
                      </a: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6083" name="表格 46082"/>
          <p:cNvGraphicFramePr/>
          <p:nvPr/>
        </p:nvGraphicFramePr>
        <p:xfrm>
          <a:off x="2109470" y="1384300"/>
          <a:ext cx="4924425" cy="3201035"/>
        </p:xfrm>
        <a:graphic>
          <a:graphicData uri="http://schemas.openxmlformats.org/drawingml/2006/table">
            <a:tbl>
              <a:tblPr/>
              <a:tblGrid>
                <a:gridCol w="1683385"/>
                <a:gridCol w="961390"/>
                <a:gridCol w="819150"/>
                <a:gridCol w="882015"/>
                <a:gridCol w="578485"/>
              </a:tblGrid>
              <a:tr h="72326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8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(1)</a:t>
                      </a: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849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7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039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09470" y="2273300"/>
          <a:ext cx="1574165" cy="41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876300" imgH="228600" progId="Equation.KSEE3">
                  <p:embed/>
                </p:oleObj>
              </mc:Choice>
              <mc:Fallback>
                <p:oleObj name="" r:id="rId1" imgW="8763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9470" y="2273300"/>
                        <a:ext cx="1574165" cy="410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98040" y="4089400"/>
          <a:ext cx="1597025" cy="41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889000" imgH="228600" progId="Equation.KSEE3">
                  <p:embed/>
                </p:oleObj>
              </mc:Choice>
              <mc:Fallback>
                <p:oleObj name="" r:id="rId3" imgW="8890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98040" y="4089400"/>
                        <a:ext cx="1597025" cy="410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6083" name="表格 46082"/>
          <p:cNvGraphicFramePr/>
          <p:nvPr/>
        </p:nvGraphicFramePr>
        <p:xfrm>
          <a:off x="2399030" y="571500"/>
          <a:ext cx="4924425" cy="3201035"/>
        </p:xfrm>
        <a:graphic>
          <a:graphicData uri="http://schemas.openxmlformats.org/drawingml/2006/table">
            <a:tbl>
              <a:tblPr/>
              <a:tblGrid>
                <a:gridCol w="1683385"/>
                <a:gridCol w="961390"/>
                <a:gridCol w="819150"/>
                <a:gridCol w="882015"/>
              </a:tblGrid>
              <a:tr h="72326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8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(2)</a:t>
                      </a: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849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G</a:t>
                      </a:r>
                      <a:r>
                        <a:rPr lang="en-US" altLang="zh-CN" sz="2800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7</a:t>
                      </a: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7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3001645" y="3721100"/>
          <a:ext cx="4924425" cy="3201035"/>
        </p:xfrm>
        <a:graphic>
          <a:graphicData uri="http://schemas.openxmlformats.org/drawingml/2006/table">
            <a:tbl>
              <a:tblPr/>
              <a:tblGrid>
                <a:gridCol w="1683385"/>
                <a:gridCol w="961390"/>
                <a:gridCol w="819150"/>
              </a:tblGrid>
              <a:tr h="72326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altLang="zh-CN" sz="280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(3)</a:t>
                      </a: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849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G</a:t>
                      </a:r>
                      <a:r>
                        <a:rPr lang="en-US" altLang="zh-CN" sz="2800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+mn-ea"/>
                        </a:rPr>
                        <a:t>7</a:t>
                      </a: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7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0"/>
          <p:cNvGrpSpPr/>
          <p:nvPr/>
        </p:nvGrpSpPr>
        <p:grpSpPr>
          <a:xfrm>
            <a:off x="685800" y="838200"/>
            <a:ext cx="1524000" cy="5029200"/>
            <a:chOff x="432" y="528"/>
            <a:chExt cx="960" cy="3168"/>
          </a:xfrm>
        </p:grpSpPr>
        <p:sp>
          <p:nvSpPr>
            <p:cNvPr id="47142" name="Rectangle 9"/>
            <p:cNvSpPr/>
            <p:nvPr/>
          </p:nvSpPr>
          <p:spPr>
            <a:xfrm>
              <a:off x="432" y="1082"/>
              <a:ext cx="960" cy="357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={2}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7143" name="Group 29"/>
            <p:cNvGrpSpPr/>
            <p:nvPr/>
          </p:nvGrpSpPr>
          <p:grpSpPr>
            <a:xfrm>
              <a:off x="432" y="528"/>
              <a:ext cx="960" cy="3168"/>
              <a:chOff x="432" y="528"/>
              <a:chExt cx="960" cy="3168"/>
            </a:xfrm>
          </p:grpSpPr>
          <p:sp>
            <p:nvSpPr>
              <p:cNvPr id="47144" name="Rectangle 8"/>
              <p:cNvSpPr/>
              <p:nvPr/>
            </p:nvSpPr>
            <p:spPr>
              <a:xfrm>
                <a:off x="432" y="528"/>
                <a:ext cx="960" cy="356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={1}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5" name="Rectangle 10"/>
              <p:cNvSpPr/>
              <p:nvPr/>
            </p:nvSpPr>
            <p:spPr>
              <a:xfrm>
                <a:off x="432" y="1637"/>
                <a:ext cx="960" cy="356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={5}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6" name="Rectangle 11"/>
              <p:cNvSpPr/>
              <p:nvPr/>
            </p:nvSpPr>
            <p:spPr>
              <a:xfrm>
                <a:off x="432" y="2191"/>
                <a:ext cx="960" cy="357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={7}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7" name="Rectangle 12"/>
              <p:cNvSpPr/>
              <p:nvPr/>
            </p:nvSpPr>
            <p:spPr>
              <a:xfrm>
                <a:off x="432" y="2785"/>
                <a:ext cx="960" cy="357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endParaRPr lang="en-US" altLang="zh-CN" b="0" i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={9}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48" name="Rectangle 13"/>
              <p:cNvSpPr/>
              <p:nvPr/>
            </p:nvSpPr>
            <p:spPr>
              <a:xfrm>
                <a:off x="432" y="3340"/>
                <a:ext cx="960" cy="356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algn="ctr"/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={10}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36"/>
          <p:cNvGrpSpPr/>
          <p:nvPr/>
        </p:nvGrpSpPr>
        <p:grpSpPr>
          <a:xfrm>
            <a:off x="3505200" y="1143000"/>
            <a:ext cx="638175" cy="4176713"/>
            <a:chOff x="2208" y="720"/>
            <a:chExt cx="402" cy="2631"/>
          </a:xfrm>
        </p:grpSpPr>
        <p:sp>
          <p:nvSpPr>
            <p:cNvPr id="47140" name="Text Box 24"/>
            <p:cNvSpPr txBox="1"/>
            <p:nvPr/>
          </p:nvSpPr>
          <p:spPr>
            <a:xfrm>
              <a:off x="2256" y="720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1" name="Rectangle 25"/>
            <p:cNvSpPr/>
            <p:nvPr/>
          </p:nvSpPr>
          <p:spPr>
            <a:xfrm>
              <a:off x="2208" y="3024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226" name="Rectangle 26"/>
          <p:cNvSpPr/>
          <p:nvPr/>
        </p:nvSpPr>
        <p:spPr>
          <a:xfrm>
            <a:off x="4800600" y="3810000"/>
            <a:ext cx="56197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endParaRPr lang="en-US" altLang="zh-CN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35"/>
          <p:cNvGrpSpPr/>
          <p:nvPr/>
        </p:nvGrpSpPr>
        <p:grpSpPr>
          <a:xfrm>
            <a:off x="2209800" y="1143000"/>
            <a:ext cx="1295400" cy="4473575"/>
            <a:chOff x="1392" y="720"/>
            <a:chExt cx="816" cy="2818"/>
          </a:xfrm>
        </p:grpSpPr>
        <p:grpSp>
          <p:nvGrpSpPr>
            <p:cNvPr id="47132" name="Group 28"/>
            <p:cNvGrpSpPr/>
            <p:nvPr/>
          </p:nvGrpSpPr>
          <p:grpSpPr>
            <a:xfrm>
              <a:off x="1392" y="2983"/>
              <a:ext cx="816" cy="555"/>
              <a:chOff x="1392" y="2983"/>
              <a:chExt cx="816" cy="555"/>
            </a:xfrm>
          </p:grpSpPr>
          <p:sp>
            <p:nvSpPr>
              <p:cNvPr id="47137" name="Line 19"/>
              <p:cNvSpPr/>
              <p:nvPr/>
            </p:nvSpPr>
            <p:spPr>
              <a:xfrm>
                <a:off x="1392" y="2983"/>
                <a:ext cx="81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38" name="Line 20"/>
              <p:cNvSpPr/>
              <p:nvPr/>
            </p:nvSpPr>
            <p:spPr>
              <a:xfrm>
                <a:off x="1392" y="3538"/>
                <a:ext cx="81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39" name="Line 21"/>
              <p:cNvSpPr/>
              <p:nvPr/>
            </p:nvSpPr>
            <p:spPr>
              <a:xfrm>
                <a:off x="2208" y="2983"/>
                <a:ext cx="0" cy="5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47133" name="Group 31"/>
            <p:cNvGrpSpPr/>
            <p:nvPr/>
          </p:nvGrpSpPr>
          <p:grpSpPr>
            <a:xfrm>
              <a:off x="1392" y="720"/>
              <a:ext cx="816" cy="555"/>
              <a:chOff x="1392" y="2983"/>
              <a:chExt cx="816" cy="555"/>
            </a:xfrm>
          </p:grpSpPr>
          <p:sp>
            <p:nvSpPr>
              <p:cNvPr id="47134" name="Line 32"/>
              <p:cNvSpPr/>
              <p:nvPr/>
            </p:nvSpPr>
            <p:spPr>
              <a:xfrm>
                <a:off x="1392" y="2983"/>
                <a:ext cx="81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35" name="Line 33"/>
              <p:cNvSpPr/>
              <p:nvPr/>
            </p:nvSpPr>
            <p:spPr>
              <a:xfrm>
                <a:off x="1392" y="3538"/>
                <a:ext cx="81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36" name="Line 34"/>
              <p:cNvSpPr/>
              <p:nvPr/>
            </p:nvSpPr>
            <p:spPr>
              <a:xfrm>
                <a:off x="2208" y="2983"/>
                <a:ext cx="0" cy="5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8" name="Group 64"/>
          <p:cNvGrpSpPr/>
          <p:nvPr/>
        </p:nvGrpSpPr>
        <p:grpSpPr>
          <a:xfrm>
            <a:off x="2209800" y="2971800"/>
            <a:ext cx="2590800" cy="2286000"/>
            <a:chOff x="1392" y="1872"/>
            <a:chExt cx="1632" cy="1440"/>
          </a:xfrm>
        </p:grpSpPr>
        <p:sp>
          <p:nvSpPr>
            <p:cNvPr id="47128" name="Line 37"/>
            <p:cNvSpPr/>
            <p:nvPr/>
          </p:nvSpPr>
          <p:spPr>
            <a:xfrm>
              <a:off x="2208" y="3312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29" name="Line 38"/>
            <p:cNvSpPr/>
            <p:nvPr/>
          </p:nvSpPr>
          <p:spPr>
            <a:xfrm>
              <a:off x="1392" y="1872"/>
              <a:ext cx="16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30" name="Line 39"/>
            <p:cNvSpPr/>
            <p:nvPr/>
          </p:nvSpPr>
          <p:spPr>
            <a:xfrm>
              <a:off x="1392" y="2448"/>
              <a:ext cx="16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31" name="Line 63"/>
            <p:cNvSpPr/>
            <p:nvPr/>
          </p:nvSpPr>
          <p:spPr>
            <a:xfrm>
              <a:off x="3024" y="1872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67" name="Rectangle 67"/>
          <p:cNvSpPr/>
          <p:nvPr/>
        </p:nvSpPr>
        <p:spPr>
          <a:xfrm>
            <a:off x="6019800" y="2590800"/>
            <a:ext cx="6826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en-US" altLang="zh-CN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Group 71"/>
          <p:cNvGrpSpPr/>
          <p:nvPr/>
        </p:nvGrpSpPr>
        <p:grpSpPr>
          <a:xfrm>
            <a:off x="3505200" y="1447800"/>
            <a:ext cx="2514600" cy="2895600"/>
            <a:chOff x="2208" y="912"/>
            <a:chExt cx="1584" cy="1824"/>
          </a:xfrm>
        </p:grpSpPr>
        <p:sp>
          <p:nvSpPr>
            <p:cNvPr id="47125" name="Line 68"/>
            <p:cNvSpPr/>
            <p:nvPr/>
          </p:nvSpPr>
          <p:spPr>
            <a:xfrm>
              <a:off x="2208" y="912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6" name="Line 69"/>
            <p:cNvSpPr/>
            <p:nvPr/>
          </p:nvSpPr>
          <p:spPr>
            <a:xfrm>
              <a:off x="3024" y="2736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7" name="Line 70"/>
            <p:cNvSpPr/>
            <p:nvPr/>
          </p:nvSpPr>
          <p:spPr>
            <a:xfrm>
              <a:off x="3792" y="912"/>
              <a:ext cx="0" cy="18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72"/>
          <p:cNvGrpSpPr/>
          <p:nvPr/>
        </p:nvGrpSpPr>
        <p:grpSpPr>
          <a:xfrm>
            <a:off x="2133600" y="6162675"/>
            <a:ext cx="5378450" cy="695325"/>
            <a:chOff x="1392" y="3882"/>
            <a:chExt cx="3388" cy="438"/>
          </a:xfrm>
        </p:grpSpPr>
        <p:grpSp>
          <p:nvGrpSpPr>
            <p:cNvPr id="47114" name="Group 73"/>
            <p:cNvGrpSpPr/>
            <p:nvPr/>
          </p:nvGrpSpPr>
          <p:grpSpPr>
            <a:xfrm>
              <a:off x="1392" y="3903"/>
              <a:ext cx="2976" cy="417"/>
              <a:chOff x="1440" y="3984"/>
              <a:chExt cx="2976" cy="417"/>
            </a:xfrm>
          </p:grpSpPr>
          <p:sp>
            <p:nvSpPr>
              <p:cNvPr id="47116" name="Line 74"/>
              <p:cNvSpPr/>
              <p:nvPr/>
            </p:nvSpPr>
            <p:spPr>
              <a:xfrm>
                <a:off x="1440" y="4080"/>
                <a:ext cx="25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17" name="Line 75"/>
              <p:cNvSpPr/>
              <p:nvPr/>
            </p:nvSpPr>
            <p:spPr>
              <a:xfrm flipV="1">
                <a:off x="1440" y="398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18" name="Line 76"/>
              <p:cNvSpPr/>
              <p:nvPr/>
            </p:nvSpPr>
            <p:spPr>
              <a:xfrm flipV="1">
                <a:off x="2256" y="398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19" name="Line 77"/>
              <p:cNvSpPr/>
              <p:nvPr/>
            </p:nvSpPr>
            <p:spPr>
              <a:xfrm flipV="1">
                <a:off x="3072" y="398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20" name="Line 78"/>
              <p:cNvSpPr/>
              <p:nvPr/>
            </p:nvSpPr>
            <p:spPr>
              <a:xfrm flipV="1">
                <a:off x="3936" y="398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21" name="Line 79"/>
              <p:cNvSpPr/>
              <p:nvPr/>
            </p:nvSpPr>
            <p:spPr>
              <a:xfrm>
                <a:off x="3936" y="4080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7122" name="Text Box 80"/>
              <p:cNvSpPr txBox="1"/>
              <p:nvPr/>
            </p:nvSpPr>
            <p:spPr>
              <a:xfrm>
                <a:off x="2198" y="4074"/>
                <a:ext cx="22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dirty="0">
                    <a:latin typeface="Times New Roman" panose="02020603050405020304" pitchFamily="18" charset="0"/>
                  </a:rPr>
                  <a:t>1</a:t>
                </a:r>
                <a:endParaRPr lang="en-US" altLang="zh-CN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23" name="Text Box 81"/>
              <p:cNvSpPr txBox="1"/>
              <p:nvPr/>
            </p:nvSpPr>
            <p:spPr>
              <a:xfrm>
                <a:off x="2966" y="4074"/>
                <a:ext cx="22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dirty="0">
                    <a:latin typeface="Times New Roman" panose="02020603050405020304" pitchFamily="18" charset="0"/>
                  </a:rPr>
                  <a:t>2</a:t>
                </a:r>
                <a:endParaRPr lang="en-US" altLang="zh-CN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24" name="Text Box 82"/>
              <p:cNvSpPr txBox="1"/>
              <p:nvPr/>
            </p:nvSpPr>
            <p:spPr>
              <a:xfrm>
                <a:off x="3830" y="4074"/>
                <a:ext cx="22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0" dirty="0">
                    <a:latin typeface="Times New Roman" panose="02020603050405020304" pitchFamily="18" charset="0"/>
                  </a:rPr>
                  <a:t>3</a:t>
                </a:r>
                <a:endParaRPr lang="en-US" altLang="zh-CN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7115" name="Text Box 83"/>
            <p:cNvSpPr txBox="1"/>
            <p:nvPr/>
          </p:nvSpPr>
          <p:spPr>
            <a:xfrm>
              <a:off x="4502" y="3882"/>
              <a:ext cx="27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1000"/>
                                        <p:tgtEl>
                                          <p:spTgt spid="5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6" grpId="0"/>
      <p:bldP spid="5126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Oval 2"/>
          <p:cNvSpPr/>
          <p:nvPr/>
        </p:nvSpPr>
        <p:spPr>
          <a:xfrm>
            <a:off x="1547813" y="2133600"/>
            <a:ext cx="2003425" cy="16208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14340" name="Oval 3"/>
          <p:cNvSpPr/>
          <p:nvPr/>
        </p:nvSpPr>
        <p:spPr>
          <a:xfrm>
            <a:off x="5768975" y="2228850"/>
            <a:ext cx="2003425" cy="16208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4341" name="Rectangle 4"/>
          <p:cNvSpPr/>
          <p:nvPr/>
        </p:nvSpPr>
        <p:spPr>
          <a:xfrm>
            <a:off x="1995488" y="2419350"/>
            <a:ext cx="2905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endParaRPr lang="en-US" altLang="zh-CN" sz="24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342" name="Rectangle 5"/>
          <p:cNvSpPr/>
          <p:nvPr/>
        </p:nvSpPr>
        <p:spPr>
          <a:xfrm>
            <a:off x="2349500" y="2705100"/>
            <a:ext cx="288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endParaRPr lang="en-US" altLang="zh-CN" sz="24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343" name="Rectangle 6"/>
          <p:cNvSpPr/>
          <p:nvPr/>
        </p:nvSpPr>
        <p:spPr>
          <a:xfrm>
            <a:off x="2112963" y="2992438"/>
            <a:ext cx="2905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endParaRPr lang="en-US" altLang="zh-CN" sz="24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344" name="Rectangle 7"/>
          <p:cNvSpPr/>
          <p:nvPr/>
        </p:nvSpPr>
        <p:spPr>
          <a:xfrm>
            <a:off x="6475413" y="2419350"/>
            <a:ext cx="2905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endParaRPr lang="en-US" altLang="zh-CN" sz="24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345" name="Rectangle 8"/>
          <p:cNvSpPr/>
          <p:nvPr/>
        </p:nvSpPr>
        <p:spPr>
          <a:xfrm>
            <a:off x="6592888" y="3278188"/>
            <a:ext cx="2905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endParaRPr lang="en-US" altLang="zh-CN" sz="24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346" name="Rectangle 9"/>
          <p:cNvSpPr/>
          <p:nvPr/>
        </p:nvSpPr>
        <p:spPr>
          <a:xfrm>
            <a:off x="6946900" y="2801938"/>
            <a:ext cx="290513" cy="458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endParaRPr lang="en-US" altLang="zh-CN" sz="24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1146" name="Line 10"/>
          <p:cNvSpPr/>
          <p:nvPr/>
        </p:nvSpPr>
        <p:spPr>
          <a:xfrm>
            <a:off x="2439988" y="3284538"/>
            <a:ext cx="4479925" cy="285750"/>
          </a:xfrm>
          <a:prstGeom prst="line">
            <a:avLst/>
          </a:prstGeom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47" name="Line 11"/>
          <p:cNvSpPr/>
          <p:nvPr/>
        </p:nvSpPr>
        <p:spPr>
          <a:xfrm>
            <a:off x="2268538" y="2705100"/>
            <a:ext cx="4832350" cy="382588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48" name="Line 12"/>
          <p:cNvSpPr/>
          <p:nvPr/>
        </p:nvSpPr>
        <p:spPr>
          <a:xfrm>
            <a:off x="2268538" y="2705100"/>
            <a:ext cx="447992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49" name="Line 13"/>
          <p:cNvSpPr/>
          <p:nvPr/>
        </p:nvSpPr>
        <p:spPr>
          <a:xfrm>
            <a:off x="2268538" y="2708275"/>
            <a:ext cx="4597400" cy="858838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50" name="Line 14"/>
          <p:cNvSpPr/>
          <p:nvPr/>
        </p:nvSpPr>
        <p:spPr>
          <a:xfrm flipV="1">
            <a:off x="2414588" y="3068638"/>
            <a:ext cx="4833937" cy="190500"/>
          </a:xfrm>
          <a:prstGeom prst="line">
            <a:avLst/>
          </a:prstGeom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51" name="Line 15"/>
          <p:cNvSpPr/>
          <p:nvPr/>
        </p:nvSpPr>
        <p:spPr>
          <a:xfrm flipV="1">
            <a:off x="2339975" y="2708275"/>
            <a:ext cx="4362450" cy="573088"/>
          </a:xfrm>
          <a:prstGeom prst="line">
            <a:avLst/>
          </a:prstGeom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52" name="Line 16"/>
          <p:cNvSpPr/>
          <p:nvPr/>
        </p:nvSpPr>
        <p:spPr>
          <a:xfrm flipV="1">
            <a:off x="2627313" y="2708275"/>
            <a:ext cx="4127500" cy="287338"/>
          </a:xfrm>
          <a:prstGeom prst="line">
            <a:avLst/>
          </a:prstGeom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53" name="Line 17"/>
          <p:cNvSpPr/>
          <p:nvPr/>
        </p:nvSpPr>
        <p:spPr>
          <a:xfrm>
            <a:off x="2771775" y="2997200"/>
            <a:ext cx="4429125" cy="85725"/>
          </a:xfrm>
          <a:prstGeom prst="line">
            <a:avLst/>
          </a:prstGeom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54" name="Line 18"/>
          <p:cNvSpPr/>
          <p:nvPr/>
        </p:nvSpPr>
        <p:spPr>
          <a:xfrm>
            <a:off x="2633663" y="2997200"/>
            <a:ext cx="4362450" cy="571500"/>
          </a:xfrm>
          <a:prstGeom prst="line">
            <a:avLst/>
          </a:prstGeom>
          <a:ln w="9525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sp>
      <p:graphicFrame>
        <p:nvGraphicFramePr>
          <p:cNvPr id="91155" name="Object 19"/>
          <p:cNvGraphicFramePr/>
          <p:nvPr/>
        </p:nvGraphicFramePr>
        <p:xfrm>
          <a:off x="3492500" y="4581525"/>
          <a:ext cx="231933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" imgW="1497965" imgH="774065" progId="Equation.3">
                  <p:embed/>
                </p:oleObj>
              </mc:Choice>
              <mc:Fallback>
                <p:oleObj name="" r:id="rId1" imgW="1497965" imgH="774065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4581525"/>
                        <a:ext cx="2319338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6" name="Rectangle 20"/>
          <p:cNvSpPr/>
          <p:nvPr/>
        </p:nvSpPr>
        <p:spPr>
          <a:xfrm>
            <a:off x="914400" y="1143000"/>
            <a:ext cx="7273925" cy="936625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p>
            <a:pPr algn="ctr"/>
            <a:r>
              <a:rPr lang="zh-CN" altLang="en-US" sz="3200" b="0" dirty="0">
                <a:latin typeface="Arial" panose="020B0604020202020204" pitchFamily="34" charset="0"/>
              </a:rPr>
              <a:t>组间平均连接（</a:t>
            </a:r>
            <a:r>
              <a:rPr lang="en-US" altLang="zh-CN" sz="3200" b="0" dirty="0">
                <a:latin typeface="Arial" panose="020B0604020202020204" pitchFamily="34" charset="0"/>
              </a:rPr>
              <a:t>Between-group Linkage)</a:t>
            </a:r>
            <a:endParaRPr lang="en-US" altLang="zh-CN" sz="3200" b="0" dirty="0">
              <a:latin typeface="Arial" panose="020B0604020202020204" pitchFamily="34" charset="0"/>
            </a:endParaRPr>
          </a:p>
        </p:txBody>
      </p:sp>
      <p:sp>
        <p:nvSpPr>
          <p:cNvPr id="91157" name="Rectangle 21"/>
          <p:cNvSpPr/>
          <p:nvPr>
            <p:ph idx="1"/>
          </p:nvPr>
        </p:nvSpPr>
        <p:spPr>
          <a:xfrm>
            <a:off x="304800" y="304800"/>
            <a:ext cx="7486650" cy="685800"/>
          </a:xfr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>
              <a:buNone/>
            </a:pPr>
            <a:r>
              <a:rPr lang="en-US" altLang="zh-CN" dirty="0"/>
              <a:t>3.</a:t>
            </a:r>
            <a:r>
              <a:rPr lang="zh-CN" altLang="en-US" dirty="0"/>
              <a:t>类平均距离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>
              <a:buNone/>
            </a:pPr>
            <a:endParaRPr lang="en-US" altLang="zh-CN" sz="4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15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2000" fill="hold"/>
                                        <p:tgtEl>
                                          <p:spTgt spid="91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2000" fill="hold"/>
                                        <p:tgtEl>
                                          <p:spTgt spid="91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4" dur="2000" fill="hold"/>
                                        <p:tgtEl>
                                          <p:spTgt spid="911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6" dur="2000" fill="hold"/>
                                        <p:tgtEl>
                                          <p:spTgt spid="91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2000" fill="hold"/>
                                        <p:tgtEl>
                                          <p:spTgt spid="911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0" dur="2000" fill="hold"/>
                                        <p:tgtEl>
                                          <p:spTgt spid="91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2" dur="2000" fill="hold"/>
                                        <p:tgtEl>
                                          <p:spTgt spid="91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2000" fill="hold"/>
                                        <p:tgtEl>
                                          <p:spTgt spid="91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6" dur="2000" fill="hold"/>
                                        <p:tgtEl>
                                          <p:spTgt spid="91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56" grpId="0" animBg="1"/>
      <p:bldP spid="91157" grpId="0" animBg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2"/>
          <p:cNvSpPr/>
          <p:nvPr>
            <p:ph idx="1"/>
          </p:nvPr>
        </p:nvSpPr>
        <p:spPr>
          <a:xfrm>
            <a:off x="304800" y="1447800"/>
            <a:ext cx="8443913" cy="609600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组内平均连接法（</a:t>
            </a:r>
            <a:r>
              <a:rPr lang="en-US" altLang="zh-CN" dirty="0"/>
              <a:t>Within-group Linkage)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/>
          </a:p>
        </p:txBody>
      </p:sp>
      <p:graphicFrame>
        <p:nvGraphicFramePr>
          <p:cNvPr id="92163" name="Object 3"/>
          <p:cNvGraphicFramePr/>
          <p:nvPr/>
        </p:nvGraphicFramePr>
        <p:xfrm>
          <a:off x="2771775" y="2349500"/>
          <a:ext cx="3632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1" imgW="3632200" imgH="838200" progId="Equation.DSMT4">
                  <p:embed/>
                </p:oleObj>
              </mc:Choice>
              <mc:Fallback>
                <p:oleObj name="" r:id="rId1" imgW="3632200" imgH="8382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1775" y="2349500"/>
                        <a:ext cx="3632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2195513" y="3644900"/>
            <a:ext cx="4792662" cy="1905000"/>
            <a:chOff x="1429" y="2296"/>
            <a:chExt cx="3019" cy="1200"/>
          </a:xfrm>
        </p:grpSpPr>
        <p:sp>
          <p:nvSpPr>
            <p:cNvPr id="15372" name="Oval 5"/>
            <p:cNvSpPr/>
            <p:nvPr/>
          </p:nvSpPr>
          <p:spPr>
            <a:xfrm>
              <a:off x="1429" y="2392"/>
              <a:ext cx="1104" cy="110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endParaRPr lang="zh-CN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5373" name="Oval 6"/>
            <p:cNvSpPr/>
            <p:nvPr/>
          </p:nvSpPr>
          <p:spPr>
            <a:xfrm>
              <a:off x="3152" y="2296"/>
              <a:ext cx="1296" cy="1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5374" name="Rectangle 7"/>
            <p:cNvSpPr/>
            <p:nvPr/>
          </p:nvSpPr>
          <p:spPr>
            <a:xfrm>
              <a:off x="3589" y="2440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75" name="Rectangle 8"/>
            <p:cNvSpPr/>
            <p:nvPr/>
          </p:nvSpPr>
          <p:spPr>
            <a:xfrm>
              <a:off x="1525" y="2824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76" name="Rectangle 9"/>
            <p:cNvSpPr/>
            <p:nvPr/>
          </p:nvSpPr>
          <p:spPr>
            <a:xfrm>
              <a:off x="3253" y="2776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377" name="Rectangle 10"/>
            <p:cNvSpPr/>
            <p:nvPr/>
          </p:nvSpPr>
          <p:spPr>
            <a:xfrm>
              <a:off x="1813" y="2536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2400" b="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92171" name="Line 11"/>
          <p:cNvSpPr/>
          <p:nvPr/>
        </p:nvSpPr>
        <p:spPr>
          <a:xfrm>
            <a:off x="3348038" y="4221163"/>
            <a:ext cx="2303462" cy="360362"/>
          </a:xfrm>
          <a:prstGeom prst="line">
            <a:avLst/>
          </a:prstGeom>
          <a:ln w="19050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72" name="Line 12"/>
          <p:cNvSpPr/>
          <p:nvPr/>
        </p:nvSpPr>
        <p:spPr>
          <a:xfrm flipV="1">
            <a:off x="2843213" y="4581525"/>
            <a:ext cx="2808287" cy="144463"/>
          </a:xfrm>
          <a:prstGeom prst="line">
            <a:avLst/>
          </a:prstGeom>
          <a:ln w="19050" cap="sq" cmpd="sng">
            <a:solidFill>
              <a:srgbClr val="FF006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92173" name="Line 13"/>
          <p:cNvSpPr/>
          <p:nvPr/>
        </p:nvSpPr>
        <p:spPr>
          <a:xfrm flipV="1">
            <a:off x="3276600" y="4076700"/>
            <a:ext cx="2808288" cy="144463"/>
          </a:xfrm>
          <a:prstGeom prst="line">
            <a:avLst/>
          </a:prstGeom>
          <a:ln w="19050" cap="sq" cmpd="sng">
            <a:solidFill>
              <a:srgbClr val="FF006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92174" name="Line 14"/>
          <p:cNvSpPr/>
          <p:nvPr/>
        </p:nvSpPr>
        <p:spPr>
          <a:xfrm flipV="1">
            <a:off x="2843213" y="4076700"/>
            <a:ext cx="3313112" cy="647700"/>
          </a:xfrm>
          <a:prstGeom prst="line">
            <a:avLst/>
          </a:prstGeom>
          <a:ln w="19050" cap="sq" cmpd="sng">
            <a:solidFill>
              <a:srgbClr val="FF006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92175" name="Line 15"/>
          <p:cNvSpPr/>
          <p:nvPr/>
        </p:nvSpPr>
        <p:spPr>
          <a:xfrm flipH="1">
            <a:off x="5580063" y="4076700"/>
            <a:ext cx="504825" cy="503238"/>
          </a:xfrm>
          <a:prstGeom prst="line">
            <a:avLst/>
          </a:prstGeom>
          <a:ln w="19050" cap="sq" cmpd="sng">
            <a:solidFill>
              <a:srgbClr val="FF006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92176" name="Line 16"/>
          <p:cNvSpPr/>
          <p:nvPr/>
        </p:nvSpPr>
        <p:spPr>
          <a:xfrm flipV="1">
            <a:off x="2916238" y="4292600"/>
            <a:ext cx="360362" cy="431800"/>
          </a:xfrm>
          <a:prstGeom prst="line">
            <a:avLst/>
          </a:prstGeom>
          <a:ln w="19050" cap="sq" cmpd="sng">
            <a:solidFill>
              <a:srgbClr val="FF006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92177" name="Rectangle 17"/>
          <p:cNvSpPr/>
          <p:nvPr/>
        </p:nvSpPr>
        <p:spPr>
          <a:xfrm>
            <a:off x="304800" y="304800"/>
            <a:ext cx="7486650" cy="6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marL="342900" indent="-342900">
              <a:spcBef>
                <a:spcPct val="2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3.</a:t>
            </a:r>
            <a:r>
              <a:rPr lang="zh-CN" altLang="en-US" sz="3200" dirty="0">
                <a:latin typeface="Times New Roman" panose="02020603050405020304" pitchFamily="18" charset="0"/>
              </a:rPr>
              <a:t>类平均距离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altLang="zh-CN" sz="4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7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92162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1" dur="20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build="p"/>
      <p:bldP spid="92177" grpId="0" animBg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2"/>
          <p:cNvSpPr/>
          <p:nvPr>
            <p:ph idx="1"/>
          </p:nvPr>
        </p:nvSpPr>
        <p:spPr>
          <a:xfrm>
            <a:off x="468313" y="908050"/>
            <a:ext cx="8064500" cy="1368425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>
              <a:buNone/>
            </a:pPr>
            <a:r>
              <a:rPr lang="en-US" altLang="zh-CN" dirty="0"/>
              <a:t>4.</a:t>
            </a:r>
            <a:r>
              <a:rPr lang="zh-CN" altLang="en-US" dirty="0"/>
              <a:t>重心法（</a:t>
            </a:r>
            <a:r>
              <a:rPr lang="en-US" altLang="zh-CN" dirty="0"/>
              <a:t>Centroid clustering):</a:t>
            </a:r>
            <a:r>
              <a:rPr lang="zh-CN" altLang="en-US" dirty="0"/>
              <a:t>均值点的距离</a:t>
            </a:r>
            <a:endParaRPr lang="zh-CN" altLang="en-US" dirty="0"/>
          </a:p>
          <a:p>
            <a:pPr eaLnBrk="1" hangingPunct="1">
              <a:buNone/>
            </a:pPr>
            <a:endParaRPr lang="zh-CN" altLang="en-US" sz="4000" dirty="0"/>
          </a:p>
          <a:p>
            <a:pPr eaLnBrk="1" hangingPunct="1">
              <a:buNone/>
            </a:pPr>
            <a:endParaRPr lang="zh-CN" altLang="en-US" sz="4000" dirty="0"/>
          </a:p>
          <a:p>
            <a:pPr eaLnBrk="1" hangingPunct="1">
              <a:buNone/>
            </a:pPr>
            <a:endParaRPr lang="en-US" altLang="zh-CN" sz="4000" dirty="0"/>
          </a:p>
        </p:txBody>
      </p:sp>
      <p:grpSp>
        <p:nvGrpSpPr>
          <p:cNvPr id="2" name="Group 3"/>
          <p:cNvGrpSpPr/>
          <p:nvPr/>
        </p:nvGrpSpPr>
        <p:grpSpPr>
          <a:xfrm>
            <a:off x="1835150" y="3213100"/>
            <a:ext cx="4876800" cy="1905000"/>
            <a:chOff x="1156" y="2024"/>
            <a:chExt cx="3072" cy="1200"/>
          </a:xfrm>
        </p:grpSpPr>
        <p:sp>
          <p:nvSpPr>
            <p:cNvPr id="16391" name="Rectangle 4"/>
            <p:cNvSpPr/>
            <p:nvPr/>
          </p:nvSpPr>
          <p:spPr>
            <a:xfrm flipH="1" flipV="1">
              <a:off x="1519" y="2482"/>
              <a:ext cx="246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r>
                <a:rPr lang="en-US" altLang="zh-CN" sz="1800" b="0" dirty="0">
                  <a:solidFill>
                    <a:srgbClr val="FF0066"/>
                  </a:solidFill>
                  <a:latin typeface="Arial" panose="020B0604020202020204" pitchFamily="34" charset="0"/>
                </a:rPr>
                <a:t>•</a:t>
              </a:r>
              <a:endParaRPr lang="en-US" altLang="zh-CN" sz="1800" b="0" dirty="0">
                <a:solidFill>
                  <a:srgbClr val="FF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2" name="Rectangle 5"/>
            <p:cNvSpPr/>
            <p:nvPr/>
          </p:nvSpPr>
          <p:spPr>
            <a:xfrm flipH="1" flipV="1">
              <a:off x="3424" y="2436"/>
              <a:ext cx="246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r>
                <a:rPr lang="en-US" altLang="zh-CN" sz="1800" b="0" dirty="0">
                  <a:solidFill>
                    <a:srgbClr val="FF0066"/>
                  </a:solidFill>
                  <a:latin typeface="Arial" panose="020B0604020202020204" pitchFamily="34" charset="0"/>
                </a:rPr>
                <a:t>•</a:t>
              </a:r>
              <a:endParaRPr lang="en-US" altLang="zh-CN" sz="1800" b="0" dirty="0">
                <a:solidFill>
                  <a:srgbClr val="FF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3" name="Oval 6"/>
            <p:cNvSpPr/>
            <p:nvPr/>
          </p:nvSpPr>
          <p:spPr>
            <a:xfrm>
              <a:off x="1156" y="2120"/>
              <a:ext cx="1104" cy="11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16394" name="Oval 7"/>
            <p:cNvSpPr/>
            <p:nvPr/>
          </p:nvSpPr>
          <p:spPr>
            <a:xfrm>
              <a:off x="2932" y="2024"/>
              <a:ext cx="1296" cy="1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6386" name="Object 8"/>
            <p:cNvGraphicFramePr/>
            <p:nvPr/>
          </p:nvGraphicFramePr>
          <p:xfrm>
            <a:off x="1383" y="2251"/>
            <a:ext cx="62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1" imgW="989965" imgH="482600" progId="Equation.DSMT4">
                    <p:embed/>
                  </p:oleObj>
                </mc:Choice>
                <mc:Fallback>
                  <p:oleObj name="" r:id="rId1" imgW="989965" imgH="482600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83" y="2251"/>
                          <a:ext cx="624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7" name="Object 9"/>
            <p:cNvGraphicFramePr/>
            <p:nvPr/>
          </p:nvGraphicFramePr>
          <p:xfrm>
            <a:off x="3288" y="2205"/>
            <a:ext cx="67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3" imgW="1066165" imgH="482600" progId="Equation.DSMT4">
                    <p:embed/>
                  </p:oleObj>
                </mc:Choice>
                <mc:Fallback>
                  <p:oleObj name="" r:id="rId3" imgW="1066165" imgH="482600" progId="Equation.DSMT4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88" y="2205"/>
                          <a:ext cx="672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194" name="Line 10"/>
          <p:cNvSpPr/>
          <p:nvPr/>
        </p:nvSpPr>
        <p:spPr>
          <a:xfrm flipV="1">
            <a:off x="2700338" y="4005263"/>
            <a:ext cx="2951162" cy="144462"/>
          </a:xfrm>
          <a:prstGeom prst="line">
            <a:avLst/>
          </a:prstGeom>
          <a:ln w="28575" cap="sq" cmpd="sng">
            <a:solidFill>
              <a:srgbClr val="FF0066"/>
            </a:solidFill>
            <a:prstDash val="solid"/>
            <a:miter/>
            <a:headEnd type="none" w="sm" len="sm"/>
            <a:tailEnd type="none" w="sm" len="sm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6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6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74826" name="Object 10"/>
          <p:cNvGraphicFramePr/>
          <p:nvPr/>
        </p:nvGraphicFramePr>
        <p:xfrm>
          <a:off x="5638800" y="914400"/>
          <a:ext cx="21653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1" imgW="748665" imgH="241300" progId="Equation.3">
                  <p:embed/>
                </p:oleObj>
              </mc:Choice>
              <mc:Fallback>
                <p:oleObj name="" r:id="rId1" imgW="748665" imgH="2413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914400"/>
                        <a:ext cx="216535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3" name="Object 7"/>
          <p:cNvGraphicFramePr/>
          <p:nvPr/>
        </p:nvGraphicFramePr>
        <p:xfrm>
          <a:off x="2286000" y="1828800"/>
          <a:ext cx="29781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3" imgW="1358265" imgH="431800" progId="Equation.3">
                  <p:embed/>
                </p:oleObj>
              </mc:Choice>
              <mc:Fallback>
                <p:oleObj name="" r:id="rId3" imgW="1358265" imgH="4318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0" y="1828800"/>
                        <a:ext cx="297815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1" name="Object 5"/>
          <p:cNvGraphicFramePr/>
          <p:nvPr/>
        </p:nvGraphicFramePr>
        <p:xfrm>
          <a:off x="1889125" y="3789363"/>
          <a:ext cx="30607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5" imgW="1395730" imgH="317500" progId="Equation.3">
                  <p:embed/>
                </p:oleObj>
              </mc:Choice>
              <mc:Fallback>
                <p:oleObj name="" r:id="rId5" imgW="1395730" imgH="3175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89125" y="3789363"/>
                        <a:ext cx="3060700" cy="687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0" name="Object 4"/>
          <p:cNvGraphicFramePr/>
          <p:nvPr/>
        </p:nvGraphicFramePr>
        <p:xfrm>
          <a:off x="2209800" y="5105400"/>
          <a:ext cx="49403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7" imgW="1981200" imgH="457200" progId="Equation.3">
                  <p:embed/>
                </p:oleObj>
              </mc:Choice>
              <mc:Fallback>
                <p:oleObj name="" r:id="rId7" imgW="1981200" imgH="4572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9800" y="5105400"/>
                        <a:ext cx="4940300" cy="11366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31" name="Rectangle 15"/>
          <p:cNvSpPr/>
          <p:nvPr/>
        </p:nvSpPr>
        <p:spPr>
          <a:xfrm>
            <a:off x="457200" y="989013"/>
            <a:ext cx="5202238" cy="4603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合并为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类的样品个数为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74834" name="Rectangle 18"/>
          <p:cNvSpPr/>
          <p:nvPr/>
        </p:nvSpPr>
        <p:spPr>
          <a:xfrm>
            <a:off x="395288" y="1914525"/>
            <a:ext cx="1731962" cy="4603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它的重心是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6"/>
          <p:cNvGrpSpPr/>
          <p:nvPr/>
        </p:nvGrpSpPr>
        <p:grpSpPr>
          <a:xfrm>
            <a:off x="539750" y="3140075"/>
            <a:ext cx="3152775" cy="520700"/>
            <a:chOff x="340" y="1978"/>
            <a:chExt cx="1986" cy="328"/>
          </a:xfrm>
        </p:grpSpPr>
        <p:graphicFrame>
          <p:nvGraphicFramePr>
            <p:cNvPr id="17416" name="Object 6"/>
            <p:cNvGraphicFramePr/>
            <p:nvPr/>
          </p:nvGraphicFramePr>
          <p:xfrm>
            <a:off x="2064" y="1979"/>
            <a:ext cx="26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9" imgW="190500" imgH="241300" progId="Equation.3">
                    <p:embed/>
                  </p:oleObj>
                </mc:Choice>
                <mc:Fallback>
                  <p:oleObj name="" r:id="rId9" imgW="190500" imgH="241300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64" y="1979"/>
                          <a:ext cx="262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6" name="Rectangle 19"/>
            <p:cNvSpPr/>
            <p:nvPr/>
          </p:nvSpPr>
          <p:spPr>
            <a:xfrm>
              <a:off x="340" y="1978"/>
              <a:ext cx="1660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p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某一类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的重心是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74836" name="Rectangle 20"/>
          <p:cNvSpPr/>
          <p:nvPr/>
        </p:nvSpPr>
        <p:spPr>
          <a:xfrm>
            <a:off x="3779838" y="3140075"/>
            <a:ext cx="3138487" cy="4603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它与新类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的距离是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74837" name="Rectangle 21"/>
          <p:cNvSpPr/>
          <p:nvPr/>
        </p:nvSpPr>
        <p:spPr>
          <a:xfrm>
            <a:off x="457200" y="4648200"/>
            <a:ext cx="4516438" cy="461963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经推导可以得到如下递推公式：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23"/>
          <p:cNvGrpSpPr/>
          <p:nvPr/>
        </p:nvGrpSpPr>
        <p:grpSpPr>
          <a:xfrm>
            <a:off x="381000" y="379413"/>
            <a:ext cx="7138988" cy="520700"/>
            <a:chOff x="249" y="435"/>
            <a:chExt cx="4497" cy="328"/>
          </a:xfrm>
        </p:grpSpPr>
        <p:graphicFrame>
          <p:nvGraphicFramePr>
            <p:cNvPr id="17414" name="Object 12"/>
            <p:cNvGraphicFramePr/>
            <p:nvPr/>
          </p:nvGraphicFramePr>
          <p:xfrm>
            <a:off x="3560" y="436"/>
            <a:ext cx="26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11" imgW="190500" imgH="241300" progId="Equation.3">
                    <p:embed/>
                  </p:oleObj>
                </mc:Choice>
                <mc:Fallback>
                  <p:oleObj name="" r:id="rId11" imgW="190500" imgH="241300" progId="Equation.3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60" y="436"/>
                          <a:ext cx="262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11"/>
            <p:cNvGraphicFramePr/>
            <p:nvPr/>
          </p:nvGraphicFramePr>
          <p:xfrm>
            <a:off x="3969" y="436"/>
            <a:ext cx="249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13" imgW="177800" imgH="241300" progId="Equation.3">
                    <p:embed/>
                  </p:oleObj>
                </mc:Choice>
                <mc:Fallback>
                  <p:oleObj name="" r:id="rId13" imgW="177800" imgH="2413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969" y="436"/>
                          <a:ext cx="249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3" name="Rectangle 13"/>
            <p:cNvSpPr/>
            <p:nvPr/>
          </p:nvSpPr>
          <p:spPr>
            <a:xfrm>
              <a:off x="249" y="435"/>
              <a:ext cx="3304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p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设聚类到某一步，类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与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分别有样品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4" name="Rectangle 14"/>
            <p:cNvSpPr/>
            <p:nvPr/>
          </p:nvSpPr>
          <p:spPr>
            <a:xfrm>
              <a:off x="3606" y="436"/>
              <a:ext cx="50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p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zh-CN" alt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endParaRPr lang="zh-CN" altLang="en-US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7425" name="Rectangle 22"/>
            <p:cNvSpPr/>
            <p:nvPr/>
          </p:nvSpPr>
          <p:spPr>
            <a:xfrm>
              <a:off x="4241" y="436"/>
              <a:ext cx="505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个</a:t>
              </a:r>
              <a:r>
                <a:rPr lang="zh-CN" alt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endParaRPr lang="zh-CN" altLang="en-US" sz="24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31" grpId="0"/>
      <p:bldP spid="674834" grpId="0"/>
      <p:bldP spid="674836" grpId="0"/>
      <p:bldP spid="67483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/>
          <p:nvPr/>
        </p:nvSpPr>
        <p:spPr>
          <a:xfrm>
            <a:off x="381000" y="304800"/>
            <a:ext cx="8229600" cy="18875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设有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个样品，每个只测一个指标，分别是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，试采用欧氏距离的平方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试用重心法将它们进行分类。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8131" name="表格 48130"/>
          <p:cNvGraphicFramePr/>
          <p:nvPr/>
        </p:nvGraphicFramePr>
        <p:xfrm>
          <a:off x="1066800" y="2590800"/>
          <a:ext cx="7239000" cy="3627438"/>
        </p:xfrm>
        <a:graphic>
          <a:graphicData uri="http://schemas.openxmlformats.org/drawingml/2006/table">
            <a:tbl>
              <a:tblPr/>
              <a:tblGrid>
                <a:gridCol w="1035050"/>
                <a:gridCol w="1033463"/>
                <a:gridCol w="1035050"/>
                <a:gridCol w="1031875"/>
                <a:gridCol w="1035050"/>
                <a:gridCol w="1033462"/>
                <a:gridCol w="103505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36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49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81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933" name="Rectangle 69"/>
          <p:cNvSpPr/>
          <p:nvPr/>
        </p:nvSpPr>
        <p:spPr>
          <a:xfrm>
            <a:off x="4419600" y="1905000"/>
            <a:ext cx="844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(0)</a:t>
            </a:r>
            <a:endParaRPr lang="en-US" altLang="zh-CN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9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5" name="表格 18434"/>
          <p:cNvGraphicFramePr/>
          <p:nvPr/>
        </p:nvGraphicFramePr>
        <p:xfrm>
          <a:off x="1447800" y="914400"/>
          <a:ext cx="5791200" cy="2590800"/>
        </p:xfrm>
        <a:graphic>
          <a:graphicData uri="http://schemas.openxmlformats.org/drawingml/2006/table">
            <a:tbl>
              <a:tblPr/>
              <a:tblGrid>
                <a:gridCol w="1158875"/>
                <a:gridCol w="1355725"/>
                <a:gridCol w="1219200"/>
                <a:gridCol w="1143000"/>
                <a:gridCol w="9144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12.25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30.25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20.25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6.25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928" name="Text Box 40"/>
          <p:cNvSpPr txBox="1"/>
          <p:nvPr/>
        </p:nvSpPr>
        <p:spPr>
          <a:xfrm>
            <a:off x="3657600" y="381000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(1)</a:t>
            </a:r>
            <a:endParaRPr lang="en-US" altLang="zh-CN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9" name="Text Box 41"/>
          <p:cNvSpPr txBox="1"/>
          <p:nvPr/>
        </p:nvSpPr>
        <p:spPr>
          <a:xfrm>
            <a:off x="609600" y="365760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其中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7930" name="Object 42"/>
          <p:cNvGraphicFramePr/>
          <p:nvPr/>
        </p:nvGraphicFramePr>
        <p:xfrm>
          <a:off x="1905000" y="4038600"/>
          <a:ext cx="5289550" cy="202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1" imgW="1993265" imgH="989965" progId="Equation.DSMT4">
                  <p:embed/>
                </p:oleObj>
              </mc:Choice>
              <mc:Fallback>
                <p:oleObj name="" r:id="rId1" imgW="1993265" imgH="989965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4038600"/>
                        <a:ext cx="5289550" cy="2020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8" grpId="0"/>
      <p:bldP spid="379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2"/>
          <p:cNvSpPr txBox="1"/>
          <p:nvPr/>
        </p:nvSpPr>
        <p:spPr>
          <a:xfrm>
            <a:off x="3505200" y="914400"/>
            <a:ext cx="1235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(2)</a:t>
            </a:r>
            <a:endParaRPr lang="en-US" altLang="zh-CN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9155" name="表格 49154"/>
          <p:cNvGraphicFramePr/>
          <p:nvPr/>
        </p:nvGraphicFramePr>
        <p:xfrm>
          <a:off x="1600200" y="1600200"/>
          <a:ext cx="5410200" cy="2087563"/>
        </p:xfrm>
        <a:graphic>
          <a:graphicData uri="http://schemas.openxmlformats.org/drawingml/2006/table">
            <a:tbl>
              <a:tblPr/>
              <a:tblGrid>
                <a:gridCol w="1352550"/>
                <a:gridCol w="1350963"/>
                <a:gridCol w="1354137"/>
                <a:gridCol w="1352550"/>
              </a:tblGrid>
              <a:tr h="5334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20.25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64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12.25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42" name="Text Box 30"/>
          <p:cNvSpPr txBox="1"/>
          <p:nvPr/>
        </p:nvSpPr>
        <p:spPr>
          <a:xfrm>
            <a:off x="3352800" y="3886200"/>
            <a:ext cx="1006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(3)</a:t>
            </a:r>
            <a:endParaRPr lang="en-US" altLang="zh-CN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9183" name="表格 49182"/>
          <p:cNvGraphicFramePr/>
          <p:nvPr/>
        </p:nvGraphicFramePr>
        <p:xfrm>
          <a:off x="2133600" y="4648200"/>
          <a:ext cx="4724400" cy="1570038"/>
        </p:xfrm>
        <a:graphic>
          <a:graphicData uri="http://schemas.openxmlformats.org/drawingml/2006/table">
            <a:tbl>
              <a:tblPr/>
              <a:tblGrid>
                <a:gridCol w="1574800"/>
                <a:gridCol w="1778000"/>
                <a:gridCol w="1371600"/>
              </a:tblGrid>
              <a:tr h="5334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b="0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39.0625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685800" y="990600"/>
            <a:ext cx="1524000" cy="5029200"/>
            <a:chOff x="432" y="624"/>
            <a:chExt cx="960" cy="3168"/>
          </a:xfrm>
        </p:grpSpPr>
        <p:sp>
          <p:nvSpPr>
            <p:cNvPr id="50225" name="Rectangle 3"/>
            <p:cNvSpPr/>
            <p:nvPr/>
          </p:nvSpPr>
          <p:spPr>
            <a:xfrm>
              <a:off x="432" y="624"/>
              <a:ext cx="960" cy="3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={1}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26" name="Rectangle 4"/>
            <p:cNvSpPr/>
            <p:nvPr/>
          </p:nvSpPr>
          <p:spPr>
            <a:xfrm>
              <a:off x="432" y="1178"/>
              <a:ext cx="960" cy="35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={2}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27" name="Rectangle 5"/>
            <p:cNvSpPr/>
            <p:nvPr/>
          </p:nvSpPr>
          <p:spPr>
            <a:xfrm>
              <a:off x="432" y="1733"/>
              <a:ext cx="960" cy="3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={5}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28" name="Rectangle 6"/>
            <p:cNvSpPr/>
            <p:nvPr/>
          </p:nvSpPr>
          <p:spPr>
            <a:xfrm>
              <a:off x="432" y="2287"/>
              <a:ext cx="960" cy="35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={7}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29" name="Rectangle 7"/>
            <p:cNvSpPr/>
            <p:nvPr/>
          </p:nvSpPr>
          <p:spPr>
            <a:xfrm>
              <a:off x="432" y="2881"/>
              <a:ext cx="960" cy="35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endPara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={9}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algn="ctr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0230" name="Rectangle 8"/>
            <p:cNvSpPr/>
            <p:nvPr/>
          </p:nvSpPr>
          <p:spPr>
            <a:xfrm>
              <a:off x="432" y="3436"/>
              <a:ext cx="960" cy="3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={10}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2209800" y="6162675"/>
            <a:ext cx="5378450" cy="823913"/>
            <a:chOff x="1392" y="3882"/>
            <a:chExt cx="3388" cy="519"/>
          </a:xfrm>
        </p:grpSpPr>
        <p:grpSp>
          <p:nvGrpSpPr>
            <p:cNvPr id="50210" name="Group 10"/>
            <p:cNvGrpSpPr/>
            <p:nvPr/>
          </p:nvGrpSpPr>
          <p:grpSpPr>
            <a:xfrm>
              <a:off x="1392" y="3882"/>
              <a:ext cx="3388" cy="438"/>
              <a:chOff x="1392" y="3882"/>
              <a:chExt cx="3388" cy="438"/>
            </a:xfrm>
          </p:grpSpPr>
          <p:grpSp>
            <p:nvGrpSpPr>
              <p:cNvPr id="50212" name="Group 11"/>
              <p:cNvGrpSpPr/>
              <p:nvPr/>
            </p:nvGrpSpPr>
            <p:grpSpPr>
              <a:xfrm>
                <a:off x="1392" y="3882"/>
                <a:ext cx="3388" cy="438"/>
                <a:chOff x="1344" y="3882"/>
                <a:chExt cx="3388" cy="438"/>
              </a:xfrm>
            </p:grpSpPr>
            <p:grpSp>
              <p:nvGrpSpPr>
                <p:cNvPr id="50214" name="Group 12"/>
                <p:cNvGrpSpPr/>
                <p:nvPr/>
              </p:nvGrpSpPr>
              <p:grpSpPr>
                <a:xfrm>
                  <a:off x="1344" y="3903"/>
                  <a:ext cx="2976" cy="417"/>
                  <a:chOff x="1344" y="3903"/>
                  <a:chExt cx="2976" cy="417"/>
                </a:xfrm>
              </p:grpSpPr>
              <p:sp>
                <p:nvSpPr>
                  <p:cNvPr id="50216" name="Line 13"/>
                  <p:cNvSpPr/>
                  <p:nvPr/>
                </p:nvSpPr>
                <p:spPr>
                  <a:xfrm>
                    <a:off x="1344" y="3999"/>
                    <a:ext cx="259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17" name="Line 14"/>
                  <p:cNvSpPr/>
                  <p:nvPr/>
                </p:nvSpPr>
                <p:spPr>
                  <a:xfrm flipV="1">
                    <a:off x="1344" y="3903"/>
                    <a:ext cx="0" cy="96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18" name="Line 15"/>
                  <p:cNvSpPr/>
                  <p:nvPr/>
                </p:nvSpPr>
                <p:spPr>
                  <a:xfrm flipV="1">
                    <a:off x="2160" y="3903"/>
                    <a:ext cx="0" cy="96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19" name="Line 16"/>
                  <p:cNvSpPr/>
                  <p:nvPr/>
                </p:nvSpPr>
                <p:spPr>
                  <a:xfrm flipV="1">
                    <a:off x="2976" y="3903"/>
                    <a:ext cx="0" cy="96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20" name="Line 17"/>
                  <p:cNvSpPr/>
                  <p:nvPr/>
                </p:nvSpPr>
                <p:spPr>
                  <a:xfrm flipV="1">
                    <a:off x="3840" y="3903"/>
                    <a:ext cx="0" cy="96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21" name="Line 18"/>
                  <p:cNvSpPr/>
                  <p:nvPr/>
                </p:nvSpPr>
                <p:spPr>
                  <a:xfrm>
                    <a:off x="3840" y="3999"/>
                    <a:ext cx="48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0222" name="Text Box 19"/>
                  <p:cNvSpPr txBox="1"/>
                  <p:nvPr/>
                </p:nvSpPr>
                <p:spPr>
                  <a:xfrm>
                    <a:off x="2102" y="3993"/>
                    <a:ext cx="228" cy="32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b="0" dirty="0">
                        <a:latin typeface="Times New Roman" panose="02020603050405020304" pitchFamily="18" charset="0"/>
                      </a:rPr>
                      <a:t>2</a:t>
                    </a:r>
                    <a:endParaRPr lang="en-US" altLang="zh-CN" b="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223" name="Text Box 20"/>
                  <p:cNvSpPr txBox="1"/>
                  <p:nvPr/>
                </p:nvSpPr>
                <p:spPr>
                  <a:xfrm>
                    <a:off x="2870" y="3993"/>
                    <a:ext cx="228" cy="32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b="0" dirty="0">
                        <a:latin typeface="Times New Roman" panose="02020603050405020304" pitchFamily="18" charset="0"/>
                      </a:rPr>
                      <a:t>4</a:t>
                    </a:r>
                    <a:endParaRPr lang="en-US" altLang="zh-CN" b="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224" name="Text Box 21"/>
                  <p:cNvSpPr txBox="1"/>
                  <p:nvPr/>
                </p:nvSpPr>
                <p:spPr>
                  <a:xfrm>
                    <a:off x="3734" y="3993"/>
                    <a:ext cx="508" cy="32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b="0" dirty="0">
                        <a:latin typeface="Times New Roman" panose="02020603050405020304" pitchFamily="18" charset="0"/>
                      </a:rPr>
                      <a:t>12.5</a:t>
                    </a:r>
                    <a:endParaRPr lang="en-US" altLang="zh-CN" b="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215" name="Text Box 22"/>
                <p:cNvSpPr txBox="1"/>
                <p:nvPr/>
              </p:nvSpPr>
              <p:spPr>
                <a:xfrm>
                  <a:off x="4454" y="3882"/>
                  <a:ext cx="27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D</a:t>
                  </a:r>
                  <a:endPara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213" name="Line 23"/>
              <p:cNvSpPr/>
              <p:nvPr/>
            </p:nvSpPr>
            <p:spPr>
              <a:xfrm>
                <a:off x="1776" y="3936"/>
                <a:ext cx="0" cy="4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50211" name="Text Box 24"/>
            <p:cNvSpPr txBox="1"/>
            <p:nvPr/>
          </p:nvSpPr>
          <p:spPr>
            <a:xfrm>
              <a:off x="1670" y="4074"/>
              <a:ext cx="22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5"/>
          <p:cNvGrpSpPr/>
          <p:nvPr/>
        </p:nvGrpSpPr>
        <p:grpSpPr>
          <a:xfrm>
            <a:off x="2209800" y="3048000"/>
            <a:ext cx="3076575" cy="914400"/>
            <a:chOff x="1392" y="1920"/>
            <a:chExt cx="1938" cy="576"/>
          </a:xfrm>
        </p:grpSpPr>
        <p:sp>
          <p:nvSpPr>
            <p:cNvPr id="50205" name="Rectangle 26"/>
            <p:cNvSpPr/>
            <p:nvPr/>
          </p:nvSpPr>
          <p:spPr>
            <a:xfrm>
              <a:off x="2976" y="2016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endPara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206" name="Group 27"/>
            <p:cNvGrpSpPr/>
            <p:nvPr/>
          </p:nvGrpSpPr>
          <p:grpSpPr>
            <a:xfrm>
              <a:off x="1392" y="1920"/>
              <a:ext cx="1536" cy="576"/>
              <a:chOff x="1392" y="1920"/>
              <a:chExt cx="1536" cy="576"/>
            </a:xfrm>
          </p:grpSpPr>
          <p:sp>
            <p:nvSpPr>
              <p:cNvPr id="50207" name="Line 28"/>
              <p:cNvSpPr/>
              <p:nvPr/>
            </p:nvSpPr>
            <p:spPr>
              <a:xfrm>
                <a:off x="1392" y="2496"/>
                <a:ext cx="15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0208" name="Line 29"/>
              <p:cNvSpPr/>
              <p:nvPr/>
            </p:nvSpPr>
            <p:spPr>
              <a:xfrm>
                <a:off x="1392" y="1920"/>
                <a:ext cx="15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0209" name="Line 30"/>
              <p:cNvSpPr/>
              <p:nvPr/>
            </p:nvSpPr>
            <p:spPr>
              <a:xfrm flipV="1">
                <a:off x="2928" y="1920"/>
                <a:ext cx="0" cy="5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" name="Group 31"/>
          <p:cNvGrpSpPr/>
          <p:nvPr/>
        </p:nvGrpSpPr>
        <p:grpSpPr>
          <a:xfrm>
            <a:off x="2209800" y="1295400"/>
            <a:ext cx="1171575" cy="4419600"/>
            <a:chOff x="1392" y="816"/>
            <a:chExt cx="738" cy="2784"/>
          </a:xfrm>
        </p:grpSpPr>
        <p:sp>
          <p:nvSpPr>
            <p:cNvPr id="50192" name="Line 32"/>
            <p:cNvSpPr/>
            <p:nvPr/>
          </p:nvSpPr>
          <p:spPr>
            <a:xfrm flipH="1">
              <a:off x="1392" y="3600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pSp>
          <p:nvGrpSpPr>
            <p:cNvPr id="50193" name="Group 33"/>
            <p:cNvGrpSpPr/>
            <p:nvPr/>
          </p:nvGrpSpPr>
          <p:grpSpPr>
            <a:xfrm>
              <a:off x="1392" y="816"/>
              <a:ext cx="738" cy="2784"/>
              <a:chOff x="1392" y="816"/>
              <a:chExt cx="738" cy="2784"/>
            </a:xfrm>
          </p:grpSpPr>
          <p:sp>
            <p:nvSpPr>
              <p:cNvPr id="50194" name="Text Box 34"/>
              <p:cNvSpPr txBox="1"/>
              <p:nvPr/>
            </p:nvSpPr>
            <p:spPr>
              <a:xfrm>
                <a:off x="1776" y="864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  <a:endPara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0195" name="Group 35"/>
              <p:cNvGrpSpPr/>
              <p:nvPr/>
            </p:nvGrpSpPr>
            <p:grpSpPr>
              <a:xfrm>
                <a:off x="1392" y="816"/>
                <a:ext cx="680" cy="2784"/>
                <a:chOff x="1392" y="816"/>
                <a:chExt cx="680" cy="2784"/>
              </a:xfrm>
            </p:grpSpPr>
            <p:grpSp>
              <p:nvGrpSpPr>
                <p:cNvPr id="50196" name="Group 36"/>
                <p:cNvGrpSpPr/>
                <p:nvPr/>
              </p:nvGrpSpPr>
              <p:grpSpPr>
                <a:xfrm>
                  <a:off x="1392" y="816"/>
                  <a:ext cx="336" cy="2784"/>
                  <a:chOff x="1392" y="816"/>
                  <a:chExt cx="336" cy="2784"/>
                </a:xfrm>
              </p:grpSpPr>
              <p:sp>
                <p:nvSpPr>
                  <p:cNvPr id="50198" name="Line 37"/>
                  <p:cNvSpPr/>
                  <p:nvPr/>
                </p:nvSpPr>
                <p:spPr>
                  <a:xfrm>
                    <a:off x="1392" y="1392"/>
                    <a:ext cx="336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50199" name="Group 38"/>
                  <p:cNvGrpSpPr/>
                  <p:nvPr/>
                </p:nvGrpSpPr>
                <p:grpSpPr>
                  <a:xfrm>
                    <a:off x="1392" y="816"/>
                    <a:ext cx="336" cy="576"/>
                    <a:chOff x="1392" y="816"/>
                    <a:chExt cx="336" cy="576"/>
                  </a:xfrm>
                </p:grpSpPr>
                <p:sp>
                  <p:nvSpPr>
                    <p:cNvPr id="50203" name="Line 39"/>
                    <p:cNvSpPr/>
                    <p:nvPr/>
                  </p:nvSpPr>
                  <p:spPr>
                    <a:xfrm>
                      <a:off x="1392" y="816"/>
                      <a:ext cx="336" cy="0"/>
                    </a:xfrm>
                    <a:prstGeom prst="line">
                      <a:avLst/>
                    </a:prstGeom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50204" name="Line 40"/>
                    <p:cNvSpPr/>
                    <p:nvPr/>
                  </p:nvSpPr>
                  <p:spPr>
                    <a:xfrm>
                      <a:off x="1728" y="816"/>
                      <a:ext cx="0" cy="576"/>
                    </a:xfrm>
                    <a:prstGeom prst="line">
                      <a:avLst/>
                    </a:prstGeom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50200" name="Group 41"/>
                  <p:cNvGrpSpPr/>
                  <p:nvPr/>
                </p:nvGrpSpPr>
                <p:grpSpPr>
                  <a:xfrm>
                    <a:off x="1392" y="3024"/>
                    <a:ext cx="336" cy="576"/>
                    <a:chOff x="1392" y="816"/>
                    <a:chExt cx="336" cy="576"/>
                  </a:xfrm>
                </p:grpSpPr>
                <p:sp>
                  <p:nvSpPr>
                    <p:cNvPr id="50201" name="Line 42"/>
                    <p:cNvSpPr/>
                    <p:nvPr/>
                  </p:nvSpPr>
                  <p:spPr>
                    <a:xfrm>
                      <a:off x="1392" y="816"/>
                      <a:ext cx="336" cy="0"/>
                    </a:xfrm>
                    <a:prstGeom prst="line">
                      <a:avLst/>
                    </a:prstGeom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50202" name="Line 43"/>
                    <p:cNvSpPr/>
                    <p:nvPr/>
                  </p:nvSpPr>
                  <p:spPr>
                    <a:xfrm>
                      <a:off x="1728" y="816"/>
                      <a:ext cx="0" cy="576"/>
                    </a:xfrm>
                    <a:prstGeom prst="line">
                      <a:avLst/>
                    </a:prstGeom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50197" name="Text Box 44"/>
                <p:cNvSpPr txBox="1"/>
                <p:nvPr/>
              </p:nvSpPr>
              <p:spPr>
                <a:xfrm>
                  <a:off x="1718" y="3018"/>
                  <a:ext cx="354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G</a:t>
                  </a:r>
                  <a:r>
                    <a:rPr lang="en-US" altLang="zh-CN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8</a:t>
                  </a:r>
                  <a:endPara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15" name="Group 45"/>
          <p:cNvGrpSpPr/>
          <p:nvPr/>
        </p:nvGrpSpPr>
        <p:grpSpPr>
          <a:xfrm>
            <a:off x="2743200" y="3352800"/>
            <a:ext cx="4187825" cy="1981200"/>
            <a:chOff x="1728" y="2112"/>
            <a:chExt cx="2638" cy="1248"/>
          </a:xfrm>
        </p:grpSpPr>
        <p:sp>
          <p:nvSpPr>
            <p:cNvPr id="50188" name="Rectangle 46"/>
            <p:cNvSpPr/>
            <p:nvPr/>
          </p:nvSpPr>
          <p:spPr>
            <a:xfrm>
              <a:off x="3936" y="2400"/>
              <a:ext cx="43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89" name="Line 47"/>
            <p:cNvSpPr/>
            <p:nvPr/>
          </p:nvSpPr>
          <p:spPr>
            <a:xfrm>
              <a:off x="1728" y="3360"/>
              <a:ext cx="22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190" name="Line 48"/>
            <p:cNvSpPr/>
            <p:nvPr/>
          </p:nvSpPr>
          <p:spPr>
            <a:xfrm>
              <a:off x="2928" y="2112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191" name="Line 49"/>
            <p:cNvSpPr/>
            <p:nvPr/>
          </p:nvSpPr>
          <p:spPr>
            <a:xfrm>
              <a:off x="3936" y="2112"/>
              <a:ext cx="0" cy="12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6" name="Group 50"/>
          <p:cNvGrpSpPr/>
          <p:nvPr/>
        </p:nvGrpSpPr>
        <p:grpSpPr>
          <a:xfrm>
            <a:off x="2743200" y="1676400"/>
            <a:ext cx="5407025" cy="2819400"/>
            <a:chOff x="1728" y="1056"/>
            <a:chExt cx="3406" cy="1776"/>
          </a:xfrm>
        </p:grpSpPr>
        <p:sp>
          <p:nvSpPr>
            <p:cNvPr id="50184" name="Line 51"/>
            <p:cNvSpPr/>
            <p:nvPr/>
          </p:nvSpPr>
          <p:spPr>
            <a:xfrm>
              <a:off x="1728" y="1056"/>
              <a:ext cx="29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185" name="Line 52"/>
            <p:cNvSpPr/>
            <p:nvPr/>
          </p:nvSpPr>
          <p:spPr>
            <a:xfrm>
              <a:off x="3936" y="2832"/>
              <a:ext cx="7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186" name="Text Box 53"/>
            <p:cNvSpPr txBox="1"/>
            <p:nvPr/>
          </p:nvSpPr>
          <p:spPr>
            <a:xfrm>
              <a:off x="4704" y="1584"/>
              <a:ext cx="43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endPara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87" name="Line 54"/>
            <p:cNvSpPr/>
            <p:nvPr/>
          </p:nvSpPr>
          <p:spPr>
            <a:xfrm>
              <a:off x="4704" y="1056"/>
              <a:ext cx="0" cy="17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457200" y="344488"/>
            <a:ext cx="8229600" cy="5095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eaLnBrk="1" hangingPunct="1"/>
            <a:r>
              <a:rPr lang="en-US" altLang="zh-CN" sz="3000" dirty="0">
                <a:latin typeface="华文琥珀" panose="02010800040101010101" pitchFamily="2" charset="-122"/>
                <a:ea typeface="华文琥珀" panose="02010800040101010101" pitchFamily="2" charset="-122"/>
              </a:rPr>
              <a:t>5.</a:t>
            </a:r>
            <a:r>
              <a:rPr lang="zh-CN" altLang="en-US" sz="3000" dirty="0">
                <a:latin typeface="华文琥珀" panose="02010800040101010101" pitchFamily="2" charset="-122"/>
                <a:ea typeface="华文琥珀" panose="02010800040101010101" pitchFamily="2" charset="-122"/>
              </a:rPr>
              <a:t>动态聚类法（快速聚类法）</a:t>
            </a:r>
            <a:endParaRPr lang="zh-CN" altLang="en-US" sz="30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95235" name="Rectangle 3"/>
          <p:cNvSpPr>
            <a:spLocks noGrp="1"/>
          </p:cNvSpPr>
          <p:nvPr>
            <p:ph type="body"/>
          </p:nvPr>
        </p:nvSpPr>
        <p:spPr>
          <a:xfrm>
            <a:off x="250825" y="1484313"/>
            <a:ext cx="861060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31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dirty="0"/>
              <a:t>            </a:t>
            </a:r>
            <a:r>
              <a:rPr lang="zh-CN" altLang="en-US" sz="2800" dirty="0">
                <a:solidFill>
                  <a:srgbClr val="FF3300"/>
                </a:solidFill>
              </a:rPr>
              <a:t>系统聚类法</a:t>
            </a:r>
            <a:r>
              <a:rPr lang="zh-CN" altLang="en-US" sz="2800" dirty="0"/>
              <a:t>是一种比较成功的聚类方法。然而当样本点数量十分</a:t>
            </a:r>
            <a:r>
              <a:rPr lang="zh-CN" altLang="en-US" sz="2800" dirty="0">
                <a:solidFill>
                  <a:srgbClr val="FF3300"/>
                </a:solidFill>
              </a:rPr>
              <a:t>庞大</a:t>
            </a:r>
            <a:r>
              <a:rPr lang="zh-CN" altLang="en-US" sz="2800" dirty="0"/>
              <a:t>时，则是一件非常繁重的工作，且聚类的计算速度也比较慢。</a:t>
            </a:r>
            <a:endParaRPr lang="zh-CN" altLang="en-US" sz="2800" dirty="0"/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dirty="0"/>
              <a:t>             比如在市场抽样调查中，有</a:t>
            </a:r>
            <a:r>
              <a:rPr lang="en-US" altLang="zh-CN" sz="2800" dirty="0"/>
              <a:t>4</a:t>
            </a:r>
            <a:r>
              <a:rPr lang="zh-CN" altLang="en-US" sz="2800" dirty="0"/>
              <a:t>万人就其对衣着的偏好作了回答，希望能迅速将他们分为几类。</a:t>
            </a:r>
            <a:endParaRPr lang="zh-CN" altLang="en-US" sz="2800" dirty="0"/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dirty="0"/>
              <a:t>     这时，采用系统聚类法就很困难，而动态聚类法就会显得方便，适用。</a:t>
            </a:r>
            <a:endParaRPr lang="zh-CN" altLang="en-US" sz="2800" dirty="0"/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 动态聚类使用于大型数据。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  <a:buNone/>
            </a:pPr>
            <a:endParaRPr lang="en-US" altLang="zh-CN" sz="28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7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charRg st="70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12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5235">
                                            <p:txEl>
                                              <p:charRg st="125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162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5235">
                                            <p:txEl>
                                              <p:charRg st="162" end="1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3"/>
          <p:cNvSpPr>
            <a:spLocks noGrp="1"/>
          </p:cNvSpPr>
          <p:nvPr>
            <p:ph type="body"/>
          </p:nvPr>
        </p:nvSpPr>
        <p:spPr>
          <a:xfrm>
            <a:off x="457200" y="1143000"/>
            <a:ext cx="8229600" cy="4525963"/>
          </a:xfrm>
          <a:prstGeom prst="rect">
            <a:avLst/>
          </a:prstGeom>
          <a:solidFill>
            <a:schemeClr val="bg1">
              <a:alpha val="0"/>
            </a:schemeClr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基本思想：选取若干个样品作为</a:t>
            </a:r>
            <a:r>
              <a:rPr lang="zh-CN" altLang="en-US" sz="2800" dirty="0">
                <a:solidFill>
                  <a:srgbClr val="FF0000"/>
                </a:solidFill>
              </a:rPr>
              <a:t>凝聚点</a:t>
            </a:r>
            <a:r>
              <a:rPr lang="zh-CN" altLang="en-US" sz="2800" dirty="0"/>
              <a:t>，计算每个样品和凝聚点的距离，进行初始分类，然后根据初始分类计算其</a:t>
            </a:r>
            <a:r>
              <a:rPr lang="zh-CN" altLang="en-US" sz="2800" dirty="0">
                <a:solidFill>
                  <a:srgbClr val="FF0000"/>
                </a:solidFill>
              </a:rPr>
              <a:t>重心</a:t>
            </a:r>
            <a:r>
              <a:rPr lang="zh-CN" altLang="en-US" sz="2800" dirty="0"/>
              <a:t>，再进行第二次分类，一直到所有样品不再调整为止。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1858" name="Rectangle 2"/>
          <p:cNvSpPr/>
          <p:nvPr/>
        </p:nvSpPr>
        <p:spPr>
          <a:xfrm>
            <a:off x="914400" y="1981200"/>
            <a:ext cx="649288" cy="26289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p>
            <a:pPr algn="ctr" eaLnBrk="0" hangingPunct="0"/>
            <a:r>
              <a:rPr lang="zh-CN" altLang="en-US" b="0" dirty="0">
                <a:latin typeface="Times New Roman" panose="02020603050405020304" pitchFamily="18" charset="0"/>
              </a:rPr>
              <a:t>选择凝聚点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761859" name="Line 3"/>
          <p:cNvSpPr/>
          <p:nvPr/>
        </p:nvSpPr>
        <p:spPr>
          <a:xfrm>
            <a:off x="1600200" y="3276600"/>
            <a:ext cx="7620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61860" name="Rectangle 4"/>
          <p:cNvSpPr/>
          <p:nvPr/>
        </p:nvSpPr>
        <p:spPr>
          <a:xfrm>
            <a:off x="2438400" y="2133600"/>
            <a:ext cx="533400" cy="24384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p>
            <a:pPr algn="ctr" eaLnBrk="0" hangingPunct="0"/>
            <a:r>
              <a:rPr lang="zh-CN" altLang="en-US" b="0" dirty="0">
                <a:latin typeface="Times New Roman" panose="02020603050405020304" pitchFamily="18" charset="0"/>
              </a:rPr>
              <a:t>分         类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761861" name="Line 5"/>
          <p:cNvSpPr/>
          <p:nvPr/>
        </p:nvSpPr>
        <p:spPr>
          <a:xfrm>
            <a:off x="3124200" y="3276600"/>
            <a:ext cx="12192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61862" name="Rectangle 6"/>
          <p:cNvSpPr/>
          <p:nvPr/>
        </p:nvSpPr>
        <p:spPr>
          <a:xfrm>
            <a:off x="2438400" y="4724400"/>
            <a:ext cx="685800" cy="16764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p>
            <a:pPr algn="just" eaLnBrk="0" hangingPunct="0"/>
            <a:r>
              <a:rPr lang="zh-CN" altLang="en-US" b="0" dirty="0">
                <a:latin typeface="Times New Roman" panose="02020603050405020304" pitchFamily="18" charset="0"/>
              </a:rPr>
              <a:t>修改分类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761863" name="AutoShape 7"/>
          <p:cNvSpPr/>
          <p:nvPr/>
        </p:nvSpPr>
        <p:spPr>
          <a:xfrm>
            <a:off x="4419600" y="914400"/>
            <a:ext cx="1219200" cy="4572000"/>
          </a:xfrm>
          <a:prstGeom prst="diamond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p>
            <a:pPr algn="ctr" eaLnBrk="0" hangingPunct="0"/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</a:rPr>
              <a:t>分类是否合理</a:t>
            </a:r>
            <a:endParaRPr lang="zh-CN" altLang="en-US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1864" name="Line 8"/>
          <p:cNvSpPr/>
          <p:nvPr/>
        </p:nvSpPr>
        <p:spPr>
          <a:xfrm>
            <a:off x="5029200" y="914400"/>
            <a:ext cx="1905000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1865" name="Line 9"/>
          <p:cNvSpPr/>
          <p:nvPr/>
        </p:nvSpPr>
        <p:spPr>
          <a:xfrm>
            <a:off x="6934200" y="914400"/>
            <a:ext cx="0" cy="7620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61866" name="Rectangle 10"/>
          <p:cNvSpPr/>
          <p:nvPr/>
        </p:nvSpPr>
        <p:spPr>
          <a:xfrm>
            <a:off x="6588125" y="1916113"/>
            <a:ext cx="762000" cy="25908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p>
            <a:pPr algn="ctr" eaLnBrk="0" hangingPunct="0"/>
            <a:r>
              <a:rPr lang="zh-CN" altLang="en-US" b="0" dirty="0">
                <a:latin typeface="Times New Roman" panose="02020603050405020304" pitchFamily="18" charset="0"/>
              </a:rPr>
              <a:t>分类结束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761867" name="Rectangle 11"/>
          <p:cNvSpPr/>
          <p:nvPr/>
        </p:nvSpPr>
        <p:spPr>
          <a:xfrm>
            <a:off x="5410200" y="1066800"/>
            <a:ext cx="10668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b="0" dirty="0">
                <a:latin typeface="Lucida Console" panose="020B0609040504020204" pitchFamily="49" charset="0"/>
              </a:rPr>
              <a:t>Yes</a:t>
            </a:r>
            <a:endParaRPr lang="en-US" altLang="zh-CN" b="0" dirty="0">
              <a:latin typeface="Lucida Console" panose="020B0609040504020204" pitchFamily="49" charset="0"/>
            </a:endParaRPr>
          </a:p>
        </p:txBody>
      </p:sp>
      <p:sp>
        <p:nvSpPr>
          <p:cNvPr id="761868" name="Line 12"/>
          <p:cNvSpPr/>
          <p:nvPr/>
        </p:nvSpPr>
        <p:spPr>
          <a:xfrm flipH="1">
            <a:off x="3200400" y="5486400"/>
            <a:ext cx="1828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761869" name="Rectangle 13"/>
          <p:cNvSpPr/>
          <p:nvPr/>
        </p:nvSpPr>
        <p:spPr>
          <a:xfrm>
            <a:off x="3657600" y="5791200"/>
            <a:ext cx="1066800" cy="5334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b="0" dirty="0">
                <a:latin typeface="Lucida Console" panose="020B0609040504020204" pitchFamily="49" charset="0"/>
              </a:rPr>
              <a:t>No</a:t>
            </a:r>
            <a:endParaRPr lang="en-US" altLang="zh-CN" b="0" dirty="0">
              <a:latin typeface="Lucida Console" panose="020B0609040504020204" pitchFamily="49" charset="0"/>
            </a:endParaRPr>
          </a:p>
        </p:txBody>
      </p:sp>
      <p:sp>
        <p:nvSpPr>
          <p:cNvPr id="761870" name="Line 14"/>
          <p:cNvSpPr/>
          <p:nvPr/>
        </p:nvSpPr>
        <p:spPr>
          <a:xfrm flipV="1">
            <a:off x="1143000" y="4648200"/>
            <a:ext cx="0" cy="838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761871" name="Line 15"/>
          <p:cNvSpPr/>
          <p:nvPr/>
        </p:nvSpPr>
        <p:spPr>
          <a:xfrm>
            <a:off x="1143000" y="5486400"/>
            <a:ext cx="1219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6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6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6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6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6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6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6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58" grpId="0" animBg="1"/>
      <p:bldP spid="761860" grpId="0" animBg="1"/>
      <p:bldP spid="761862" grpId="0" animBg="1"/>
      <p:bldP spid="761863" grpId="0" animBg="1"/>
      <p:bldP spid="761866" grpId="0" animBg="1"/>
      <p:bldP spid="761867" grpId="0" animBg="1"/>
      <p:bldP spid="76186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2"/>
          <p:cNvSpPr/>
          <p:nvPr/>
        </p:nvSpPr>
        <p:spPr>
          <a:xfrm>
            <a:off x="0" y="914400"/>
            <a:ext cx="9144000" cy="4879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400050" algn="just" eaLnBrk="0" hangingPunct="0"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第一，选择凝聚点；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400050" algn="just" eaLnBrk="0" hangingPunct="0"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第二，初始分类；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400050" algn="just" eaLnBrk="0" hangingPunct="0">
              <a:lnSpc>
                <a:spcPct val="140000"/>
              </a:lnSpc>
            </a:pPr>
            <a:r>
              <a:rPr lang="zh-CN" altLang="en-US" dirty="0">
                <a:latin typeface="Arial" panose="020B0604020202020204" pitchFamily="34" charset="0"/>
              </a:rPr>
              <a:t> 对于取定的凝聚点，视每个凝聚点为一类，将每个样品根据定义的距离向最近的凝聚点归类。</a:t>
            </a:r>
            <a:endParaRPr lang="zh-CN" altLang="en-US" dirty="0">
              <a:latin typeface="Arial" panose="020B0604020202020204" pitchFamily="34" charset="0"/>
            </a:endParaRPr>
          </a:p>
          <a:p>
            <a:pPr indent="400050" algn="just" eaLnBrk="0" hangingPunct="0"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第三，修改分类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400050" algn="just" eaLnBrk="0" hangingPunct="0">
              <a:lnSpc>
                <a:spcPct val="140000"/>
              </a:lnSpc>
            </a:pPr>
            <a:r>
              <a:rPr lang="zh-CN" altLang="en-US" dirty="0">
                <a:latin typeface="Arial" panose="020B0604020202020204" pitchFamily="34" charset="0"/>
              </a:rPr>
              <a:t>  得到初始分类，计算各类的重心，以这些重心作为新的凝聚点，重新进行分类，重复步骤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</a:rPr>
              <a:t>，直到分类的结果与上一步的分类结果相同，表明分类已经合理为止。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4275" name="Rectangle 3"/>
          <p:cNvSpPr/>
          <p:nvPr/>
        </p:nvSpPr>
        <p:spPr>
          <a:xfrm>
            <a:off x="457200" y="277813"/>
            <a:ext cx="8229600" cy="484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dirty="0">
                <a:solidFill>
                  <a:schemeClr val="tx2"/>
                </a:solidFill>
                <a:latin typeface="Garamond" panose="02020404030301010803" pitchFamily="18" charset="0"/>
              </a:rPr>
              <a:t>动态聚类法的基本步骤：</a:t>
            </a:r>
            <a:endParaRPr lang="zh-CN" altLang="en-US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charRg st="1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0">
                                            <p:txEl>
                                              <p:charRg st="1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charRg st="19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0">
                                            <p:txEl>
                                              <p:charRg st="19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charRg st="62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0">
                                            <p:txEl>
                                              <p:charRg st="62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charRg st="70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0">
                                            <p:txEl>
                                              <p:charRg st="70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66" name="Rectangle 2"/>
          <p:cNvSpPr/>
          <p:nvPr/>
        </p:nvSpPr>
        <p:spPr>
          <a:xfrm>
            <a:off x="304800" y="304800"/>
            <a:ext cx="8534400" cy="4191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>
                <a:latin typeface="宋体" panose="02010600030101010101" pitchFamily="2" charset="-122"/>
              </a:rPr>
              <a:t>     </a:t>
            </a:r>
            <a:r>
              <a:rPr lang="zh-CN" altLang="en-US" dirty="0">
                <a:latin typeface="宋体" panose="02010600030101010101" pitchFamily="2" charset="-122"/>
              </a:rPr>
              <a:t>用一个简单的例子来说明动态聚类法的工作过程。例如我们要把图中的点分成两类。</a:t>
            </a:r>
            <a:r>
              <a:rPr lang="zh-CN" altLang="en-US" dirty="0">
                <a:latin typeface="Times New Roman" panose="02020603050405020304" pitchFamily="18" charset="0"/>
              </a:rPr>
              <a:t>快速聚类的步骤：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、随机选取两个点      和     作为凝聚点。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、对于任何点   ，分别计算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、若                             ，则将    划为第一类，否则划给第二类。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9467" name="Group 13"/>
          <p:cNvGrpSpPr/>
          <p:nvPr/>
        </p:nvGrpSpPr>
        <p:grpSpPr>
          <a:xfrm>
            <a:off x="539750" y="4508500"/>
            <a:ext cx="8064500" cy="1758950"/>
            <a:chOff x="340" y="2840"/>
            <a:chExt cx="5080" cy="1108"/>
          </a:xfrm>
        </p:grpSpPr>
        <p:sp>
          <p:nvSpPr>
            <p:cNvPr id="19469" name="Rectangle 10"/>
            <p:cNvSpPr/>
            <p:nvPr/>
          </p:nvSpPr>
          <p:spPr>
            <a:xfrm>
              <a:off x="340" y="2840"/>
              <a:ext cx="5080" cy="11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 defTabSz="0">
                <a:lnSpc>
                  <a:spcPct val="130000"/>
                </a:lnSpc>
                <a:tabLst>
                  <a:tab pos="2933700" algn="l"/>
                  <a:tab pos="43434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4</a:t>
              </a:r>
              <a:r>
                <a:rPr lang="zh-CN" altLang="en-US" dirty="0">
                  <a:latin typeface="Times New Roman" panose="02020603050405020304" pitchFamily="18" charset="0"/>
                </a:rPr>
                <a:t>、分别计算两个类的重心，则得      和     ，以其为新的凝聚点，对空间中的点进行重新分类，得到新分类。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464" name="Object 11"/>
            <p:cNvGraphicFramePr/>
            <p:nvPr/>
          </p:nvGraphicFramePr>
          <p:xfrm>
            <a:off x="3696" y="2931"/>
            <a:ext cx="27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1" imgW="431800" imgH="419100" progId="Equation.3">
                    <p:embed/>
                  </p:oleObj>
                </mc:Choice>
                <mc:Fallback>
                  <p:oleObj name="" r:id="rId1" imgW="431800" imgH="4191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96" y="2931"/>
                          <a:ext cx="275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Object 12"/>
            <p:cNvGraphicFramePr/>
            <p:nvPr/>
          </p:nvGraphicFramePr>
          <p:xfrm>
            <a:off x="4422" y="2931"/>
            <a:ext cx="27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3" imgW="431800" imgH="419100" progId="Equation.3">
                    <p:embed/>
                  </p:oleObj>
                </mc:Choice>
                <mc:Fallback>
                  <p:oleObj name="" r:id="rId3" imgW="431800" imgH="4191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2" y="2931"/>
                          <a:ext cx="275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68" name="Group 14"/>
          <p:cNvGrpSpPr/>
          <p:nvPr/>
        </p:nvGrpSpPr>
        <p:grpSpPr>
          <a:xfrm>
            <a:off x="1752600" y="2209800"/>
            <a:ext cx="6219825" cy="1727200"/>
            <a:chOff x="1202" y="1026"/>
            <a:chExt cx="3918" cy="1088"/>
          </a:xfrm>
        </p:grpSpPr>
        <p:graphicFrame>
          <p:nvGraphicFramePr>
            <p:cNvPr id="19458" name="Object 3"/>
            <p:cNvGraphicFramePr/>
            <p:nvPr/>
          </p:nvGraphicFramePr>
          <p:xfrm>
            <a:off x="2472" y="1071"/>
            <a:ext cx="27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5" imgW="444500" imgH="444500" progId="Equation.3">
                    <p:embed/>
                  </p:oleObj>
                </mc:Choice>
                <mc:Fallback>
                  <p:oleObj name="" r:id="rId5" imgW="444500" imgH="4445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2" y="1071"/>
                          <a:ext cx="276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59" name="Object 4"/>
            <p:cNvGraphicFramePr/>
            <p:nvPr/>
          </p:nvGraphicFramePr>
          <p:xfrm>
            <a:off x="3016" y="1026"/>
            <a:ext cx="27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7" imgW="444500" imgH="444500" progId="Equation.3">
                    <p:embed/>
                  </p:oleObj>
                </mc:Choice>
                <mc:Fallback>
                  <p:oleObj name="" r:id="rId7" imgW="444500" imgH="4445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16" y="1026"/>
                          <a:ext cx="276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0" name="Object 6"/>
            <p:cNvGraphicFramePr/>
            <p:nvPr/>
          </p:nvGraphicFramePr>
          <p:xfrm>
            <a:off x="2064" y="1480"/>
            <a:ext cx="18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9" imgW="292100" imgH="431800" progId="Equation.3">
                    <p:embed/>
                  </p:oleObj>
                </mc:Choice>
                <mc:Fallback>
                  <p:oleObj name="" r:id="rId9" imgW="292100" imgH="4318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1480"/>
                          <a:ext cx="18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1" name="Object 7"/>
            <p:cNvGraphicFramePr/>
            <p:nvPr/>
          </p:nvGraphicFramePr>
          <p:xfrm>
            <a:off x="3288" y="1480"/>
            <a:ext cx="183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11" imgW="2907030" imgH="444500" progId="Equation.3">
                    <p:embed/>
                  </p:oleObj>
                </mc:Choice>
                <mc:Fallback>
                  <p:oleObj name="" r:id="rId11" imgW="2907030" imgH="44450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88" y="1480"/>
                          <a:ext cx="1832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2" name="Object 8"/>
            <p:cNvGraphicFramePr/>
            <p:nvPr/>
          </p:nvGraphicFramePr>
          <p:xfrm>
            <a:off x="1202" y="1813"/>
            <a:ext cx="167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3" imgW="1383665" imgH="241300" progId="Equation.3">
                    <p:embed/>
                  </p:oleObj>
                </mc:Choice>
                <mc:Fallback>
                  <p:oleObj name="" r:id="rId13" imgW="1383665" imgH="2413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02" y="1813"/>
                          <a:ext cx="167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3" name="Object 9"/>
            <p:cNvGraphicFramePr/>
            <p:nvPr/>
          </p:nvGraphicFramePr>
          <p:xfrm>
            <a:off x="3515" y="1842"/>
            <a:ext cx="18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15" imgW="292100" imgH="431800" progId="Equation.3">
                    <p:embed/>
                  </p:oleObj>
                </mc:Choice>
                <mc:Fallback>
                  <p:oleObj name="" r:id="rId15" imgW="292100" imgH="43180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15" y="1842"/>
                          <a:ext cx="18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8" name="Rectangle 6"/>
          <p:cNvSpPr/>
          <p:nvPr/>
        </p:nvSpPr>
        <p:spPr>
          <a:xfrm>
            <a:off x="990600" y="685800"/>
            <a:ext cx="1443038" cy="3873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选择聚点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39" name="Rectangle 7"/>
          <p:cNvSpPr/>
          <p:nvPr/>
        </p:nvSpPr>
        <p:spPr>
          <a:xfrm>
            <a:off x="457200" y="1371600"/>
            <a:ext cx="8551863" cy="11382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 </a:t>
            </a:r>
            <a:r>
              <a:rPr lang="zh-CN" altLang="en-US" dirty="0">
                <a:latin typeface="Verdana" panose="020B0604030504040204" pitchFamily="34" charset="0"/>
              </a:rPr>
              <a:t>聚点（种子）是一批有代表性的样品，它的选择决</a:t>
            </a:r>
            <a:endParaRPr lang="zh-CN" altLang="en-US" dirty="0">
              <a:latin typeface="Verdana" panose="020B0604030504040204" pitchFamily="34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定了初始分类，对最终分类有较大影响。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40" name="Rectangle 8"/>
          <p:cNvSpPr/>
          <p:nvPr/>
        </p:nvSpPr>
        <p:spPr>
          <a:xfrm>
            <a:off x="304800" y="2971800"/>
            <a:ext cx="8534400" cy="1838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</a:t>
            </a:r>
            <a:r>
              <a:rPr lang="zh-CN" altLang="en-US" dirty="0">
                <a:latin typeface="Verdana" panose="020B0604030504040204" pitchFamily="34" charset="0"/>
              </a:rPr>
              <a:t>在进行快速聚类法前，要根据研究问题的要求及了</a:t>
            </a:r>
            <a:endParaRPr lang="zh-CN" altLang="en-US" dirty="0">
              <a:latin typeface="Verdana" panose="020B0604030504040204" pitchFamily="34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解程度先定下</a:t>
            </a:r>
            <a:r>
              <a:rPr lang="zh-CN" altLang="en-US" u="sng" dirty="0">
                <a:solidFill>
                  <a:srgbClr val="FF0000"/>
                </a:solidFill>
                <a:latin typeface="Verdana" panose="020B0604030504040204" pitchFamily="34" charset="0"/>
              </a:rPr>
              <a:t>分类数</a:t>
            </a:r>
            <a:r>
              <a:rPr lang="en-US" altLang="zh-CN" u="sng" dirty="0">
                <a:solidFill>
                  <a:srgbClr val="FF0000"/>
                </a:solidFill>
                <a:latin typeface="Verdana" panose="020B0604030504040204" pitchFamily="34" charset="0"/>
              </a:rPr>
              <a:t>k</a:t>
            </a:r>
            <a:r>
              <a:rPr lang="zh-CN" altLang="en-US" dirty="0">
                <a:latin typeface="Verdana" panose="020B0604030504040204" pitchFamily="34" charset="0"/>
              </a:rPr>
              <a:t>，这样就可以在每一类中选择一</a:t>
            </a:r>
            <a:endParaRPr lang="zh-CN" altLang="en-US" dirty="0">
              <a:latin typeface="Verdana" panose="020B0604030504040204" pitchFamily="34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个有代表性的样品作为聚点（初始聚点）。</a:t>
            </a: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/>
      <p:bldP spid="44039" grpId="0"/>
      <p:bldP spid="4404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61" name="Rectangle 5"/>
          <p:cNvSpPr/>
          <p:nvPr/>
        </p:nvSpPr>
        <p:spPr>
          <a:xfrm>
            <a:off x="971550" y="684213"/>
            <a:ext cx="3556000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>
              <a:spcBef>
                <a:spcPct val="2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选择聚点有下列方法：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2" name="Rectangle 6"/>
          <p:cNvSpPr/>
          <p:nvPr/>
        </p:nvSpPr>
        <p:spPr>
          <a:xfrm>
            <a:off x="206375" y="1244600"/>
            <a:ext cx="8686800" cy="1196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(1)</a:t>
            </a:r>
            <a:r>
              <a:rPr lang="zh-CN" altLang="en-US" dirty="0">
                <a:latin typeface="Verdana" panose="020B0604030504040204" pitchFamily="34" charset="0"/>
              </a:rPr>
              <a:t>经验选择。如果对研究对象比较了解，根据以</a:t>
            </a:r>
            <a:endParaRPr lang="zh-CN" altLang="en-US" dirty="0">
              <a:latin typeface="Verdana" panose="020B0604030504040204" pitchFamily="34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往的经验定下</a:t>
            </a:r>
            <a:r>
              <a:rPr lang="en-US" altLang="zh-CN" dirty="0">
                <a:latin typeface="Verdana" panose="020B0604030504040204" pitchFamily="34" charset="0"/>
              </a:rPr>
              <a:t>k</a:t>
            </a:r>
            <a:r>
              <a:rPr lang="zh-CN" altLang="en-US" dirty="0">
                <a:latin typeface="Verdana" panose="020B0604030504040204" pitchFamily="34" charset="0"/>
              </a:rPr>
              <a:t>个样品作为聚点。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4" name="Rectangle 8"/>
          <p:cNvSpPr/>
          <p:nvPr/>
        </p:nvSpPr>
        <p:spPr>
          <a:xfrm>
            <a:off x="206375" y="2528888"/>
            <a:ext cx="8596313" cy="11112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(2)</a:t>
            </a:r>
            <a:r>
              <a:rPr lang="zh-CN" altLang="en-US" dirty="0">
                <a:latin typeface="Verdana" panose="020B0604030504040204" pitchFamily="34" charset="0"/>
              </a:rPr>
              <a:t>将</a:t>
            </a:r>
            <a:r>
              <a:rPr lang="en-US" altLang="zh-CN" dirty="0">
                <a:latin typeface="Verdana" panose="020B0604030504040204" pitchFamily="34" charset="0"/>
              </a:rPr>
              <a:t>n</a:t>
            </a:r>
            <a:r>
              <a:rPr lang="zh-CN" altLang="en-US" dirty="0">
                <a:latin typeface="Verdana" panose="020B0604030504040204" pitchFamily="34" charset="0"/>
              </a:rPr>
              <a:t>个样品人为地（或随机地）分成</a:t>
            </a:r>
            <a:r>
              <a:rPr lang="en-US" altLang="zh-CN" dirty="0">
                <a:latin typeface="Verdana" panose="020B0604030504040204" pitchFamily="34" charset="0"/>
              </a:rPr>
              <a:t>k</a:t>
            </a:r>
            <a:r>
              <a:rPr lang="zh-CN" altLang="en-US" dirty="0">
                <a:latin typeface="Verdana" panose="020B0604030504040204" pitchFamily="34" charset="0"/>
              </a:rPr>
              <a:t>类，以每类的重心作为聚点。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5" name="Rectangle 9"/>
          <p:cNvSpPr/>
          <p:nvPr/>
        </p:nvSpPr>
        <p:spPr>
          <a:xfrm>
            <a:off x="161925" y="3713163"/>
            <a:ext cx="8686800" cy="5556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(3)</a:t>
            </a:r>
            <a:r>
              <a:rPr lang="zh-CN" altLang="en-US" dirty="0">
                <a:latin typeface="Verdana" panose="020B0604030504040204" pitchFamily="34" charset="0"/>
              </a:rPr>
              <a:t>最小最大原则。设要将</a:t>
            </a:r>
            <a:r>
              <a:rPr lang="en-US" altLang="zh-CN" dirty="0">
                <a:latin typeface="Verdana" panose="020B0604030504040204" pitchFamily="34" charset="0"/>
              </a:rPr>
              <a:t>n</a:t>
            </a:r>
            <a:r>
              <a:rPr lang="zh-CN" altLang="en-US" dirty="0">
                <a:latin typeface="Verdana" panose="020B0604030504040204" pitchFamily="34" charset="0"/>
              </a:rPr>
              <a:t>个样品分成</a:t>
            </a:r>
            <a:r>
              <a:rPr lang="en-US" altLang="zh-CN" dirty="0">
                <a:latin typeface="Verdana" panose="020B0604030504040204" pitchFamily="34" charset="0"/>
              </a:rPr>
              <a:t>k</a:t>
            </a:r>
            <a:r>
              <a:rPr lang="zh-CN" altLang="en-US" dirty="0">
                <a:latin typeface="Verdana" panose="020B0604030504040204" pitchFamily="34" charset="0"/>
              </a:rPr>
              <a:t>类，先选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296863" y="4418013"/>
            <a:ext cx="8521700" cy="585787"/>
            <a:chOff x="187" y="2783"/>
            <a:chExt cx="5368" cy="369"/>
          </a:xfrm>
        </p:grpSpPr>
        <p:sp>
          <p:nvSpPr>
            <p:cNvPr id="20496" name="Rectangle 10"/>
            <p:cNvSpPr/>
            <p:nvPr/>
          </p:nvSpPr>
          <p:spPr>
            <a:xfrm>
              <a:off x="187" y="2827"/>
              <a:ext cx="336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dirty="0">
                  <a:latin typeface="Verdana" panose="020B0604030504040204" pitchFamily="34" charset="0"/>
                </a:rPr>
                <a:t>择所有样品中距离最远的两个样品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20497" name="Group 11"/>
            <p:cNvGrpSpPr/>
            <p:nvPr/>
          </p:nvGrpSpPr>
          <p:grpSpPr>
            <a:xfrm>
              <a:off x="3519" y="2783"/>
              <a:ext cx="2036" cy="369"/>
              <a:chOff x="3519" y="742"/>
              <a:chExt cx="2036" cy="369"/>
            </a:xfrm>
          </p:grpSpPr>
          <p:graphicFrame>
            <p:nvGraphicFramePr>
              <p:cNvPr id="20485" name="Object 5"/>
              <p:cNvGraphicFramePr/>
              <p:nvPr/>
            </p:nvGraphicFramePr>
            <p:xfrm>
              <a:off x="3519" y="742"/>
              <a:ext cx="590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0" name="" r:id="rId1" imgW="381000" imgH="241300" progId="Equation.DSMT4">
                      <p:embed/>
                    </p:oleObj>
                  </mc:Choice>
                  <mc:Fallback>
                    <p:oleObj name="" r:id="rId1" imgW="381000" imgH="241300" progId="Equation.DSMT4">
                      <p:embed/>
                      <p:pic>
                        <p:nvPicPr>
                          <p:cNvPr id="0" name="图片 318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519" y="742"/>
                            <a:ext cx="590" cy="36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498" name="Text Box 13"/>
              <p:cNvSpPr txBox="1"/>
              <p:nvPr/>
            </p:nvSpPr>
            <p:spPr>
              <a:xfrm>
                <a:off x="4099" y="771"/>
                <a:ext cx="1456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dirty="0">
                    <a:latin typeface="Verdana" panose="020B0604030504040204" pitchFamily="34" charset="0"/>
                  </a:rPr>
                  <a:t>为前两个聚点</a:t>
                </a:r>
                <a:r>
                  <a:rPr lang="en-US" altLang="zh-CN" dirty="0">
                    <a:latin typeface="Verdana" panose="020B0604030504040204" pitchFamily="34" charset="0"/>
                  </a:rPr>
                  <a:t>,</a:t>
                </a:r>
                <a:endParaRPr lang="en-US" altLang="zh-CN" dirty="0">
                  <a:latin typeface="Verdana" panose="020B0604030504040204" pitchFamily="34" charset="0"/>
                </a:endParaRPr>
              </a:p>
            </p:txBody>
          </p:sp>
        </p:grpSp>
      </p:grpSp>
      <p:grpSp>
        <p:nvGrpSpPr>
          <p:cNvPr id="4" name="Group 30"/>
          <p:cNvGrpSpPr/>
          <p:nvPr/>
        </p:nvGrpSpPr>
        <p:grpSpPr>
          <a:xfrm>
            <a:off x="296863" y="5229225"/>
            <a:ext cx="6729412" cy="630238"/>
            <a:chOff x="187" y="3294"/>
            <a:chExt cx="4239" cy="397"/>
          </a:xfrm>
        </p:grpSpPr>
        <p:graphicFrame>
          <p:nvGraphicFramePr>
            <p:cNvPr id="20482" name="Object 2"/>
            <p:cNvGraphicFramePr/>
            <p:nvPr/>
          </p:nvGraphicFramePr>
          <p:xfrm>
            <a:off x="2067" y="3349"/>
            <a:ext cx="2359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3" imgW="1638300" imgH="241300" progId="Equation.DSMT4">
                    <p:embed/>
                  </p:oleObj>
                </mc:Choice>
                <mc:Fallback>
                  <p:oleObj name="" r:id="rId3" imgW="1638300" imgH="241300" progId="Equation.DSMT4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67" y="3349"/>
                          <a:ext cx="2359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492" name="Group 24"/>
            <p:cNvGrpSpPr/>
            <p:nvPr/>
          </p:nvGrpSpPr>
          <p:grpSpPr>
            <a:xfrm>
              <a:off x="187" y="3294"/>
              <a:ext cx="1786" cy="363"/>
              <a:chOff x="130" y="1111"/>
              <a:chExt cx="1786" cy="363"/>
            </a:xfrm>
          </p:grpSpPr>
          <p:graphicFrame>
            <p:nvGraphicFramePr>
              <p:cNvPr id="20483" name="Object 3"/>
              <p:cNvGraphicFramePr/>
              <p:nvPr/>
            </p:nvGraphicFramePr>
            <p:xfrm>
              <a:off x="846" y="1111"/>
              <a:ext cx="276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6" name="" r:id="rId5" imgW="177800" imgH="241300" progId="Equation.DSMT4">
                      <p:embed/>
                    </p:oleObj>
                  </mc:Choice>
                  <mc:Fallback>
                    <p:oleObj name="" r:id="rId5" imgW="177800" imgH="241300" progId="Equation.DSMT4">
                      <p:embed/>
                      <p:pic>
                        <p:nvPicPr>
                          <p:cNvPr id="0" name="图片 319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46" y="1111"/>
                            <a:ext cx="276" cy="3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4" name="Object 4"/>
              <p:cNvGraphicFramePr/>
              <p:nvPr/>
            </p:nvGraphicFramePr>
            <p:xfrm>
              <a:off x="1360" y="1111"/>
              <a:ext cx="368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" name="" r:id="rId7" imgW="241300" imgH="241300" progId="Equation.DSMT4">
                      <p:embed/>
                    </p:oleObj>
                  </mc:Choice>
                  <mc:Fallback>
                    <p:oleObj name="" r:id="rId7" imgW="241300" imgH="241300" progId="Equation.DSMT4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60" y="1111"/>
                            <a:ext cx="368" cy="3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493" name="Text Box 27"/>
              <p:cNvSpPr txBox="1"/>
              <p:nvPr/>
            </p:nvSpPr>
            <p:spPr>
              <a:xfrm>
                <a:off x="130" y="1154"/>
                <a:ext cx="672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dirty="0">
                    <a:latin typeface="Verdana" panose="020B0604030504040204" pitchFamily="34" charset="0"/>
                  </a:rPr>
                  <a:t>即选择</a:t>
                </a: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20494" name="Text Box 28"/>
              <p:cNvSpPr txBox="1"/>
              <p:nvPr/>
            </p:nvSpPr>
            <p:spPr>
              <a:xfrm>
                <a:off x="1122" y="1139"/>
                <a:ext cx="224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dirty="0">
                    <a:latin typeface="Verdana" panose="020B0604030504040204" pitchFamily="34" charset="0"/>
                  </a:rPr>
                  <a:t>和</a:t>
                </a: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20495" name="Text Box 29"/>
              <p:cNvSpPr txBox="1"/>
              <p:nvPr/>
            </p:nvSpPr>
            <p:spPr>
              <a:xfrm>
                <a:off x="1692" y="1168"/>
                <a:ext cx="224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dirty="0">
                    <a:latin typeface="Verdana" panose="020B0604030504040204" pitchFamily="34" charset="0"/>
                  </a:rPr>
                  <a:t>使</a:t>
                </a: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/>
      <p:bldP spid="45062" grpId="0"/>
      <p:bldP spid="45064" grpId="0"/>
      <p:bldP spid="4506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1"/>
          <p:cNvGrpSpPr/>
          <p:nvPr/>
        </p:nvGrpSpPr>
        <p:grpSpPr>
          <a:xfrm>
            <a:off x="250825" y="752475"/>
            <a:ext cx="8534400" cy="512763"/>
            <a:chOff x="158" y="2241"/>
            <a:chExt cx="5376" cy="323"/>
          </a:xfrm>
        </p:grpSpPr>
        <p:graphicFrame>
          <p:nvGraphicFramePr>
            <p:cNvPr id="21511" name="Object 7"/>
            <p:cNvGraphicFramePr/>
            <p:nvPr/>
          </p:nvGraphicFramePr>
          <p:xfrm>
            <a:off x="2112" y="2247"/>
            <a:ext cx="32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" imgW="241300" imgH="241300" progId="Equation.DSMT4">
                    <p:embed/>
                  </p:oleObj>
                </mc:Choice>
                <mc:Fallback>
                  <p:oleObj name="" r:id="rId1" imgW="241300" imgH="2413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12" y="2247"/>
                          <a:ext cx="327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" name="Text Box 25"/>
            <p:cNvSpPr txBox="1"/>
            <p:nvPr/>
          </p:nvSpPr>
          <p:spPr>
            <a:xfrm>
              <a:off x="158" y="2241"/>
              <a:ext cx="190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dirty="0">
                  <a:latin typeface="Verdana" panose="020B0604030504040204" pitchFamily="34" charset="0"/>
                </a:rPr>
                <a:t>然后选择第</a:t>
              </a:r>
              <a:r>
                <a:rPr lang="en-US" altLang="zh-CN" dirty="0">
                  <a:latin typeface="Verdana" panose="020B0604030504040204" pitchFamily="34" charset="0"/>
                </a:rPr>
                <a:t>3</a:t>
              </a:r>
              <a:r>
                <a:rPr lang="zh-CN" altLang="en-US" dirty="0">
                  <a:latin typeface="Verdana" panose="020B0604030504040204" pitchFamily="34" charset="0"/>
                </a:rPr>
                <a:t>个聚点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21522" name="Text Box 26"/>
            <p:cNvSpPr txBox="1"/>
            <p:nvPr/>
          </p:nvSpPr>
          <p:spPr>
            <a:xfrm>
              <a:off x="2398" y="2260"/>
              <a:ext cx="3136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dirty="0">
                  <a:latin typeface="Verdana" panose="020B0604030504040204" pitchFamily="34" charset="0"/>
                </a:rPr>
                <a:t>使其与前两个聚点的距离最小者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3" name="Group 32"/>
          <p:cNvGrpSpPr/>
          <p:nvPr/>
        </p:nvGrpSpPr>
        <p:grpSpPr>
          <a:xfrm>
            <a:off x="250825" y="1403350"/>
            <a:ext cx="8686800" cy="541338"/>
            <a:chOff x="158" y="2585"/>
            <a:chExt cx="5602" cy="341"/>
          </a:xfrm>
        </p:grpSpPr>
        <p:graphicFrame>
          <p:nvGraphicFramePr>
            <p:cNvPr id="21510" name="Object 6"/>
            <p:cNvGraphicFramePr/>
            <p:nvPr/>
          </p:nvGraphicFramePr>
          <p:xfrm>
            <a:off x="1950" y="2585"/>
            <a:ext cx="545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381000" imgH="241300" progId="Equation.DSMT4">
                    <p:embed/>
                  </p:oleObj>
                </mc:Choice>
                <mc:Fallback>
                  <p:oleObj name="" r:id="rId3" imgW="381000" imgH="2413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50" y="2585"/>
                          <a:ext cx="545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9" name="Text Box 27"/>
            <p:cNvSpPr txBox="1"/>
            <p:nvPr/>
          </p:nvSpPr>
          <p:spPr>
            <a:xfrm>
              <a:off x="158" y="2609"/>
              <a:ext cx="183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dirty="0">
                  <a:latin typeface="Verdana" panose="020B0604030504040204" pitchFamily="34" charset="0"/>
                </a:rPr>
                <a:t>等于所有其余的与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21520" name="Rectangle 28"/>
            <p:cNvSpPr/>
            <p:nvPr/>
          </p:nvSpPr>
          <p:spPr>
            <a:xfrm>
              <a:off x="2495" y="2609"/>
              <a:ext cx="326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r>
                <a:rPr lang="zh-CN" altLang="en-US" dirty="0">
                  <a:latin typeface="Verdana" panose="020B0604030504040204" pitchFamily="34" charset="0"/>
                </a:rPr>
                <a:t>的较小距离中最大的</a:t>
              </a:r>
              <a:r>
                <a:rPr lang="en-US" altLang="zh-CN" dirty="0">
                  <a:latin typeface="Verdana" panose="020B0604030504040204" pitchFamily="34" charset="0"/>
                </a:rPr>
                <a:t>,</a:t>
              </a:r>
              <a:r>
                <a:rPr lang="zh-CN" altLang="en-US" dirty="0">
                  <a:latin typeface="Verdana" panose="020B0604030504040204" pitchFamily="34" charset="0"/>
                </a:rPr>
                <a:t>用公式表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46110" name="Rectangle 30"/>
          <p:cNvSpPr/>
          <p:nvPr/>
        </p:nvSpPr>
        <p:spPr>
          <a:xfrm>
            <a:off x="276225" y="2033588"/>
            <a:ext cx="711200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zh-CN" altLang="en-US" dirty="0">
                <a:latin typeface="Verdana" panose="020B0604030504040204" pitchFamily="34" charset="0"/>
              </a:rPr>
              <a:t>示为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46115" name="Object 2"/>
          <p:cNvGraphicFramePr>
            <a:graphicFrameLocks noGrp="1"/>
          </p:cNvGraphicFramePr>
          <p:nvPr>
            <p:ph/>
          </p:nvPr>
        </p:nvGraphicFramePr>
        <p:xfrm>
          <a:off x="1736725" y="2087563"/>
          <a:ext cx="494982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2487930" imgH="584200" progId="Equation.DSMT4">
                  <p:embed/>
                </p:oleObj>
              </mc:Choice>
              <mc:Fallback>
                <p:oleObj name="" r:id="rId5" imgW="2487930" imgH="584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6725" y="2087563"/>
                        <a:ext cx="4949825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4" name="Object 3"/>
          <p:cNvGraphicFramePr/>
          <p:nvPr/>
        </p:nvGraphicFramePr>
        <p:xfrm>
          <a:off x="296863" y="3924300"/>
          <a:ext cx="18002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787400" imgH="241300" progId="Equation.DSMT4">
                  <p:embed/>
                </p:oleObj>
              </mc:Choice>
              <mc:Fallback>
                <p:oleObj name="" r:id="rId7" imgW="787400" imgH="2413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6863" y="3924300"/>
                        <a:ext cx="1800225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5" name="Object 4"/>
          <p:cNvGraphicFramePr/>
          <p:nvPr/>
        </p:nvGraphicFramePr>
        <p:xfrm>
          <a:off x="1354138" y="5275263"/>
          <a:ext cx="578802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9" imgW="2995930" imgH="584200" progId="Equation.DSMT4">
                  <p:embed/>
                </p:oleObj>
              </mc:Choice>
              <mc:Fallback>
                <p:oleObj name="" r:id="rId9" imgW="2995930" imgH="5842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54138" y="5275263"/>
                        <a:ext cx="5788025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6"/>
          <p:cNvGrpSpPr/>
          <p:nvPr/>
        </p:nvGrpSpPr>
        <p:grpSpPr>
          <a:xfrm>
            <a:off x="296863" y="3294063"/>
            <a:ext cx="8350250" cy="574675"/>
            <a:chOff x="187" y="1168"/>
            <a:chExt cx="5260" cy="362"/>
          </a:xfrm>
        </p:grpSpPr>
        <p:graphicFrame>
          <p:nvGraphicFramePr>
            <p:cNvPr id="21509" name="Object 5"/>
            <p:cNvGraphicFramePr/>
            <p:nvPr/>
          </p:nvGraphicFramePr>
          <p:xfrm>
            <a:off x="2485" y="1168"/>
            <a:ext cx="367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1" imgW="241300" imgH="241300" progId="Equation.DSMT4">
                    <p:embed/>
                  </p:oleObj>
                </mc:Choice>
                <mc:Fallback>
                  <p:oleObj name="" r:id="rId11" imgW="241300" imgH="2413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85" y="1168"/>
                          <a:ext cx="367" cy="3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7" name="Text Box 48"/>
            <p:cNvSpPr txBox="1"/>
            <p:nvPr/>
          </p:nvSpPr>
          <p:spPr>
            <a:xfrm>
              <a:off x="187" y="1220"/>
              <a:ext cx="224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dirty="0">
                  <a:latin typeface="Verdana" panose="020B0604030504040204" pitchFamily="34" charset="0"/>
                </a:rPr>
                <a:t>然后按相同的原则选取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21518" name="Text Box 49"/>
            <p:cNvSpPr txBox="1"/>
            <p:nvPr/>
          </p:nvSpPr>
          <p:spPr>
            <a:xfrm>
              <a:off x="2884" y="1225"/>
              <a:ext cx="256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dirty="0">
                  <a:latin typeface="Verdana" panose="020B0604030504040204" pitchFamily="34" charset="0"/>
                </a:rPr>
                <a:t>依次下去，直至选定</a:t>
              </a: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latin typeface="Verdana" panose="020B0604030504040204" pitchFamily="34" charset="0"/>
                </a:rPr>
                <a:t>个点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46130" name="Rectangle 50"/>
          <p:cNvSpPr/>
          <p:nvPr/>
        </p:nvSpPr>
        <p:spPr>
          <a:xfrm>
            <a:off x="228600" y="4572000"/>
            <a:ext cx="8216900" cy="427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zh-CN" altLang="en-US" dirty="0">
                <a:latin typeface="Verdana" panose="020B0604030504040204" pitchFamily="34" charset="0"/>
              </a:rPr>
              <a:t>若已选了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Verdana" panose="020B0604030504040204" pitchFamily="34" charset="0"/>
              </a:rPr>
              <a:t>个聚点</a:t>
            </a:r>
            <a:r>
              <a:rPr lang="en-US" altLang="zh-CN" dirty="0">
                <a:latin typeface="Verdana" panose="020B0604030504040204" pitchFamily="34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Verdana" panose="020B0604030504040204" pitchFamily="34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k),</a:t>
            </a:r>
            <a:r>
              <a:rPr lang="zh-CN" altLang="en-US" dirty="0">
                <a:latin typeface="Verdana" panose="020B0604030504040204" pitchFamily="34" charset="0"/>
              </a:rPr>
              <a:t>则第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Verdana" panose="020B0604030504040204" pitchFamily="34" charset="0"/>
              </a:rPr>
              <a:t>+1</a:t>
            </a:r>
            <a:r>
              <a:rPr lang="zh-CN" altLang="en-US" dirty="0">
                <a:latin typeface="Verdana" panose="020B0604030504040204" pitchFamily="34" charset="0"/>
              </a:rPr>
              <a:t>个聚点选取的原则为</a:t>
            </a: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0" grpId="0"/>
      <p:bldP spid="461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4" name="Rectangle 3"/>
          <p:cNvSpPr/>
          <p:nvPr/>
        </p:nvSpPr>
        <p:spPr>
          <a:xfrm>
            <a:off x="0" y="30956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22535" name="Rectangle 4"/>
          <p:cNvSpPr/>
          <p:nvPr/>
        </p:nvSpPr>
        <p:spPr>
          <a:xfrm>
            <a:off x="0" y="3095625"/>
            <a:ext cx="9144000" cy="244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1000" b="0" dirty="0">
                <a:latin typeface="Times New Roman" panose="02020603050405020304" pitchFamily="18" charset="0"/>
              </a:rPr>
              <a:t>  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22536" name="Rectangle 5"/>
          <p:cNvSpPr/>
          <p:nvPr/>
        </p:nvSpPr>
        <p:spPr>
          <a:xfrm>
            <a:off x="0" y="3340100"/>
            <a:ext cx="9144000" cy="244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sz="1000" b="0" dirty="0">
                <a:latin typeface="Times New Roman" panose="02020603050405020304" pitchFamily="18" charset="0"/>
              </a:rPr>
              <a:t> 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22537" name="Rectangle 6"/>
          <p:cNvSpPr/>
          <p:nvPr/>
        </p:nvSpPr>
        <p:spPr>
          <a:xfrm>
            <a:off x="0" y="2790825"/>
            <a:ext cx="9144000" cy="260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000" b="0" dirty="0">
                <a:latin typeface="Times New Roman" panose="02020603050405020304" pitchFamily="18" charset="0"/>
              </a:rPr>
              <a:t> </a:t>
            </a:r>
            <a:r>
              <a:rPr lang="en-US" altLang="zh-CN" sz="1100" b="0" dirty="0">
                <a:latin typeface="Times New Roman" panose="02020603050405020304" pitchFamily="18" charset="0"/>
              </a:rPr>
              <a:t> 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4495800" y="476250"/>
            <a:ext cx="3962400" cy="3019425"/>
            <a:chOff x="2832" y="300"/>
            <a:chExt cx="2496" cy="1902"/>
          </a:xfrm>
        </p:grpSpPr>
        <p:sp>
          <p:nvSpPr>
            <p:cNvPr id="22554" name="Rectangle 2"/>
            <p:cNvSpPr/>
            <p:nvPr/>
          </p:nvSpPr>
          <p:spPr>
            <a:xfrm>
              <a:off x="2880" y="300"/>
              <a:ext cx="235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 defTabSz="0">
                <a:tabLst>
                  <a:tab pos="4343400" algn="l"/>
                </a:tabLst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(b)  </a:t>
              </a:r>
              <a:r>
                <a:rPr lang="zh-CN" altLang="en-US" sz="2400" b="0" dirty="0">
                  <a:latin typeface="Times New Roman" panose="02020603050405020304" pitchFamily="18" charset="0"/>
                </a:rPr>
                <a:t>任取两个凝聚点</a:t>
              </a:r>
              <a:endParaRPr lang="zh-CN" altLang="en-US" sz="2400" b="0" dirty="0">
                <a:latin typeface="Times New Roman" panose="02020603050405020304" pitchFamily="18" charset="0"/>
              </a:endParaRPr>
            </a:p>
            <a:p>
              <a:pPr defTabSz="0" eaLnBrk="0" hangingPunct="0">
                <a:tabLst>
                  <a:tab pos="4343400" algn="l"/>
                </a:tabLst>
              </a:pP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33" name="Object 7"/>
            <p:cNvGraphicFramePr/>
            <p:nvPr/>
          </p:nvGraphicFramePr>
          <p:xfrm>
            <a:off x="2832" y="720"/>
            <a:ext cx="2496" cy="1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2371725" imgH="1257300" progId="Paint.Picture">
                    <p:embed/>
                  </p:oleObj>
                </mc:Choice>
                <mc:Fallback>
                  <p:oleObj name="" r:id="rId1" imgW="2371725" imgH="1257300" progId="Paint.Picture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32" y="720"/>
                          <a:ext cx="2496" cy="1482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3913" name="Oval 9"/>
          <p:cNvSpPr/>
          <p:nvPr/>
        </p:nvSpPr>
        <p:spPr>
          <a:xfrm>
            <a:off x="5791200" y="2286000"/>
            <a:ext cx="304800" cy="457200"/>
          </a:xfrm>
          <a:prstGeom prst="ellipse">
            <a:avLst/>
          </a:prstGeom>
          <a:noFill/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763914" name="Oval 10"/>
          <p:cNvSpPr/>
          <p:nvPr/>
        </p:nvSpPr>
        <p:spPr>
          <a:xfrm>
            <a:off x="5486400" y="2819400"/>
            <a:ext cx="304800" cy="457200"/>
          </a:xfrm>
          <a:prstGeom prst="ellipse">
            <a:avLst/>
          </a:prstGeom>
          <a:noFill/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22541" name="Rectangle 12"/>
          <p:cNvSpPr/>
          <p:nvPr/>
        </p:nvSpPr>
        <p:spPr>
          <a:xfrm>
            <a:off x="1588" y="27908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22542" name="Rectangle 13"/>
          <p:cNvSpPr/>
          <p:nvPr/>
        </p:nvSpPr>
        <p:spPr>
          <a:xfrm>
            <a:off x="1588" y="27908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57150" y="3532188"/>
            <a:ext cx="4294188" cy="3021012"/>
            <a:chOff x="36" y="2225"/>
            <a:chExt cx="2705" cy="1903"/>
          </a:xfrm>
        </p:grpSpPr>
        <p:grpSp>
          <p:nvGrpSpPr>
            <p:cNvPr id="22550" name="Group 25"/>
            <p:cNvGrpSpPr/>
            <p:nvPr/>
          </p:nvGrpSpPr>
          <p:grpSpPr>
            <a:xfrm>
              <a:off x="36" y="2225"/>
              <a:ext cx="2700" cy="1903"/>
              <a:chOff x="36" y="2225"/>
              <a:chExt cx="2700" cy="1903"/>
            </a:xfrm>
          </p:grpSpPr>
          <p:graphicFrame>
            <p:nvGraphicFramePr>
              <p:cNvPr id="22532" name="Object 14"/>
              <p:cNvGraphicFramePr/>
              <p:nvPr/>
            </p:nvGraphicFramePr>
            <p:xfrm>
              <a:off x="384" y="2544"/>
              <a:ext cx="2352" cy="15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9" name="" r:id="rId3" imgW="2371725" imgH="1257300" progId="PBrush">
                      <p:embed/>
                    </p:oleObj>
                  </mc:Choice>
                  <mc:Fallback>
                    <p:oleObj name="" r:id="rId3" imgW="2371725" imgH="1257300" progId="PBrush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84" y="2544"/>
                            <a:ext cx="2352" cy="1584"/>
                          </a:xfrm>
                          <a:prstGeom prst="rect">
                            <a:avLst/>
                          </a:prstGeom>
                          <a:noFill/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3" name="Rectangle 23"/>
              <p:cNvSpPr/>
              <p:nvPr/>
            </p:nvSpPr>
            <p:spPr>
              <a:xfrm>
                <a:off x="36" y="2225"/>
                <a:ext cx="256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just" defTabSz="0">
                  <a:tabLst>
                    <a:tab pos="4343400" algn="l"/>
                  </a:tabLst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         (c)   </a:t>
                </a:r>
                <a:r>
                  <a:rPr lang="zh-CN" altLang="en-US" sz="2400" b="0" dirty="0">
                    <a:latin typeface="Times New Roman" panose="02020603050405020304" pitchFamily="18" charset="0"/>
                  </a:rPr>
                  <a:t>第一次分类</a:t>
                </a:r>
                <a:endParaRPr lang="zh-CN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2551" name="Oval 16"/>
            <p:cNvSpPr/>
            <p:nvPr/>
          </p:nvSpPr>
          <p:spPr>
            <a:xfrm rot="2927195">
              <a:off x="288" y="3360"/>
              <a:ext cx="1152" cy="384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22552" name="Oval 17"/>
            <p:cNvSpPr/>
            <p:nvPr/>
          </p:nvSpPr>
          <p:spPr>
            <a:xfrm rot="1956265">
              <a:off x="816" y="2688"/>
              <a:ext cx="1925" cy="1173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7"/>
          <p:cNvGrpSpPr/>
          <p:nvPr/>
        </p:nvGrpSpPr>
        <p:grpSpPr>
          <a:xfrm>
            <a:off x="4324350" y="3525838"/>
            <a:ext cx="4394200" cy="3103562"/>
            <a:chOff x="2724" y="2221"/>
            <a:chExt cx="2768" cy="1955"/>
          </a:xfrm>
        </p:grpSpPr>
        <p:sp>
          <p:nvSpPr>
            <p:cNvPr id="22547" name="Rectangle 11"/>
            <p:cNvSpPr/>
            <p:nvPr/>
          </p:nvSpPr>
          <p:spPr>
            <a:xfrm>
              <a:off x="2724" y="2221"/>
              <a:ext cx="276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 defTabSz="0">
                <a:tabLst>
                  <a:tab pos="4343400" algn="l"/>
                </a:tabLst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     (d)  </a:t>
              </a:r>
              <a:r>
                <a:rPr lang="zh-CN" altLang="en-US" sz="2400" b="0" dirty="0">
                  <a:latin typeface="Times New Roman" panose="02020603050405020304" pitchFamily="18" charset="0"/>
                </a:rPr>
                <a:t>求各类中心</a:t>
              </a:r>
              <a:endParaRPr lang="zh-CN" altLang="en-US" sz="2400" b="0" dirty="0">
                <a:latin typeface="Times New Roman" panose="02020603050405020304" pitchFamily="18" charset="0"/>
              </a:endParaRPr>
            </a:p>
            <a:p>
              <a:pPr defTabSz="0" eaLnBrk="0" hangingPunct="0">
                <a:tabLst>
                  <a:tab pos="4343400" algn="l"/>
                </a:tabLst>
              </a:pP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31" name="Object 15"/>
            <p:cNvGraphicFramePr/>
            <p:nvPr/>
          </p:nvGraphicFramePr>
          <p:xfrm>
            <a:off x="2880" y="2592"/>
            <a:ext cx="2496" cy="1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5" imgW="2371725" imgH="1257300" progId="PBrush">
                    <p:embed/>
                  </p:oleObj>
                </mc:Choice>
                <mc:Fallback>
                  <p:oleObj name="" r:id="rId5" imgW="2371725" imgH="1257300" progId="PBrush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80" y="2592"/>
                          <a:ext cx="2496" cy="1584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8" name="Oval 18"/>
            <p:cNvSpPr/>
            <p:nvPr/>
          </p:nvSpPr>
          <p:spPr>
            <a:xfrm>
              <a:off x="3408" y="3504"/>
              <a:ext cx="192" cy="192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22549" name="Oval 19"/>
            <p:cNvSpPr/>
            <p:nvPr/>
          </p:nvSpPr>
          <p:spPr>
            <a:xfrm>
              <a:off x="4224" y="3113"/>
              <a:ext cx="198" cy="199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2545" name="Group 21"/>
          <p:cNvGrpSpPr/>
          <p:nvPr/>
        </p:nvGrpSpPr>
        <p:grpSpPr>
          <a:xfrm>
            <a:off x="0" y="549275"/>
            <a:ext cx="4356100" cy="2946400"/>
            <a:chOff x="0" y="346"/>
            <a:chExt cx="2744" cy="1856"/>
          </a:xfrm>
        </p:grpSpPr>
        <p:graphicFrame>
          <p:nvGraphicFramePr>
            <p:cNvPr id="22530" name="Object 8"/>
            <p:cNvGraphicFramePr/>
            <p:nvPr/>
          </p:nvGraphicFramePr>
          <p:xfrm>
            <a:off x="384" y="720"/>
            <a:ext cx="2304" cy="1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6" imgW="2371725" imgH="1257300" progId="PBrush">
                    <p:embed/>
                  </p:oleObj>
                </mc:Choice>
                <mc:Fallback>
                  <p:oleObj name="" r:id="rId6" imgW="2371725" imgH="1257300" progId="PBrush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4" y="720"/>
                          <a:ext cx="2304" cy="1482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Rectangle 20"/>
            <p:cNvSpPr/>
            <p:nvPr/>
          </p:nvSpPr>
          <p:spPr>
            <a:xfrm>
              <a:off x="0" y="346"/>
              <a:ext cx="27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 defTabSz="0">
                <a:tabLst>
                  <a:tab pos="4343400" algn="l"/>
                </a:tabLst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         </a:t>
              </a:r>
              <a:r>
                <a:rPr lang="zh-CN" altLang="en-US" sz="2400" b="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b="0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b="0" dirty="0">
                  <a:latin typeface="Times New Roman" panose="02020603050405020304" pitchFamily="18" charset="0"/>
                </a:rPr>
                <a:t>）空间的群点</a:t>
              </a:r>
              <a:endParaRPr lang="zh-CN" altLang="en-US" sz="2400" b="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13" grpId="0" animBg="1"/>
      <p:bldP spid="7639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5" name="Rectangle 2"/>
          <p:cNvSpPr/>
          <p:nvPr/>
        </p:nvSpPr>
        <p:spPr>
          <a:xfrm>
            <a:off x="0" y="762000"/>
            <a:ext cx="9144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defTabSz="0">
              <a:tabLst>
                <a:tab pos="4343400" algn="l"/>
              </a:tabLst>
            </a:pPr>
            <a:r>
              <a:rPr lang="en-US" altLang="zh-CN" sz="2400" b="0" dirty="0">
                <a:latin typeface="Times New Roman" panose="02020603050405020304" pitchFamily="18" charset="0"/>
              </a:rPr>
              <a:t>  (e)   </a:t>
            </a:r>
            <a:r>
              <a:rPr lang="zh-CN" altLang="en-US" sz="2400" b="0" dirty="0">
                <a:latin typeface="Times New Roman" panose="02020603050405020304" pitchFamily="18" charset="0"/>
              </a:rPr>
              <a:t>第二次分类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algn="ctr" defTabSz="0" eaLnBrk="0" hangingPunct="0">
              <a:tabLst>
                <a:tab pos="4343400" algn="l"/>
              </a:tabLst>
            </a:pP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23556" name="Rectangle 3"/>
          <p:cNvSpPr/>
          <p:nvPr/>
        </p:nvSpPr>
        <p:spPr>
          <a:xfrm>
            <a:off x="0" y="33956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graphicFrame>
        <p:nvGraphicFramePr>
          <p:cNvPr id="23554" name="Object 4"/>
          <p:cNvGraphicFramePr/>
          <p:nvPr/>
        </p:nvGraphicFramePr>
        <p:xfrm>
          <a:off x="2209800" y="1600200"/>
          <a:ext cx="48768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2371725" imgH="1257300" progId="PBrush">
                  <p:embed/>
                </p:oleObj>
              </mc:Choice>
              <mc:Fallback>
                <p:oleObj name="" r:id="rId1" imgW="2371725" imgH="1257300" progId="PBrush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9800" y="1600200"/>
                        <a:ext cx="4876800" cy="327660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Oval 5"/>
          <p:cNvSpPr/>
          <p:nvPr/>
        </p:nvSpPr>
        <p:spPr>
          <a:xfrm>
            <a:off x="2438400" y="2286000"/>
            <a:ext cx="2057400" cy="23622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23558" name="Oval 6"/>
          <p:cNvSpPr/>
          <p:nvPr/>
        </p:nvSpPr>
        <p:spPr>
          <a:xfrm>
            <a:off x="4648200" y="2057400"/>
            <a:ext cx="2057400" cy="23622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eaLnBrk="1" hangingPunct="1"/>
            <a:r>
              <a:rPr lang="zh-CN" altLang="en-US" dirty="0"/>
              <a:t>动态聚类法 </a:t>
            </a:r>
            <a:endParaRPr lang="zh-CN" altLang="en-US" dirty="0"/>
          </a:p>
        </p:txBody>
      </p:sp>
      <p:sp>
        <p:nvSpPr>
          <p:cNvPr id="56323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eaLnBrk="1" hangingPunct="1">
              <a:lnSpc>
                <a:spcPct val="150000"/>
              </a:lnSpc>
            </a:pPr>
            <a:r>
              <a:rPr lang="zh-CN" altLang="en-US" sz="3400" dirty="0"/>
              <a:t>优点：计算量小，方法简便，可以根据经验，先作主观分类。</a:t>
            </a:r>
            <a:endParaRPr lang="zh-CN" altLang="en-US" sz="34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3400" dirty="0"/>
              <a:t>缺点：结果受选择凝聚点好坏的影响，分类结果不稳定。  </a:t>
            </a:r>
            <a:endParaRPr lang="zh-CN" altLang="en-US" sz="3400" dirty="0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4"/>
          <p:cNvSpPr/>
          <p:nvPr/>
        </p:nvSpPr>
        <p:spPr>
          <a:xfrm>
            <a:off x="250825" y="692150"/>
            <a:ext cx="8397875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：某商店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位售货员的销售量和教育程度如下表：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5506" name="Group 34"/>
          <p:cNvGraphicFramePr>
            <a:graphicFrameLocks noGrp="1"/>
          </p:cNvGraphicFramePr>
          <p:nvPr/>
        </p:nvGraphicFramePr>
        <p:xfrm>
          <a:off x="539750" y="1628775"/>
          <a:ext cx="7200900" cy="2201863"/>
        </p:xfrm>
        <a:graphic>
          <a:graphicData uri="http://schemas.openxmlformats.org/drawingml/2006/table">
            <a:tbl>
              <a:tblPr/>
              <a:tblGrid>
                <a:gridCol w="2016125"/>
                <a:gridCol w="1223963"/>
                <a:gridCol w="966787"/>
                <a:gridCol w="1049338"/>
                <a:gridCol w="863600"/>
                <a:gridCol w="1081087"/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售货员</a:t>
                      </a:r>
                      <a:endParaRPr kumimoji="1" lang="zh-CN" altLang="en-US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销售量（千件）</a:t>
                      </a:r>
                      <a:endParaRPr kumimoji="1" lang="zh-CN" altLang="en-US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教育程度</a:t>
                      </a:r>
                      <a:endParaRPr kumimoji="1" lang="zh-CN" altLang="en-US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77" name="Rectangle 120"/>
          <p:cNvSpPr/>
          <p:nvPr/>
        </p:nvSpPr>
        <p:spPr>
          <a:xfrm>
            <a:off x="684213" y="4292600"/>
            <a:ext cx="3575050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位售货员分类。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588" name="Group 65"/>
          <p:cNvGrpSpPr/>
          <p:nvPr/>
        </p:nvGrpSpPr>
        <p:grpSpPr>
          <a:xfrm>
            <a:off x="4714875" y="3068638"/>
            <a:ext cx="2921000" cy="2268537"/>
            <a:chOff x="3560" y="2069"/>
            <a:chExt cx="1840" cy="1429"/>
          </a:xfrm>
        </p:grpSpPr>
        <p:graphicFrame>
          <p:nvGraphicFramePr>
            <p:cNvPr id="24579" name="Object 13"/>
            <p:cNvGraphicFramePr/>
            <p:nvPr/>
          </p:nvGraphicFramePr>
          <p:xfrm>
            <a:off x="3560" y="2069"/>
            <a:ext cx="46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" imgW="317500" imgH="228600" progId="Equation.3">
                    <p:embed/>
                  </p:oleObj>
                </mc:Choice>
                <mc:Fallback>
                  <p:oleObj name="" r:id="rId1" imgW="317500" imgH="2286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60" y="2069"/>
                          <a:ext cx="466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0" name="Object 12"/>
            <p:cNvGraphicFramePr/>
            <p:nvPr/>
          </p:nvGraphicFramePr>
          <p:xfrm>
            <a:off x="4241" y="2069"/>
            <a:ext cx="452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3" imgW="304800" imgH="228600" progId="Equation.3">
                    <p:embed/>
                  </p:oleObj>
                </mc:Choice>
                <mc:Fallback>
                  <p:oleObj name="" r:id="rId3" imgW="304800" imgH="2286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41" y="2069"/>
                          <a:ext cx="452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1" name="Object 11"/>
            <p:cNvGraphicFramePr/>
            <p:nvPr/>
          </p:nvGraphicFramePr>
          <p:xfrm>
            <a:off x="4921" y="2069"/>
            <a:ext cx="452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5" imgW="304800" imgH="228600" progId="Equation.3">
                    <p:embed/>
                  </p:oleObj>
                </mc:Choice>
                <mc:Fallback>
                  <p:oleObj name="" r:id="rId5" imgW="304800" imgH="2286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21" y="2069"/>
                          <a:ext cx="452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2" name="Object 10"/>
            <p:cNvGraphicFramePr/>
            <p:nvPr/>
          </p:nvGraphicFramePr>
          <p:xfrm>
            <a:off x="3560" y="2387"/>
            <a:ext cx="46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6" imgW="317500" imgH="228600" progId="Equation.3">
                    <p:embed/>
                  </p:oleObj>
                </mc:Choice>
                <mc:Fallback>
                  <p:oleObj name="" r:id="rId6" imgW="317500" imgH="2286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560" y="2387"/>
                          <a:ext cx="466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3" name="Object 9"/>
            <p:cNvGraphicFramePr/>
            <p:nvPr/>
          </p:nvGraphicFramePr>
          <p:xfrm>
            <a:off x="4250" y="2414"/>
            <a:ext cx="46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8" imgW="317500" imgH="228600" progId="Equation.3">
                    <p:embed/>
                  </p:oleObj>
                </mc:Choice>
                <mc:Fallback>
                  <p:oleObj name="" r:id="rId8" imgW="317500" imgH="2286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250" y="2414"/>
                          <a:ext cx="466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4" name="Object 8"/>
            <p:cNvGraphicFramePr/>
            <p:nvPr/>
          </p:nvGraphicFramePr>
          <p:xfrm>
            <a:off x="4926" y="2423"/>
            <a:ext cx="452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0" imgW="304800" imgH="228600" progId="Equation.3">
                    <p:embed/>
                  </p:oleObj>
                </mc:Choice>
                <mc:Fallback>
                  <p:oleObj name="" r:id="rId10" imgW="304800" imgH="2286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926" y="2423"/>
                          <a:ext cx="452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5" name="Object 7"/>
            <p:cNvGraphicFramePr/>
            <p:nvPr/>
          </p:nvGraphicFramePr>
          <p:xfrm>
            <a:off x="4340" y="2783"/>
            <a:ext cx="339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2" imgW="228600" imgH="228600" progId="Equation.3">
                    <p:embed/>
                  </p:oleObj>
                </mc:Choice>
                <mc:Fallback>
                  <p:oleObj name="" r:id="rId12" imgW="228600" imgH="2286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340" y="2783"/>
                          <a:ext cx="339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6"/>
            <p:cNvGraphicFramePr/>
            <p:nvPr/>
          </p:nvGraphicFramePr>
          <p:xfrm>
            <a:off x="4952" y="2799"/>
            <a:ext cx="438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4" imgW="292100" imgH="228600" progId="Equation.3">
                    <p:embed/>
                  </p:oleObj>
                </mc:Choice>
                <mc:Fallback>
                  <p:oleObj name="" r:id="rId14" imgW="292100" imgH="2286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952" y="2799"/>
                          <a:ext cx="438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5"/>
            <p:cNvGraphicFramePr/>
            <p:nvPr/>
          </p:nvGraphicFramePr>
          <p:xfrm>
            <a:off x="4946" y="3044"/>
            <a:ext cx="454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6" imgW="241300" imgH="215900" progId="Equation.3">
                    <p:embed/>
                  </p:oleObj>
                </mc:Choice>
                <mc:Fallback>
                  <p:oleObj name="" r:id="rId16" imgW="241300" imgH="2159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946" y="3044"/>
                          <a:ext cx="454" cy="4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9" name="Rectangle 14"/>
          <p:cNvSpPr/>
          <p:nvPr/>
        </p:nvSpPr>
        <p:spPr>
          <a:xfrm>
            <a:off x="755650" y="476250"/>
            <a:ext cx="2693988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pPr lvl="1" defTabSz="0" eaLnBrk="1" hangingPunct="1">
              <a:buAutoNum type="arabicPeriod"/>
              <a:tabLst>
                <a:tab pos="513080" algn="l"/>
              </a:tabLs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选择凝聚点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590" name="Rectangle 18"/>
          <p:cNvSpPr/>
          <p:nvPr/>
        </p:nvSpPr>
        <p:spPr>
          <a:xfrm>
            <a:off x="3059113" y="3141663"/>
            <a:ext cx="1339850" cy="5191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       </a:t>
            </a:r>
            <a:endParaRPr lang="en-US" altLang="zh-CN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6525" name="Group 29"/>
          <p:cNvGraphicFramePr>
            <a:graphicFrameLocks noGrp="1"/>
          </p:cNvGraphicFramePr>
          <p:nvPr/>
        </p:nvGraphicFramePr>
        <p:xfrm>
          <a:off x="1835150" y="2133600"/>
          <a:ext cx="5976938" cy="3228975"/>
        </p:xfrm>
        <a:graphic>
          <a:graphicData uri="http://schemas.openxmlformats.org/drawingml/2006/table">
            <a:tbl>
              <a:tblPr/>
              <a:tblGrid>
                <a:gridCol w="1152525"/>
                <a:gridCol w="4824413"/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②         ③</a:t>
                      </a:r>
                      <a:r>
                        <a:rPr kumimoji="1" lang="zh-CN" altLang="en-US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　④        ⑤ </a:t>
                      </a:r>
                      <a:endParaRPr kumimoji="1" lang="zh-CN" altLang="en-US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2500">
                <a:tc>
                  <a:txBody>
                    <a:bodyPr/>
                    <a:lstStyle/>
                    <a:p>
                      <a:pPr marL="0" marR="0" lvl="0" indent="28448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①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8448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②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8448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③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8448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④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4602" name="Group 67"/>
          <p:cNvGrpSpPr/>
          <p:nvPr/>
        </p:nvGrpSpPr>
        <p:grpSpPr>
          <a:xfrm>
            <a:off x="762000" y="5638800"/>
            <a:ext cx="7561263" cy="604838"/>
            <a:chOff x="657" y="3702"/>
            <a:chExt cx="4763" cy="381"/>
          </a:xfrm>
        </p:grpSpPr>
        <p:graphicFrame>
          <p:nvGraphicFramePr>
            <p:cNvPr id="24578" name="Object 4"/>
            <p:cNvGraphicFramePr/>
            <p:nvPr/>
          </p:nvGraphicFramePr>
          <p:xfrm>
            <a:off x="657" y="3702"/>
            <a:ext cx="1003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8" imgW="673100" imgH="254000" progId="Equation.3">
                    <p:embed/>
                  </p:oleObj>
                </mc:Choice>
                <mc:Fallback>
                  <p:oleObj name="" r:id="rId18" imgW="673100" imgH="2540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57" y="3702"/>
                          <a:ext cx="1003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4" name="Rectangle 52"/>
            <p:cNvSpPr/>
            <p:nvPr/>
          </p:nvSpPr>
          <p:spPr>
            <a:xfrm>
              <a:off x="1429" y="3702"/>
              <a:ext cx="399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p>
              <a:r>
                <a: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为最大。可选择</a:t>
              </a:r>
              <a:r>
                <a: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作为凝聚点。</a:t>
              </a:r>
              <a:endParaRPr lang="zh-CN" altLang="en-US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603" name="Rectangle 66"/>
          <p:cNvSpPr/>
          <p:nvPr/>
        </p:nvSpPr>
        <p:spPr>
          <a:xfrm>
            <a:off x="468313" y="1196975"/>
            <a:ext cx="8480425" cy="523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Arial" panose="020B0604020202020204" pitchFamily="34" charset="0"/>
              </a:rPr>
              <a:t>计算各样品点两两之间的距离，得到如下的距离矩阵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611" name="Group 61"/>
          <p:cNvGrpSpPr/>
          <p:nvPr/>
        </p:nvGrpSpPr>
        <p:grpSpPr>
          <a:xfrm>
            <a:off x="3419475" y="3141663"/>
            <a:ext cx="2609850" cy="1619250"/>
            <a:chOff x="2154" y="1979"/>
            <a:chExt cx="1644" cy="1020"/>
          </a:xfrm>
        </p:grpSpPr>
        <p:graphicFrame>
          <p:nvGraphicFramePr>
            <p:cNvPr id="25606" name="Object 12"/>
            <p:cNvGraphicFramePr/>
            <p:nvPr/>
          </p:nvGraphicFramePr>
          <p:xfrm>
            <a:off x="3379" y="1979"/>
            <a:ext cx="41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1" imgW="304800" imgH="228600" progId="Equation.3">
                    <p:embed/>
                  </p:oleObj>
                </mc:Choice>
                <mc:Fallback>
                  <p:oleObj name="" r:id="rId1" imgW="304800" imgH="2286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79" y="1979"/>
                          <a:ext cx="419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7" name="Object 11"/>
            <p:cNvGraphicFramePr/>
            <p:nvPr/>
          </p:nvGraphicFramePr>
          <p:xfrm>
            <a:off x="2154" y="2296"/>
            <a:ext cx="431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3" imgW="317500" imgH="228600" progId="Equation.3">
                    <p:embed/>
                  </p:oleObj>
                </mc:Choice>
                <mc:Fallback>
                  <p:oleObj name="" r:id="rId3" imgW="317500" imgH="2286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54" y="2296"/>
                          <a:ext cx="431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8" name="Object 10"/>
            <p:cNvGraphicFramePr/>
            <p:nvPr/>
          </p:nvGraphicFramePr>
          <p:xfrm>
            <a:off x="3334" y="2341"/>
            <a:ext cx="40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5" imgW="292100" imgH="228600" progId="Equation.3">
                    <p:embed/>
                  </p:oleObj>
                </mc:Choice>
                <mc:Fallback>
                  <p:oleObj name="" r:id="rId5" imgW="292100" imgH="2286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34" y="2341"/>
                          <a:ext cx="406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9" name="Object 9"/>
            <p:cNvGraphicFramePr/>
            <p:nvPr/>
          </p:nvGraphicFramePr>
          <p:xfrm>
            <a:off x="2154" y="2614"/>
            <a:ext cx="43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7" imgW="317500" imgH="228600" progId="Equation.3">
                    <p:embed/>
                  </p:oleObj>
                </mc:Choice>
                <mc:Fallback>
                  <p:oleObj name="" r:id="rId7" imgW="317500" imgH="2286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54" y="2614"/>
                          <a:ext cx="432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0" name="Object 8"/>
            <p:cNvGraphicFramePr/>
            <p:nvPr/>
          </p:nvGraphicFramePr>
          <p:xfrm>
            <a:off x="3424" y="2659"/>
            <a:ext cx="34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9" imgW="241300" imgH="215900" progId="Equation.3">
                    <p:embed/>
                  </p:oleObj>
                </mc:Choice>
                <mc:Fallback>
                  <p:oleObj name="" r:id="rId9" imgW="241300" imgH="2159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24" y="2659"/>
                          <a:ext cx="340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12" name="Rectangle 13"/>
          <p:cNvSpPr/>
          <p:nvPr/>
        </p:nvSpPr>
        <p:spPr>
          <a:xfrm>
            <a:off x="468313" y="1052513"/>
            <a:ext cx="8675687" cy="946150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p>
            <a:pPr indent="284480" defTabSz="0">
              <a:tabLst>
                <a:tab pos="513080" algn="l"/>
              </a:tabLst>
            </a:pP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对于取定的凝聚点，视每个凝聚点为一类，将每个样品根据定义的距离，向最近的凝聚点归类。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5613" name="Rectangle 17"/>
          <p:cNvSpPr/>
          <p:nvPr/>
        </p:nvSpPr>
        <p:spPr>
          <a:xfrm>
            <a:off x="3132138" y="3068638"/>
            <a:ext cx="984250" cy="5191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 </a:t>
            </a:r>
            <a:endParaRPr lang="en-US" altLang="zh-CN" b="0" dirty="0">
              <a:latin typeface="Times New Roman" panose="02020603050405020304" pitchFamily="18" charset="0"/>
            </a:endParaRPr>
          </a:p>
        </p:txBody>
      </p:sp>
      <p:sp>
        <p:nvSpPr>
          <p:cNvPr id="25614" name="Rectangle 18"/>
          <p:cNvSpPr/>
          <p:nvPr/>
        </p:nvSpPr>
        <p:spPr>
          <a:xfrm>
            <a:off x="1593850" y="1484313"/>
            <a:ext cx="1714500" cy="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graphicFrame>
        <p:nvGraphicFramePr>
          <p:cNvPr id="107552" name="Group 32"/>
          <p:cNvGraphicFramePr>
            <a:graphicFrameLocks noGrp="1"/>
          </p:cNvGraphicFramePr>
          <p:nvPr/>
        </p:nvGraphicFramePr>
        <p:xfrm>
          <a:off x="1476375" y="2420938"/>
          <a:ext cx="5616575" cy="2316163"/>
        </p:xfrm>
        <a:graphic>
          <a:graphicData uri="http://schemas.openxmlformats.org/drawingml/2006/table">
            <a:tbl>
              <a:tblPr/>
              <a:tblGrid>
                <a:gridCol w="1236663"/>
                <a:gridCol w="4379912"/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②G</a:t>
                      </a:r>
                      <a:r>
                        <a:rPr kumimoji="1" lang="en-US" altLang="zh-CN" sz="30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         </a:t>
                      </a: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⑤G</a:t>
                      </a:r>
                      <a:r>
                        <a:rPr kumimoji="1" lang="en-US" altLang="zh-CN" sz="30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0838">
                <a:tc>
                  <a:txBody>
                    <a:bodyPr/>
                    <a:lstStyle/>
                    <a:p>
                      <a:pPr marL="0" marR="0" lvl="0" indent="28448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8448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3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8448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4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endParaRPr kumimoji="0" lang="zh-CN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26" name="Rectangle 46"/>
          <p:cNvSpPr/>
          <p:nvPr/>
        </p:nvSpPr>
        <p:spPr>
          <a:xfrm>
            <a:off x="539750" y="5157788"/>
            <a:ext cx="3313113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pPr indent="284480"/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得到初始分类为：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grpSp>
        <p:nvGrpSpPr>
          <p:cNvPr id="25627" name="Group 62"/>
          <p:cNvGrpSpPr/>
          <p:nvPr/>
        </p:nvGrpSpPr>
        <p:grpSpPr>
          <a:xfrm>
            <a:off x="3924300" y="5157788"/>
            <a:ext cx="1528763" cy="549275"/>
            <a:chOff x="3243" y="3385"/>
            <a:chExt cx="963" cy="346"/>
          </a:xfrm>
        </p:grpSpPr>
        <p:graphicFrame>
          <p:nvGraphicFramePr>
            <p:cNvPr id="25604" name="Object 7"/>
            <p:cNvGraphicFramePr/>
            <p:nvPr/>
          </p:nvGraphicFramePr>
          <p:xfrm>
            <a:off x="3243" y="3430"/>
            <a:ext cx="26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1" imgW="190500" imgH="215900" progId="Equation.3">
                    <p:embed/>
                  </p:oleObj>
                </mc:Choice>
                <mc:Fallback>
                  <p:oleObj name="" r:id="rId11" imgW="190500" imgH="2159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43" y="3430"/>
                          <a:ext cx="261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5" name="Object 6"/>
            <p:cNvGraphicFramePr/>
            <p:nvPr/>
          </p:nvGraphicFramePr>
          <p:xfrm>
            <a:off x="3787" y="3430"/>
            <a:ext cx="419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3" imgW="304800" imgH="215900" progId="Equation.3">
                    <p:embed/>
                  </p:oleObj>
                </mc:Choice>
                <mc:Fallback>
                  <p:oleObj name="" r:id="rId13" imgW="304800" imgH="2159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87" y="3430"/>
                          <a:ext cx="419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1" name="Rectangle 47"/>
            <p:cNvSpPr/>
            <p:nvPr/>
          </p:nvSpPr>
          <p:spPr>
            <a:xfrm flipH="1">
              <a:off x="3379" y="3385"/>
              <a:ext cx="57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p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endParaRPr lang="zh-CN" altLang="en-US" b="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628" name="Group 63"/>
          <p:cNvGrpSpPr/>
          <p:nvPr/>
        </p:nvGrpSpPr>
        <p:grpSpPr>
          <a:xfrm>
            <a:off x="3924300" y="5805488"/>
            <a:ext cx="1871663" cy="549275"/>
            <a:chOff x="3288" y="3657"/>
            <a:chExt cx="1179" cy="346"/>
          </a:xfrm>
        </p:grpSpPr>
        <p:graphicFrame>
          <p:nvGraphicFramePr>
            <p:cNvPr id="25602" name="Object 5"/>
            <p:cNvGraphicFramePr/>
            <p:nvPr/>
          </p:nvGraphicFramePr>
          <p:xfrm>
            <a:off x="3288" y="3702"/>
            <a:ext cx="275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5" imgW="203200" imgH="215900" progId="Equation.3">
                    <p:embed/>
                  </p:oleObj>
                </mc:Choice>
                <mc:Fallback>
                  <p:oleObj name="" r:id="rId15" imgW="203200" imgH="2159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288" y="3702"/>
                          <a:ext cx="275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3" name="Object 4"/>
            <p:cNvGraphicFramePr/>
            <p:nvPr/>
          </p:nvGraphicFramePr>
          <p:xfrm>
            <a:off x="3878" y="3702"/>
            <a:ext cx="589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7" imgW="431800" imgH="215900" progId="Equation.3">
                    <p:embed/>
                  </p:oleObj>
                </mc:Choice>
                <mc:Fallback>
                  <p:oleObj name="" r:id="rId17" imgW="431800" imgH="2159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78" y="3702"/>
                          <a:ext cx="589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0" name="Rectangle 49"/>
            <p:cNvSpPr/>
            <p:nvPr/>
          </p:nvSpPr>
          <p:spPr>
            <a:xfrm>
              <a:off x="3424" y="3657"/>
              <a:ext cx="34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p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endParaRPr lang="zh-CN" altLang="en-US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629" name="Rectangle 51"/>
          <p:cNvSpPr/>
          <p:nvPr/>
        </p:nvSpPr>
        <p:spPr>
          <a:xfrm>
            <a:off x="395288" y="404813"/>
            <a:ext cx="1909762" cy="5191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2.</a:t>
            </a:r>
            <a:r>
              <a:rPr lang="zh-CN" altLang="en-US" dirty="0">
                <a:latin typeface="Arial" panose="020B0604020202020204" pitchFamily="34" charset="0"/>
              </a:rPr>
              <a:t>初始分类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40" name="Group 68"/>
          <p:cNvGrpSpPr/>
          <p:nvPr/>
        </p:nvGrpSpPr>
        <p:grpSpPr>
          <a:xfrm>
            <a:off x="2700338" y="2997200"/>
            <a:ext cx="2085975" cy="2125663"/>
            <a:chOff x="1701" y="1525"/>
            <a:chExt cx="1314" cy="1339"/>
          </a:xfrm>
        </p:grpSpPr>
        <p:graphicFrame>
          <p:nvGraphicFramePr>
            <p:cNvPr id="26630" name="Object 17"/>
            <p:cNvGraphicFramePr/>
            <p:nvPr/>
          </p:nvGraphicFramePr>
          <p:xfrm>
            <a:off x="1746" y="1525"/>
            <a:ext cx="37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" imgW="419100" imgH="228600" progId="Equation.3">
                    <p:embed/>
                  </p:oleObj>
                </mc:Choice>
                <mc:Fallback>
                  <p:oleObj name="" r:id="rId1" imgW="419100" imgH="2286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46" y="1525"/>
                          <a:ext cx="376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1" name="Object 16"/>
            <p:cNvGraphicFramePr/>
            <p:nvPr/>
          </p:nvGraphicFramePr>
          <p:xfrm>
            <a:off x="2562" y="1525"/>
            <a:ext cx="45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3" imgW="508000" imgH="228600" progId="Equation.3">
                    <p:embed/>
                  </p:oleObj>
                </mc:Choice>
                <mc:Fallback>
                  <p:oleObj name="" r:id="rId3" imgW="508000" imgH="2286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62" y="1525"/>
                          <a:ext cx="453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2" name="Object 15"/>
            <p:cNvGraphicFramePr/>
            <p:nvPr/>
          </p:nvGraphicFramePr>
          <p:xfrm>
            <a:off x="1746" y="1797"/>
            <a:ext cx="37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5" imgW="419100" imgH="228600" progId="Equation.3">
                    <p:embed/>
                  </p:oleObj>
                </mc:Choice>
                <mc:Fallback>
                  <p:oleObj name="" r:id="rId5" imgW="419100" imgH="2286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46" y="1797"/>
                          <a:ext cx="376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3" name="Object 14"/>
            <p:cNvGraphicFramePr/>
            <p:nvPr/>
          </p:nvGraphicFramePr>
          <p:xfrm>
            <a:off x="2562" y="1797"/>
            <a:ext cx="45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7" imgW="508000" imgH="228600" progId="Equation.3">
                    <p:embed/>
                  </p:oleObj>
                </mc:Choice>
                <mc:Fallback>
                  <p:oleObj name="" r:id="rId7" imgW="508000" imgH="2286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62" y="1797"/>
                          <a:ext cx="453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4" name="Object 13"/>
            <p:cNvGraphicFramePr/>
            <p:nvPr/>
          </p:nvGraphicFramePr>
          <p:xfrm>
            <a:off x="1746" y="2069"/>
            <a:ext cx="45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9" imgW="508000" imgH="228600" progId="Equation.3">
                    <p:embed/>
                  </p:oleObj>
                </mc:Choice>
                <mc:Fallback>
                  <p:oleObj name="" r:id="rId9" imgW="508000" imgH="22860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46" y="2069"/>
                          <a:ext cx="453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5" name="Object 12"/>
            <p:cNvGraphicFramePr/>
            <p:nvPr/>
          </p:nvGraphicFramePr>
          <p:xfrm>
            <a:off x="2562" y="2024"/>
            <a:ext cx="384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11" imgW="419100" imgH="228600" progId="Equation.3">
                    <p:embed/>
                  </p:oleObj>
                </mc:Choice>
                <mc:Fallback>
                  <p:oleObj name="" r:id="rId11" imgW="419100" imgH="2286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62" y="2024"/>
                          <a:ext cx="384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6" name="Object 11"/>
            <p:cNvGraphicFramePr/>
            <p:nvPr/>
          </p:nvGraphicFramePr>
          <p:xfrm>
            <a:off x="1746" y="2341"/>
            <a:ext cx="45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3" imgW="508000" imgH="228600" progId="Equation.3">
                    <p:embed/>
                  </p:oleObj>
                </mc:Choice>
                <mc:Fallback>
                  <p:oleObj name="" r:id="rId13" imgW="508000" imgH="2286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46" y="2341"/>
                          <a:ext cx="453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7" name="Object 10"/>
            <p:cNvGraphicFramePr/>
            <p:nvPr/>
          </p:nvGraphicFramePr>
          <p:xfrm>
            <a:off x="2608" y="2341"/>
            <a:ext cx="385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5" imgW="431800" imgH="228600" progId="Equation.3">
                    <p:embed/>
                  </p:oleObj>
                </mc:Choice>
                <mc:Fallback>
                  <p:oleObj name="" r:id="rId15" imgW="431800" imgH="2286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08" y="2341"/>
                          <a:ext cx="385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8" name="Object 9"/>
            <p:cNvGraphicFramePr/>
            <p:nvPr/>
          </p:nvGraphicFramePr>
          <p:xfrm>
            <a:off x="1701" y="2659"/>
            <a:ext cx="44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17" imgW="495300" imgH="228600" progId="Equation.3">
                    <p:embed/>
                  </p:oleObj>
                </mc:Choice>
                <mc:Fallback>
                  <p:oleObj name="" r:id="rId17" imgW="495300" imgH="2286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701" y="2659"/>
                          <a:ext cx="444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9" name="Object 8"/>
            <p:cNvGraphicFramePr/>
            <p:nvPr/>
          </p:nvGraphicFramePr>
          <p:xfrm>
            <a:off x="2608" y="2659"/>
            <a:ext cx="37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9" imgW="419100" imgH="228600" progId="Equation.3">
                    <p:embed/>
                  </p:oleObj>
                </mc:Choice>
                <mc:Fallback>
                  <p:oleObj name="" r:id="rId19" imgW="419100" imgH="2286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608" y="2659"/>
                          <a:ext cx="376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41" name="Rectangle 18"/>
          <p:cNvSpPr/>
          <p:nvPr/>
        </p:nvSpPr>
        <p:spPr>
          <a:xfrm>
            <a:off x="755650" y="903288"/>
            <a:ext cx="8388350" cy="946150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p>
            <a:pPr marL="1530350" lvl="3" indent="-635000" defTabSz="0" eaLnBrk="1" hangingPunct="1">
              <a:tabLst>
                <a:tab pos="457200" algn="l"/>
              </a:tabLs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的重心：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的重心（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1,1.5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0350" lvl="3" indent="-635000" defTabSz="0" eaLnBrk="1" hangingPunct="1">
              <a:tabLst>
                <a:tab pos="45720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的重心（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7.33,1.67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42" name="Rectangle 22"/>
          <p:cNvSpPr/>
          <p:nvPr/>
        </p:nvSpPr>
        <p:spPr>
          <a:xfrm>
            <a:off x="47625" y="1603375"/>
            <a:ext cx="1714500" cy="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26643" name="Rectangle 24"/>
          <p:cNvSpPr/>
          <p:nvPr/>
        </p:nvSpPr>
        <p:spPr>
          <a:xfrm>
            <a:off x="47625" y="1603375"/>
            <a:ext cx="1714500" cy="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26644" name="Rectangle 26"/>
          <p:cNvSpPr/>
          <p:nvPr/>
        </p:nvSpPr>
        <p:spPr>
          <a:xfrm>
            <a:off x="47625" y="1603375"/>
            <a:ext cx="1714500" cy="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26645" name="Rectangle 28"/>
          <p:cNvSpPr/>
          <p:nvPr/>
        </p:nvSpPr>
        <p:spPr>
          <a:xfrm>
            <a:off x="47625" y="1603375"/>
            <a:ext cx="1714500" cy="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26646" name="Rectangle 30"/>
          <p:cNvSpPr/>
          <p:nvPr/>
        </p:nvSpPr>
        <p:spPr>
          <a:xfrm>
            <a:off x="47625" y="1603375"/>
            <a:ext cx="1714500" cy="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graphicFrame>
        <p:nvGraphicFramePr>
          <p:cNvPr id="26647" name="表格 26646"/>
          <p:cNvGraphicFramePr/>
          <p:nvPr/>
        </p:nvGraphicFramePr>
        <p:xfrm>
          <a:off x="1258888" y="2420938"/>
          <a:ext cx="5113338" cy="2925763"/>
        </p:xfrm>
        <a:graphic>
          <a:graphicData uri="http://schemas.openxmlformats.org/drawingml/2006/table">
            <a:tbl>
              <a:tblPr/>
              <a:tblGrid>
                <a:gridCol w="698500"/>
                <a:gridCol w="4414838"/>
              </a:tblGrid>
              <a:tr h="549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G</a:t>
                      </a:r>
                      <a:r>
                        <a:rPr lang="en-US" altLang="zh-CN" sz="3000" baseline="-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              </a:t>
                      </a:r>
                      <a:r>
                        <a:rPr lang="en-US" altLang="zh-C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3000" baseline="-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3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764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44450" eaLnBrk="1" hangingPunct="1">
                        <a:buNone/>
                      </a:pPr>
                      <a:r>
                        <a:rPr lang="en-US" altLang="zh-C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indent="44450" eaLnBrk="1" hangingPunct="1">
                        <a:buNone/>
                      </a:pPr>
                      <a:r>
                        <a:rPr lang="en-US" altLang="zh-C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indent="44450" eaLnBrk="1" hangingPunct="1">
                        <a:buNone/>
                      </a:pPr>
                      <a:r>
                        <a:rPr lang="en-US" altLang="zh-C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indent="44450" eaLnBrk="1" hangingPunct="1">
                        <a:buNone/>
                      </a:pPr>
                      <a:r>
                        <a:rPr lang="en-US" altLang="zh-C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indent="44450" eaLnBrk="1" hangingPunct="1">
                        <a:buNone/>
                      </a:pPr>
                      <a:r>
                        <a:rPr lang="en-US" altLang="zh-CN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3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miter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58" name="Rectangle 58"/>
          <p:cNvSpPr/>
          <p:nvPr/>
        </p:nvSpPr>
        <p:spPr>
          <a:xfrm>
            <a:off x="47625" y="4573588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endParaRPr lang="zh-CN" altLang="zh-CN" sz="1800" b="0" dirty="0">
              <a:latin typeface="Arial" panose="020B0604020202020204" pitchFamily="34" charset="0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755650" y="5586413"/>
            <a:ext cx="4730750" cy="1046162"/>
            <a:chOff x="476" y="3519"/>
            <a:chExt cx="2980" cy="659"/>
          </a:xfrm>
        </p:grpSpPr>
        <p:sp>
          <p:nvSpPr>
            <p:cNvPr id="26663" name="Rectangle 56"/>
            <p:cNvSpPr/>
            <p:nvPr/>
          </p:nvSpPr>
          <p:spPr>
            <a:xfrm>
              <a:off x="476" y="3519"/>
              <a:ext cx="1707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得到分类结果：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6664" name="Group 64"/>
            <p:cNvGrpSpPr/>
            <p:nvPr/>
          </p:nvGrpSpPr>
          <p:grpSpPr>
            <a:xfrm>
              <a:off x="2245" y="3552"/>
              <a:ext cx="708" cy="327"/>
              <a:chOff x="2200" y="3371"/>
              <a:chExt cx="708" cy="327"/>
            </a:xfrm>
          </p:grpSpPr>
          <p:graphicFrame>
            <p:nvGraphicFramePr>
              <p:cNvPr id="26628" name="Object 7"/>
              <p:cNvGraphicFramePr/>
              <p:nvPr/>
            </p:nvGraphicFramePr>
            <p:xfrm>
              <a:off x="2200" y="3430"/>
              <a:ext cx="21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9" name="" r:id="rId21" imgW="190500" imgH="215900" progId="Equation.3">
                      <p:embed/>
                    </p:oleObj>
                  </mc:Choice>
                  <mc:Fallback>
                    <p:oleObj name="" r:id="rId21" imgW="190500" imgH="215900" progId="Equation.3">
                      <p:embed/>
                      <p:pic>
                        <p:nvPicPr>
                          <p:cNvPr id="0" name="图片 3118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200" y="3430"/>
                            <a:ext cx="216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29" name="Object 6"/>
              <p:cNvGraphicFramePr/>
              <p:nvPr/>
            </p:nvGraphicFramePr>
            <p:xfrm>
              <a:off x="2562" y="3430"/>
              <a:ext cx="346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0" name="" r:id="rId23" imgW="304800" imgH="215900" progId="Equation.3">
                      <p:embed/>
                    </p:oleObj>
                  </mc:Choice>
                  <mc:Fallback>
                    <p:oleObj name="" r:id="rId23" imgW="304800" imgH="215900" progId="Equation.3">
                      <p:embed/>
                      <p:pic>
                        <p:nvPicPr>
                          <p:cNvPr id="0" name="图片 3119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2562" y="3430"/>
                            <a:ext cx="346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68" name="Rectangle 57"/>
              <p:cNvSpPr/>
              <p:nvPr/>
            </p:nvSpPr>
            <p:spPr>
              <a:xfrm>
                <a:off x="2355" y="3371"/>
                <a:ext cx="340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>
                <a:spAutoFit/>
              </a:bodyPr>
              <a:p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zh-CN" altLang="en-US" b="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65" name="Group 66"/>
            <p:cNvGrpSpPr/>
            <p:nvPr/>
          </p:nvGrpSpPr>
          <p:grpSpPr>
            <a:xfrm>
              <a:off x="2200" y="3840"/>
              <a:ext cx="1256" cy="338"/>
              <a:chOff x="1111" y="3568"/>
              <a:chExt cx="1256" cy="338"/>
            </a:xfrm>
          </p:grpSpPr>
          <p:grpSp>
            <p:nvGrpSpPr>
              <p:cNvPr id="26666" name="Group 65"/>
              <p:cNvGrpSpPr/>
              <p:nvPr/>
            </p:nvGrpSpPr>
            <p:grpSpPr>
              <a:xfrm>
                <a:off x="1111" y="3657"/>
                <a:ext cx="849" cy="249"/>
                <a:chOff x="1111" y="3657"/>
                <a:chExt cx="849" cy="249"/>
              </a:xfrm>
            </p:grpSpPr>
            <p:graphicFrame>
              <p:nvGraphicFramePr>
                <p:cNvPr id="26626" name="Object 5"/>
                <p:cNvGraphicFramePr/>
                <p:nvPr/>
              </p:nvGraphicFramePr>
              <p:xfrm>
                <a:off x="1111" y="3657"/>
                <a:ext cx="227" cy="24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21" name="" r:id="rId25" imgW="203200" imgH="215900" progId="Equation.3">
                        <p:embed/>
                      </p:oleObj>
                    </mc:Choice>
                    <mc:Fallback>
                      <p:oleObj name="" r:id="rId25" imgW="203200" imgH="215900" progId="Equation.3">
                        <p:embed/>
                        <p:pic>
                          <p:nvPicPr>
                            <p:cNvPr id="0" name="图片 3120"/>
                            <p:cNvPicPr/>
                            <p:nvPr/>
                          </p:nvPicPr>
                          <p:blipFill>
                            <a:blip r:embed="rId2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11" y="3657"/>
                              <a:ext cx="227" cy="24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27" name="Object 4"/>
                <p:cNvGraphicFramePr/>
                <p:nvPr/>
              </p:nvGraphicFramePr>
              <p:xfrm>
                <a:off x="1474" y="3657"/>
                <a:ext cx="486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22" name="" r:id="rId27" imgW="431800" imgH="215900" progId="Equation.3">
                        <p:embed/>
                      </p:oleObj>
                    </mc:Choice>
                    <mc:Fallback>
                      <p:oleObj name="" r:id="rId27" imgW="431800" imgH="215900" progId="Equation.3">
                        <p:embed/>
                        <p:pic>
                          <p:nvPicPr>
                            <p:cNvPr id="0" name="图片 3121"/>
                            <p:cNvPicPr/>
                            <p:nvPr/>
                          </p:nvPicPr>
                          <p:blipFill>
                            <a:blip r:embed="rId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74" y="3657"/>
                              <a:ext cx="486" cy="24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6667" name="Rectangle 59"/>
              <p:cNvSpPr/>
              <p:nvPr/>
            </p:nvSpPr>
            <p:spPr>
              <a:xfrm>
                <a:off x="1263" y="3568"/>
                <a:ext cx="1104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>
                <a:spAutoFit/>
              </a:bodyPr>
              <a:p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zh-CN" altLang="en-US" b="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6660" name="Rectangle 61"/>
          <p:cNvSpPr/>
          <p:nvPr/>
        </p:nvSpPr>
        <p:spPr>
          <a:xfrm>
            <a:off x="468313" y="333375"/>
            <a:ext cx="1909762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3.</a:t>
            </a:r>
            <a:r>
              <a:rPr lang="zh-CN" altLang="en-US" dirty="0">
                <a:latin typeface="Arial" panose="020B0604020202020204" pitchFamily="34" charset="0"/>
              </a:rPr>
              <a:t>修改分类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61" name="Rectangle 69"/>
          <p:cNvSpPr/>
          <p:nvPr/>
        </p:nvSpPr>
        <p:spPr>
          <a:xfrm>
            <a:off x="69850" y="1844675"/>
            <a:ext cx="9201150" cy="523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Arial" panose="020B0604020202020204" pitchFamily="34" charset="0"/>
              </a:rPr>
              <a:t>以这两个重心点作为凝聚点，再按最小距离原则重新聚类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62" name="Text Box 45"/>
          <p:cNvSpPr txBox="1"/>
          <p:nvPr/>
        </p:nvSpPr>
        <p:spPr>
          <a:xfrm>
            <a:off x="2667000" y="304800"/>
            <a:ext cx="441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Verdana" panose="020B0604030504040204" pitchFamily="34" charset="0"/>
              </a:rPr>
              <a:t>重心是指每类的均值向量</a:t>
            </a: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0595" name="Group 3"/>
          <p:cNvGraphicFramePr>
            <a:graphicFrameLocks noGrp="1"/>
          </p:cNvGraphicFramePr>
          <p:nvPr/>
        </p:nvGraphicFramePr>
        <p:xfrm>
          <a:off x="685800" y="533400"/>
          <a:ext cx="7200900" cy="2201863"/>
        </p:xfrm>
        <a:graphic>
          <a:graphicData uri="http://schemas.openxmlformats.org/drawingml/2006/table">
            <a:tbl>
              <a:tblPr/>
              <a:tblGrid>
                <a:gridCol w="2016125"/>
                <a:gridCol w="1223963"/>
                <a:gridCol w="966787"/>
                <a:gridCol w="1049338"/>
                <a:gridCol w="863600"/>
                <a:gridCol w="1081087"/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售货员</a:t>
                      </a:r>
                      <a:endParaRPr kumimoji="1" lang="zh-CN" altLang="en-US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销售量（千件）</a:t>
                      </a:r>
                      <a:endParaRPr kumimoji="1" lang="zh-CN" altLang="en-US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教育程度</a:t>
                      </a:r>
                      <a:endParaRPr kumimoji="1" lang="zh-CN" altLang="en-US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00" name="Rectangle 120"/>
          <p:cNvSpPr/>
          <p:nvPr/>
        </p:nvSpPr>
        <p:spPr>
          <a:xfrm>
            <a:off x="1066800" y="4572000"/>
            <a:ext cx="3575050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位售货员分类。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8401" name="Rectangle 18"/>
          <p:cNvSpPr/>
          <p:nvPr/>
        </p:nvSpPr>
        <p:spPr>
          <a:xfrm>
            <a:off x="0" y="2971800"/>
            <a:ext cx="9144000" cy="1303338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p>
            <a:pPr marL="1530350" lvl="3" indent="-635000" defTabSz="0" eaLnBrk="1" hangingPunct="1">
              <a:lnSpc>
                <a:spcPct val="150000"/>
              </a:lnSpc>
              <a:tabLst>
                <a:tab pos="45720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的重心（（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第一类中样品的个数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=1,1.5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30350" lvl="3" indent="-635000" defTabSz="0" eaLnBrk="1" hangingPunct="1">
              <a:lnSpc>
                <a:spcPct val="150000"/>
              </a:lnSpc>
              <a:tabLst>
                <a:tab pos="457200" algn="l"/>
              </a:tabLs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的重心（（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6+8+8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/3=7.33,1.67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Rectangle 6"/>
          <p:cNvSpPr/>
          <p:nvPr/>
        </p:nvSpPr>
        <p:spPr>
          <a:xfrm>
            <a:off x="323850" y="904875"/>
            <a:ext cx="8234363" cy="519113"/>
          </a:xfrm>
          <a:prstGeom prst="rect">
            <a:avLst/>
          </a:prstGeom>
          <a:noFill/>
          <a:ln w="12700">
            <a:noFill/>
          </a:ln>
        </p:spPr>
        <p:txBody>
          <a:bodyPr anchor="ctr">
            <a:spAutoFit/>
          </a:bodyPr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修改前后所分的类相同，故可停止修改。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7653" name="Group 10"/>
          <p:cNvGrpSpPr/>
          <p:nvPr/>
        </p:nvGrpSpPr>
        <p:grpSpPr>
          <a:xfrm>
            <a:off x="395288" y="1628775"/>
            <a:ext cx="4238625" cy="1311275"/>
            <a:chOff x="249" y="1026"/>
            <a:chExt cx="2670" cy="826"/>
          </a:xfrm>
        </p:grpSpPr>
        <p:graphicFrame>
          <p:nvGraphicFramePr>
            <p:cNvPr id="27650" name="Object 5"/>
            <p:cNvGraphicFramePr/>
            <p:nvPr/>
          </p:nvGraphicFramePr>
          <p:xfrm>
            <a:off x="1111" y="1525"/>
            <a:ext cx="43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304800" imgH="215900" progId="Equation.3">
                    <p:embed/>
                  </p:oleObj>
                </mc:Choice>
                <mc:Fallback>
                  <p:oleObj name="" r:id="rId1" imgW="304800" imgH="2159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11" y="1525"/>
                          <a:ext cx="435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1" name="Object 4"/>
            <p:cNvGraphicFramePr/>
            <p:nvPr/>
          </p:nvGraphicFramePr>
          <p:xfrm>
            <a:off x="1882" y="1525"/>
            <a:ext cx="61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3" imgW="431800" imgH="215900" progId="Equation.3">
                    <p:embed/>
                  </p:oleObj>
                </mc:Choice>
                <mc:Fallback>
                  <p:oleObj name="" r:id="rId3" imgW="431800" imgH="2159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82" y="1525"/>
                          <a:ext cx="611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4" name="Rectangle 7"/>
            <p:cNvSpPr/>
            <p:nvPr/>
          </p:nvSpPr>
          <p:spPr>
            <a:xfrm>
              <a:off x="1565" y="1525"/>
              <a:ext cx="34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p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endParaRPr lang="zh-CN" altLang="en-US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27655" name="Rectangle 8"/>
            <p:cNvSpPr/>
            <p:nvPr/>
          </p:nvSpPr>
          <p:spPr>
            <a:xfrm>
              <a:off x="2517" y="1480"/>
              <a:ext cx="40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>
              <a:spAutoFit/>
            </a:bodyPr>
            <a:p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r>
                <a:rPr lang="zh-CN" altLang="en-US" b="0" dirty="0">
                  <a:latin typeface="Arial" panose="020B0604020202020204" pitchFamily="34" charset="0"/>
                </a:rPr>
                <a:t> </a:t>
              </a:r>
              <a:endParaRPr lang="zh-CN" altLang="en-US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27656" name="Rectangle 9"/>
            <p:cNvSpPr/>
            <p:nvPr/>
          </p:nvSpPr>
          <p:spPr>
            <a:xfrm>
              <a:off x="249" y="1026"/>
              <a:ext cx="2287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5</a:t>
              </a:r>
              <a:r>
                <a:rPr lang="zh-CN" altLang="en-US" dirty="0">
                  <a:latin typeface="Arial" panose="020B0604020202020204" pitchFamily="34" charset="0"/>
                </a:rPr>
                <a:t>个售货员可分为两类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70150" y="2063750"/>
            <a:ext cx="4629150" cy="10147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6000" i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谢谢观看</a:t>
            </a:r>
            <a:endParaRPr lang="zh-CN" altLang="en-US" sz="6000" i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5856</Words>
  <Application>WPS 演示</Application>
  <PresentationFormat>全屏显示(4:3)</PresentationFormat>
  <Paragraphs>1084</Paragraphs>
  <Slides>63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143</vt:i4>
      </vt:variant>
      <vt:variant>
        <vt:lpstr>幻灯片标题</vt:lpstr>
      </vt:variant>
      <vt:variant>
        <vt:i4>63</vt:i4>
      </vt:variant>
    </vt:vector>
  </HeadingPairs>
  <TitlesOfParts>
    <vt:vector size="221" baseType="lpstr">
      <vt:lpstr>Arial</vt:lpstr>
      <vt:lpstr>宋体</vt:lpstr>
      <vt:lpstr>Wingdings</vt:lpstr>
      <vt:lpstr>Verdana</vt:lpstr>
      <vt:lpstr>Times New Roman</vt:lpstr>
      <vt:lpstr>黑体</vt:lpstr>
      <vt:lpstr>Tahoma</vt:lpstr>
      <vt:lpstr>微软雅黑</vt:lpstr>
      <vt:lpstr>Arial Unicode MS</vt:lpstr>
      <vt:lpstr>Calibri</vt:lpstr>
      <vt:lpstr>华文行楷</vt:lpstr>
      <vt:lpstr>华文琥珀</vt:lpstr>
      <vt:lpstr>Lucida Console</vt:lpstr>
      <vt:lpstr>Garamond</vt:lpstr>
      <vt:lpstr>默认设计模板</vt:lpstr>
      <vt:lpstr>Equation.3</vt:lpstr>
      <vt:lpstr>Equation.3</vt:lpstr>
      <vt:lpstr>Equation.DSMT4</vt:lpstr>
      <vt:lpstr>Equation.DSMT4</vt:lpstr>
      <vt:lpstr>Equation.DSMT4</vt:lpstr>
      <vt:lpstr>Equation.DSMT4</vt:lpstr>
      <vt:lpstr>Paint.Picture</vt:lpstr>
      <vt:lpstr>PBrush</vt:lpstr>
      <vt:lpstr>PBrush</vt:lpstr>
      <vt:lpstr>PBrush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Excel.Sheet.8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基本思想 </vt:lpstr>
      <vt:lpstr>基本思想 </vt:lpstr>
      <vt:lpstr>PowerPoint 演示文稿</vt:lpstr>
      <vt:lpstr>PowerPoint 演示文稿</vt:lpstr>
      <vt:lpstr>    2   相似性度量</vt:lpstr>
      <vt:lpstr>Q型样品间的“相似性”度量—距离</vt:lpstr>
      <vt:lpstr>PowerPoint 演示文稿</vt:lpstr>
      <vt:lpstr>PowerPoint 演示文稿</vt:lpstr>
      <vt:lpstr>PowerPoint 演示文稿</vt:lpstr>
      <vt:lpstr>PowerPoint 演示文稿</vt:lpstr>
      <vt:lpstr>选择适用的距离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5.动态聚类法（快速聚类法）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动态聚类法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gongzuo123456789</cp:lastModifiedBy>
  <cp:revision>40</cp:revision>
  <dcterms:created xsi:type="dcterms:W3CDTF">2018-06-01T14:28:00Z</dcterms:created>
  <dcterms:modified xsi:type="dcterms:W3CDTF">2018-06-03T12:51:55Z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2052-10.1.0.7400</vt:lpwstr>
  </property>
</Properties>
</file>