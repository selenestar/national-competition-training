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handoutMasterIdLst>
    <p:handoutMasterId r:id="rId236"/>
  </p:handoutMasterIdLst>
  <p:sldIdLst>
    <p:sldId id="810" r:id="rId3"/>
    <p:sldId id="258" r:id="rId4"/>
    <p:sldId id="580" r:id="rId5"/>
    <p:sldId id="581" r:id="rId6"/>
    <p:sldId id="582" r:id="rId7"/>
    <p:sldId id="259" r:id="rId8"/>
    <p:sldId id="299" r:id="rId9"/>
    <p:sldId id="300" r:id="rId10"/>
    <p:sldId id="301"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5" r:id="rId31"/>
    <p:sldId id="296" r:id="rId32"/>
    <p:sldId id="297" r:id="rId33"/>
    <p:sldId id="298" r:id="rId34"/>
    <p:sldId id="424" r:id="rId35"/>
    <p:sldId id="425" r:id="rId36"/>
    <p:sldId id="426" r:id="rId37"/>
    <p:sldId id="427" r:id="rId38"/>
    <p:sldId id="428" r:id="rId39"/>
    <p:sldId id="429" r:id="rId40"/>
    <p:sldId id="430" r:id="rId41"/>
    <p:sldId id="431" r:id="rId42"/>
    <p:sldId id="432" r:id="rId43"/>
    <p:sldId id="433" r:id="rId44"/>
    <p:sldId id="434" r:id="rId45"/>
    <p:sldId id="435" r:id="rId46"/>
    <p:sldId id="436" r:id="rId47"/>
    <p:sldId id="437" r:id="rId48"/>
    <p:sldId id="438" r:id="rId49"/>
    <p:sldId id="439" r:id="rId50"/>
    <p:sldId id="440" r:id="rId51"/>
    <p:sldId id="441" r:id="rId52"/>
    <p:sldId id="442" r:id="rId53"/>
    <p:sldId id="443" r:id="rId54"/>
    <p:sldId id="444" r:id="rId55"/>
    <p:sldId id="445" r:id="rId56"/>
    <p:sldId id="446" r:id="rId57"/>
    <p:sldId id="379" r:id="rId58"/>
    <p:sldId id="380" r:id="rId60"/>
    <p:sldId id="381" r:id="rId61"/>
    <p:sldId id="382" r:id="rId62"/>
    <p:sldId id="383" r:id="rId63"/>
    <p:sldId id="384" r:id="rId64"/>
    <p:sldId id="385" r:id="rId65"/>
    <p:sldId id="386" r:id="rId66"/>
    <p:sldId id="387" r:id="rId67"/>
    <p:sldId id="388" r:id="rId68"/>
    <p:sldId id="389" r:id="rId69"/>
    <p:sldId id="390" r:id="rId70"/>
    <p:sldId id="391" r:id="rId71"/>
    <p:sldId id="392" r:id="rId72"/>
    <p:sldId id="393" r:id="rId73"/>
    <p:sldId id="394" r:id="rId74"/>
    <p:sldId id="395" r:id="rId75"/>
    <p:sldId id="396" r:id="rId76"/>
    <p:sldId id="397" r:id="rId77"/>
    <p:sldId id="398" r:id="rId78"/>
    <p:sldId id="399" r:id="rId79"/>
    <p:sldId id="400" r:id="rId80"/>
    <p:sldId id="401" r:id="rId81"/>
    <p:sldId id="261" r:id="rId82"/>
    <p:sldId id="263" r:id="rId83"/>
    <p:sldId id="265" r:id="rId84"/>
    <p:sldId id="266" r:id="rId85"/>
    <p:sldId id="267" r:id="rId86"/>
    <p:sldId id="268" r:id="rId87"/>
    <p:sldId id="375" r:id="rId88"/>
    <p:sldId id="376" r:id="rId89"/>
    <p:sldId id="378" r:id="rId90"/>
    <p:sldId id="372" r:id="rId91"/>
    <p:sldId id="579" r:id="rId92"/>
    <p:sldId id="520" r:id="rId93"/>
    <p:sldId id="521" r:id="rId94"/>
    <p:sldId id="522" r:id="rId95"/>
    <p:sldId id="523" r:id="rId96"/>
    <p:sldId id="524" r:id="rId97"/>
    <p:sldId id="525" r:id="rId98"/>
    <p:sldId id="526" r:id="rId99"/>
    <p:sldId id="527" r:id="rId100"/>
    <p:sldId id="528" r:id="rId101"/>
    <p:sldId id="529" r:id="rId102"/>
    <p:sldId id="530" r:id="rId103"/>
    <p:sldId id="531" r:id="rId104"/>
    <p:sldId id="532" r:id="rId105"/>
    <p:sldId id="533" r:id="rId106"/>
    <p:sldId id="534" r:id="rId107"/>
    <p:sldId id="535" r:id="rId108"/>
    <p:sldId id="536" r:id="rId109"/>
    <p:sldId id="537" r:id="rId110"/>
    <p:sldId id="538" r:id="rId111"/>
    <p:sldId id="539" r:id="rId112"/>
    <p:sldId id="540" r:id="rId113"/>
    <p:sldId id="541" r:id="rId114"/>
    <p:sldId id="542" r:id="rId115"/>
    <p:sldId id="543" r:id="rId116"/>
    <p:sldId id="544" r:id="rId117"/>
    <p:sldId id="545" r:id="rId118"/>
    <p:sldId id="546" r:id="rId119"/>
    <p:sldId id="547" r:id="rId120"/>
    <p:sldId id="548" r:id="rId121"/>
    <p:sldId id="549" r:id="rId122"/>
    <p:sldId id="550" r:id="rId123"/>
    <p:sldId id="551" r:id="rId124"/>
    <p:sldId id="552" r:id="rId125"/>
    <p:sldId id="553" r:id="rId126"/>
    <p:sldId id="554" r:id="rId127"/>
    <p:sldId id="555" r:id="rId128"/>
    <p:sldId id="556" r:id="rId129"/>
    <p:sldId id="557" r:id="rId130"/>
    <p:sldId id="558" r:id="rId131"/>
    <p:sldId id="559" r:id="rId132"/>
    <p:sldId id="560" r:id="rId133"/>
    <p:sldId id="561" r:id="rId134"/>
    <p:sldId id="562" r:id="rId135"/>
    <p:sldId id="563" r:id="rId136"/>
    <p:sldId id="564" r:id="rId137"/>
    <p:sldId id="565" r:id="rId138"/>
    <p:sldId id="566" r:id="rId139"/>
    <p:sldId id="567" r:id="rId140"/>
    <p:sldId id="568" r:id="rId141"/>
    <p:sldId id="569" r:id="rId142"/>
    <p:sldId id="570" r:id="rId143"/>
    <p:sldId id="571" r:id="rId144"/>
    <p:sldId id="572" r:id="rId145"/>
    <p:sldId id="573" r:id="rId146"/>
    <p:sldId id="574" r:id="rId147"/>
    <p:sldId id="575" r:id="rId148"/>
    <p:sldId id="576" r:id="rId149"/>
    <p:sldId id="577" r:id="rId150"/>
    <p:sldId id="448" r:id="rId151"/>
    <p:sldId id="449" r:id="rId152"/>
    <p:sldId id="450" r:id="rId153"/>
    <p:sldId id="451" r:id="rId154"/>
    <p:sldId id="452" r:id="rId155"/>
    <p:sldId id="453" r:id="rId156"/>
    <p:sldId id="454" r:id="rId157"/>
    <p:sldId id="459" r:id="rId158"/>
    <p:sldId id="465" r:id="rId159"/>
    <p:sldId id="466" r:id="rId160"/>
    <p:sldId id="467" r:id="rId161"/>
    <p:sldId id="468" r:id="rId162"/>
    <p:sldId id="469" r:id="rId163"/>
    <p:sldId id="470" r:id="rId164"/>
    <p:sldId id="471" r:id="rId165"/>
    <p:sldId id="472" r:id="rId166"/>
    <p:sldId id="473" r:id="rId167"/>
    <p:sldId id="474" r:id="rId168"/>
    <p:sldId id="475" r:id="rId169"/>
    <p:sldId id="476" r:id="rId170"/>
    <p:sldId id="477" r:id="rId171"/>
    <p:sldId id="478" r:id="rId172"/>
    <p:sldId id="479" r:id="rId173"/>
    <p:sldId id="480" r:id="rId174"/>
    <p:sldId id="481" r:id="rId175"/>
    <p:sldId id="482" r:id="rId176"/>
    <p:sldId id="483" r:id="rId177"/>
    <p:sldId id="484" r:id="rId178"/>
    <p:sldId id="485" r:id="rId179"/>
    <p:sldId id="486" r:id="rId180"/>
    <p:sldId id="487" r:id="rId181"/>
    <p:sldId id="488" r:id="rId182"/>
    <p:sldId id="489" r:id="rId183"/>
    <p:sldId id="490" r:id="rId184"/>
    <p:sldId id="491" r:id="rId185"/>
    <p:sldId id="492" r:id="rId186"/>
    <p:sldId id="493" r:id="rId187"/>
    <p:sldId id="494" r:id="rId188"/>
    <p:sldId id="495" r:id="rId189"/>
    <p:sldId id="496" r:id="rId190"/>
    <p:sldId id="497" r:id="rId191"/>
    <p:sldId id="498" r:id="rId192"/>
    <p:sldId id="499" r:id="rId193"/>
    <p:sldId id="500" r:id="rId194"/>
    <p:sldId id="501" r:id="rId195"/>
    <p:sldId id="502" r:id="rId196"/>
    <p:sldId id="503" r:id="rId197"/>
    <p:sldId id="504" r:id="rId198"/>
    <p:sldId id="505" r:id="rId199"/>
    <p:sldId id="506" r:id="rId200"/>
    <p:sldId id="507" r:id="rId201"/>
    <p:sldId id="508" r:id="rId202"/>
    <p:sldId id="509" r:id="rId203"/>
    <p:sldId id="510" r:id="rId204"/>
    <p:sldId id="511" r:id="rId205"/>
    <p:sldId id="512" r:id="rId206"/>
    <p:sldId id="513" r:id="rId207"/>
    <p:sldId id="514" r:id="rId208"/>
    <p:sldId id="515" r:id="rId209"/>
    <p:sldId id="516" r:id="rId210"/>
    <p:sldId id="517" r:id="rId211"/>
    <p:sldId id="262" r:id="rId212"/>
    <p:sldId id="270" r:id="rId213"/>
    <p:sldId id="271" r:id="rId214"/>
    <p:sldId id="404" r:id="rId215"/>
    <p:sldId id="402" r:id="rId216"/>
    <p:sldId id="405" r:id="rId217"/>
    <p:sldId id="406" r:id="rId218"/>
    <p:sldId id="407" r:id="rId219"/>
    <p:sldId id="408" r:id="rId220"/>
    <p:sldId id="409" r:id="rId221"/>
    <p:sldId id="410" r:id="rId222"/>
    <p:sldId id="411" r:id="rId223"/>
    <p:sldId id="412" r:id="rId224"/>
    <p:sldId id="413" r:id="rId225"/>
    <p:sldId id="414" r:id="rId226"/>
    <p:sldId id="415" r:id="rId227"/>
    <p:sldId id="416" r:id="rId228"/>
    <p:sldId id="417" r:id="rId229"/>
    <p:sldId id="418" r:id="rId230"/>
    <p:sldId id="419" r:id="rId231"/>
    <p:sldId id="420" r:id="rId232"/>
    <p:sldId id="423" r:id="rId233"/>
    <p:sldId id="421" r:id="rId234"/>
    <p:sldId id="422" r:id="rId23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16527"/>
    <p:restoredTop sz="94660"/>
  </p:normalViewPr>
  <p:slideViewPr>
    <p:cSldViewPr showGuides="1">
      <p:cViewPr>
        <p:scale>
          <a:sx n="75" d="100"/>
          <a:sy n="75" d="100"/>
        </p:scale>
        <p:origin x="-978" y="66"/>
      </p:cViewPr>
      <p:guideLst>
        <p:guide orient="horz" pos="2160"/>
        <p:guide pos="2880"/>
      </p:guideLst>
    </p:cSldViewPr>
  </p:slideViewPr>
  <p:notesTextViewPr>
    <p:cViewPr>
      <p:scale>
        <a:sx n="100" d="100"/>
        <a:sy n="100" d="100"/>
      </p:scale>
      <p:origin x="0" y="0"/>
    </p:cViewPr>
  </p:notesTextViewPr>
  <p:gridSpacing cx="76199" cy="76199"/>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notesMaster" Target="notesMasters/notesMaster1.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9" Type="http://schemas.openxmlformats.org/officeDocument/2006/relationships/tableStyles" Target="tableStyles.xml"/><Relationship Id="rId238" Type="http://schemas.openxmlformats.org/officeDocument/2006/relationships/viewProps" Target="viewProps.xml"/><Relationship Id="rId237" Type="http://schemas.openxmlformats.org/officeDocument/2006/relationships/presProps" Target="presProps.xml"/><Relationship Id="rId236" Type="http://schemas.openxmlformats.org/officeDocument/2006/relationships/handoutMaster" Target="handoutMasters/handoutMaster1.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1.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20.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9.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8.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7.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6.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5.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4.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3.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24.wmf"/><Relationship Id="rId8" Type="http://schemas.openxmlformats.org/officeDocument/2006/relationships/image" Target="../media/image23.wmf"/><Relationship Id="rId7" Type="http://schemas.openxmlformats.org/officeDocument/2006/relationships/image" Target="../media/image22.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40.wmf"/><Relationship Id="rId7" Type="http://schemas.openxmlformats.org/officeDocument/2006/relationships/image" Target="../media/image39.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45.wmf"/><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52.wmf"/><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55.wmf"/><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4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3.vml.rels><?xml version="1.0" encoding="UTF-8" standalone="yes"?>
<Relationships xmlns="http://schemas.openxmlformats.org/package/2006/relationships"><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74.wmf"/><Relationship Id="rId8" Type="http://schemas.openxmlformats.org/officeDocument/2006/relationships/image" Target="../media/image73.wmf"/><Relationship Id="rId7" Type="http://schemas.openxmlformats.org/officeDocument/2006/relationships/image" Target="../media/image72.w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 Id="rId3" Type="http://schemas.openxmlformats.org/officeDocument/2006/relationships/image" Target="../media/image68.wmf"/><Relationship Id="rId2" Type="http://schemas.openxmlformats.org/officeDocument/2006/relationships/image" Target="../media/image67.wmf"/><Relationship Id="rId10" Type="http://schemas.openxmlformats.org/officeDocument/2006/relationships/image" Target="../media/image75.wmf"/><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6" Type="http://schemas.openxmlformats.org/officeDocument/2006/relationships/image" Target="../media/image80.wmf"/><Relationship Id="rId5" Type="http://schemas.openxmlformats.org/officeDocument/2006/relationships/image" Target="../media/image79.wmf"/><Relationship Id="rId4" Type="http://schemas.openxmlformats.org/officeDocument/2006/relationships/image" Target="../media/image78.wmf"/><Relationship Id="rId3" Type="http://schemas.openxmlformats.org/officeDocument/2006/relationships/image" Target="../media/image77.wmf"/><Relationship Id="rId2" Type="http://schemas.openxmlformats.org/officeDocument/2006/relationships/image" Target="../media/image74.wmf"/><Relationship Id="rId1" Type="http://schemas.openxmlformats.org/officeDocument/2006/relationships/image" Target="../media/image76.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88.wmf"/><Relationship Id="rId8" Type="http://schemas.openxmlformats.org/officeDocument/2006/relationships/image" Target="../media/image87.wmf"/><Relationship Id="rId7" Type="http://schemas.openxmlformats.org/officeDocument/2006/relationships/image" Target="../media/image86.wmf"/><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77.wmf"/><Relationship Id="rId10" Type="http://schemas.openxmlformats.org/officeDocument/2006/relationships/image" Target="../media/image89.wmf"/><Relationship Id="rId1" Type="http://schemas.openxmlformats.org/officeDocument/2006/relationships/image" Target="../media/image81.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93.wmf"/><Relationship Id="rId3" Type="http://schemas.openxmlformats.org/officeDocument/2006/relationships/image" Target="../media/image92.wmf"/><Relationship Id="rId2" Type="http://schemas.openxmlformats.org/officeDocument/2006/relationships/image" Target="../media/image91.wmf"/><Relationship Id="rId1" Type="http://schemas.openxmlformats.org/officeDocument/2006/relationships/image" Target="../media/image90.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91.wmf"/><Relationship Id="rId4" Type="http://schemas.openxmlformats.org/officeDocument/2006/relationships/image" Target="../media/image97.wmf"/><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103.wmf"/><Relationship Id="rId4" Type="http://schemas.openxmlformats.org/officeDocument/2006/relationships/image" Target="../media/image102.wmf"/><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11.wmf"/><Relationship Id="rId7" Type="http://schemas.openxmlformats.org/officeDocument/2006/relationships/image" Target="../media/image110.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120.wmf"/><Relationship Id="rId8" Type="http://schemas.openxmlformats.org/officeDocument/2006/relationships/image" Target="../media/image119.wmf"/><Relationship Id="rId7" Type="http://schemas.openxmlformats.org/officeDocument/2006/relationships/image" Target="../media/image118.wmf"/><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wmf"/><Relationship Id="rId3" Type="http://schemas.openxmlformats.org/officeDocument/2006/relationships/image" Target="../media/image114.wmf"/><Relationship Id="rId2" Type="http://schemas.openxmlformats.org/officeDocument/2006/relationships/image" Target="../media/image113.wmf"/><Relationship Id="rId10" Type="http://schemas.openxmlformats.org/officeDocument/2006/relationships/image" Target="../media/image111.wmf"/><Relationship Id="rId1" Type="http://schemas.openxmlformats.org/officeDocument/2006/relationships/image" Target="../media/image112.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22.wmf"/><Relationship Id="rId1" Type="http://schemas.openxmlformats.org/officeDocument/2006/relationships/image" Target="../media/image121.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131.wmf"/><Relationship Id="rId8" Type="http://schemas.openxmlformats.org/officeDocument/2006/relationships/image" Target="../media/image130.wmf"/><Relationship Id="rId7" Type="http://schemas.openxmlformats.org/officeDocument/2006/relationships/image" Target="../media/image129.wmf"/><Relationship Id="rId6" Type="http://schemas.openxmlformats.org/officeDocument/2006/relationships/image" Target="../media/image128.wmf"/><Relationship Id="rId5" Type="http://schemas.openxmlformats.org/officeDocument/2006/relationships/image" Target="../media/image127.wmf"/><Relationship Id="rId4" Type="http://schemas.openxmlformats.org/officeDocument/2006/relationships/image" Target="../media/image126.wmf"/><Relationship Id="rId3" Type="http://schemas.openxmlformats.org/officeDocument/2006/relationships/image" Target="../media/image125.wmf"/><Relationship Id="rId2" Type="http://schemas.openxmlformats.org/officeDocument/2006/relationships/image" Target="../media/image124.wmf"/><Relationship Id="rId11" Type="http://schemas.openxmlformats.org/officeDocument/2006/relationships/image" Target="../media/image133.wmf"/><Relationship Id="rId10" Type="http://schemas.openxmlformats.org/officeDocument/2006/relationships/image" Target="../media/image132.wmf"/><Relationship Id="rId1" Type="http://schemas.openxmlformats.org/officeDocument/2006/relationships/image" Target="../media/image123.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27.vml.rels><?xml version="1.0" encoding="UTF-8" standalone="yes"?>
<Relationships xmlns="http://schemas.openxmlformats.org/package/2006/relationships"><Relationship Id="rId6" Type="http://schemas.openxmlformats.org/officeDocument/2006/relationships/image" Target="../media/image141.wmf"/><Relationship Id="rId5" Type="http://schemas.openxmlformats.org/officeDocument/2006/relationships/image" Target="../media/image140.wmf"/><Relationship Id="rId4" Type="http://schemas.openxmlformats.org/officeDocument/2006/relationships/image" Target="../media/image134.wmf"/><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43.wmf"/><Relationship Id="rId1" Type="http://schemas.openxmlformats.org/officeDocument/2006/relationships/image" Target="../media/image14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55.wmf"/><Relationship Id="rId8" Type="http://schemas.openxmlformats.org/officeDocument/2006/relationships/image" Target="../media/image154.wmf"/><Relationship Id="rId7" Type="http://schemas.openxmlformats.org/officeDocument/2006/relationships/image" Target="../media/image153.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3" Type="http://schemas.openxmlformats.org/officeDocument/2006/relationships/image" Target="../media/image159.wmf"/><Relationship Id="rId12" Type="http://schemas.openxmlformats.org/officeDocument/2006/relationships/image" Target="../media/image158.wmf"/><Relationship Id="rId11" Type="http://schemas.openxmlformats.org/officeDocument/2006/relationships/image" Target="../media/image157.wmf"/><Relationship Id="rId10" Type="http://schemas.openxmlformats.org/officeDocument/2006/relationships/image" Target="../media/image156.wmf"/><Relationship Id="rId1" Type="http://schemas.openxmlformats.org/officeDocument/2006/relationships/image" Target="../media/image147.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171.wmf"/><Relationship Id="rId4" Type="http://schemas.openxmlformats.org/officeDocument/2006/relationships/image" Target="../media/image170.wmf"/><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67.w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175.wmf"/><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179.wmf"/><Relationship Id="rId3" Type="http://schemas.openxmlformats.org/officeDocument/2006/relationships/image" Target="../media/image178.wmf"/><Relationship Id="rId2" Type="http://schemas.openxmlformats.org/officeDocument/2006/relationships/image" Target="../media/image177.wmf"/><Relationship Id="rId1" Type="http://schemas.openxmlformats.org/officeDocument/2006/relationships/image" Target="../media/image176.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0.emf"/></Relationships>
</file>

<file path=ppt/drawings/_rels/vmlDrawing37.vml.rels><?xml version="1.0" encoding="UTF-8" standalone="yes"?>
<Relationships xmlns="http://schemas.openxmlformats.org/package/2006/relationships"><Relationship Id="rId4" Type="http://schemas.openxmlformats.org/officeDocument/2006/relationships/image" Target="../media/image183.wmf"/><Relationship Id="rId3" Type="http://schemas.openxmlformats.org/officeDocument/2006/relationships/image" Target="../media/image179.wmf"/><Relationship Id="rId2" Type="http://schemas.openxmlformats.org/officeDocument/2006/relationships/image" Target="../media/image182.wmf"/><Relationship Id="rId1" Type="http://schemas.openxmlformats.org/officeDocument/2006/relationships/image" Target="../media/image181.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4.e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187.wmf"/><Relationship Id="rId3" Type="http://schemas.openxmlformats.org/officeDocument/2006/relationships/image" Target="../media/image110.wmf"/><Relationship Id="rId2" Type="http://schemas.openxmlformats.org/officeDocument/2006/relationships/image" Target="../media/image186.wmf"/><Relationship Id="rId1" Type="http://schemas.openxmlformats.org/officeDocument/2006/relationships/image" Target="../media/image185.wmf"/></Relationships>
</file>

<file path=ppt/drawings/_rels/vmlDrawing40.vml.rels><?xml version="1.0" encoding="UTF-8" standalone="yes"?>
<Relationships xmlns="http://schemas.openxmlformats.org/package/2006/relationships"><Relationship Id="rId5" Type="http://schemas.openxmlformats.org/officeDocument/2006/relationships/image" Target="../media/image134.wmf"/><Relationship Id="rId4" Type="http://schemas.openxmlformats.org/officeDocument/2006/relationships/image" Target="../media/image191.wmf"/><Relationship Id="rId3" Type="http://schemas.openxmlformats.org/officeDocument/2006/relationships/image" Target="../media/image190.wmf"/><Relationship Id="rId2" Type="http://schemas.openxmlformats.org/officeDocument/2006/relationships/image" Target="../media/image189.wmf"/><Relationship Id="rId1" Type="http://schemas.openxmlformats.org/officeDocument/2006/relationships/image" Target="../media/image188.wmf"/></Relationships>
</file>

<file path=ppt/drawings/_rels/vmlDrawing41.vml.rels><?xml version="1.0" encoding="UTF-8" standalone="yes"?>
<Relationships xmlns="http://schemas.openxmlformats.org/package/2006/relationships"><Relationship Id="rId4" Type="http://schemas.openxmlformats.org/officeDocument/2006/relationships/image" Target="../media/image134.wmf"/><Relationship Id="rId3" Type="http://schemas.openxmlformats.org/officeDocument/2006/relationships/image" Target="../media/image139.wmf"/><Relationship Id="rId2" Type="http://schemas.openxmlformats.org/officeDocument/2006/relationships/image" Target="../media/image193.wmf"/><Relationship Id="rId1" Type="http://schemas.openxmlformats.org/officeDocument/2006/relationships/image" Target="../media/image192.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4.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96.wmf"/><Relationship Id="rId1" Type="http://schemas.openxmlformats.org/officeDocument/2006/relationships/image" Target="../media/image195.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7.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98.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34.wmf"/><Relationship Id="rId1" Type="http://schemas.openxmlformats.org/officeDocument/2006/relationships/image" Target="../media/image139.wmf"/></Relationships>
</file>

<file path=ppt/drawings/_rels/vmlDrawing47.vml.rels><?xml version="1.0" encoding="UTF-8" standalone="yes"?>
<Relationships xmlns="http://schemas.openxmlformats.org/package/2006/relationships"><Relationship Id="rId4" Type="http://schemas.openxmlformats.org/officeDocument/2006/relationships/image" Target="../media/image200.wmf"/><Relationship Id="rId3" Type="http://schemas.openxmlformats.org/officeDocument/2006/relationships/image" Target="../media/image134.wmf"/><Relationship Id="rId2" Type="http://schemas.openxmlformats.org/officeDocument/2006/relationships/image" Target="../media/image139.wmf"/><Relationship Id="rId1" Type="http://schemas.openxmlformats.org/officeDocument/2006/relationships/image" Target="../media/image199.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94.wmf"/></Relationships>
</file>

<file path=ppt/drawings/_rels/vmlDrawing49.vml.rels><?xml version="1.0" encoding="UTF-8" standalone="yes"?>
<Relationships xmlns="http://schemas.openxmlformats.org/package/2006/relationships"><Relationship Id="rId2" Type="http://schemas.openxmlformats.org/officeDocument/2006/relationships/image" Target="../media/image201.wmf"/><Relationship Id="rId1" Type="http://schemas.openxmlformats.org/officeDocument/2006/relationships/image" Target="../media/image195.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2.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3.e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06.wmf"/><Relationship Id="rId2" Type="http://schemas.openxmlformats.org/officeDocument/2006/relationships/image" Target="../media/image205.wmf"/><Relationship Id="rId1" Type="http://schemas.openxmlformats.org/officeDocument/2006/relationships/image" Target="../media/image204.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7.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9.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0.e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212.wmf"/><Relationship Id="rId2" Type="http://schemas.openxmlformats.org/officeDocument/2006/relationships/image" Target="../media/image211.wmf"/><Relationship Id="rId1" Type="http://schemas.openxmlformats.org/officeDocument/2006/relationships/image" Target="../media/image120.wmf"/></Relationships>
</file>

<file path=ppt/drawings/_rels/vmlDrawing57.vml.rels><?xml version="1.0" encoding="UTF-8" standalone="yes"?>
<Relationships xmlns="http://schemas.openxmlformats.org/package/2006/relationships"><Relationship Id="rId5" Type="http://schemas.openxmlformats.org/officeDocument/2006/relationships/image" Target="../media/image217.wmf"/><Relationship Id="rId4" Type="http://schemas.openxmlformats.org/officeDocument/2006/relationships/image" Target="../media/image216.wmf"/><Relationship Id="rId3" Type="http://schemas.openxmlformats.org/officeDocument/2006/relationships/image" Target="../media/image215.wmf"/><Relationship Id="rId2" Type="http://schemas.openxmlformats.org/officeDocument/2006/relationships/image" Target="../media/image214.wmf"/><Relationship Id="rId1" Type="http://schemas.openxmlformats.org/officeDocument/2006/relationships/image" Target="../media/image213.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218.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9.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20.emf"/></Relationships>
</file>

<file path=ppt/drawings/_rels/vmlDrawing61.vml.rels><?xml version="1.0" encoding="UTF-8" standalone="yes"?>
<Relationships xmlns="http://schemas.openxmlformats.org/package/2006/relationships"><Relationship Id="rId4" Type="http://schemas.openxmlformats.org/officeDocument/2006/relationships/image" Target="../media/image224.wmf"/><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25.e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229.wmf"/><Relationship Id="rId2" Type="http://schemas.openxmlformats.org/officeDocument/2006/relationships/image" Target="../media/image228.wmf"/><Relationship Id="rId1" Type="http://schemas.openxmlformats.org/officeDocument/2006/relationships/image" Target="../media/image227.wmf"/></Relationships>
</file>

<file path=ppt/drawings/_rels/vmlDrawing64.vml.rels><?xml version="1.0" encoding="UTF-8" standalone="yes"?>
<Relationships xmlns="http://schemas.openxmlformats.org/package/2006/relationships"><Relationship Id="rId5" Type="http://schemas.openxmlformats.org/officeDocument/2006/relationships/image" Target="../media/image234.wmf"/><Relationship Id="rId4" Type="http://schemas.openxmlformats.org/officeDocument/2006/relationships/image" Target="../media/image233.wmf"/><Relationship Id="rId3" Type="http://schemas.openxmlformats.org/officeDocument/2006/relationships/image" Target="../media/image232.wmf"/><Relationship Id="rId2" Type="http://schemas.openxmlformats.org/officeDocument/2006/relationships/image" Target="../media/image231.wmf"/><Relationship Id="rId1" Type="http://schemas.openxmlformats.org/officeDocument/2006/relationships/image" Target="../media/image230.wmf"/></Relationships>
</file>

<file path=ppt/drawings/_rels/vmlDrawing65.vml.rels><?xml version="1.0" encoding="UTF-8" standalone="yes"?>
<Relationships xmlns="http://schemas.openxmlformats.org/package/2006/relationships"><Relationship Id="rId7" Type="http://schemas.openxmlformats.org/officeDocument/2006/relationships/image" Target="../media/image238.wmf"/><Relationship Id="rId6" Type="http://schemas.openxmlformats.org/officeDocument/2006/relationships/image" Target="../media/image237.wmf"/><Relationship Id="rId5" Type="http://schemas.openxmlformats.org/officeDocument/2006/relationships/image" Target="../media/image236.wmf"/><Relationship Id="rId4" Type="http://schemas.openxmlformats.org/officeDocument/2006/relationships/image" Target="../media/image235.wmf"/><Relationship Id="rId3" Type="http://schemas.openxmlformats.org/officeDocument/2006/relationships/image" Target="../media/image232.wmf"/><Relationship Id="rId2" Type="http://schemas.openxmlformats.org/officeDocument/2006/relationships/image" Target="../media/image231.wmf"/><Relationship Id="rId1" Type="http://schemas.openxmlformats.org/officeDocument/2006/relationships/image" Target="../media/image229.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39.w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40.wmf"/></Relationships>
</file>

<file path=ppt/drawings/_rels/vmlDrawing68.vml.rels><?xml version="1.0" encoding="UTF-8" standalone="yes"?>
<Relationships xmlns="http://schemas.openxmlformats.org/package/2006/relationships"><Relationship Id="rId5" Type="http://schemas.openxmlformats.org/officeDocument/2006/relationships/image" Target="../media/image245.wmf"/><Relationship Id="rId4" Type="http://schemas.openxmlformats.org/officeDocument/2006/relationships/image" Target="../media/image244.wmf"/><Relationship Id="rId3" Type="http://schemas.openxmlformats.org/officeDocument/2006/relationships/image" Target="../media/image243.wmf"/><Relationship Id="rId2" Type="http://schemas.openxmlformats.org/officeDocument/2006/relationships/image" Target="../media/image242.wmf"/><Relationship Id="rId1" Type="http://schemas.openxmlformats.org/officeDocument/2006/relationships/image" Target="../media/image241.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46.wmf"/></Relationships>
</file>

<file path=ppt/drawings/_rels/vmlDrawing70.vml.rels><?xml version="1.0" encoding="UTF-8" standalone="yes"?>
<Relationships xmlns="http://schemas.openxmlformats.org/package/2006/relationships"><Relationship Id="rId2" Type="http://schemas.openxmlformats.org/officeDocument/2006/relationships/image" Target="../media/image248.wmf"/><Relationship Id="rId1" Type="http://schemas.openxmlformats.org/officeDocument/2006/relationships/image" Target="../media/image247.wmf"/></Relationships>
</file>

<file path=ppt/drawings/_rels/vmlDrawing71.vml.rels><?xml version="1.0" encoding="UTF-8" standalone="yes"?>
<Relationships xmlns="http://schemas.openxmlformats.org/package/2006/relationships"><Relationship Id="rId2" Type="http://schemas.openxmlformats.org/officeDocument/2006/relationships/image" Target="../media/image249.wmf"/><Relationship Id="rId1" Type="http://schemas.openxmlformats.org/officeDocument/2006/relationships/image" Target="../media/image245.wmf"/></Relationships>
</file>

<file path=ppt/drawings/_rels/vmlDrawing72.vml.rels><?xml version="1.0" encoding="UTF-8" standalone="yes"?>
<Relationships xmlns="http://schemas.openxmlformats.org/package/2006/relationships"><Relationship Id="rId2" Type="http://schemas.openxmlformats.org/officeDocument/2006/relationships/image" Target="../media/image251.wmf"/><Relationship Id="rId1" Type="http://schemas.openxmlformats.org/officeDocument/2006/relationships/image" Target="../media/image250.w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52.wmf"/></Relationships>
</file>

<file path=ppt/drawings/_rels/vmlDrawing74.vml.rels><?xml version="1.0" encoding="UTF-8" standalone="yes"?>
<Relationships xmlns="http://schemas.openxmlformats.org/package/2006/relationships"><Relationship Id="rId2" Type="http://schemas.openxmlformats.org/officeDocument/2006/relationships/image" Target="../media/image254.wmf"/><Relationship Id="rId1" Type="http://schemas.openxmlformats.org/officeDocument/2006/relationships/image" Target="../media/image253.wmf"/></Relationships>
</file>

<file path=ppt/drawings/_rels/vmlDrawing75.vml.rels><?xml version="1.0" encoding="UTF-8" standalone="yes"?>
<Relationships xmlns="http://schemas.openxmlformats.org/package/2006/relationships"><Relationship Id="rId2" Type="http://schemas.openxmlformats.org/officeDocument/2006/relationships/image" Target="../media/image256.wmf"/><Relationship Id="rId1" Type="http://schemas.openxmlformats.org/officeDocument/2006/relationships/image" Target="../media/image255.w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57.w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58.emf"/></Relationships>
</file>

<file path=ppt/drawings/_rels/vmlDrawing78.vml.rels><?xml version="1.0" encoding="UTF-8" standalone="yes"?>
<Relationships xmlns="http://schemas.openxmlformats.org/package/2006/relationships"><Relationship Id="rId5" Type="http://schemas.openxmlformats.org/officeDocument/2006/relationships/image" Target="../media/image263.wmf"/><Relationship Id="rId4" Type="http://schemas.openxmlformats.org/officeDocument/2006/relationships/image" Target="../media/image262.wmf"/><Relationship Id="rId3" Type="http://schemas.openxmlformats.org/officeDocument/2006/relationships/image" Target="../media/image261.wmf"/><Relationship Id="rId2" Type="http://schemas.openxmlformats.org/officeDocument/2006/relationships/image" Target="../media/image260.wmf"/><Relationship Id="rId1" Type="http://schemas.openxmlformats.org/officeDocument/2006/relationships/image" Target="../media/image259.w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26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3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atin typeface="Arial" panose="020B0604020202020204" pitchFamily="34" charset="0"/>
              </a:defRPr>
            </a:lvl1pPr>
          </a:lstStyle>
          <a:p>
            <a:pPr fontAlgn="base">
              <a:defRPr/>
            </a:pPr>
            <a:endParaRPr lang="en-US" altLang="zh-CN" strike="noStrike" noProof="1"/>
          </a:p>
        </p:txBody>
      </p:sp>
      <p:sp>
        <p:nvSpPr>
          <p:cNvPr id="1638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fontAlgn="base">
              <a:defRPr/>
            </a:pPr>
            <a:endParaRPr lang="en-US" altLang="zh-CN" strike="noStrike" noProof="1"/>
          </a:p>
        </p:txBody>
      </p:sp>
      <p:sp>
        <p:nvSpPr>
          <p:cNvPr id="1638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atin typeface="Arial" panose="020B0604020202020204" pitchFamily="34" charset="0"/>
              </a:defRPr>
            </a:lvl1pPr>
          </a:lstStyle>
          <a:p>
            <a:pPr fontAlgn="base">
              <a:defRPr/>
            </a:pPr>
            <a:endParaRPr lang="en-US" altLang="zh-CN" strike="noStrike" noProof="1"/>
          </a:p>
        </p:txBody>
      </p:sp>
      <p:sp>
        <p:nvSpPr>
          <p:cNvPr id="1638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smtClean="0">
                <a:latin typeface="Arial" panose="020B0604020202020204" pitchFamily="34" charset="0"/>
              </a:defRPr>
            </a:lvl1pPr>
          </a:lstStyle>
          <a:p>
            <a:pPr fontAlgn="base">
              <a:defRPr/>
            </a:pPr>
            <a:fld id="{54B7166F-E700-49A4-BCC8-56B4AD9A173D}"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smtClean="0">
                <a:latin typeface="Arial" panose="020B0604020202020204" pitchFamily="34" charset="0"/>
              </a:defRPr>
            </a:lvl1pPr>
          </a:lstStyle>
          <a:p>
            <a:pPr fontAlgn="base">
              <a:defRPr/>
            </a:pPr>
            <a:endParaRPr lang="en-US" altLang="zh-CN" strike="noStrike" noProof="1"/>
          </a:p>
        </p:txBody>
      </p:sp>
      <p:sp>
        <p:nvSpPr>
          <p:cNvPr id="3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fontAlgn="base">
              <a:defRPr/>
            </a:pPr>
            <a:endParaRPr lang="en-US" altLang="zh-CN" strike="noStrike" noProof="1"/>
          </a:p>
        </p:txBody>
      </p:sp>
      <p:sp>
        <p:nvSpPr>
          <p:cNvPr id="410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p:cNvSpPr>
          <p:nvPr>
            <p:ph type="body" sz="quarter"/>
          </p:nvPr>
        </p:nvSpPr>
        <p:spPr>
          <a:xfrm>
            <a:off x="685800" y="4343400"/>
            <a:ext cx="5486400" cy="4114800"/>
          </a:xfrm>
          <a:prstGeom prst="rect">
            <a:avLst/>
          </a:prstGeom>
          <a:noFill/>
          <a:ln w="9525">
            <a:noFill/>
          </a:ln>
        </p:spPr>
        <p:txBody>
          <a:bodyPr vert="horz" wrap="square" lIns="91440" tIns="45720" rIns="91440" bIns="45720" anchor="t"/>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3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smtClean="0">
                <a:latin typeface="Arial" panose="020B0604020202020204" pitchFamily="34" charset="0"/>
              </a:defRPr>
            </a:lvl1pPr>
          </a:lstStyle>
          <a:p>
            <a:pPr fontAlgn="base">
              <a:defRPr/>
            </a:pPr>
            <a:endParaRPr lang="en-US" altLang="zh-CN" strike="noStrike" noProof="1"/>
          </a:p>
        </p:txBody>
      </p:sp>
      <p:sp>
        <p:nvSpPr>
          <p:cNvPr id="3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smtClean="0">
                <a:latin typeface="Arial" panose="020B0604020202020204" pitchFamily="34" charset="0"/>
              </a:defRPr>
            </a:lvl1pPr>
          </a:lstStyle>
          <a:p>
            <a:pPr fontAlgn="base">
              <a:defRPr/>
            </a:pPr>
            <a:fld id="{0A645432-5B1C-4A42-B69A-814433B22106}" type="slidenum">
              <a:rPr lang="en-US" altLang="zh-CN" strike="noStrike" noProof="1">
                <a:latin typeface="Arial" panose="020B0604020202020204" pitchFamily="34" charset="0"/>
                <a:ea typeface="宋体" panose="02010600030101010101" pitchFamily="2" charset="-122"/>
                <a:cs typeface="+mn-cs"/>
              </a:rPr>
            </a:fld>
            <a:endParaRPr lang="en-US" altLang="zh-CN"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62466" name="Rectangle 2"/>
          <p:cNvSpPr>
            <a:spLocks noGrp="1" noRot="1" noChangeAspect="1" noTextEdit="1"/>
          </p:cNvSpPr>
          <p:nvPr>
            <p:ph type="sldImg"/>
          </p:nvPr>
        </p:nvSpPr>
        <p:spPr>
          <a:ln/>
        </p:spPr>
      </p:sp>
      <p:sp>
        <p:nvSpPr>
          <p:cNvPr id="62467"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64514" name="Rectangle 2"/>
          <p:cNvSpPr>
            <a:spLocks noGrp="1" noRot="1" noChangeAspect="1" noTextEdit="1"/>
          </p:cNvSpPr>
          <p:nvPr>
            <p:ph type="sldImg"/>
          </p:nvPr>
        </p:nvSpPr>
        <p:spPr>
          <a:ln/>
        </p:spPr>
      </p:sp>
      <p:sp>
        <p:nvSpPr>
          <p:cNvPr id="64515"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66562" name="Rectangle 2"/>
          <p:cNvSpPr>
            <a:spLocks noGrp="1" noRot="1" noChangeAspect="1" noTextEdit="1"/>
          </p:cNvSpPr>
          <p:nvPr>
            <p:ph type="sldImg"/>
          </p:nvPr>
        </p:nvSpPr>
        <p:spPr>
          <a:ln/>
        </p:spPr>
      </p:sp>
      <p:sp>
        <p:nvSpPr>
          <p:cNvPr id="66563"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68610" name="Rectangle 2"/>
          <p:cNvSpPr>
            <a:spLocks noGrp="1" noRot="1" noChangeAspect="1" noTextEdit="1"/>
          </p:cNvSpPr>
          <p:nvPr>
            <p:ph type="sldImg"/>
          </p:nvPr>
        </p:nvSpPr>
        <p:spPr>
          <a:ln/>
        </p:spPr>
      </p:sp>
      <p:sp>
        <p:nvSpPr>
          <p:cNvPr id="68611"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70658" name="Rectangle 2"/>
          <p:cNvSpPr>
            <a:spLocks noGrp="1" noRot="1" noChangeAspect="1" noTextEdit="1"/>
          </p:cNvSpPr>
          <p:nvPr>
            <p:ph type="sldImg"/>
          </p:nvPr>
        </p:nvSpPr>
        <p:spPr>
          <a:ln/>
        </p:spPr>
      </p:sp>
      <p:sp>
        <p:nvSpPr>
          <p:cNvPr id="70659"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72706" name="Rectangle 2"/>
          <p:cNvSpPr>
            <a:spLocks noGrp="1" noRot="1" noChangeAspect="1" noTextEdit="1"/>
          </p:cNvSpPr>
          <p:nvPr>
            <p:ph type="sldImg"/>
          </p:nvPr>
        </p:nvSpPr>
        <p:spPr>
          <a:ln/>
        </p:spPr>
      </p:sp>
      <p:sp>
        <p:nvSpPr>
          <p:cNvPr id="72707"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74754" name="Rectangle 2"/>
          <p:cNvSpPr>
            <a:spLocks noGrp="1" noRot="1" noChangeAspect="1" noTextEdit="1"/>
          </p:cNvSpPr>
          <p:nvPr>
            <p:ph type="sldImg"/>
          </p:nvPr>
        </p:nvSpPr>
        <p:spPr>
          <a:ln/>
        </p:spPr>
      </p:sp>
      <p:sp>
        <p:nvSpPr>
          <p:cNvPr id="74755"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76802" name="Rectangle 2"/>
          <p:cNvSpPr>
            <a:spLocks noGrp="1" noRot="1" noChangeAspect="1" noTextEdit="1"/>
          </p:cNvSpPr>
          <p:nvPr>
            <p:ph type="sldImg"/>
          </p:nvPr>
        </p:nvSpPr>
        <p:spPr>
          <a:ln/>
        </p:spPr>
      </p:sp>
      <p:sp>
        <p:nvSpPr>
          <p:cNvPr id="76803"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78850" name="Rectangle 2"/>
          <p:cNvSpPr>
            <a:spLocks noGrp="1" noRot="1" noChangeAspect="1" noTextEdit="1"/>
          </p:cNvSpPr>
          <p:nvPr>
            <p:ph type="sldImg"/>
          </p:nvPr>
        </p:nvSpPr>
        <p:spPr>
          <a:ln/>
        </p:spPr>
      </p:sp>
      <p:sp>
        <p:nvSpPr>
          <p:cNvPr id="78851"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80898" name="Rectangle 2"/>
          <p:cNvSpPr>
            <a:spLocks noGrp="1" noRot="1" noChangeAspect="1" noTextEdit="1"/>
          </p:cNvSpPr>
          <p:nvPr>
            <p:ph type="sldImg"/>
          </p:nvPr>
        </p:nvSpPr>
        <p:spPr>
          <a:ln/>
        </p:spPr>
      </p:sp>
      <p:sp>
        <p:nvSpPr>
          <p:cNvPr id="80899"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82946" name="Rectangle 2"/>
          <p:cNvSpPr>
            <a:spLocks noGrp="1" noRot="1" noChangeAspect="1" noTextEdit="1"/>
          </p:cNvSpPr>
          <p:nvPr>
            <p:ph type="sldImg"/>
          </p:nvPr>
        </p:nvSpPr>
        <p:spPr>
          <a:ln/>
        </p:spPr>
      </p:sp>
      <p:sp>
        <p:nvSpPr>
          <p:cNvPr id="82947"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84994" name="Rectangle 2"/>
          <p:cNvSpPr>
            <a:spLocks noGrp="1" noRot="1" noChangeAspect="1" noTextEdit="1"/>
          </p:cNvSpPr>
          <p:nvPr>
            <p:ph type="sldImg"/>
          </p:nvPr>
        </p:nvSpPr>
        <p:spPr>
          <a:ln/>
        </p:spPr>
      </p:sp>
      <p:sp>
        <p:nvSpPr>
          <p:cNvPr id="84995"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87042" name="Rectangle 2"/>
          <p:cNvSpPr>
            <a:spLocks noGrp="1" noRot="1" noChangeAspect="1" noTextEdit="1"/>
          </p:cNvSpPr>
          <p:nvPr>
            <p:ph type="sldImg"/>
          </p:nvPr>
        </p:nvSpPr>
        <p:spPr>
          <a:ln/>
        </p:spPr>
      </p:sp>
      <p:sp>
        <p:nvSpPr>
          <p:cNvPr id="87043"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89090" name="Rectangle 2"/>
          <p:cNvSpPr>
            <a:spLocks noGrp="1" noRot="1" noChangeAspect="1" noTextEdit="1"/>
          </p:cNvSpPr>
          <p:nvPr>
            <p:ph type="sldImg"/>
          </p:nvPr>
        </p:nvSpPr>
        <p:spPr>
          <a:ln/>
        </p:spPr>
      </p:sp>
      <p:sp>
        <p:nvSpPr>
          <p:cNvPr id="89091"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91138" name="Rectangle 2"/>
          <p:cNvSpPr>
            <a:spLocks noGrp="1" noRot="1" noChangeAspect="1" noTextEdit="1"/>
          </p:cNvSpPr>
          <p:nvPr>
            <p:ph type="sldImg"/>
          </p:nvPr>
        </p:nvSpPr>
        <p:spPr>
          <a:ln/>
        </p:spPr>
      </p:sp>
      <p:sp>
        <p:nvSpPr>
          <p:cNvPr id="91139"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93186" name="Rectangle 2"/>
          <p:cNvSpPr>
            <a:spLocks noGrp="1" noRot="1" noChangeAspect="1" noTextEdit="1"/>
          </p:cNvSpPr>
          <p:nvPr>
            <p:ph type="sldImg"/>
          </p:nvPr>
        </p:nvSpPr>
        <p:spPr>
          <a:ln/>
        </p:spPr>
      </p:sp>
      <p:sp>
        <p:nvSpPr>
          <p:cNvPr id="93187"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95234" name="Rectangle 2"/>
          <p:cNvSpPr>
            <a:spLocks noGrp="1" noRot="1" noChangeAspect="1" noTextEdit="1"/>
          </p:cNvSpPr>
          <p:nvPr>
            <p:ph type="sldImg"/>
          </p:nvPr>
        </p:nvSpPr>
        <p:spPr>
          <a:ln/>
        </p:spPr>
      </p:sp>
      <p:sp>
        <p:nvSpPr>
          <p:cNvPr id="95235"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97282" name="Rectangle 2"/>
          <p:cNvSpPr>
            <a:spLocks noGrp="1" noRot="1" noChangeAspect="1" noTextEdit="1"/>
          </p:cNvSpPr>
          <p:nvPr>
            <p:ph type="sldImg"/>
          </p:nvPr>
        </p:nvSpPr>
        <p:spPr>
          <a:ln/>
        </p:spPr>
      </p:sp>
      <p:sp>
        <p:nvSpPr>
          <p:cNvPr id="97283"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99330" name="Rectangle 2"/>
          <p:cNvSpPr>
            <a:spLocks noGrp="1" noRot="1" noChangeAspect="1" noTextEdit="1"/>
          </p:cNvSpPr>
          <p:nvPr>
            <p:ph type="sldImg"/>
          </p:nvPr>
        </p:nvSpPr>
        <p:spPr>
          <a:ln/>
        </p:spPr>
      </p:sp>
      <p:sp>
        <p:nvSpPr>
          <p:cNvPr id="99331"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101378" name="Rectangle 2"/>
          <p:cNvSpPr>
            <a:spLocks noGrp="1" noRot="1" noChangeAspect="1" noTextEdit="1"/>
          </p:cNvSpPr>
          <p:nvPr>
            <p:ph type="sldImg"/>
          </p:nvPr>
        </p:nvSpPr>
        <p:spPr>
          <a:ln/>
        </p:spPr>
      </p:sp>
      <p:sp>
        <p:nvSpPr>
          <p:cNvPr id="101379"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103426" name="Rectangle 2"/>
          <p:cNvSpPr>
            <a:spLocks noGrp="1" noRot="1" noChangeAspect="1" noTextEdit="1"/>
          </p:cNvSpPr>
          <p:nvPr>
            <p:ph type="sldImg"/>
          </p:nvPr>
        </p:nvSpPr>
        <p:spPr>
          <a:ln/>
        </p:spPr>
      </p:sp>
      <p:sp>
        <p:nvSpPr>
          <p:cNvPr id="103427"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105474" name="Rectangle 2"/>
          <p:cNvSpPr>
            <a:spLocks noGrp="1" noRot="1" noChangeAspect="1" noTextEdit="1"/>
          </p:cNvSpPr>
          <p:nvPr>
            <p:ph type="sldImg"/>
          </p:nvPr>
        </p:nvSpPr>
        <p:spPr>
          <a:ln/>
        </p:spPr>
      </p:sp>
      <p:sp>
        <p:nvSpPr>
          <p:cNvPr id="105475"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7"/>
          <p:cNvSpPr>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fld id="{9A0DB2DC-4C9A-4742-B13C-FB6460FD3503}" type="slidenum">
              <a:rPr lang="en-US" altLang="zh-CN" sz="1200"/>
            </a:fld>
            <a:endParaRPr lang="en-US" altLang="zh-CN" sz="1200"/>
          </a:p>
        </p:txBody>
      </p:sp>
      <p:sp>
        <p:nvSpPr>
          <p:cNvPr id="107522" name="Rectangle 2"/>
          <p:cNvSpPr>
            <a:spLocks noGrp="1" noRot="1" noChangeAspect="1" noTextEdit="1"/>
          </p:cNvSpPr>
          <p:nvPr>
            <p:ph type="sldImg"/>
          </p:nvPr>
        </p:nvSpPr>
        <p:spPr>
          <a:ln/>
        </p:spPr>
      </p:sp>
      <p:sp>
        <p:nvSpPr>
          <p:cNvPr id="107523" name="Rectangle 3"/>
          <p:cNvSpPr>
            <a:spLocks noGrp="1"/>
          </p:cNvSpPr>
          <p:nvPr>
            <p:ph type="body"/>
          </p:nvPr>
        </p:nvSpPr>
        <p:spPr>
          <a:ln/>
        </p:spPr>
        <p:txBody>
          <a:bodyPr wrap="square" lIns="91440" tIns="45720" rIns="91440" bIns="45720" anchor="t"/>
          <a:p>
            <a:pPr lvl="0"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2050" name="AutoShape 7"/>
          <p:cNvSpPr/>
          <p:nvPr/>
        </p:nvSpPr>
        <p:spPr>
          <a:xfrm>
            <a:off x="533400" y="1447800"/>
            <a:ext cx="7772400" cy="109538"/>
          </a:xfrm>
          <a:custGeom>
            <a:avLst/>
            <a:gdLst/>
            <a:ahLst/>
            <a:cxnLst>
              <a:cxn ang="0">
                <a:pos x="0" y="0"/>
              </a:cxn>
              <a:cxn ang="0">
                <a:pos x="618" y="0"/>
              </a:cxn>
              <a:cxn ang="0">
                <a:pos x="618" y="1000"/>
              </a:cxn>
              <a:cxn ang="0">
                <a:pos x="0" y="1000"/>
              </a:cxn>
              <a:cxn ang="0">
                <a:pos x="0" y="0"/>
              </a:cxn>
              <a:cxn ang="0">
                <a:pos x="1000" y="0"/>
              </a:cxn>
            </a:cxnLst>
            <a:pathLst>
              <a:path w="1000" h="1000" stroke="0">
                <a:moveTo>
                  <a:pt x="0" y="0"/>
                </a:moveTo>
                <a:lnTo>
                  <a:pt x="618" y="0"/>
                </a:lnTo>
                <a:lnTo>
                  <a:pt x="618" y="1000"/>
                </a:lnTo>
                <a:lnTo>
                  <a:pt x="0" y="100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2051" name="Text Box 9"/>
          <p:cNvSpPr txBox="1"/>
          <p:nvPr/>
        </p:nvSpPr>
        <p:spPr>
          <a:xfrm>
            <a:off x="1371600" y="2286000"/>
            <a:ext cx="6435725" cy="1220788"/>
          </a:xfrm>
          <a:prstGeom prst="rect">
            <a:avLst/>
          </a:prstGeom>
          <a:noFill/>
          <a:ln w="9525">
            <a:noFill/>
          </a:ln>
        </p:spPr>
        <p:txBody>
          <a:bodyPr anchor="t">
            <a:spAutoFit/>
          </a:bodyPr>
          <a:p>
            <a:pPr lvl="0" algn="ctr">
              <a:spcBef>
                <a:spcPct val="50000"/>
              </a:spcBef>
            </a:pPr>
            <a:r>
              <a:rPr lang="en-US" altLang="zh-CN" sz="3200" dirty="0">
                <a:solidFill>
                  <a:schemeClr val="tx2"/>
                </a:solidFill>
                <a:latin typeface="Times New Roman" panose="02020603050405020304" pitchFamily="18" charset="0"/>
                <a:ea typeface="黑体" panose="02010609060101010101" pitchFamily="2" charset="-122"/>
              </a:rPr>
              <a:t>《</a:t>
            </a:r>
            <a:r>
              <a:rPr lang="zh-CN" altLang="en-US" sz="3200" dirty="0">
                <a:solidFill>
                  <a:schemeClr val="tx2"/>
                </a:solidFill>
                <a:latin typeface="Times New Roman" panose="02020603050405020304" pitchFamily="18" charset="0"/>
                <a:ea typeface="黑体" panose="02010609060101010101" pitchFamily="2" charset="-122"/>
              </a:rPr>
              <a:t>数学建模</a:t>
            </a:r>
            <a:r>
              <a:rPr lang="en-US" altLang="zh-CN" sz="3200" dirty="0">
                <a:solidFill>
                  <a:schemeClr val="tx2"/>
                </a:solidFill>
                <a:latin typeface="Times New Roman" panose="02020603050405020304" pitchFamily="18" charset="0"/>
                <a:ea typeface="黑体" panose="02010609060101010101" pitchFamily="2" charset="-122"/>
              </a:rPr>
              <a:t>》</a:t>
            </a:r>
            <a:r>
              <a:rPr lang="zh-CN" altLang="en-US" sz="3200" dirty="0">
                <a:solidFill>
                  <a:schemeClr val="tx2"/>
                </a:solidFill>
                <a:latin typeface="Times New Roman" panose="02020603050405020304" pitchFamily="18" charset="0"/>
                <a:ea typeface="黑体" panose="02010609060101010101" pitchFamily="2" charset="-122"/>
              </a:rPr>
              <a:t>课程</a:t>
            </a:r>
            <a:endParaRPr lang="zh-CN" altLang="en-US" sz="3200" dirty="0">
              <a:solidFill>
                <a:schemeClr val="tx2"/>
              </a:solidFill>
              <a:latin typeface="Times New Roman" panose="02020603050405020304" pitchFamily="18" charset="0"/>
              <a:ea typeface="黑体" panose="02010609060101010101" pitchFamily="2" charset="-122"/>
            </a:endParaRPr>
          </a:p>
          <a:p>
            <a:pPr lvl="0" algn="ctr">
              <a:spcBef>
                <a:spcPct val="50000"/>
              </a:spcBef>
            </a:pPr>
            <a:r>
              <a:rPr lang="zh-CN" altLang="en-US" sz="2000" dirty="0">
                <a:solidFill>
                  <a:schemeClr val="tx2"/>
                </a:solidFill>
                <a:latin typeface="Times New Roman" panose="02020603050405020304" pitchFamily="18" charset="0"/>
                <a:ea typeface="宋体" panose="02010600030101010101" pitchFamily="2" charset="-122"/>
              </a:rPr>
              <a:t>   </a:t>
            </a:r>
            <a:r>
              <a:rPr lang="en-US" altLang="zh-CN" sz="2800" dirty="0">
                <a:solidFill>
                  <a:schemeClr val="tx2"/>
                </a:solidFill>
                <a:latin typeface="Times New Roman" panose="02020603050405020304" pitchFamily="18" charset="0"/>
                <a:ea typeface="宋体" panose="02010600030101010101" pitchFamily="2" charset="-122"/>
              </a:rPr>
              <a:t>(Mathematics Modeling)</a:t>
            </a:r>
            <a:endParaRPr lang="en-US" altLang="zh-CN" sz="2800" dirty="0">
              <a:solidFill>
                <a:schemeClr val="tx2"/>
              </a:solidFill>
              <a:latin typeface="Times New Roman" panose="02020603050405020304" pitchFamily="18" charset="0"/>
              <a:ea typeface="宋体" panose="02010600030101010101" pitchFamily="2" charset="-122"/>
            </a:endParaRPr>
          </a:p>
        </p:txBody>
      </p:sp>
      <p:pic>
        <p:nvPicPr>
          <p:cNvPr id="2052" name="Picture 16" descr="http://xb.swpu.edu.cn/UploadPhotos/logo10_swpu.jpg"/>
          <p:cNvPicPr>
            <a:picLocks noChangeAspect="1"/>
          </p:cNvPicPr>
          <p:nvPr userDrawn="1"/>
        </p:nvPicPr>
        <p:blipFill>
          <a:blip r:embed="rId2"/>
          <a:stretch>
            <a:fillRect/>
          </a:stretch>
        </p:blipFill>
        <p:spPr>
          <a:xfrm>
            <a:off x="0" y="0"/>
            <a:ext cx="1333500" cy="1295400"/>
          </a:xfrm>
          <a:prstGeom prst="rect">
            <a:avLst/>
          </a:prstGeom>
          <a:noFill/>
          <a:ln w="9525">
            <a:noFill/>
          </a:ln>
        </p:spPr>
      </p:pic>
      <p:pic>
        <p:nvPicPr>
          <p:cNvPr id="2053" name="Picture 16" descr="http://xb.swpu.edu.cn/UploadPhotos/logo10_swpu.jpg"/>
          <p:cNvPicPr>
            <a:picLocks noChangeAspect="1"/>
          </p:cNvPicPr>
          <p:nvPr userDrawn="1"/>
        </p:nvPicPr>
        <p:blipFill>
          <a:blip r:embed="rId2"/>
          <a:stretch>
            <a:fillRect/>
          </a:stretch>
        </p:blipFill>
        <p:spPr>
          <a:xfrm>
            <a:off x="7810500" y="0"/>
            <a:ext cx="1333500" cy="1295400"/>
          </a:xfrm>
          <a:prstGeom prst="rect">
            <a:avLst/>
          </a:prstGeom>
          <a:noFill/>
          <a:ln w="9525">
            <a:noFill/>
          </a:ln>
        </p:spPr>
      </p:pic>
      <p:pic>
        <p:nvPicPr>
          <p:cNvPr id="2054" name="Picture 18" descr="http://a2.att.hudong.com/41/27/01000000000000119092782768741.jpg"/>
          <p:cNvPicPr>
            <a:picLocks noChangeAspect="1"/>
          </p:cNvPicPr>
          <p:nvPr userDrawn="1"/>
        </p:nvPicPr>
        <p:blipFill>
          <a:blip r:embed="rId3"/>
          <a:stretch>
            <a:fillRect/>
          </a:stretch>
        </p:blipFill>
        <p:spPr>
          <a:xfrm>
            <a:off x="1371600" y="0"/>
            <a:ext cx="6477000" cy="1447800"/>
          </a:xfrm>
          <a:prstGeom prst="rect">
            <a:avLst/>
          </a:prstGeom>
          <a:noFill/>
          <a:ln w="9525">
            <a:noFill/>
          </a:ln>
        </p:spPr>
      </p:pic>
      <p:sp>
        <p:nvSpPr>
          <p:cNvPr id="9219" name="Rectangle 3"/>
          <p:cNvSpPr>
            <a:spLocks noGrp="1" noChangeArrowheads="1"/>
          </p:cNvSpPr>
          <p:nvPr>
            <p:ph type="subTitle" idx="1"/>
          </p:nvPr>
        </p:nvSpPr>
        <p:spPr>
          <a:xfrm>
            <a:off x="701675" y="3833813"/>
            <a:ext cx="7756525" cy="1600200"/>
          </a:xfrm>
        </p:spPr>
        <p:txBody>
          <a:bodyPr/>
          <a:lstStyle>
            <a:lvl1pPr marL="0" indent="0" algn="ctr">
              <a:buFont typeface="Wingdings" panose="05000000000000000000" pitchFamily="2" charset="2"/>
              <a:buNone/>
              <a:defRPr sz="2600"/>
            </a:lvl1pPr>
          </a:lstStyle>
          <a:p>
            <a:pPr fontAlgn="base"/>
            <a:r>
              <a:rPr lang="zh-CN" altLang="en-US" strike="noStrike" noProof="1" smtClean="0"/>
              <a:t>单击此处编辑母版副标题样式</a:t>
            </a:r>
            <a:endParaRPr lang="zh-CN" altLang="en-US" strike="noStrike" noProof="1"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fontAlgn="base"/>
            <a:endParaRPr lang="zh-CN" altLang="en-US" strike="noStrike"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60039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566738" y="304800"/>
            <a:ext cx="5854700" cy="60039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66738" y="304800"/>
            <a:ext cx="8008937" cy="600392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574675" y="304800"/>
            <a:ext cx="8001000" cy="533400"/>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566738" y="1341438"/>
            <a:ext cx="3924300" cy="2406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3438" y="1341438"/>
            <a:ext cx="3924300" cy="2406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566738" y="3900488"/>
            <a:ext cx="3924300" cy="240823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43438" y="3900488"/>
            <a:ext cx="3924300" cy="240823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5334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566738" y="1341438"/>
            <a:ext cx="3924300" cy="49672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3438" y="1341438"/>
            <a:ext cx="3924300" cy="240665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3438" y="3900488"/>
            <a:ext cx="3924300" cy="240823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533400"/>
          </a:xfr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566738" y="1341438"/>
            <a:ext cx="8001000" cy="4967287"/>
          </a:xfrm>
        </p:spPr>
        <p:txBody>
          <a:bodyPr/>
          <a:lstStyle/>
          <a:p>
            <a:pPr lvl="0" fontAlgn="base"/>
            <a:endParaRPr lang="zh-CN" altLang="en-US" strike="noStrike" noProof="0" smtClean="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533400"/>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566738" y="1341438"/>
            <a:ext cx="3924300" cy="49672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3438" y="1341438"/>
            <a:ext cx="3924300" cy="49672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3.jpe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6" name="Rectangle 2"/>
          <p:cNvSpPr>
            <a:spLocks noGrp="1"/>
          </p:cNvSpPr>
          <p:nvPr>
            <p:ph type="title"/>
          </p:nvPr>
        </p:nvSpPr>
        <p:spPr>
          <a:xfrm>
            <a:off x="574675" y="304800"/>
            <a:ext cx="8001000" cy="533400"/>
          </a:xfrm>
          <a:prstGeom prst="rect">
            <a:avLst/>
          </a:prstGeom>
          <a:noFill/>
          <a:ln w="9525">
            <a:noFill/>
          </a:ln>
        </p:spPr>
        <p:txBody>
          <a:bodyPr vert="horz" wrap="square" lIns="91440" tIns="45720" rIns="91440" bIns="45720" anchor="b"/>
          <a:p>
            <a:pPr lvl="0"/>
            <a:r>
              <a:rPr lang="zh-CN" altLang="en-US"/>
              <a:t>单击此处编辑母版标题样式</a:t>
            </a:r>
            <a:endParaRPr lang="zh-CN" altLang="en-US"/>
          </a:p>
        </p:txBody>
      </p:sp>
      <p:sp>
        <p:nvSpPr>
          <p:cNvPr id="1027" name="Rectangle 3"/>
          <p:cNvSpPr>
            <a:spLocks noGrp="1"/>
          </p:cNvSpPr>
          <p:nvPr>
            <p:ph type="body"/>
          </p:nvPr>
        </p:nvSpPr>
        <p:spPr>
          <a:xfrm>
            <a:off x="566738" y="1341438"/>
            <a:ext cx="8001000" cy="4967287"/>
          </a:xfrm>
          <a:prstGeom prst="rect">
            <a:avLst/>
          </a:prstGeom>
          <a:noFill/>
          <a:ln w="9525">
            <a:noFill/>
          </a:ln>
        </p:spPr>
        <p:txBody>
          <a:bodyPr vert="horz" wrap="square" lIns="91440" tIns="45720" rIns="91440" bIns="45720" anchor="t"/>
          <a:p>
            <a:pPr lvl="0" indent="-469900"/>
            <a:r>
              <a:rPr lang="zh-CN" altLang="en-US"/>
              <a:t>单击此处编辑母版文本样式</a:t>
            </a:r>
            <a:endParaRPr lang="zh-CN" altLang="en-US"/>
          </a:p>
          <a:p>
            <a:pPr lvl="1" indent="-436245"/>
            <a:r>
              <a:rPr lang="zh-CN" altLang="en-US"/>
              <a:t>第二级</a:t>
            </a:r>
            <a:endParaRPr lang="zh-CN" altLang="en-US"/>
          </a:p>
          <a:p>
            <a:pPr lvl="2" indent="-394970"/>
            <a:r>
              <a:rPr lang="zh-CN" altLang="en-US"/>
              <a:t>第三级</a:t>
            </a:r>
            <a:endParaRPr lang="zh-CN" altLang="en-US"/>
          </a:p>
          <a:p>
            <a:pPr lvl="3" indent="-387350"/>
            <a:r>
              <a:rPr lang="zh-CN" altLang="en-US"/>
              <a:t>第四级</a:t>
            </a:r>
            <a:endParaRPr lang="zh-CN" altLang="en-US"/>
          </a:p>
          <a:p>
            <a:pPr lvl="4" indent="-398780"/>
            <a:r>
              <a:rPr lang="zh-CN" altLang="en-US"/>
              <a:t>第五级</a:t>
            </a:r>
            <a:endParaRPr lang="zh-CN" altLang="en-US"/>
          </a:p>
        </p:txBody>
      </p:sp>
      <p:sp>
        <p:nvSpPr>
          <p:cNvPr id="1028" name="AutoShape 4"/>
          <p:cNvSpPr/>
          <p:nvPr/>
        </p:nvSpPr>
        <p:spPr>
          <a:xfrm>
            <a:off x="611188" y="1125538"/>
            <a:ext cx="7958137" cy="109537"/>
          </a:xfrm>
          <a:custGeom>
            <a:avLst/>
            <a:gdLst/>
            <a:ahLst/>
            <a:cxnLst>
              <a:cxn ang="0">
                <a:pos x="0" y="0"/>
              </a:cxn>
              <a:cxn ang="0">
                <a:pos x="585" y="0"/>
              </a:cxn>
              <a:cxn ang="0">
                <a:pos x="585" y="1000"/>
              </a:cxn>
              <a:cxn ang="0">
                <a:pos x="0" y="1000"/>
              </a:cxn>
              <a:cxn ang="0">
                <a:pos x="0" y="0"/>
              </a:cxn>
              <a:cxn ang="0">
                <a:pos x="1000" y="0"/>
              </a:cxn>
            </a:cxnLst>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pic>
        <p:nvPicPr>
          <p:cNvPr id="1029" name="Picture 16" descr="http://xb.swpu.edu.cn/UploadPhotos/logo10_swpu.jpg"/>
          <p:cNvPicPr>
            <a:picLocks noChangeAspect="1"/>
          </p:cNvPicPr>
          <p:nvPr userDrawn="1"/>
        </p:nvPicPr>
        <p:blipFill>
          <a:blip r:embed="rId17"/>
          <a:stretch>
            <a:fillRect/>
          </a:stretch>
        </p:blipFill>
        <p:spPr>
          <a:xfrm>
            <a:off x="7967663" y="0"/>
            <a:ext cx="1176337" cy="1143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p:hf sldNum="0" hdr="0" ftr="0" dt="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Times New Roman" panose="02020603050405020304" pitchFamily="18" charset="0"/>
          <a:ea typeface="黑体" panose="02010609060101010101" pitchFamily="2" charset="-122"/>
        </a:defRPr>
      </a:lvl2pPr>
      <a:lvl3pPr algn="l" rtl="0" eaLnBrk="0" fontAlgn="base" hangingPunct="0">
        <a:spcBef>
          <a:spcPct val="0"/>
        </a:spcBef>
        <a:spcAft>
          <a:spcPct val="0"/>
        </a:spcAft>
        <a:defRPr sz="3200">
          <a:solidFill>
            <a:schemeClr val="tx2"/>
          </a:solidFill>
          <a:latin typeface="Times New Roman" panose="02020603050405020304" pitchFamily="18" charset="0"/>
          <a:ea typeface="黑体" panose="02010609060101010101" pitchFamily="2" charset="-122"/>
        </a:defRPr>
      </a:lvl3pPr>
      <a:lvl4pPr algn="l" rtl="0" eaLnBrk="0" fontAlgn="base" hangingPunct="0">
        <a:spcBef>
          <a:spcPct val="0"/>
        </a:spcBef>
        <a:spcAft>
          <a:spcPct val="0"/>
        </a:spcAft>
        <a:defRPr sz="3200">
          <a:solidFill>
            <a:schemeClr val="tx2"/>
          </a:solidFill>
          <a:latin typeface="Times New Roman" panose="02020603050405020304" pitchFamily="18" charset="0"/>
          <a:ea typeface="黑体" panose="02010609060101010101" pitchFamily="2" charset="-122"/>
        </a:defRPr>
      </a:lvl4pPr>
      <a:lvl5pPr algn="l" rtl="0" eaLnBrk="0" fontAlgn="base" hangingPunct="0">
        <a:spcBef>
          <a:spcPct val="0"/>
        </a:spcBef>
        <a:spcAft>
          <a:spcPct val="0"/>
        </a:spcAft>
        <a:defRPr sz="3200">
          <a:solidFill>
            <a:schemeClr val="tx2"/>
          </a:solidFill>
          <a:latin typeface="Times New Roman" panose="02020603050405020304" pitchFamily="18" charset="0"/>
          <a:ea typeface="黑体" panose="02010609060101010101" pitchFamily="2" charset="-122"/>
        </a:defRPr>
      </a:lvl5pPr>
      <a:lvl6pPr marL="457200" algn="l" rtl="0" fontAlgn="base">
        <a:spcBef>
          <a:spcPct val="0"/>
        </a:spcBef>
        <a:spcAft>
          <a:spcPct val="0"/>
        </a:spcAft>
        <a:defRPr sz="3200">
          <a:solidFill>
            <a:schemeClr val="tx2"/>
          </a:solidFill>
          <a:latin typeface="Times New Roman" panose="02020603050405020304" pitchFamily="18" charset="0"/>
          <a:ea typeface="黑体" panose="02010609060101010101" pitchFamily="2" charset="-122"/>
        </a:defRPr>
      </a:lvl6pPr>
      <a:lvl7pPr marL="914400" algn="l" rtl="0" fontAlgn="base">
        <a:spcBef>
          <a:spcPct val="0"/>
        </a:spcBef>
        <a:spcAft>
          <a:spcPct val="0"/>
        </a:spcAft>
        <a:defRPr sz="3200">
          <a:solidFill>
            <a:schemeClr val="tx2"/>
          </a:solidFill>
          <a:latin typeface="Times New Roman" panose="02020603050405020304" pitchFamily="18" charset="0"/>
          <a:ea typeface="黑体" panose="02010609060101010101" pitchFamily="2" charset="-122"/>
        </a:defRPr>
      </a:lvl7pPr>
      <a:lvl8pPr marL="1371600" algn="l" rtl="0" fontAlgn="base">
        <a:spcBef>
          <a:spcPct val="0"/>
        </a:spcBef>
        <a:spcAft>
          <a:spcPct val="0"/>
        </a:spcAft>
        <a:defRPr sz="3200">
          <a:solidFill>
            <a:schemeClr val="tx2"/>
          </a:solidFill>
          <a:latin typeface="Times New Roman" panose="02020603050405020304" pitchFamily="18" charset="0"/>
          <a:ea typeface="黑体" panose="02010609060101010101" pitchFamily="2" charset="-122"/>
        </a:defRPr>
      </a:lvl8pPr>
      <a:lvl9pPr marL="1828800" algn="l" rtl="0" fontAlgn="base">
        <a:spcBef>
          <a:spcPct val="0"/>
        </a:spcBef>
        <a:spcAft>
          <a:spcPct val="0"/>
        </a:spcAft>
        <a:defRPr sz="3200">
          <a:solidFill>
            <a:schemeClr val="tx2"/>
          </a:solidFill>
          <a:latin typeface="Times New Roman" panose="02020603050405020304" pitchFamily="18" charset="0"/>
          <a:ea typeface="黑体" panose="02010609060101010101" pitchFamily="2" charset="-122"/>
        </a:defRPr>
      </a:lvl9pPr>
    </p:titleStyle>
    <p:body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rgbClr val="0000FF"/>
          </a:solidFill>
          <a:latin typeface="+mn-lt"/>
          <a:ea typeface="+mn-ea"/>
          <a:cs typeface="+mn-cs"/>
        </a:defRPr>
      </a:lvl1pPr>
      <a:lvl2pPr marL="908050" indent="-436880" algn="l" rtl="0" eaLnBrk="0" fontAlgn="base" hangingPunct="0">
        <a:spcBef>
          <a:spcPct val="10000"/>
        </a:spcBef>
        <a:spcAft>
          <a:spcPct val="0"/>
        </a:spcAft>
        <a:buClr>
          <a:schemeClr val="accent2"/>
        </a:buClr>
        <a:buFont typeface="Wingdings" panose="05000000000000000000" pitchFamily="2" charset="2"/>
        <a:buChar char="n"/>
        <a:defRPr sz="2400">
          <a:solidFill>
            <a:schemeClr val="tx1"/>
          </a:solidFill>
          <a:latin typeface="+mn-lt"/>
          <a:ea typeface="+mn-ea"/>
        </a:defRPr>
      </a:lvl2pPr>
      <a:lvl3pPr marL="1304925" indent="-395605"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4180" indent="-387350" algn="l" rtl="0" eaLnBrk="0" fontAlgn="base" hangingPunct="0">
        <a:spcBef>
          <a:spcPct val="1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10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6pPr>
      <a:lvl7pPr marL="30086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7pPr>
      <a:lvl8pPr marL="34658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8pPr>
      <a:lvl9pPr marL="3923030" indent="-398780" algn="l" rtl="0" fontAlgn="base">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25968;&#23398;&#24314;&#27169;W/&#31532;3&#31456;/3.3.doc" TargetMode="External"/><Relationship Id="rId1" Type="http://schemas.openxmlformats.org/officeDocument/2006/relationships/hyperlink" Target="../../&#25968;&#23398;&#24314;&#27169;W/&#31532;3&#31456;/3.4.doc"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25968;&#23398;&#24314;&#27169;W/&#31532;3&#31456;/3.4.doc"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ddvip.com/program/c/index3/70.ht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0.wmf"/><Relationship Id="rId1" Type="http://schemas.openxmlformats.org/officeDocument/2006/relationships/oleObject" Target="../embeddings/oleObject1.bin"/></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2.xml"/><Relationship Id="rId2" Type="http://schemas.openxmlformats.org/officeDocument/2006/relationships/image" Target="../media/image11.emf"/><Relationship Id="rId1" Type="http://schemas.openxmlformats.org/officeDocument/2006/relationships/oleObject" Target="../embeddings/oleObject2.bin"/></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google.com/intl/en/corporate/execs.html"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3.wmf"/><Relationship Id="rId3" Type="http://schemas.openxmlformats.org/officeDocument/2006/relationships/oleObject" Target="../embeddings/oleObject4.bin"/><Relationship Id="rId2" Type="http://schemas.openxmlformats.org/officeDocument/2006/relationships/image" Target="../media/image12.wmf"/><Relationship Id="rId1" Type="http://schemas.openxmlformats.org/officeDocument/2006/relationships/oleObject" Target="../embeddings/oleObject3.bin"/></Relationships>
</file>

<file path=ppt/slides/_rels/slide60.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vmlDrawing" Target="../drawings/vmlDrawing4.vml"/><Relationship Id="rId5" Type="http://schemas.openxmlformats.org/officeDocument/2006/relationships/slideLayout" Target="../slideLayouts/slideLayout12.xml"/><Relationship Id="rId4" Type="http://schemas.openxmlformats.org/officeDocument/2006/relationships/image" Target="../media/image15.wmf"/><Relationship Id="rId3" Type="http://schemas.openxmlformats.org/officeDocument/2006/relationships/oleObject" Target="../embeddings/oleObject6.bin"/><Relationship Id="rId2" Type="http://schemas.openxmlformats.org/officeDocument/2006/relationships/image" Target="../media/image14.wmf"/><Relationship Id="rId1" Type="http://schemas.openxmlformats.org/officeDocument/2006/relationships/oleObject" Target="../embeddings/oleObject5.bin"/></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11.bin"/><Relationship Id="rId8" Type="http://schemas.openxmlformats.org/officeDocument/2006/relationships/image" Target="../media/image19.wmf"/><Relationship Id="rId7" Type="http://schemas.openxmlformats.org/officeDocument/2006/relationships/oleObject" Target="../embeddings/oleObject10.bin"/><Relationship Id="rId6" Type="http://schemas.openxmlformats.org/officeDocument/2006/relationships/image" Target="../media/image18.wmf"/><Relationship Id="rId5" Type="http://schemas.openxmlformats.org/officeDocument/2006/relationships/oleObject" Target="../embeddings/oleObject9.bin"/><Relationship Id="rId4" Type="http://schemas.openxmlformats.org/officeDocument/2006/relationships/image" Target="../media/image17.wmf"/><Relationship Id="rId3" Type="http://schemas.openxmlformats.org/officeDocument/2006/relationships/oleObject" Target="../embeddings/oleObject8.bin"/><Relationship Id="rId21" Type="http://schemas.openxmlformats.org/officeDocument/2006/relationships/notesSlide" Target="../notesSlides/notesSlide6.xml"/><Relationship Id="rId20" Type="http://schemas.openxmlformats.org/officeDocument/2006/relationships/vmlDrawing" Target="../drawings/vmlDrawing5.vml"/><Relationship Id="rId2" Type="http://schemas.openxmlformats.org/officeDocument/2006/relationships/image" Target="../media/image16.wmf"/><Relationship Id="rId19" Type="http://schemas.openxmlformats.org/officeDocument/2006/relationships/slideLayout" Target="../slideLayouts/slideLayout2.xml"/><Relationship Id="rId18" Type="http://schemas.openxmlformats.org/officeDocument/2006/relationships/image" Target="../media/image24.wmf"/><Relationship Id="rId17" Type="http://schemas.openxmlformats.org/officeDocument/2006/relationships/oleObject" Target="../embeddings/oleObject15.bin"/><Relationship Id="rId16" Type="http://schemas.openxmlformats.org/officeDocument/2006/relationships/image" Target="../media/image23.wmf"/><Relationship Id="rId15" Type="http://schemas.openxmlformats.org/officeDocument/2006/relationships/oleObject" Target="../embeddings/oleObject14.bin"/><Relationship Id="rId14" Type="http://schemas.openxmlformats.org/officeDocument/2006/relationships/image" Target="../media/image22.wmf"/><Relationship Id="rId13" Type="http://schemas.openxmlformats.org/officeDocument/2006/relationships/oleObject" Target="../embeddings/oleObject13.bin"/><Relationship Id="rId12" Type="http://schemas.openxmlformats.org/officeDocument/2006/relationships/image" Target="../media/image21.wmf"/><Relationship Id="rId11" Type="http://schemas.openxmlformats.org/officeDocument/2006/relationships/oleObject" Target="../embeddings/oleObject12.bin"/><Relationship Id="rId10" Type="http://schemas.openxmlformats.org/officeDocument/2006/relationships/image" Target="../media/image20.wmf"/><Relationship Id="rId1" Type="http://schemas.openxmlformats.org/officeDocument/2006/relationships/oleObject" Target="../embeddings/oleObject7.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image" Target="../media/image28.wmf"/><Relationship Id="rId7" Type="http://schemas.openxmlformats.org/officeDocument/2006/relationships/oleObject" Target="../embeddings/oleObject19.bin"/><Relationship Id="rId6" Type="http://schemas.openxmlformats.org/officeDocument/2006/relationships/image" Target="../media/image27.wmf"/><Relationship Id="rId5" Type="http://schemas.openxmlformats.org/officeDocument/2006/relationships/oleObject" Target="../embeddings/oleObject18.bin"/><Relationship Id="rId4" Type="http://schemas.openxmlformats.org/officeDocument/2006/relationships/image" Target="../media/image26.wmf"/><Relationship Id="rId3" Type="http://schemas.openxmlformats.org/officeDocument/2006/relationships/oleObject" Target="../embeddings/oleObject17.bin"/><Relationship Id="rId2" Type="http://schemas.openxmlformats.org/officeDocument/2006/relationships/image" Target="../media/image25.wmf"/><Relationship Id="rId19" Type="http://schemas.openxmlformats.org/officeDocument/2006/relationships/notesSlide" Target="../notesSlides/notesSlide7.xml"/><Relationship Id="rId18" Type="http://schemas.openxmlformats.org/officeDocument/2006/relationships/vmlDrawing" Target="../drawings/vmlDrawing6.vml"/><Relationship Id="rId17" Type="http://schemas.openxmlformats.org/officeDocument/2006/relationships/slideLayout" Target="../slideLayouts/slideLayout2.xml"/><Relationship Id="rId16" Type="http://schemas.openxmlformats.org/officeDocument/2006/relationships/image" Target="../media/image32.wmf"/><Relationship Id="rId15" Type="http://schemas.openxmlformats.org/officeDocument/2006/relationships/oleObject" Target="../embeddings/oleObject23.bin"/><Relationship Id="rId14" Type="http://schemas.openxmlformats.org/officeDocument/2006/relationships/image" Target="../media/image31.wmf"/><Relationship Id="rId13" Type="http://schemas.openxmlformats.org/officeDocument/2006/relationships/oleObject" Target="../embeddings/oleObject22.bin"/><Relationship Id="rId12" Type="http://schemas.openxmlformats.org/officeDocument/2006/relationships/image" Target="../media/image30.wmf"/><Relationship Id="rId11" Type="http://schemas.openxmlformats.org/officeDocument/2006/relationships/oleObject" Target="../embeddings/oleObject21.bin"/><Relationship Id="rId10" Type="http://schemas.openxmlformats.org/officeDocument/2006/relationships/image" Target="../media/image29.wmf"/><Relationship Id="rId1" Type="http://schemas.openxmlformats.org/officeDocument/2006/relationships/oleObject" Target="../embeddings/oleObject16.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36.wmf"/><Relationship Id="rId7" Type="http://schemas.openxmlformats.org/officeDocument/2006/relationships/oleObject" Target="../embeddings/oleObject27.bin"/><Relationship Id="rId6" Type="http://schemas.openxmlformats.org/officeDocument/2006/relationships/image" Target="../media/image35.wmf"/><Relationship Id="rId5" Type="http://schemas.openxmlformats.org/officeDocument/2006/relationships/oleObject" Target="../embeddings/oleObject26.bin"/><Relationship Id="rId4" Type="http://schemas.openxmlformats.org/officeDocument/2006/relationships/image" Target="../media/image34.wmf"/><Relationship Id="rId3" Type="http://schemas.openxmlformats.org/officeDocument/2006/relationships/oleObject" Target="../embeddings/oleObject25.bin"/><Relationship Id="rId20" Type="http://schemas.openxmlformats.org/officeDocument/2006/relationships/notesSlide" Target="../notesSlides/notesSlide8.xml"/><Relationship Id="rId2" Type="http://schemas.openxmlformats.org/officeDocument/2006/relationships/image" Target="../media/image33.wmf"/><Relationship Id="rId19" Type="http://schemas.openxmlformats.org/officeDocument/2006/relationships/vmlDrawing" Target="../drawings/vmlDrawing7.vml"/><Relationship Id="rId18" Type="http://schemas.openxmlformats.org/officeDocument/2006/relationships/slideLayout" Target="../slideLayouts/slideLayout2.xml"/><Relationship Id="rId17" Type="http://schemas.openxmlformats.org/officeDocument/2006/relationships/image" Target="../media/image40.wmf"/><Relationship Id="rId16" Type="http://schemas.openxmlformats.org/officeDocument/2006/relationships/oleObject" Target="../embeddings/oleObject32.bin"/><Relationship Id="rId15" Type="http://schemas.openxmlformats.org/officeDocument/2006/relationships/image" Target="../media/image39.wmf"/><Relationship Id="rId14" Type="http://schemas.openxmlformats.org/officeDocument/2006/relationships/oleObject" Target="../embeddings/oleObject31.bin"/><Relationship Id="rId13" Type="http://schemas.openxmlformats.org/officeDocument/2006/relationships/image" Target="../media/image38.wmf"/><Relationship Id="rId12" Type="http://schemas.openxmlformats.org/officeDocument/2006/relationships/oleObject" Target="../embeddings/oleObject30.bin"/><Relationship Id="rId11" Type="http://schemas.openxmlformats.org/officeDocument/2006/relationships/oleObject" Target="../embeddings/oleObject29.bin"/><Relationship Id="rId10" Type="http://schemas.openxmlformats.org/officeDocument/2006/relationships/image" Target="../media/image37.wmf"/><Relationship Id="rId1" Type="http://schemas.openxmlformats.org/officeDocument/2006/relationships/oleObject" Target="../embeddings/oleObject24.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44.wmf"/><Relationship Id="rId7" Type="http://schemas.openxmlformats.org/officeDocument/2006/relationships/oleObject" Target="../embeddings/oleObject36.bin"/><Relationship Id="rId6" Type="http://schemas.openxmlformats.org/officeDocument/2006/relationships/image" Target="../media/image43.wmf"/><Relationship Id="rId5" Type="http://schemas.openxmlformats.org/officeDocument/2006/relationships/oleObject" Target="../embeddings/oleObject35.bin"/><Relationship Id="rId4" Type="http://schemas.openxmlformats.org/officeDocument/2006/relationships/image" Target="../media/image42.wmf"/><Relationship Id="rId3" Type="http://schemas.openxmlformats.org/officeDocument/2006/relationships/oleObject" Target="../embeddings/oleObject34.bin"/><Relationship Id="rId2" Type="http://schemas.openxmlformats.org/officeDocument/2006/relationships/image" Target="../media/image41.wmf"/><Relationship Id="rId13" Type="http://schemas.openxmlformats.org/officeDocument/2006/relationships/notesSlide" Target="../notesSlides/notesSlide9.xml"/><Relationship Id="rId12" Type="http://schemas.openxmlformats.org/officeDocument/2006/relationships/vmlDrawing" Target="../drawings/vmlDrawing8.vml"/><Relationship Id="rId11" Type="http://schemas.openxmlformats.org/officeDocument/2006/relationships/slideLayout" Target="../slideLayouts/slideLayout2.xml"/><Relationship Id="rId10" Type="http://schemas.openxmlformats.org/officeDocument/2006/relationships/image" Target="../media/image45.wmf"/><Relationship Id="rId1" Type="http://schemas.openxmlformats.org/officeDocument/2006/relationships/oleObject" Target="../embeddings/oleObject33.bin"/></Relationships>
</file>

<file path=ppt/slides/_rels/slide65.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48.wmf"/><Relationship Id="rId5" Type="http://schemas.openxmlformats.org/officeDocument/2006/relationships/oleObject" Target="../embeddings/oleObject40.bin"/><Relationship Id="rId4" Type="http://schemas.openxmlformats.org/officeDocument/2006/relationships/image" Target="../media/image47.wmf"/><Relationship Id="rId3" Type="http://schemas.openxmlformats.org/officeDocument/2006/relationships/oleObject" Target="../embeddings/oleObject39.bin"/><Relationship Id="rId2" Type="http://schemas.openxmlformats.org/officeDocument/2006/relationships/image" Target="../media/image46.wmf"/><Relationship Id="rId1" Type="http://schemas.openxmlformats.org/officeDocument/2006/relationships/oleObject" Target="../embeddings/oleObject38.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46.bin"/><Relationship Id="rId8" Type="http://schemas.openxmlformats.org/officeDocument/2006/relationships/image" Target="../media/image51.wmf"/><Relationship Id="rId7" Type="http://schemas.openxmlformats.org/officeDocument/2006/relationships/oleObject" Target="../embeddings/oleObject45.bin"/><Relationship Id="rId6" Type="http://schemas.openxmlformats.org/officeDocument/2006/relationships/image" Target="../media/image50.wmf"/><Relationship Id="rId5" Type="http://schemas.openxmlformats.org/officeDocument/2006/relationships/oleObject" Target="../embeddings/oleObject44.bin"/><Relationship Id="rId4" Type="http://schemas.openxmlformats.org/officeDocument/2006/relationships/oleObject" Target="../embeddings/oleObject43.bin"/><Relationship Id="rId3" Type="http://schemas.openxmlformats.org/officeDocument/2006/relationships/oleObject" Target="../embeddings/oleObject42.bin"/><Relationship Id="rId2" Type="http://schemas.openxmlformats.org/officeDocument/2006/relationships/image" Target="../media/image49.wmf"/><Relationship Id="rId13" Type="http://schemas.openxmlformats.org/officeDocument/2006/relationships/notesSlide" Target="../notesSlides/notesSlide11.xml"/><Relationship Id="rId12" Type="http://schemas.openxmlformats.org/officeDocument/2006/relationships/vmlDrawing" Target="../drawings/vmlDrawing10.vml"/><Relationship Id="rId11" Type="http://schemas.openxmlformats.org/officeDocument/2006/relationships/slideLayout" Target="../slideLayouts/slideLayout2.xml"/><Relationship Id="rId10" Type="http://schemas.openxmlformats.org/officeDocument/2006/relationships/image" Target="../media/image52.wmf"/><Relationship Id="rId1" Type="http://schemas.openxmlformats.org/officeDocument/2006/relationships/oleObject" Target="../embeddings/oleObject41.bin"/></Relationships>
</file>

<file path=ppt/slides/_rels/slide6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5.wmf"/><Relationship Id="rId7" Type="http://schemas.openxmlformats.org/officeDocument/2006/relationships/oleObject" Target="../embeddings/oleObject50.bin"/><Relationship Id="rId6" Type="http://schemas.openxmlformats.org/officeDocument/2006/relationships/image" Target="../media/image54.wmf"/><Relationship Id="rId5" Type="http://schemas.openxmlformats.org/officeDocument/2006/relationships/oleObject" Target="../embeddings/oleObject49.bin"/><Relationship Id="rId4" Type="http://schemas.openxmlformats.org/officeDocument/2006/relationships/image" Target="../media/image53.wmf"/><Relationship Id="rId3" Type="http://schemas.openxmlformats.org/officeDocument/2006/relationships/oleObject" Target="../embeddings/oleObject48.bin"/><Relationship Id="rId2" Type="http://schemas.openxmlformats.org/officeDocument/2006/relationships/image" Target="../media/image43.wmf"/><Relationship Id="rId11" Type="http://schemas.openxmlformats.org/officeDocument/2006/relationships/notesSlide" Target="../notesSlides/notesSlide12.xml"/><Relationship Id="rId10" Type="http://schemas.openxmlformats.org/officeDocument/2006/relationships/vmlDrawing" Target="../drawings/vmlDrawing11.vml"/><Relationship Id="rId1" Type="http://schemas.openxmlformats.org/officeDocument/2006/relationships/oleObject" Target="../embeddings/oleObject47.bin"/></Relationships>
</file>

<file path=ppt/slides/_rels/slide68.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vmlDrawing" Target="../drawings/vmlDrawing12.vml"/><Relationship Id="rId7"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53.bin"/><Relationship Id="rId4" Type="http://schemas.openxmlformats.org/officeDocument/2006/relationships/image" Target="../media/image57.wmf"/><Relationship Id="rId3" Type="http://schemas.openxmlformats.org/officeDocument/2006/relationships/oleObject" Target="../embeddings/oleObject52.bin"/><Relationship Id="rId2" Type="http://schemas.openxmlformats.org/officeDocument/2006/relationships/image" Target="../media/image56.wmf"/><Relationship Id="rId1" Type="http://schemas.openxmlformats.org/officeDocument/2006/relationships/oleObject" Target="../embeddings/oleObject51.bin"/></Relationships>
</file>

<file path=ppt/slides/_rels/slide69.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61.wmf"/><Relationship Id="rId7" Type="http://schemas.openxmlformats.org/officeDocument/2006/relationships/oleObject" Target="../embeddings/oleObject57.bin"/><Relationship Id="rId6" Type="http://schemas.openxmlformats.org/officeDocument/2006/relationships/image" Target="../media/image60.wmf"/><Relationship Id="rId5" Type="http://schemas.openxmlformats.org/officeDocument/2006/relationships/oleObject" Target="../embeddings/oleObject56.bin"/><Relationship Id="rId4" Type="http://schemas.openxmlformats.org/officeDocument/2006/relationships/image" Target="../media/image59.wmf"/><Relationship Id="rId3" Type="http://schemas.openxmlformats.org/officeDocument/2006/relationships/oleObject" Target="../embeddings/oleObject55.bin"/><Relationship Id="rId2" Type="http://schemas.openxmlformats.org/officeDocument/2006/relationships/image" Target="../media/image50.wmf"/><Relationship Id="rId15" Type="http://schemas.openxmlformats.org/officeDocument/2006/relationships/notesSlide" Target="../notesSlides/notesSlide14.xml"/><Relationship Id="rId14" Type="http://schemas.openxmlformats.org/officeDocument/2006/relationships/vmlDrawing" Target="../drawings/vmlDrawing13.vml"/><Relationship Id="rId13" Type="http://schemas.openxmlformats.org/officeDocument/2006/relationships/slideLayout" Target="../slideLayouts/slideLayout2.xml"/><Relationship Id="rId12" Type="http://schemas.openxmlformats.org/officeDocument/2006/relationships/image" Target="../media/image63.wmf"/><Relationship Id="rId11" Type="http://schemas.openxmlformats.org/officeDocument/2006/relationships/oleObject" Target="../embeddings/oleObject59.bin"/><Relationship Id="rId10" Type="http://schemas.openxmlformats.org/officeDocument/2006/relationships/image" Target="../media/image62.wmf"/><Relationship Id="rId1" Type="http://schemas.openxmlformats.org/officeDocument/2006/relationships/oleObject" Target="../embeddings/oleObject54.bin"/></Relationships>
</file>

<file path=ppt/slides/_rels/slide70.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vmlDrawing" Target="../drawings/vmlDrawing14.vml"/><Relationship Id="rId7" Type="http://schemas.openxmlformats.org/officeDocument/2006/relationships/slideLayout" Target="../slideLayouts/slideLayout2.xml"/><Relationship Id="rId6" Type="http://schemas.openxmlformats.org/officeDocument/2006/relationships/image" Target="../media/image66.wmf"/><Relationship Id="rId5" Type="http://schemas.openxmlformats.org/officeDocument/2006/relationships/oleObject" Target="../embeddings/oleObject62.bin"/><Relationship Id="rId4" Type="http://schemas.openxmlformats.org/officeDocument/2006/relationships/image" Target="../media/image65.wmf"/><Relationship Id="rId3" Type="http://schemas.openxmlformats.org/officeDocument/2006/relationships/oleObject" Target="../embeddings/oleObject61.bin"/><Relationship Id="rId2" Type="http://schemas.openxmlformats.org/officeDocument/2006/relationships/image" Target="../media/image64.wmf"/><Relationship Id="rId1" Type="http://schemas.openxmlformats.org/officeDocument/2006/relationships/oleObject" Target="../embeddings/oleObject60.bin"/></Relationships>
</file>

<file path=ppt/slides/_rels/slide71.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69.wmf"/><Relationship Id="rId7" Type="http://schemas.openxmlformats.org/officeDocument/2006/relationships/oleObject" Target="../embeddings/oleObject66.bin"/><Relationship Id="rId6" Type="http://schemas.openxmlformats.org/officeDocument/2006/relationships/image" Target="../media/image68.wmf"/><Relationship Id="rId5" Type="http://schemas.openxmlformats.org/officeDocument/2006/relationships/oleObject" Target="../embeddings/oleObject65.bin"/><Relationship Id="rId4" Type="http://schemas.openxmlformats.org/officeDocument/2006/relationships/image" Target="../media/image67.wmf"/><Relationship Id="rId3" Type="http://schemas.openxmlformats.org/officeDocument/2006/relationships/oleObject" Target="../embeddings/oleObject64.bin"/><Relationship Id="rId23" Type="http://schemas.openxmlformats.org/officeDocument/2006/relationships/notesSlide" Target="../notesSlides/notesSlide16.xml"/><Relationship Id="rId22" Type="http://schemas.openxmlformats.org/officeDocument/2006/relationships/vmlDrawing" Target="../drawings/vmlDrawing15.vml"/><Relationship Id="rId21" Type="http://schemas.openxmlformats.org/officeDocument/2006/relationships/slideLayout" Target="../slideLayouts/slideLayout2.xml"/><Relationship Id="rId20" Type="http://schemas.openxmlformats.org/officeDocument/2006/relationships/image" Target="../media/image75.wmf"/><Relationship Id="rId2" Type="http://schemas.openxmlformats.org/officeDocument/2006/relationships/image" Target="../media/image41.wmf"/><Relationship Id="rId19" Type="http://schemas.openxmlformats.org/officeDocument/2006/relationships/oleObject" Target="../embeddings/oleObject72.bin"/><Relationship Id="rId18" Type="http://schemas.openxmlformats.org/officeDocument/2006/relationships/image" Target="../media/image74.wmf"/><Relationship Id="rId17" Type="http://schemas.openxmlformats.org/officeDocument/2006/relationships/oleObject" Target="../embeddings/oleObject71.bin"/><Relationship Id="rId16" Type="http://schemas.openxmlformats.org/officeDocument/2006/relationships/image" Target="../media/image73.wmf"/><Relationship Id="rId15" Type="http://schemas.openxmlformats.org/officeDocument/2006/relationships/oleObject" Target="../embeddings/oleObject70.bin"/><Relationship Id="rId14" Type="http://schemas.openxmlformats.org/officeDocument/2006/relationships/image" Target="../media/image72.wmf"/><Relationship Id="rId13" Type="http://schemas.openxmlformats.org/officeDocument/2006/relationships/oleObject" Target="../embeddings/oleObject69.bin"/><Relationship Id="rId12" Type="http://schemas.openxmlformats.org/officeDocument/2006/relationships/image" Target="../media/image71.wmf"/><Relationship Id="rId11" Type="http://schemas.openxmlformats.org/officeDocument/2006/relationships/oleObject" Target="../embeddings/oleObject68.bin"/><Relationship Id="rId10" Type="http://schemas.openxmlformats.org/officeDocument/2006/relationships/image" Target="../media/image70.wmf"/><Relationship Id="rId1" Type="http://schemas.openxmlformats.org/officeDocument/2006/relationships/oleObject" Target="../embeddings/oleObject63.bin"/></Relationships>
</file>

<file path=ppt/slides/_rels/slide72.xml.rels><?xml version="1.0" encoding="UTF-8" standalone="yes"?>
<Relationships xmlns="http://schemas.openxmlformats.org/package/2006/relationships"><Relationship Id="rId9" Type="http://schemas.openxmlformats.org/officeDocument/2006/relationships/oleObject" Target="../embeddings/oleObject77.bin"/><Relationship Id="rId8" Type="http://schemas.openxmlformats.org/officeDocument/2006/relationships/image" Target="../media/image78.wmf"/><Relationship Id="rId7" Type="http://schemas.openxmlformats.org/officeDocument/2006/relationships/oleObject" Target="../embeddings/oleObject76.bin"/><Relationship Id="rId6" Type="http://schemas.openxmlformats.org/officeDocument/2006/relationships/image" Target="../media/image77.wmf"/><Relationship Id="rId5" Type="http://schemas.openxmlformats.org/officeDocument/2006/relationships/oleObject" Target="../embeddings/oleObject75.bin"/><Relationship Id="rId4" Type="http://schemas.openxmlformats.org/officeDocument/2006/relationships/image" Target="../media/image74.wmf"/><Relationship Id="rId3" Type="http://schemas.openxmlformats.org/officeDocument/2006/relationships/oleObject" Target="../embeddings/oleObject74.bin"/><Relationship Id="rId2" Type="http://schemas.openxmlformats.org/officeDocument/2006/relationships/image" Target="../media/image76.wmf"/><Relationship Id="rId15" Type="http://schemas.openxmlformats.org/officeDocument/2006/relationships/notesSlide" Target="../notesSlides/notesSlide17.xml"/><Relationship Id="rId14" Type="http://schemas.openxmlformats.org/officeDocument/2006/relationships/vmlDrawing" Target="../drawings/vmlDrawing16.vml"/><Relationship Id="rId13" Type="http://schemas.openxmlformats.org/officeDocument/2006/relationships/slideLayout" Target="../slideLayouts/slideLayout2.xml"/><Relationship Id="rId12" Type="http://schemas.openxmlformats.org/officeDocument/2006/relationships/image" Target="../media/image80.wmf"/><Relationship Id="rId11" Type="http://schemas.openxmlformats.org/officeDocument/2006/relationships/oleObject" Target="../embeddings/oleObject78.bin"/><Relationship Id="rId10" Type="http://schemas.openxmlformats.org/officeDocument/2006/relationships/image" Target="../media/image79.wmf"/><Relationship Id="rId1" Type="http://schemas.openxmlformats.org/officeDocument/2006/relationships/oleObject" Target="../embeddings/oleObject73.bin"/></Relationships>
</file>

<file path=ppt/slides/_rels/slide73.xml.rels><?xml version="1.0" encoding="UTF-8" standalone="yes"?>
<Relationships xmlns="http://schemas.openxmlformats.org/package/2006/relationships"><Relationship Id="rId9" Type="http://schemas.openxmlformats.org/officeDocument/2006/relationships/image" Target="../media/image83.wmf"/><Relationship Id="rId8" Type="http://schemas.openxmlformats.org/officeDocument/2006/relationships/oleObject" Target="../embeddings/oleObject83.bin"/><Relationship Id="rId7" Type="http://schemas.openxmlformats.org/officeDocument/2006/relationships/image" Target="../media/image82.wmf"/><Relationship Id="rId6" Type="http://schemas.openxmlformats.org/officeDocument/2006/relationships/oleObject" Target="../embeddings/oleObject82.bin"/><Relationship Id="rId5" Type="http://schemas.openxmlformats.org/officeDocument/2006/relationships/oleObject" Target="../embeddings/oleObject81.bin"/><Relationship Id="rId4" Type="http://schemas.openxmlformats.org/officeDocument/2006/relationships/image" Target="../media/image77.wmf"/><Relationship Id="rId3" Type="http://schemas.openxmlformats.org/officeDocument/2006/relationships/oleObject" Target="../embeddings/oleObject80.bin"/><Relationship Id="rId24" Type="http://schemas.openxmlformats.org/officeDocument/2006/relationships/notesSlide" Target="../notesSlides/notesSlide18.xml"/><Relationship Id="rId23" Type="http://schemas.openxmlformats.org/officeDocument/2006/relationships/vmlDrawing" Target="../drawings/vmlDrawing17.vml"/><Relationship Id="rId22" Type="http://schemas.openxmlformats.org/officeDocument/2006/relationships/slideLayout" Target="../slideLayouts/slideLayout2.xml"/><Relationship Id="rId21" Type="http://schemas.openxmlformats.org/officeDocument/2006/relationships/image" Target="../media/image89.wmf"/><Relationship Id="rId20" Type="http://schemas.openxmlformats.org/officeDocument/2006/relationships/oleObject" Target="../embeddings/oleObject89.bin"/><Relationship Id="rId2" Type="http://schemas.openxmlformats.org/officeDocument/2006/relationships/image" Target="../media/image81.wmf"/><Relationship Id="rId19" Type="http://schemas.openxmlformats.org/officeDocument/2006/relationships/image" Target="../media/image88.wmf"/><Relationship Id="rId18" Type="http://schemas.openxmlformats.org/officeDocument/2006/relationships/oleObject" Target="../embeddings/oleObject88.bin"/><Relationship Id="rId17" Type="http://schemas.openxmlformats.org/officeDocument/2006/relationships/image" Target="../media/image87.wmf"/><Relationship Id="rId16" Type="http://schemas.openxmlformats.org/officeDocument/2006/relationships/oleObject" Target="../embeddings/oleObject87.bin"/><Relationship Id="rId15" Type="http://schemas.openxmlformats.org/officeDocument/2006/relationships/image" Target="../media/image86.wmf"/><Relationship Id="rId14" Type="http://schemas.openxmlformats.org/officeDocument/2006/relationships/oleObject" Target="../embeddings/oleObject86.bin"/><Relationship Id="rId13" Type="http://schemas.openxmlformats.org/officeDocument/2006/relationships/image" Target="../media/image85.wmf"/><Relationship Id="rId12" Type="http://schemas.openxmlformats.org/officeDocument/2006/relationships/oleObject" Target="../embeddings/oleObject85.bin"/><Relationship Id="rId11" Type="http://schemas.openxmlformats.org/officeDocument/2006/relationships/image" Target="../media/image84.wmf"/><Relationship Id="rId10" Type="http://schemas.openxmlformats.org/officeDocument/2006/relationships/oleObject" Target="../embeddings/oleObject84.bin"/><Relationship Id="rId1" Type="http://schemas.openxmlformats.org/officeDocument/2006/relationships/oleObject" Target="../embeddings/oleObject79.bin"/></Relationships>
</file>

<file path=ppt/slides/_rels/slide7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3.wmf"/><Relationship Id="rId7" Type="http://schemas.openxmlformats.org/officeDocument/2006/relationships/oleObject" Target="../embeddings/oleObject93.bin"/><Relationship Id="rId6" Type="http://schemas.openxmlformats.org/officeDocument/2006/relationships/image" Target="../media/image92.wmf"/><Relationship Id="rId5" Type="http://schemas.openxmlformats.org/officeDocument/2006/relationships/oleObject" Target="../embeddings/oleObject92.bin"/><Relationship Id="rId4" Type="http://schemas.openxmlformats.org/officeDocument/2006/relationships/image" Target="../media/image91.wmf"/><Relationship Id="rId3" Type="http://schemas.openxmlformats.org/officeDocument/2006/relationships/oleObject" Target="../embeddings/oleObject91.bin"/><Relationship Id="rId2" Type="http://schemas.openxmlformats.org/officeDocument/2006/relationships/image" Target="../media/image90.wmf"/><Relationship Id="rId11" Type="http://schemas.openxmlformats.org/officeDocument/2006/relationships/notesSlide" Target="../notesSlides/notesSlide19.xml"/><Relationship Id="rId10" Type="http://schemas.openxmlformats.org/officeDocument/2006/relationships/vmlDrawing" Target="../drawings/vmlDrawing18.vml"/><Relationship Id="rId1" Type="http://schemas.openxmlformats.org/officeDocument/2006/relationships/oleObject" Target="../embeddings/oleObject90.bin"/></Relationships>
</file>

<file path=ppt/slides/_rels/slide75.xml.rels><?xml version="1.0" encoding="UTF-8" standalone="yes"?>
<Relationships xmlns="http://schemas.openxmlformats.org/package/2006/relationships"><Relationship Id="rId9" Type="http://schemas.openxmlformats.org/officeDocument/2006/relationships/image" Target="../media/image96.wmf"/><Relationship Id="rId8" Type="http://schemas.openxmlformats.org/officeDocument/2006/relationships/oleObject" Target="../embeddings/oleObject99.bin"/><Relationship Id="rId7" Type="http://schemas.openxmlformats.org/officeDocument/2006/relationships/oleObject" Target="../embeddings/oleObject98.bin"/><Relationship Id="rId6" Type="http://schemas.openxmlformats.org/officeDocument/2006/relationships/oleObject" Target="../embeddings/oleObject97.bin"/><Relationship Id="rId5" Type="http://schemas.openxmlformats.org/officeDocument/2006/relationships/oleObject" Target="../embeddings/oleObject96.bin"/><Relationship Id="rId4" Type="http://schemas.openxmlformats.org/officeDocument/2006/relationships/image" Target="../media/image95.wmf"/><Relationship Id="rId3" Type="http://schemas.openxmlformats.org/officeDocument/2006/relationships/oleObject" Target="../embeddings/oleObject95.bin"/><Relationship Id="rId2" Type="http://schemas.openxmlformats.org/officeDocument/2006/relationships/image" Target="../media/image94.wmf"/><Relationship Id="rId19" Type="http://schemas.openxmlformats.org/officeDocument/2006/relationships/notesSlide" Target="../notesSlides/notesSlide20.xml"/><Relationship Id="rId18" Type="http://schemas.openxmlformats.org/officeDocument/2006/relationships/vmlDrawing" Target="../drawings/vmlDrawing19.vml"/><Relationship Id="rId17" Type="http://schemas.openxmlformats.org/officeDocument/2006/relationships/slideLayout" Target="../slideLayouts/slideLayout2.xml"/><Relationship Id="rId16" Type="http://schemas.openxmlformats.org/officeDocument/2006/relationships/image" Target="../media/image91.wmf"/><Relationship Id="rId15" Type="http://schemas.openxmlformats.org/officeDocument/2006/relationships/oleObject" Target="../embeddings/oleObject104.bin"/><Relationship Id="rId14" Type="http://schemas.openxmlformats.org/officeDocument/2006/relationships/image" Target="../media/image97.wmf"/><Relationship Id="rId13" Type="http://schemas.openxmlformats.org/officeDocument/2006/relationships/oleObject" Target="../embeddings/oleObject103.bin"/><Relationship Id="rId12" Type="http://schemas.openxmlformats.org/officeDocument/2006/relationships/oleObject" Target="../embeddings/oleObject102.bin"/><Relationship Id="rId11" Type="http://schemas.openxmlformats.org/officeDocument/2006/relationships/oleObject" Target="../embeddings/oleObject101.bin"/><Relationship Id="rId10" Type="http://schemas.openxmlformats.org/officeDocument/2006/relationships/oleObject" Target="../embeddings/oleObject100.bin"/><Relationship Id="rId1" Type="http://schemas.openxmlformats.org/officeDocument/2006/relationships/oleObject" Target="../embeddings/oleObject94.bin"/></Relationships>
</file>

<file path=ppt/slides/_rels/slide76.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98.wmf"/><Relationship Id="rId1" Type="http://schemas.openxmlformats.org/officeDocument/2006/relationships/oleObject" Target="../embeddings/oleObject105.bin"/></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110.bin"/><Relationship Id="rId8" Type="http://schemas.openxmlformats.org/officeDocument/2006/relationships/image" Target="../media/image102.wmf"/><Relationship Id="rId7" Type="http://schemas.openxmlformats.org/officeDocument/2006/relationships/oleObject" Target="../embeddings/oleObject109.bin"/><Relationship Id="rId6" Type="http://schemas.openxmlformats.org/officeDocument/2006/relationships/image" Target="../media/image101.wmf"/><Relationship Id="rId5" Type="http://schemas.openxmlformats.org/officeDocument/2006/relationships/oleObject" Target="../embeddings/oleObject108.bin"/><Relationship Id="rId4" Type="http://schemas.openxmlformats.org/officeDocument/2006/relationships/image" Target="../media/image100.wmf"/><Relationship Id="rId3" Type="http://schemas.openxmlformats.org/officeDocument/2006/relationships/oleObject" Target="../embeddings/oleObject107.bin"/><Relationship Id="rId2" Type="http://schemas.openxmlformats.org/officeDocument/2006/relationships/image" Target="../media/image99.wmf"/><Relationship Id="rId13" Type="http://schemas.openxmlformats.org/officeDocument/2006/relationships/notesSlide" Target="../notesSlides/notesSlide22.xml"/><Relationship Id="rId12" Type="http://schemas.openxmlformats.org/officeDocument/2006/relationships/vmlDrawing" Target="../drawings/vmlDrawing21.vml"/><Relationship Id="rId11" Type="http://schemas.openxmlformats.org/officeDocument/2006/relationships/slideLayout" Target="../slideLayouts/slideLayout2.xml"/><Relationship Id="rId10" Type="http://schemas.openxmlformats.org/officeDocument/2006/relationships/image" Target="../media/image103.wmf"/><Relationship Id="rId1" Type="http://schemas.openxmlformats.org/officeDocument/2006/relationships/oleObject" Target="../embeddings/oleObject106.bin"/></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9" Type="http://schemas.openxmlformats.org/officeDocument/2006/relationships/oleObject" Target="../embeddings/oleObject115.bin"/><Relationship Id="rId8" Type="http://schemas.openxmlformats.org/officeDocument/2006/relationships/image" Target="../media/image107.wmf"/><Relationship Id="rId7" Type="http://schemas.openxmlformats.org/officeDocument/2006/relationships/oleObject" Target="../embeddings/oleObject114.bin"/><Relationship Id="rId6" Type="http://schemas.openxmlformats.org/officeDocument/2006/relationships/image" Target="../media/image106.wmf"/><Relationship Id="rId5" Type="http://schemas.openxmlformats.org/officeDocument/2006/relationships/oleObject" Target="../embeddings/oleObject113.bin"/><Relationship Id="rId4" Type="http://schemas.openxmlformats.org/officeDocument/2006/relationships/image" Target="../media/image105.wmf"/><Relationship Id="rId3" Type="http://schemas.openxmlformats.org/officeDocument/2006/relationships/oleObject" Target="../embeddings/oleObject112.bin"/><Relationship Id="rId23" Type="http://schemas.openxmlformats.org/officeDocument/2006/relationships/vmlDrawing" Target="../drawings/vmlDrawing22.vml"/><Relationship Id="rId22" Type="http://schemas.openxmlformats.org/officeDocument/2006/relationships/slideLayout" Target="../slideLayouts/slideLayout13.xml"/><Relationship Id="rId21" Type="http://schemas.openxmlformats.org/officeDocument/2006/relationships/oleObject" Target="../embeddings/oleObject123.bin"/><Relationship Id="rId20" Type="http://schemas.openxmlformats.org/officeDocument/2006/relationships/oleObject" Target="../embeddings/oleObject122.bin"/><Relationship Id="rId2" Type="http://schemas.openxmlformats.org/officeDocument/2006/relationships/image" Target="../media/image104.wmf"/><Relationship Id="rId19" Type="http://schemas.openxmlformats.org/officeDocument/2006/relationships/oleObject" Target="../embeddings/oleObject121.bin"/><Relationship Id="rId18" Type="http://schemas.openxmlformats.org/officeDocument/2006/relationships/oleObject" Target="../embeddings/oleObject120.bin"/><Relationship Id="rId17" Type="http://schemas.openxmlformats.org/officeDocument/2006/relationships/oleObject" Target="../embeddings/oleObject119.bin"/><Relationship Id="rId16" Type="http://schemas.openxmlformats.org/officeDocument/2006/relationships/image" Target="../media/image111.wmf"/><Relationship Id="rId15" Type="http://schemas.openxmlformats.org/officeDocument/2006/relationships/oleObject" Target="../embeddings/oleObject118.bin"/><Relationship Id="rId14" Type="http://schemas.openxmlformats.org/officeDocument/2006/relationships/image" Target="../media/image110.wmf"/><Relationship Id="rId13" Type="http://schemas.openxmlformats.org/officeDocument/2006/relationships/oleObject" Target="../embeddings/oleObject117.bin"/><Relationship Id="rId12" Type="http://schemas.openxmlformats.org/officeDocument/2006/relationships/image" Target="../media/image109.wmf"/><Relationship Id="rId11" Type="http://schemas.openxmlformats.org/officeDocument/2006/relationships/oleObject" Target="../embeddings/oleObject116.bin"/><Relationship Id="rId10" Type="http://schemas.openxmlformats.org/officeDocument/2006/relationships/image" Target="../media/image108.wmf"/><Relationship Id="rId1" Type="http://schemas.openxmlformats.org/officeDocument/2006/relationships/oleObject" Target="../embeddings/oleObject111.bin"/></Relationships>
</file>

<file path=ppt/slides/_rels/slide98.xml.rels><?xml version="1.0" encoding="UTF-8" standalone="yes"?>
<Relationships xmlns="http://schemas.openxmlformats.org/package/2006/relationships"><Relationship Id="rId9" Type="http://schemas.openxmlformats.org/officeDocument/2006/relationships/oleObject" Target="../embeddings/oleObject128.bin"/><Relationship Id="rId8" Type="http://schemas.openxmlformats.org/officeDocument/2006/relationships/image" Target="../media/image115.wmf"/><Relationship Id="rId7" Type="http://schemas.openxmlformats.org/officeDocument/2006/relationships/oleObject" Target="../embeddings/oleObject127.bin"/><Relationship Id="rId6" Type="http://schemas.openxmlformats.org/officeDocument/2006/relationships/image" Target="../media/image114.wmf"/><Relationship Id="rId5" Type="http://schemas.openxmlformats.org/officeDocument/2006/relationships/oleObject" Target="../embeddings/oleObject126.bin"/><Relationship Id="rId4" Type="http://schemas.openxmlformats.org/officeDocument/2006/relationships/image" Target="../media/image113.wmf"/><Relationship Id="rId3" Type="http://schemas.openxmlformats.org/officeDocument/2006/relationships/oleObject" Target="../embeddings/oleObject125.bin"/><Relationship Id="rId28" Type="http://schemas.openxmlformats.org/officeDocument/2006/relationships/vmlDrawing" Target="../drawings/vmlDrawing23.vml"/><Relationship Id="rId27" Type="http://schemas.openxmlformats.org/officeDocument/2006/relationships/slideLayout" Target="../slideLayouts/slideLayout14.xml"/><Relationship Id="rId26" Type="http://schemas.openxmlformats.org/officeDocument/2006/relationships/oleObject" Target="../embeddings/oleObject139.bin"/><Relationship Id="rId25" Type="http://schemas.openxmlformats.org/officeDocument/2006/relationships/oleObject" Target="../embeddings/oleObject138.bin"/><Relationship Id="rId24" Type="http://schemas.openxmlformats.org/officeDocument/2006/relationships/oleObject" Target="../embeddings/oleObject137.bin"/><Relationship Id="rId23" Type="http://schemas.openxmlformats.org/officeDocument/2006/relationships/oleObject" Target="../embeddings/oleObject136.bin"/><Relationship Id="rId22" Type="http://schemas.openxmlformats.org/officeDocument/2006/relationships/oleObject" Target="../embeddings/oleObject135.bin"/><Relationship Id="rId21" Type="http://schemas.openxmlformats.org/officeDocument/2006/relationships/image" Target="../media/image111.wmf"/><Relationship Id="rId20" Type="http://schemas.openxmlformats.org/officeDocument/2006/relationships/oleObject" Target="../embeddings/oleObject134.bin"/><Relationship Id="rId2" Type="http://schemas.openxmlformats.org/officeDocument/2006/relationships/image" Target="../media/image112.wmf"/><Relationship Id="rId19" Type="http://schemas.openxmlformats.org/officeDocument/2006/relationships/image" Target="../media/image120.wmf"/><Relationship Id="rId18" Type="http://schemas.openxmlformats.org/officeDocument/2006/relationships/oleObject" Target="../embeddings/oleObject133.bin"/><Relationship Id="rId17" Type="http://schemas.openxmlformats.org/officeDocument/2006/relationships/oleObject" Target="../embeddings/oleObject132.bin"/><Relationship Id="rId16" Type="http://schemas.openxmlformats.org/officeDocument/2006/relationships/image" Target="../media/image119.wmf"/><Relationship Id="rId15" Type="http://schemas.openxmlformats.org/officeDocument/2006/relationships/oleObject" Target="../embeddings/oleObject131.bin"/><Relationship Id="rId14" Type="http://schemas.openxmlformats.org/officeDocument/2006/relationships/image" Target="../media/image118.wmf"/><Relationship Id="rId13" Type="http://schemas.openxmlformats.org/officeDocument/2006/relationships/oleObject" Target="../embeddings/oleObject130.bin"/><Relationship Id="rId12" Type="http://schemas.openxmlformats.org/officeDocument/2006/relationships/image" Target="../media/image117.wmf"/><Relationship Id="rId11" Type="http://schemas.openxmlformats.org/officeDocument/2006/relationships/oleObject" Target="../embeddings/oleObject129.bin"/><Relationship Id="rId10" Type="http://schemas.openxmlformats.org/officeDocument/2006/relationships/image" Target="../media/image116.wmf"/><Relationship Id="rId1" Type="http://schemas.openxmlformats.org/officeDocument/2006/relationships/oleObject" Target="../embeddings/oleObject124.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2.xml"/><Relationship Id="rId4" Type="http://schemas.openxmlformats.org/officeDocument/2006/relationships/image" Target="../media/image122.wmf"/><Relationship Id="rId3" Type="http://schemas.openxmlformats.org/officeDocument/2006/relationships/oleObject" Target="../embeddings/oleObject141.bin"/><Relationship Id="rId2" Type="http://schemas.openxmlformats.org/officeDocument/2006/relationships/image" Target="../media/image121.wmf"/><Relationship Id="rId1" Type="http://schemas.openxmlformats.org/officeDocument/2006/relationships/oleObject" Target="../embeddings/oleObject140.bin"/></Relationships>
</file>

<file path=ppt/slides/_rels/slide101.xml.rels><?xml version="1.0" encoding="UTF-8" standalone="yes"?>
<Relationships xmlns="http://schemas.openxmlformats.org/package/2006/relationships"><Relationship Id="rId9" Type="http://schemas.openxmlformats.org/officeDocument/2006/relationships/image" Target="../media/image126.wmf"/><Relationship Id="rId8" Type="http://schemas.openxmlformats.org/officeDocument/2006/relationships/oleObject" Target="../embeddings/oleObject146.bin"/><Relationship Id="rId7" Type="http://schemas.openxmlformats.org/officeDocument/2006/relationships/oleObject" Target="../embeddings/oleObject145.bin"/><Relationship Id="rId6" Type="http://schemas.openxmlformats.org/officeDocument/2006/relationships/image" Target="../media/image125.wmf"/><Relationship Id="rId5" Type="http://schemas.openxmlformats.org/officeDocument/2006/relationships/oleObject" Target="../embeddings/oleObject144.bin"/><Relationship Id="rId4" Type="http://schemas.openxmlformats.org/officeDocument/2006/relationships/image" Target="../media/image124.wmf"/><Relationship Id="rId3" Type="http://schemas.openxmlformats.org/officeDocument/2006/relationships/oleObject" Target="../embeddings/oleObject143.bin"/><Relationship Id="rId27" Type="http://schemas.openxmlformats.org/officeDocument/2006/relationships/vmlDrawing" Target="../drawings/vmlDrawing25.vml"/><Relationship Id="rId26" Type="http://schemas.openxmlformats.org/officeDocument/2006/relationships/slideLayout" Target="../slideLayouts/slideLayout2.xml"/><Relationship Id="rId25" Type="http://schemas.openxmlformats.org/officeDocument/2006/relationships/image" Target="../media/image133.wmf"/><Relationship Id="rId24" Type="http://schemas.openxmlformats.org/officeDocument/2006/relationships/oleObject" Target="../embeddings/oleObject155.bin"/><Relationship Id="rId23" Type="http://schemas.openxmlformats.org/officeDocument/2006/relationships/image" Target="../media/image132.wmf"/><Relationship Id="rId22" Type="http://schemas.openxmlformats.org/officeDocument/2006/relationships/oleObject" Target="../embeddings/oleObject154.bin"/><Relationship Id="rId21" Type="http://schemas.openxmlformats.org/officeDocument/2006/relationships/oleObject" Target="../embeddings/oleObject153.bin"/><Relationship Id="rId20" Type="http://schemas.openxmlformats.org/officeDocument/2006/relationships/image" Target="../media/image131.wmf"/><Relationship Id="rId2" Type="http://schemas.openxmlformats.org/officeDocument/2006/relationships/image" Target="../media/image123.wmf"/><Relationship Id="rId19" Type="http://schemas.openxmlformats.org/officeDocument/2006/relationships/oleObject" Target="../embeddings/oleObject152.bin"/><Relationship Id="rId18" Type="http://schemas.openxmlformats.org/officeDocument/2006/relationships/image" Target="../media/image130.wmf"/><Relationship Id="rId17" Type="http://schemas.openxmlformats.org/officeDocument/2006/relationships/oleObject" Target="../embeddings/oleObject151.bin"/><Relationship Id="rId16" Type="http://schemas.openxmlformats.org/officeDocument/2006/relationships/image" Target="../media/image129.wmf"/><Relationship Id="rId15" Type="http://schemas.openxmlformats.org/officeDocument/2006/relationships/oleObject" Target="../embeddings/oleObject150.bin"/><Relationship Id="rId14" Type="http://schemas.openxmlformats.org/officeDocument/2006/relationships/image" Target="../media/image128.wmf"/><Relationship Id="rId13" Type="http://schemas.openxmlformats.org/officeDocument/2006/relationships/oleObject" Target="../embeddings/oleObject149.bin"/><Relationship Id="rId12" Type="http://schemas.openxmlformats.org/officeDocument/2006/relationships/image" Target="../media/image127.wmf"/><Relationship Id="rId11" Type="http://schemas.openxmlformats.org/officeDocument/2006/relationships/oleObject" Target="../embeddings/oleObject148.bin"/><Relationship Id="rId10" Type="http://schemas.openxmlformats.org/officeDocument/2006/relationships/oleObject" Target="../embeddings/oleObject147.bin"/><Relationship Id="rId1" Type="http://schemas.openxmlformats.org/officeDocument/2006/relationships/oleObject" Target="../embeddings/oleObject142.bin"/></Relationships>
</file>

<file path=ppt/slides/_rels/slide102.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2.xml"/><Relationship Id="rId6" Type="http://schemas.openxmlformats.org/officeDocument/2006/relationships/image" Target="../media/image136.wmf"/><Relationship Id="rId5" Type="http://schemas.openxmlformats.org/officeDocument/2006/relationships/oleObject" Target="../embeddings/oleObject158.bin"/><Relationship Id="rId4" Type="http://schemas.openxmlformats.org/officeDocument/2006/relationships/image" Target="../media/image135.wmf"/><Relationship Id="rId3" Type="http://schemas.openxmlformats.org/officeDocument/2006/relationships/oleObject" Target="../embeddings/oleObject157.bin"/><Relationship Id="rId2" Type="http://schemas.openxmlformats.org/officeDocument/2006/relationships/image" Target="../media/image134.wmf"/><Relationship Id="rId1" Type="http://schemas.openxmlformats.org/officeDocument/2006/relationships/oleObject" Target="../embeddings/oleObject156.bin"/></Relationships>
</file>

<file path=ppt/slides/_rels/slide103.xml.rels><?xml version="1.0" encoding="UTF-8" standalone="yes"?>
<Relationships xmlns="http://schemas.openxmlformats.org/package/2006/relationships"><Relationship Id="rId9" Type="http://schemas.openxmlformats.org/officeDocument/2006/relationships/oleObject" Target="../embeddings/oleObject163.bin"/><Relationship Id="rId8" Type="http://schemas.openxmlformats.org/officeDocument/2006/relationships/image" Target="../media/image134.wmf"/><Relationship Id="rId7" Type="http://schemas.openxmlformats.org/officeDocument/2006/relationships/oleObject" Target="../embeddings/oleObject162.bin"/><Relationship Id="rId6" Type="http://schemas.openxmlformats.org/officeDocument/2006/relationships/image" Target="../media/image139.wmf"/><Relationship Id="rId5" Type="http://schemas.openxmlformats.org/officeDocument/2006/relationships/oleObject" Target="../embeddings/oleObject161.bin"/><Relationship Id="rId4" Type="http://schemas.openxmlformats.org/officeDocument/2006/relationships/image" Target="../media/image138.wmf"/><Relationship Id="rId3" Type="http://schemas.openxmlformats.org/officeDocument/2006/relationships/oleObject" Target="../embeddings/oleObject160.bin"/><Relationship Id="rId2" Type="http://schemas.openxmlformats.org/officeDocument/2006/relationships/image" Target="../media/image137.wmf"/><Relationship Id="rId14" Type="http://schemas.openxmlformats.org/officeDocument/2006/relationships/vmlDrawing" Target="../drawings/vmlDrawing27.vml"/><Relationship Id="rId13" Type="http://schemas.openxmlformats.org/officeDocument/2006/relationships/slideLayout" Target="../slideLayouts/slideLayout2.xml"/><Relationship Id="rId12" Type="http://schemas.openxmlformats.org/officeDocument/2006/relationships/image" Target="../media/image141.wmf"/><Relationship Id="rId11" Type="http://schemas.openxmlformats.org/officeDocument/2006/relationships/oleObject" Target="../embeddings/oleObject164.bin"/><Relationship Id="rId10" Type="http://schemas.openxmlformats.org/officeDocument/2006/relationships/image" Target="../media/image140.wmf"/><Relationship Id="rId1" Type="http://schemas.openxmlformats.org/officeDocument/2006/relationships/oleObject" Target="../embeddings/oleObject159.bin"/></Relationships>
</file>

<file path=ppt/slides/_rels/slide104.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2.xml"/><Relationship Id="rId4" Type="http://schemas.openxmlformats.org/officeDocument/2006/relationships/image" Target="../media/image143.wmf"/><Relationship Id="rId3" Type="http://schemas.openxmlformats.org/officeDocument/2006/relationships/oleObject" Target="../embeddings/oleObject166.bin"/><Relationship Id="rId2" Type="http://schemas.openxmlformats.org/officeDocument/2006/relationships/image" Target="../media/image142.wmf"/><Relationship Id="rId1" Type="http://schemas.openxmlformats.org/officeDocument/2006/relationships/oleObject" Target="../embeddings/oleObject165.bin"/></Relationships>
</file>

<file path=ppt/slides/_rels/slide105.xml.rels><?xml version="1.0" encoding="UTF-8" standalone="yes"?>
<Relationships xmlns="http://schemas.openxmlformats.org/package/2006/relationships"><Relationship Id="rId8" Type="http://schemas.openxmlformats.org/officeDocument/2006/relationships/vmlDrawing" Target="../drawings/vmlDrawing29.vml"/><Relationship Id="rId7" Type="http://schemas.openxmlformats.org/officeDocument/2006/relationships/slideLayout" Target="../slideLayouts/slideLayout2.xml"/><Relationship Id="rId6" Type="http://schemas.openxmlformats.org/officeDocument/2006/relationships/image" Target="../media/image146.wmf"/><Relationship Id="rId5" Type="http://schemas.openxmlformats.org/officeDocument/2006/relationships/oleObject" Target="../embeddings/oleObject169.bin"/><Relationship Id="rId4" Type="http://schemas.openxmlformats.org/officeDocument/2006/relationships/image" Target="../media/image145.wmf"/><Relationship Id="rId3" Type="http://schemas.openxmlformats.org/officeDocument/2006/relationships/oleObject" Target="../embeddings/oleObject168.bin"/><Relationship Id="rId2" Type="http://schemas.openxmlformats.org/officeDocument/2006/relationships/image" Target="../media/image144.wmf"/><Relationship Id="rId1" Type="http://schemas.openxmlformats.org/officeDocument/2006/relationships/oleObject" Target="../embeddings/oleObject167.bin"/></Relationships>
</file>

<file path=ppt/slides/_rels/slide106.xml.rels><?xml version="1.0" encoding="UTF-8" standalone="yes"?>
<Relationships xmlns="http://schemas.openxmlformats.org/package/2006/relationships"><Relationship Id="rId9" Type="http://schemas.openxmlformats.org/officeDocument/2006/relationships/oleObject" Target="../embeddings/oleObject174.bin"/><Relationship Id="rId8" Type="http://schemas.openxmlformats.org/officeDocument/2006/relationships/image" Target="../media/image150.wmf"/><Relationship Id="rId7" Type="http://schemas.openxmlformats.org/officeDocument/2006/relationships/oleObject" Target="../embeddings/oleObject173.bin"/><Relationship Id="rId6" Type="http://schemas.openxmlformats.org/officeDocument/2006/relationships/image" Target="../media/image149.wmf"/><Relationship Id="rId5" Type="http://schemas.openxmlformats.org/officeDocument/2006/relationships/oleObject" Target="../embeddings/oleObject172.bin"/><Relationship Id="rId4" Type="http://schemas.openxmlformats.org/officeDocument/2006/relationships/image" Target="../media/image148.wmf"/><Relationship Id="rId31" Type="http://schemas.openxmlformats.org/officeDocument/2006/relationships/vmlDrawing" Target="../drawings/vmlDrawing30.vml"/><Relationship Id="rId30" Type="http://schemas.openxmlformats.org/officeDocument/2006/relationships/slideLayout" Target="../slideLayouts/slideLayout2.xml"/><Relationship Id="rId3" Type="http://schemas.openxmlformats.org/officeDocument/2006/relationships/oleObject" Target="../embeddings/oleObject171.bin"/><Relationship Id="rId29" Type="http://schemas.openxmlformats.org/officeDocument/2006/relationships/image" Target="../media/image159.wmf"/><Relationship Id="rId28" Type="http://schemas.openxmlformats.org/officeDocument/2006/relationships/oleObject" Target="../embeddings/oleObject185.bin"/><Relationship Id="rId27" Type="http://schemas.openxmlformats.org/officeDocument/2006/relationships/image" Target="../media/image158.wmf"/><Relationship Id="rId26" Type="http://schemas.openxmlformats.org/officeDocument/2006/relationships/oleObject" Target="../embeddings/oleObject184.bin"/><Relationship Id="rId25" Type="http://schemas.openxmlformats.org/officeDocument/2006/relationships/image" Target="../media/image157.wmf"/><Relationship Id="rId24" Type="http://schemas.openxmlformats.org/officeDocument/2006/relationships/oleObject" Target="../embeddings/oleObject183.bin"/><Relationship Id="rId23" Type="http://schemas.openxmlformats.org/officeDocument/2006/relationships/oleObject" Target="../embeddings/oleObject182.bin"/><Relationship Id="rId22" Type="http://schemas.openxmlformats.org/officeDocument/2006/relationships/oleObject" Target="../embeddings/oleObject181.bin"/><Relationship Id="rId21" Type="http://schemas.openxmlformats.org/officeDocument/2006/relationships/image" Target="../media/image156.wmf"/><Relationship Id="rId20" Type="http://schemas.openxmlformats.org/officeDocument/2006/relationships/oleObject" Target="../embeddings/oleObject180.bin"/><Relationship Id="rId2" Type="http://schemas.openxmlformats.org/officeDocument/2006/relationships/image" Target="../media/image147.wmf"/><Relationship Id="rId19" Type="http://schemas.openxmlformats.org/officeDocument/2006/relationships/image" Target="../media/image155.wmf"/><Relationship Id="rId18" Type="http://schemas.openxmlformats.org/officeDocument/2006/relationships/oleObject" Target="../embeddings/oleObject179.bin"/><Relationship Id="rId17" Type="http://schemas.openxmlformats.org/officeDocument/2006/relationships/oleObject" Target="../embeddings/oleObject178.bin"/><Relationship Id="rId16" Type="http://schemas.openxmlformats.org/officeDocument/2006/relationships/image" Target="../media/image154.wmf"/><Relationship Id="rId15" Type="http://schemas.openxmlformats.org/officeDocument/2006/relationships/oleObject" Target="../embeddings/oleObject177.bin"/><Relationship Id="rId14" Type="http://schemas.openxmlformats.org/officeDocument/2006/relationships/image" Target="../media/image153.wmf"/><Relationship Id="rId13" Type="http://schemas.openxmlformats.org/officeDocument/2006/relationships/oleObject" Target="../embeddings/oleObject176.bin"/><Relationship Id="rId12" Type="http://schemas.openxmlformats.org/officeDocument/2006/relationships/image" Target="../media/image152.wmf"/><Relationship Id="rId11" Type="http://schemas.openxmlformats.org/officeDocument/2006/relationships/oleObject" Target="../embeddings/oleObject175.bin"/><Relationship Id="rId10" Type="http://schemas.openxmlformats.org/officeDocument/2006/relationships/image" Target="../media/image151.wmf"/><Relationship Id="rId1" Type="http://schemas.openxmlformats.org/officeDocument/2006/relationships/oleObject" Target="../embeddings/oleObject170.bin"/></Relationships>
</file>

<file path=ppt/slides/_rels/slide107.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14.xml"/><Relationship Id="rId6" Type="http://schemas.openxmlformats.org/officeDocument/2006/relationships/image" Target="../media/image162.wmf"/><Relationship Id="rId5" Type="http://schemas.openxmlformats.org/officeDocument/2006/relationships/oleObject" Target="../embeddings/oleObject188.bin"/><Relationship Id="rId4" Type="http://schemas.openxmlformats.org/officeDocument/2006/relationships/image" Target="../media/image161.wmf"/><Relationship Id="rId3" Type="http://schemas.openxmlformats.org/officeDocument/2006/relationships/oleObject" Target="../embeddings/oleObject187.bin"/><Relationship Id="rId2" Type="http://schemas.openxmlformats.org/officeDocument/2006/relationships/image" Target="../media/image160.wmf"/><Relationship Id="rId1" Type="http://schemas.openxmlformats.org/officeDocument/2006/relationships/oleObject" Target="../embeddings/oleObject186.bin"/></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66.wmf"/><Relationship Id="rId7" Type="http://schemas.openxmlformats.org/officeDocument/2006/relationships/oleObject" Target="../embeddings/oleObject192.bin"/><Relationship Id="rId6" Type="http://schemas.openxmlformats.org/officeDocument/2006/relationships/image" Target="../media/image165.wmf"/><Relationship Id="rId5" Type="http://schemas.openxmlformats.org/officeDocument/2006/relationships/oleObject" Target="../embeddings/oleObject191.bin"/><Relationship Id="rId4" Type="http://schemas.openxmlformats.org/officeDocument/2006/relationships/image" Target="../media/image164.wmf"/><Relationship Id="rId3" Type="http://schemas.openxmlformats.org/officeDocument/2006/relationships/oleObject" Target="../embeddings/oleObject190.bin"/><Relationship Id="rId2" Type="http://schemas.openxmlformats.org/officeDocument/2006/relationships/image" Target="../media/image163.wmf"/><Relationship Id="rId10" Type="http://schemas.openxmlformats.org/officeDocument/2006/relationships/vmlDrawing" Target="../drawings/vmlDrawing32.vml"/><Relationship Id="rId1" Type="http://schemas.openxmlformats.org/officeDocument/2006/relationships/oleObject" Target="../embeddings/oleObject189.bin"/></Relationships>
</file>

<file path=ppt/slides/_rels/slide111.xml.rels><?xml version="1.0" encoding="UTF-8" standalone="yes"?>
<Relationships xmlns="http://schemas.openxmlformats.org/package/2006/relationships"><Relationship Id="rId9" Type="http://schemas.openxmlformats.org/officeDocument/2006/relationships/oleObject" Target="../embeddings/oleObject197.bin"/><Relationship Id="rId8" Type="http://schemas.openxmlformats.org/officeDocument/2006/relationships/image" Target="../media/image170.wmf"/><Relationship Id="rId7" Type="http://schemas.openxmlformats.org/officeDocument/2006/relationships/oleObject" Target="../embeddings/oleObject196.bin"/><Relationship Id="rId6" Type="http://schemas.openxmlformats.org/officeDocument/2006/relationships/image" Target="../media/image169.wmf"/><Relationship Id="rId5" Type="http://schemas.openxmlformats.org/officeDocument/2006/relationships/oleObject" Target="../embeddings/oleObject195.bin"/><Relationship Id="rId4" Type="http://schemas.openxmlformats.org/officeDocument/2006/relationships/image" Target="../media/image168.wmf"/><Relationship Id="rId3" Type="http://schemas.openxmlformats.org/officeDocument/2006/relationships/oleObject" Target="../embeddings/oleObject194.bin"/><Relationship Id="rId2" Type="http://schemas.openxmlformats.org/officeDocument/2006/relationships/image" Target="../media/image167.wmf"/><Relationship Id="rId12" Type="http://schemas.openxmlformats.org/officeDocument/2006/relationships/vmlDrawing" Target="../drawings/vmlDrawing33.vml"/><Relationship Id="rId11" Type="http://schemas.openxmlformats.org/officeDocument/2006/relationships/slideLayout" Target="../slideLayouts/slideLayout2.xml"/><Relationship Id="rId10" Type="http://schemas.openxmlformats.org/officeDocument/2006/relationships/image" Target="../media/image171.wmf"/><Relationship Id="rId1" Type="http://schemas.openxmlformats.org/officeDocument/2006/relationships/oleObject" Target="../embeddings/oleObject193.bin"/></Relationships>
</file>

<file path=ppt/slides/_rels/slide112.xml.rels><?xml version="1.0" encoding="UTF-8" standalone="yes"?>
<Relationships xmlns="http://schemas.openxmlformats.org/package/2006/relationships"><Relationship Id="rId9" Type="http://schemas.openxmlformats.org/officeDocument/2006/relationships/oleObject" Target="../embeddings/oleObject202.bin"/><Relationship Id="rId8" Type="http://schemas.openxmlformats.org/officeDocument/2006/relationships/image" Target="../media/image175.wmf"/><Relationship Id="rId7" Type="http://schemas.openxmlformats.org/officeDocument/2006/relationships/oleObject" Target="../embeddings/oleObject201.bin"/><Relationship Id="rId6" Type="http://schemas.openxmlformats.org/officeDocument/2006/relationships/image" Target="../media/image174.wmf"/><Relationship Id="rId5" Type="http://schemas.openxmlformats.org/officeDocument/2006/relationships/oleObject" Target="../embeddings/oleObject200.bin"/><Relationship Id="rId4" Type="http://schemas.openxmlformats.org/officeDocument/2006/relationships/image" Target="../media/image173.wmf"/><Relationship Id="rId3" Type="http://schemas.openxmlformats.org/officeDocument/2006/relationships/oleObject" Target="../embeddings/oleObject199.bin"/><Relationship Id="rId2" Type="http://schemas.openxmlformats.org/officeDocument/2006/relationships/image" Target="../media/image172.wmf"/><Relationship Id="rId12" Type="http://schemas.openxmlformats.org/officeDocument/2006/relationships/vmlDrawing" Target="../drawings/vmlDrawing34.vml"/><Relationship Id="rId11" Type="http://schemas.openxmlformats.org/officeDocument/2006/relationships/slideLayout" Target="../slideLayouts/slideLayout2.xml"/><Relationship Id="rId10" Type="http://schemas.openxmlformats.org/officeDocument/2006/relationships/oleObject" Target="../embeddings/oleObject203.bin"/><Relationship Id="rId1" Type="http://schemas.openxmlformats.org/officeDocument/2006/relationships/oleObject" Target="../embeddings/oleObject198.bin"/></Relationships>
</file>

<file path=ppt/slides/_rels/slide1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79.wmf"/><Relationship Id="rId7" Type="http://schemas.openxmlformats.org/officeDocument/2006/relationships/oleObject" Target="../embeddings/oleObject207.bin"/><Relationship Id="rId6" Type="http://schemas.openxmlformats.org/officeDocument/2006/relationships/image" Target="../media/image178.wmf"/><Relationship Id="rId5" Type="http://schemas.openxmlformats.org/officeDocument/2006/relationships/oleObject" Target="../embeddings/oleObject206.bin"/><Relationship Id="rId4" Type="http://schemas.openxmlformats.org/officeDocument/2006/relationships/image" Target="../media/image177.wmf"/><Relationship Id="rId3" Type="http://schemas.openxmlformats.org/officeDocument/2006/relationships/oleObject" Target="../embeddings/oleObject205.bin"/><Relationship Id="rId2" Type="http://schemas.openxmlformats.org/officeDocument/2006/relationships/image" Target="../media/image176.wmf"/><Relationship Id="rId10" Type="http://schemas.openxmlformats.org/officeDocument/2006/relationships/vmlDrawing" Target="../drawings/vmlDrawing35.vml"/><Relationship Id="rId1" Type="http://schemas.openxmlformats.org/officeDocument/2006/relationships/oleObject" Target="../embeddings/oleObject204.bin"/></Relationships>
</file>

<file path=ppt/slides/_rels/slide114.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2.xml"/><Relationship Id="rId2" Type="http://schemas.openxmlformats.org/officeDocument/2006/relationships/image" Target="../media/image180.emf"/><Relationship Id="rId1" Type="http://schemas.openxmlformats.org/officeDocument/2006/relationships/oleObject" Target="../embeddings/oleObject208.bin"/></Relationships>
</file>

<file path=ppt/slides/_rels/slide1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3.wmf"/><Relationship Id="rId7" Type="http://schemas.openxmlformats.org/officeDocument/2006/relationships/oleObject" Target="../embeddings/oleObject212.bin"/><Relationship Id="rId6" Type="http://schemas.openxmlformats.org/officeDocument/2006/relationships/image" Target="../media/image179.wmf"/><Relationship Id="rId5" Type="http://schemas.openxmlformats.org/officeDocument/2006/relationships/oleObject" Target="../embeddings/oleObject211.bin"/><Relationship Id="rId4" Type="http://schemas.openxmlformats.org/officeDocument/2006/relationships/image" Target="../media/image182.wmf"/><Relationship Id="rId3" Type="http://schemas.openxmlformats.org/officeDocument/2006/relationships/oleObject" Target="../embeddings/oleObject210.bin"/><Relationship Id="rId2" Type="http://schemas.openxmlformats.org/officeDocument/2006/relationships/image" Target="../media/image181.wmf"/><Relationship Id="rId10" Type="http://schemas.openxmlformats.org/officeDocument/2006/relationships/vmlDrawing" Target="../drawings/vmlDrawing37.vml"/><Relationship Id="rId1" Type="http://schemas.openxmlformats.org/officeDocument/2006/relationships/oleObject" Target="../embeddings/oleObject209.bin"/></Relationships>
</file>

<file path=ppt/slides/_rels/slide116.xml.rels><?xml version="1.0" encoding="UTF-8" standalone="yes"?>
<Relationships xmlns="http://schemas.openxmlformats.org/package/2006/relationships"><Relationship Id="rId4" Type="http://schemas.openxmlformats.org/officeDocument/2006/relationships/vmlDrawing" Target="../drawings/vmlDrawing38.vml"/><Relationship Id="rId3" Type="http://schemas.openxmlformats.org/officeDocument/2006/relationships/slideLayout" Target="../slideLayouts/slideLayout2.xml"/><Relationship Id="rId2" Type="http://schemas.openxmlformats.org/officeDocument/2006/relationships/image" Target="../media/image184.emf"/><Relationship Id="rId1" Type="http://schemas.openxmlformats.org/officeDocument/2006/relationships/oleObject" Target="../embeddings/oleObject213.bin"/></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7.wmf"/><Relationship Id="rId7" Type="http://schemas.openxmlformats.org/officeDocument/2006/relationships/oleObject" Target="../embeddings/oleObject217.bin"/><Relationship Id="rId6" Type="http://schemas.openxmlformats.org/officeDocument/2006/relationships/image" Target="../media/image110.wmf"/><Relationship Id="rId5" Type="http://schemas.openxmlformats.org/officeDocument/2006/relationships/oleObject" Target="../embeddings/oleObject216.bin"/><Relationship Id="rId4" Type="http://schemas.openxmlformats.org/officeDocument/2006/relationships/image" Target="../media/image186.wmf"/><Relationship Id="rId3" Type="http://schemas.openxmlformats.org/officeDocument/2006/relationships/oleObject" Target="../embeddings/oleObject215.bin"/><Relationship Id="rId2" Type="http://schemas.openxmlformats.org/officeDocument/2006/relationships/image" Target="../media/image185.wmf"/><Relationship Id="rId10" Type="http://schemas.openxmlformats.org/officeDocument/2006/relationships/vmlDrawing" Target="../drawings/vmlDrawing39.vml"/><Relationship Id="rId1" Type="http://schemas.openxmlformats.org/officeDocument/2006/relationships/oleObject" Target="../embeddings/oleObject214.bin"/></Relationships>
</file>

<file path=ppt/slides/_rels/slide119.xml.rels><?xml version="1.0" encoding="UTF-8" standalone="yes"?>
<Relationships xmlns="http://schemas.openxmlformats.org/package/2006/relationships"><Relationship Id="rId9" Type="http://schemas.openxmlformats.org/officeDocument/2006/relationships/oleObject" Target="../embeddings/oleObject222.bin"/><Relationship Id="rId8" Type="http://schemas.openxmlformats.org/officeDocument/2006/relationships/image" Target="../media/image191.wmf"/><Relationship Id="rId7" Type="http://schemas.openxmlformats.org/officeDocument/2006/relationships/oleObject" Target="../embeddings/oleObject221.bin"/><Relationship Id="rId6" Type="http://schemas.openxmlformats.org/officeDocument/2006/relationships/image" Target="../media/image190.wmf"/><Relationship Id="rId5" Type="http://schemas.openxmlformats.org/officeDocument/2006/relationships/oleObject" Target="../embeddings/oleObject220.bin"/><Relationship Id="rId4" Type="http://schemas.openxmlformats.org/officeDocument/2006/relationships/image" Target="../media/image189.wmf"/><Relationship Id="rId3" Type="http://schemas.openxmlformats.org/officeDocument/2006/relationships/oleObject" Target="../embeddings/oleObject219.bin"/><Relationship Id="rId2" Type="http://schemas.openxmlformats.org/officeDocument/2006/relationships/image" Target="../media/image188.wmf"/><Relationship Id="rId12" Type="http://schemas.openxmlformats.org/officeDocument/2006/relationships/vmlDrawing" Target="../drawings/vmlDrawing40.vml"/><Relationship Id="rId11" Type="http://schemas.openxmlformats.org/officeDocument/2006/relationships/slideLayout" Target="../slideLayouts/slideLayout2.xml"/><Relationship Id="rId10" Type="http://schemas.openxmlformats.org/officeDocument/2006/relationships/image" Target="../media/image134.wmf"/><Relationship Id="rId1" Type="http://schemas.openxmlformats.org/officeDocument/2006/relationships/oleObject" Target="../embeddings/oleObject218.bin"/></Relationships>
</file>

<file path=ppt/slides/_rels/slide12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34.wmf"/><Relationship Id="rId7" Type="http://schemas.openxmlformats.org/officeDocument/2006/relationships/oleObject" Target="../embeddings/oleObject226.bin"/><Relationship Id="rId6" Type="http://schemas.openxmlformats.org/officeDocument/2006/relationships/image" Target="../media/image139.wmf"/><Relationship Id="rId5" Type="http://schemas.openxmlformats.org/officeDocument/2006/relationships/oleObject" Target="../embeddings/oleObject225.bin"/><Relationship Id="rId4" Type="http://schemas.openxmlformats.org/officeDocument/2006/relationships/image" Target="../media/image193.wmf"/><Relationship Id="rId3" Type="http://schemas.openxmlformats.org/officeDocument/2006/relationships/oleObject" Target="../embeddings/oleObject224.bin"/><Relationship Id="rId2" Type="http://schemas.openxmlformats.org/officeDocument/2006/relationships/image" Target="../media/image192.wmf"/><Relationship Id="rId10" Type="http://schemas.openxmlformats.org/officeDocument/2006/relationships/vmlDrawing" Target="../drawings/vmlDrawing41.vml"/><Relationship Id="rId1" Type="http://schemas.openxmlformats.org/officeDocument/2006/relationships/oleObject" Target="../embeddings/oleObject223.bin"/></Relationships>
</file>

<file path=ppt/slides/_rels/slide121.xml.rels><?xml version="1.0" encoding="UTF-8" standalone="yes"?>
<Relationships xmlns="http://schemas.openxmlformats.org/package/2006/relationships"><Relationship Id="rId4" Type="http://schemas.openxmlformats.org/officeDocument/2006/relationships/vmlDrawing" Target="../drawings/vmlDrawing42.vml"/><Relationship Id="rId3" Type="http://schemas.openxmlformats.org/officeDocument/2006/relationships/slideLayout" Target="../slideLayouts/slideLayout2.xml"/><Relationship Id="rId2" Type="http://schemas.openxmlformats.org/officeDocument/2006/relationships/image" Target="../media/image194.wmf"/><Relationship Id="rId1" Type="http://schemas.openxmlformats.org/officeDocument/2006/relationships/oleObject" Target="../embeddings/oleObject227.bin"/></Relationships>
</file>

<file path=ppt/slides/_rels/slide122.xml.rels><?xml version="1.0" encoding="UTF-8" standalone="yes"?>
<Relationships xmlns="http://schemas.openxmlformats.org/package/2006/relationships"><Relationship Id="rId6" Type="http://schemas.openxmlformats.org/officeDocument/2006/relationships/vmlDrawing" Target="../drawings/vmlDrawing43.vml"/><Relationship Id="rId5" Type="http://schemas.openxmlformats.org/officeDocument/2006/relationships/slideLayout" Target="../slideLayouts/slideLayout2.xml"/><Relationship Id="rId4" Type="http://schemas.openxmlformats.org/officeDocument/2006/relationships/image" Target="../media/image196.wmf"/><Relationship Id="rId3" Type="http://schemas.openxmlformats.org/officeDocument/2006/relationships/oleObject" Target="../embeddings/oleObject229.bin"/><Relationship Id="rId2" Type="http://schemas.openxmlformats.org/officeDocument/2006/relationships/image" Target="../media/image195.wmf"/><Relationship Id="rId1" Type="http://schemas.openxmlformats.org/officeDocument/2006/relationships/oleObject" Target="../embeddings/oleObject228.bin"/></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2.xml"/><Relationship Id="rId2" Type="http://schemas.openxmlformats.org/officeDocument/2006/relationships/image" Target="../media/image197.emf"/><Relationship Id="rId1" Type="http://schemas.openxmlformats.org/officeDocument/2006/relationships/oleObject" Target="../embeddings/oleObject230.bin"/></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2.xml"/><Relationship Id="rId2" Type="http://schemas.openxmlformats.org/officeDocument/2006/relationships/image" Target="../media/image198.wmf"/><Relationship Id="rId1" Type="http://schemas.openxmlformats.org/officeDocument/2006/relationships/oleObject" Target="../embeddings/oleObject231.bin"/></Relationships>
</file>

<file path=ppt/slides/_rels/slide128.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2.xml"/><Relationship Id="rId4" Type="http://schemas.openxmlformats.org/officeDocument/2006/relationships/image" Target="../media/image134.wmf"/><Relationship Id="rId3" Type="http://schemas.openxmlformats.org/officeDocument/2006/relationships/oleObject" Target="../embeddings/oleObject233.bin"/><Relationship Id="rId2" Type="http://schemas.openxmlformats.org/officeDocument/2006/relationships/image" Target="../media/image139.wmf"/><Relationship Id="rId1" Type="http://schemas.openxmlformats.org/officeDocument/2006/relationships/oleObject" Target="../embeddings/oleObject232.bin"/></Relationships>
</file>

<file path=ppt/slides/_rels/slide12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00.wmf"/><Relationship Id="rId7" Type="http://schemas.openxmlformats.org/officeDocument/2006/relationships/oleObject" Target="../embeddings/oleObject237.bin"/><Relationship Id="rId6" Type="http://schemas.openxmlformats.org/officeDocument/2006/relationships/image" Target="../media/image134.wmf"/><Relationship Id="rId5" Type="http://schemas.openxmlformats.org/officeDocument/2006/relationships/oleObject" Target="../embeddings/oleObject236.bin"/><Relationship Id="rId4" Type="http://schemas.openxmlformats.org/officeDocument/2006/relationships/image" Target="../media/image139.wmf"/><Relationship Id="rId3" Type="http://schemas.openxmlformats.org/officeDocument/2006/relationships/oleObject" Target="../embeddings/oleObject235.bin"/><Relationship Id="rId2" Type="http://schemas.openxmlformats.org/officeDocument/2006/relationships/image" Target="../media/image199.wmf"/><Relationship Id="rId10" Type="http://schemas.openxmlformats.org/officeDocument/2006/relationships/vmlDrawing" Target="../drawings/vmlDrawing47.vml"/><Relationship Id="rId1" Type="http://schemas.openxmlformats.org/officeDocument/2006/relationships/oleObject" Target="../embeddings/oleObject234.bin"/></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48.vml"/><Relationship Id="rId3" Type="http://schemas.openxmlformats.org/officeDocument/2006/relationships/slideLayout" Target="../slideLayouts/slideLayout2.xml"/><Relationship Id="rId2" Type="http://schemas.openxmlformats.org/officeDocument/2006/relationships/image" Target="../media/image194.wmf"/><Relationship Id="rId1" Type="http://schemas.openxmlformats.org/officeDocument/2006/relationships/oleObject" Target="../embeddings/oleObject238.bin"/></Relationships>
</file>

<file path=ppt/slides/_rels/slide131.xml.rels><?xml version="1.0" encoding="UTF-8" standalone="yes"?>
<Relationships xmlns="http://schemas.openxmlformats.org/package/2006/relationships"><Relationship Id="rId6" Type="http://schemas.openxmlformats.org/officeDocument/2006/relationships/vmlDrawing" Target="../drawings/vmlDrawing49.vml"/><Relationship Id="rId5" Type="http://schemas.openxmlformats.org/officeDocument/2006/relationships/slideLayout" Target="../slideLayouts/slideLayout2.xml"/><Relationship Id="rId4" Type="http://schemas.openxmlformats.org/officeDocument/2006/relationships/image" Target="../media/image201.wmf"/><Relationship Id="rId3" Type="http://schemas.openxmlformats.org/officeDocument/2006/relationships/oleObject" Target="../embeddings/oleObject240.bin"/><Relationship Id="rId2" Type="http://schemas.openxmlformats.org/officeDocument/2006/relationships/image" Target="../media/image195.wmf"/><Relationship Id="rId1" Type="http://schemas.openxmlformats.org/officeDocument/2006/relationships/oleObject" Target="../embeddings/oleObject239.bin"/></Relationships>
</file>

<file path=ppt/slides/_rels/slide132.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2.xml"/><Relationship Id="rId2" Type="http://schemas.openxmlformats.org/officeDocument/2006/relationships/image" Target="../media/image202.wmf"/><Relationship Id="rId1" Type="http://schemas.openxmlformats.org/officeDocument/2006/relationships/oleObject" Target="../embeddings/oleObject241.bin"/></Relationships>
</file>

<file path=ppt/slides/_rels/slide133.xml.rels><?xml version="1.0" encoding="UTF-8" standalone="yes"?>
<Relationships xmlns="http://schemas.openxmlformats.org/package/2006/relationships"><Relationship Id="rId4" Type="http://schemas.openxmlformats.org/officeDocument/2006/relationships/vmlDrawing" Target="../drawings/vmlDrawing51.vml"/><Relationship Id="rId3" Type="http://schemas.openxmlformats.org/officeDocument/2006/relationships/slideLayout" Target="../slideLayouts/slideLayout2.xml"/><Relationship Id="rId2" Type="http://schemas.openxmlformats.org/officeDocument/2006/relationships/image" Target="../media/image203.emf"/><Relationship Id="rId1" Type="http://schemas.openxmlformats.org/officeDocument/2006/relationships/oleObject" Target="../embeddings/oleObject242.bin"/></Relationships>
</file>

<file path=ppt/slides/_rels/slide134.xml.rels><?xml version="1.0" encoding="UTF-8" standalone="yes"?>
<Relationships xmlns="http://schemas.openxmlformats.org/package/2006/relationships"><Relationship Id="rId8" Type="http://schemas.openxmlformats.org/officeDocument/2006/relationships/vmlDrawing" Target="../drawings/vmlDrawing52.vml"/><Relationship Id="rId7" Type="http://schemas.openxmlformats.org/officeDocument/2006/relationships/slideLayout" Target="../slideLayouts/slideLayout2.xml"/><Relationship Id="rId6" Type="http://schemas.openxmlformats.org/officeDocument/2006/relationships/image" Target="../media/image206.wmf"/><Relationship Id="rId5" Type="http://schemas.openxmlformats.org/officeDocument/2006/relationships/oleObject" Target="../embeddings/oleObject245.bin"/><Relationship Id="rId4" Type="http://schemas.openxmlformats.org/officeDocument/2006/relationships/image" Target="../media/image205.wmf"/><Relationship Id="rId3" Type="http://schemas.openxmlformats.org/officeDocument/2006/relationships/oleObject" Target="../embeddings/oleObject244.bin"/><Relationship Id="rId2" Type="http://schemas.openxmlformats.org/officeDocument/2006/relationships/image" Target="../media/image204.wmf"/><Relationship Id="rId1" Type="http://schemas.openxmlformats.org/officeDocument/2006/relationships/oleObject" Target="../embeddings/oleObject243.bin"/></Relationships>
</file>

<file path=ppt/slides/_rels/slide135.xml.rels><?xml version="1.0" encoding="UTF-8" standalone="yes"?>
<Relationships xmlns="http://schemas.openxmlformats.org/package/2006/relationships"><Relationship Id="rId4" Type="http://schemas.openxmlformats.org/officeDocument/2006/relationships/vmlDrawing" Target="../drawings/vmlDrawing53.vml"/><Relationship Id="rId3" Type="http://schemas.openxmlformats.org/officeDocument/2006/relationships/slideLayout" Target="../slideLayouts/slideLayout2.xml"/><Relationship Id="rId2" Type="http://schemas.openxmlformats.org/officeDocument/2006/relationships/image" Target="../media/image207.wmf"/><Relationship Id="rId1" Type="http://schemas.openxmlformats.org/officeDocument/2006/relationships/oleObject" Target="../embeddings/oleObject246.bin"/></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08.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8" Type="http://schemas.openxmlformats.org/officeDocument/2006/relationships/vmlDrawing" Target="../drawings/vmlDrawing54.vml"/><Relationship Id="rId7" Type="http://schemas.openxmlformats.org/officeDocument/2006/relationships/slideLayout" Target="../slideLayouts/slideLayout2.xml"/><Relationship Id="rId6" Type="http://schemas.openxmlformats.org/officeDocument/2006/relationships/image" Target="../media/image205.wmf"/><Relationship Id="rId5" Type="http://schemas.openxmlformats.org/officeDocument/2006/relationships/oleObject" Target="../embeddings/oleObject249.bin"/><Relationship Id="rId4" Type="http://schemas.openxmlformats.org/officeDocument/2006/relationships/image" Target="../media/image204.wmf"/><Relationship Id="rId3" Type="http://schemas.openxmlformats.org/officeDocument/2006/relationships/oleObject" Target="../embeddings/oleObject248.bin"/><Relationship Id="rId2" Type="http://schemas.openxmlformats.org/officeDocument/2006/relationships/image" Target="../media/image209.wmf"/><Relationship Id="rId1" Type="http://schemas.openxmlformats.org/officeDocument/2006/relationships/oleObject" Target="../embeddings/oleObject247.bin"/></Relationships>
</file>

<file path=ppt/slides/_rels/slide141.xml.rels><?xml version="1.0" encoding="UTF-8" standalone="yes"?>
<Relationships xmlns="http://schemas.openxmlformats.org/package/2006/relationships"><Relationship Id="rId4" Type="http://schemas.openxmlformats.org/officeDocument/2006/relationships/vmlDrawing" Target="../drawings/vmlDrawing55.vml"/><Relationship Id="rId3" Type="http://schemas.openxmlformats.org/officeDocument/2006/relationships/slideLayout" Target="../slideLayouts/slideLayout2.xml"/><Relationship Id="rId2" Type="http://schemas.openxmlformats.org/officeDocument/2006/relationships/image" Target="../media/image210.emf"/><Relationship Id="rId1" Type="http://schemas.openxmlformats.org/officeDocument/2006/relationships/oleObject" Target="../embeddings/oleObject250.bin"/></Relationships>
</file>

<file path=ppt/slides/_rels/slide142.xml.rels><?xml version="1.0" encoding="UTF-8" standalone="yes"?>
<Relationships xmlns="http://schemas.openxmlformats.org/package/2006/relationships"><Relationship Id="rId9" Type="http://schemas.openxmlformats.org/officeDocument/2006/relationships/vmlDrawing" Target="../drawings/vmlDrawing56.vml"/><Relationship Id="rId8" Type="http://schemas.openxmlformats.org/officeDocument/2006/relationships/slideLayout" Target="../slideLayouts/slideLayout2.xml"/><Relationship Id="rId7" Type="http://schemas.openxmlformats.org/officeDocument/2006/relationships/oleObject" Target="../embeddings/oleObject254.bin"/><Relationship Id="rId6" Type="http://schemas.openxmlformats.org/officeDocument/2006/relationships/image" Target="../media/image212.wmf"/><Relationship Id="rId5" Type="http://schemas.openxmlformats.org/officeDocument/2006/relationships/oleObject" Target="../embeddings/oleObject253.bin"/><Relationship Id="rId4" Type="http://schemas.openxmlformats.org/officeDocument/2006/relationships/image" Target="../media/image211.wmf"/><Relationship Id="rId3" Type="http://schemas.openxmlformats.org/officeDocument/2006/relationships/oleObject" Target="../embeddings/oleObject252.bin"/><Relationship Id="rId2" Type="http://schemas.openxmlformats.org/officeDocument/2006/relationships/image" Target="../media/image120.wmf"/><Relationship Id="rId1" Type="http://schemas.openxmlformats.org/officeDocument/2006/relationships/oleObject" Target="../embeddings/oleObject251.bin"/></Relationships>
</file>

<file path=ppt/slides/_rels/slide143.xml.rels><?xml version="1.0" encoding="UTF-8" standalone="yes"?>
<Relationships xmlns="http://schemas.openxmlformats.org/package/2006/relationships"><Relationship Id="rId9" Type="http://schemas.openxmlformats.org/officeDocument/2006/relationships/oleObject" Target="../embeddings/oleObject259.bin"/><Relationship Id="rId8" Type="http://schemas.openxmlformats.org/officeDocument/2006/relationships/image" Target="../media/image216.wmf"/><Relationship Id="rId7" Type="http://schemas.openxmlformats.org/officeDocument/2006/relationships/oleObject" Target="../embeddings/oleObject258.bin"/><Relationship Id="rId6" Type="http://schemas.openxmlformats.org/officeDocument/2006/relationships/image" Target="../media/image215.wmf"/><Relationship Id="rId5" Type="http://schemas.openxmlformats.org/officeDocument/2006/relationships/oleObject" Target="../embeddings/oleObject257.bin"/><Relationship Id="rId4" Type="http://schemas.openxmlformats.org/officeDocument/2006/relationships/image" Target="../media/image214.wmf"/><Relationship Id="rId3" Type="http://schemas.openxmlformats.org/officeDocument/2006/relationships/oleObject" Target="../embeddings/oleObject256.bin"/><Relationship Id="rId2" Type="http://schemas.openxmlformats.org/officeDocument/2006/relationships/image" Target="../media/image213.wmf"/><Relationship Id="rId12" Type="http://schemas.openxmlformats.org/officeDocument/2006/relationships/vmlDrawing" Target="../drawings/vmlDrawing57.vml"/><Relationship Id="rId11" Type="http://schemas.openxmlformats.org/officeDocument/2006/relationships/slideLayout" Target="../slideLayouts/slideLayout2.xml"/><Relationship Id="rId10" Type="http://schemas.openxmlformats.org/officeDocument/2006/relationships/image" Target="../media/image217.wmf"/><Relationship Id="rId1" Type="http://schemas.openxmlformats.org/officeDocument/2006/relationships/oleObject" Target="../embeddings/oleObject255.bin"/></Relationships>
</file>

<file path=ppt/slides/_rels/slide144.xml.rels><?xml version="1.0" encoding="UTF-8" standalone="yes"?>
<Relationships xmlns="http://schemas.openxmlformats.org/package/2006/relationships"><Relationship Id="rId8" Type="http://schemas.openxmlformats.org/officeDocument/2006/relationships/vmlDrawing" Target="../drawings/vmlDrawing58.vml"/><Relationship Id="rId7" Type="http://schemas.openxmlformats.org/officeDocument/2006/relationships/slideLayout" Target="../slideLayouts/slideLayout2.xml"/><Relationship Id="rId6" Type="http://schemas.openxmlformats.org/officeDocument/2006/relationships/image" Target="../media/image109.wmf"/><Relationship Id="rId5" Type="http://schemas.openxmlformats.org/officeDocument/2006/relationships/oleObject" Target="../embeddings/oleObject262.bin"/><Relationship Id="rId4" Type="http://schemas.openxmlformats.org/officeDocument/2006/relationships/image" Target="../media/image108.wmf"/><Relationship Id="rId3" Type="http://schemas.openxmlformats.org/officeDocument/2006/relationships/oleObject" Target="../embeddings/oleObject261.bin"/><Relationship Id="rId2" Type="http://schemas.openxmlformats.org/officeDocument/2006/relationships/image" Target="../media/image218.wmf"/><Relationship Id="rId1" Type="http://schemas.openxmlformats.org/officeDocument/2006/relationships/oleObject" Target="../embeddings/oleObject260.bin"/></Relationships>
</file>

<file path=ppt/slides/_rels/slide145.xml.rels><?xml version="1.0" encoding="UTF-8" standalone="yes"?>
<Relationships xmlns="http://schemas.openxmlformats.org/package/2006/relationships"><Relationship Id="rId4" Type="http://schemas.openxmlformats.org/officeDocument/2006/relationships/vmlDrawing" Target="../drawings/vmlDrawing59.vml"/><Relationship Id="rId3" Type="http://schemas.openxmlformats.org/officeDocument/2006/relationships/slideLayout" Target="../slideLayouts/slideLayout2.xml"/><Relationship Id="rId2" Type="http://schemas.openxmlformats.org/officeDocument/2006/relationships/image" Target="../media/image219.wmf"/><Relationship Id="rId1" Type="http://schemas.openxmlformats.org/officeDocument/2006/relationships/oleObject" Target="../embeddings/oleObject263.bin"/></Relationships>
</file>

<file path=ppt/slides/_rels/slide146.xml.rels><?xml version="1.0" encoding="UTF-8" standalone="yes"?>
<Relationships xmlns="http://schemas.openxmlformats.org/package/2006/relationships"><Relationship Id="rId4" Type="http://schemas.openxmlformats.org/officeDocument/2006/relationships/vmlDrawing" Target="../drawings/vmlDrawing60.vml"/><Relationship Id="rId3" Type="http://schemas.openxmlformats.org/officeDocument/2006/relationships/slideLayout" Target="../slideLayouts/slideLayout2.xml"/><Relationship Id="rId2" Type="http://schemas.openxmlformats.org/officeDocument/2006/relationships/image" Target="../media/image220.emf"/><Relationship Id="rId1" Type="http://schemas.openxmlformats.org/officeDocument/2006/relationships/oleObject" Target="../embeddings/oleObject264.bin"/></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3.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image" Target="../media/image224.wmf"/><Relationship Id="rId7" Type="http://schemas.openxmlformats.org/officeDocument/2006/relationships/oleObject" Target="../embeddings/oleObject268.bin"/><Relationship Id="rId6" Type="http://schemas.openxmlformats.org/officeDocument/2006/relationships/image" Target="../media/image223.wmf"/><Relationship Id="rId5" Type="http://schemas.openxmlformats.org/officeDocument/2006/relationships/oleObject" Target="../embeddings/oleObject267.bin"/><Relationship Id="rId4" Type="http://schemas.openxmlformats.org/officeDocument/2006/relationships/image" Target="../media/image222.wmf"/><Relationship Id="rId3" Type="http://schemas.openxmlformats.org/officeDocument/2006/relationships/oleObject" Target="../embeddings/oleObject266.bin"/><Relationship Id="rId2" Type="http://schemas.openxmlformats.org/officeDocument/2006/relationships/image" Target="../media/image221.wmf"/><Relationship Id="rId10" Type="http://schemas.openxmlformats.org/officeDocument/2006/relationships/vmlDrawing" Target="../drawings/vmlDrawing61.vml"/><Relationship Id="rId1" Type="http://schemas.openxmlformats.org/officeDocument/2006/relationships/oleObject" Target="../embeddings/oleObject265.bin"/></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4" Type="http://schemas.openxmlformats.org/officeDocument/2006/relationships/vmlDrawing" Target="../drawings/vmlDrawing62.vml"/><Relationship Id="rId3" Type="http://schemas.openxmlformats.org/officeDocument/2006/relationships/slideLayout" Target="../slideLayouts/slideLayout2.xml"/><Relationship Id="rId2" Type="http://schemas.openxmlformats.org/officeDocument/2006/relationships/image" Target="../media/image225.emf"/><Relationship Id="rId1" Type="http://schemas.openxmlformats.org/officeDocument/2006/relationships/oleObject" Target="../embeddings/oleObject269.bin"/></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6.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8" Type="http://schemas.openxmlformats.org/officeDocument/2006/relationships/vmlDrawing" Target="../drawings/vmlDrawing63.vml"/><Relationship Id="rId7" Type="http://schemas.openxmlformats.org/officeDocument/2006/relationships/slideLayout" Target="../slideLayouts/slideLayout2.xml"/><Relationship Id="rId6" Type="http://schemas.openxmlformats.org/officeDocument/2006/relationships/image" Target="../media/image229.wmf"/><Relationship Id="rId5" Type="http://schemas.openxmlformats.org/officeDocument/2006/relationships/oleObject" Target="../embeddings/oleObject272.bin"/><Relationship Id="rId4" Type="http://schemas.openxmlformats.org/officeDocument/2006/relationships/image" Target="../media/image228.wmf"/><Relationship Id="rId3" Type="http://schemas.openxmlformats.org/officeDocument/2006/relationships/oleObject" Target="../embeddings/oleObject271.bin"/><Relationship Id="rId2" Type="http://schemas.openxmlformats.org/officeDocument/2006/relationships/image" Target="../media/image227.wmf"/><Relationship Id="rId1" Type="http://schemas.openxmlformats.org/officeDocument/2006/relationships/oleObject" Target="../embeddings/oleObject270.bin"/></Relationships>
</file>

<file path=ppt/slides/_rels/slide166.xml.rels><?xml version="1.0" encoding="UTF-8" standalone="yes"?>
<Relationships xmlns="http://schemas.openxmlformats.org/package/2006/relationships"><Relationship Id="rId9" Type="http://schemas.openxmlformats.org/officeDocument/2006/relationships/oleObject" Target="../embeddings/oleObject277.bin"/><Relationship Id="rId8" Type="http://schemas.openxmlformats.org/officeDocument/2006/relationships/image" Target="../media/image233.wmf"/><Relationship Id="rId7" Type="http://schemas.openxmlformats.org/officeDocument/2006/relationships/oleObject" Target="../embeddings/oleObject276.bin"/><Relationship Id="rId6" Type="http://schemas.openxmlformats.org/officeDocument/2006/relationships/image" Target="../media/image232.wmf"/><Relationship Id="rId5" Type="http://schemas.openxmlformats.org/officeDocument/2006/relationships/oleObject" Target="../embeddings/oleObject275.bin"/><Relationship Id="rId4" Type="http://schemas.openxmlformats.org/officeDocument/2006/relationships/image" Target="../media/image231.wmf"/><Relationship Id="rId3" Type="http://schemas.openxmlformats.org/officeDocument/2006/relationships/oleObject" Target="../embeddings/oleObject274.bin"/><Relationship Id="rId2" Type="http://schemas.openxmlformats.org/officeDocument/2006/relationships/image" Target="../media/image230.wmf"/><Relationship Id="rId12" Type="http://schemas.openxmlformats.org/officeDocument/2006/relationships/vmlDrawing" Target="../drawings/vmlDrawing64.vml"/><Relationship Id="rId11" Type="http://schemas.openxmlformats.org/officeDocument/2006/relationships/slideLayout" Target="../slideLayouts/slideLayout2.xml"/><Relationship Id="rId10" Type="http://schemas.openxmlformats.org/officeDocument/2006/relationships/image" Target="../media/image234.wmf"/><Relationship Id="rId1" Type="http://schemas.openxmlformats.org/officeDocument/2006/relationships/oleObject" Target="../embeddings/oleObject273.bin"/></Relationships>
</file>

<file path=ppt/slides/_rels/slide167.xml.rels><?xml version="1.0" encoding="UTF-8" standalone="yes"?>
<Relationships xmlns="http://schemas.openxmlformats.org/package/2006/relationships"><Relationship Id="rId9" Type="http://schemas.openxmlformats.org/officeDocument/2006/relationships/oleObject" Target="../embeddings/oleObject282.bin"/><Relationship Id="rId8" Type="http://schemas.openxmlformats.org/officeDocument/2006/relationships/image" Target="../media/image235.wmf"/><Relationship Id="rId7" Type="http://schemas.openxmlformats.org/officeDocument/2006/relationships/oleObject" Target="../embeddings/oleObject281.bin"/><Relationship Id="rId6" Type="http://schemas.openxmlformats.org/officeDocument/2006/relationships/image" Target="../media/image232.wmf"/><Relationship Id="rId5" Type="http://schemas.openxmlformats.org/officeDocument/2006/relationships/oleObject" Target="../embeddings/oleObject280.bin"/><Relationship Id="rId4" Type="http://schemas.openxmlformats.org/officeDocument/2006/relationships/image" Target="../media/image231.wmf"/><Relationship Id="rId3" Type="http://schemas.openxmlformats.org/officeDocument/2006/relationships/oleObject" Target="../embeddings/oleObject279.bin"/><Relationship Id="rId2" Type="http://schemas.openxmlformats.org/officeDocument/2006/relationships/image" Target="../media/image229.wmf"/><Relationship Id="rId19" Type="http://schemas.openxmlformats.org/officeDocument/2006/relationships/vmlDrawing" Target="../drawings/vmlDrawing65.vml"/><Relationship Id="rId18" Type="http://schemas.openxmlformats.org/officeDocument/2006/relationships/slideLayout" Target="../slideLayouts/slideLayout2.xml"/><Relationship Id="rId17" Type="http://schemas.openxmlformats.org/officeDocument/2006/relationships/oleObject" Target="../embeddings/oleObject287.bin"/><Relationship Id="rId16" Type="http://schemas.openxmlformats.org/officeDocument/2006/relationships/oleObject" Target="../embeddings/oleObject286.bin"/><Relationship Id="rId15" Type="http://schemas.openxmlformats.org/officeDocument/2006/relationships/oleObject" Target="../embeddings/oleObject285.bin"/><Relationship Id="rId14" Type="http://schemas.openxmlformats.org/officeDocument/2006/relationships/image" Target="../media/image238.wmf"/><Relationship Id="rId13" Type="http://schemas.openxmlformats.org/officeDocument/2006/relationships/oleObject" Target="../embeddings/oleObject284.bin"/><Relationship Id="rId12" Type="http://schemas.openxmlformats.org/officeDocument/2006/relationships/image" Target="../media/image237.wmf"/><Relationship Id="rId11" Type="http://schemas.openxmlformats.org/officeDocument/2006/relationships/oleObject" Target="../embeddings/oleObject283.bin"/><Relationship Id="rId10" Type="http://schemas.openxmlformats.org/officeDocument/2006/relationships/image" Target="../media/image236.wmf"/><Relationship Id="rId1" Type="http://schemas.openxmlformats.org/officeDocument/2006/relationships/oleObject" Target="../embeddings/oleObject278.bin"/></Relationships>
</file>

<file path=ppt/slides/_rels/slide168.xml.rels><?xml version="1.0" encoding="UTF-8" standalone="yes"?>
<Relationships xmlns="http://schemas.openxmlformats.org/package/2006/relationships"><Relationship Id="rId4" Type="http://schemas.openxmlformats.org/officeDocument/2006/relationships/vmlDrawing" Target="../drawings/vmlDrawing66.vml"/><Relationship Id="rId3" Type="http://schemas.openxmlformats.org/officeDocument/2006/relationships/slideLayout" Target="../slideLayouts/slideLayout16.xml"/><Relationship Id="rId2" Type="http://schemas.openxmlformats.org/officeDocument/2006/relationships/image" Target="../media/image239.wmf"/><Relationship Id="rId1" Type="http://schemas.openxmlformats.org/officeDocument/2006/relationships/oleObject" Target="../embeddings/oleObject288.bin"/></Relationships>
</file>

<file path=ppt/slides/_rels/slide169.xml.rels><?xml version="1.0" encoding="UTF-8" standalone="yes"?>
<Relationships xmlns="http://schemas.openxmlformats.org/package/2006/relationships"><Relationship Id="rId4" Type="http://schemas.openxmlformats.org/officeDocument/2006/relationships/vmlDrawing" Target="../drawings/vmlDrawing67.vml"/><Relationship Id="rId3" Type="http://schemas.openxmlformats.org/officeDocument/2006/relationships/slideLayout" Target="../slideLayouts/slideLayout2.xml"/><Relationship Id="rId2" Type="http://schemas.openxmlformats.org/officeDocument/2006/relationships/image" Target="../media/image240.wmf"/><Relationship Id="rId1" Type="http://schemas.openxmlformats.org/officeDocument/2006/relationships/oleObject" Target="../embeddings/oleObject289.bin"/></Relationships>
</file>

<file path=ppt/slides/_rels/slide170.xml.rels><?xml version="1.0" encoding="UTF-8" standalone="yes"?>
<Relationships xmlns="http://schemas.openxmlformats.org/package/2006/relationships"><Relationship Id="rId9" Type="http://schemas.openxmlformats.org/officeDocument/2006/relationships/oleObject" Target="../embeddings/oleObject294.bin"/><Relationship Id="rId8" Type="http://schemas.openxmlformats.org/officeDocument/2006/relationships/image" Target="../media/image244.wmf"/><Relationship Id="rId7" Type="http://schemas.openxmlformats.org/officeDocument/2006/relationships/oleObject" Target="../embeddings/oleObject293.bin"/><Relationship Id="rId6" Type="http://schemas.openxmlformats.org/officeDocument/2006/relationships/image" Target="../media/image243.wmf"/><Relationship Id="rId5" Type="http://schemas.openxmlformats.org/officeDocument/2006/relationships/oleObject" Target="../embeddings/oleObject292.bin"/><Relationship Id="rId4" Type="http://schemas.openxmlformats.org/officeDocument/2006/relationships/image" Target="../media/image242.wmf"/><Relationship Id="rId3" Type="http://schemas.openxmlformats.org/officeDocument/2006/relationships/oleObject" Target="../embeddings/oleObject291.bin"/><Relationship Id="rId2" Type="http://schemas.openxmlformats.org/officeDocument/2006/relationships/image" Target="../media/image241.wmf"/><Relationship Id="rId12" Type="http://schemas.openxmlformats.org/officeDocument/2006/relationships/vmlDrawing" Target="../drawings/vmlDrawing68.vml"/><Relationship Id="rId11" Type="http://schemas.openxmlformats.org/officeDocument/2006/relationships/slideLayout" Target="../slideLayouts/slideLayout2.xml"/><Relationship Id="rId10" Type="http://schemas.openxmlformats.org/officeDocument/2006/relationships/image" Target="../media/image245.wmf"/><Relationship Id="rId1" Type="http://schemas.openxmlformats.org/officeDocument/2006/relationships/oleObject" Target="../embeddings/oleObject290.bin"/></Relationships>
</file>

<file path=ppt/slides/_rels/slide171.xml.rels><?xml version="1.0" encoding="UTF-8" standalone="yes"?>
<Relationships xmlns="http://schemas.openxmlformats.org/package/2006/relationships"><Relationship Id="rId4" Type="http://schemas.openxmlformats.org/officeDocument/2006/relationships/vmlDrawing" Target="../drawings/vmlDrawing69.vml"/><Relationship Id="rId3" Type="http://schemas.openxmlformats.org/officeDocument/2006/relationships/slideLayout" Target="../slideLayouts/slideLayout2.xml"/><Relationship Id="rId2" Type="http://schemas.openxmlformats.org/officeDocument/2006/relationships/image" Target="../media/image246.wmf"/><Relationship Id="rId1" Type="http://schemas.openxmlformats.org/officeDocument/2006/relationships/oleObject" Target="../embeddings/oleObject295.bin"/></Relationships>
</file>

<file path=ppt/slides/_rels/slide172.xml.rels><?xml version="1.0" encoding="UTF-8" standalone="yes"?>
<Relationships xmlns="http://schemas.openxmlformats.org/package/2006/relationships"><Relationship Id="rId6" Type="http://schemas.openxmlformats.org/officeDocument/2006/relationships/vmlDrawing" Target="../drawings/vmlDrawing70.vml"/><Relationship Id="rId5" Type="http://schemas.openxmlformats.org/officeDocument/2006/relationships/slideLayout" Target="../slideLayouts/slideLayout2.xml"/><Relationship Id="rId4" Type="http://schemas.openxmlformats.org/officeDocument/2006/relationships/image" Target="../media/image248.wmf"/><Relationship Id="rId3" Type="http://schemas.openxmlformats.org/officeDocument/2006/relationships/oleObject" Target="../embeddings/oleObject297.bin"/><Relationship Id="rId2" Type="http://schemas.openxmlformats.org/officeDocument/2006/relationships/image" Target="../media/image247.wmf"/><Relationship Id="rId1" Type="http://schemas.openxmlformats.org/officeDocument/2006/relationships/oleObject" Target="../embeddings/oleObject296.bin"/></Relationships>
</file>

<file path=ppt/slides/_rels/slide173.xml.rels><?xml version="1.0" encoding="UTF-8" standalone="yes"?>
<Relationships xmlns="http://schemas.openxmlformats.org/package/2006/relationships"><Relationship Id="rId6" Type="http://schemas.openxmlformats.org/officeDocument/2006/relationships/vmlDrawing" Target="../drawings/vmlDrawing71.vml"/><Relationship Id="rId5" Type="http://schemas.openxmlformats.org/officeDocument/2006/relationships/slideLayout" Target="../slideLayouts/slideLayout2.xml"/><Relationship Id="rId4" Type="http://schemas.openxmlformats.org/officeDocument/2006/relationships/image" Target="../media/image249.wmf"/><Relationship Id="rId3" Type="http://schemas.openxmlformats.org/officeDocument/2006/relationships/oleObject" Target="../embeddings/oleObject299.bin"/><Relationship Id="rId2" Type="http://schemas.openxmlformats.org/officeDocument/2006/relationships/image" Target="../media/image245.wmf"/><Relationship Id="rId1" Type="http://schemas.openxmlformats.org/officeDocument/2006/relationships/oleObject" Target="../embeddings/oleObject298.bin"/></Relationships>
</file>

<file path=ppt/slides/_rels/slide174.xml.rels><?xml version="1.0" encoding="UTF-8" standalone="yes"?>
<Relationships xmlns="http://schemas.openxmlformats.org/package/2006/relationships"><Relationship Id="rId6" Type="http://schemas.openxmlformats.org/officeDocument/2006/relationships/vmlDrawing" Target="../drawings/vmlDrawing72.vml"/><Relationship Id="rId5" Type="http://schemas.openxmlformats.org/officeDocument/2006/relationships/slideLayout" Target="../slideLayouts/slideLayout2.xml"/><Relationship Id="rId4" Type="http://schemas.openxmlformats.org/officeDocument/2006/relationships/image" Target="../media/image251.wmf"/><Relationship Id="rId3" Type="http://schemas.openxmlformats.org/officeDocument/2006/relationships/oleObject" Target="../embeddings/oleObject301.bin"/><Relationship Id="rId2" Type="http://schemas.openxmlformats.org/officeDocument/2006/relationships/image" Target="../media/image250.wmf"/><Relationship Id="rId1" Type="http://schemas.openxmlformats.org/officeDocument/2006/relationships/oleObject" Target="../embeddings/oleObject300.bin"/></Relationships>
</file>

<file path=ppt/slides/_rels/slide175.xml.rels><?xml version="1.0" encoding="UTF-8" standalone="yes"?>
<Relationships xmlns="http://schemas.openxmlformats.org/package/2006/relationships"><Relationship Id="rId4" Type="http://schemas.openxmlformats.org/officeDocument/2006/relationships/vmlDrawing" Target="../drawings/vmlDrawing73.vml"/><Relationship Id="rId3" Type="http://schemas.openxmlformats.org/officeDocument/2006/relationships/slideLayout" Target="../slideLayouts/slideLayout2.xml"/><Relationship Id="rId2" Type="http://schemas.openxmlformats.org/officeDocument/2006/relationships/image" Target="../media/image252.wmf"/><Relationship Id="rId1" Type="http://schemas.openxmlformats.org/officeDocument/2006/relationships/oleObject" Target="../embeddings/oleObject302.bin"/></Relationships>
</file>

<file path=ppt/slides/_rels/slide176.xml.rels><?xml version="1.0" encoding="UTF-8" standalone="yes"?>
<Relationships xmlns="http://schemas.openxmlformats.org/package/2006/relationships"><Relationship Id="rId6" Type="http://schemas.openxmlformats.org/officeDocument/2006/relationships/vmlDrawing" Target="../drawings/vmlDrawing74.vml"/><Relationship Id="rId5" Type="http://schemas.openxmlformats.org/officeDocument/2006/relationships/slideLayout" Target="../slideLayouts/slideLayout2.xml"/><Relationship Id="rId4" Type="http://schemas.openxmlformats.org/officeDocument/2006/relationships/image" Target="../media/image254.wmf"/><Relationship Id="rId3" Type="http://schemas.openxmlformats.org/officeDocument/2006/relationships/oleObject" Target="../embeddings/oleObject304.bin"/><Relationship Id="rId2" Type="http://schemas.openxmlformats.org/officeDocument/2006/relationships/image" Target="../media/image253.wmf"/><Relationship Id="rId1" Type="http://schemas.openxmlformats.org/officeDocument/2006/relationships/oleObject" Target="../embeddings/oleObject303.bin"/></Relationships>
</file>

<file path=ppt/slides/_rels/slide177.xml.rels><?xml version="1.0" encoding="UTF-8" standalone="yes"?>
<Relationships xmlns="http://schemas.openxmlformats.org/package/2006/relationships"><Relationship Id="rId6" Type="http://schemas.openxmlformats.org/officeDocument/2006/relationships/vmlDrawing" Target="../drawings/vmlDrawing75.vml"/><Relationship Id="rId5" Type="http://schemas.openxmlformats.org/officeDocument/2006/relationships/slideLayout" Target="../slideLayouts/slideLayout2.xml"/><Relationship Id="rId4" Type="http://schemas.openxmlformats.org/officeDocument/2006/relationships/image" Target="../media/image256.wmf"/><Relationship Id="rId3" Type="http://schemas.openxmlformats.org/officeDocument/2006/relationships/oleObject" Target="../embeddings/oleObject306.bin"/><Relationship Id="rId2" Type="http://schemas.openxmlformats.org/officeDocument/2006/relationships/image" Target="../media/image255.wmf"/><Relationship Id="rId1" Type="http://schemas.openxmlformats.org/officeDocument/2006/relationships/oleObject" Target="../embeddings/oleObject305.bin"/></Relationships>
</file>

<file path=ppt/slides/_rels/slide178.xml.rels><?xml version="1.0" encoding="UTF-8" standalone="yes"?>
<Relationships xmlns="http://schemas.openxmlformats.org/package/2006/relationships"><Relationship Id="rId4" Type="http://schemas.openxmlformats.org/officeDocument/2006/relationships/vmlDrawing" Target="../drawings/vmlDrawing76.vml"/><Relationship Id="rId3" Type="http://schemas.openxmlformats.org/officeDocument/2006/relationships/slideLayout" Target="../slideLayouts/slideLayout2.xml"/><Relationship Id="rId2" Type="http://schemas.openxmlformats.org/officeDocument/2006/relationships/image" Target="../media/image257.wmf"/><Relationship Id="rId1" Type="http://schemas.openxmlformats.org/officeDocument/2006/relationships/oleObject" Target="../embeddings/oleObject307.bin"/></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4" Type="http://schemas.openxmlformats.org/officeDocument/2006/relationships/vmlDrawing" Target="../drawings/vmlDrawing77.vml"/><Relationship Id="rId3" Type="http://schemas.openxmlformats.org/officeDocument/2006/relationships/slideLayout" Target="../slideLayouts/slideLayout2.xml"/><Relationship Id="rId2" Type="http://schemas.openxmlformats.org/officeDocument/2006/relationships/image" Target="../media/image258.emf"/><Relationship Id="rId1" Type="http://schemas.openxmlformats.org/officeDocument/2006/relationships/oleObject" Target="../embeddings/oleObject308.bin"/></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9" Type="http://schemas.openxmlformats.org/officeDocument/2006/relationships/oleObject" Target="../embeddings/oleObject313.bin"/><Relationship Id="rId8" Type="http://schemas.openxmlformats.org/officeDocument/2006/relationships/image" Target="../media/image262.wmf"/><Relationship Id="rId7" Type="http://schemas.openxmlformats.org/officeDocument/2006/relationships/oleObject" Target="../embeddings/oleObject312.bin"/><Relationship Id="rId6" Type="http://schemas.openxmlformats.org/officeDocument/2006/relationships/image" Target="../media/image261.wmf"/><Relationship Id="rId5" Type="http://schemas.openxmlformats.org/officeDocument/2006/relationships/oleObject" Target="../embeddings/oleObject311.bin"/><Relationship Id="rId4" Type="http://schemas.openxmlformats.org/officeDocument/2006/relationships/image" Target="../media/image260.wmf"/><Relationship Id="rId3" Type="http://schemas.openxmlformats.org/officeDocument/2006/relationships/oleObject" Target="../embeddings/oleObject310.bin"/><Relationship Id="rId2" Type="http://schemas.openxmlformats.org/officeDocument/2006/relationships/image" Target="../media/image259.wmf"/><Relationship Id="rId12" Type="http://schemas.openxmlformats.org/officeDocument/2006/relationships/vmlDrawing" Target="../drawings/vmlDrawing78.vml"/><Relationship Id="rId11" Type="http://schemas.openxmlformats.org/officeDocument/2006/relationships/slideLayout" Target="../slideLayouts/slideLayout2.xml"/><Relationship Id="rId10" Type="http://schemas.openxmlformats.org/officeDocument/2006/relationships/image" Target="../media/image263.wmf"/><Relationship Id="rId1" Type="http://schemas.openxmlformats.org/officeDocument/2006/relationships/oleObject" Target="../embeddings/oleObject309.bin"/></Relationships>
</file>

<file path=ppt/slides/_rels/slide196.xml.rels><?xml version="1.0" encoding="UTF-8" standalone="yes"?>
<Relationships xmlns="http://schemas.openxmlformats.org/package/2006/relationships"><Relationship Id="rId4" Type="http://schemas.openxmlformats.org/officeDocument/2006/relationships/vmlDrawing" Target="../drawings/vmlDrawing79.vml"/><Relationship Id="rId3" Type="http://schemas.openxmlformats.org/officeDocument/2006/relationships/slideLayout" Target="../slideLayouts/slideLayout2.xml"/><Relationship Id="rId2" Type="http://schemas.openxmlformats.org/officeDocument/2006/relationships/image" Target="../media/image264.wmf"/><Relationship Id="rId1" Type="http://schemas.openxmlformats.org/officeDocument/2006/relationships/oleObject" Target="../embeddings/oleObject314.bin"/></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内容占位符 2"/>
          <p:cNvSpPr>
            <a:spLocks noGrp="1"/>
          </p:cNvSpPr>
          <p:nvPr>
            <p:ph idx="1"/>
          </p:nvPr>
        </p:nvSpPr>
        <p:spPr>
          <a:ln/>
        </p:spPr>
        <p:txBody>
          <a:bodyPr vert="horz" wrap="square" lIns="91440" tIns="45720" rIns="91440" bIns="45720" anchor="t"/>
          <a:p>
            <a:pPr marL="0" indent="0" algn="ctr">
              <a:lnSpc>
                <a:spcPct val="200000"/>
              </a:lnSpc>
              <a:buNone/>
            </a:pPr>
            <a:r>
              <a:rPr lang="zh-CN" altLang="en-US" sz="4400">
                <a:solidFill>
                  <a:schemeClr val="tx1"/>
                </a:solidFill>
              </a:rPr>
              <a:t>数学建模国赛入门及备战课</a:t>
            </a:r>
            <a:endParaRPr lang="zh-CN" altLang="en-US" sz="4400">
              <a:solidFill>
                <a:schemeClr val="tx1"/>
              </a:solidFill>
            </a:endParaRPr>
          </a:p>
          <a:p>
            <a:pPr marL="0" indent="0" algn="ctr">
              <a:lnSpc>
                <a:spcPct val="200000"/>
              </a:lnSpc>
              <a:buNone/>
            </a:pPr>
            <a:r>
              <a:rPr lang="zh-CN" altLang="en-US">
                <a:solidFill>
                  <a:schemeClr val="tx1"/>
                </a:solidFill>
              </a:rPr>
              <a:t>科研交流</a:t>
            </a:r>
            <a:r>
              <a:rPr lang="en-US" altLang="zh-CN">
                <a:solidFill>
                  <a:schemeClr val="tx1"/>
                </a:solidFill>
              </a:rPr>
              <a:t>-</a:t>
            </a:r>
            <a:r>
              <a:rPr lang="zh-CN" altLang="en-US">
                <a:solidFill>
                  <a:schemeClr val="tx1"/>
                </a:solidFill>
              </a:rPr>
              <a:t>老教练</a:t>
            </a:r>
            <a:endParaRPr lang="zh-CN" altLang="en-US">
              <a:solidFill>
                <a:schemeClr val="tx1"/>
              </a:solidFill>
            </a:endParaRPr>
          </a:p>
          <a:p>
            <a:pPr marL="0" indent="0" algn="ctr">
              <a:lnSpc>
                <a:spcPct val="200000"/>
              </a:lnSpc>
              <a:buNone/>
            </a:pPr>
            <a:r>
              <a:rPr lang="zh-CN" altLang="en-US">
                <a:solidFill>
                  <a:srgbClr val="00B0F0"/>
                </a:solidFill>
              </a:rPr>
              <a:t>（愿你走过半生，归来仍是少年）</a:t>
            </a:r>
            <a:endParaRPr lang="zh-CN" altLang="en-US">
              <a:solidFill>
                <a:srgbClr val="00B0F0"/>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145" name="Group 2"/>
          <p:cNvGrpSpPr/>
          <p:nvPr/>
        </p:nvGrpSpPr>
        <p:grpSpPr>
          <a:xfrm>
            <a:off x="1981200" y="1676400"/>
            <a:ext cx="5311775" cy="3295650"/>
            <a:chOff x="1262" y="1323"/>
            <a:chExt cx="3346" cy="2076"/>
          </a:xfrm>
        </p:grpSpPr>
        <p:grpSp>
          <p:nvGrpSpPr>
            <p:cNvPr id="6146" name="Group 3"/>
            <p:cNvGrpSpPr/>
            <p:nvPr/>
          </p:nvGrpSpPr>
          <p:grpSpPr>
            <a:xfrm>
              <a:off x="1263" y="1881"/>
              <a:ext cx="384" cy="384"/>
              <a:chOff x="816" y="1872"/>
              <a:chExt cx="384" cy="384"/>
            </a:xfrm>
          </p:grpSpPr>
          <p:sp>
            <p:nvSpPr>
              <p:cNvPr id="6147" name="Oval 4"/>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6148" name="Oval 5"/>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6149" name="Oval 6"/>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50" name="Oval 7"/>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51" name="Oval 8"/>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52" name="Oval 9"/>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53" name="Oval 10"/>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54" name="Oval 11"/>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55" name="Oval 12"/>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6156" name="Line 13"/>
            <p:cNvSpPr/>
            <p:nvPr/>
          </p:nvSpPr>
          <p:spPr>
            <a:xfrm>
              <a:off x="1584" y="2235"/>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6157" name="Text Box 14"/>
            <p:cNvSpPr txBox="1"/>
            <p:nvPr/>
          </p:nvSpPr>
          <p:spPr>
            <a:xfrm>
              <a:off x="1728" y="1899"/>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建模一般步骤及范例</a:t>
              </a:r>
              <a:endParaRPr lang="zh-CN" altLang="en-US" sz="2800" b="1">
                <a:solidFill>
                  <a:srgbClr val="3333FF"/>
                </a:solidFill>
                <a:latin typeface="Arial" panose="020B0604020202020204" pitchFamily="34" charset="0"/>
                <a:ea typeface="黑体" panose="02010609060101010101" pitchFamily="2" charset="-122"/>
              </a:endParaRPr>
            </a:p>
          </p:txBody>
        </p:sp>
        <p:sp>
          <p:nvSpPr>
            <p:cNvPr id="6158" name="Text Box 15"/>
            <p:cNvSpPr txBox="1"/>
            <p:nvPr/>
          </p:nvSpPr>
          <p:spPr>
            <a:xfrm>
              <a:off x="1344" y="1934"/>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2</a:t>
              </a:r>
              <a:endParaRPr lang="en-US" altLang="zh-CN" sz="2400" b="1">
                <a:solidFill>
                  <a:srgbClr val="000000"/>
                </a:solidFill>
                <a:latin typeface="Arial" panose="020B0604020202020204" pitchFamily="34" charset="0"/>
                <a:ea typeface="宋体" panose="02010600030101010101" pitchFamily="2" charset="-122"/>
              </a:endParaRPr>
            </a:p>
          </p:txBody>
        </p:sp>
        <p:grpSp>
          <p:nvGrpSpPr>
            <p:cNvPr id="6159" name="Group 16"/>
            <p:cNvGrpSpPr/>
            <p:nvPr/>
          </p:nvGrpSpPr>
          <p:grpSpPr>
            <a:xfrm>
              <a:off x="1275" y="3015"/>
              <a:ext cx="384" cy="384"/>
              <a:chOff x="816" y="1872"/>
              <a:chExt cx="384" cy="384"/>
            </a:xfrm>
          </p:grpSpPr>
          <p:sp>
            <p:nvSpPr>
              <p:cNvPr id="6160" name="Oval 17"/>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6161" name="Oval 18"/>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6162" name="Oval 19"/>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63" name="Oval 20"/>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64" name="Oval 21"/>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65" name="Oval 22"/>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66" name="Oval 23"/>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67" name="Oval 24"/>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68" name="Oval 25"/>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6169" name="Line 26"/>
            <p:cNvSpPr/>
            <p:nvPr/>
          </p:nvSpPr>
          <p:spPr>
            <a:xfrm>
              <a:off x="1584" y="3373"/>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6170" name="Text Box 27"/>
            <p:cNvSpPr txBox="1"/>
            <p:nvPr/>
          </p:nvSpPr>
          <p:spPr>
            <a:xfrm>
              <a:off x="1728" y="3037"/>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评阅标准及论文写作</a:t>
              </a:r>
              <a:endParaRPr lang="zh-CN" altLang="en-US" sz="2800" b="1">
                <a:solidFill>
                  <a:srgbClr val="3333FF"/>
                </a:solidFill>
                <a:latin typeface="Arial" panose="020B0604020202020204" pitchFamily="34" charset="0"/>
                <a:ea typeface="黑体" panose="02010609060101010101" pitchFamily="2" charset="-122"/>
              </a:endParaRPr>
            </a:p>
          </p:txBody>
        </p:sp>
        <p:sp>
          <p:nvSpPr>
            <p:cNvPr id="6171" name="Text Box 28"/>
            <p:cNvSpPr txBox="1"/>
            <p:nvPr/>
          </p:nvSpPr>
          <p:spPr>
            <a:xfrm>
              <a:off x="1362" y="3058"/>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4</a:t>
              </a:r>
              <a:endParaRPr lang="en-US" altLang="zh-CN" sz="2400" b="1">
                <a:solidFill>
                  <a:srgbClr val="000000"/>
                </a:solidFill>
                <a:latin typeface="Arial" panose="020B0604020202020204" pitchFamily="34" charset="0"/>
                <a:ea typeface="宋体" panose="02010600030101010101" pitchFamily="2" charset="-122"/>
              </a:endParaRPr>
            </a:p>
          </p:txBody>
        </p:sp>
        <p:sp>
          <p:nvSpPr>
            <p:cNvPr id="6172" name="Line 29"/>
            <p:cNvSpPr/>
            <p:nvPr/>
          </p:nvSpPr>
          <p:spPr>
            <a:xfrm>
              <a:off x="1584" y="2797"/>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6173" name="Text Box 30"/>
            <p:cNvSpPr txBox="1"/>
            <p:nvPr/>
          </p:nvSpPr>
          <p:spPr>
            <a:xfrm>
              <a:off x="1728" y="2461"/>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试题分析及论文导读</a:t>
              </a:r>
              <a:endParaRPr lang="zh-CN" altLang="en-US" sz="2800" b="1">
                <a:solidFill>
                  <a:srgbClr val="3333FF"/>
                </a:solidFill>
                <a:latin typeface="Arial" panose="020B0604020202020204" pitchFamily="34" charset="0"/>
                <a:ea typeface="黑体" panose="02010609060101010101" pitchFamily="2" charset="-122"/>
              </a:endParaRPr>
            </a:p>
          </p:txBody>
        </p:sp>
        <p:grpSp>
          <p:nvGrpSpPr>
            <p:cNvPr id="6174" name="Group 31"/>
            <p:cNvGrpSpPr/>
            <p:nvPr/>
          </p:nvGrpSpPr>
          <p:grpSpPr>
            <a:xfrm>
              <a:off x="1274" y="2437"/>
              <a:ext cx="384" cy="384"/>
              <a:chOff x="1274" y="2437"/>
              <a:chExt cx="384" cy="384"/>
            </a:xfrm>
          </p:grpSpPr>
          <p:sp>
            <p:nvSpPr>
              <p:cNvPr id="6175" name="Text Box 32"/>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6176" name="Oval 33"/>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6177" name="Oval 34"/>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6178" name="Oval 35"/>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79" name="Oval 36"/>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80" name="Oval 37"/>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81" name="Oval 38"/>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82" name="Oval 39"/>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83" name="Oval 40"/>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84" name="Oval 41"/>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6185" name="Text Box 42"/>
            <p:cNvSpPr txBox="1"/>
            <p:nvPr/>
          </p:nvSpPr>
          <p:spPr>
            <a:xfrm>
              <a:off x="1353" y="2496"/>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6186" name="Line 43"/>
            <p:cNvSpPr/>
            <p:nvPr/>
          </p:nvSpPr>
          <p:spPr>
            <a:xfrm>
              <a:off x="1584" y="1659"/>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6187" name="Text Box 44"/>
            <p:cNvSpPr txBox="1"/>
            <p:nvPr/>
          </p:nvSpPr>
          <p:spPr>
            <a:xfrm>
              <a:off x="1728" y="1323"/>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建模一般思维方法</a:t>
              </a:r>
              <a:endParaRPr lang="zh-CN" altLang="en-US" sz="2800" b="1">
                <a:solidFill>
                  <a:srgbClr val="3333FF"/>
                </a:solidFill>
                <a:latin typeface="Arial" panose="020B0604020202020204" pitchFamily="34" charset="0"/>
                <a:ea typeface="黑体" panose="02010609060101010101" pitchFamily="2" charset="-122"/>
              </a:endParaRPr>
            </a:p>
          </p:txBody>
        </p:sp>
        <p:grpSp>
          <p:nvGrpSpPr>
            <p:cNvPr id="6188" name="Group 45"/>
            <p:cNvGrpSpPr/>
            <p:nvPr/>
          </p:nvGrpSpPr>
          <p:grpSpPr>
            <a:xfrm>
              <a:off x="1262" y="1344"/>
              <a:ext cx="384" cy="384"/>
              <a:chOff x="1274" y="2437"/>
              <a:chExt cx="384" cy="384"/>
            </a:xfrm>
          </p:grpSpPr>
          <p:sp>
            <p:nvSpPr>
              <p:cNvPr id="6189" name="Text Box 46"/>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6190" name="Oval 47"/>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6191" name="Oval 48"/>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6192" name="Oval 49"/>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93" name="Oval 50"/>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94" name="Oval 51"/>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6195" name="Oval 52"/>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96" name="Oval 53"/>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97" name="Oval 54"/>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6198" name="Oval 55"/>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6199" name="Text Box 56"/>
            <p:cNvSpPr txBox="1"/>
            <p:nvPr/>
          </p:nvSpPr>
          <p:spPr>
            <a:xfrm>
              <a:off x="1341" y="1403"/>
              <a:ext cx="223" cy="288"/>
            </a:xfrm>
            <a:prstGeom prst="rect">
              <a:avLst/>
            </a:prstGeom>
            <a:noFill/>
            <a:ln w="9525">
              <a:noFill/>
            </a:ln>
          </p:spPr>
          <p:txBody>
            <a:bodyPr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1</a:t>
              </a:r>
              <a:endParaRPr lang="en-US" altLang="zh-CN" sz="2400" b="1">
                <a:solidFill>
                  <a:srgbClr val="000000"/>
                </a:solidFill>
                <a:latin typeface="Arial" panose="020B0604020202020204" pitchFamily="34" charset="0"/>
                <a:ea typeface="宋体" panose="02010600030101010101" pitchFamily="2" charset="-122"/>
              </a:endParaRPr>
            </a:p>
          </p:txBody>
        </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69" name="Group 2"/>
          <p:cNvGrpSpPr/>
          <p:nvPr/>
        </p:nvGrpSpPr>
        <p:grpSpPr>
          <a:xfrm>
            <a:off x="1828800" y="1600200"/>
            <a:ext cx="5311775" cy="3295650"/>
            <a:chOff x="1262" y="1323"/>
            <a:chExt cx="3346" cy="2076"/>
          </a:xfrm>
        </p:grpSpPr>
        <p:grpSp>
          <p:nvGrpSpPr>
            <p:cNvPr id="7170" name="Group 3"/>
            <p:cNvGrpSpPr/>
            <p:nvPr/>
          </p:nvGrpSpPr>
          <p:grpSpPr>
            <a:xfrm>
              <a:off x="1263" y="1881"/>
              <a:ext cx="384" cy="384"/>
              <a:chOff x="816" y="1872"/>
              <a:chExt cx="384" cy="384"/>
            </a:xfrm>
          </p:grpSpPr>
          <p:sp>
            <p:nvSpPr>
              <p:cNvPr id="7171" name="Oval 4"/>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172" name="Oval 5"/>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173" name="Oval 6"/>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174" name="Oval 7"/>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175" name="Oval 8"/>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176" name="Oval 9"/>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177" name="Oval 10"/>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178" name="Oval 11"/>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179" name="Oval 12"/>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7180" name="Line 13"/>
            <p:cNvSpPr/>
            <p:nvPr/>
          </p:nvSpPr>
          <p:spPr>
            <a:xfrm>
              <a:off x="1584" y="2235"/>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7181" name="Text Box 14"/>
            <p:cNvSpPr txBox="1"/>
            <p:nvPr/>
          </p:nvSpPr>
          <p:spPr>
            <a:xfrm>
              <a:off x="1728" y="1899"/>
              <a:ext cx="2736" cy="365"/>
            </a:xfrm>
            <a:prstGeom prst="rect">
              <a:avLst/>
            </a:prstGeom>
            <a:noFill/>
            <a:ln w="9525">
              <a:noFill/>
            </a:ln>
          </p:spPr>
          <p:txBody>
            <a:bodyPr anchor="t">
              <a:spAutoFit/>
            </a:bodyPr>
            <a:p>
              <a:pPr algn="ctr" eaLnBrk="0" hangingPunct="0"/>
              <a:endParaRPr lang="zh-CN" altLang="zh-CN" sz="3200" b="1">
                <a:solidFill>
                  <a:schemeClr val="accent2"/>
                </a:solidFill>
                <a:latin typeface="Arial" panose="020B0604020202020204" pitchFamily="34" charset="0"/>
                <a:ea typeface="黑体" panose="02010609060101010101" pitchFamily="2" charset="-122"/>
              </a:endParaRPr>
            </a:p>
          </p:txBody>
        </p:sp>
        <p:sp>
          <p:nvSpPr>
            <p:cNvPr id="7182" name="Text Box 15"/>
            <p:cNvSpPr txBox="1"/>
            <p:nvPr/>
          </p:nvSpPr>
          <p:spPr>
            <a:xfrm>
              <a:off x="1344" y="1934"/>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2</a:t>
              </a:r>
              <a:endParaRPr lang="en-US" altLang="zh-CN" sz="2400" b="1">
                <a:solidFill>
                  <a:srgbClr val="000000"/>
                </a:solidFill>
                <a:latin typeface="Arial" panose="020B0604020202020204" pitchFamily="34" charset="0"/>
                <a:ea typeface="宋体" panose="02010600030101010101" pitchFamily="2" charset="-122"/>
              </a:endParaRPr>
            </a:p>
          </p:txBody>
        </p:sp>
        <p:grpSp>
          <p:nvGrpSpPr>
            <p:cNvPr id="7183" name="Group 16"/>
            <p:cNvGrpSpPr/>
            <p:nvPr/>
          </p:nvGrpSpPr>
          <p:grpSpPr>
            <a:xfrm>
              <a:off x="1275" y="3015"/>
              <a:ext cx="384" cy="384"/>
              <a:chOff x="816" y="1872"/>
              <a:chExt cx="384" cy="384"/>
            </a:xfrm>
          </p:grpSpPr>
          <p:sp>
            <p:nvSpPr>
              <p:cNvPr id="7184" name="Oval 17"/>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185" name="Oval 18"/>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186" name="Oval 19"/>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187" name="Oval 20"/>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188" name="Oval 21"/>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189" name="Oval 22"/>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190" name="Oval 23"/>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191" name="Oval 24"/>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192" name="Oval 25"/>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7193" name="Line 26"/>
            <p:cNvSpPr/>
            <p:nvPr/>
          </p:nvSpPr>
          <p:spPr>
            <a:xfrm>
              <a:off x="1584" y="3373"/>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7194" name="Text Box 27"/>
            <p:cNvSpPr txBox="1"/>
            <p:nvPr/>
          </p:nvSpPr>
          <p:spPr>
            <a:xfrm>
              <a:off x="1728" y="3037"/>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评阅标准及论文写作</a:t>
              </a:r>
              <a:endParaRPr lang="zh-CN" altLang="en-US" sz="2800" b="1">
                <a:solidFill>
                  <a:srgbClr val="3333FF"/>
                </a:solidFill>
                <a:latin typeface="Arial" panose="020B0604020202020204" pitchFamily="34" charset="0"/>
                <a:ea typeface="黑体" panose="02010609060101010101" pitchFamily="2" charset="-122"/>
              </a:endParaRPr>
            </a:p>
          </p:txBody>
        </p:sp>
        <p:sp>
          <p:nvSpPr>
            <p:cNvPr id="7195" name="Text Box 28"/>
            <p:cNvSpPr txBox="1"/>
            <p:nvPr/>
          </p:nvSpPr>
          <p:spPr>
            <a:xfrm>
              <a:off x="1362" y="3058"/>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4</a:t>
              </a:r>
              <a:endParaRPr lang="en-US" altLang="zh-CN" sz="2400" b="1">
                <a:solidFill>
                  <a:srgbClr val="000000"/>
                </a:solidFill>
                <a:latin typeface="Arial" panose="020B0604020202020204" pitchFamily="34" charset="0"/>
                <a:ea typeface="宋体" panose="02010600030101010101" pitchFamily="2" charset="-122"/>
              </a:endParaRPr>
            </a:p>
          </p:txBody>
        </p:sp>
        <p:sp>
          <p:nvSpPr>
            <p:cNvPr id="7196" name="Line 29"/>
            <p:cNvSpPr/>
            <p:nvPr/>
          </p:nvSpPr>
          <p:spPr>
            <a:xfrm>
              <a:off x="1584" y="2797"/>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7197" name="Text Box 30"/>
            <p:cNvSpPr txBox="1"/>
            <p:nvPr/>
          </p:nvSpPr>
          <p:spPr>
            <a:xfrm>
              <a:off x="1728" y="2461"/>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试题分析及论文导读</a:t>
              </a:r>
              <a:endParaRPr lang="zh-CN" altLang="en-US" sz="2800" b="1">
                <a:solidFill>
                  <a:srgbClr val="3333FF"/>
                </a:solidFill>
                <a:latin typeface="Arial" panose="020B0604020202020204" pitchFamily="34" charset="0"/>
                <a:ea typeface="黑体" panose="02010609060101010101" pitchFamily="2" charset="-122"/>
              </a:endParaRPr>
            </a:p>
          </p:txBody>
        </p:sp>
        <p:grpSp>
          <p:nvGrpSpPr>
            <p:cNvPr id="7198" name="Group 31"/>
            <p:cNvGrpSpPr/>
            <p:nvPr/>
          </p:nvGrpSpPr>
          <p:grpSpPr>
            <a:xfrm>
              <a:off x="1274" y="2437"/>
              <a:ext cx="384" cy="384"/>
              <a:chOff x="1274" y="2437"/>
              <a:chExt cx="384" cy="384"/>
            </a:xfrm>
          </p:grpSpPr>
          <p:sp>
            <p:nvSpPr>
              <p:cNvPr id="7199" name="Text Box 32"/>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7200" name="Oval 33"/>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201" name="Oval 34"/>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202" name="Oval 35"/>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203" name="Oval 36"/>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204" name="Oval 37"/>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205" name="Oval 38"/>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206" name="Oval 39"/>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207" name="Oval 40"/>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208" name="Oval 41"/>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7209" name="Text Box 42"/>
            <p:cNvSpPr txBox="1"/>
            <p:nvPr/>
          </p:nvSpPr>
          <p:spPr>
            <a:xfrm>
              <a:off x="1353" y="2496"/>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7210" name="Line 43"/>
            <p:cNvSpPr/>
            <p:nvPr/>
          </p:nvSpPr>
          <p:spPr>
            <a:xfrm>
              <a:off x="1584" y="1659"/>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7211" name="Text Box 44"/>
            <p:cNvSpPr txBox="1"/>
            <p:nvPr/>
          </p:nvSpPr>
          <p:spPr>
            <a:xfrm>
              <a:off x="1728" y="1323"/>
              <a:ext cx="2736" cy="365"/>
            </a:xfrm>
            <a:prstGeom prst="rect">
              <a:avLst/>
            </a:prstGeom>
            <a:noFill/>
            <a:ln w="9525">
              <a:noFill/>
            </a:ln>
          </p:spPr>
          <p:txBody>
            <a:bodyPr anchor="t">
              <a:spAutoFit/>
            </a:bodyPr>
            <a:p>
              <a:pPr algn="ctr" eaLnBrk="0" hangingPunct="0"/>
              <a:r>
                <a:rPr lang="zh-CN" altLang="en-US" sz="3200" b="1">
                  <a:solidFill>
                    <a:schemeClr val="accent2"/>
                  </a:solidFill>
                  <a:latin typeface="Arial" panose="020B0604020202020204" pitchFamily="34" charset="0"/>
                  <a:ea typeface="黑体" panose="02010609060101010101" pitchFamily="2" charset="-122"/>
                </a:rPr>
                <a:t>建模一般思维方法</a:t>
              </a:r>
              <a:endParaRPr lang="zh-CN" altLang="en-US" sz="3200" b="1">
                <a:solidFill>
                  <a:schemeClr val="accent2"/>
                </a:solidFill>
                <a:latin typeface="Arial" panose="020B0604020202020204" pitchFamily="34" charset="0"/>
                <a:ea typeface="黑体" panose="02010609060101010101" pitchFamily="2" charset="-122"/>
              </a:endParaRPr>
            </a:p>
          </p:txBody>
        </p:sp>
        <p:grpSp>
          <p:nvGrpSpPr>
            <p:cNvPr id="7212" name="Group 45"/>
            <p:cNvGrpSpPr/>
            <p:nvPr/>
          </p:nvGrpSpPr>
          <p:grpSpPr>
            <a:xfrm>
              <a:off x="1262" y="1344"/>
              <a:ext cx="384" cy="384"/>
              <a:chOff x="1274" y="2437"/>
              <a:chExt cx="384" cy="384"/>
            </a:xfrm>
          </p:grpSpPr>
          <p:sp>
            <p:nvSpPr>
              <p:cNvPr id="7213" name="Text Box 46"/>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7214" name="Oval 47"/>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215" name="Oval 48"/>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216" name="Oval 49"/>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217" name="Oval 50"/>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218" name="Oval 51"/>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7219" name="Oval 52"/>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220" name="Oval 53"/>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221" name="Oval 54"/>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7222" name="Oval 55"/>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7223" name="Text Box 56"/>
            <p:cNvSpPr txBox="1"/>
            <p:nvPr/>
          </p:nvSpPr>
          <p:spPr>
            <a:xfrm>
              <a:off x="1341" y="1403"/>
              <a:ext cx="223" cy="288"/>
            </a:xfrm>
            <a:prstGeom prst="rect">
              <a:avLst/>
            </a:prstGeom>
            <a:noFill/>
            <a:ln w="9525">
              <a:noFill/>
            </a:ln>
          </p:spPr>
          <p:txBody>
            <a:bodyPr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1</a:t>
              </a:r>
              <a:endParaRPr lang="en-US" altLang="zh-CN" sz="2400" b="1">
                <a:solidFill>
                  <a:srgbClr val="000000"/>
                </a:solidFill>
                <a:latin typeface="Arial" panose="020B0604020202020204" pitchFamily="34" charset="0"/>
                <a:ea typeface="宋体" panose="02010600030101010101" pitchFamily="2" charset="-122"/>
              </a:endParaRPr>
            </a:p>
          </p:txBody>
        </p:sp>
      </p:grpSp>
      <p:sp>
        <p:nvSpPr>
          <p:cNvPr id="7224" name="Rectangle 57"/>
          <p:cNvSpPr/>
          <p:nvPr/>
        </p:nvSpPr>
        <p:spPr>
          <a:xfrm>
            <a:off x="3078163" y="2452688"/>
            <a:ext cx="3398837" cy="519112"/>
          </a:xfrm>
          <a:prstGeom prst="rect">
            <a:avLst/>
          </a:prstGeom>
          <a:noFill/>
          <a:ln w="9525">
            <a:noFill/>
          </a:ln>
        </p:spPr>
        <p:txBody>
          <a:bodyPr wrap="none" anchor="t">
            <a:spAutoFit/>
          </a:bodyPr>
          <a:p>
            <a:pPr eaLnBrk="0" hangingPunct="0"/>
            <a:r>
              <a:rPr lang="zh-CN" altLang="en-US" sz="2800" b="1">
                <a:solidFill>
                  <a:srgbClr val="3333FF"/>
                </a:solidFill>
                <a:latin typeface="Arial" panose="020B0604020202020204" pitchFamily="34" charset="0"/>
                <a:ea typeface="黑体" panose="02010609060101010101" pitchFamily="2" charset="-122"/>
              </a:rPr>
              <a:t>建模一般步骤及范例</a:t>
            </a:r>
            <a:endParaRPr lang="zh-CN" altLang="en-US" sz="2800" b="1">
              <a:solidFill>
                <a:srgbClr val="3333FF"/>
              </a:solidFill>
              <a:latin typeface="Arial" panose="020B0604020202020204" pitchFamily="34" charset="0"/>
              <a:ea typeface="黑体" panose="0201060906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a:xfrm>
            <a:off x="609600" y="304800"/>
            <a:ext cx="7772400" cy="762000"/>
          </a:xfrm>
          <a:ln/>
        </p:spPr>
        <p:txBody>
          <a:bodyPr vert="horz" wrap="square" lIns="91440" tIns="45720" rIns="91440" bIns="45720" anchor="b"/>
          <a:p>
            <a:pPr eaLnBrk="1" hangingPunct="1"/>
            <a:r>
              <a:rPr lang="zh-CN" altLang="en-US" b="1">
                <a:ea typeface="楷体_GB2312" pitchFamily="49" charset="-122"/>
              </a:rPr>
              <a:t>群体思维方法</a:t>
            </a:r>
            <a:r>
              <a:rPr lang="zh-CN" altLang="en-US"/>
              <a:t> </a:t>
            </a:r>
            <a:endParaRPr lang="zh-CN" altLang="en-US"/>
          </a:p>
        </p:txBody>
      </p:sp>
      <p:sp>
        <p:nvSpPr>
          <p:cNvPr id="418819" name="Rectangle 3"/>
          <p:cNvSpPr>
            <a:spLocks noGrp="1"/>
          </p:cNvSpPr>
          <p:nvPr>
            <p:ph idx="1"/>
          </p:nvPr>
        </p:nvSpPr>
        <p:spPr>
          <a:ln/>
        </p:spPr>
        <p:txBody>
          <a:bodyPr vert="horz" wrap="square" lIns="91440" tIns="45720" rIns="91440" bIns="45720" anchor="t"/>
          <a:p>
            <a:pPr algn="just" eaLnBrk="1" hangingPunct="1">
              <a:buClr>
                <a:schemeClr val="tx1"/>
              </a:buClr>
            </a:pPr>
            <a:r>
              <a:rPr lang="zh-CN" altLang="en-US" b="1">
                <a:ea typeface="楷体_GB2312" pitchFamily="49" charset="-122"/>
              </a:rPr>
              <a:t>平等地位、相互尊重、充分交流</a:t>
            </a:r>
            <a:endParaRPr lang="zh-CN" altLang="en-US" b="1">
              <a:ea typeface="楷体_GB2312" pitchFamily="49" charset="-122"/>
            </a:endParaRPr>
          </a:p>
          <a:p>
            <a:pPr algn="just" eaLnBrk="1" hangingPunct="1">
              <a:buClr>
                <a:schemeClr val="tx1"/>
              </a:buClr>
            </a:pPr>
            <a:r>
              <a:rPr lang="zh-CN" altLang="en-US" b="1">
                <a:ea typeface="楷体_GB2312" pitchFamily="49" charset="-122"/>
              </a:rPr>
              <a:t>杜绝武断评价</a:t>
            </a:r>
            <a:endParaRPr lang="zh-CN" altLang="en-US" b="1">
              <a:ea typeface="楷体_GB2312" pitchFamily="49" charset="-122"/>
            </a:endParaRPr>
          </a:p>
          <a:p>
            <a:pPr algn="just" eaLnBrk="1" hangingPunct="1">
              <a:buClr>
                <a:schemeClr val="tx1"/>
              </a:buClr>
            </a:pPr>
            <a:r>
              <a:rPr lang="zh-CN" altLang="en-US" b="1">
                <a:ea typeface="楷体_GB2312" pitchFamily="49" charset="-122"/>
              </a:rPr>
              <a:t>不要回避责任</a:t>
            </a:r>
            <a:endParaRPr lang="zh-CN" altLang="en-US" b="1">
              <a:ea typeface="楷体_GB2312" pitchFamily="49" charset="-122"/>
            </a:endParaRPr>
          </a:p>
          <a:p>
            <a:pPr algn="just" eaLnBrk="1" hangingPunct="1">
              <a:buClr>
                <a:schemeClr val="tx1"/>
              </a:buClr>
            </a:pPr>
            <a:r>
              <a:rPr lang="zh-CN" altLang="en-US" b="1">
                <a:ea typeface="楷体_GB2312" pitchFamily="49" charset="-122"/>
              </a:rPr>
              <a:t>不要对交流失去信心</a:t>
            </a:r>
            <a:r>
              <a:rPr lang="zh-CN" altLang="en-US"/>
              <a:t> </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8819">
                                            <p:txEl>
                                              <p:charRg st="0" end="15"/>
                                            </p:txEl>
                                          </p:spTgt>
                                        </p:tgtEl>
                                        <p:attrNameLst>
                                          <p:attrName>style.visibility</p:attrName>
                                        </p:attrNameLst>
                                      </p:cBhvr>
                                      <p:to>
                                        <p:strVal val="visible"/>
                                      </p:to>
                                    </p:set>
                                    <p:anim calcmode="lin" valueType="num">
                                      <p:cBhvr>
                                        <p:cTn id="7" dur="500" fill="hold"/>
                                        <p:tgtEl>
                                          <p:spTgt spid="418819">
                                            <p:txEl>
                                              <p:charRg st="0" end="15"/>
                                            </p:txEl>
                                          </p:spTgt>
                                        </p:tgtEl>
                                        <p:attrNameLst>
                                          <p:attrName>ppt_x</p:attrName>
                                        </p:attrNameLst>
                                      </p:cBhvr>
                                      <p:tavLst>
                                        <p:tav tm="0">
                                          <p:val>
                                            <p:strVal val="1+#ppt_w/2"/>
                                          </p:val>
                                        </p:tav>
                                        <p:tav tm="100000">
                                          <p:val>
                                            <p:strVal val="#ppt_x"/>
                                          </p:val>
                                        </p:tav>
                                      </p:tavLst>
                                    </p:anim>
                                    <p:anim calcmode="lin" valueType="num">
                                      <p:cBhvr>
                                        <p:cTn id="8" dur="500" fill="hold"/>
                                        <p:tgtEl>
                                          <p:spTgt spid="418819">
                                            <p:txEl>
                                              <p:charRg st="0" end="1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18819">
                                            <p:txEl>
                                              <p:charRg st="15" end="22"/>
                                            </p:txEl>
                                          </p:spTgt>
                                        </p:tgtEl>
                                        <p:attrNameLst>
                                          <p:attrName>style.visibility</p:attrName>
                                        </p:attrNameLst>
                                      </p:cBhvr>
                                      <p:to>
                                        <p:strVal val="visible"/>
                                      </p:to>
                                    </p:set>
                                    <p:anim calcmode="lin" valueType="num">
                                      <p:cBhvr>
                                        <p:cTn id="13" dur="500" fill="hold"/>
                                        <p:tgtEl>
                                          <p:spTgt spid="418819">
                                            <p:txEl>
                                              <p:charRg st="15" end="22"/>
                                            </p:txEl>
                                          </p:spTgt>
                                        </p:tgtEl>
                                        <p:attrNameLst>
                                          <p:attrName>ppt_x</p:attrName>
                                        </p:attrNameLst>
                                      </p:cBhvr>
                                      <p:tavLst>
                                        <p:tav tm="0">
                                          <p:val>
                                            <p:strVal val="1+#ppt_w/2"/>
                                          </p:val>
                                        </p:tav>
                                        <p:tav tm="100000">
                                          <p:val>
                                            <p:strVal val="#ppt_x"/>
                                          </p:val>
                                        </p:tav>
                                      </p:tavLst>
                                    </p:anim>
                                    <p:anim calcmode="lin" valueType="num">
                                      <p:cBhvr>
                                        <p:cTn id="14" dur="500" fill="hold"/>
                                        <p:tgtEl>
                                          <p:spTgt spid="418819">
                                            <p:txEl>
                                              <p:charRg st="15" end="2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18819">
                                            <p:txEl>
                                              <p:charRg st="22" end="29"/>
                                            </p:txEl>
                                          </p:spTgt>
                                        </p:tgtEl>
                                        <p:attrNameLst>
                                          <p:attrName>style.visibility</p:attrName>
                                        </p:attrNameLst>
                                      </p:cBhvr>
                                      <p:to>
                                        <p:strVal val="visible"/>
                                      </p:to>
                                    </p:set>
                                    <p:anim calcmode="lin" valueType="num">
                                      <p:cBhvr>
                                        <p:cTn id="19" dur="500" fill="hold"/>
                                        <p:tgtEl>
                                          <p:spTgt spid="418819">
                                            <p:txEl>
                                              <p:charRg st="22" end="29"/>
                                            </p:txEl>
                                          </p:spTgt>
                                        </p:tgtEl>
                                        <p:attrNameLst>
                                          <p:attrName>ppt_x</p:attrName>
                                        </p:attrNameLst>
                                      </p:cBhvr>
                                      <p:tavLst>
                                        <p:tav tm="0">
                                          <p:val>
                                            <p:strVal val="1+#ppt_w/2"/>
                                          </p:val>
                                        </p:tav>
                                        <p:tav tm="100000">
                                          <p:val>
                                            <p:strVal val="#ppt_x"/>
                                          </p:val>
                                        </p:tav>
                                      </p:tavLst>
                                    </p:anim>
                                    <p:anim calcmode="lin" valueType="num">
                                      <p:cBhvr>
                                        <p:cTn id="20" dur="500" fill="hold"/>
                                        <p:tgtEl>
                                          <p:spTgt spid="418819">
                                            <p:txEl>
                                              <p:charRg st="22" end="29"/>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18819">
                                            <p:txEl>
                                              <p:charRg st="29" end="40"/>
                                            </p:txEl>
                                          </p:spTgt>
                                        </p:tgtEl>
                                        <p:attrNameLst>
                                          <p:attrName>style.visibility</p:attrName>
                                        </p:attrNameLst>
                                      </p:cBhvr>
                                      <p:to>
                                        <p:strVal val="visible"/>
                                      </p:to>
                                    </p:set>
                                    <p:anim calcmode="lin" valueType="num">
                                      <p:cBhvr>
                                        <p:cTn id="25" dur="500" fill="hold"/>
                                        <p:tgtEl>
                                          <p:spTgt spid="418819">
                                            <p:txEl>
                                              <p:charRg st="29" end="40"/>
                                            </p:txEl>
                                          </p:spTgt>
                                        </p:tgtEl>
                                        <p:attrNameLst>
                                          <p:attrName>ppt_x</p:attrName>
                                        </p:attrNameLst>
                                      </p:cBhvr>
                                      <p:tavLst>
                                        <p:tav tm="0">
                                          <p:val>
                                            <p:strVal val="1+#ppt_w/2"/>
                                          </p:val>
                                        </p:tav>
                                        <p:tav tm="100000">
                                          <p:val>
                                            <p:strVal val="#ppt_x"/>
                                          </p:val>
                                        </p:tav>
                                      </p:tavLst>
                                    </p:anim>
                                    <p:anim calcmode="lin" valueType="num">
                                      <p:cBhvr>
                                        <p:cTn id="26" dur="500" fill="hold"/>
                                        <p:tgtEl>
                                          <p:spTgt spid="418819">
                                            <p:txEl>
                                              <p:charRg st="29" end="4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title"/>
          </p:nvPr>
        </p:nvSpPr>
        <p:spPr>
          <a:xfrm>
            <a:off x="609600" y="381000"/>
            <a:ext cx="7772400" cy="685800"/>
          </a:xfrm>
          <a:ln/>
        </p:spPr>
        <p:txBody>
          <a:bodyPr vert="horz" wrap="square" lIns="91440" tIns="45720" rIns="91440" bIns="45720" anchor="b"/>
          <a:p>
            <a:pPr eaLnBrk="1" hangingPunct="1"/>
            <a:r>
              <a:rPr lang="zh-CN" altLang="en-US" b="1">
                <a:ea typeface="楷体_GB2312" pitchFamily="49" charset="-122"/>
              </a:rPr>
              <a:t>发散性思维方法</a:t>
            </a:r>
            <a:endParaRPr lang="zh-CN" altLang="en-US" b="1">
              <a:ea typeface="楷体_GB2312" pitchFamily="49" charset="-122"/>
            </a:endParaRPr>
          </a:p>
        </p:txBody>
      </p:sp>
      <p:sp>
        <p:nvSpPr>
          <p:cNvPr id="419843" name="Rectangle 3"/>
          <p:cNvSpPr>
            <a:spLocks noGrp="1"/>
          </p:cNvSpPr>
          <p:nvPr>
            <p:ph idx="1"/>
          </p:nvPr>
        </p:nvSpPr>
        <p:spPr>
          <a:xfrm>
            <a:off x="685800" y="1371600"/>
            <a:ext cx="7848600" cy="5486400"/>
          </a:xfrm>
          <a:ln/>
        </p:spPr>
        <p:txBody>
          <a:bodyPr vert="horz" wrap="square" lIns="91440" tIns="45720" rIns="91440" bIns="45720" anchor="t"/>
          <a:p>
            <a:pPr eaLnBrk="1" hangingPunct="1">
              <a:buClr>
                <a:schemeClr val="tx1"/>
              </a:buClr>
            </a:pPr>
            <a:r>
              <a:rPr lang="zh-CN" altLang="en-US" sz="2400" b="1">
                <a:ea typeface="楷体_GB2312" pitchFamily="49" charset="-122"/>
              </a:rPr>
              <a:t>借助于一系列问题来展开思路</a:t>
            </a:r>
            <a:endParaRPr lang="zh-CN" altLang="en-US" sz="2400" b="1">
              <a:ea typeface="楷体_GB2312" pitchFamily="49" charset="-122"/>
            </a:endParaRPr>
          </a:p>
          <a:p>
            <a:pPr lvl="1" indent="-436245" eaLnBrk="1" hangingPunct="1"/>
            <a:r>
              <a:rPr lang="zh-CN" altLang="en-US" sz="2000" b="1">
                <a:ea typeface="楷体_GB2312" pitchFamily="49" charset="-122"/>
              </a:rPr>
              <a:t>这个问题与什么问题相似？</a:t>
            </a:r>
            <a:endParaRPr lang="zh-CN" altLang="en-US" sz="2000" b="1">
              <a:ea typeface="楷体_GB2312" pitchFamily="49" charset="-122"/>
            </a:endParaRPr>
          </a:p>
          <a:p>
            <a:pPr lvl="1" indent="-436245" eaLnBrk="1" hangingPunct="1"/>
            <a:r>
              <a:rPr lang="zh-CN" altLang="en-US" sz="2000" b="1">
                <a:ea typeface="楷体_GB2312" pitchFamily="49" charset="-122"/>
              </a:rPr>
              <a:t>如果将问题分解成两个或几个部分会怎样？</a:t>
            </a:r>
            <a:endParaRPr lang="zh-CN" altLang="en-US" sz="2000" b="1">
              <a:ea typeface="楷体_GB2312" pitchFamily="49" charset="-122"/>
            </a:endParaRPr>
          </a:p>
          <a:p>
            <a:pPr lvl="1" indent="-436245" eaLnBrk="1" hangingPunct="1"/>
            <a:r>
              <a:rPr lang="zh-CN" altLang="en-US" sz="2000" b="1">
                <a:ea typeface="楷体_GB2312" pitchFamily="49" charset="-122"/>
              </a:rPr>
              <a:t>极限情形（或理想状态）如何？</a:t>
            </a:r>
            <a:endParaRPr lang="zh-CN" altLang="en-US" sz="2000" b="1">
              <a:ea typeface="楷体_GB2312" pitchFamily="49" charset="-122"/>
            </a:endParaRPr>
          </a:p>
          <a:p>
            <a:pPr lvl="1" indent="-436245" eaLnBrk="1" hangingPunct="1"/>
            <a:r>
              <a:rPr lang="zh-CN" altLang="en-US" sz="2000" b="1">
                <a:ea typeface="楷体_GB2312" pitchFamily="49" charset="-122"/>
              </a:rPr>
              <a:t>综合问题的条件可得到什么结果？</a:t>
            </a:r>
            <a:endParaRPr lang="zh-CN" altLang="en-US" sz="2000" b="1">
              <a:ea typeface="楷体_GB2312" pitchFamily="49" charset="-122"/>
            </a:endParaRPr>
          </a:p>
          <a:p>
            <a:pPr lvl="1" indent="-436245" eaLnBrk="1" hangingPunct="1"/>
            <a:r>
              <a:rPr lang="zh-CN" altLang="en-US" sz="2000" b="1">
                <a:ea typeface="楷体_GB2312" pitchFamily="49" charset="-122"/>
              </a:rPr>
              <a:t>要实现问题的目标需要什么条件？</a:t>
            </a:r>
            <a:endParaRPr lang="zh-CN" altLang="en-US" sz="2000"/>
          </a:p>
          <a:p>
            <a:pPr algn="just" eaLnBrk="1" hangingPunct="1">
              <a:buClr>
                <a:schemeClr val="tx1"/>
              </a:buClr>
            </a:pPr>
            <a:r>
              <a:rPr lang="zh-CN" altLang="en-US" sz="2400" b="1">
                <a:ea typeface="楷体_GB2312" pitchFamily="49" charset="-122"/>
              </a:rPr>
              <a:t>借助于下意识的联想（灵感）来展开思路</a:t>
            </a:r>
            <a:endParaRPr lang="zh-CN" altLang="en-US" sz="2400" b="1">
              <a:ea typeface="楷体_GB2312" pitchFamily="49" charset="-122"/>
            </a:endParaRPr>
          </a:p>
          <a:p>
            <a:pPr lvl="1" indent="-436245" algn="just" eaLnBrk="1" hangingPunct="1"/>
            <a:r>
              <a:rPr lang="zh-CN" altLang="en-US" sz="2000" b="1">
                <a:ea typeface="楷体_GB2312" pitchFamily="49" charset="-122"/>
              </a:rPr>
              <a:t>抓住问题的个别条件或关键词展开联想或猜想</a:t>
            </a:r>
            <a:endParaRPr lang="zh-CN" altLang="en-US" sz="2000" b="1">
              <a:ea typeface="楷体_GB2312" pitchFamily="49" charset="-122"/>
            </a:endParaRPr>
          </a:p>
          <a:p>
            <a:pPr lvl="1" indent="-436245" algn="just" eaLnBrk="1" hangingPunct="1"/>
            <a:r>
              <a:rPr lang="zh-CN" altLang="en-US" sz="2000" b="1">
                <a:ea typeface="楷体_GB2312" pitchFamily="49" charset="-122"/>
              </a:rPr>
              <a:t>综合所得到的联想和猜想，得到一些结论</a:t>
            </a:r>
            <a:endParaRPr lang="zh-CN" altLang="en-US" sz="2000" b="1">
              <a:ea typeface="楷体_GB2312" pitchFamily="49" charset="-122"/>
            </a:endParaRPr>
          </a:p>
          <a:p>
            <a:pPr lvl="1" indent="-436245" algn="just" eaLnBrk="1" hangingPunct="1"/>
            <a:r>
              <a:rPr lang="zh-CN" altLang="en-US" sz="2000" b="1">
                <a:ea typeface="楷体_GB2312" pitchFamily="49" charset="-122"/>
              </a:rPr>
              <a:t>进一步思考找出新思路和方法</a:t>
            </a:r>
            <a:endParaRPr lang="zh-CN" altLang="en-US" sz="2000" b="1">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843">
                                            <p:txEl>
                                              <p:charRg st="0" end="14"/>
                                            </p:txEl>
                                          </p:spTgt>
                                        </p:tgtEl>
                                        <p:attrNameLst>
                                          <p:attrName>style.visibility</p:attrName>
                                        </p:attrNameLst>
                                      </p:cBhvr>
                                      <p:to>
                                        <p:strVal val="visible"/>
                                      </p:to>
                                    </p:set>
                                    <p:anim calcmode="lin" valueType="num">
                                      <p:cBhvr>
                                        <p:cTn id="7" dur="500" fill="hold"/>
                                        <p:tgtEl>
                                          <p:spTgt spid="419843">
                                            <p:txEl>
                                              <p:charRg st="0" end="14"/>
                                            </p:txEl>
                                          </p:spTgt>
                                        </p:tgtEl>
                                        <p:attrNameLst>
                                          <p:attrName>ppt_x</p:attrName>
                                        </p:attrNameLst>
                                      </p:cBhvr>
                                      <p:tavLst>
                                        <p:tav tm="0">
                                          <p:val>
                                            <p:strVal val="0-#ppt_w/2"/>
                                          </p:val>
                                        </p:tav>
                                        <p:tav tm="100000">
                                          <p:val>
                                            <p:strVal val="#ppt_x"/>
                                          </p:val>
                                        </p:tav>
                                      </p:tavLst>
                                    </p:anim>
                                    <p:anim calcmode="lin" valueType="num">
                                      <p:cBhvr>
                                        <p:cTn id="8" dur="500" fill="hold"/>
                                        <p:tgtEl>
                                          <p:spTgt spid="419843">
                                            <p:txEl>
                                              <p:charRg st="0" end="14"/>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9843">
                                            <p:txEl>
                                              <p:charRg st="14" end="27"/>
                                            </p:txEl>
                                          </p:spTgt>
                                        </p:tgtEl>
                                        <p:attrNameLst>
                                          <p:attrName>style.visibility</p:attrName>
                                        </p:attrNameLst>
                                      </p:cBhvr>
                                      <p:to>
                                        <p:strVal val="visible"/>
                                      </p:to>
                                    </p:set>
                                    <p:anim calcmode="lin" valueType="num">
                                      <p:cBhvr>
                                        <p:cTn id="13" dur="500" fill="hold"/>
                                        <p:tgtEl>
                                          <p:spTgt spid="419843">
                                            <p:txEl>
                                              <p:charRg st="14" end="27"/>
                                            </p:txEl>
                                          </p:spTgt>
                                        </p:tgtEl>
                                        <p:attrNameLst>
                                          <p:attrName>ppt_x</p:attrName>
                                        </p:attrNameLst>
                                      </p:cBhvr>
                                      <p:tavLst>
                                        <p:tav tm="0">
                                          <p:val>
                                            <p:strVal val="0-#ppt_w/2"/>
                                          </p:val>
                                        </p:tav>
                                        <p:tav tm="100000">
                                          <p:val>
                                            <p:strVal val="#ppt_x"/>
                                          </p:val>
                                        </p:tav>
                                      </p:tavLst>
                                    </p:anim>
                                    <p:anim calcmode="lin" valueType="num">
                                      <p:cBhvr>
                                        <p:cTn id="14" dur="500" fill="hold"/>
                                        <p:tgtEl>
                                          <p:spTgt spid="419843">
                                            <p:txEl>
                                              <p:charRg st="14" end="27"/>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9843">
                                            <p:txEl>
                                              <p:charRg st="27" end="47"/>
                                            </p:txEl>
                                          </p:spTgt>
                                        </p:tgtEl>
                                        <p:attrNameLst>
                                          <p:attrName>style.visibility</p:attrName>
                                        </p:attrNameLst>
                                      </p:cBhvr>
                                      <p:to>
                                        <p:strVal val="visible"/>
                                      </p:to>
                                    </p:set>
                                    <p:anim calcmode="lin" valueType="num">
                                      <p:cBhvr>
                                        <p:cTn id="19" dur="500" fill="hold"/>
                                        <p:tgtEl>
                                          <p:spTgt spid="419843">
                                            <p:txEl>
                                              <p:charRg st="27" end="47"/>
                                            </p:txEl>
                                          </p:spTgt>
                                        </p:tgtEl>
                                        <p:attrNameLst>
                                          <p:attrName>ppt_x</p:attrName>
                                        </p:attrNameLst>
                                      </p:cBhvr>
                                      <p:tavLst>
                                        <p:tav tm="0">
                                          <p:val>
                                            <p:strVal val="0-#ppt_w/2"/>
                                          </p:val>
                                        </p:tav>
                                        <p:tav tm="100000">
                                          <p:val>
                                            <p:strVal val="#ppt_x"/>
                                          </p:val>
                                        </p:tav>
                                      </p:tavLst>
                                    </p:anim>
                                    <p:anim calcmode="lin" valueType="num">
                                      <p:cBhvr>
                                        <p:cTn id="20" dur="500" fill="hold"/>
                                        <p:tgtEl>
                                          <p:spTgt spid="419843">
                                            <p:txEl>
                                              <p:charRg st="27" end="47"/>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19843">
                                            <p:txEl>
                                              <p:charRg st="47" end="62"/>
                                            </p:txEl>
                                          </p:spTgt>
                                        </p:tgtEl>
                                        <p:attrNameLst>
                                          <p:attrName>style.visibility</p:attrName>
                                        </p:attrNameLst>
                                      </p:cBhvr>
                                      <p:to>
                                        <p:strVal val="visible"/>
                                      </p:to>
                                    </p:set>
                                    <p:anim calcmode="lin" valueType="num">
                                      <p:cBhvr>
                                        <p:cTn id="25" dur="500" fill="hold"/>
                                        <p:tgtEl>
                                          <p:spTgt spid="419843">
                                            <p:txEl>
                                              <p:charRg st="47" end="62"/>
                                            </p:txEl>
                                          </p:spTgt>
                                        </p:tgtEl>
                                        <p:attrNameLst>
                                          <p:attrName>ppt_x</p:attrName>
                                        </p:attrNameLst>
                                      </p:cBhvr>
                                      <p:tavLst>
                                        <p:tav tm="0">
                                          <p:val>
                                            <p:strVal val="0-#ppt_w/2"/>
                                          </p:val>
                                        </p:tav>
                                        <p:tav tm="100000">
                                          <p:val>
                                            <p:strVal val="#ppt_x"/>
                                          </p:val>
                                        </p:tav>
                                      </p:tavLst>
                                    </p:anim>
                                    <p:anim calcmode="lin" valueType="num">
                                      <p:cBhvr>
                                        <p:cTn id="26" dur="500" fill="hold"/>
                                        <p:tgtEl>
                                          <p:spTgt spid="419843">
                                            <p:txEl>
                                              <p:charRg st="47" end="6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19843">
                                            <p:txEl>
                                              <p:charRg st="62" end="78"/>
                                            </p:txEl>
                                          </p:spTgt>
                                        </p:tgtEl>
                                        <p:attrNameLst>
                                          <p:attrName>style.visibility</p:attrName>
                                        </p:attrNameLst>
                                      </p:cBhvr>
                                      <p:to>
                                        <p:strVal val="visible"/>
                                      </p:to>
                                    </p:set>
                                    <p:anim calcmode="lin" valueType="num">
                                      <p:cBhvr>
                                        <p:cTn id="31" dur="500" fill="hold"/>
                                        <p:tgtEl>
                                          <p:spTgt spid="419843">
                                            <p:txEl>
                                              <p:charRg st="62" end="78"/>
                                            </p:txEl>
                                          </p:spTgt>
                                        </p:tgtEl>
                                        <p:attrNameLst>
                                          <p:attrName>ppt_x</p:attrName>
                                        </p:attrNameLst>
                                      </p:cBhvr>
                                      <p:tavLst>
                                        <p:tav tm="0">
                                          <p:val>
                                            <p:strVal val="0-#ppt_w/2"/>
                                          </p:val>
                                        </p:tav>
                                        <p:tav tm="100000">
                                          <p:val>
                                            <p:strVal val="#ppt_x"/>
                                          </p:val>
                                        </p:tav>
                                      </p:tavLst>
                                    </p:anim>
                                    <p:anim calcmode="lin" valueType="num">
                                      <p:cBhvr>
                                        <p:cTn id="32" dur="500" fill="hold"/>
                                        <p:tgtEl>
                                          <p:spTgt spid="419843">
                                            <p:txEl>
                                              <p:charRg st="62" end="78"/>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19843">
                                            <p:txEl>
                                              <p:charRg st="78" end="94"/>
                                            </p:txEl>
                                          </p:spTgt>
                                        </p:tgtEl>
                                        <p:attrNameLst>
                                          <p:attrName>style.visibility</p:attrName>
                                        </p:attrNameLst>
                                      </p:cBhvr>
                                      <p:to>
                                        <p:strVal val="visible"/>
                                      </p:to>
                                    </p:set>
                                    <p:anim calcmode="lin" valueType="num">
                                      <p:cBhvr>
                                        <p:cTn id="37" dur="500" fill="hold"/>
                                        <p:tgtEl>
                                          <p:spTgt spid="419843">
                                            <p:txEl>
                                              <p:charRg st="78" end="94"/>
                                            </p:txEl>
                                          </p:spTgt>
                                        </p:tgtEl>
                                        <p:attrNameLst>
                                          <p:attrName>ppt_x</p:attrName>
                                        </p:attrNameLst>
                                      </p:cBhvr>
                                      <p:tavLst>
                                        <p:tav tm="0">
                                          <p:val>
                                            <p:strVal val="0-#ppt_w/2"/>
                                          </p:val>
                                        </p:tav>
                                        <p:tav tm="100000">
                                          <p:val>
                                            <p:strVal val="#ppt_x"/>
                                          </p:val>
                                        </p:tav>
                                      </p:tavLst>
                                    </p:anim>
                                    <p:anim calcmode="lin" valueType="num">
                                      <p:cBhvr>
                                        <p:cTn id="38" dur="500" fill="hold"/>
                                        <p:tgtEl>
                                          <p:spTgt spid="419843">
                                            <p:txEl>
                                              <p:charRg st="78" end="94"/>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19843">
                                            <p:txEl>
                                              <p:charRg st="94" end="113"/>
                                            </p:txEl>
                                          </p:spTgt>
                                        </p:tgtEl>
                                        <p:attrNameLst>
                                          <p:attrName>style.visibility</p:attrName>
                                        </p:attrNameLst>
                                      </p:cBhvr>
                                      <p:to>
                                        <p:strVal val="visible"/>
                                      </p:to>
                                    </p:set>
                                    <p:anim calcmode="lin" valueType="num">
                                      <p:cBhvr>
                                        <p:cTn id="43" dur="500" fill="hold"/>
                                        <p:tgtEl>
                                          <p:spTgt spid="419843">
                                            <p:txEl>
                                              <p:charRg st="94" end="113"/>
                                            </p:txEl>
                                          </p:spTgt>
                                        </p:tgtEl>
                                        <p:attrNameLst>
                                          <p:attrName>ppt_x</p:attrName>
                                        </p:attrNameLst>
                                      </p:cBhvr>
                                      <p:tavLst>
                                        <p:tav tm="0">
                                          <p:val>
                                            <p:strVal val="0-#ppt_w/2"/>
                                          </p:val>
                                        </p:tav>
                                        <p:tav tm="100000">
                                          <p:val>
                                            <p:strVal val="#ppt_x"/>
                                          </p:val>
                                        </p:tav>
                                      </p:tavLst>
                                    </p:anim>
                                    <p:anim calcmode="lin" valueType="num">
                                      <p:cBhvr>
                                        <p:cTn id="44" dur="500" fill="hold"/>
                                        <p:tgtEl>
                                          <p:spTgt spid="419843">
                                            <p:txEl>
                                              <p:charRg st="94" end="113"/>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19843">
                                            <p:txEl>
                                              <p:charRg st="113" end="134"/>
                                            </p:txEl>
                                          </p:spTgt>
                                        </p:tgtEl>
                                        <p:attrNameLst>
                                          <p:attrName>style.visibility</p:attrName>
                                        </p:attrNameLst>
                                      </p:cBhvr>
                                      <p:to>
                                        <p:strVal val="visible"/>
                                      </p:to>
                                    </p:set>
                                    <p:anim calcmode="lin" valueType="num">
                                      <p:cBhvr>
                                        <p:cTn id="49" dur="500" fill="hold"/>
                                        <p:tgtEl>
                                          <p:spTgt spid="419843">
                                            <p:txEl>
                                              <p:charRg st="113" end="134"/>
                                            </p:txEl>
                                          </p:spTgt>
                                        </p:tgtEl>
                                        <p:attrNameLst>
                                          <p:attrName>ppt_x</p:attrName>
                                        </p:attrNameLst>
                                      </p:cBhvr>
                                      <p:tavLst>
                                        <p:tav tm="0">
                                          <p:val>
                                            <p:strVal val="0-#ppt_w/2"/>
                                          </p:val>
                                        </p:tav>
                                        <p:tav tm="100000">
                                          <p:val>
                                            <p:strVal val="#ppt_x"/>
                                          </p:val>
                                        </p:tav>
                                      </p:tavLst>
                                    </p:anim>
                                    <p:anim calcmode="lin" valueType="num">
                                      <p:cBhvr>
                                        <p:cTn id="50" dur="500" fill="hold"/>
                                        <p:tgtEl>
                                          <p:spTgt spid="419843">
                                            <p:txEl>
                                              <p:charRg st="113" end="134"/>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19843">
                                            <p:txEl>
                                              <p:charRg st="134" end="153"/>
                                            </p:txEl>
                                          </p:spTgt>
                                        </p:tgtEl>
                                        <p:attrNameLst>
                                          <p:attrName>style.visibility</p:attrName>
                                        </p:attrNameLst>
                                      </p:cBhvr>
                                      <p:to>
                                        <p:strVal val="visible"/>
                                      </p:to>
                                    </p:set>
                                    <p:anim calcmode="lin" valueType="num">
                                      <p:cBhvr>
                                        <p:cTn id="55" dur="500" fill="hold"/>
                                        <p:tgtEl>
                                          <p:spTgt spid="419843">
                                            <p:txEl>
                                              <p:charRg st="134" end="153"/>
                                            </p:txEl>
                                          </p:spTgt>
                                        </p:tgtEl>
                                        <p:attrNameLst>
                                          <p:attrName>ppt_x</p:attrName>
                                        </p:attrNameLst>
                                      </p:cBhvr>
                                      <p:tavLst>
                                        <p:tav tm="0">
                                          <p:val>
                                            <p:strVal val="0-#ppt_w/2"/>
                                          </p:val>
                                        </p:tav>
                                        <p:tav tm="100000">
                                          <p:val>
                                            <p:strVal val="#ppt_x"/>
                                          </p:val>
                                        </p:tav>
                                      </p:tavLst>
                                    </p:anim>
                                    <p:anim calcmode="lin" valueType="num">
                                      <p:cBhvr>
                                        <p:cTn id="56" dur="500" fill="hold"/>
                                        <p:tgtEl>
                                          <p:spTgt spid="419843">
                                            <p:txEl>
                                              <p:charRg st="134" end="153"/>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19843">
                                            <p:txEl>
                                              <p:charRg st="153" end="167"/>
                                            </p:txEl>
                                          </p:spTgt>
                                        </p:tgtEl>
                                        <p:attrNameLst>
                                          <p:attrName>style.visibility</p:attrName>
                                        </p:attrNameLst>
                                      </p:cBhvr>
                                      <p:to>
                                        <p:strVal val="visible"/>
                                      </p:to>
                                    </p:set>
                                    <p:anim calcmode="lin" valueType="num">
                                      <p:cBhvr>
                                        <p:cTn id="61" dur="500" fill="hold"/>
                                        <p:tgtEl>
                                          <p:spTgt spid="419843">
                                            <p:txEl>
                                              <p:charRg st="153" end="167"/>
                                            </p:txEl>
                                          </p:spTgt>
                                        </p:tgtEl>
                                        <p:attrNameLst>
                                          <p:attrName>ppt_x</p:attrName>
                                        </p:attrNameLst>
                                      </p:cBhvr>
                                      <p:tavLst>
                                        <p:tav tm="0">
                                          <p:val>
                                            <p:strVal val="0-#ppt_w/2"/>
                                          </p:val>
                                        </p:tav>
                                        <p:tav tm="100000">
                                          <p:val>
                                            <p:strVal val="#ppt_x"/>
                                          </p:val>
                                        </p:tav>
                                      </p:tavLst>
                                    </p:anim>
                                    <p:anim calcmode="lin" valueType="num">
                                      <p:cBhvr>
                                        <p:cTn id="62" dur="500" fill="hold"/>
                                        <p:tgtEl>
                                          <p:spTgt spid="419843">
                                            <p:txEl>
                                              <p:charRg st="153" end="16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3" grpId="0" bldLvl="2"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241" name="Group 2"/>
          <p:cNvGrpSpPr/>
          <p:nvPr/>
        </p:nvGrpSpPr>
        <p:grpSpPr>
          <a:xfrm>
            <a:off x="1981200" y="1676400"/>
            <a:ext cx="5311775" cy="3295650"/>
            <a:chOff x="1262" y="1323"/>
            <a:chExt cx="3346" cy="2076"/>
          </a:xfrm>
        </p:grpSpPr>
        <p:grpSp>
          <p:nvGrpSpPr>
            <p:cNvPr id="10242" name="Group 3"/>
            <p:cNvGrpSpPr/>
            <p:nvPr/>
          </p:nvGrpSpPr>
          <p:grpSpPr>
            <a:xfrm>
              <a:off x="1263" y="1881"/>
              <a:ext cx="384" cy="384"/>
              <a:chOff x="816" y="1872"/>
              <a:chExt cx="384" cy="384"/>
            </a:xfrm>
          </p:grpSpPr>
          <p:sp>
            <p:nvSpPr>
              <p:cNvPr id="10243" name="Oval 4"/>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244" name="Oval 5"/>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245" name="Oval 6"/>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46" name="Oval 7"/>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47" name="Oval 8"/>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48" name="Oval 9"/>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49" name="Oval 10"/>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50" name="Oval 11"/>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51" name="Oval 12"/>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10252" name="Line 13"/>
            <p:cNvSpPr/>
            <p:nvPr/>
          </p:nvSpPr>
          <p:spPr>
            <a:xfrm>
              <a:off x="1584" y="2235"/>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0253" name="Text Box 14"/>
            <p:cNvSpPr txBox="1"/>
            <p:nvPr/>
          </p:nvSpPr>
          <p:spPr>
            <a:xfrm>
              <a:off x="1728" y="1899"/>
              <a:ext cx="2736" cy="365"/>
            </a:xfrm>
            <a:prstGeom prst="rect">
              <a:avLst/>
            </a:prstGeom>
            <a:noFill/>
            <a:ln w="9525">
              <a:noFill/>
            </a:ln>
          </p:spPr>
          <p:txBody>
            <a:bodyPr anchor="t">
              <a:spAutoFit/>
            </a:bodyPr>
            <a:p>
              <a:pPr algn="ctr" eaLnBrk="0" hangingPunct="0"/>
              <a:r>
                <a:rPr lang="zh-CN" altLang="en-US" sz="3200" b="1">
                  <a:solidFill>
                    <a:schemeClr val="accent2"/>
                  </a:solidFill>
                  <a:latin typeface="Arial" panose="020B0604020202020204" pitchFamily="34" charset="0"/>
                  <a:ea typeface="黑体" panose="02010609060101010101" pitchFamily="2" charset="-122"/>
                </a:rPr>
                <a:t>建模一般步骤及范例</a:t>
              </a:r>
              <a:endParaRPr lang="zh-CN" altLang="en-US" sz="3200" b="1">
                <a:solidFill>
                  <a:schemeClr val="accent2"/>
                </a:solidFill>
                <a:latin typeface="Arial" panose="020B0604020202020204" pitchFamily="34" charset="0"/>
                <a:ea typeface="黑体" panose="02010609060101010101" pitchFamily="2" charset="-122"/>
              </a:endParaRPr>
            </a:p>
          </p:txBody>
        </p:sp>
        <p:sp>
          <p:nvSpPr>
            <p:cNvPr id="10254" name="Text Box 15"/>
            <p:cNvSpPr txBox="1"/>
            <p:nvPr/>
          </p:nvSpPr>
          <p:spPr>
            <a:xfrm>
              <a:off x="1344" y="1934"/>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2</a:t>
              </a:r>
              <a:endParaRPr lang="en-US" altLang="zh-CN" sz="2400" b="1">
                <a:solidFill>
                  <a:srgbClr val="000000"/>
                </a:solidFill>
                <a:latin typeface="Arial" panose="020B0604020202020204" pitchFamily="34" charset="0"/>
                <a:ea typeface="宋体" panose="02010600030101010101" pitchFamily="2" charset="-122"/>
              </a:endParaRPr>
            </a:p>
          </p:txBody>
        </p:sp>
        <p:grpSp>
          <p:nvGrpSpPr>
            <p:cNvPr id="10255" name="Group 16"/>
            <p:cNvGrpSpPr/>
            <p:nvPr/>
          </p:nvGrpSpPr>
          <p:grpSpPr>
            <a:xfrm>
              <a:off x="1275" y="3015"/>
              <a:ext cx="384" cy="384"/>
              <a:chOff x="816" y="1872"/>
              <a:chExt cx="384" cy="384"/>
            </a:xfrm>
          </p:grpSpPr>
          <p:sp>
            <p:nvSpPr>
              <p:cNvPr id="10256" name="Oval 17"/>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257" name="Oval 18"/>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258" name="Oval 19"/>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59" name="Oval 20"/>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60" name="Oval 21"/>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61" name="Oval 22"/>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62" name="Oval 23"/>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63" name="Oval 24"/>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64" name="Oval 25"/>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10265" name="Line 26"/>
            <p:cNvSpPr/>
            <p:nvPr/>
          </p:nvSpPr>
          <p:spPr>
            <a:xfrm>
              <a:off x="1584" y="3373"/>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0266" name="Text Box 27"/>
            <p:cNvSpPr txBox="1"/>
            <p:nvPr/>
          </p:nvSpPr>
          <p:spPr>
            <a:xfrm>
              <a:off x="1728" y="3037"/>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评阅标准及论文写作</a:t>
              </a:r>
              <a:endParaRPr lang="zh-CN" altLang="en-US" sz="2800" b="1">
                <a:solidFill>
                  <a:srgbClr val="3333FF"/>
                </a:solidFill>
                <a:latin typeface="Arial" panose="020B0604020202020204" pitchFamily="34" charset="0"/>
                <a:ea typeface="黑体" panose="02010609060101010101" pitchFamily="2" charset="-122"/>
              </a:endParaRPr>
            </a:p>
          </p:txBody>
        </p:sp>
        <p:sp>
          <p:nvSpPr>
            <p:cNvPr id="10267" name="Text Box 28"/>
            <p:cNvSpPr txBox="1"/>
            <p:nvPr/>
          </p:nvSpPr>
          <p:spPr>
            <a:xfrm>
              <a:off x="1362" y="3058"/>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4</a:t>
              </a:r>
              <a:endParaRPr lang="en-US" altLang="zh-CN" sz="2400" b="1">
                <a:solidFill>
                  <a:srgbClr val="000000"/>
                </a:solidFill>
                <a:latin typeface="Arial" panose="020B0604020202020204" pitchFamily="34" charset="0"/>
                <a:ea typeface="宋体" panose="02010600030101010101" pitchFamily="2" charset="-122"/>
              </a:endParaRPr>
            </a:p>
          </p:txBody>
        </p:sp>
        <p:sp>
          <p:nvSpPr>
            <p:cNvPr id="10268" name="Line 29"/>
            <p:cNvSpPr/>
            <p:nvPr/>
          </p:nvSpPr>
          <p:spPr>
            <a:xfrm>
              <a:off x="1584" y="2797"/>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0269" name="Text Box 30"/>
            <p:cNvSpPr txBox="1"/>
            <p:nvPr/>
          </p:nvSpPr>
          <p:spPr>
            <a:xfrm>
              <a:off x="1728" y="2461"/>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试题分析及论文导读</a:t>
              </a:r>
              <a:endParaRPr lang="zh-CN" altLang="en-US" sz="2800" b="1">
                <a:solidFill>
                  <a:srgbClr val="3333FF"/>
                </a:solidFill>
                <a:latin typeface="Arial" panose="020B0604020202020204" pitchFamily="34" charset="0"/>
                <a:ea typeface="黑体" panose="02010609060101010101" pitchFamily="2" charset="-122"/>
              </a:endParaRPr>
            </a:p>
          </p:txBody>
        </p:sp>
        <p:grpSp>
          <p:nvGrpSpPr>
            <p:cNvPr id="10270" name="Group 31"/>
            <p:cNvGrpSpPr/>
            <p:nvPr/>
          </p:nvGrpSpPr>
          <p:grpSpPr>
            <a:xfrm>
              <a:off x="1274" y="2437"/>
              <a:ext cx="384" cy="384"/>
              <a:chOff x="1274" y="2437"/>
              <a:chExt cx="384" cy="384"/>
            </a:xfrm>
          </p:grpSpPr>
          <p:sp>
            <p:nvSpPr>
              <p:cNvPr id="10271" name="Text Box 32"/>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10272" name="Oval 33"/>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273" name="Oval 34"/>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274" name="Oval 35"/>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75" name="Oval 36"/>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76" name="Oval 37"/>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77" name="Oval 38"/>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78" name="Oval 39"/>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79" name="Oval 40"/>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80" name="Oval 41"/>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10281" name="Text Box 42"/>
            <p:cNvSpPr txBox="1"/>
            <p:nvPr/>
          </p:nvSpPr>
          <p:spPr>
            <a:xfrm>
              <a:off x="1353" y="2496"/>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10282" name="Line 43"/>
            <p:cNvSpPr/>
            <p:nvPr/>
          </p:nvSpPr>
          <p:spPr>
            <a:xfrm>
              <a:off x="1584" y="1659"/>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0283" name="Text Box 44"/>
            <p:cNvSpPr txBox="1"/>
            <p:nvPr/>
          </p:nvSpPr>
          <p:spPr>
            <a:xfrm>
              <a:off x="1728" y="1323"/>
              <a:ext cx="2736" cy="365"/>
            </a:xfrm>
            <a:prstGeom prst="rect">
              <a:avLst/>
            </a:prstGeom>
            <a:noFill/>
            <a:ln w="9525">
              <a:noFill/>
            </a:ln>
          </p:spPr>
          <p:txBody>
            <a:bodyPr anchor="t">
              <a:spAutoFit/>
            </a:bodyPr>
            <a:p>
              <a:pPr algn="ctr" eaLnBrk="0" hangingPunct="0"/>
              <a:endParaRPr lang="zh-CN" altLang="zh-CN" sz="3200" b="1">
                <a:solidFill>
                  <a:schemeClr val="accent2"/>
                </a:solidFill>
                <a:latin typeface="Arial" panose="020B0604020202020204" pitchFamily="34" charset="0"/>
                <a:ea typeface="黑体" panose="02010609060101010101" pitchFamily="2" charset="-122"/>
              </a:endParaRPr>
            </a:p>
          </p:txBody>
        </p:sp>
        <p:grpSp>
          <p:nvGrpSpPr>
            <p:cNvPr id="10284" name="Group 45"/>
            <p:cNvGrpSpPr/>
            <p:nvPr/>
          </p:nvGrpSpPr>
          <p:grpSpPr>
            <a:xfrm>
              <a:off x="1262" y="1344"/>
              <a:ext cx="384" cy="384"/>
              <a:chOff x="1274" y="2437"/>
              <a:chExt cx="384" cy="384"/>
            </a:xfrm>
          </p:grpSpPr>
          <p:sp>
            <p:nvSpPr>
              <p:cNvPr id="10285" name="Text Box 46"/>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10286" name="Oval 47"/>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287" name="Oval 48"/>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288" name="Oval 49"/>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89" name="Oval 50"/>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90" name="Oval 51"/>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291" name="Oval 52"/>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92" name="Oval 53"/>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93" name="Oval 54"/>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294" name="Oval 55"/>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10295" name="Text Box 56"/>
            <p:cNvSpPr txBox="1"/>
            <p:nvPr/>
          </p:nvSpPr>
          <p:spPr>
            <a:xfrm>
              <a:off x="1341" y="1403"/>
              <a:ext cx="223" cy="288"/>
            </a:xfrm>
            <a:prstGeom prst="rect">
              <a:avLst/>
            </a:prstGeom>
            <a:noFill/>
            <a:ln w="9525">
              <a:noFill/>
            </a:ln>
          </p:spPr>
          <p:txBody>
            <a:bodyPr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1</a:t>
              </a:r>
              <a:endParaRPr lang="en-US" altLang="zh-CN" sz="2400" b="1">
                <a:solidFill>
                  <a:srgbClr val="000000"/>
                </a:solidFill>
                <a:latin typeface="Arial" panose="020B0604020202020204" pitchFamily="34" charset="0"/>
                <a:ea typeface="宋体" panose="02010600030101010101" pitchFamily="2" charset="-122"/>
              </a:endParaRPr>
            </a:p>
          </p:txBody>
        </p:sp>
      </p:grpSp>
      <p:sp>
        <p:nvSpPr>
          <p:cNvPr id="10296" name="Rectangle 57"/>
          <p:cNvSpPr/>
          <p:nvPr/>
        </p:nvSpPr>
        <p:spPr>
          <a:xfrm>
            <a:off x="3276600" y="1546225"/>
            <a:ext cx="3041650" cy="519113"/>
          </a:xfrm>
          <a:prstGeom prst="rect">
            <a:avLst/>
          </a:prstGeom>
          <a:noFill/>
          <a:ln w="9525">
            <a:noFill/>
          </a:ln>
        </p:spPr>
        <p:txBody>
          <a:bodyPr wrap="none" anchor="t">
            <a:spAutoFit/>
          </a:bodyPr>
          <a:p>
            <a:r>
              <a:rPr lang="zh-CN" altLang="en-US" sz="2800" b="1">
                <a:solidFill>
                  <a:srgbClr val="3333FF"/>
                </a:solidFill>
                <a:latin typeface="Arial" panose="020B0604020202020204" pitchFamily="34" charset="0"/>
                <a:ea typeface="黑体" panose="02010609060101010101" pitchFamily="2" charset="-122"/>
              </a:rPr>
              <a:t>建模一般思维方法</a:t>
            </a:r>
            <a:endParaRPr lang="zh-CN" altLang="en-US" sz="2800" b="1">
              <a:solidFill>
                <a:srgbClr val="3333FF"/>
              </a:solidFill>
              <a:latin typeface="Arial" panose="020B0604020202020204" pitchFamily="34" charset="0"/>
              <a:ea typeface="黑体" panose="0201060906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p:nvPr/>
        </p:nvSpPr>
        <p:spPr>
          <a:xfrm>
            <a:off x="2133600" y="304800"/>
            <a:ext cx="4641850" cy="685800"/>
          </a:xfrm>
          <a:prstGeom prst="rect">
            <a:avLst/>
          </a:prstGeom>
          <a:solidFill>
            <a:srgbClr val="FFFF00"/>
          </a:solidFill>
          <a:ln w="9525">
            <a:noFill/>
          </a:ln>
        </p:spPr>
        <p:txBody>
          <a:bodyPr wrap="none" anchor="ctr"/>
          <a:p>
            <a:pPr algn="ct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数学建模的一般步骤</a:t>
            </a:r>
            <a:endParaRPr lang="zh-CN" altLang="en-US" sz="3200" b="1">
              <a:latin typeface="楷体_GB2312" pitchFamily="49" charset="-122"/>
              <a:ea typeface="楷体_GB2312" pitchFamily="49" charset="-122"/>
            </a:endParaRPr>
          </a:p>
        </p:txBody>
      </p:sp>
      <p:grpSp>
        <p:nvGrpSpPr>
          <p:cNvPr id="2" name="Group 3"/>
          <p:cNvGrpSpPr/>
          <p:nvPr/>
        </p:nvGrpSpPr>
        <p:grpSpPr>
          <a:xfrm>
            <a:off x="1295400" y="1431925"/>
            <a:ext cx="6829425" cy="2911475"/>
            <a:chOff x="1266" y="950"/>
            <a:chExt cx="4302" cy="1834"/>
          </a:xfrm>
        </p:grpSpPr>
        <p:sp>
          <p:nvSpPr>
            <p:cNvPr id="11267" name="Text Box 4"/>
            <p:cNvSpPr txBox="1"/>
            <p:nvPr/>
          </p:nvSpPr>
          <p:spPr>
            <a:xfrm>
              <a:off x="1266" y="960"/>
              <a:ext cx="1086" cy="346"/>
            </a:xfrm>
            <a:prstGeom prst="rect">
              <a:avLst/>
            </a:prstGeom>
            <a:gradFill rotWithShape="0">
              <a:gsLst>
                <a:gs pos="0">
                  <a:srgbClr val="FFCCFF"/>
                </a:gs>
                <a:gs pos="100000">
                  <a:srgbClr val="FFFF99"/>
                </a:gs>
              </a:gsLst>
              <a:lin ang="5400000" scaled="1"/>
              <a:tileRect/>
            </a:gradFill>
            <a:ln w="9525" cap="flat" cmpd="sng">
              <a:solidFill>
                <a:srgbClr val="000000"/>
              </a:solidFill>
              <a:prstDash val="solid"/>
              <a:miter/>
              <a:headEnd type="none" w="med" len="med"/>
              <a:tailEnd type="none" w="med" len="med"/>
            </a:ln>
          </p:spPr>
          <p:txBody>
            <a:bodyPr anchor="t"/>
            <a:p>
              <a:pPr algn="just"/>
              <a:r>
                <a:rPr lang="zh-CN" altLang="en-US" sz="2800" b="1">
                  <a:latin typeface="Times New Roman" panose="02020603050405020304" pitchFamily="18" charset="0"/>
                  <a:ea typeface="宋体" panose="02010600030101010101" pitchFamily="2" charset="-122"/>
                </a:rPr>
                <a:t>问题分析</a:t>
              </a:r>
              <a:endParaRPr lang="zh-CN" altLang="en-US" sz="2800" b="1">
                <a:latin typeface="Times New Roman" panose="02020603050405020304" pitchFamily="18" charset="0"/>
                <a:ea typeface="宋体" panose="02010600030101010101" pitchFamily="2" charset="-122"/>
              </a:endParaRPr>
            </a:p>
          </p:txBody>
        </p:sp>
        <p:sp>
          <p:nvSpPr>
            <p:cNvPr id="11268" name="Line 5"/>
            <p:cNvSpPr/>
            <p:nvPr/>
          </p:nvSpPr>
          <p:spPr>
            <a:xfrm>
              <a:off x="3984" y="1104"/>
              <a:ext cx="528" cy="0"/>
            </a:xfrm>
            <a:prstGeom prst="line">
              <a:avLst/>
            </a:prstGeom>
            <a:ln w="9525" cap="flat" cmpd="sng">
              <a:solidFill>
                <a:srgbClr val="000000"/>
              </a:solidFill>
              <a:prstDash val="solid"/>
              <a:round/>
              <a:headEnd type="none" w="med" len="med"/>
              <a:tailEnd type="triangle" w="med" len="med"/>
            </a:ln>
          </p:spPr>
          <p:txBody>
            <a:bodyPr anchor="t"/>
            <a:p>
              <a:endParaRPr lang="zh-CN" altLang="en-US">
                <a:latin typeface="Arial" panose="020B0604020202020204" pitchFamily="34" charset="0"/>
                <a:ea typeface="宋体" panose="02010600030101010101" pitchFamily="2" charset="-122"/>
              </a:endParaRPr>
            </a:p>
          </p:txBody>
        </p:sp>
        <p:sp>
          <p:nvSpPr>
            <p:cNvPr id="11269" name="Line 6"/>
            <p:cNvSpPr/>
            <p:nvPr/>
          </p:nvSpPr>
          <p:spPr>
            <a:xfrm>
              <a:off x="4992" y="1296"/>
              <a:ext cx="0" cy="384"/>
            </a:xfrm>
            <a:prstGeom prst="line">
              <a:avLst/>
            </a:prstGeom>
            <a:ln w="9525" cap="flat" cmpd="sng">
              <a:solidFill>
                <a:srgbClr val="000000"/>
              </a:solidFill>
              <a:prstDash val="solid"/>
              <a:round/>
              <a:headEnd type="none" w="med" len="med"/>
              <a:tailEnd type="triangle" w="med" len="med"/>
            </a:ln>
          </p:spPr>
          <p:txBody>
            <a:bodyPr anchor="t"/>
            <a:p>
              <a:endParaRPr lang="zh-CN" altLang="en-US">
                <a:latin typeface="Arial" panose="020B0604020202020204" pitchFamily="34" charset="0"/>
                <a:ea typeface="宋体" panose="02010600030101010101" pitchFamily="2" charset="-122"/>
              </a:endParaRPr>
            </a:p>
          </p:txBody>
        </p:sp>
        <p:sp>
          <p:nvSpPr>
            <p:cNvPr id="11270" name="Line 7"/>
            <p:cNvSpPr/>
            <p:nvPr/>
          </p:nvSpPr>
          <p:spPr>
            <a:xfrm flipH="1">
              <a:off x="3984" y="1872"/>
              <a:ext cx="494" cy="0"/>
            </a:xfrm>
            <a:prstGeom prst="line">
              <a:avLst/>
            </a:prstGeom>
            <a:ln w="9525" cap="flat" cmpd="sng">
              <a:solidFill>
                <a:srgbClr val="000000"/>
              </a:solidFill>
              <a:prstDash val="solid"/>
              <a:round/>
              <a:headEnd type="none" w="med" len="med"/>
              <a:tailEnd type="triangle" w="med" len="med"/>
            </a:ln>
          </p:spPr>
          <p:txBody>
            <a:bodyPr anchor="t"/>
            <a:p>
              <a:endParaRPr lang="zh-CN" altLang="en-US">
                <a:latin typeface="Arial" panose="020B0604020202020204" pitchFamily="34" charset="0"/>
                <a:ea typeface="宋体" panose="02010600030101010101" pitchFamily="2" charset="-122"/>
              </a:endParaRPr>
            </a:p>
          </p:txBody>
        </p:sp>
        <p:sp>
          <p:nvSpPr>
            <p:cNvPr id="11271" name="Line 8"/>
            <p:cNvSpPr/>
            <p:nvPr/>
          </p:nvSpPr>
          <p:spPr>
            <a:xfrm flipH="1" flipV="1">
              <a:off x="2352" y="1872"/>
              <a:ext cx="511" cy="0"/>
            </a:xfrm>
            <a:prstGeom prst="line">
              <a:avLst/>
            </a:prstGeom>
            <a:ln w="9525" cap="flat" cmpd="sng">
              <a:solidFill>
                <a:srgbClr val="000000"/>
              </a:solidFill>
              <a:prstDash val="solid"/>
              <a:round/>
              <a:headEnd type="none" w="med" len="med"/>
              <a:tailEnd type="triangle" w="med" len="med"/>
            </a:ln>
          </p:spPr>
          <p:txBody>
            <a:bodyPr anchor="t"/>
            <a:p>
              <a:endParaRPr lang="zh-CN" altLang="en-US">
                <a:latin typeface="Arial" panose="020B0604020202020204" pitchFamily="34" charset="0"/>
                <a:ea typeface="宋体" panose="02010600030101010101" pitchFamily="2" charset="-122"/>
              </a:endParaRPr>
            </a:p>
          </p:txBody>
        </p:sp>
        <p:sp>
          <p:nvSpPr>
            <p:cNvPr id="11272" name="Line 9"/>
            <p:cNvSpPr/>
            <p:nvPr/>
          </p:nvSpPr>
          <p:spPr>
            <a:xfrm>
              <a:off x="1776" y="2074"/>
              <a:ext cx="0" cy="374"/>
            </a:xfrm>
            <a:prstGeom prst="line">
              <a:avLst/>
            </a:prstGeom>
            <a:ln w="9525" cap="flat" cmpd="sng">
              <a:solidFill>
                <a:srgbClr val="000000"/>
              </a:solidFill>
              <a:prstDash val="solid"/>
              <a:round/>
              <a:headEnd type="none" w="med" len="med"/>
              <a:tailEnd type="triangle" w="med" len="med"/>
            </a:ln>
          </p:spPr>
          <p:txBody>
            <a:bodyPr anchor="t"/>
            <a:p>
              <a:endParaRPr lang="zh-CN" altLang="en-US">
                <a:latin typeface="Arial" panose="020B0604020202020204" pitchFamily="34" charset="0"/>
                <a:ea typeface="宋体" panose="02010600030101010101" pitchFamily="2" charset="-122"/>
              </a:endParaRPr>
            </a:p>
          </p:txBody>
        </p:sp>
        <p:sp>
          <p:nvSpPr>
            <p:cNvPr id="11273" name="Line 10"/>
            <p:cNvSpPr/>
            <p:nvPr/>
          </p:nvSpPr>
          <p:spPr>
            <a:xfrm flipV="1">
              <a:off x="2352" y="1296"/>
              <a:ext cx="528" cy="413"/>
            </a:xfrm>
            <a:prstGeom prst="line">
              <a:avLst/>
            </a:prstGeom>
            <a:ln w="9525" cap="flat" cmpd="sng">
              <a:solidFill>
                <a:srgbClr val="000000"/>
              </a:solidFill>
              <a:prstDash val="dash"/>
              <a:round/>
              <a:headEnd type="none" w="med" len="med"/>
              <a:tailEnd type="triangle" w="med" len="med"/>
            </a:ln>
          </p:spPr>
          <p:txBody>
            <a:bodyPr anchor="t"/>
            <a:p>
              <a:endParaRPr lang="zh-CN" altLang="en-US">
                <a:latin typeface="Arial" panose="020B0604020202020204" pitchFamily="34" charset="0"/>
                <a:ea typeface="宋体" panose="02010600030101010101" pitchFamily="2" charset="-122"/>
              </a:endParaRPr>
            </a:p>
          </p:txBody>
        </p:sp>
        <p:sp>
          <p:nvSpPr>
            <p:cNvPr id="11274" name="Text Box 11"/>
            <p:cNvSpPr txBox="1"/>
            <p:nvPr/>
          </p:nvSpPr>
          <p:spPr>
            <a:xfrm>
              <a:off x="2898" y="950"/>
              <a:ext cx="1086" cy="346"/>
            </a:xfrm>
            <a:prstGeom prst="rect">
              <a:avLst/>
            </a:prstGeom>
            <a:gradFill rotWithShape="0">
              <a:gsLst>
                <a:gs pos="0">
                  <a:srgbClr val="FFCCFF"/>
                </a:gs>
                <a:gs pos="100000">
                  <a:srgbClr val="FFFF99"/>
                </a:gs>
              </a:gsLst>
              <a:lin ang="5400000" scaled="1"/>
              <a:tileRect/>
            </a:gradFill>
            <a:ln w="9525" cap="flat" cmpd="sng">
              <a:solidFill>
                <a:srgbClr val="000000"/>
              </a:solidFill>
              <a:prstDash val="solid"/>
              <a:miter/>
              <a:headEnd type="none" w="med" len="med"/>
              <a:tailEnd type="none" w="med" len="med"/>
            </a:ln>
          </p:spPr>
          <p:txBody>
            <a:bodyPr anchor="t"/>
            <a:p>
              <a:pPr algn="just"/>
              <a:r>
                <a:rPr lang="zh-CN" altLang="en-US" sz="2800" b="1">
                  <a:latin typeface="Times New Roman" panose="02020603050405020304" pitchFamily="18" charset="0"/>
                  <a:ea typeface="宋体" panose="02010600030101010101" pitchFamily="2" charset="-122"/>
                </a:rPr>
                <a:t>模型假设</a:t>
              </a:r>
              <a:endParaRPr lang="zh-CN" altLang="en-US" sz="2800" b="1">
                <a:latin typeface="Times New Roman" panose="02020603050405020304" pitchFamily="18" charset="0"/>
                <a:ea typeface="宋体" panose="02010600030101010101" pitchFamily="2" charset="-122"/>
              </a:endParaRPr>
            </a:p>
          </p:txBody>
        </p:sp>
        <p:sp>
          <p:nvSpPr>
            <p:cNvPr id="11275" name="Line 12"/>
            <p:cNvSpPr/>
            <p:nvPr/>
          </p:nvSpPr>
          <p:spPr>
            <a:xfrm>
              <a:off x="2352" y="1104"/>
              <a:ext cx="576" cy="0"/>
            </a:xfrm>
            <a:prstGeom prst="line">
              <a:avLst/>
            </a:prstGeom>
            <a:ln w="9525" cap="flat" cmpd="sng">
              <a:solidFill>
                <a:schemeClr val="tx1"/>
              </a:solidFill>
              <a:prstDash val="solid"/>
              <a:round/>
              <a:headEnd type="none" w="med" len="med"/>
              <a:tailEnd type="triangl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1276" name="Text Box 13"/>
            <p:cNvSpPr txBox="1"/>
            <p:nvPr/>
          </p:nvSpPr>
          <p:spPr>
            <a:xfrm>
              <a:off x="4482" y="950"/>
              <a:ext cx="1086" cy="346"/>
            </a:xfrm>
            <a:prstGeom prst="rect">
              <a:avLst/>
            </a:prstGeom>
            <a:gradFill rotWithShape="0">
              <a:gsLst>
                <a:gs pos="0">
                  <a:srgbClr val="FFCCFF"/>
                </a:gs>
                <a:gs pos="100000">
                  <a:srgbClr val="FFFF99"/>
                </a:gs>
              </a:gsLst>
              <a:lin ang="5400000" scaled="1"/>
              <a:tileRect/>
            </a:gradFill>
            <a:ln w="9525" cap="flat" cmpd="sng">
              <a:solidFill>
                <a:srgbClr val="000000"/>
              </a:solidFill>
              <a:prstDash val="solid"/>
              <a:miter/>
              <a:headEnd type="none" w="med" len="med"/>
              <a:tailEnd type="none" w="med" len="med"/>
            </a:ln>
          </p:spPr>
          <p:txBody>
            <a:bodyPr anchor="t"/>
            <a:p>
              <a:pPr algn="just"/>
              <a:r>
                <a:rPr lang="zh-CN" altLang="en-US" sz="2800" b="1">
                  <a:latin typeface="Times New Roman" panose="02020603050405020304" pitchFamily="18" charset="0"/>
                  <a:ea typeface="宋体" panose="02010600030101010101" pitchFamily="2" charset="-122"/>
                </a:rPr>
                <a:t>建立模型</a:t>
              </a:r>
              <a:endParaRPr lang="zh-CN" altLang="en-US" sz="2800" b="1">
                <a:latin typeface="Times New Roman" panose="02020603050405020304" pitchFamily="18" charset="0"/>
                <a:ea typeface="宋体" panose="02010600030101010101" pitchFamily="2" charset="-122"/>
              </a:endParaRPr>
            </a:p>
          </p:txBody>
        </p:sp>
        <p:sp>
          <p:nvSpPr>
            <p:cNvPr id="11277" name="Text Box 14"/>
            <p:cNvSpPr txBox="1"/>
            <p:nvPr/>
          </p:nvSpPr>
          <p:spPr>
            <a:xfrm>
              <a:off x="4482" y="1680"/>
              <a:ext cx="1086" cy="346"/>
            </a:xfrm>
            <a:prstGeom prst="rect">
              <a:avLst/>
            </a:prstGeom>
            <a:gradFill rotWithShape="0">
              <a:gsLst>
                <a:gs pos="0">
                  <a:srgbClr val="FFCCFF"/>
                </a:gs>
                <a:gs pos="100000">
                  <a:srgbClr val="FFFF99"/>
                </a:gs>
              </a:gsLst>
              <a:lin ang="5400000" scaled="1"/>
              <a:tileRect/>
            </a:gradFill>
            <a:ln w="9525" cap="flat" cmpd="sng">
              <a:solidFill>
                <a:srgbClr val="000000"/>
              </a:solidFill>
              <a:prstDash val="solid"/>
              <a:miter/>
              <a:headEnd type="none" w="med" len="med"/>
              <a:tailEnd type="none" w="med" len="med"/>
            </a:ln>
          </p:spPr>
          <p:txBody>
            <a:bodyPr anchor="t"/>
            <a:p>
              <a:pPr algn="just"/>
              <a:r>
                <a:rPr lang="zh-CN" altLang="en-US" sz="2800" b="1">
                  <a:latin typeface="Times New Roman" panose="02020603050405020304" pitchFamily="18" charset="0"/>
                  <a:ea typeface="宋体" panose="02010600030101010101" pitchFamily="2" charset="-122"/>
                </a:rPr>
                <a:t>模型求解</a:t>
              </a:r>
              <a:endParaRPr lang="zh-CN" altLang="en-US" sz="2800" b="1">
                <a:latin typeface="Times New Roman" panose="02020603050405020304" pitchFamily="18" charset="0"/>
                <a:ea typeface="宋体" panose="02010600030101010101" pitchFamily="2" charset="-122"/>
              </a:endParaRPr>
            </a:p>
          </p:txBody>
        </p:sp>
        <p:sp>
          <p:nvSpPr>
            <p:cNvPr id="11278" name="Text Box 15"/>
            <p:cNvSpPr txBox="1"/>
            <p:nvPr/>
          </p:nvSpPr>
          <p:spPr>
            <a:xfrm>
              <a:off x="2898" y="1680"/>
              <a:ext cx="1086" cy="346"/>
            </a:xfrm>
            <a:prstGeom prst="rect">
              <a:avLst/>
            </a:prstGeom>
            <a:gradFill rotWithShape="0">
              <a:gsLst>
                <a:gs pos="0">
                  <a:srgbClr val="FFCCFF"/>
                </a:gs>
                <a:gs pos="100000">
                  <a:srgbClr val="FFFF99"/>
                </a:gs>
              </a:gsLst>
              <a:lin ang="5400000" scaled="1"/>
              <a:tileRect/>
            </a:gradFill>
            <a:ln w="9525" cap="flat" cmpd="sng">
              <a:solidFill>
                <a:srgbClr val="000000"/>
              </a:solidFill>
              <a:prstDash val="solid"/>
              <a:miter/>
              <a:headEnd type="none" w="med" len="med"/>
              <a:tailEnd type="none" w="med" len="med"/>
            </a:ln>
          </p:spPr>
          <p:txBody>
            <a:bodyPr anchor="t"/>
            <a:p>
              <a:pPr algn="just"/>
              <a:r>
                <a:rPr lang="zh-CN" altLang="en-US" sz="2800" b="1">
                  <a:latin typeface="Times New Roman" panose="02020603050405020304" pitchFamily="18" charset="0"/>
                  <a:ea typeface="宋体" panose="02010600030101010101" pitchFamily="2" charset="-122"/>
                </a:rPr>
                <a:t>模型分析</a:t>
              </a:r>
              <a:endParaRPr lang="zh-CN" altLang="en-US" sz="2800" b="1">
                <a:latin typeface="Times New Roman" panose="02020603050405020304" pitchFamily="18" charset="0"/>
                <a:ea typeface="宋体" panose="02010600030101010101" pitchFamily="2" charset="-122"/>
              </a:endParaRPr>
            </a:p>
          </p:txBody>
        </p:sp>
        <p:sp>
          <p:nvSpPr>
            <p:cNvPr id="11279" name="Text Box 16"/>
            <p:cNvSpPr txBox="1"/>
            <p:nvPr/>
          </p:nvSpPr>
          <p:spPr>
            <a:xfrm>
              <a:off x="1266" y="1718"/>
              <a:ext cx="1086" cy="346"/>
            </a:xfrm>
            <a:prstGeom prst="rect">
              <a:avLst/>
            </a:prstGeom>
            <a:gradFill rotWithShape="0">
              <a:gsLst>
                <a:gs pos="0">
                  <a:srgbClr val="FFCCFF"/>
                </a:gs>
                <a:gs pos="100000">
                  <a:srgbClr val="FFFF99"/>
                </a:gs>
              </a:gsLst>
              <a:lin ang="5400000" scaled="1"/>
              <a:tileRect/>
            </a:gradFill>
            <a:ln w="9525" cap="flat" cmpd="sng">
              <a:solidFill>
                <a:srgbClr val="000000"/>
              </a:solidFill>
              <a:prstDash val="solid"/>
              <a:miter/>
              <a:headEnd type="none" w="med" len="med"/>
              <a:tailEnd type="none" w="med" len="med"/>
            </a:ln>
          </p:spPr>
          <p:txBody>
            <a:bodyPr anchor="t"/>
            <a:p>
              <a:pPr algn="just"/>
              <a:r>
                <a:rPr lang="zh-CN" altLang="en-US" sz="2800" b="1">
                  <a:latin typeface="Times New Roman" panose="02020603050405020304" pitchFamily="18" charset="0"/>
                  <a:ea typeface="宋体" panose="02010600030101010101" pitchFamily="2" charset="-122"/>
                </a:rPr>
                <a:t>模型检验</a:t>
              </a:r>
              <a:endParaRPr lang="zh-CN" altLang="en-US" sz="2800" b="1">
                <a:latin typeface="Times New Roman" panose="02020603050405020304" pitchFamily="18" charset="0"/>
                <a:ea typeface="宋体" panose="02010600030101010101" pitchFamily="2" charset="-122"/>
              </a:endParaRPr>
            </a:p>
          </p:txBody>
        </p:sp>
        <p:sp>
          <p:nvSpPr>
            <p:cNvPr id="11280" name="Text Box 17"/>
            <p:cNvSpPr txBox="1"/>
            <p:nvPr/>
          </p:nvSpPr>
          <p:spPr>
            <a:xfrm>
              <a:off x="1266" y="2438"/>
              <a:ext cx="1086" cy="346"/>
            </a:xfrm>
            <a:prstGeom prst="rect">
              <a:avLst/>
            </a:prstGeom>
            <a:gradFill rotWithShape="0">
              <a:gsLst>
                <a:gs pos="0">
                  <a:srgbClr val="FFCCFF"/>
                </a:gs>
                <a:gs pos="100000">
                  <a:srgbClr val="FFFF99"/>
                </a:gs>
              </a:gsLst>
              <a:lin ang="5400000" scaled="1"/>
              <a:tileRect/>
            </a:gradFill>
            <a:ln w="9525" cap="flat" cmpd="sng">
              <a:solidFill>
                <a:srgbClr val="000000"/>
              </a:solidFill>
              <a:prstDash val="solid"/>
              <a:miter/>
              <a:headEnd type="none" w="med" len="med"/>
              <a:tailEnd type="none" w="med" len="med"/>
            </a:ln>
          </p:spPr>
          <p:txBody>
            <a:bodyPr anchor="t"/>
            <a:p>
              <a:pPr algn="just"/>
              <a:r>
                <a:rPr lang="zh-CN" altLang="en-US" sz="2800" b="1">
                  <a:latin typeface="Times New Roman" panose="02020603050405020304" pitchFamily="18" charset="0"/>
                  <a:ea typeface="宋体" panose="02010600030101010101" pitchFamily="2" charset="-122"/>
                </a:rPr>
                <a:t>模型应用</a:t>
              </a:r>
              <a:endParaRPr lang="zh-CN" altLang="en-US" sz="2800" b="1">
                <a:latin typeface="Times New Roman" panose="02020603050405020304" pitchFamily="18" charset="0"/>
                <a:ea typeface="宋体" panose="02010600030101010101" pitchFamily="2" charset="-122"/>
              </a:endParaRPr>
            </a:p>
          </p:txBody>
        </p:sp>
      </p:grpSp>
      <p:sp>
        <p:nvSpPr>
          <p:cNvPr id="64530" name="Rectangle 18"/>
          <p:cNvSpPr/>
          <p:nvPr/>
        </p:nvSpPr>
        <p:spPr>
          <a:xfrm>
            <a:off x="762000" y="4419600"/>
            <a:ext cx="609600" cy="1752600"/>
          </a:xfrm>
          <a:prstGeom prst="rect">
            <a:avLst/>
          </a:prstGeom>
          <a:gradFill rotWithShape="0">
            <a:gsLst>
              <a:gs pos="0">
                <a:srgbClr val="FF99CC"/>
              </a:gs>
              <a:gs pos="100000">
                <a:srgbClr val="FFFF99"/>
              </a:gs>
            </a:gsLst>
            <a:lin ang="5400000" scaled="1"/>
            <a:tileRect/>
          </a:gradFill>
          <a:ln w="9525" cap="flat" cmpd="sng">
            <a:solidFill>
              <a:schemeClr val="tx1"/>
            </a:solidFill>
            <a:prstDash val="solid"/>
            <a:miter/>
            <a:headEnd type="none" w="med" len="med"/>
            <a:tailEnd type="none" w="med" len="med"/>
          </a:ln>
        </p:spPr>
        <p:txBody>
          <a:bodyPr wrap="none" anchor="ctr"/>
          <a:p>
            <a:pPr algn="ctr"/>
            <a:r>
              <a:rPr lang="zh-CN" altLang="en-US" sz="2800" b="1">
                <a:latin typeface="Times New Roman" panose="02020603050405020304" pitchFamily="18" charset="0"/>
                <a:ea typeface="宋体" panose="02010600030101010101" pitchFamily="2" charset="-122"/>
              </a:rPr>
              <a:t>问</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题</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分</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析</a:t>
            </a:r>
            <a:endParaRPr lang="zh-CN" altLang="en-US" sz="2800" b="1">
              <a:latin typeface="Times New Roman" panose="02020603050405020304" pitchFamily="18" charset="0"/>
              <a:ea typeface="宋体" panose="02010600030101010101" pitchFamily="2" charset="-122"/>
            </a:endParaRPr>
          </a:p>
        </p:txBody>
      </p:sp>
      <p:sp>
        <p:nvSpPr>
          <p:cNvPr id="64531" name="Rectangle 19"/>
          <p:cNvSpPr/>
          <p:nvPr/>
        </p:nvSpPr>
        <p:spPr>
          <a:xfrm>
            <a:off x="1828800" y="4572000"/>
            <a:ext cx="2286000" cy="609600"/>
          </a:xfrm>
          <a:prstGeom prst="rect">
            <a:avLst/>
          </a:prstGeom>
          <a:noFill/>
          <a:ln w="9525">
            <a:noFill/>
          </a:ln>
        </p:spPr>
        <p:txBody>
          <a:bodyPr wrap="none" anchor="ctr"/>
          <a:p>
            <a:pPr algn="ctr"/>
            <a:r>
              <a:rPr lang="zh-CN" altLang="en-US" sz="2800" b="1">
                <a:latin typeface="楷体_GB2312" pitchFamily="49" charset="-122"/>
                <a:ea typeface="楷体_GB2312" pitchFamily="49" charset="-122"/>
              </a:rPr>
              <a:t>了解实际背景</a:t>
            </a:r>
            <a:endParaRPr lang="zh-CN" altLang="en-US" sz="2800" b="1">
              <a:latin typeface="楷体_GB2312" pitchFamily="49" charset="-122"/>
              <a:ea typeface="楷体_GB2312" pitchFamily="49" charset="-122"/>
            </a:endParaRPr>
          </a:p>
        </p:txBody>
      </p:sp>
      <p:sp>
        <p:nvSpPr>
          <p:cNvPr id="64532" name="Rectangle 20"/>
          <p:cNvSpPr/>
          <p:nvPr/>
        </p:nvSpPr>
        <p:spPr>
          <a:xfrm>
            <a:off x="4495800" y="4572000"/>
            <a:ext cx="2286000" cy="609600"/>
          </a:xfrm>
          <a:prstGeom prst="rect">
            <a:avLst/>
          </a:prstGeom>
          <a:noFill/>
          <a:ln w="9525">
            <a:noFill/>
          </a:ln>
        </p:spPr>
        <p:txBody>
          <a:bodyPr wrap="none" anchor="ctr"/>
          <a:p>
            <a:pPr algn="ctr"/>
            <a:r>
              <a:rPr lang="zh-CN" altLang="en-US" sz="2800" b="1">
                <a:latin typeface="楷体_GB2312" pitchFamily="49" charset="-122"/>
                <a:ea typeface="楷体_GB2312" pitchFamily="49" charset="-122"/>
              </a:rPr>
              <a:t>明确建模目的</a:t>
            </a:r>
            <a:endParaRPr lang="zh-CN" altLang="en-US" sz="2800" b="1">
              <a:latin typeface="楷体_GB2312" pitchFamily="49" charset="-122"/>
              <a:ea typeface="楷体_GB2312" pitchFamily="49" charset="-122"/>
            </a:endParaRPr>
          </a:p>
        </p:txBody>
      </p:sp>
      <p:sp>
        <p:nvSpPr>
          <p:cNvPr id="64533" name="Rectangle 21"/>
          <p:cNvSpPr/>
          <p:nvPr/>
        </p:nvSpPr>
        <p:spPr>
          <a:xfrm>
            <a:off x="1828800" y="5486400"/>
            <a:ext cx="2286000" cy="609600"/>
          </a:xfrm>
          <a:prstGeom prst="rect">
            <a:avLst/>
          </a:prstGeom>
          <a:noFill/>
          <a:ln w="9525">
            <a:noFill/>
          </a:ln>
        </p:spPr>
        <p:txBody>
          <a:bodyPr wrap="none" anchor="ctr"/>
          <a:p>
            <a:pPr algn="ctr"/>
            <a:r>
              <a:rPr lang="zh-CN" altLang="en-US" sz="2800" b="1">
                <a:latin typeface="楷体_GB2312" pitchFamily="49" charset="-122"/>
                <a:ea typeface="楷体_GB2312" pitchFamily="49" charset="-122"/>
              </a:rPr>
              <a:t>搜集有关信息</a:t>
            </a:r>
            <a:endParaRPr lang="zh-CN" altLang="en-US" sz="2800" b="1">
              <a:latin typeface="楷体_GB2312" pitchFamily="49" charset="-122"/>
              <a:ea typeface="楷体_GB2312" pitchFamily="49" charset="-122"/>
            </a:endParaRPr>
          </a:p>
        </p:txBody>
      </p:sp>
      <p:sp>
        <p:nvSpPr>
          <p:cNvPr id="64534" name="Rectangle 22"/>
          <p:cNvSpPr/>
          <p:nvPr/>
        </p:nvSpPr>
        <p:spPr>
          <a:xfrm>
            <a:off x="4419600" y="5486400"/>
            <a:ext cx="2286000" cy="609600"/>
          </a:xfrm>
          <a:prstGeom prst="rect">
            <a:avLst/>
          </a:prstGeom>
          <a:noFill/>
          <a:ln w="9525">
            <a:noFill/>
          </a:ln>
        </p:spPr>
        <p:txBody>
          <a:bodyPr wrap="none" anchor="ctr"/>
          <a:p>
            <a:pPr algn="ctr"/>
            <a:r>
              <a:rPr lang="zh-CN" altLang="en-US" sz="2800" b="1">
                <a:latin typeface="楷体_GB2312" pitchFamily="49" charset="-122"/>
                <a:ea typeface="楷体_GB2312" pitchFamily="49" charset="-122"/>
              </a:rPr>
              <a:t>掌握对象特征</a:t>
            </a:r>
            <a:endParaRPr lang="zh-CN" altLang="en-US" sz="2800" b="1">
              <a:latin typeface="楷体_GB2312" pitchFamily="49" charset="-122"/>
              <a:ea typeface="楷体_GB2312" pitchFamily="49" charset="-122"/>
            </a:endParaRPr>
          </a:p>
        </p:txBody>
      </p:sp>
      <p:sp>
        <p:nvSpPr>
          <p:cNvPr id="64535" name="Rectangle 23"/>
          <p:cNvSpPr/>
          <p:nvPr/>
        </p:nvSpPr>
        <p:spPr>
          <a:xfrm>
            <a:off x="7162800" y="4495800"/>
            <a:ext cx="1524000" cy="1676400"/>
          </a:xfrm>
          <a:prstGeom prst="rect">
            <a:avLst/>
          </a:prstGeom>
          <a:gradFill rotWithShape="0">
            <a:gsLst>
              <a:gs pos="0">
                <a:srgbClr val="FFFF99"/>
              </a:gs>
              <a:gs pos="100000">
                <a:srgbClr val="FFCCFF"/>
              </a:gs>
            </a:gsLst>
            <a:lin ang="5400000" scaled="1"/>
            <a:tileRect/>
          </a:gradFill>
          <a:ln w="9525">
            <a:noFill/>
          </a:ln>
        </p:spPr>
        <p:txBody>
          <a:bodyPr wrap="none" anchor="ctr"/>
          <a:p>
            <a:pPr algn="ctr">
              <a:lnSpc>
                <a:spcPct val="120000"/>
              </a:lnSpc>
            </a:pPr>
            <a:r>
              <a:rPr lang="zh-CN" altLang="en-US" sz="2800" b="1">
                <a:latin typeface="Times New Roman" panose="02020603050405020304" pitchFamily="18" charset="0"/>
                <a:ea typeface="楷体_GB2312" pitchFamily="49" charset="-122"/>
              </a:rPr>
              <a:t>形成一个</a:t>
            </a:r>
            <a:endParaRPr lang="zh-CN" altLang="en-US" sz="2800" b="1">
              <a:latin typeface="Times New Roman" panose="02020603050405020304" pitchFamily="18" charset="0"/>
              <a:ea typeface="楷体_GB2312" pitchFamily="49" charset="-122"/>
            </a:endParaRPr>
          </a:p>
          <a:p>
            <a:pPr algn="ctr">
              <a:lnSpc>
                <a:spcPct val="120000"/>
              </a:lnSpc>
            </a:pPr>
            <a:r>
              <a:rPr lang="zh-CN" altLang="en-US" sz="2800" b="1">
                <a:latin typeface="Times New Roman" panose="02020603050405020304" pitchFamily="18" charset="0"/>
                <a:ea typeface="楷体_GB2312" pitchFamily="49" charset="-122"/>
              </a:rPr>
              <a:t>比较清晰</a:t>
            </a:r>
            <a:endParaRPr lang="zh-CN" altLang="en-US" sz="2800" b="1">
              <a:latin typeface="Times New Roman" panose="02020603050405020304" pitchFamily="18" charset="0"/>
              <a:ea typeface="楷体_GB2312" pitchFamily="49" charset="-122"/>
            </a:endParaRPr>
          </a:p>
          <a:p>
            <a:pPr algn="ctr">
              <a:lnSpc>
                <a:spcPct val="120000"/>
              </a:lnSpc>
            </a:pPr>
            <a:r>
              <a:rPr lang="zh-CN" altLang="en-US" sz="2800" b="1">
                <a:latin typeface="Times New Roman" panose="02020603050405020304" pitchFamily="18" charset="0"/>
                <a:ea typeface="楷体_GB2312" pitchFamily="49" charset="-122"/>
              </a:rPr>
              <a:t>的‘问题’</a:t>
            </a:r>
            <a:endParaRPr lang="zh-CN" altLang="en-US" sz="2800" b="1">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6453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4531"/>
                                        </p:tgtEl>
                                        <p:attrNameLst>
                                          <p:attrName>style.visibility</p:attrName>
                                        </p:attrNameLst>
                                      </p:cBhvr>
                                      <p:to>
                                        <p:strVal val="visible"/>
                                      </p:to>
                                    </p:set>
                                    <p:animEffect transition="in" filter="blinds(horizontal)">
                                      <p:cBhvr>
                                        <p:cTn id="16" dur="500"/>
                                        <p:tgtEl>
                                          <p:spTgt spid="6453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grpId="0" nodeType="clickEffect">
                                  <p:stCondLst>
                                    <p:cond delay="0"/>
                                  </p:stCondLst>
                                  <p:childTnLst>
                                    <p:set>
                                      <p:cBhvr>
                                        <p:cTn id="20" dur="1" fill="hold">
                                          <p:stCondLst>
                                            <p:cond delay="0"/>
                                          </p:stCondLst>
                                        </p:cTn>
                                        <p:tgtEl>
                                          <p:spTgt spid="64532"/>
                                        </p:tgtEl>
                                        <p:attrNameLst>
                                          <p:attrName>style.visibility</p:attrName>
                                        </p:attrNameLst>
                                      </p:cBhvr>
                                      <p:to>
                                        <p:strVal val="visible"/>
                                      </p:to>
                                    </p:set>
                                    <p:animEffect transition="in" filter="blinds(vertical)">
                                      <p:cBhvr>
                                        <p:cTn id="21" dur="500"/>
                                        <p:tgtEl>
                                          <p:spTgt spid="64532"/>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64533"/>
                                        </p:tgtEl>
                                        <p:attrNameLst>
                                          <p:attrName>style.visibility</p:attrName>
                                        </p:attrNameLst>
                                      </p:cBhvr>
                                      <p:to>
                                        <p:strVal val="visible"/>
                                      </p:to>
                                    </p:set>
                                    <p:animEffect transition="in" filter="checkerboard(across)">
                                      <p:cBhvr>
                                        <p:cTn id="26" dur="500"/>
                                        <p:tgtEl>
                                          <p:spTgt spid="64533"/>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5" fill="hold" grpId="0" nodeType="clickEffect">
                                  <p:stCondLst>
                                    <p:cond delay="0"/>
                                  </p:stCondLst>
                                  <p:childTnLst>
                                    <p:set>
                                      <p:cBhvr>
                                        <p:cTn id="30" dur="1" fill="hold">
                                          <p:stCondLst>
                                            <p:cond delay="0"/>
                                          </p:stCondLst>
                                        </p:cTn>
                                        <p:tgtEl>
                                          <p:spTgt spid="64534"/>
                                        </p:tgtEl>
                                        <p:attrNameLst>
                                          <p:attrName>style.visibility</p:attrName>
                                        </p:attrNameLst>
                                      </p:cBhvr>
                                      <p:to>
                                        <p:strVal val="visible"/>
                                      </p:to>
                                    </p:set>
                                    <p:animEffect transition="in" filter="checkerboard(down)">
                                      <p:cBhvr>
                                        <p:cTn id="31" dur="500"/>
                                        <p:tgtEl>
                                          <p:spTgt spid="64534"/>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2" fill="hold" grpId="0" nodeType="clickEffect">
                                  <p:stCondLst>
                                    <p:cond delay="0"/>
                                  </p:stCondLst>
                                  <p:childTnLst>
                                    <p:set>
                                      <p:cBhvr>
                                        <p:cTn id="35" dur="1" fill="hold">
                                          <p:stCondLst>
                                            <p:cond delay="0"/>
                                          </p:stCondLst>
                                        </p:cTn>
                                        <p:tgtEl>
                                          <p:spTgt spid="64535"/>
                                        </p:tgtEl>
                                        <p:attrNameLst>
                                          <p:attrName>style.visibility</p:attrName>
                                        </p:attrNameLst>
                                      </p:cBhvr>
                                      <p:to>
                                        <p:strVal val="visible"/>
                                      </p:to>
                                    </p:set>
                                    <p:animEffect transition="in" filter="slide(fromRight)">
                                      <p:cBhvr>
                                        <p:cTn id="36" dur="500"/>
                                        <p:tgtEl>
                                          <p:spTgt spid="64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30" grpId="0" animBg="1"/>
      <p:bldP spid="64531" grpId="0"/>
      <p:bldP spid="64532" grpId="0"/>
      <p:bldP spid="64533" grpId="0"/>
      <p:bldP spid="64534" grpId="0"/>
      <p:bldP spid="645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p:nvPr/>
        </p:nvSpPr>
        <p:spPr>
          <a:xfrm>
            <a:off x="1295400" y="1219200"/>
            <a:ext cx="609600" cy="1828800"/>
          </a:xfrm>
          <a:prstGeom prst="rect">
            <a:avLst/>
          </a:prstGeom>
          <a:gradFill rotWithShape="0">
            <a:gsLst>
              <a:gs pos="0">
                <a:srgbClr val="FF99CC"/>
              </a:gs>
              <a:gs pos="100000">
                <a:srgbClr val="FFFF99"/>
              </a:gs>
            </a:gsLst>
            <a:lin ang="5400000" scaled="1"/>
            <a:tileRect/>
          </a:gradFill>
          <a:ln w="9525" cap="flat" cmpd="sng">
            <a:solidFill>
              <a:schemeClr val="tx1"/>
            </a:solidFill>
            <a:prstDash val="solid"/>
            <a:miter/>
            <a:headEnd type="none" w="med" len="med"/>
            <a:tailEnd type="none" w="med" len="med"/>
          </a:ln>
        </p:spPr>
        <p:txBody>
          <a:bodyPr wrap="none" anchor="ctr"/>
          <a:p>
            <a:pPr algn="ctr"/>
            <a:r>
              <a:rPr lang="zh-CN" altLang="en-US" sz="2800" b="1">
                <a:latin typeface="Times New Roman" panose="02020603050405020304" pitchFamily="18" charset="0"/>
                <a:ea typeface="宋体" panose="02010600030101010101" pitchFamily="2" charset="-122"/>
              </a:rPr>
              <a:t>模</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型</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假</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设</a:t>
            </a:r>
            <a:endParaRPr lang="zh-CN" altLang="en-US" sz="2800" b="1">
              <a:latin typeface="Times New Roman" panose="02020603050405020304" pitchFamily="18" charset="0"/>
              <a:ea typeface="宋体" panose="02010600030101010101" pitchFamily="2" charset="-122"/>
            </a:endParaRPr>
          </a:p>
        </p:txBody>
      </p:sp>
      <p:sp>
        <p:nvSpPr>
          <p:cNvPr id="65539" name="Rectangle 3"/>
          <p:cNvSpPr/>
          <p:nvPr/>
        </p:nvSpPr>
        <p:spPr>
          <a:xfrm>
            <a:off x="2514600" y="1219200"/>
            <a:ext cx="4343400" cy="609600"/>
          </a:xfrm>
          <a:prstGeom prst="rect">
            <a:avLst/>
          </a:prstGeom>
          <a:noFill/>
          <a:ln w="9525">
            <a:noFill/>
          </a:ln>
        </p:spPr>
        <p:txBody>
          <a:bodyPr wrap="none" anchor="ctr"/>
          <a:p>
            <a:pPr algn="ctr"/>
            <a:r>
              <a:rPr lang="zh-CN" altLang="en-US" sz="2800" b="1">
                <a:latin typeface="Times New Roman" panose="02020603050405020304" pitchFamily="18" charset="0"/>
                <a:ea typeface="楷体_GB2312" pitchFamily="49" charset="-122"/>
              </a:rPr>
              <a:t>针对问题特点和建模目的</a:t>
            </a:r>
            <a:endParaRPr lang="zh-CN" altLang="en-US" sz="2800" b="1">
              <a:latin typeface="Times New Roman" panose="02020603050405020304" pitchFamily="18" charset="0"/>
              <a:ea typeface="楷体_GB2312" pitchFamily="49" charset="-122"/>
            </a:endParaRPr>
          </a:p>
        </p:txBody>
      </p:sp>
      <p:sp>
        <p:nvSpPr>
          <p:cNvPr id="65540" name="Rectangle 4"/>
          <p:cNvSpPr/>
          <p:nvPr/>
        </p:nvSpPr>
        <p:spPr>
          <a:xfrm>
            <a:off x="3810000" y="1981200"/>
            <a:ext cx="4724400" cy="609600"/>
          </a:xfrm>
          <a:prstGeom prst="rect">
            <a:avLst/>
          </a:prstGeom>
          <a:noFill/>
          <a:ln w="9525">
            <a:noFill/>
          </a:ln>
        </p:spPr>
        <p:txBody>
          <a:bodyPr wrap="none" anchor="ctr"/>
          <a:p>
            <a:pPr algn="ctr"/>
            <a:r>
              <a:rPr lang="zh-CN" altLang="en-US" sz="2800" b="1">
                <a:latin typeface="Times New Roman" panose="02020603050405020304" pitchFamily="18" charset="0"/>
                <a:ea typeface="楷体_GB2312" pitchFamily="49" charset="-122"/>
              </a:rPr>
              <a:t>作出合理的、简化的假设</a:t>
            </a:r>
            <a:endParaRPr lang="zh-CN" altLang="en-US" sz="2800" b="1">
              <a:latin typeface="Times New Roman" panose="02020603050405020304" pitchFamily="18" charset="0"/>
              <a:ea typeface="楷体_GB2312" pitchFamily="49" charset="-122"/>
            </a:endParaRPr>
          </a:p>
        </p:txBody>
      </p:sp>
      <p:sp>
        <p:nvSpPr>
          <p:cNvPr id="65541" name="Rectangle 5"/>
          <p:cNvSpPr/>
          <p:nvPr/>
        </p:nvSpPr>
        <p:spPr>
          <a:xfrm>
            <a:off x="2362200" y="2743200"/>
            <a:ext cx="4724400" cy="609600"/>
          </a:xfrm>
          <a:prstGeom prst="rect">
            <a:avLst/>
          </a:prstGeom>
          <a:solidFill>
            <a:srgbClr val="CCECFF"/>
          </a:solidFill>
          <a:ln w="9525">
            <a:noFill/>
          </a:ln>
        </p:spPr>
        <p:txBody>
          <a:bodyPr wrap="none" anchor="ctr"/>
          <a:p>
            <a:pPr algn="ctr"/>
            <a:r>
              <a:rPr lang="zh-CN" altLang="en-US" sz="2800" b="1">
                <a:latin typeface="Times New Roman" panose="02020603050405020304" pitchFamily="18" charset="0"/>
                <a:ea typeface="楷体_GB2312" pitchFamily="49" charset="-122"/>
              </a:rPr>
              <a:t>在合理与简化之间作出折中</a:t>
            </a:r>
            <a:endParaRPr lang="zh-CN" altLang="en-US" sz="2800" b="1">
              <a:latin typeface="Times New Roman" panose="02020603050405020304" pitchFamily="18" charset="0"/>
              <a:ea typeface="楷体_GB2312" pitchFamily="49" charset="-122"/>
            </a:endParaRPr>
          </a:p>
        </p:txBody>
      </p:sp>
      <p:sp>
        <p:nvSpPr>
          <p:cNvPr id="65542" name="Rectangle 6"/>
          <p:cNvSpPr/>
          <p:nvPr/>
        </p:nvSpPr>
        <p:spPr>
          <a:xfrm>
            <a:off x="1295400" y="4038600"/>
            <a:ext cx="609600" cy="2057400"/>
          </a:xfrm>
          <a:prstGeom prst="rect">
            <a:avLst/>
          </a:prstGeom>
          <a:gradFill rotWithShape="0">
            <a:gsLst>
              <a:gs pos="0">
                <a:srgbClr val="FF99CC"/>
              </a:gs>
              <a:gs pos="100000">
                <a:srgbClr val="FFFF99"/>
              </a:gs>
            </a:gsLst>
            <a:lin ang="5400000" scaled="1"/>
            <a:tileRect/>
          </a:gradFill>
          <a:ln w="9525" cap="flat" cmpd="sng">
            <a:solidFill>
              <a:schemeClr val="tx1"/>
            </a:solidFill>
            <a:prstDash val="solid"/>
            <a:miter/>
            <a:headEnd type="none" w="med" len="med"/>
            <a:tailEnd type="none" w="med" len="med"/>
          </a:ln>
        </p:spPr>
        <p:txBody>
          <a:bodyPr wrap="none" anchor="ctr"/>
          <a:p>
            <a:pPr algn="ctr"/>
            <a:endParaRPr lang="en-US" altLang="zh-CN"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建</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立</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模</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型</a:t>
            </a:r>
            <a:endParaRPr lang="zh-CN" altLang="en-US" sz="2800" b="1">
              <a:latin typeface="Times New Roman" panose="02020603050405020304" pitchFamily="18" charset="0"/>
              <a:ea typeface="宋体" panose="02010600030101010101" pitchFamily="2" charset="-122"/>
            </a:endParaRPr>
          </a:p>
          <a:p>
            <a:pPr algn="ctr"/>
            <a:endParaRPr lang="en-US" altLang="zh-CN" sz="2800" b="1">
              <a:latin typeface="Times New Roman" panose="02020603050405020304" pitchFamily="18" charset="0"/>
              <a:ea typeface="宋体" panose="02010600030101010101" pitchFamily="2" charset="-122"/>
            </a:endParaRPr>
          </a:p>
        </p:txBody>
      </p:sp>
      <p:sp>
        <p:nvSpPr>
          <p:cNvPr id="65543" name="Rectangle 7"/>
          <p:cNvSpPr/>
          <p:nvPr/>
        </p:nvSpPr>
        <p:spPr>
          <a:xfrm>
            <a:off x="3048000" y="3733800"/>
            <a:ext cx="4800600" cy="685800"/>
          </a:xfrm>
          <a:prstGeom prst="rect">
            <a:avLst/>
          </a:prstGeom>
          <a:noFill/>
          <a:ln w="9525">
            <a:noFill/>
          </a:ln>
        </p:spPr>
        <p:txBody>
          <a:bodyPr wrap="none" anchor="ctr"/>
          <a:p>
            <a:pPr algn="ctr"/>
            <a:r>
              <a:rPr lang="zh-CN" altLang="en-US" sz="2800" b="1">
                <a:latin typeface="Times New Roman" panose="02020603050405020304" pitchFamily="18" charset="0"/>
                <a:ea typeface="楷体_GB2312" pitchFamily="49" charset="-122"/>
              </a:rPr>
              <a:t>用数学的语言、符号描述问题</a:t>
            </a:r>
            <a:endParaRPr lang="zh-CN" altLang="en-US" sz="2800" b="1">
              <a:latin typeface="Times New Roman" panose="02020603050405020304" pitchFamily="18" charset="0"/>
              <a:ea typeface="楷体_GB2312" pitchFamily="49" charset="-122"/>
            </a:endParaRPr>
          </a:p>
        </p:txBody>
      </p:sp>
      <p:sp>
        <p:nvSpPr>
          <p:cNvPr id="65544" name="Rectangle 8"/>
          <p:cNvSpPr/>
          <p:nvPr/>
        </p:nvSpPr>
        <p:spPr>
          <a:xfrm>
            <a:off x="2514600" y="4724400"/>
            <a:ext cx="2286000" cy="609600"/>
          </a:xfrm>
          <a:prstGeom prst="rect">
            <a:avLst/>
          </a:prstGeom>
          <a:noFill/>
          <a:ln w="9525">
            <a:noFill/>
          </a:ln>
        </p:spPr>
        <p:txBody>
          <a:bodyPr wrap="none" anchor="ctr"/>
          <a:p>
            <a:pPr algn="ctr"/>
            <a:r>
              <a:rPr lang="zh-CN" altLang="en-US" sz="2800" b="1">
                <a:latin typeface="Times New Roman" panose="02020603050405020304" pitchFamily="18" charset="0"/>
                <a:ea typeface="楷体_GB2312" pitchFamily="49" charset="-122"/>
              </a:rPr>
              <a:t>发挥想象力</a:t>
            </a:r>
            <a:endParaRPr lang="zh-CN" altLang="en-US" sz="2800" b="1">
              <a:latin typeface="Times New Roman" panose="02020603050405020304" pitchFamily="18" charset="0"/>
              <a:ea typeface="楷体_GB2312" pitchFamily="49" charset="-122"/>
            </a:endParaRPr>
          </a:p>
        </p:txBody>
      </p:sp>
      <p:sp>
        <p:nvSpPr>
          <p:cNvPr id="65545" name="Rectangle 9"/>
          <p:cNvSpPr/>
          <p:nvPr/>
        </p:nvSpPr>
        <p:spPr>
          <a:xfrm>
            <a:off x="6019800" y="4724400"/>
            <a:ext cx="2286000" cy="609600"/>
          </a:xfrm>
          <a:prstGeom prst="rect">
            <a:avLst/>
          </a:prstGeom>
          <a:noFill/>
          <a:ln w="9525">
            <a:noFill/>
          </a:ln>
        </p:spPr>
        <p:txBody>
          <a:bodyPr wrap="none" anchor="ctr"/>
          <a:p>
            <a:pPr algn="ctr"/>
            <a:r>
              <a:rPr lang="zh-CN" altLang="en-US" sz="2800" b="1">
                <a:latin typeface="Times New Roman" panose="02020603050405020304" pitchFamily="18" charset="0"/>
                <a:ea typeface="楷体_GB2312" pitchFamily="49" charset="-122"/>
              </a:rPr>
              <a:t>使用类比法</a:t>
            </a:r>
            <a:endParaRPr lang="zh-CN" altLang="en-US" sz="2800" b="1">
              <a:latin typeface="Times New Roman" panose="02020603050405020304" pitchFamily="18" charset="0"/>
              <a:ea typeface="楷体_GB2312" pitchFamily="49" charset="-122"/>
            </a:endParaRPr>
          </a:p>
        </p:txBody>
      </p:sp>
      <p:sp>
        <p:nvSpPr>
          <p:cNvPr id="65546" name="Rectangle 10"/>
          <p:cNvSpPr/>
          <p:nvPr/>
        </p:nvSpPr>
        <p:spPr>
          <a:xfrm>
            <a:off x="3124200" y="5638800"/>
            <a:ext cx="4114800" cy="609600"/>
          </a:xfrm>
          <a:prstGeom prst="rect">
            <a:avLst/>
          </a:prstGeom>
          <a:solidFill>
            <a:srgbClr val="FFCCFF"/>
          </a:solidFill>
          <a:ln w="9525">
            <a:noFill/>
          </a:ln>
        </p:spPr>
        <p:txBody>
          <a:bodyPr wrap="none" anchor="ctr"/>
          <a:p>
            <a:pPr algn="ctr"/>
            <a:r>
              <a:rPr lang="zh-CN" altLang="en-US" sz="2800" b="1">
                <a:latin typeface="Times New Roman" panose="02020603050405020304" pitchFamily="18" charset="0"/>
                <a:ea typeface="楷体_GB2312" pitchFamily="49" charset="-122"/>
              </a:rPr>
              <a:t>尽量采用简单的数学工具</a:t>
            </a:r>
            <a:endParaRPr lang="zh-CN" altLang="en-US" sz="2800" b="1">
              <a:latin typeface="Times New Roman" panose="02020603050405020304" pitchFamily="18" charset="0"/>
              <a:ea typeface="楷体_GB2312" pitchFamily="49" charset="-122"/>
            </a:endParaRPr>
          </a:p>
        </p:txBody>
      </p:sp>
      <p:sp>
        <p:nvSpPr>
          <p:cNvPr id="12298" name="Rectangle 11"/>
          <p:cNvSpPr/>
          <p:nvPr/>
        </p:nvSpPr>
        <p:spPr>
          <a:xfrm>
            <a:off x="2139950" y="381000"/>
            <a:ext cx="4641850" cy="685800"/>
          </a:xfrm>
          <a:prstGeom prst="rect">
            <a:avLst/>
          </a:prstGeom>
          <a:solidFill>
            <a:srgbClr val="FFFF00"/>
          </a:solidFill>
          <a:ln w="9525">
            <a:noFill/>
          </a:ln>
        </p:spPr>
        <p:txBody>
          <a:bodyPr wrap="none" anchor="ctr"/>
          <a:p>
            <a:pPr algn="ct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数学建模的一般步骤</a:t>
            </a:r>
            <a:endParaRPr lang="zh-CN" altLang="en-US" sz="3200" b="1">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55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65539"/>
                                        </p:tgtEl>
                                        <p:attrNameLst>
                                          <p:attrName>style.visibility</p:attrName>
                                        </p:attrNameLst>
                                      </p:cBhvr>
                                      <p:to>
                                        <p:strVal val="visible"/>
                                      </p:to>
                                    </p:set>
                                    <p:animEffect transition="in" filter="box(out)">
                                      <p:cBhvr>
                                        <p:cTn id="11" dur="500"/>
                                        <p:tgtEl>
                                          <p:spTgt spid="65539"/>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65540"/>
                                        </p:tgtEl>
                                        <p:attrNameLst>
                                          <p:attrName>style.visibility</p:attrName>
                                        </p:attrNameLst>
                                      </p:cBhvr>
                                      <p:to>
                                        <p:strVal val="visible"/>
                                      </p:to>
                                    </p:set>
                                    <p:animEffect transition="in" filter="checkerboard(across)">
                                      <p:cBhvr>
                                        <p:cTn id="16" dur="500"/>
                                        <p:tgtEl>
                                          <p:spTgt spid="65540"/>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5541"/>
                                        </p:tgtEl>
                                        <p:attrNameLst>
                                          <p:attrName>style.visibility</p:attrName>
                                        </p:attrNameLst>
                                      </p:cBhvr>
                                      <p:to>
                                        <p:strVal val="visible"/>
                                      </p:to>
                                    </p:set>
                                    <p:animEffect transition="in" filter="dissolve">
                                      <p:cBhvr>
                                        <p:cTn id="21" dur="500"/>
                                        <p:tgtEl>
                                          <p:spTgt spid="6554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6554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65543"/>
                                        </p:tgtEl>
                                        <p:attrNameLst>
                                          <p:attrName>style.visibility</p:attrName>
                                        </p:attrNameLst>
                                      </p:cBhvr>
                                      <p:to>
                                        <p:strVal val="visible"/>
                                      </p:to>
                                    </p:set>
                                    <p:animEffect transition="in" filter="box(in)">
                                      <p:cBhvr>
                                        <p:cTn id="30" dur="500"/>
                                        <p:tgtEl>
                                          <p:spTgt spid="65543"/>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42" fill="hold" grpId="0" nodeType="clickEffect">
                                  <p:stCondLst>
                                    <p:cond delay="0"/>
                                  </p:stCondLst>
                                  <p:childTnLst>
                                    <p:set>
                                      <p:cBhvr>
                                        <p:cTn id="34" dur="1" fill="hold">
                                          <p:stCondLst>
                                            <p:cond delay="0"/>
                                          </p:stCondLst>
                                        </p:cTn>
                                        <p:tgtEl>
                                          <p:spTgt spid="65544"/>
                                        </p:tgtEl>
                                        <p:attrNameLst>
                                          <p:attrName>style.visibility</p:attrName>
                                        </p:attrNameLst>
                                      </p:cBhvr>
                                      <p:to>
                                        <p:strVal val="visible"/>
                                      </p:to>
                                    </p:set>
                                    <p:animEffect transition="in" filter="barn(outHorizontal)">
                                      <p:cBhvr>
                                        <p:cTn id="35" dur="500"/>
                                        <p:tgtEl>
                                          <p:spTgt spid="65544"/>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65545"/>
                                        </p:tgtEl>
                                        <p:attrNameLst>
                                          <p:attrName>style.visibility</p:attrName>
                                        </p:attrNameLst>
                                      </p:cBhvr>
                                      <p:to>
                                        <p:strVal val="visible"/>
                                      </p:to>
                                    </p:set>
                                    <p:animEffect transition="in" filter="checkerboard(across)">
                                      <p:cBhvr>
                                        <p:cTn id="40" dur="500"/>
                                        <p:tgtEl>
                                          <p:spTgt spid="65545"/>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5" fill="hold" grpId="0" nodeType="clickEffect">
                                  <p:stCondLst>
                                    <p:cond delay="0"/>
                                  </p:stCondLst>
                                  <p:childTnLst>
                                    <p:set>
                                      <p:cBhvr>
                                        <p:cTn id="44" dur="1" fill="hold">
                                          <p:stCondLst>
                                            <p:cond delay="0"/>
                                          </p:stCondLst>
                                        </p:cTn>
                                        <p:tgtEl>
                                          <p:spTgt spid="65546"/>
                                        </p:tgtEl>
                                        <p:attrNameLst>
                                          <p:attrName>style.visibility</p:attrName>
                                        </p:attrNameLst>
                                      </p:cBhvr>
                                      <p:to>
                                        <p:strVal val="visible"/>
                                      </p:to>
                                    </p:set>
                                    <p:animEffect transition="in" filter="blinds(vertical)">
                                      <p:cBhvr>
                                        <p:cTn id="45" dur="500"/>
                                        <p:tgtEl>
                                          <p:spTgt spid="65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animBg="1"/>
      <p:bldP spid="65539" grpId="0"/>
      <p:bldP spid="65540" grpId="0"/>
      <p:bldP spid="65541" grpId="0" animBg="1"/>
      <p:bldP spid="65542" grpId="0" animBg="1"/>
      <p:bldP spid="65543" grpId="0"/>
      <p:bldP spid="65544" grpId="0"/>
      <p:bldP spid="65545" grpId="0"/>
      <p:bldP spid="6554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p:nvPr/>
        </p:nvSpPr>
        <p:spPr>
          <a:xfrm>
            <a:off x="1295400" y="1295400"/>
            <a:ext cx="914400" cy="1066800"/>
          </a:xfrm>
          <a:prstGeom prst="rect">
            <a:avLst/>
          </a:prstGeom>
          <a:gradFill rotWithShape="0">
            <a:gsLst>
              <a:gs pos="0">
                <a:srgbClr val="FF99CC"/>
              </a:gs>
              <a:gs pos="100000">
                <a:srgbClr val="FFFF99"/>
              </a:gs>
            </a:gsLst>
            <a:lin ang="5400000" scaled="1"/>
            <a:tileRect/>
          </a:gradFill>
          <a:ln w="9525" cap="flat" cmpd="sng">
            <a:solidFill>
              <a:schemeClr val="tx1"/>
            </a:solidFill>
            <a:prstDash val="solid"/>
            <a:miter/>
            <a:headEnd type="none" w="med" len="med"/>
            <a:tailEnd type="none" w="med" len="med"/>
          </a:ln>
        </p:spPr>
        <p:txBody>
          <a:bodyPr wrap="none" anchor="ctr"/>
          <a:p>
            <a:pPr algn="ctr"/>
            <a:r>
              <a:rPr lang="zh-CN" altLang="en-US" sz="2800" b="1">
                <a:latin typeface="Times New Roman" panose="02020603050405020304" pitchFamily="18" charset="0"/>
                <a:ea typeface="宋体" panose="02010600030101010101" pitchFamily="2" charset="-122"/>
              </a:rPr>
              <a:t>模型</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求解</a:t>
            </a:r>
            <a:endParaRPr lang="zh-CN" altLang="en-US" sz="2800" b="1">
              <a:latin typeface="Times New Roman" panose="02020603050405020304" pitchFamily="18" charset="0"/>
              <a:ea typeface="宋体" panose="02010600030101010101" pitchFamily="2" charset="-122"/>
            </a:endParaRPr>
          </a:p>
        </p:txBody>
      </p:sp>
      <p:sp>
        <p:nvSpPr>
          <p:cNvPr id="66563" name="Rectangle 3"/>
          <p:cNvSpPr/>
          <p:nvPr/>
        </p:nvSpPr>
        <p:spPr>
          <a:xfrm>
            <a:off x="2667000" y="1524000"/>
            <a:ext cx="5562600" cy="609600"/>
          </a:xfrm>
          <a:prstGeom prst="rect">
            <a:avLst/>
          </a:prstGeom>
          <a:noFill/>
          <a:ln w="9525">
            <a:noFill/>
          </a:ln>
        </p:spPr>
        <p:txBody>
          <a:bodyPr wrap="none" anchor="ctr"/>
          <a:p>
            <a:r>
              <a:rPr lang="zh-CN" altLang="en-US" sz="2800" b="1">
                <a:latin typeface="Times New Roman" panose="02020603050405020304" pitchFamily="18" charset="0"/>
                <a:ea typeface="宋体" panose="02010600030101010101" pitchFamily="2" charset="-122"/>
              </a:rPr>
              <a:t>各种数学方法、软件和计算机技术</a:t>
            </a:r>
            <a:r>
              <a:rPr lang="en-US" altLang="zh-CN"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p:txBody>
      </p:sp>
      <p:sp>
        <p:nvSpPr>
          <p:cNvPr id="66564" name="Rectangle 4"/>
          <p:cNvSpPr/>
          <p:nvPr/>
        </p:nvSpPr>
        <p:spPr>
          <a:xfrm>
            <a:off x="2667000" y="2667000"/>
            <a:ext cx="5486400" cy="1066800"/>
          </a:xfrm>
          <a:prstGeom prst="rect">
            <a:avLst/>
          </a:prstGeom>
          <a:noFill/>
          <a:ln w="9525">
            <a:noFill/>
          </a:ln>
        </p:spPr>
        <p:txBody>
          <a:bodyPr wrap="none" anchor="ctr"/>
          <a:p>
            <a:pPr>
              <a:lnSpc>
                <a:spcPct val="120000"/>
              </a:lnSpc>
            </a:pPr>
            <a:r>
              <a:rPr lang="zh-CN" altLang="en-US" sz="2800" b="1">
                <a:latin typeface="Times New Roman" panose="02020603050405020304" pitchFamily="18" charset="0"/>
                <a:ea typeface="宋体" panose="02010600030101010101" pitchFamily="2" charset="-122"/>
              </a:rPr>
              <a:t>如结果的误差分析、统计分析、</a:t>
            </a:r>
            <a:endParaRPr lang="zh-CN" altLang="en-US" sz="2800" b="1">
              <a:latin typeface="Times New Roman" panose="02020603050405020304" pitchFamily="18" charset="0"/>
              <a:ea typeface="宋体" panose="02010600030101010101" pitchFamily="2" charset="-122"/>
            </a:endParaRPr>
          </a:p>
          <a:p>
            <a:pPr>
              <a:lnSpc>
                <a:spcPct val="120000"/>
              </a:lnSpc>
            </a:pPr>
            <a:r>
              <a:rPr lang="zh-CN" altLang="en-US" sz="2800" b="1">
                <a:latin typeface="Times New Roman" panose="02020603050405020304" pitchFamily="18" charset="0"/>
                <a:ea typeface="宋体" panose="02010600030101010101" pitchFamily="2" charset="-122"/>
              </a:rPr>
              <a:t>模型对数据的稳定性分析</a:t>
            </a:r>
            <a:r>
              <a:rPr lang="en-US" altLang="zh-CN"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p:txBody>
      </p:sp>
      <p:sp>
        <p:nvSpPr>
          <p:cNvPr id="66565" name="Rectangle 5"/>
          <p:cNvSpPr/>
          <p:nvPr/>
        </p:nvSpPr>
        <p:spPr>
          <a:xfrm>
            <a:off x="1295400" y="2667000"/>
            <a:ext cx="914400" cy="1066800"/>
          </a:xfrm>
          <a:prstGeom prst="rect">
            <a:avLst/>
          </a:prstGeom>
          <a:gradFill rotWithShape="0">
            <a:gsLst>
              <a:gs pos="0">
                <a:srgbClr val="FF99CC"/>
              </a:gs>
              <a:gs pos="100000">
                <a:srgbClr val="FFFF99"/>
              </a:gs>
            </a:gsLst>
            <a:lin ang="5400000" scaled="1"/>
            <a:tileRect/>
          </a:gradFill>
          <a:ln w="9525" cap="flat" cmpd="sng">
            <a:solidFill>
              <a:schemeClr val="tx1"/>
            </a:solidFill>
            <a:prstDash val="solid"/>
            <a:miter/>
            <a:headEnd type="none" w="med" len="med"/>
            <a:tailEnd type="none" w="med" len="med"/>
          </a:ln>
        </p:spPr>
        <p:txBody>
          <a:bodyPr wrap="none" anchor="ctr"/>
          <a:p>
            <a:pPr algn="ctr"/>
            <a:r>
              <a:rPr lang="zh-CN" altLang="en-US" sz="2800" b="1">
                <a:latin typeface="Times New Roman" panose="02020603050405020304" pitchFamily="18" charset="0"/>
                <a:ea typeface="宋体" panose="02010600030101010101" pitchFamily="2" charset="-122"/>
              </a:rPr>
              <a:t>模型</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分析</a:t>
            </a:r>
            <a:endParaRPr lang="zh-CN" altLang="en-US" sz="2800" b="1">
              <a:latin typeface="Times New Roman" panose="02020603050405020304" pitchFamily="18" charset="0"/>
              <a:ea typeface="宋体" panose="02010600030101010101" pitchFamily="2" charset="-122"/>
            </a:endParaRPr>
          </a:p>
        </p:txBody>
      </p:sp>
      <p:sp>
        <p:nvSpPr>
          <p:cNvPr id="66566" name="Rectangle 6"/>
          <p:cNvSpPr/>
          <p:nvPr/>
        </p:nvSpPr>
        <p:spPr>
          <a:xfrm>
            <a:off x="1295400" y="4114800"/>
            <a:ext cx="914400" cy="1066800"/>
          </a:xfrm>
          <a:prstGeom prst="rect">
            <a:avLst/>
          </a:prstGeom>
          <a:gradFill rotWithShape="0">
            <a:gsLst>
              <a:gs pos="0">
                <a:srgbClr val="FF99CC"/>
              </a:gs>
              <a:gs pos="100000">
                <a:srgbClr val="FFFF99"/>
              </a:gs>
            </a:gsLst>
            <a:lin ang="5400000" scaled="1"/>
            <a:tileRect/>
          </a:gradFill>
          <a:ln w="9525" cap="flat" cmpd="sng">
            <a:solidFill>
              <a:schemeClr val="tx1"/>
            </a:solidFill>
            <a:prstDash val="solid"/>
            <a:miter/>
            <a:headEnd type="none" w="med" len="med"/>
            <a:tailEnd type="none" w="med" len="med"/>
          </a:ln>
        </p:spPr>
        <p:txBody>
          <a:bodyPr wrap="none" anchor="ctr"/>
          <a:p>
            <a:pPr algn="ctr"/>
            <a:r>
              <a:rPr lang="zh-CN" altLang="en-US" sz="2800" b="1">
                <a:latin typeface="Times New Roman" panose="02020603050405020304" pitchFamily="18" charset="0"/>
                <a:ea typeface="宋体" panose="02010600030101010101" pitchFamily="2" charset="-122"/>
              </a:rPr>
              <a:t>模型</a:t>
            </a:r>
            <a:endParaRPr lang="zh-CN" altLang="en-US" sz="2800" b="1">
              <a:latin typeface="Times New Roman" panose="02020603050405020304" pitchFamily="18" charset="0"/>
              <a:ea typeface="宋体" panose="02010600030101010101" pitchFamily="2" charset="-122"/>
            </a:endParaRPr>
          </a:p>
          <a:p>
            <a:pPr algn="ctr"/>
            <a:r>
              <a:rPr lang="zh-CN" altLang="en-US" sz="2800" b="1">
                <a:latin typeface="Times New Roman" panose="02020603050405020304" pitchFamily="18" charset="0"/>
                <a:ea typeface="宋体" panose="02010600030101010101" pitchFamily="2" charset="-122"/>
              </a:rPr>
              <a:t>检验</a:t>
            </a:r>
            <a:endParaRPr lang="zh-CN" altLang="en-US" sz="2800" b="1">
              <a:latin typeface="Times New Roman" panose="02020603050405020304" pitchFamily="18" charset="0"/>
              <a:ea typeface="宋体" panose="02010600030101010101" pitchFamily="2" charset="-122"/>
            </a:endParaRPr>
          </a:p>
        </p:txBody>
      </p:sp>
      <p:sp>
        <p:nvSpPr>
          <p:cNvPr id="66567" name="Rectangle 7"/>
          <p:cNvSpPr/>
          <p:nvPr/>
        </p:nvSpPr>
        <p:spPr>
          <a:xfrm>
            <a:off x="2743200" y="4114800"/>
            <a:ext cx="5410200" cy="1143000"/>
          </a:xfrm>
          <a:prstGeom prst="rect">
            <a:avLst/>
          </a:prstGeom>
          <a:noFill/>
          <a:ln w="9525">
            <a:noFill/>
          </a:ln>
        </p:spPr>
        <p:txBody>
          <a:bodyPr wrap="none" anchor="ctr"/>
          <a:p>
            <a:pPr>
              <a:lnSpc>
                <a:spcPct val="120000"/>
              </a:lnSpc>
            </a:pPr>
            <a:r>
              <a:rPr lang="zh-CN" altLang="en-US" sz="2800" b="1">
                <a:latin typeface="Times New Roman" panose="02020603050405020304" pitchFamily="18" charset="0"/>
                <a:ea typeface="宋体" panose="02010600030101010101" pitchFamily="2" charset="-122"/>
              </a:rPr>
              <a:t>与实际现象、数据比较，</a:t>
            </a:r>
            <a:endParaRPr lang="zh-CN" altLang="en-US" sz="2800" b="1">
              <a:latin typeface="Times New Roman" panose="02020603050405020304" pitchFamily="18" charset="0"/>
              <a:ea typeface="宋体" panose="02010600030101010101" pitchFamily="2" charset="-122"/>
            </a:endParaRPr>
          </a:p>
          <a:p>
            <a:pPr>
              <a:lnSpc>
                <a:spcPct val="120000"/>
              </a:lnSpc>
            </a:pPr>
            <a:r>
              <a:rPr lang="zh-CN" altLang="en-US" sz="2800" b="1">
                <a:latin typeface="Times New Roman" panose="02020603050405020304" pitchFamily="18" charset="0"/>
                <a:ea typeface="宋体" panose="02010600030101010101" pitchFamily="2" charset="-122"/>
              </a:rPr>
              <a:t>检验模型的合理性、适用性</a:t>
            </a:r>
            <a:r>
              <a:rPr lang="en-US" altLang="zh-CN"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p:txBody>
      </p:sp>
      <p:sp>
        <p:nvSpPr>
          <p:cNvPr id="66568" name="Rectangle 8"/>
          <p:cNvSpPr/>
          <p:nvPr/>
        </p:nvSpPr>
        <p:spPr>
          <a:xfrm>
            <a:off x="1295400" y="5486400"/>
            <a:ext cx="1981200" cy="609600"/>
          </a:xfrm>
          <a:prstGeom prst="rect">
            <a:avLst/>
          </a:prstGeom>
          <a:gradFill rotWithShape="0">
            <a:gsLst>
              <a:gs pos="0">
                <a:srgbClr val="FF99CC"/>
              </a:gs>
              <a:gs pos="100000">
                <a:srgbClr val="FFFF99"/>
              </a:gs>
            </a:gsLst>
            <a:lin ang="5400000" scaled="1"/>
            <a:tileRect/>
          </a:gradFill>
          <a:ln w="9525" cap="flat" cmpd="sng">
            <a:solidFill>
              <a:schemeClr val="tx1"/>
            </a:solidFill>
            <a:prstDash val="solid"/>
            <a:miter/>
            <a:headEnd type="none" w="med" len="med"/>
            <a:tailEnd type="none" w="med" len="med"/>
          </a:ln>
        </p:spPr>
        <p:txBody>
          <a:bodyPr wrap="none" anchor="ctr"/>
          <a:p>
            <a:pPr algn="ctr"/>
            <a:r>
              <a:rPr lang="zh-CN" altLang="en-US" sz="2800" b="1">
                <a:latin typeface="Times New Roman" panose="02020603050405020304" pitchFamily="18" charset="0"/>
                <a:ea typeface="宋体" panose="02010600030101010101" pitchFamily="2" charset="-122"/>
              </a:rPr>
              <a:t>模型应用</a:t>
            </a:r>
            <a:endParaRPr lang="zh-CN" altLang="en-US" sz="2800" b="1">
              <a:latin typeface="Times New Roman" panose="02020603050405020304" pitchFamily="18" charset="0"/>
              <a:ea typeface="宋体" panose="02010600030101010101" pitchFamily="2" charset="-122"/>
            </a:endParaRPr>
          </a:p>
        </p:txBody>
      </p:sp>
      <p:sp>
        <p:nvSpPr>
          <p:cNvPr id="13320" name="Rectangle 9"/>
          <p:cNvSpPr/>
          <p:nvPr/>
        </p:nvSpPr>
        <p:spPr>
          <a:xfrm>
            <a:off x="2133600" y="304800"/>
            <a:ext cx="4641850" cy="685800"/>
          </a:xfrm>
          <a:prstGeom prst="rect">
            <a:avLst/>
          </a:prstGeom>
          <a:solidFill>
            <a:srgbClr val="FFFF00"/>
          </a:solidFill>
          <a:ln w="9525">
            <a:noFill/>
          </a:ln>
        </p:spPr>
        <p:txBody>
          <a:bodyPr wrap="none" anchor="ctr"/>
          <a:p>
            <a:pPr algn="ct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数学建模的一般步骤</a:t>
            </a:r>
            <a:endParaRPr lang="zh-CN" altLang="en-US" sz="3200" b="1">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66563"/>
                                        </p:tgtEl>
                                        <p:attrNameLst>
                                          <p:attrName>style.visibility</p:attrName>
                                        </p:attrNameLst>
                                      </p:cBhvr>
                                      <p:to>
                                        <p:strVal val="visible"/>
                                      </p:to>
                                    </p:set>
                                    <p:animEffect transition="in" filter="box(out)">
                                      <p:cBhvr>
                                        <p:cTn id="11" dur="500"/>
                                        <p:tgtEl>
                                          <p:spTgt spid="6656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6656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66564"/>
                                        </p:tgtEl>
                                        <p:attrNameLst>
                                          <p:attrName>style.visibility</p:attrName>
                                        </p:attrNameLst>
                                      </p:cBhvr>
                                      <p:to>
                                        <p:strVal val="visible"/>
                                      </p:to>
                                    </p:set>
                                    <p:animEffect transition="in" filter="checkerboard(across)">
                                      <p:cBhvr>
                                        <p:cTn id="20" dur="500"/>
                                        <p:tgtEl>
                                          <p:spTgt spid="6656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65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66567"/>
                                        </p:tgtEl>
                                        <p:attrNameLst>
                                          <p:attrName>style.visibility</p:attrName>
                                        </p:attrNameLst>
                                      </p:cBhvr>
                                      <p:to>
                                        <p:strVal val="visible"/>
                                      </p:to>
                                    </p:set>
                                    <p:animEffect transition="in" filter="box(out)">
                                      <p:cBhvr>
                                        <p:cTn id="29" dur="500"/>
                                        <p:tgtEl>
                                          <p:spTgt spid="6656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66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nimBg="1"/>
      <p:bldP spid="66563" grpId="0" animBg="1"/>
      <p:bldP spid="66564" grpId="0" animBg="1"/>
      <p:bldP spid="66565" grpId="0" animBg="1"/>
      <p:bldP spid="66566" grpId="0" animBg="1"/>
      <p:bldP spid="66567" grpId="0" animBg="1"/>
      <p:bldP spid="6656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type="title"/>
          </p:nvPr>
        </p:nvSpPr>
        <p:spPr>
          <a:xfrm>
            <a:off x="228600" y="152400"/>
            <a:ext cx="7772400" cy="914400"/>
          </a:xfrm>
          <a:ln/>
        </p:spPr>
        <p:txBody>
          <a:bodyPr vert="horz" wrap="square" lIns="91440" tIns="45720" rIns="91440" bIns="45720" anchor="b"/>
          <a:p>
            <a:pPr eaLnBrk="1" hangingPunct="1"/>
            <a:r>
              <a:rPr lang="en-US" altLang="zh-CN" sz="3600" b="1">
                <a:solidFill>
                  <a:srgbClr val="3333FF"/>
                </a:solidFill>
                <a:latin typeface="Arial" panose="020B0604020202020204" pitchFamily="34" charset="0"/>
              </a:rPr>
              <a:t>1</a:t>
            </a:r>
            <a:r>
              <a:rPr lang="zh-CN" altLang="en-US" sz="3600" b="1">
                <a:solidFill>
                  <a:srgbClr val="3333FF"/>
                </a:solidFill>
                <a:latin typeface="Arial" panose="020B0604020202020204" pitchFamily="34" charset="0"/>
              </a:rPr>
              <a:t>、问题分析</a:t>
            </a:r>
            <a:r>
              <a:rPr lang="zh-CN" altLang="en-US" sz="2400" b="1">
                <a:solidFill>
                  <a:srgbClr val="FF0000"/>
                </a:solidFill>
              </a:rPr>
              <a:t> </a:t>
            </a:r>
            <a:endParaRPr lang="zh-CN" altLang="en-US" sz="2400" b="1">
              <a:solidFill>
                <a:srgbClr val="FF0000"/>
              </a:solidFill>
            </a:endParaRPr>
          </a:p>
        </p:txBody>
      </p:sp>
      <p:sp>
        <p:nvSpPr>
          <p:cNvPr id="38917" name="Text Box 5"/>
          <p:cNvSpPr txBox="1"/>
          <p:nvPr/>
        </p:nvSpPr>
        <p:spPr>
          <a:xfrm>
            <a:off x="533400" y="1219200"/>
            <a:ext cx="7162800" cy="1066800"/>
          </a:xfrm>
          <a:prstGeom prst="rect">
            <a:avLst/>
          </a:prstGeom>
          <a:noFill/>
          <a:ln w="9525">
            <a:noFill/>
          </a:ln>
        </p:spPr>
        <p:txBody>
          <a:bodyPr anchor="t">
            <a:spAutoFit/>
          </a:bodyPr>
          <a:p>
            <a:r>
              <a:rPr lang="zh-CN" altLang="en-US" sz="3200" b="1">
                <a:solidFill>
                  <a:srgbClr val="FF0000"/>
                </a:solidFill>
                <a:latin typeface="Times New Roman" panose="02020603050405020304" pitchFamily="18" charset="0"/>
                <a:ea typeface="楷体_GB2312" pitchFamily="49" charset="-122"/>
              </a:rPr>
              <a:t>问题的前期分析</a:t>
            </a:r>
            <a:r>
              <a:rPr lang="zh-CN" altLang="en-US" sz="3200" b="1">
                <a:latin typeface="Times New Roman" panose="02020603050405020304" pitchFamily="18" charset="0"/>
                <a:ea typeface="楷体_GB2312" pitchFamily="49" charset="-122"/>
              </a:rPr>
              <a:t> 包括：</a:t>
            </a:r>
            <a:endParaRPr lang="zh-CN" altLang="en-US" sz="3200" b="1">
              <a:latin typeface="Times New Roman" panose="02020603050405020304" pitchFamily="18" charset="0"/>
              <a:ea typeface="楷体_GB2312" pitchFamily="49" charset="-122"/>
            </a:endParaRPr>
          </a:p>
          <a:p>
            <a:pPr algn="ctr"/>
            <a:r>
              <a:rPr lang="zh-CN" altLang="en-US" sz="3200" b="1">
                <a:latin typeface="Times New Roman" panose="02020603050405020304" pitchFamily="18" charset="0"/>
                <a:ea typeface="楷体_GB2312" pitchFamily="49" charset="-122"/>
              </a:rPr>
              <a:t>明确问题、分析条件、分析数据</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38918" name="Text Box 6"/>
          <p:cNvSpPr txBox="1"/>
          <p:nvPr/>
        </p:nvSpPr>
        <p:spPr>
          <a:xfrm>
            <a:off x="1371600" y="2362200"/>
            <a:ext cx="5918200" cy="725488"/>
          </a:xfrm>
          <a:prstGeom prst="rect">
            <a:avLst/>
          </a:prstGeom>
          <a:gradFill rotWithShape="0">
            <a:gsLst>
              <a:gs pos="0">
                <a:srgbClr val="800000"/>
              </a:gs>
              <a:gs pos="50000">
                <a:srgbClr val="3B0000"/>
              </a:gs>
              <a:gs pos="100000">
                <a:srgbClr val="800000"/>
              </a:gs>
            </a:gsLst>
            <a:lin ang="5400000" scaled="1"/>
            <a:tileRect/>
          </a:gradFill>
          <a:ln w="9525">
            <a:noFill/>
          </a:ln>
        </p:spPr>
        <p:txBody>
          <a:bodyPr anchor="t">
            <a:spAutoFit/>
          </a:bodyPr>
          <a:p>
            <a:pPr>
              <a:lnSpc>
                <a:spcPct val="130000"/>
              </a:lnSpc>
            </a:pPr>
            <a:r>
              <a:rPr lang="zh-CN" altLang="en-US" sz="3200" b="1">
                <a:solidFill>
                  <a:srgbClr val="FFFFFF"/>
                </a:solidFill>
                <a:latin typeface="Times New Roman" panose="02020603050405020304" pitchFamily="18" charset="0"/>
                <a:ea typeface="楷体_GB2312" pitchFamily="49" charset="-122"/>
              </a:rPr>
              <a:t>为什么问题前期分析至关重要？</a:t>
            </a:r>
            <a:endParaRPr lang="zh-CN" altLang="en-US" sz="3200" b="1">
              <a:solidFill>
                <a:srgbClr val="FFFFFF"/>
              </a:solidFill>
              <a:latin typeface="Times New Roman" panose="02020603050405020304" pitchFamily="18" charset="0"/>
              <a:ea typeface="楷体_GB2312" pitchFamily="49" charset="-122"/>
            </a:endParaRPr>
          </a:p>
        </p:txBody>
      </p:sp>
      <p:sp>
        <p:nvSpPr>
          <p:cNvPr id="38919" name="Text Box 7"/>
          <p:cNvSpPr txBox="1"/>
          <p:nvPr/>
        </p:nvSpPr>
        <p:spPr>
          <a:xfrm>
            <a:off x="457200" y="3200400"/>
            <a:ext cx="7962900" cy="579438"/>
          </a:xfrm>
          <a:prstGeom prst="rect">
            <a:avLst/>
          </a:prstGeom>
          <a:noFill/>
          <a:ln w="9525">
            <a:noFill/>
          </a:ln>
        </p:spPr>
        <p:txBody>
          <a:bodyPr wrap="none" anchor="t">
            <a:spAutoFit/>
          </a:bodyPr>
          <a:p>
            <a:r>
              <a:rPr lang="zh-CN" altLang="en-US" sz="3200" b="1">
                <a:latin typeface="楷体_GB2312" pitchFamily="49" charset="-122"/>
                <a:ea typeface="楷体_GB2312" pitchFamily="49" charset="-122"/>
              </a:rPr>
              <a:t>数学建模问题往往含混不清</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可能的原因有</a:t>
            </a:r>
            <a:r>
              <a:rPr lang="en-US" altLang="zh-CN" sz="3200" b="1">
                <a:latin typeface="楷体_GB2312" pitchFamily="49" charset="-122"/>
                <a:ea typeface="楷体_GB2312" pitchFamily="49" charset="-122"/>
              </a:rPr>
              <a:t>:</a:t>
            </a:r>
            <a:endParaRPr lang="en-US" altLang="zh-CN" sz="3200">
              <a:latin typeface="楷体_GB2312" pitchFamily="49" charset="-122"/>
              <a:ea typeface="楷体_GB2312" pitchFamily="49" charset="-122"/>
            </a:endParaRPr>
          </a:p>
        </p:txBody>
      </p:sp>
      <p:sp>
        <p:nvSpPr>
          <p:cNvPr id="38920" name="Text Box 8"/>
          <p:cNvSpPr txBox="1"/>
          <p:nvPr/>
        </p:nvSpPr>
        <p:spPr>
          <a:xfrm>
            <a:off x="990600" y="3810000"/>
            <a:ext cx="6835775" cy="579438"/>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提出问题的人未能清楚地表述问题 </a:t>
            </a:r>
            <a:r>
              <a:rPr lang="en-US" altLang="zh-CN" sz="3200" b="1">
                <a:latin typeface="Times New Roman" panose="02020603050405020304" pitchFamily="18" charset="0"/>
                <a:ea typeface="楷体_GB2312" pitchFamily="49" charset="-122"/>
              </a:rPr>
              <a:t>.</a:t>
            </a:r>
            <a:endParaRPr lang="en-US" altLang="zh-CN" sz="3200" b="1">
              <a:latin typeface="Times New Roman" panose="02020603050405020304" pitchFamily="18" charset="0"/>
              <a:ea typeface="楷体_GB2312" pitchFamily="49" charset="-122"/>
            </a:endParaRPr>
          </a:p>
        </p:txBody>
      </p:sp>
      <p:sp>
        <p:nvSpPr>
          <p:cNvPr id="38921" name="Text Box 9"/>
          <p:cNvSpPr txBox="1"/>
          <p:nvPr/>
        </p:nvSpPr>
        <p:spPr>
          <a:xfrm>
            <a:off x="990600" y="4419600"/>
            <a:ext cx="5505450" cy="579438"/>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不同领域的人交流出现故障</a:t>
            </a:r>
            <a:r>
              <a:rPr lang="en-US" altLang="zh-CN" sz="3200" b="1">
                <a:latin typeface="Times New Roman" panose="02020603050405020304" pitchFamily="18" charset="0"/>
                <a:ea typeface="楷体_GB2312" pitchFamily="49" charset="-122"/>
              </a:rPr>
              <a:t>.</a:t>
            </a:r>
            <a:endParaRPr lang="en-US" altLang="zh-CN" sz="3200" b="1">
              <a:latin typeface="Times New Roman" panose="02020603050405020304" pitchFamily="18" charset="0"/>
              <a:ea typeface="楷体_GB2312" pitchFamily="49" charset="-122"/>
            </a:endParaRPr>
          </a:p>
        </p:txBody>
      </p:sp>
      <p:sp>
        <p:nvSpPr>
          <p:cNvPr id="38922" name="Text Box 10"/>
          <p:cNvSpPr txBox="1"/>
          <p:nvPr/>
        </p:nvSpPr>
        <p:spPr>
          <a:xfrm>
            <a:off x="381000" y="4876800"/>
            <a:ext cx="8572500" cy="1066800"/>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各领域的应用者提出问题时，未给出恰当</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的条件</a:t>
            </a:r>
            <a:r>
              <a:rPr lang="en-US" altLang="zh-CN" sz="3200" b="1">
                <a:latin typeface="楷体_GB2312" pitchFamily="49" charset="-122"/>
                <a:ea typeface="楷体_GB2312" pitchFamily="49" charset="-122"/>
              </a:rPr>
              <a:t>. </a:t>
            </a:r>
            <a:endParaRPr lang="en-US" altLang="zh-CN" sz="3200" b="1">
              <a:latin typeface="楷体_GB2312" pitchFamily="49" charset="-122"/>
              <a:ea typeface="楷体_GB2312" pitchFamily="49" charset="-122"/>
            </a:endParaRPr>
          </a:p>
        </p:txBody>
      </p:sp>
      <p:sp>
        <p:nvSpPr>
          <p:cNvPr id="38923" name="Text Box 11"/>
          <p:cNvSpPr txBox="1"/>
          <p:nvPr/>
        </p:nvSpPr>
        <p:spPr>
          <a:xfrm>
            <a:off x="914400" y="5867400"/>
            <a:ext cx="3867150" cy="579438"/>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zh-CN" altLang="en-US" sz="3200" b="1">
                <a:latin typeface="Times New Roman" panose="02020603050405020304" pitchFamily="18" charset="0"/>
                <a:ea typeface="楷体_GB2312" pitchFamily="49" charset="-122"/>
              </a:rPr>
              <a:t>未能准确理解问题</a:t>
            </a:r>
            <a:r>
              <a:rPr lang="en-US" altLang="zh-CN" sz="3200" b="1">
                <a:latin typeface="Times New Roman" panose="02020603050405020304" pitchFamily="18" charset="0"/>
                <a:ea typeface="楷体_GB2312" pitchFamily="49" charset="-122"/>
              </a:rPr>
              <a:t>.</a:t>
            </a:r>
            <a:endParaRPr lang="en-US" altLang="zh-CN" sz="3200" b="1">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transition="in" filter="wipe(left)">
                                      <p:cBhvr>
                                        <p:cTn id="7" dur="500"/>
                                        <p:tgtEl>
                                          <p:spTgt spid="38917"/>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38918"/>
                                        </p:tgtEl>
                                        <p:attrNameLst>
                                          <p:attrName>style.visibility</p:attrName>
                                        </p:attrNameLst>
                                      </p:cBhvr>
                                      <p:to>
                                        <p:strVal val="visible"/>
                                      </p:to>
                                    </p:set>
                                    <p:anim calcmode="lin" valueType="num">
                                      <p:cBhvr>
                                        <p:cTn id="12" dur="500" fill="hold"/>
                                        <p:tgtEl>
                                          <p:spTgt spid="38918"/>
                                        </p:tgtEl>
                                        <p:attrNameLst>
                                          <p:attrName>ppt_w</p:attrName>
                                        </p:attrNameLst>
                                      </p:cBhvr>
                                      <p:tavLst>
                                        <p:tav tm="0">
                                          <p:val>
                                            <p:fltVal val="0.000000"/>
                                          </p:val>
                                        </p:tav>
                                        <p:tav tm="100000">
                                          <p:val>
                                            <p:strVal val="#ppt_w"/>
                                          </p:val>
                                        </p:tav>
                                      </p:tavLst>
                                    </p:anim>
                                    <p:anim calcmode="lin" valueType="num">
                                      <p:cBhvr>
                                        <p:cTn id="13" dur="500" fill="hold"/>
                                        <p:tgtEl>
                                          <p:spTgt spid="38918"/>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8919"/>
                                        </p:tgtEl>
                                        <p:attrNameLst>
                                          <p:attrName>style.visibility</p:attrName>
                                        </p:attrNameLst>
                                      </p:cBhvr>
                                      <p:to>
                                        <p:strVal val="visible"/>
                                      </p:to>
                                    </p:set>
                                    <p:animEffect transition="in" filter="wipe(left)">
                                      <p:cBhvr>
                                        <p:cTn id="18" dur="500"/>
                                        <p:tgtEl>
                                          <p:spTgt spid="3891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920"/>
                                        </p:tgtEl>
                                        <p:attrNameLst>
                                          <p:attrName>style.visibility</p:attrName>
                                        </p:attrNameLst>
                                      </p:cBhvr>
                                      <p:to>
                                        <p:strVal val="visible"/>
                                      </p:to>
                                    </p:set>
                                    <p:animEffect transition="in" filter="wipe(left)">
                                      <p:cBhvr>
                                        <p:cTn id="23" dur="500"/>
                                        <p:tgtEl>
                                          <p:spTgt spid="3892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8921"/>
                                        </p:tgtEl>
                                        <p:attrNameLst>
                                          <p:attrName>style.visibility</p:attrName>
                                        </p:attrNameLst>
                                      </p:cBhvr>
                                      <p:to>
                                        <p:strVal val="visible"/>
                                      </p:to>
                                    </p:set>
                                    <p:animEffect transition="in" filter="wipe(left)">
                                      <p:cBhvr>
                                        <p:cTn id="28" dur="500"/>
                                        <p:tgtEl>
                                          <p:spTgt spid="3892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8922"/>
                                        </p:tgtEl>
                                        <p:attrNameLst>
                                          <p:attrName>style.visibility</p:attrName>
                                        </p:attrNameLst>
                                      </p:cBhvr>
                                      <p:to>
                                        <p:strVal val="visible"/>
                                      </p:to>
                                    </p:set>
                                    <p:animEffect transition="in" filter="wipe(left)">
                                      <p:cBhvr>
                                        <p:cTn id="33" dur="500"/>
                                        <p:tgtEl>
                                          <p:spTgt spid="3892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8923"/>
                                        </p:tgtEl>
                                        <p:attrNameLst>
                                          <p:attrName>style.visibility</p:attrName>
                                        </p:attrNameLst>
                                      </p:cBhvr>
                                      <p:to>
                                        <p:strVal val="visible"/>
                                      </p:to>
                                    </p:set>
                                    <p:animEffect transition="in" filter="wipe(left)">
                                      <p:cBhvr>
                                        <p:cTn id="38" dur="500"/>
                                        <p:tgtEl>
                                          <p:spTgt spid="38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p:bldP spid="38918" grpId="0" animBg="1"/>
      <p:bldP spid="38919" grpId="0"/>
      <p:bldP spid="38920" grpId="0"/>
      <p:bldP spid="38921" grpId="0"/>
      <p:bldP spid="38922" grpId="0"/>
      <p:bldP spid="389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40" name="Text Box 4"/>
          <p:cNvSpPr txBox="1"/>
          <p:nvPr/>
        </p:nvSpPr>
        <p:spPr>
          <a:xfrm>
            <a:off x="0" y="152400"/>
            <a:ext cx="8915400" cy="1701800"/>
          </a:xfrm>
          <a:prstGeom prst="rect">
            <a:avLst/>
          </a:prstGeom>
          <a:noFill/>
          <a:ln w="9525">
            <a:noFill/>
          </a:ln>
        </p:spPr>
        <p:txBody>
          <a:bodyPr anchor="t">
            <a:spAutoFit/>
          </a:bodyPr>
          <a:p>
            <a:pPr>
              <a:lnSpc>
                <a:spcPct val="110000"/>
              </a:lnSpc>
            </a:pPr>
            <a:r>
              <a:rPr lang="en-US" altLang="zh-CN" sz="3200" b="1">
                <a:latin typeface="Times New Roman" panose="02020603050405020304" pitchFamily="18" charset="0"/>
                <a:ea typeface="宋体" panose="02010600030101010101" pitchFamily="2" charset="-122"/>
              </a:rPr>
              <a:t>     </a:t>
            </a:r>
            <a:r>
              <a:rPr lang="zh-CN" altLang="en-US" sz="3200" b="1">
                <a:latin typeface="Times New Roman" panose="02020603050405020304" pitchFamily="18" charset="0"/>
                <a:ea typeface="楷体_GB2312" pitchFamily="49" charset="-122"/>
              </a:rPr>
              <a:t>对问题进行充分的前期分析以前</a:t>
            </a:r>
            <a:r>
              <a:rPr lang="en-US" altLang="zh-CN" sz="3200" b="1">
                <a:latin typeface="Times New Roman" panose="02020603050405020304" pitchFamily="18" charset="0"/>
                <a:ea typeface="楷体_GB2312" pitchFamily="49" charset="-122"/>
              </a:rPr>
              <a:t>,</a:t>
            </a:r>
            <a:r>
              <a:rPr lang="zh-CN" altLang="en-US" sz="3200" b="1">
                <a:latin typeface="Times New Roman" panose="02020603050405020304" pitchFamily="18" charset="0"/>
                <a:ea typeface="楷体_GB2312" pitchFamily="49" charset="-122"/>
              </a:rPr>
              <a:t>过早着手决问题</a:t>
            </a:r>
            <a:r>
              <a:rPr lang="en-US" altLang="zh-CN" sz="3200" b="1">
                <a:latin typeface="Times New Roman" panose="02020603050405020304" pitchFamily="18" charset="0"/>
                <a:ea typeface="楷体_GB2312" pitchFamily="49" charset="-122"/>
              </a:rPr>
              <a:t>,</a:t>
            </a:r>
            <a:r>
              <a:rPr lang="zh-CN" altLang="en-US" sz="3200" b="1">
                <a:latin typeface="Times New Roman" panose="02020603050405020304" pitchFamily="18" charset="0"/>
                <a:ea typeface="楷体_GB2312" pitchFamily="49" charset="-122"/>
              </a:rPr>
              <a:t>往往会陷入一些意想不到的陷阱</a:t>
            </a:r>
            <a:r>
              <a:rPr lang="en-US" altLang="zh-CN" sz="3200" b="1">
                <a:latin typeface="Times New Roman" panose="02020603050405020304" pitchFamily="18" charset="0"/>
                <a:ea typeface="楷体_GB2312" pitchFamily="49" charset="-122"/>
              </a:rPr>
              <a:t>,</a:t>
            </a:r>
            <a:r>
              <a:rPr lang="zh-CN" altLang="en-US" sz="3200" b="1">
                <a:latin typeface="Times New Roman" panose="02020603050405020304" pitchFamily="18" charset="0"/>
                <a:ea typeface="楷体_GB2312" pitchFamily="49" charset="-122"/>
              </a:rPr>
              <a:t>或者偏离解决问题的方向</a:t>
            </a:r>
            <a:r>
              <a:rPr lang="en-US" altLang="zh-CN" sz="3200" b="1">
                <a:latin typeface="Times New Roman" panose="02020603050405020304" pitchFamily="18" charset="0"/>
                <a:ea typeface="楷体_GB2312" pitchFamily="49" charset="-122"/>
              </a:rPr>
              <a:t>.</a:t>
            </a:r>
            <a:endParaRPr lang="en-US" altLang="zh-CN" sz="3200">
              <a:latin typeface="Times New Roman" panose="02020603050405020304" pitchFamily="18" charset="0"/>
              <a:ea typeface="楷体_GB2312" pitchFamily="49" charset="-122"/>
            </a:endParaRPr>
          </a:p>
        </p:txBody>
      </p:sp>
      <p:sp>
        <p:nvSpPr>
          <p:cNvPr id="39941" name="Text Box 5"/>
          <p:cNvSpPr txBox="1"/>
          <p:nvPr/>
        </p:nvSpPr>
        <p:spPr>
          <a:xfrm>
            <a:off x="304800" y="1828800"/>
            <a:ext cx="2419350" cy="608013"/>
          </a:xfrm>
          <a:prstGeom prst="rect">
            <a:avLst/>
          </a:prstGeom>
          <a:gradFill rotWithShape="0">
            <a:gsLst>
              <a:gs pos="0">
                <a:srgbClr val="FFCCCC"/>
              </a:gs>
              <a:gs pos="50000">
                <a:srgbClr val="FFFFFF"/>
              </a:gs>
              <a:gs pos="100000">
                <a:srgbClr val="FFCCCC"/>
              </a:gs>
            </a:gsLst>
            <a:lin ang="5400000" scaled="1"/>
            <a:tileRect/>
          </a:gradFill>
          <a:ln w="28575" cap="flat" cmpd="sng">
            <a:solidFill>
              <a:srgbClr val="800000"/>
            </a:solidFill>
            <a:prstDash val="solid"/>
            <a:miter/>
            <a:headEnd type="none" w="med" len="med"/>
            <a:tailEnd type="none" w="med" len="med"/>
          </a:ln>
        </p:spPr>
        <p:txBody>
          <a:bodyPr wrap="none" anchor="t">
            <a:spAutoFit/>
          </a:bodyPr>
          <a:p>
            <a:r>
              <a:rPr lang="en-US" altLang="zh-CN" sz="3200" b="1">
                <a:solidFill>
                  <a:srgbClr val="FF0000"/>
                </a:solidFill>
                <a:latin typeface="Times New Roman" panose="02020603050405020304" pitchFamily="18" charset="0"/>
                <a:ea typeface="宋体" panose="02010600030101010101" pitchFamily="2" charset="-122"/>
              </a:rPr>
              <a:t>(1) </a:t>
            </a:r>
            <a:r>
              <a:rPr lang="zh-CN" altLang="en-US" sz="3200" b="1">
                <a:solidFill>
                  <a:srgbClr val="FF0000"/>
                </a:solidFill>
                <a:latin typeface="Times New Roman" panose="02020603050405020304" pitchFamily="18" charset="0"/>
                <a:ea typeface="宋体" panose="02010600030101010101" pitchFamily="2" charset="-122"/>
              </a:rPr>
              <a:t>明确问题</a:t>
            </a:r>
            <a:endParaRPr lang="zh-CN" altLang="en-US" sz="3200">
              <a:latin typeface="Times New Roman" panose="02020603050405020304" pitchFamily="18" charset="0"/>
              <a:ea typeface="楷体_GB2312" pitchFamily="49" charset="-122"/>
            </a:endParaRPr>
          </a:p>
        </p:txBody>
      </p:sp>
      <p:sp>
        <p:nvSpPr>
          <p:cNvPr id="39942" name="Text Box 6"/>
          <p:cNvSpPr txBox="1"/>
          <p:nvPr/>
        </p:nvSpPr>
        <p:spPr>
          <a:xfrm>
            <a:off x="304800" y="2514600"/>
            <a:ext cx="8240713" cy="1066800"/>
          </a:xfrm>
          <a:prstGeom prst="rect">
            <a:avLst/>
          </a:prstGeom>
          <a:noFill/>
          <a:ln w="9525">
            <a:noFill/>
          </a:ln>
        </p:spPr>
        <p:txBody>
          <a:bodyPr wrap="none" anchor="t">
            <a:spAutoFit/>
          </a:bodyPr>
          <a:p>
            <a:r>
              <a:rPr lang="zh-CN" altLang="en-US" sz="3200" b="1">
                <a:solidFill>
                  <a:srgbClr val="FF0000"/>
                </a:solidFill>
                <a:latin typeface="Times New Roman" panose="02020603050405020304" pitchFamily="18" charset="0"/>
                <a:ea typeface="宋体" panose="02010600030101010101" pitchFamily="2" charset="-122"/>
              </a:rPr>
              <a:t>例</a:t>
            </a:r>
            <a:r>
              <a:rPr lang="en-US" altLang="zh-CN" sz="3200" b="1">
                <a:solidFill>
                  <a:srgbClr val="FF0000"/>
                </a:solidFill>
                <a:latin typeface="Times New Roman" panose="02020603050405020304" pitchFamily="18" charset="0"/>
                <a:ea typeface="宋体" panose="02010600030101010101" pitchFamily="2" charset="-122"/>
              </a:rPr>
              <a:t>1</a:t>
            </a:r>
            <a:r>
              <a:rPr lang="en-US" altLang="zh-CN" sz="3200" b="1">
                <a:latin typeface="Times New Roman" panose="02020603050405020304" pitchFamily="18" charset="0"/>
                <a:ea typeface="宋体" panose="02010600030101010101" pitchFamily="2" charset="-122"/>
              </a:rPr>
              <a:t> </a:t>
            </a:r>
            <a:r>
              <a:rPr lang="zh-CN" altLang="en-US" sz="3200" b="1">
                <a:latin typeface="楷体_GB2312" pitchFamily="49" charset="-122"/>
                <a:ea typeface="楷体_GB2312" pitchFamily="49" charset="-122"/>
              </a:rPr>
              <a:t>一家大商业印刷公司的经理就关于应该雇</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       多少推销员的问题征询你的意见</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a:latin typeface="楷体_GB2312" pitchFamily="49" charset="-122"/>
              <a:ea typeface="楷体_GB2312" pitchFamily="49" charset="-122"/>
            </a:endParaRPr>
          </a:p>
        </p:txBody>
      </p:sp>
      <p:sp>
        <p:nvSpPr>
          <p:cNvPr id="39943" name="Text Box 7"/>
          <p:cNvSpPr txBox="1"/>
          <p:nvPr/>
        </p:nvSpPr>
        <p:spPr>
          <a:xfrm>
            <a:off x="2133600" y="4221163"/>
            <a:ext cx="4070350" cy="579437"/>
          </a:xfrm>
          <a:prstGeom prst="rect">
            <a:avLst/>
          </a:prstGeom>
          <a:gradFill rotWithShape="0">
            <a:gsLst>
              <a:gs pos="0">
                <a:srgbClr val="FFCC99"/>
              </a:gs>
              <a:gs pos="50000">
                <a:srgbClr val="FFFFFF"/>
              </a:gs>
              <a:gs pos="100000">
                <a:srgbClr val="FFCC99"/>
              </a:gs>
            </a:gsLst>
            <a:lin ang="5400000" scaled="1"/>
            <a:tileRect/>
          </a:gradFill>
          <a:ln w="9525">
            <a:noFill/>
          </a:ln>
        </p:spPr>
        <p:txBody>
          <a:bodyPr wrap="none" anchor="t">
            <a:spAutoFit/>
          </a:bodyPr>
          <a:p>
            <a:pPr algn="ctr"/>
            <a:r>
              <a:rPr lang="en-US" altLang="zh-CN" sz="3200" b="1">
                <a:solidFill>
                  <a:srgbClr val="B7151D"/>
                </a:solidFill>
                <a:latin typeface="Times New Roman" panose="02020603050405020304" pitchFamily="18" charset="0"/>
                <a:ea typeface="楷体_GB2312" pitchFamily="49" charset="-122"/>
              </a:rPr>
              <a:t>“</a:t>
            </a:r>
            <a:r>
              <a:rPr lang="zh-CN" altLang="en-US" sz="3200" b="1">
                <a:solidFill>
                  <a:srgbClr val="B7151D"/>
                </a:solidFill>
                <a:latin typeface="楷体_GB2312" pitchFamily="49" charset="-122"/>
                <a:ea typeface="楷体_GB2312" pitchFamily="49" charset="-122"/>
              </a:rPr>
              <a:t>究竟需要做什么？</a:t>
            </a:r>
            <a:r>
              <a:rPr lang="zh-CN" altLang="en-US" sz="3200" b="1">
                <a:solidFill>
                  <a:srgbClr val="B7151D"/>
                </a:solidFill>
                <a:latin typeface="Times New Roman" panose="02020603050405020304" pitchFamily="18" charset="0"/>
                <a:ea typeface="楷体_GB2312" pitchFamily="49" charset="-122"/>
              </a:rPr>
              <a:t>”</a:t>
            </a:r>
            <a:r>
              <a:rPr lang="zh-CN" altLang="en-US" sz="3200">
                <a:solidFill>
                  <a:srgbClr val="B7151D"/>
                </a:solidFill>
                <a:latin typeface="楷体_GB2312" pitchFamily="49" charset="-122"/>
                <a:ea typeface="楷体_GB2312" pitchFamily="49" charset="-122"/>
              </a:rPr>
              <a:t> </a:t>
            </a:r>
            <a:endParaRPr lang="zh-CN" altLang="en-US" sz="3200">
              <a:solidFill>
                <a:srgbClr val="B7151D"/>
              </a:solidFill>
              <a:latin typeface="楷体_GB2312" pitchFamily="49" charset="-122"/>
              <a:ea typeface="楷体_GB2312" pitchFamily="49" charset="-122"/>
            </a:endParaRPr>
          </a:p>
        </p:txBody>
      </p:sp>
      <p:sp>
        <p:nvSpPr>
          <p:cNvPr id="39944" name="Text Box 8"/>
          <p:cNvSpPr txBox="1"/>
          <p:nvPr/>
        </p:nvSpPr>
        <p:spPr>
          <a:xfrm>
            <a:off x="381000" y="4906963"/>
            <a:ext cx="7759700" cy="579437"/>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为明确问题</a:t>
            </a:r>
            <a:r>
              <a:rPr lang="zh-CN" altLang="en-US" sz="3200">
                <a:latin typeface="Times New Roman" panose="02020603050405020304" pitchFamily="18" charset="0"/>
                <a:ea typeface="楷体_GB2312" pitchFamily="49" charset="-122"/>
              </a:rPr>
              <a:t> </a:t>
            </a:r>
            <a:r>
              <a:rPr lang="en-US" altLang="zh-CN" sz="3200" b="1">
                <a:latin typeface="Times New Roman" panose="02020603050405020304" pitchFamily="18" charset="0"/>
                <a:ea typeface="楷体_GB2312" pitchFamily="49" charset="-122"/>
              </a:rPr>
              <a:t>,</a:t>
            </a:r>
            <a:r>
              <a:rPr lang="zh-CN" altLang="en-US" sz="3200" b="1">
                <a:latin typeface="Times New Roman" panose="02020603050405020304" pitchFamily="18" charset="0"/>
                <a:ea typeface="楷体_GB2312" pitchFamily="49" charset="-122"/>
              </a:rPr>
              <a:t>可向有关人员询问如下问题：</a:t>
            </a:r>
            <a:endParaRPr lang="zh-CN" altLang="en-US" sz="3200" b="1">
              <a:latin typeface="Times New Roman" panose="02020603050405020304" pitchFamily="18" charset="0"/>
              <a:ea typeface="楷体_GB2312" pitchFamily="49" charset="-122"/>
            </a:endParaRPr>
          </a:p>
        </p:txBody>
      </p:sp>
      <p:sp>
        <p:nvSpPr>
          <p:cNvPr id="39945" name="Text Box 9"/>
          <p:cNvSpPr txBox="1"/>
          <p:nvPr/>
        </p:nvSpPr>
        <p:spPr>
          <a:xfrm>
            <a:off x="762000" y="5440363"/>
            <a:ext cx="4479925" cy="579437"/>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1.</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公司的规模有多大？</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39946" name="Text Box 10"/>
          <p:cNvSpPr txBox="1"/>
          <p:nvPr/>
        </p:nvSpPr>
        <p:spPr>
          <a:xfrm>
            <a:off x="762000" y="5973763"/>
            <a:ext cx="6118225" cy="579437"/>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2.</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该公司的推销员的工作方式？</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39947" name="Text Box 11"/>
          <p:cNvSpPr txBox="1"/>
          <p:nvPr/>
        </p:nvSpPr>
        <p:spPr>
          <a:xfrm>
            <a:off x="365125" y="3535363"/>
            <a:ext cx="6121400" cy="579437"/>
          </a:xfrm>
          <a:prstGeom prst="rect">
            <a:avLst/>
          </a:prstGeom>
          <a:noFill/>
          <a:ln w="9525">
            <a:noFill/>
          </a:ln>
        </p:spPr>
        <p:txBody>
          <a:bodyPr wrap="none" anchor="t">
            <a:spAutoFit/>
          </a:bodyPr>
          <a:p>
            <a:r>
              <a:rPr lang="zh-CN" altLang="en-US" sz="3200" b="1">
                <a:latin typeface="楷体_GB2312" pitchFamily="49" charset="-122"/>
                <a:ea typeface="楷体_GB2312" pitchFamily="49" charset="-122"/>
              </a:rPr>
              <a:t>遇到一个新问题时</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首先应问自己</a:t>
            </a:r>
            <a:endParaRPr lang="zh-CN" altLang="en-US" sz="3200" b="1">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9940"/>
                                        </p:tgtEl>
                                        <p:attrNameLst>
                                          <p:attrName>style.visibility</p:attrName>
                                        </p:attrNameLst>
                                      </p:cBhvr>
                                      <p:to>
                                        <p:strVal val="visible"/>
                                      </p:to>
                                    </p:set>
                                    <p:animEffect transition="in" filter="strips(downRight)">
                                      <p:cBhvr>
                                        <p:cTn id="7" dur="500"/>
                                        <p:tgtEl>
                                          <p:spTgt spid="3994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39941"/>
                                        </p:tgtEl>
                                        <p:attrNameLst>
                                          <p:attrName>style.visibility</p:attrName>
                                        </p:attrNameLst>
                                      </p:cBhvr>
                                      <p:to>
                                        <p:strVal val="visible"/>
                                      </p:to>
                                    </p:set>
                                    <p:anim calcmode="lin" valueType="num">
                                      <p:cBhvr>
                                        <p:cTn id="12" dur="500" fill="hold"/>
                                        <p:tgtEl>
                                          <p:spTgt spid="39941"/>
                                        </p:tgtEl>
                                        <p:attrNameLst>
                                          <p:attrName>ppt_w</p:attrName>
                                        </p:attrNameLst>
                                      </p:cBhvr>
                                      <p:tavLst>
                                        <p:tav tm="0">
                                          <p:val>
                                            <p:fltVal val="0.000000"/>
                                          </p:val>
                                        </p:tav>
                                        <p:tav tm="100000">
                                          <p:val>
                                            <p:strVal val="#ppt_w"/>
                                          </p:val>
                                        </p:tav>
                                      </p:tavLst>
                                    </p:anim>
                                    <p:anim calcmode="lin" valueType="num">
                                      <p:cBhvr>
                                        <p:cTn id="13" dur="500" fill="hold"/>
                                        <p:tgtEl>
                                          <p:spTgt spid="39941"/>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9942"/>
                                        </p:tgtEl>
                                        <p:attrNameLst>
                                          <p:attrName>style.visibility</p:attrName>
                                        </p:attrNameLst>
                                      </p:cBhvr>
                                      <p:to>
                                        <p:strVal val="visible"/>
                                      </p:to>
                                    </p:set>
                                    <p:animEffect transition="in" filter="wipe(left)">
                                      <p:cBhvr>
                                        <p:cTn id="18" dur="500"/>
                                        <p:tgtEl>
                                          <p:spTgt spid="3994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9947"/>
                                        </p:tgtEl>
                                        <p:attrNameLst>
                                          <p:attrName>style.visibility</p:attrName>
                                        </p:attrNameLst>
                                      </p:cBhvr>
                                      <p:to>
                                        <p:strVal val="visible"/>
                                      </p:to>
                                    </p:set>
                                    <p:animEffect transition="in" filter="wipe(left)">
                                      <p:cBhvr>
                                        <p:cTn id="23" dur="500"/>
                                        <p:tgtEl>
                                          <p:spTgt spid="39947"/>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39943"/>
                                        </p:tgtEl>
                                        <p:attrNameLst>
                                          <p:attrName>style.visibility</p:attrName>
                                        </p:attrNameLst>
                                      </p:cBhvr>
                                      <p:to>
                                        <p:strVal val="visible"/>
                                      </p:to>
                                    </p:set>
                                    <p:animEffect transition="in" filter="barn(inVertical)">
                                      <p:cBhvr>
                                        <p:cTn id="28" dur="500"/>
                                        <p:tgtEl>
                                          <p:spTgt spid="3994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9944"/>
                                        </p:tgtEl>
                                        <p:attrNameLst>
                                          <p:attrName>style.visibility</p:attrName>
                                        </p:attrNameLst>
                                      </p:cBhvr>
                                      <p:to>
                                        <p:strVal val="visible"/>
                                      </p:to>
                                    </p:set>
                                    <p:animEffect transition="in" filter="wipe(left)">
                                      <p:cBhvr>
                                        <p:cTn id="33" dur="500"/>
                                        <p:tgtEl>
                                          <p:spTgt spid="3994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9945"/>
                                        </p:tgtEl>
                                        <p:attrNameLst>
                                          <p:attrName>style.visibility</p:attrName>
                                        </p:attrNameLst>
                                      </p:cBhvr>
                                      <p:to>
                                        <p:strVal val="visible"/>
                                      </p:to>
                                    </p:set>
                                    <p:animEffect transition="in" filter="wipe(left)">
                                      <p:cBhvr>
                                        <p:cTn id="38" dur="500"/>
                                        <p:tgtEl>
                                          <p:spTgt spid="3994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9946"/>
                                        </p:tgtEl>
                                        <p:attrNameLst>
                                          <p:attrName>style.visibility</p:attrName>
                                        </p:attrNameLst>
                                      </p:cBhvr>
                                      <p:to>
                                        <p:strVal val="visible"/>
                                      </p:to>
                                    </p:set>
                                    <p:animEffect transition="in" filter="wipe(left)">
                                      <p:cBhvr>
                                        <p:cTn id="43" dur="500"/>
                                        <p:tgtEl>
                                          <p:spTgt spid="39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39941" grpId="0" animBg="1"/>
      <p:bldP spid="39942" grpId="0"/>
      <p:bldP spid="39943" grpId="0" animBg="1"/>
      <p:bldP spid="39944" grpId="0"/>
      <p:bldP spid="39945" grpId="0"/>
      <p:bldP spid="39946" grpId="0"/>
      <p:bldP spid="399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Text Box 4"/>
          <p:cNvSpPr txBox="1"/>
          <p:nvPr/>
        </p:nvSpPr>
        <p:spPr>
          <a:xfrm>
            <a:off x="565150" y="1706563"/>
            <a:ext cx="8547100" cy="579437"/>
          </a:xfrm>
          <a:prstGeom prst="rect">
            <a:avLst/>
          </a:prstGeom>
          <a:noFill/>
          <a:ln w="9525">
            <a:noFill/>
          </a:ln>
        </p:spPr>
        <p:txBody>
          <a:bodyPr wrap="none" anchor="t">
            <a:spAutoFit/>
          </a:bodyPr>
          <a:p>
            <a:r>
              <a:rPr lang="zh-CN" altLang="en-US" sz="3200" b="1">
                <a:solidFill>
                  <a:srgbClr val="C4081A"/>
                </a:solidFill>
                <a:latin typeface="楷体_GB2312" pitchFamily="49" charset="-122"/>
                <a:ea typeface="楷体_GB2312" pitchFamily="49" charset="-122"/>
              </a:rPr>
              <a:t>着眼点</a:t>
            </a:r>
            <a:r>
              <a:rPr lang="zh-CN" altLang="en-US" sz="3200" b="1">
                <a:latin typeface="楷体_GB2312" pitchFamily="49" charset="-122"/>
                <a:ea typeface="楷体_GB2312" pitchFamily="49" charset="-122"/>
              </a:rPr>
              <a:t>是对各类推销队伍的工作效果进行分析</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40965" name="Text Box 5"/>
          <p:cNvSpPr txBox="1"/>
          <p:nvPr/>
        </p:nvSpPr>
        <p:spPr>
          <a:xfrm>
            <a:off x="533400" y="3078163"/>
            <a:ext cx="6507163" cy="579437"/>
          </a:xfrm>
          <a:prstGeom prst="rect">
            <a:avLst/>
          </a:prstGeom>
          <a:noFill/>
          <a:ln w="9525">
            <a:noFill/>
          </a:ln>
        </p:spPr>
        <p:txBody>
          <a:bodyPr wrap="none" anchor="t">
            <a:spAutoFit/>
          </a:bodyPr>
          <a:p>
            <a:r>
              <a:rPr lang="zh-CN" altLang="en-US" sz="3200" b="1">
                <a:latin typeface="楷体_GB2312" pitchFamily="49" charset="-122"/>
                <a:ea typeface="楷体_GB2312" pitchFamily="49" charset="-122"/>
              </a:rPr>
              <a:t>原问题</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推销员人数问题</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 明确为：</a:t>
            </a:r>
            <a:endParaRPr lang="zh-CN" altLang="en-US" sz="3200" b="1">
              <a:latin typeface="楷体_GB2312" pitchFamily="49" charset="-122"/>
              <a:ea typeface="楷体_GB2312" pitchFamily="49" charset="-122"/>
            </a:endParaRPr>
          </a:p>
        </p:txBody>
      </p:sp>
      <p:sp>
        <p:nvSpPr>
          <p:cNvPr id="40966" name="Text Box 6"/>
          <p:cNvSpPr txBox="1"/>
          <p:nvPr/>
        </p:nvSpPr>
        <p:spPr>
          <a:xfrm>
            <a:off x="381000" y="3687763"/>
            <a:ext cx="7834313" cy="579437"/>
          </a:xfrm>
          <a:prstGeom prst="rect">
            <a:avLst/>
          </a:prstGeom>
          <a:noFill/>
          <a:ln w="9525">
            <a:noFill/>
          </a:ln>
        </p:spPr>
        <p:txBody>
          <a:bodyPr wrap="none" anchor="t">
            <a:spAutoFit/>
          </a:bodyPr>
          <a:p>
            <a:r>
              <a:rPr lang="zh-CN" altLang="en-US" sz="3200" b="1">
                <a:latin typeface="楷体_GB2312" pitchFamily="49" charset="-122"/>
                <a:ea typeface="楷体_GB2312" pitchFamily="49" charset="-122"/>
              </a:rPr>
              <a:t>（</a:t>
            </a:r>
            <a:r>
              <a:rPr lang="en-US" altLang="zh-CN" sz="3200" b="1">
                <a:latin typeface="楷体_GB2312" pitchFamily="49" charset="-122"/>
                <a:ea typeface="楷体_GB2312" pitchFamily="49" charset="-122"/>
              </a:rPr>
              <a:t>1</a:t>
            </a:r>
            <a:r>
              <a:rPr lang="zh-CN" altLang="en-US" sz="3200" b="1">
                <a:latin typeface="楷体_GB2312" pitchFamily="49" charset="-122"/>
                <a:ea typeface="楷体_GB2312" pitchFamily="49" charset="-122"/>
              </a:rPr>
              <a:t>）不同规模的销售队伍会有什么影响；</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0967" name="Text Box 7"/>
          <p:cNvSpPr txBox="1"/>
          <p:nvPr/>
        </p:nvSpPr>
        <p:spPr>
          <a:xfrm>
            <a:off x="381000" y="4267200"/>
            <a:ext cx="8763000" cy="579438"/>
          </a:xfrm>
          <a:prstGeom prst="rect">
            <a:avLst/>
          </a:prstGeom>
          <a:noFill/>
          <a:ln w="9525">
            <a:noFill/>
          </a:ln>
        </p:spPr>
        <p:txBody>
          <a:bodyPr anchor="t">
            <a:spAutoFit/>
          </a:bodyPr>
          <a:p>
            <a:r>
              <a:rPr lang="zh-CN" altLang="en-US" sz="3200" b="1">
                <a:latin typeface="楷体_GB2312" pitchFamily="49" charset="-122"/>
                <a:ea typeface="楷体_GB2312" pitchFamily="49" charset="-122"/>
              </a:rPr>
              <a:t>（</a:t>
            </a:r>
            <a:r>
              <a:rPr lang="en-US" altLang="zh-CN" sz="3200" b="1">
                <a:latin typeface="楷体_GB2312" pitchFamily="49" charset="-122"/>
                <a:ea typeface="楷体_GB2312" pitchFamily="49" charset="-122"/>
              </a:rPr>
              <a:t>2</a:t>
            </a:r>
            <a:r>
              <a:rPr lang="zh-CN" altLang="en-US" sz="3200" b="1">
                <a:latin typeface="楷体_GB2312" pitchFamily="49" charset="-122"/>
                <a:ea typeface="楷体_GB2312" pitchFamily="49" charset="-122"/>
              </a:rPr>
              <a:t>）怎样从他们的销售工作中获取最大的收益</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a:latin typeface="楷体_GB2312" pitchFamily="49" charset="-122"/>
              <a:ea typeface="楷体_GB2312" pitchFamily="49" charset="-122"/>
            </a:endParaRPr>
          </a:p>
        </p:txBody>
      </p:sp>
      <p:sp>
        <p:nvSpPr>
          <p:cNvPr id="40968" name="Text Box 8"/>
          <p:cNvSpPr txBox="1"/>
          <p:nvPr/>
        </p:nvSpPr>
        <p:spPr>
          <a:xfrm>
            <a:off x="565150" y="4754563"/>
            <a:ext cx="7934325" cy="579437"/>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明确了工作的目标</a:t>
            </a: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即设置好问题的目标态</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wipe(up)">
                                      <p:cBhvr>
                                        <p:cTn id="7" dur="500"/>
                                        <p:tgtEl>
                                          <p:spTgt spid="409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0966"/>
                                        </p:tgtEl>
                                        <p:attrNameLst>
                                          <p:attrName>style.visibility</p:attrName>
                                        </p:attrNameLst>
                                      </p:cBhvr>
                                      <p:to>
                                        <p:strVal val="visible"/>
                                      </p:to>
                                    </p:set>
                                    <p:animEffect transition="in" filter="wipe(up)">
                                      <p:cBhvr>
                                        <p:cTn id="12" dur="500"/>
                                        <p:tgtEl>
                                          <p:spTgt spid="409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0967"/>
                                        </p:tgtEl>
                                        <p:attrNameLst>
                                          <p:attrName>style.visibility</p:attrName>
                                        </p:attrNameLst>
                                      </p:cBhvr>
                                      <p:to>
                                        <p:strVal val="visible"/>
                                      </p:to>
                                    </p:set>
                                    <p:animEffect transition="in" filter="wipe(up)">
                                      <p:cBhvr>
                                        <p:cTn id="17" dur="500"/>
                                        <p:tgtEl>
                                          <p:spTgt spid="4096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0968"/>
                                        </p:tgtEl>
                                        <p:attrNameLst>
                                          <p:attrName>style.visibility</p:attrName>
                                        </p:attrNameLst>
                                      </p:cBhvr>
                                      <p:to>
                                        <p:strVal val="visible"/>
                                      </p:to>
                                    </p:set>
                                    <p:animEffect transition="in" filter="dissolve">
                                      <p:cBhvr>
                                        <p:cTn id="22" dur="500"/>
                                        <p:tgtEl>
                                          <p:spTgt spid="40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p:bldP spid="40966" grpId="0"/>
      <p:bldP spid="40967" grpId="0"/>
      <p:bldP spid="4096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Text Box 4"/>
          <p:cNvSpPr txBox="1"/>
          <p:nvPr/>
        </p:nvSpPr>
        <p:spPr>
          <a:xfrm>
            <a:off x="533400" y="1219200"/>
            <a:ext cx="3716338" cy="579438"/>
          </a:xfrm>
          <a:prstGeom prst="rect">
            <a:avLst/>
          </a:prstGeom>
          <a:noFill/>
          <a:ln w="9525">
            <a:noFill/>
          </a:ln>
        </p:spPr>
        <p:txBody>
          <a:bodyPr wrap="none" anchor="t">
            <a:spAutoFit/>
          </a:bodyPr>
          <a:p>
            <a:r>
              <a:rPr lang="en-US" altLang="zh-CN" sz="3200" b="1">
                <a:solidFill>
                  <a:srgbClr val="C4081A"/>
                </a:solidFill>
                <a:latin typeface="Times New Roman" panose="02020603050405020304" pitchFamily="18" charset="0"/>
                <a:ea typeface="宋体" panose="02010600030101010101" pitchFamily="2" charset="-122"/>
              </a:rPr>
              <a:t>(2) </a:t>
            </a:r>
            <a:r>
              <a:rPr lang="zh-CN" altLang="en-US" sz="3200" b="1">
                <a:solidFill>
                  <a:srgbClr val="C4081A"/>
                </a:solidFill>
                <a:latin typeface="Times New Roman" panose="02020603050405020304" pitchFamily="18" charset="0"/>
                <a:ea typeface="宋体" panose="02010600030101010101" pitchFamily="2" charset="-122"/>
              </a:rPr>
              <a:t>条件及数据分析</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3013" name="Text Box 5"/>
          <p:cNvSpPr txBox="1"/>
          <p:nvPr/>
        </p:nvSpPr>
        <p:spPr>
          <a:xfrm>
            <a:off x="381000" y="1752600"/>
            <a:ext cx="7832725" cy="1066800"/>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zh-CN" altLang="en-US" sz="3200" b="1">
                <a:latin typeface="Times New Roman" panose="02020603050405020304" pitchFamily="18" charset="0"/>
                <a:ea typeface="楷体_GB2312" pitchFamily="49" charset="-122"/>
              </a:rPr>
              <a:t>设置好问题的目标态，着手工作还需要做</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以下工作：</a:t>
            </a:r>
            <a:endParaRPr lang="zh-CN" altLang="en-US" sz="3200">
              <a:latin typeface="Times New Roman" panose="02020603050405020304" pitchFamily="18" charset="0"/>
              <a:ea typeface="楷体_GB2312" pitchFamily="49" charset="-122"/>
            </a:endParaRPr>
          </a:p>
        </p:txBody>
      </p:sp>
      <p:sp>
        <p:nvSpPr>
          <p:cNvPr id="43014" name="Text Box 6"/>
          <p:cNvSpPr txBox="1"/>
          <p:nvPr/>
        </p:nvSpPr>
        <p:spPr>
          <a:xfrm>
            <a:off x="533400" y="2743200"/>
            <a:ext cx="5387975" cy="579438"/>
          </a:xfrm>
          <a:prstGeom prst="rect">
            <a:avLst/>
          </a:prstGeom>
          <a:noFill/>
          <a:ln w="9525">
            <a:noFill/>
          </a:ln>
        </p:spPr>
        <p:txBody>
          <a:bodyPr wrap="none" anchor="t">
            <a:spAutoFit/>
          </a:bodyPr>
          <a:p>
            <a:r>
              <a:rPr lang="en-US" altLang="zh-CN" sz="3200" b="1">
                <a:latin typeface="楷体_GB2312" pitchFamily="49" charset="-122"/>
                <a:ea typeface="楷体_GB2312" pitchFamily="49" charset="-122"/>
              </a:rPr>
              <a:t>1. </a:t>
            </a:r>
            <a:r>
              <a:rPr lang="zh-CN" altLang="en-US" sz="3200" b="1">
                <a:latin typeface="楷体_GB2312" pitchFamily="49" charset="-122"/>
                <a:ea typeface="楷体_GB2312" pitchFamily="49" charset="-122"/>
              </a:rPr>
              <a:t>收集必要的资料和数据。</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3015" name="Text Box 7"/>
          <p:cNvSpPr txBox="1"/>
          <p:nvPr/>
        </p:nvSpPr>
        <p:spPr>
          <a:xfrm>
            <a:off x="533400" y="3200400"/>
            <a:ext cx="7734300" cy="1066800"/>
          </a:xfrm>
          <a:prstGeom prst="rect">
            <a:avLst/>
          </a:prstGeom>
          <a:noFill/>
          <a:ln w="9525">
            <a:noFill/>
          </a:ln>
        </p:spPr>
        <p:txBody>
          <a:bodyPr wrap="none" anchor="t">
            <a:spAutoFit/>
          </a:bodyPr>
          <a:p>
            <a:r>
              <a:rPr lang="en-US" altLang="zh-CN" sz="3200" b="1">
                <a:latin typeface="楷体_GB2312" pitchFamily="49" charset="-122"/>
                <a:ea typeface="楷体_GB2312" pitchFamily="49" charset="-122"/>
              </a:rPr>
              <a:t>2. </a:t>
            </a:r>
            <a:r>
              <a:rPr lang="zh-CN" altLang="en-US" sz="3200" b="1">
                <a:latin typeface="楷体_GB2312" pitchFamily="49" charset="-122"/>
                <a:ea typeface="楷体_GB2312" pitchFamily="49" charset="-122"/>
              </a:rPr>
              <a:t>分析现有的数据和条件，使问题进一步</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  明确化。</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animEffect transition="in" filter="wipe(left)">
                                      <p:cBhvr>
                                        <p:cTn id="7" dur="500"/>
                                        <p:tgtEl>
                                          <p:spTgt spid="430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4"/>
                                        </p:tgtEl>
                                        <p:attrNameLst>
                                          <p:attrName>style.visibility</p:attrName>
                                        </p:attrNameLst>
                                      </p:cBhvr>
                                      <p:to>
                                        <p:strVal val="visible"/>
                                      </p:to>
                                    </p:set>
                                    <p:animEffect transition="in" filter="wipe(left)">
                                      <p:cBhvr>
                                        <p:cTn id="12" dur="500"/>
                                        <p:tgtEl>
                                          <p:spTgt spid="430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15"/>
                                        </p:tgtEl>
                                        <p:attrNameLst>
                                          <p:attrName>style.visibility</p:attrName>
                                        </p:attrNameLst>
                                      </p:cBhvr>
                                      <p:to>
                                        <p:strVal val="visible"/>
                                      </p:to>
                                    </p:set>
                                    <p:animEffect transition="in" filter="wipe(left)">
                                      <p:cBhvr>
                                        <p:cTn id="17" dur="500"/>
                                        <p:tgtEl>
                                          <p:spTgt spid="4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p:bldP spid="43014" grpId="0"/>
      <p:bldP spid="430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9" name="Text Box 7"/>
          <p:cNvSpPr txBox="1"/>
          <p:nvPr/>
        </p:nvSpPr>
        <p:spPr>
          <a:xfrm>
            <a:off x="1981200" y="1524000"/>
            <a:ext cx="4886325" cy="806450"/>
          </a:xfrm>
          <a:prstGeom prst="rect">
            <a:avLst/>
          </a:prstGeom>
          <a:gradFill rotWithShape="0">
            <a:gsLst>
              <a:gs pos="0">
                <a:srgbClr val="FFCC99"/>
              </a:gs>
              <a:gs pos="50000">
                <a:srgbClr val="FFFFFF"/>
              </a:gs>
              <a:gs pos="100000">
                <a:srgbClr val="FFCC99"/>
              </a:gs>
            </a:gsLst>
            <a:lin ang="5400000" scaled="1"/>
            <a:tileRect/>
          </a:gradFill>
          <a:ln w="9525">
            <a:noFill/>
          </a:ln>
        </p:spPr>
        <p:txBody>
          <a:bodyPr wrap="none" anchor="t">
            <a:spAutoFit/>
          </a:bodyPr>
          <a:p>
            <a:pPr>
              <a:lnSpc>
                <a:spcPct val="130000"/>
              </a:lnSpc>
            </a:pPr>
            <a:r>
              <a:rPr lang="zh-CN" altLang="en-US" sz="3600" b="1">
                <a:latin typeface="Times New Roman" panose="02020603050405020304" pitchFamily="18" charset="0"/>
                <a:ea typeface="楷体_GB2312" pitchFamily="49" charset="-122"/>
              </a:rPr>
              <a:t>怎样收集数据和资料？</a:t>
            </a:r>
            <a:r>
              <a:rPr lang="zh-CN" altLang="en-US" sz="3600">
                <a:latin typeface="Times New Roman" panose="02020603050405020304" pitchFamily="18" charset="0"/>
                <a:ea typeface="楷体_GB2312" pitchFamily="49" charset="-122"/>
              </a:rPr>
              <a:t> </a:t>
            </a:r>
            <a:endParaRPr lang="zh-CN" altLang="en-US" sz="3600">
              <a:latin typeface="Times New Roman" panose="02020603050405020304" pitchFamily="18" charset="0"/>
              <a:ea typeface="楷体_GB2312" pitchFamily="49" charset="-122"/>
            </a:endParaRPr>
          </a:p>
        </p:txBody>
      </p:sp>
      <p:sp>
        <p:nvSpPr>
          <p:cNvPr id="44040" name="Text Box 8"/>
          <p:cNvSpPr txBox="1"/>
          <p:nvPr/>
        </p:nvSpPr>
        <p:spPr>
          <a:xfrm>
            <a:off x="0" y="2286000"/>
            <a:ext cx="8550275" cy="1066800"/>
          </a:xfrm>
          <a:prstGeom prst="rect">
            <a:avLst/>
          </a:prstGeom>
          <a:noFill/>
          <a:ln w="9525">
            <a:noFill/>
          </a:ln>
        </p:spPr>
        <p:txBody>
          <a:bodyPr wrap="none" anchor="t">
            <a:spAutoFit/>
          </a:bodyPr>
          <a:p>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可在各类图书馆、网上查阅、向专家询问、</a:t>
            </a:r>
            <a:endParaRPr lang="zh-CN" altLang="en-US" sz="3200" b="1">
              <a:latin typeface="楷体_GB2312" pitchFamily="49" charset="-122"/>
              <a:ea typeface="楷体_GB2312" pitchFamily="49" charset="-122"/>
            </a:endParaRPr>
          </a:p>
          <a:p>
            <a:r>
              <a:rPr lang="zh-CN" altLang="en-US" sz="3200" b="1">
                <a:latin typeface="Times New Roman" panose="02020603050405020304" pitchFamily="18" charset="0"/>
                <a:ea typeface="楷体_GB2312" pitchFamily="49" charset="-122"/>
              </a:rPr>
              <a:t>通过试验来得到</a:t>
            </a:r>
            <a:r>
              <a:rPr lang="zh-CN" altLang="en-US" sz="3200" b="1">
                <a:latin typeface="楷体_GB2312" pitchFamily="49" charset="-122"/>
                <a:ea typeface="楷体_GB2312" pitchFamily="49" charset="-122"/>
              </a:rPr>
              <a:t>。</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44041" name="Text Box 9"/>
          <p:cNvSpPr txBox="1"/>
          <p:nvPr/>
        </p:nvSpPr>
        <p:spPr>
          <a:xfrm>
            <a:off x="685800" y="3200400"/>
            <a:ext cx="6813550" cy="579438"/>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收集数据应列入工作计划，并注意：</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4042" name="Text Box 10"/>
          <p:cNvSpPr txBox="1"/>
          <p:nvPr/>
        </p:nvSpPr>
        <p:spPr>
          <a:xfrm>
            <a:off x="876300" y="3657600"/>
            <a:ext cx="8243888" cy="579438"/>
          </a:xfrm>
          <a:prstGeom prst="rect">
            <a:avLst/>
          </a:prstGeom>
          <a:noFill/>
          <a:ln w="9525">
            <a:noFill/>
          </a:ln>
        </p:spPr>
        <p:txBody>
          <a:bodyPr wrap="none" anchor="t">
            <a:spAutoFit/>
          </a:bodyPr>
          <a:p>
            <a:r>
              <a:rPr lang="en-US" altLang="zh-CN" sz="3200" b="1">
                <a:latin typeface="楷体_GB2312" pitchFamily="49" charset="-122"/>
                <a:ea typeface="楷体_GB2312" pitchFamily="49" charset="-122"/>
              </a:rPr>
              <a:t>1. </a:t>
            </a:r>
            <a:r>
              <a:rPr lang="zh-CN" altLang="en-US" sz="3200" b="1">
                <a:latin typeface="楷体_GB2312" pitchFamily="49" charset="-122"/>
                <a:ea typeface="楷体_GB2312" pitchFamily="49" charset="-122"/>
              </a:rPr>
              <a:t>向有关人员调查情况应事先设计好问题；</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4043" name="Text Box 11"/>
          <p:cNvSpPr txBox="1"/>
          <p:nvPr/>
        </p:nvSpPr>
        <p:spPr>
          <a:xfrm>
            <a:off x="838200" y="4191000"/>
            <a:ext cx="7324725" cy="1066800"/>
          </a:xfrm>
          <a:prstGeom prst="rect">
            <a:avLst/>
          </a:prstGeom>
          <a:noFill/>
          <a:ln w="9525">
            <a:noFill/>
          </a:ln>
        </p:spPr>
        <p:txBody>
          <a:bodyPr wrap="none" anchor="t">
            <a:spAutoFit/>
          </a:bodyPr>
          <a:p>
            <a:r>
              <a:rPr lang="en-US" altLang="zh-CN" sz="3200">
                <a:latin typeface="Times New Roman" panose="02020603050405020304" pitchFamily="18" charset="0"/>
                <a:ea typeface="楷体_GB2312" pitchFamily="49" charset="-122"/>
              </a:rPr>
              <a:t>2</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事先确定所需资料清单、资料来源、</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收集方式。 </a:t>
            </a:r>
            <a:endParaRPr lang="zh-CN" altLang="en-US" sz="3200" b="1">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9"/>
                                        </p:tgtEl>
                                        <p:attrNameLst>
                                          <p:attrName>style.visibility</p:attrName>
                                        </p:attrNameLst>
                                      </p:cBhvr>
                                      <p:to>
                                        <p:strVal val="visible"/>
                                      </p:to>
                                    </p:set>
                                    <p:animEffect transition="in" filter="wipe(left)">
                                      <p:cBhvr>
                                        <p:cTn id="7" dur="500"/>
                                        <p:tgtEl>
                                          <p:spTgt spid="440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40"/>
                                        </p:tgtEl>
                                        <p:attrNameLst>
                                          <p:attrName>style.visibility</p:attrName>
                                        </p:attrNameLst>
                                      </p:cBhvr>
                                      <p:to>
                                        <p:strVal val="visible"/>
                                      </p:to>
                                    </p:set>
                                    <p:animEffect transition="in" filter="wipe(left)">
                                      <p:cBhvr>
                                        <p:cTn id="12" dur="500"/>
                                        <p:tgtEl>
                                          <p:spTgt spid="440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4041"/>
                                        </p:tgtEl>
                                        <p:attrNameLst>
                                          <p:attrName>style.visibility</p:attrName>
                                        </p:attrNameLst>
                                      </p:cBhvr>
                                      <p:to>
                                        <p:strVal val="visible"/>
                                      </p:to>
                                    </p:set>
                                    <p:animEffect transition="in" filter="wipe(left)">
                                      <p:cBhvr>
                                        <p:cTn id="17" dur="500"/>
                                        <p:tgtEl>
                                          <p:spTgt spid="4404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4042"/>
                                        </p:tgtEl>
                                        <p:attrNameLst>
                                          <p:attrName>style.visibility</p:attrName>
                                        </p:attrNameLst>
                                      </p:cBhvr>
                                      <p:to>
                                        <p:strVal val="visible"/>
                                      </p:to>
                                    </p:set>
                                    <p:animEffect transition="in" filter="wipe(left)">
                                      <p:cBhvr>
                                        <p:cTn id="22" dur="500"/>
                                        <p:tgtEl>
                                          <p:spTgt spid="4404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043"/>
                                        </p:tgtEl>
                                        <p:attrNameLst>
                                          <p:attrName>style.visibility</p:attrName>
                                        </p:attrNameLst>
                                      </p:cBhvr>
                                      <p:to>
                                        <p:strVal val="visible"/>
                                      </p:to>
                                    </p:set>
                                    <p:animEffect transition="in" filter="wipe(left)">
                                      <p:cBhvr>
                                        <p:cTn id="27" dur="500"/>
                                        <p:tgtEl>
                                          <p:spTgt spid="44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9" grpId="0" animBg="1"/>
      <p:bldP spid="44040" grpId="0"/>
      <p:bldP spid="44041" grpId="0"/>
      <p:bldP spid="44042" grpId="0"/>
      <p:bldP spid="4404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60" name="Text Box 4"/>
          <p:cNvSpPr txBox="1"/>
          <p:nvPr/>
        </p:nvSpPr>
        <p:spPr>
          <a:xfrm>
            <a:off x="1066800" y="1371600"/>
            <a:ext cx="6711950" cy="1066800"/>
          </a:xfrm>
          <a:prstGeom prst="rect">
            <a:avLst/>
          </a:prstGeom>
          <a:gradFill rotWithShape="0">
            <a:gsLst>
              <a:gs pos="0">
                <a:srgbClr val="FFCC99"/>
              </a:gs>
              <a:gs pos="50000">
                <a:srgbClr val="FFFF66"/>
              </a:gs>
              <a:gs pos="100000">
                <a:srgbClr val="FFCC99"/>
              </a:gs>
            </a:gsLst>
            <a:lin ang="5400000" scaled="1"/>
            <a:tileRect/>
          </a:gradFill>
          <a:ln w="9525">
            <a:noFill/>
          </a:ln>
        </p:spPr>
        <p:txBody>
          <a:bodyPr wrap="none" anchor="t">
            <a:spAutoFit/>
          </a:bodyPr>
          <a:p>
            <a:pPr algn="ctr"/>
            <a:r>
              <a:rPr lang="zh-CN" altLang="en-US" sz="3200" b="1">
                <a:latin typeface="楷体_GB2312" pitchFamily="49" charset="-122"/>
                <a:ea typeface="楷体_GB2312" pitchFamily="49" charset="-122"/>
              </a:rPr>
              <a:t>有条理的收集计划可以为后期的工作</a:t>
            </a:r>
            <a:endParaRPr lang="zh-CN" altLang="en-US" sz="3200" b="1">
              <a:latin typeface="楷体_GB2312" pitchFamily="49" charset="-122"/>
              <a:ea typeface="楷体_GB2312" pitchFamily="49" charset="-122"/>
            </a:endParaRPr>
          </a:p>
          <a:p>
            <a:pPr algn="ctr"/>
            <a:r>
              <a:rPr lang="zh-CN" altLang="en-US" sz="3200" b="1">
                <a:latin typeface="楷体_GB2312" pitchFamily="49" charset="-122"/>
                <a:ea typeface="楷体_GB2312" pitchFamily="49" charset="-122"/>
              </a:rPr>
              <a:t>创造良好的条件</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45061" name="Text Box 5"/>
          <p:cNvSpPr txBox="1"/>
          <p:nvPr/>
        </p:nvSpPr>
        <p:spPr>
          <a:xfrm>
            <a:off x="609600" y="2514600"/>
            <a:ext cx="7729538" cy="1066800"/>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zh-CN" altLang="en-US" sz="3200" b="1">
                <a:latin typeface="楷体_GB2312" pitchFamily="49" charset="-122"/>
                <a:ea typeface="楷体_GB2312" pitchFamily="49" charset="-122"/>
              </a:rPr>
              <a:t>对收集到的或者现有的资料和数据要做</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仔细分析，使问题进一步明确</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45066" name="Text Box 10"/>
          <p:cNvSpPr txBox="1"/>
          <p:nvPr/>
        </p:nvSpPr>
        <p:spPr>
          <a:xfrm>
            <a:off x="685800" y="6324600"/>
            <a:ext cx="4549775" cy="457200"/>
          </a:xfrm>
          <a:prstGeom prst="rect">
            <a:avLst/>
          </a:prstGeom>
          <a:noFill/>
          <a:ln w="9525">
            <a:noFill/>
          </a:ln>
        </p:spPr>
        <p:txBody>
          <a:bodyPr wrap="none" anchor="t">
            <a:spAutoFit/>
          </a:bodyPr>
          <a:p>
            <a:r>
              <a:rPr lang="en-US" altLang="zh-CN" sz="2400" b="1">
                <a:latin typeface="Times New Roman" panose="02020603050405020304" pitchFamily="18" charset="0"/>
                <a:ea typeface="楷体_GB2312" pitchFamily="49" charset="-122"/>
              </a:rPr>
              <a:t>5.</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哪些条件是可以变动的？等等</a:t>
            </a:r>
            <a:endParaRPr lang="zh-CN" altLang="en-US" sz="2400">
              <a:latin typeface="楷体_GB2312" pitchFamily="49" charset="-122"/>
              <a:ea typeface="楷体_GB2312" pitchFamily="49" charset="-122"/>
            </a:endParaRPr>
          </a:p>
        </p:txBody>
      </p:sp>
      <p:sp>
        <p:nvSpPr>
          <p:cNvPr id="45067" name="Text Box 11"/>
          <p:cNvSpPr txBox="1"/>
          <p:nvPr/>
        </p:nvSpPr>
        <p:spPr>
          <a:xfrm>
            <a:off x="712788" y="4876800"/>
            <a:ext cx="3402012" cy="457200"/>
          </a:xfrm>
          <a:prstGeom prst="rect">
            <a:avLst/>
          </a:prstGeom>
          <a:noFill/>
          <a:ln w="9525">
            <a:noFill/>
          </a:ln>
        </p:spPr>
        <p:txBody>
          <a:bodyPr wrap="none" anchor="t">
            <a:spAutoFit/>
          </a:bodyPr>
          <a:p>
            <a:r>
              <a:rPr lang="en-US" altLang="zh-CN" sz="2400" b="1">
                <a:latin typeface="Times New Roman" panose="02020603050405020304" pitchFamily="18" charset="0"/>
                <a:ea typeface="楷体_GB2312" pitchFamily="49" charset="-122"/>
              </a:rPr>
              <a:t>2</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数据来源是否可靠？</a:t>
            </a:r>
            <a:endParaRPr lang="zh-CN" altLang="en-US" sz="2400" b="1">
              <a:latin typeface="楷体_GB2312" pitchFamily="49" charset="-122"/>
              <a:ea typeface="楷体_GB2312" pitchFamily="49" charset="-122"/>
            </a:endParaRPr>
          </a:p>
        </p:txBody>
      </p:sp>
      <p:sp>
        <p:nvSpPr>
          <p:cNvPr id="45068" name="Text Box 12"/>
          <p:cNvSpPr txBox="1"/>
          <p:nvPr/>
        </p:nvSpPr>
        <p:spPr>
          <a:xfrm>
            <a:off x="682625" y="5375275"/>
            <a:ext cx="3629025" cy="457200"/>
          </a:xfrm>
          <a:prstGeom prst="rect">
            <a:avLst/>
          </a:prstGeom>
          <a:noFill/>
          <a:ln w="9525">
            <a:noFill/>
          </a:ln>
        </p:spPr>
        <p:txBody>
          <a:bodyPr wrap="none" anchor="t">
            <a:spAutoFit/>
          </a:bodyPr>
          <a:p>
            <a:r>
              <a:rPr lang="en-US" altLang="zh-CN" sz="2400" b="1">
                <a:latin typeface="Times New Roman" panose="02020603050405020304" pitchFamily="18" charset="0"/>
                <a:ea typeface="楷体_GB2312" pitchFamily="49" charset="-122"/>
              </a:rPr>
              <a:t>3.</a:t>
            </a:r>
            <a:r>
              <a:rPr lang="en-US" altLang="zh-CN" sz="2400">
                <a:latin typeface="楷体_GB2312" pitchFamily="49" charset="-122"/>
                <a:ea typeface="楷体_GB2312" pitchFamily="49" charset="-122"/>
              </a:rPr>
              <a:t> </a:t>
            </a:r>
            <a:r>
              <a:rPr lang="zh-CN" altLang="en-US" sz="2400" b="1">
                <a:latin typeface="楷体_GB2312" pitchFamily="49" charset="-122"/>
                <a:ea typeface="楷体_GB2312" pitchFamily="49" charset="-122"/>
              </a:rPr>
              <a:t>所给条件有什么意义？</a:t>
            </a:r>
            <a:endParaRPr lang="zh-CN" altLang="en-US" sz="2400" b="1">
              <a:latin typeface="楷体_GB2312" pitchFamily="49" charset="-122"/>
              <a:ea typeface="楷体_GB2312" pitchFamily="49" charset="-122"/>
            </a:endParaRPr>
          </a:p>
        </p:txBody>
      </p:sp>
      <p:sp>
        <p:nvSpPr>
          <p:cNvPr id="45069" name="Text Box 13"/>
          <p:cNvSpPr txBox="1"/>
          <p:nvPr/>
        </p:nvSpPr>
        <p:spPr>
          <a:xfrm>
            <a:off x="685800" y="5867400"/>
            <a:ext cx="3324225" cy="457200"/>
          </a:xfrm>
          <a:prstGeom prst="rect">
            <a:avLst/>
          </a:prstGeom>
          <a:noFill/>
          <a:ln w="9525">
            <a:noFill/>
          </a:ln>
        </p:spPr>
        <p:txBody>
          <a:bodyPr wrap="none" anchor="t">
            <a:spAutoFit/>
          </a:bodyPr>
          <a:p>
            <a:r>
              <a:rPr lang="en-US" altLang="zh-CN" sz="2400" b="1">
                <a:latin typeface="Times New Roman" panose="02020603050405020304" pitchFamily="18" charset="0"/>
                <a:ea typeface="楷体_GB2312" pitchFamily="49" charset="-122"/>
              </a:rPr>
              <a:t>4.</a:t>
            </a: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哪些条件是本质的？</a:t>
            </a:r>
            <a:endParaRPr lang="zh-CN" altLang="en-US" sz="2400" b="1">
              <a:latin typeface="楷体_GB2312" pitchFamily="49" charset="-122"/>
              <a:ea typeface="楷体_GB2312" pitchFamily="49" charset="-122"/>
            </a:endParaRPr>
          </a:p>
        </p:txBody>
      </p:sp>
      <p:sp>
        <p:nvSpPr>
          <p:cNvPr id="45070" name="Text Box 14"/>
          <p:cNvSpPr txBox="1"/>
          <p:nvPr/>
        </p:nvSpPr>
        <p:spPr>
          <a:xfrm>
            <a:off x="685800" y="3657600"/>
            <a:ext cx="2971800" cy="579438"/>
          </a:xfrm>
          <a:prstGeom prst="rect">
            <a:avLst/>
          </a:prstGeom>
          <a:noFill/>
          <a:ln w="9525">
            <a:noFill/>
          </a:ln>
        </p:spPr>
        <p:txBody>
          <a:bodyPr anchor="t">
            <a:spAutoFit/>
          </a:bodyPr>
          <a:p>
            <a:r>
              <a:rPr lang="zh-CN" altLang="en-US" sz="3200" b="1">
                <a:solidFill>
                  <a:srgbClr val="F44C3A"/>
                </a:solidFill>
                <a:latin typeface="Times New Roman" panose="02020603050405020304" pitchFamily="18" charset="0"/>
                <a:ea typeface="楷体_GB2312" pitchFamily="49" charset="-122"/>
              </a:rPr>
              <a:t>还应该分析</a:t>
            </a:r>
            <a:endParaRPr lang="zh-CN" altLang="en-US" sz="3200" b="1">
              <a:solidFill>
                <a:srgbClr val="F44C3A"/>
              </a:solidFill>
              <a:latin typeface="Times New Roman" panose="02020603050405020304" pitchFamily="18" charset="0"/>
              <a:ea typeface="楷体_GB2312" pitchFamily="49" charset="-122"/>
            </a:endParaRPr>
          </a:p>
        </p:txBody>
      </p:sp>
      <p:sp>
        <p:nvSpPr>
          <p:cNvPr id="45071" name="Text Box 15"/>
          <p:cNvSpPr txBox="1"/>
          <p:nvPr/>
        </p:nvSpPr>
        <p:spPr>
          <a:xfrm>
            <a:off x="685800" y="4343400"/>
            <a:ext cx="4165600" cy="457200"/>
          </a:xfrm>
          <a:prstGeom prst="rect">
            <a:avLst/>
          </a:prstGeom>
          <a:noFill/>
          <a:ln w="9525">
            <a:noFill/>
          </a:ln>
        </p:spPr>
        <p:txBody>
          <a:bodyPr wrap="none" anchor="t">
            <a:spAutoFit/>
          </a:bodyPr>
          <a:p>
            <a:r>
              <a:rPr lang="en-US" altLang="zh-CN" sz="2400" b="1">
                <a:latin typeface="Times New Roman" panose="02020603050405020304" pitchFamily="18" charset="0"/>
                <a:ea typeface="楷体_GB2312" pitchFamily="49" charset="-122"/>
              </a:rPr>
              <a:t>1. </a:t>
            </a:r>
            <a:r>
              <a:rPr lang="zh-CN" altLang="en-US" sz="2400" b="1">
                <a:latin typeface="Times New Roman" panose="02020603050405020304" pitchFamily="18" charset="0"/>
                <a:ea typeface="楷体_GB2312" pitchFamily="49" charset="-122"/>
              </a:rPr>
              <a:t>从数据中可得到什么信息？</a:t>
            </a:r>
            <a:endParaRPr lang="zh-CN" altLang="en-US" sz="2400" b="1">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wipe(left)">
                                      <p:cBhvr>
                                        <p:cTn id="7" dur="500"/>
                                        <p:tgtEl>
                                          <p:spTgt spid="450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61"/>
                                        </p:tgtEl>
                                        <p:attrNameLst>
                                          <p:attrName>style.visibility</p:attrName>
                                        </p:attrNameLst>
                                      </p:cBhvr>
                                      <p:to>
                                        <p:strVal val="visible"/>
                                      </p:to>
                                    </p:set>
                                    <p:animEffect transition="in" filter="wipe(left)">
                                      <p:cBhvr>
                                        <p:cTn id="12" dur="500"/>
                                        <p:tgtEl>
                                          <p:spTgt spid="450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5070"/>
                                        </p:tgtEl>
                                        <p:attrNameLst>
                                          <p:attrName>style.visibility</p:attrName>
                                        </p:attrNameLst>
                                      </p:cBhvr>
                                      <p:to>
                                        <p:strVal val="visible"/>
                                      </p:to>
                                    </p:set>
                                    <p:animEffect transition="in" filter="wipe(left)">
                                      <p:cBhvr>
                                        <p:cTn id="17" dur="500"/>
                                        <p:tgtEl>
                                          <p:spTgt spid="450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071"/>
                                        </p:tgtEl>
                                        <p:attrNameLst>
                                          <p:attrName>style.visibility</p:attrName>
                                        </p:attrNameLst>
                                      </p:cBhvr>
                                      <p:to>
                                        <p:strVal val="visible"/>
                                      </p:to>
                                    </p:set>
                                    <p:animEffect transition="in" filter="wipe(left)">
                                      <p:cBhvr>
                                        <p:cTn id="22" dur="500"/>
                                        <p:tgtEl>
                                          <p:spTgt spid="450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5067"/>
                                        </p:tgtEl>
                                        <p:attrNameLst>
                                          <p:attrName>style.visibility</p:attrName>
                                        </p:attrNameLst>
                                      </p:cBhvr>
                                      <p:to>
                                        <p:strVal val="visible"/>
                                      </p:to>
                                    </p:set>
                                    <p:animEffect transition="in" filter="wipe(left)">
                                      <p:cBhvr>
                                        <p:cTn id="27" dur="500"/>
                                        <p:tgtEl>
                                          <p:spTgt spid="4506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5068"/>
                                        </p:tgtEl>
                                        <p:attrNameLst>
                                          <p:attrName>style.visibility</p:attrName>
                                        </p:attrNameLst>
                                      </p:cBhvr>
                                      <p:to>
                                        <p:strVal val="visible"/>
                                      </p:to>
                                    </p:set>
                                    <p:animEffect transition="in" filter="wipe(left)">
                                      <p:cBhvr>
                                        <p:cTn id="32" dur="500"/>
                                        <p:tgtEl>
                                          <p:spTgt spid="4506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5069"/>
                                        </p:tgtEl>
                                        <p:attrNameLst>
                                          <p:attrName>style.visibility</p:attrName>
                                        </p:attrNameLst>
                                      </p:cBhvr>
                                      <p:to>
                                        <p:strVal val="visible"/>
                                      </p:to>
                                    </p:set>
                                    <p:animEffect transition="in" filter="wipe(left)">
                                      <p:cBhvr>
                                        <p:cTn id="37" dur="500"/>
                                        <p:tgtEl>
                                          <p:spTgt spid="450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5066"/>
                                        </p:tgtEl>
                                        <p:attrNameLst>
                                          <p:attrName>style.visibility</p:attrName>
                                        </p:attrNameLst>
                                      </p:cBhvr>
                                      <p:to>
                                        <p:strVal val="visible"/>
                                      </p:to>
                                    </p:set>
                                    <p:animEffect transition="in" filter="wipe(left)">
                                      <p:cBhvr>
                                        <p:cTn id="42" dur="500"/>
                                        <p:tgtEl>
                                          <p:spTgt spid="45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animBg="1"/>
      <p:bldP spid="45061" grpId="0"/>
      <p:bldP spid="45066" grpId="0"/>
      <p:bldP spid="45067" grpId="0"/>
      <p:bldP spid="45068" grpId="0"/>
      <p:bldP spid="45069" grpId="0"/>
      <p:bldP spid="45070" grpId="0"/>
      <p:bldP spid="4507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5" name="Text Box 5"/>
          <p:cNvSpPr txBox="1"/>
          <p:nvPr/>
        </p:nvSpPr>
        <p:spPr>
          <a:xfrm>
            <a:off x="1419225" y="2057400"/>
            <a:ext cx="796925" cy="4216400"/>
          </a:xfrm>
          <a:prstGeom prst="rect">
            <a:avLst/>
          </a:prstGeom>
          <a:gradFill rotWithShape="0">
            <a:gsLst>
              <a:gs pos="0">
                <a:srgbClr val="FFCC99"/>
              </a:gs>
              <a:gs pos="50000">
                <a:srgbClr val="FFFFFF"/>
              </a:gs>
              <a:gs pos="100000">
                <a:srgbClr val="FFCC99"/>
              </a:gs>
            </a:gsLst>
            <a:lin ang="0" scaled="1"/>
            <a:tileRect/>
          </a:gradFill>
          <a:ln w="28575" cap="flat" cmpd="sng">
            <a:solidFill>
              <a:srgbClr val="FF0000"/>
            </a:solidFill>
            <a:prstDash val="solid"/>
            <a:miter/>
            <a:headEnd type="none" w="med" len="med"/>
            <a:tailEnd type="none" w="med" len="med"/>
          </a:ln>
        </p:spPr>
        <p:txBody>
          <a:bodyPr vert="eaVert" wrap="none" anchor="t">
            <a:spAutoFit/>
          </a:bodyPr>
          <a:p>
            <a:pPr>
              <a:lnSpc>
                <a:spcPct val="120000"/>
              </a:lnSpc>
            </a:pPr>
            <a:r>
              <a:rPr lang="zh-CN" altLang="en-US" sz="3200" b="1">
                <a:solidFill>
                  <a:srgbClr val="0033CC"/>
                </a:solidFill>
                <a:latin typeface="Times New Roman" panose="02020603050405020304" pitchFamily="18" charset="0"/>
                <a:ea typeface="楷体_GB2312" pitchFamily="49" charset="-122"/>
              </a:rPr>
              <a:t>建模过程中的几个要点</a:t>
            </a:r>
            <a:endParaRPr lang="zh-CN" altLang="en-US" sz="3200" b="1">
              <a:solidFill>
                <a:srgbClr val="0033CC"/>
              </a:solidFill>
              <a:latin typeface="Times New Roman" panose="02020603050405020304" pitchFamily="18" charset="0"/>
              <a:ea typeface="楷体_GB2312" pitchFamily="49" charset="-122"/>
            </a:endParaRPr>
          </a:p>
        </p:txBody>
      </p:sp>
      <p:sp>
        <p:nvSpPr>
          <p:cNvPr id="46086" name="Text Box 6"/>
          <p:cNvSpPr txBox="1"/>
          <p:nvPr/>
        </p:nvSpPr>
        <p:spPr>
          <a:xfrm>
            <a:off x="2965450" y="2212975"/>
            <a:ext cx="3070225" cy="598488"/>
          </a:xfrm>
          <a:prstGeom prst="rect">
            <a:avLst/>
          </a:prstGeom>
          <a:gradFill rotWithShape="0">
            <a:gsLst>
              <a:gs pos="0">
                <a:srgbClr val="CCFFCC"/>
              </a:gs>
              <a:gs pos="50000">
                <a:srgbClr val="FFFFFF"/>
              </a:gs>
              <a:gs pos="100000">
                <a:srgbClr val="CCFFCC"/>
              </a:gs>
            </a:gsLst>
            <a:lin ang="5400000" scaled="1"/>
            <a:tileRect/>
          </a:gradFill>
          <a:ln w="19050" cap="flat" cmpd="sng">
            <a:solidFill>
              <a:srgbClr val="336600"/>
            </a:solidFill>
            <a:prstDash val="solid"/>
            <a:miter/>
            <a:headEnd type="none" w="med" len="med"/>
            <a:tailEnd type="none" w="med" len="med"/>
          </a:ln>
        </p:spPr>
        <p:txBody>
          <a:bodyPr wrap="none" anchor="t">
            <a:spAutoFit/>
          </a:bodyPr>
          <a:p>
            <a:r>
              <a:rPr lang="zh-CN" altLang="en-US" sz="3200" b="1">
                <a:solidFill>
                  <a:srgbClr val="FF0000"/>
                </a:solidFill>
                <a:latin typeface="Times New Roman" panose="02020603050405020304" pitchFamily="18" charset="0"/>
                <a:ea typeface="宋体" panose="02010600030101010101" pitchFamily="2" charset="-122"/>
              </a:rPr>
              <a:t>模型的整体设计</a:t>
            </a:r>
            <a:endParaRPr lang="zh-CN" altLang="en-US" sz="3200" b="1">
              <a:solidFill>
                <a:srgbClr val="FF0000"/>
              </a:solidFill>
              <a:latin typeface="Times New Roman" panose="02020603050405020304" pitchFamily="18" charset="0"/>
              <a:ea typeface="宋体" panose="02010600030101010101" pitchFamily="2" charset="-122"/>
            </a:endParaRPr>
          </a:p>
        </p:txBody>
      </p:sp>
      <p:sp>
        <p:nvSpPr>
          <p:cNvPr id="46087" name="Text Box 7"/>
          <p:cNvSpPr txBox="1"/>
          <p:nvPr/>
        </p:nvSpPr>
        <p:spPr>
          <a:xfrm>
            <a:off x="2971800" y="3203575"/>
            <a:ext cx="2244725" cy="592138"/>
          </a:xfrm>
          <a:prstGeom prst="rect">
            <a:avLst/>
          </a:prstGeom>
          <a:gradFill rotWithShape="0">
            <a:gsLst>
              <a:gs pos="0">
                <a:srgbClr val="CCFFCC"/>
              </a:gs>
              <a:gs pos="50000">
                <a:srgbClr val="FFFFFF"/>
              </a:gs>
              <a:gs pos="100000">
                <a:srgbClr val="CCFFCC"/>
              </a:gs>
            </a:gsLst>
            <a:lin ang="5400000" scaled="1"/>
            <a:tileRect/>
          </a:gradFill>
          <a:ln w="12700" cap="flat" cmpd="sng">
            <a:solidFill>
              <a:srgbClr val="336600"/>
            </a:solidFill>
            <a:prstDash val="solid"/>
            <a:miter/>
            <a:headEnd type="none" w="med" len="med"/>
            <a:tailEnd type="none" w="med" len="med"/>
          </a:ln>
        </p:spPr>
        <p:txBody>
          <a:bodyPr wrap="none" anchor="t">
            <a:spAutoFit/>
          </a:bodyPr>
          <a:p>
            <a:r>
              <a:rPr lang="zh-CN" altLang="en-US" sz="3200" b="1">
                <a:solidFill>
                  <a:srgbClr val="FF0000"/>
                </a:solidFill>
                <a:latin typeface="Times New Roman" panose="02020603050405020304" pitchFamily="18" charset="0"/>
                <a:ea typeface="宋体" panose="02010600030101010101" pitchFamily="2" charset="-122"/>
              </a:rPr>
              <a:t>合理的假设</a:t>
            </a:r>
            <a:endParaRPr lang="zh-CN" altLang="en-US" sz="3200" b="1">
              <a:solidFill>
                <a:srgbClr val="FF0000"/>
              </a:solidFill>
              <a:latin typeface="Times New Roman" panose="02020603050405020304" pitchFamily="18" charset="0"/>
              <a:ea typeface="宋体" panose="02010600030101010101" pitchFamily="2" charset="-122"/>
            </a:endParaRPr>
          </a:p>
        </p:txBody>
      </p:sp>
      <p:sp>
        <p:nvSpPr>
          <p:cNvPr id="46088" name="Text Box 8"/>
          <p:cNvSpPr txBox="1"/>
          <p:nvPr/>
        </p:nvSpPr>
        <p:spPr>
          <a:xfrm>
            <a:off x="2971800" y="5257800"/>
            <a:ext cx="3063875" cy="592138"/>
          </a:xfrm>
          <a:prstGeom prst="rect">
            <a:avLst/>
          </a:prstGeom>
          <a:gradFill rotWithShape="0">
            <a:gsLst>
              <a:gs pos="0">
                <a:srgbClr val="CCFFCC"/>
              </a:gs>
              <a:gs pos="50000">
                <a:srgbClr val="FFFFFF"/>
              </a:gs>
              <a:gs pos="100000">
                <a:srgbClr val="CCFFCC"/>
              </a:gs>
            </a:gsLst>
            <a:lin ang="5400000" scaled="1"/>
            <a:tileRect/>
          </a:gradFill>
          <a:ln w="12700" cap="flat" cmpd="sng">
            <a:solidFill>
              <a:srgbClr val="336600"/>
            </a:solidFill>
            <a:prstDash val="solid"/>
            <a:miter/>
            <a:headEnd type="none" w="med" len="med"/>
            <a:tailEnd type="none" w="med" len="med"/>
          </a:ln>
        </p:spPr>
        <p:txBody>
          <a:bodyPr wrap="none" anchor="t">
            <a:spAutoFit/>
          </a:bodyPr>
          <a:p>
            <a:r>
              <a:rPr lang="zh-CN" altLang="en-US" sz="3200" b="1">
                <a:solidFill>
                  <a:srgbClr val="FF0000"/>
                </a:solidFill>
                <a:latin typeface="Times New Roman" panose="02020603050405020304" pitchFamily="18" charset="0"/>
                <a:ea typeface="宋体" panose="02010600030101010101" pitchFamily="2" charset="-122"/>
              </a:rPr>
              <a:t>建立数学表达式</a:t>
            </a:r>
            <a:endParaRPr lang="zh-CN" altLang="en-US" sz="3200" b="1">
              <a:solidFill>
                <a:srgbClr val="FF0000"/>
              </a:solidFill>
              <a:latin typeface="Times New Roman" panose="02020603050405020304" pitchFamily="18" charset="0"/>
              <a:ea typeface="宋体" panose="02010600030101010101" pitchFamily="2" charset="-122"/>
            </a:endParaRPr>
          </a:p>
        </p:txBody>
      </p:sp>
      <p:sp>
        <p:nvSpPr>
          <p:cNvPr id="46089" name="Text Box 9"/>
          <p:cNvSpPr txBox="1"/>
          <p:nvPr/>
        </p:nvSpPr>
        <p:spPr>
          <a:xfrm>
            <a:off x="2971800" y="4267200"/>
            <a:ext cx="2654300" cy="592138"/>
          </a:xfrm>
          <a:prstGeom prst="rect">
            <a:avLst/>
          </a:prstGeom>
          <a:gradFill rotWithShape="0">
            <a:gsLst>
              <a:gs pos="0">
                <a:srgbClr val="CCFFCC"/>
              </a:gs>
              <a:gs pos="50000">
                <a:srgbClr val="FFFFFF"/>
              </a:gs>
              <a:gs pos="100000">
                <a:srgbClr val="CCFFCC"/>
              </a:gs>
            </a:gsLst>
            <a:lin ang="5400000" scaled="1"/>
            <a:tileRect/>
          </a:gradFill>
          <a:ln w="12700" cap="flat" cmpd="sng">
            <a:solidFill>
              <a:srgbClr val="336600"/>
            </a:solidFill>
            <a:prstDash val="solid"/>
            <a:miter/>
            <a:headEnd type="none" w="med" len="med"/>
            <a:tailEnd type="none" w="med" len="med"/>
          </a:ln>
        </p:spPr>
        <p:txBody>
          <a:bodyPr wrap="none" anchor="t">
            <a:spAutoFit/>
          </a:bodyPr>
          <a:p>
            <a:r>
              <a:rPr lang="zh-CN" altLang="en-US" sz="3200" b="1">
                <a:solidFill>
                  <a:srgbClr val="FF0000"/>
                </a:solidFill>
                <a:latin typeface="Times New Roman" panose="02020603050405020304" pitchFamily="18" charset="0"/>
                <a:ea typeface="宋体" panose="02010600030101010101" pitchFamily="2" charset="-122"/>
              </a:rPr>
              <a:t>建立数学结构</a:t>
            </a:r>
            <a:endParaRPr lang="zh-CN" altLang="en-US" sz="3200" b="1">
              <a:solidFill>
                <a:srgbClr val="FF0000"/>
              </a:solidFill>
              <a:latin typeface="Times New Roman" panose="02020603050405020304" pitchFamily="18" charset="0"/>
              <a:ea typeface="宋体" panose="02010600030101010101" pitchFamily="2" charset="-122"/>
            </a:endParaRPr>
          </a:p>
        </p:txBody>
      </p:sp>
      <p:sp>
        <p:nvSpPr>
          <p:cNvPr id="46091" name="AutoShape 11"/>
          <p:cNvSpPr/>
          <p:nvPr/>
        </p:nvSpPr>
        <p:spPr>
          <a:xfrm>
            <a:off x="6324600" y="2209800"/>
            <a:ext cx="228600" cy="3581400"/>
          </a:xfrm>
          <a:prstGeom prst="rightBrace">
            <a:avLst>
              <a:gd name="adj1" fmla="val 130555"/>
              <a:gd name="adj2" fmla="val 50000"/>
            </a:avLst>
          </a:prstGeom>
          <a:noFill/>
          <a:ln w="38100" cap="flat" cmpd="sng">
            <a:solidFill>
              <a:srgbClr val="FF0000"/>
            </a:solidFill>
            <a:prstDash val="solid"/>
            <a:round/>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46092" name="AutoShape 12"/>
          <p:cNvSpPr/>
          <p:nvPr/>
        </p:nvSpPr>
        <p:spPr>
          <a:xfrm>
            <a:off x="7467600" y="1905000"/>
            <a:ext cx="1295400" cy="2286000"/>
          </a:xfrm>
          <a:prstGeom prst="wedgeRoundRectCallout">
            <a:avLst>
              <a:gd name="adj1" fmla="val -116787"/>
              <a:gd name="adj2" fmla="val 38750"/>
              <a:gd name="adj3" fmla="val 16667"/>
            </a:avLst>
          </a:prstGeom>
          <a:solidFill>
            <a:srgbClr val="FFCCCC"/>
          </a:solidFill>
          <a:ln w="28575" cap="flat" cmpd="sng">
            <a:solidFill>
              <a:srgbClr val="FF0000"/>
            </a:solidFill>
            <a:prstDash val="solid"/>
            <a:miter/>
            <a:headEnd type="none" w="med" len="med"/>
            <a:tailEnd type="none" w="med" len="med"/>
          </a:ln>
        </p:spPr>
        <p:txBody>
          <a:bodyPr anchor="t"/>
          <a:p>
            <a:pPr algn="ctr"/>
            <a:r>
              <a:rPr lang="zh-CN" altLang="en-US" sz="3200" b="1">
                <a:latin typeface="Times New Roman" panose="02020603050405020304" pitchFamily="18" charset="0"/>
                <a:ea typeface="楷体_GB2312" pitchFamily="49" charset="-122"/>
              </a:rPr>
              <a:t>时刻</a:t>
            </a:r>
            <a:endParaRPr lang="zh-CN" altLang="en-US" sz="3200" b="1">
              <a:latin typeface="Times New Roman" panose="02020603050405020304" pitchFamily="18" charset="0"/>
              <a:ea typeface="楷体_GB2312" pitchFamily="49" charset="-122"/>
            </a:endParaRPr>
          </a:p>
          <a:p>
            <a:pPr algn="ctr"/>
            <a:r>
              <a:rPr lang="zh-CN" altLang="en-US" sz="3200" b="1">
                <a:latin typeface="Times New Roman" panose="02020603050405020304" pitchFamily="18" charset="0"/>
                <a:ea typeface="楷体_GB2312" pitchFamily="49" charset="-122"/>
              </a:rPr>
              <a:t>牢记</a:t>
            </a:r>
            <a:endParaRPr lang="zh-CN" altLang="en-US" sz="3200" b="1">
              <a:latin typeface="Times New Roman" panose="02020603050405020304" pitchFamily="18" charset="0"/>
              <a:ea typeface="楷体_GB2312" pitchFamily="49" charset="-122"/>
            </a:endParaRPr>
          </a:p>
          <a:p>
            <a:pPr algn="ctr"/>
            <a:r>
              <a:rPr lang="zh-CN" altLang="en-US" sz="3200" b="1">
                <a:latin typeface="Times New Roman" panose="02020603050405020304" pitchFamily="18" charset="0"/>
                <a:ea typeface="楷体_GB2312" pitchFamily="49" charset="-122"/>
              </a:rPr>
              <a:t>建模</a:t>
            </a:r>
            <a:endParaRPr lang="zh-CN" altLang="en-US" sz="3200" b="1">
              <a:latin typeface="Times New Roman" panose="02020603050405020304" pitchFamily="18" charset="0"/>
              <a:ea typeface="楷体_GB2312" pitchFamily="49" charset="-122"/>
            </a:endParaRPr>
          </a:p>
          <a:p>
            <a:pPr algn="ctr"/>
            <a:r>
              <a:rPr lang="zh-CN" altLang="en-US" sz="3200" b="1">
                <a:latin typeface="Times New Roman" panose="02020603050405020304" pitchFamily="18" charset="0"/>
                <a:ea typeface="楷体_GB2312" pitchFamily="49" charset="-122"/>
              </a:rPr>
              <a:t>目的</a:t>
            </a:r>
            <a:endParaRPr lang="zh-CN" altLang="en-US" sz="3200" b="1">
              <a:latin typeface="Times New Roman" panose="02020603050405020304" pitchFamily="18" charset="0"/>
              <a:ea typeface="楷体_GB2312" pitchFamily="49" charset="-122"/>
            </a:endParaRPr>
          </a:p>
        </p:txBody>
      </p:sp>
      <p:sp>
        <p:nvSpPr>
          <p:cNvPr id="20488" name="Rectangle 13"/>
          <p:cNvSpPr/>
          <p:nvPr/>
        </p:nvSpPr>
        <p:spPr>
          <a:xfrm>
            <a:off x="609600" y="457200"/>
            <a:ext cx="2732088" cy="641350"/>
          </a:xfrm>
          <a:prstGeom prst="rect">
            <a:avLst/>
          </a:prstGeom>
          <a:noFill/>
          <a:ln w="9525">
            <a:noFill/>
          </a:ln>
        </p:spPr>
        <p:txBody>
          <a:bodyPr wrap="none" anchor="t">
            <a:spAutoFit/>
          </a:bodyPr>
          <a:p>
            <a:r>
              <a:rPr lang="en-US" altLang="zh-CN" sz="3600" b="1">
                <a:solidFill>
                  <a:srgbClr val="3333FF"/>
                </a:solidFill>
                <a:latin typeface="Arial" panose="020B0604020202020204" pitchFamily="34" charset="0"/>
                <a:ea typeface="宋体" panose="02010600030101010101" pitchFamily="2" charset="-122"/>
              </a:rPr>
              <a:t>2</a:t>
            </a:r>
            <a:r>
              <a:rPr lang="zh-CN" altLang="en-US" sz="3600" b="1">
                <a:solidFill>
                  <a:srgbClr val="3333FF"/>
                </a:solidFill>
                <a:latin typeface="Arial" panose="020B0604020202020204" pitchFamily="34" charset="0"/>
                <a:ea typeface="宋体" panose="02010600030101010101" pitchFamily="2" charset="-122"/>
              </a:rPr>
              <a:t>、</a:t>
            </a:r>
            <a:r>
              <a:rPr lang="zh-CN" altLang="en-US" sz="3600" b="1">
                <a:solidFill>
                  <a:srgbClr val="3333FF"/>
                </a:solidFill>
                <a:latin typeface="Arial" panose="020B0604020202020204" pitchFamily="34" charset="0"/>
                <a:ea typeface="黑体" panose="02010609060101010101" pitchFamily="2" charset="-122"/>
              </a:rPr>
              <a:t>建立模型</a:t>
            </a:r>
            <a:endParaRPr lang="zh-CN" altLang="en-US" sz="3600" b="1">
              <a:solidFill>
                <a:srgbClr val="3333FF"/>
              </a:solidFill>
              <a:latin typeface="Arial" panose="020B0604020202020204" pitchFamily="34" charset="0"/>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wipe(up)">
                                      <p:cBhvr>
                                        <p:cTn id="7" dur="500"/>
                                        <p:tgtEl>
                                          <p:spTgt spid="4608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6086"/>
                                        </p:tgtEl>
                                        <p:attrNameLst>
                                          <p:attrName>style.visibility</p:attrName>
                                        </p:attrNameLst>
                                      </p:cBhvr>
                                      <p:to>
                                        <p:strVal val="visible"/>
                                      </p:to>
                                    </p:set>
                                    <p:animEffect transition="in" filter="wipe(up)">
                                      <p:cBhvr>
                                        <p:cTn id="12" dur="500"/>
                                        <p:tgtEl>
                                          <p:spTgt spid="460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6087"/>
                                        </p:tgtEl>
                                        <p:attrNameLst>
                                          <p:attrName>style.visibility</p:attrName>
                                        </p:attrNameLst>
                                      </p:cBhvr>
                                      <p:to>
                                        <p:strVal val="visible"/>
                                      </p:to>
                                    </p:set>
                                    <p:animEffect transition="in" filter="wipe(up)">
                                      <p:cBhvr>
                                        <p:cTn id="17" dur="500"/>
                                        <p:tgtEl>
                                          <p:spTgt spid="460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6089"/>
                                        </p:tgtEl>
                                        <p:attrNameLst>
                                          <p:attrName>style.visibility</p:attrName>
                                        </p:attrNameLst>
                                      </p:cBhvr>
                                      <p:to>
                                        <p:strVal val="visible"/>
                                      </p:to>
                                    </p:set>
                                    <p:animEffect transition="in" filter="wipe(up)">
                                      <p:cBhvr>
                                        <p:cTn id="22" dur="500"/>
                                        <p:tgtEl>
                                          <p:spTgt spid="460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6088"/>
                                        </p:tgtEl>
                                        <p:attrNameLst>
                                          <p:attrName>style.visibility</p:attrName>
                                        </p:attrNameLst>
                                      </p:cBhvr>
                                      <p:to>
                                        <p:strVal val="visible"/>
                                      </p:to>
                                    </p:set>
                                    <p:animEffect transition="in" filter="wipe(up)">
                                      <p:cBhvr>
                                        <p:cTn id="27" dur="500"/>
                                        <p:tgtEl>
                                          <p:spTgt spid="4608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6091"/>
                                        </p:tgtEl>
                                        <p:attrNameLst>
                                          <p:attrName>style.visibility</p:attrName>
                                        </p:attrNameLst>
                                      </p:cBhvr>
                                      <p:to>
                                        <p:strVal val="visible"/>
                                      </p:to>
                                    </p:set>
                                    <p:animEffect transition="in" filter="dissolve">
                                      <p:cBhvr>
                                        <p:cTn id="32" dur="500"/>
                                        <p:tgtEl>
                                          <p:spTgt spid="4609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6092"/>
                                        </p:tgtEl>
                                        <p:attrNameLst>
                                          <p:attrName>style.visibility</p:attrName>
                                        </p:attrNameLst>
                                      </p:cBhvr>
                                      <p:to>
                                        <p:strVal val="visible"/>
                                      </p:to>
                                    </p:set>
                                    <p:animEffect transition="in" filter="dissolve">
                                      <p:cBhvr>
                                        <p:cTn id="37" dur="500"/>
                                        <p:tgtEl>
                                          <p:spTgt spid="46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animBg="1"/>
      <p:bldP spid="46086" grpId="0" animBg="1"/>
      <p:bldP spid="46087" grpId="0" animBg="1"/>
      <p:bldP spid="46088" grpId="0" animBg="1"/>
      <p:bldP spid="46089" grpId="0" animBg="1"/>
      <p:bldP spid="46091" grpId="0" animBg="1"/>
      <p:bldP spid="4609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8" name="Text Box 4"/>
          <p:cNvSpPr txBox="1"/>
          <p:nvPr/>
        </p:nvSpPr>
        <p:spPr>
          <a:xfrm>
            <a:off x="533400" y="1323975"/>
            <a:ext cx="8001000" cy="1266825"/>
          </a:xfrm>
          <a:prstGeom prst="rect">
            <a:avLst/>
          </a:prstGeom>
          <a:gradFill rotWithShape="0">
            <a:gsLst>
              <a:gs pos="0">
                <a:schemeClr val="bg2"/>
              </a:gs>
              <a:gs pos="50000">
                <a:srgbClr val="FFFFFF"/>
              </a:gs>
              <a:gs pos="100000">
                <a:schemeClr val="bg2"/>
              </a:gs>
            </a:gsLst>
            <a:lin ang="5400000" scaled="1"/>
            <a:tileRect/>
          </a:gradFill>
          <a:ln w="28575" cap="flat" cmpd="sng">
            <a:solidFill>
              <a:srgbClr val="0033CC"/>
            </a:solidFill>
            <a:prstDash val="solid"/>
            <a:miter/>
            <a:headEnd type="none" w="med" len="med"/>
            <a:tailEnd type="none" w="med" len="med"/>
          </a:ln>
        </p:spPr>
        <p:txBody>
          <a:bodyPr anchor="t">
            <a:spAutoFit/>
          </a:bodyPr>
          <a:p>
            <a:pPr algn="ctr"/>
            <a:r>
              <a:rPr lang="zh-CN" altLang="en-US" sz="3200" b="1">
                <a:latin typeface="Times New Roman" panose="02020603050405020304" pitchFamily="18" charset="0"/>
                <a:ea typeface="楷体_GB2312" pitchFamily="49" charset="-122"/>
              </a:rPr>
              <a:t>完整的数学模型应该同时描述出</a:t>
            </a:r>
            <a:endParaRPr lang="zh-CN" altLang="en-US" sz="3200" b="1">
              <a:latin typeface="Times New Roman" panose="02020603050405020304" pitchFamily="18" charset="0"/>
              <a:ea typeface="楷体_GB2312" pitchFamily="49" charset="-122"/>
            </a:endParaRPr>
          </a:p>
          <a:p>
            <a:pPr algn="ctr">
              <a:lnSpc>
                <a:spcPct val="120000"/>
              </a:lnSpc>
            </a:pPr>
            <a:r>
              <a:rPr lang="zh-CN" altLang="en-US" sz="3200" b="1">
                <a:latin typeface="Times New Roman" panose="02020603050405020304" pitchFamily="18" charset="0"/>
                <a:ea typeface="楷体_GB2312" pitchFamily="49" charset="-122"/>
              </a:rPr>
              <a:t>有关因素之间的</a:t>
            </a:r>
            <a:r>
              <a:rPr lang="zh-CN" altLang="en-US" sz="3200" b="1">
                <a:solidFill>
                  <a:srgbClr val="FF3300"/>
                </a:solidFill>
                <a:latin typeface="Times New Roman" panose="02020603050405020304" pitchFamily="18" charset="0"/>
                <a:ea typeface="楷体_GB2312" pitchFamily="49" charset="-122"/>
              </a:rPr>
              <a:t>数量关系</a:t>
            </a:r>
            <a:r>
              <a:rPr lang="zh-CN" altLang="en-US" sz="3200" b="1">
                <a:latin typeface="Times New Roman" panose="02020603050405020304" pitchFamily="18" charset="0"/>
                <a:ea typeface="楷体_GB2312" pitchFamily="49" charset="-122"/>
              </a:rPr>
              <a:t>和</a:t>
            </a:r>
            <a:r>
              <a:rPr lang="zh-CN" altLang="en-US" sz="3200" b="1">
                <a:solidFill>
                  <a:srgbClr val="FF3300"/>
                </a:solidFill>
                <a:latin typeface="Times New Roman" panose="02020603050405020304" pitchFamily="18" charset="0"/>
                <a:ea typeface="楷体_GB2312" pitchFamily="49" charset="-122"/>
              </a:rPr>
              <a:t>结构关系</a:t>
            </a:r>
            <a:r>
              <a:rPr lang="zh-CN" altLang="en-US" sz="3600">
                <a:latin typeface="Times New Roman" panose="02020603050405020304" pitchFamily="18" charset="0"/>
                <a:ea typeface="楷体_GB2312" pitchFamily="49" charset="-122"/>
              </a:rPr>
              <a:t>。</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7109" name="Text Box 5"/>
          <p:cNvSpPr txBox="1"/>
          <p:nvPr/>
        </p:nvSpPr>
        <p:spPr>
          <a:xfrm>
            <a:off x="365125" y="2849563"/>
            <a:ext cx="8677275" cy="1116012"/>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zh-CN" altLang="en-US" sz="3200" b="1">
                <a:latin typeface="楷体_GB2312" pitchFamily="49" charset="-122"/>
                <a:ea typeface="楷体_GB2312" pitchFamily="49" charset="-122"/>
              </a:rPr>
              <a:t>应清楚变量、变量之间的数学表达式在整个</a:t>
            </a:r>
            <a:endParaRPr lang="zh-CN" altLang="en-US" sz="3200" b="1">
              <a:latin typeface="楷体_GB2312" pitchFamily="49" charset="-122"/>
              <a:ea typeface="楷体_GB2312" pitchFamily="49" charset="-122"/>
            </a:endParaRPr>
          </a:p>
          <a:p>
            <a:pPr>
              <a:lnSpc>
                <a:spcPct val="110000"/>
              </a:lnSpc>
            </a:pPr>
            <a:r>
              <a:rPr lang="zh-CN" altLang="en-US" sz="3200" b="1">
                <a:latin typeface="楷体_GB2312" pitchFamily="49" charset="-122"/>
                <a:ea typeface="楷体_GB2312" pitchFamily="49" charset="-122"/>
              </a:rPr>
              <a:t>模型中的</a:t>
            </a:r>
            <a:r>
              <a:rPr lang="zh-CN" altLang="en-US" sz="3200" b="1">
                <a:solidFill>
                  <a:srgbClr val="FF3300"/>
                </a:solidFill>
                <a:latin typeface="楷体_GB2312" pitchFamily="49" charset="-122"/>
                <a:ea typeface="楷体_GB2312" pitchFamily="49" charset="-122"/>
              </a:rPr>
              <a:t>地位</a:t>
            </a:r>
            <a:r>
              <a:rPr lang="zh-CN" altLang="en-US" sz="3200" b="1">
                <a:latin typeface="楷体_GB2312" pitchFamily="49" charset="-122"/>
                <a:ea typeface="楷体_GB2312" pitchFamily="49" charset="-122"/>
              </a:rPr>
              <a:t>和</a:t>
            </a:r>
            <a:r>
              <a:rPr lang="zh-CN" altLang="en-US" sz="3200" b="1">
                <a:solidFill>
                  <a:srgbClr val="FF3300"/>
                </a:solidFill>
                <a:latin typeface="楷体_GB2312" pitchFamily="49" charset="-122"/>
                <a:ea typeface="楷体_GB2312" pitchFamily="49" charset="-122"/>
              </a:rPr>
              <a:t>作用</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a:latin typeface="楷体_GB2312" pitchFamily="49" charset="-122"/>
              <a:ea typeface="楷体_GB2312" pitchFamily="49" charset="-122"/>
            </a:endParaRPr>
          </a:p>
        </p:txBody>
      </p:sp>
      <p:sp>
        <p:nvSpPr>
          <p:cNvPr id="47110" name="Text Box 6"/>
          <p:cNvSpPr txBox="1"/>
          <p:nvPr/>
        </p:nvSpPr>
        <p:spPr>
          <a:xfrm>
            <a:off x="76200" y="3916363"/>
            <a:ext cx="9067800" cy="1165225"/>
          </a:xfrm>
          <a:prstGeom prst="rect">
            <a:avLst/>
          </a:prstGeom>
          <a:noFill/>
          <a:ln w="9525">
            <a:noFill/>
          </a:ln>
        </p:spPr>
        <p:txBody>
          <a:bodyPr anchor="t">
            <a:spAutoFit/>
          </a:bodyPr>
          <a:p>
            <a:pPr>
              <a:lnSpc>
                <a:spcPct val="110000"/>
              </a:lnSpc>
            </a:pPr>
            <a:r>
              <a:rPr lang="en-US" altLang="zh-CN" sz="3200" b="1">
                <a:latin typeface="楷体_GB2312" pitchFamily="49" charset="-122"/>
                <a:ea typeface="楷体_GB2312" pitchFamily="49" charset="-122"/>
              </a:rPr>
              <a:t>   </a:t>
            </a:r>
            <a:r>
              <a:rPr lang="zh-CN" altLang="en-US" sz="3200" b="1">
                <a:solidFill>
                  <a:srgbClr val="FF3300"/>
                </a:solidFill>
                <a:latin typeface="楷体_GB2312" pitchFamily="49" charset="-122"/>
                <a:ea typeface="楷体_GB2312" pitchFamily="49" charset="-122"/>
              </a:rPr>
              <a:t>例</a:t>
            </a:r>
            <a:r>
              <a:rPr lang="en-US" altLang="zh-CN" sz="3200" b="1">
                <a:solidFill>
                  <a:srgbClr val="FF3300"/>
                </a:solidFill>
                <a:latin typeface="Times New Roman" panose="02020603050405020304" pitchFamily="18" charset="0"/>
                <a:ea typeface="楷体_GB2312" pitchFamily="49" charset="-122"/>
              </a:rPr>
              <a:t>1</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考虑一个简化的城镇供水系统</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水是由水库经由管道流入水箱</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再由水箱向各用户供水</a:t>
            </a:r>
            <a:r>
              <a:rPr lang="en-US" altLang="zh-CN" sz="3200" b="1">
                <a:latin typeface="楷体_GB2312" pitchFamily="49" charset="-122"/>
                <a:ea typeface="楷体_GB2312" pitchFamily="49" charset="-122"/>
              </a:rPr>
              <a:t>.</a:t>
            </a:r>
            <a:endParaRPr lang="en-US" altLang="zh-CN" sz="3200">
              <a:latin typeface="楷体_GB2312" pitchFamily="49" charset="-122"/>
              <a:ea typeface="楷体_GB2312" pitchFamily="49" charset="-122"/>
            </a:endParaRPr>
          </a:p>
        </p:txBody>
      </p:sp>
      <p:sp>
        <p:nvSpPr>
          <p:cNvPr id="47111" name="Text Box 7"/>
          <p:cNvSpPr txBox="1"/>
          <p:nvPr/>
        </p:nvSpPr>
        <p:spPr>
          <a:xfrm>
            <a:off x="304800" y="5211763"/>
            <a:ext cx="8686800" cy="579437"/>
          </a:xfrm>
          <a:prstGeom prst="rect">
            <a:avLst/>
          </a:prstGeom>
          <a:noFill/>
          <a:ln w="9525">
            <a:noFill/>
          </a:ln>
        </p:spPr>
        <p:txBody>
          <a:bodyPr anchor="t">
            <a:spAutoFit/>
          </a:bodyPr>
          <a:p>
            <a:r>
              <a:rPr lang="zh-CN" altLang="en-US" sz="3200" b="1">
                <a:solidFill>
                  <a:srgbClr val="FF0000"/>
                </a:solidFill>
                <a:latin typeface="楷体_GB2312" pitchFamily="49" charset="-122"/>
                <a:ea typeface="楷体_GB2312" pitchFamily="49" charset="-122"/>
              </a:rPr>
              <a:t>问题：</a:t>
            </a:r>
            <a:r>
              <a:rPr lang="zh-CN" altLang="en-US" sz="3200" b="1">
                <a:latin typeface="楷体_GB2312" pitchFamily="49" charset="-122"/>
                <a:ea typeface="楷体_GB2312" pitchFamily="49" charset="-122"/>
              </a:rPr>
              <a:t>怎样才能</a:t>
            </a:r>
            <a:r>
              <a:rPr lang="zh-CN" altLang="en-US" sz="3200" b="1">
                <a:solidFill>
                  <a:srgbClr val="FF0000"/>
                </a:solidFill>
                <a:latin typeface="楷体_GB2312" pitchFamily="49" charset="-122"/>
                <a:ea typeface="楷体_GB2312" pitchFamily="49" charset="-122"/>
              </a:rPr>
              <a:t>有效地保障</a:t>
            </a:r>
            <a:r>
              <a:rPr lang="zh-CN" altLang="en-US" sz="3200" b="1">
                <a:latin typeface="楷体_GB2312" pitchFamily="49" charset="-122"/>
                <a:ea typeface="楷体_GB2312" pitchFamily="49" charset="-122"/>
              </a:rPr>
              <a:t>各用户的正常用水？</a:t>
            </a:r>
            <a:endParaRPr lang="zh-CN" altLang="en-US" sz="3200">
              <a:latin typeface="Times New Roman" panose="02020603050405020304" pitchFamily="18" charset="0"/>
              <a:ea typeface="楷体_GB2312" pitchFamily="49" charset="-122"/>
            </a:endParaRPr>
          </a:p>
        </p:txBody>
      </p:sp>
      <p:sp>
        <p:nvSpPr>
          <p:cNvPr id="21509" name="Rectangle 8"/>
          <p:cNvSpPr>
            <a:spLocks noGrp="1"/>
          </p:cNvSpPr>
          <p:nvPr>
            <p:ph type="title"/>
          </p:nvPr>
        </p:nvSpPr>
        <p:spPr>
          <a:xfrm>
            <a:off x="228600" y="304800"/>
            <a:ext cx="3962400" cy="609600"/>
          </a:xfrm>
          <a:gradFill rotWithShape="0">
            <a:gsLst>
              <a:gs pos="0">
                <a:srgbClr val="FFCCCC"/>
              </a:gs>
              <a:gs pos="50000">
                <a:srgbClr val="FFFFFF"/>
              </a:gs>
              <a:gs pos="100000">
                <a:srgbClr val="FFCCCC"/>
              </a:gs>
            </a:gsLst>
            <a:lin ang="5400000" scaled="1"/>
            <a:tileRect/>
          </a:gradFill>
          <a:ln/>
        </p:spPr>
        <p:txBody>
          <a:bodyPr vert="horz" wrap="square" lIns="92075" tIns="46038" rIns="92075" bIns="46038" anchor="ctr"/>
          <a:p>
            <a:pPr eaLnBrk="1" hangingPunct="1"/>
            <a:r>
              <a:rPr lang="en-US" altLang="zh-CN" sz="2000" b="1">
                <a:solidFill>
                  <a:srgbClr val="F44C3A"/>
                </a:solidFill>
                <a:latin typeface="楷体_GB2312" pitchFamily="49" charset="-122"/>
                <a:ea typeface="楷体_GB2312" pitchFamily="49" charset="-122"/>
              </a:rPr>
              <a:t>(1)</a:t>
            </a:r>
            <a:r>
              <a:rPr lang="zh-CN" altLang="en-US" sz="2000" b="1">
                <a:solidFill>
                  <a:srgbClr val="F44C3A"/>
                </a:solidFill>
                <a:latin typeface="楷体_GB2312" pitchFamily="49" charset="-122"/>
                <a:ea typeface="楷体_GB2312" pitchFamily="49" charset="-122"/>
              </a:rPr>
              <a:t>模型的整体设计</a:t>
            </a:r>
            <a:endParaRPr lang="zh-CN" altLang="en-US" sz="2000" b="1">
              <a:solidFill>
                <a:srgbClr val="F44C3A"/>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anim calcmode="lin" valueType="num">
                                      <p:cBhvr>
                                        <p:cTn id="7" dur="500" fill="hold"/>
                                        <p:tgtEl>
                                          <p:spTgt spid="47108"/>
                                        </p:tgtEl>
                                        <p:attrNameLst>
                                          <p:attrName>ppt_w</p:attrName>
                                        </p:attrNameLst>
                                      </p:cBhvr>
                                      <p:tavLst>
                                        <p:tav tm="0">
                                          <p:val>
                                            <p:fltVal val="0.000000"/>
                                          </p:val>
                                        </p:tav>
                                        <p:tav tm="100000">
                                          <p:val>
                                            <p:strVal val="#ppt_w"/>
                                          </p:val>
                                        </p:tav>
                                      </p:tavLst>
                                    </p:anim>
                                    <p:anim calcmode="lin" valueType="num">
                                      <p:cBhvr>
                                        <p:cTn id="8" dur="500" fill="hold"/>
                                        <p:tgtEl>
                                          <p:spTgt spid="47108"/>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wd">
                                    <p:tmAbs val="300"/>
                                  </p:iterate>
                                  <p:childTnLst>
                                    <p:set>
                                      <p:cBhvr>
                                        <p:cTn id="12" dur="1" fill="hold">
                                          <p:stCondLst>
                                            <p:cond delay="299"/>
                                          </p:stCondLst>
                                        </p:cTn>
                                        <p:tgtEl>
                                          <p:spTgt spid="471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10"/>
                                        </p:tgtEl>
                                        <p:attrNameLst>
                                          <p:attrName>style.visibility</p:attrName>
                                        </p:attrNameLst>
                                      </p:cBhvr>
                                      <p:to>
                                        <p:strVal val="visible"/>
                                      </p:to>
                                    </p:set>
                                    <p:animEffect transition="in" filter="wipe(left)">
                                      <p:cBhvr>
                                        <p:cTn id="17" dur="500"/>
                                        <p:tgtEl>
                                          <p:spTgt spid="471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111"/>
                                        </p:tgtEl>
                                        <p:attrNameLst>
                                          <p:attrName>style.visibility</p:attrName>
                                        </p:attrNameLst>
                                      </p:cBhvr>
                                      <p:to>
                                        <p:strVal val="visible"/>
                                      </p:to>
                                    </p:set>
                                    <p:animEffect transition="in" filter="wipe(left)">
                                      <p:cBhvr>
                                        <p:cTn id="22" dur="500"/>
                                        <p:tgtEl>
                                          <p:spTgt spid="47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nimBg="1"/>
      <p:bldP spid="47109" grpId="0"/>
      <p:bldP spid="47110" grpId="0"/>
      <p:bldP spid="471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Text Box 4"/>
          <p:cNvSpPr txBox="1"/>
          <p:nvPr/>
        </p:nvSpPr>
        <p:spPr>
          <a:xfrm>
            <a:off x="365125" y="1173163"/>
            <a:ext cx="5997575" cy="579437"/>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按下述步骤对模型进行整体设计</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8133" name="Text Box 5"/>
          <p:cNvSpPr txBox="1"/>
          <p:nvPr/>
        </p:nvSpPr>
        <p:spPr>
          <a:xfrm>
            <a:off x="457200" y="1706563"/>
            <a:ext cx="8139113" cy="579437"/>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1.</a:t>
            </a:r>
            <a:r>
              <a:rPr lang="en-US" altLang="zh-CN" sz="3200" b="1">
                <a:latin typeface="楷体_GB2312" pitchFamily="49" charset="-122"/>
                <a:ea typeface="楷体_GB2312" pitchFamily="49" charset="-122"/>
              </a:rPr>
              <a:t> </a:t>
            </a:r>
            <a:r>
              <a:rPr lang="zh-CN" altLang="en-US" sz="3200" b="1">
                <a:solidFill>
                  <a:srgbClr val="FF3300"/>
                </a:solidFill>
                <a:latin typeface="楷体_GB2312" pitchFamily="49" charset="-122"/>
                <a:ea typeface="楷体_GB2312" pitchFamily="49" charset="-122"/>
              </a:rPr>
              <a:t>分析系统的组成部分</a:t>
            </a:r>
            <a:r>
              <a:rPr lang="zh-CN" altLang="en-US" sz="3200" b="1">
                <a:latin typeface="楷体_GB2312" pitchFamily="49" charset="-122"/>
                <a:ea typeface="楷体_GB2312" pitchFamily="49" charset="-122"/>
              </a:rPr>
              <a:t>（研究对象、实体）</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8134" name="Text Box 6"/>
          <p:cNvSpPr txBox="1"/>
          <p:nvPr/>
        </p:nvSpPr>
        <p:spPr>
          <a:xfrm>
            <a:off x="1133475" y="2239963"/>
            <a:ext cx="6710363" cy="579437"/>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相关实体有：水库</a:t>
            </a:r>
            <a:r>
              <a:rPr lang="en-US" altLang="zh-CN" sz="3200" b="1">
                <a:latin typeface="Times New Roman" panose="02020603050405020304" pitchFamily="18" charset="0"/>
                <a:ea typeface="楷体_GB2312" pitchFamily="49" charset="-122"/>
              </a:rPr>
              <a:t>,</a:t>
            </a:r>
            <a:r>
              <a:rPr lang="zh-CN" altLang="en-US" sz="3200" b="1">
                <a:latin typeface="Times New Roman" panose="02020603050405020304" pitchFamily="18" charset="0"/>
                <a:ea typeface="楷体_GB2312" pitchFamily="49" charset="-122"/>
              </a:rPr>
              <a:t>管道</a:t>
            </a:r>
            <a:r>
              <a:rPr lang="en-US" altLang="zh-CN" sz="3200" b="1">
                <a:latin typeface="Times New Roman" panose="02020603050405020304" pitchFamily="18" charset="0"/>
                <a:ea typeface="楷体_GB2312" pitchFamily="49" charset="-122"/>
              </a:rPr>
              <a:t>,</a:t>
            </a:r>
            <a:r>
              <a:rPr lang="zh-CN" altLang="en-US" sz="3200" b="1">
                <a:latin typeface="Times New Roman" panose="02020603050405020304" pitchFamily="18" charset="0"/>
                <a:ea typeface="楷体_GB2312" pitchFamily="49" charset="-122"/>
              </a:rPr>
              <a:t>水箱和用户</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48135" name="Text Box 7"/>
          <p:cNvSpPr txBox="1"/>
          <p:nvPr/>
        </p:nvSpPr>
        <p:spPr>
          <a:xfrm>
            <a:off x="685800" y="2879725"/>
            <a:ext cx="6302375" cy="579438"/>
          </a:xfrm>
          <a:prstGeom prst="rect">
            <a:avLst/>
          </a:prstGeom>
          <a:noFill/>
          <a:ln w="9525">
            <a:noFill/>
          </a:ln>
        </p:spPr>
        <p:txBody>
          <a:bodyPr wrap="none" anchor="t">
            <a:spAutoFit/>
          </a:bodyPr>
          <a:p>
            <a:r>
              <a:rPr lang="en-US" altLang="zh-CN" sz="3200" b="1">
                <a:solidFill>
                  <a:srgbClr val="FF3300"/>
                </a:solidFill>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实体间的</a:t>
            </a:r>
            <a:r>
              <a:rPr lang="zh-CN" altLang="en-US" sz="3200" b="1">
                <a:solidFill>
                  <a:srgbClr val="FF3300"/>
                </a:solidFill>
                <a:latin typeface="Times New Roman" panose="02020603050405020304" pitchFamily="18" charset="0"/>
                <a:ea typeface="楷体_GB2312" pitchFamily="49" charset="-122"/>
              </a:rPr>
              <a:t>结构关系</a:t>
            </a:r>
            <a:r>
              <a:rPr lang="zh-CN" altLang="en-US" sz="3200" b="1">
                <a:latin typeface="Times New Roman" panose="02020603050405020304" pitchFamily="18" charset="0"/>
                <a:ea typeface="楷体_GB2312" pitchFamily="49" charset="-122"/>
              </a:rPr>
              <a:t>可表示如下：</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8136" name="Text Box 8"/>
          <p:cNvSpPr txBox="1"/>
          <p:nvPr/>
        </p:nvSpPr>
        <p:spPr>
          <a:xfrm>
            <a:off x="533400" y="3756025"/>
            <a:ext cx="1038225" cy="617538"/>
          </a:xfrm>
          <a:prstGeom prst="rect">
            <a:avLst/>
          </a:prstGeom>
          <a:solidFill>
            <a:srgbClr val="FFFF66"/>
          </a:solidFill>
          <a:ln w="38100" cap="flat" cmpd="sng">
            <a:solidFill>
              <a:schemeClr val="tx2"/>
            </a:solidFill>
            <a:prstDash val="solid"/>
            <a:miter/>
            <a:headEnd type="none" w="med" len="med"/>
            <a:tailEnd type="none" w="med" len="med"/>
          </a:ln>
        </p:spPr>
        <p:txBody>
          <a:bodyPr wrap="none" anchor="t">
            <a:spAutoFit/>
          </a:bodyPr>
          <a:p>
            <a:r>
              <a:rPr lang="zh-CN" altLang="en-US" sz="3200" b="1">
                <a:latin typeface="Times New Roman" panose="02020603050405020304" pitchFamily="18" charset="0"/>
                <a:ea typeface="楷体_GB2312" pitchFamily="49" charset="-122"/>
              </a:rPr>
              <a:t>水库</a:t>
            </a:r>
            <a:endParaRPr lang="zh-CN" altLang="en-US" sz="3200" b="1">
              <a:latin typeface="Times New Roman" panose="02020603050405020304" pitchFamily="18" charset="0"/>
              <a:ea typeface="楷体_GB2312" pitchFamily="49" charset="-122"/>
            </a:endParaRPr>
          </a:p>
        </p:txBody>
      </p:sp>
      <p:sp>
        <p:nvSpPr>
          <p:cNvPr id="48137" name="AutoShape 9"/>
          <p:cNvSpPr/>
          <p:nvPr/>
        </p:nvSpPr>
        <p:spPr>
          <a:xfrm>
            <a:off x="1752600" y="3832225"/>
            <a:ext cx="976313" cy="304800"/>
          </a:xfrm>
          <a:prstGeom prst="rightArrow">
            <a:avLst>
              <a:gd name="adj1" fmla="val 50000"/>
              <a:gd name="adj2" fmla="val 80063"/>
            </a:avLst>
          </a:prstGeom>
          <a:solidFill>
            <a:srgbClr val="FFCCCC"/>
          </a:solidFill>
          <a:ln w="9525" cap="flat" cmpd="sng">
            <a:solidFill>
              <a:schemeClr val="tx1"/>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48138" name="Text Box 10"/>
          <p:cNvSpPr txBox="1"/>
          <p:nvPr/>
        </p:nvSpPr>
        <p:spPr>
          <a:xfrm>
            <a:off x="2971800" y="3756025"/>
            <a:ext cx="1038225" cy="617538"/>
          </a:xfrm>
          <a:prstGeom prst="rect">
            <a:avLst/>
          </a:prstGeom>
          <a:solidFill>
            <a:srgbClr val="FFFF66"/>
          </a:solidFill>
          <a:ln w="38100" cap="flat" cmpd="sng">
            <a:solidFill>
              <a:schemeClr val="tx2"/>
            </a:solidFill>
            <a:prstDash val="solid"/>
            <a:miter/>
            <a:headEnd type="none" w="med" len="med"/>
            <a:tailEnd type="none" w="med" len="med"/>
          </a:ln>
        </p:spPr>
        <p:txBody>
          <a:bodyPr wrap="none" anchor="t">
            <a:spAutoFit/>
          </a:bodyPr>
          <a:p>
            <a:r>
              <a:rPr lang="zh-CN" altLang="en-US" sz="3200" b="1">
                <a:latin typeface="Times New Roman" panose="02020603050405020304" pitchFamily="18" charset="0"/>
                <a:ea typeface="楷体_GB2312" pitchFamily="49" charset="-122"/>
              </a:rPr>
              <a:t>管道</a:t>
            </a:r>
            <a:endParaRPr lang="zh-CN" altLang="en-US" sz="3200" b="1">
              <a:latin typeface="Times New Roman" panose="02020603050405020304" pitchFamily="18" charset="0"/>
              <a:ea typeface="楷体_GB2312" pitchFamily="49" charset="-122"/>
            </a:endParaRPr>
          </a:p>
        </p:txBody>
      </p:sp>
      <p:sp>
        <p:nvSpPr>
          <p:cNvPr id="48139" name="AutoShape 11"/>
          <p:cNvSpPr/>
          <p:nvPr/>
        </p:nvSpPr>
        <p:spPr>
          <a:xfrm>
            <a:off x="4267200" y="3908425"/>
            <a:ext cx="976313" cy="304800"/>
          </a:xfrm>
          <a:prstGeom prst="rightArrow">
            <a:avLst>
              <a:gd name="adj1" fmla="val 50000"/>
              <a:gd name="adj2" fmla="val 80063"/>
            </a:avLst>
          </a:prstGeom>
          <a:solidFill>
            <a:srgbClr val="FFCCCC"/>
          </a:solidFill>
          <a:ln w="9525" cap="flat" cmpd="sng">
            <a:solidFill>
              <a:schemeClr val="tx1"/>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48140" name="Text Box 12"/>
          <p:cNvSpPr txBox="1"/>
          <p:nvPr/>
        </p:nvSpPr>
        <p:spPr>
          <a:xfrm>
            <a:off x="5410200" y="3756025"/>
            <a:ext cx="1038225" cy="617538"/>
          </a:xfrm>
          <a:prstGeom prst="rect">
            <a:avLst/>
          </a:prstGeom>
          <a:solidFill>
            <a:srgbClr val="FFFF66"/>
          </a:solidFill>
          <a:ln w="38100" cap="flat" cmpd="sng">
            <a:solidFill>
              <a:schemeClr val="tx2"/>
            </a:solidFill>
            <a:prstDash val="solid"/>
            <a:miter/>
            <a:headEnd type="none" w="med" len="med"/>
            <a:tailEnd type="none" w="med" len="med"/>
          </a:ln>
        </p:spPr>
        <p:txBody>
          <a:bodyPr wrap="none" anchor="t">
            <a:spAutoFit/>
          </a:bodyPr>
          <a:p>
            <a:r>
              <a:rPr lang="zh-CN" altLang="en-US" sz="3200" b="1">
                <a:latin typeface="Times New Roman" panose="02020603050405020304" pitchFamily="18" charset="0"/>
                <a:ea typeface="楷体_GB2312" pitchFamily="49" charset="-122"/>
              </a:rPr>
              <a:t>水箱</a:t>
            </a:r>
            <a:endParaRPr lang="zh-CN" altLang="en-US" sz="3200" b="1">
              <a:latin typeface="Times New Roman" panose="02020603050405020304" pitchFamily="18" charset="0"/>
              <a:ea typeface="楷体_GB2312" pitchFamily="49" charset="-122"/>
            </a:endParaRPr>
          </a:p>
        </p:txBody>
      </p:sp>
      <p:sp>
        <p:nvSpPr>
          <p:cNvPr id="48141" name="AutoShape 13"/>
          <p:cNvSpPr/>
          <p:nvPr/>
        </p:nvSpPr>
        <p:spPr>
          <a:xfrm>
            <a:off x="6553200" y="3908425"/>
            <a:ext cx="976313" cy="304800"/>
          </a:xfrm>
          <a:prstGeom prst="rightArrow">
            <a:avLst>
              <a:gd name="adj1" fmla="val 50000"/>
              <a:gd name="adj2" fmla="val 80063"/>
            </a:avLst>
          </a:prstGeom>
          <a:solidFill>
            <a:srgbClr val="FFCCCC"/>
          </a:solidFill>
          <a:ln w="9525" cap="flat" cmpd="sng">
            <a:solidFill>
              <a:schemeClr val="tx1"/>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48142" name="Text Box 14"/>
          <p:cNvSpPr txBox="1"/>
          <p:nvPr/>
        </p:nvSpPr>
        <p:spPr>
          <a:xfrm>
            <a:off x="7620000" y="3756025"/>
            <a:ext cx="1038225" cy="617538"/>
          </a:xfrm>
          <a:prstGeom prst="rect">
            <a:avLst/>
          </a:prstGeom>
          <a:solidFill>
            <a:srgbClr val="FFFF66"/>
          </a:solidFill>
          <a:ln w="38100" cap="flat" cmpd="sng">
            <a:solidFill>
              <a:schemeClr val="tx2"/>
            </a:solidFill>
            <a:prstDash val="solid"/>
            <a:miter/>
            <a:headEnd type="none" w="med" len="med"/>
            <a:tailEnd type="none" w="med" len="med"/>
          </a:ln>
        </p:spPr>
        <p:txBody>
          <a:bodyPr wrap="none" anchor="t">
            <a:spAutoFit/>
          </a:bodyPr>
          <a:p>
            <a:r>
              <a:rPr lang="zh-CN" altLang="en-US" sz="3200" b="1">
                <a:latin typeface="Times New Roman" panose="02020603050405020304" pitchFamily="18" charset="0"/>
                <a:ea typeface="楷体_GB2312" pitchFamily="49" charset="-122"/>
              </a:rPr>
              <a:t>用户</a:t>
            </a:r>
            <a:endParaRPr lang="zh-CN" altLang="en-US" sz="3200" b="1">
              <a:latin typeface="Times New Roman" panose="02020603050405020304" pitchFamily="18" charset="0"/>
              <a:ea typeface="楷体_GB2312" pitchFamily="49" charset="-122"/>
            </a:endParaRPr>
          </a:p>
        </p:txBody>
      </p:sp>
      <p:sp>
        <p:nvSpPr>
          <p:cNvPr id="48143" name="Text Box 15"/>
          <p:cNvSpPr txBox="1"/>
          <p:nvPr/>
        </p:nvSpPr>
        <p:spPr>
          <a:xfrm>
            <a:off x="685800" y="4678363"/>
            <a:ext cx="7118350" cy="579437"/>
          </a:xfrm>
          <a:prstGeom prst="rect">
            <a:avLst/>
          </a:prstGeom>
          <a:noFill/>
          <a:ln w="9525">
            <a:noFill/>
          </a:ln>
        </p:spPr>
        <p:txBody>
          <a:bodyPr wrap="none" anchor="t">
            <a:spAutoFit/>
          </a:bodyPr>
          <a:p>
            <a:r>
              <a:rPr lang="en-US" altLang="zh-CN" sz="3200" b="1">
                <a:solidFill>
                  <a:srgbClr val="FF3300"/>
                </a:solidFill>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以上各实体都可能是我们的研究对象</a:t>
            </a:r>
            <a:r>
              <a:rPr lang="en-US" altLang="zh-CN" sz="3200" b="1">
                <a:latin typeface="Times New Roman" panose="02020603050405020304" pitchFamily="18" charset="0"/>
                <a:ea typeface="楷体_GB2312" pitchFamily="49" charset="-122"/>
              </a:rPr>
              <a:t>.</a:t>
            </a:r>
            <a:endParaRPr lang="en-US" altLang="zh-CN" sz="3200" b="1">
              <a:latin typeface="Times New Roman" panose="02020603050405020304" pitchFamily="18" charset="0"/>
              <a:ea typeface="楷体_GB2312" pitchFamily="49" charset="-122"/>
            </a:endParaRPr>
          </a:p>
        </p:txBody>
      </p:sp>
      <p:sp>
        <p:nvSpPr>
          <p:cNvPr id="48144" name="Text Box 16"/>
          <p:cNvSpPr txBox="1"/>
          <p:nvPr/>
        </p:nvSpPr>
        <p:spPr>
          <a:xfrm>
            <a:off x="161925" y="5135563"/>
            <a:ext cx="8748713" cy="579437"/>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solidFill>
                  <a:srgbClr val="FF3300"/>
                </a:solidFill>
                <a:latin typeface="Times New Roman" panose="02020603050405020304" pitchFamily="18" charset="0"/>
                <a:ea typeface="宋体" panose="02010600030101010101" pitchFamily="2" charset="-122"/>
              </a:rPr>
              <a:t>* </a:t>
            </a:r>
            <a:r>
              <a:rPr lang="zh-CN" altLang="en-US" sz="3200" b="1">
                <a:latin typeface="楷体_GB2312" pitchFamily="49" charset="-122"/>
                <a:ea typeface="楷体_GB2312" pitchFamily="49" charset="-122"/>
              </a:rPr>
              <a:t>应分析相对于各个实体的因素对供水的影响</a:t>
            </a:r>
            <a:endParaRPr lang="zh-CN" altLang="en-US" sz="3200">
              <a:latin typeface="楷体_GB2312" pitchFamily="49" charset="-122"/>
              <a:ea typeface="楷体_GB2312" pitchFamily="49" charset="-122"/>
            </a:endParaRPr>
          </a:p>
        </p:txBody>
      </p:sp>
      <p:sp>
        <p:nvSpPr>
          <p:cNvPr id="48145" name="Text Box 17"/>
          <p:cNvSpPr txBox="1"/>
          <p:nvPr/>
        </p:nvSpPr>
        <p:spPr>
          <a:xfrm>
            <a:off x="533400" y="5715000"/>
            <a:ext cx="7834313" cy="1066800"/>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2.</a:t>
            </a:r>
            <a:r>
              <a:rPr lang="en-US" altLang="zh-CN" sz="3200" b="1">
                <a:latin typeface="楷体_GB2312" pitchFamily="49" charset="-122"/>
                <a:ea typeface="楷体_GB2312" pitchFamily="49" charset="-122"/>
              </a:rPr>
              <a:t> </a:t>
            </a:r>
            <a:r>
              <a:rPr lang="zh-CN" altLang="en-US" sz="3200" b="1">
                <a:solidFill>
                  <a:srgbClr val="FF3300"/>
                </a:solidFill>
                <a:latin typeface="楷体_GB2312" pitchFamily="49" charset="-122"/>
                <a:ea typeface="楷体_GB2312" pitchFamily="49" charset="-122"/>
              </a:rPr>
              <a:t>分析各实体之间的关系</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找出联系各实体</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的变量</a:t>
            </a:r>
            <a:r>
              <a:rPr lang="en-US" altLang="zh-CN" sz="3200" b="1">
                <a:latin typeface="楷体_GB2312" pitchFamily="49" charset="-122"/>
                <a:ea typeface="楷体_GB2312" pitchFamily="49" charset="-122"/>
              </a:rPr>
              <a:t>.</a:t>
            </a:r>
            <a:endParaRPr lang="en-US" altLang="zh-CN" sz="320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33"/>
                                        </p:tgtEl>
                                        <p:attrNameLst>
                                          <p:attrName>style.visibility</p:attrName>
                                        </p:attrNameLst>
                                      </p:cBhvr>
                                      <p:to>
                                        <p:strVal val="visible"/>
                                      </p:to>
                                    </p:set>
                                    <p:animEffect transition="in" filter="wipe(left)">
                                      <p:cBhvr>
                                        <p:cTn id="7" dur="500"/>
                                        <p:tgtEl>
                                          <p:spTgt spid="481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8134"/>
                                        </p:tgtEl>
                                        <p:attrNameLst>
                                          <p:attrName>style.visibility</p:attrName>
                                        </p:attrNameLst>
                                      </p:cBhvr>
                                      <p:to>
                                        <p:strVal val="visible"/>
                                      </p:to>
                                    </p:set>
                                    <p:animEffect transition="in" filter="wipe(left)">
                                      <p:cBhvr>
                                        <p:cTn id="12" dur="500"/>
                                        <p:tgtEl>
                                          <p:spTgt spid="481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8135"/>
                                        </p:tgtEl>
                                        <p:attrNameLst>
                                          <p:attrName>style.visibility</p:attrName>
                                        </p:attrNameLst>
                                      </p:cBhvr>
                                      <p:to>
                                        <p:strVal val="visible"/>
                                      </p:to>
                                    </p:set>
                                    <p:animEffect transition="in" filter="wipe(left)">
                                      <p:cBhvr>
                                        <p:cTn id="17" dur="500"/>
                                        <p:tgtEl>
                                          <p:spTgt spid="481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8136"/>
                                        </p:tgtEl>
                                        <p:attrNameLst>
                                          <p:attrName>style.visibility</p:attrName>
                                        </p:attrNameLst>
                                      </p:cBhvr>
                                      <p:to>
                                        <p:strVal val="visible"/>
                                      </p:to>
                                    </p:set>
                                    <p:animEffect transition="in" filter="wipe(left)">
                                      <p:cBhvr>
                                        <p:cTn id="22" dur="500"/>
                                        <p:tgtEl>
                                          <p:spTgt spid="4813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8137"/>
                                        </p:tgtEl>
                                        <p:attrNameLst>
                                          <p:attrName>style.visibility</p:attrName>
                                        </p:attrNameLst>
                                      </p:cBhvr>
                                      <p:to>
                                        <p:strVal val="visible"/>
                                      </p:to>
                                    </p:set>
                                    <p:animEffect transition="in" filter="wipe(left)">
                                      <p:cBhvr>
                                        <p:cTn id="27" dur="500"/>
                                        <p:tgtEl>
                                          <p:spTgt spid="4813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8138"/>
                                        </p:tgtEl>
                                        <p:attrNameLst>
                                          <p:attrName>style.visibility</p:attrName>
                                        </p:attrNameLst>
                                      </p:cBhvr>
                                      <p:to>
                                        <p:strVal val="visible"/>
                                      </p:to>
                                    </p:set>
                                    <p:animEffect transition="in" filter="wipe(left)">
                                      <p:cBhvr>
                                        <p:cTn id="32" dur="500"/>
                                        <p:tgtEl>
                                          <p:spTgt spid="481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8139"/>
                                        </p:tgtEl>
                                        <p:attrNameLst>
                                          <p:attrName>style.visibility</p:attrName>
                                        </p:attrNameLst>
                                      </p:cBhvr>
                                      <p:to>
                                        <p:strVal val="visible"/>
                                      </p:to>
                                    </p:set>
                                    <p:animEffect transition="in" filter="wipe(left)">
                                      <p:cBhvr>
                                        <p:cTn id="37" dur="500"/>
                                        <p:tgtEl>
                                          <p:spTgt spid="481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8140"/>
                                        </p:tgtEl>
                                        <p:attrNameLst>
                                          <p:attrName>style.visibility</p:attrName>
                                        </p:attrNameLst>
                                      </p:cBhvr>
                                      <p:to>
                                        <p:strVal val="visible"/>
                                      </p:to>
                                    </p:set>
                                    <p:animEffect transition="in" filter="wipe(left)">
                                      <p:cBhvr>
                                        <p:cTn id="42" dur="500"/>
                                        <p:tgtEl>
                                          <p:spTgt spid="4814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8141"/>
                                        </p:tgtEl>
                                        <p:attrNameLst>
                                          <p:attrName>style.visibility</p:attrName>
                                        </p:attrNameLst>
                                      </p:cBhvr>
                                      <p:to>
                                        <p:strVal val="visible"/>
                                      </p:to>
                                    </p:set>
                                    <p:animEffect transition="in" filter="wipe(left)">
                                      <p:cBhvr>
                                        <p:cTn id="47" dur="500"/>
                                        <p:tgtEl>
                                          <p:spTgt spid="4814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48142"/>
                                        </p:tgtEl>
                                        <p:attrNameLst>
                                          <p:attrName>style.visibility</p:attrName>
                                        </p:attrNameLst>
                                      </p:cBhvr>
                                      <p:to>
                                        <p:strVal val="visible"/>
                                      </p:to>
                                    </p:set>
                                    <p:animEffect transition="in" filter="wipe(left)">
                                      <p:cBhvr>
                                        <p:cTn id="52" dur="500"/>
                                        <p:tgtEl>
                                          <p:spTgt spid="4814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8143"/>
                                        </p:tgtEl>
                                        <p:attrNameLst>
                                          <p:attrName>style.visibility</p:attrName>
                                        </p:attrNameLst>
                                      </p:cBhvr>
                                      <p:to>
                                        <p:strVal val="visible"/>
                                      </p:to>
                                    </p:set>
                                    <p:animEffect transition="in" filter="wipe(left)">
                                      <p:cBhvr>
                                        <p:cTn id="57" dur="500"/>
                                        <p:tgtEl>
                                          <p:spTgt spid="4814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8144"/>
                                        </p:tgtEl>
                                        <p:attrNameLst>
                                          <p:attrName>style.visibility</p:attrName>
                                        </p:attrNameLst>
                                      </p:cBhvr>
                                      <p:to>
                                        <p:strVal val="visible"/>
                                      </p:to>
                                    </p:set>
                                    <p:animEffect transition="in" filter="wipe(left)">
                                      <p:cBhvr>
                                        <p:cTn id="62" dur="500"/>
                                        <p:tgtEl>
                                          <p:spTgt spid="4814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8145"/>
                                        </p:tgtEl>
                                        <p:attrNameLst>
                                          <p:attrName>style.visibility</p:attrName>
                                        </p:attrNameLst>
                                      </p:cBhvr>
                                      <p:to>
                                        <p:strVal val="visible"/>
                                      </p:to>
                                    </p:set>
                                    <p:animEffect transition="in" filter="wipe(left)">
                                      <p:cBhvr>
                                        <p:cTn id="67" dur="500"/>
                                        <p:tgtEl>
                                          <p:spTgt spid="48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p:bldP spid="48134" grpId="0"/>
      <p:bldP spid="48135" grpId="0"/>
      <p:bldP spid="48136" grpId="0" animBg="1"/>
      <p:bldP spid="48137" grpId="0" animBg="1"/>
      <p:bldP spid="48138" grpId="0" animBg="1"/>
      <p:bldP spid="48139" grpId="0" animBg="1"/>
      <p:bldP spid="48140" grpId="0" animBg="1"/>
      <p:bldP spid="48141" grpId="0" animBg="1"/>
      <p:bldP spid="48142" grpId="0" animBg="1"/>
      <p:bldP spid="48143" grpId="0"/>
      <p:bldP spid="48144" grpId="0"/>
      <p:bldP spid="481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6" name="Text Box 4"/>
          <p:cNvSpPr txBox="1"/>
          <p:nvPr/>
        </p:nvSpPr>
        <p:spPr>
          <a:xfrm>
            <a:off x="2133600" y="533400"/>
            <a:ext cx="4381500" cy="579438"/>
          </a:xfrm>
          <a:prstGeom prst="rect">
            <a:avLst/>
          </a:prstGeom>
          <a:gradFill rotWithShape="0">
            <a:gsLst>
              <a:gs pos="0">
                <a:srgbClr val="800000"/>
              </a:gs>
              <a:gs pos="50000">
                <a:srgbClr val="3B0000"/>
              </a:gs>
              <a:gs pos="100000">
                <a:srgbClr val="800000"/>
              </a:gs>
            </a:gsLst>
            <a:lin ang="5400000" scaled="1"/>
            <a:tileRect/>
          </a:gradFill>
          <a:ln w="9525">
            <a:noFill/>
          </a:ln>
        </p:spPr>
        <p:txBody>
          <a:bodyPr wrap="none" anchor="t">
            <a:spAutoFit/>
          </a:bodyPr>
          <a:p>
            <a:r>
              <a:rPr lang="zh-CN" altLang="en-US" sz="3200" b="1">
                <a:solidFill>
                  <a:srgbClr val="FFFFFF"/>
                </a:solidFill>
                <a:latin typeface="Times New Roman" panose="02020603050405020304" pitchFamily="18" charset="0"/>
                <a:ea typeface="宋体" panose="02010600030101010101" pitchFamily="2" charset="-122"/>
              </a:rPr>
              <a:t>实体之间的作用关系图</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9157" name="Text Box 5"/>
          <p:cNvSpPr txBox="1"/>
          <p:nvPr/>
        </p:nvSpPr>
        <p:spPr>
          <a:xfrm>
            <a:off x="1143000" y="1371600"/>
            <a:ext cx="671513" cy="3470275"/>
          </a:xfrm>
          <a:prstGeom prst="rect">
            <a:avLst/>
          </a:prstGeom>
          <a:gradFill rotWithShape="0">
            <a:gsLst>
              <a:gs pos="0">
                <a:srgbClr val="FFFF66"/>
              </a:gs>
              <a:gs pos="50000">
                <a:schemeClr val="bg2"/>
              </a:gs>
              <a:gs pos="100000">
                <a:srgbClr val="FFFF66"/>
              </a:gs>
            </a:gsLst>
            <a:lin ang="0" scaled="1"/>
            <a:tileRect/>
          </a:gradFill>
          <a:ln w="9525">
            <a:noFill/>
          </a:ln>
        </p:spPr>
        <p:txBody>
          <a:bodyPr vert="eaVert" wrap="none" anchor="t">
            <a:spAutoFit/>
          </a:bodyPr>
          <a:p>
            <a:r>
              <a:rPr lang="zh-CN" altLang="en-US" sz="3200" b="1">
                <a:latin typeface="Times New Roman" panose="02020603050405020304" pitchFamily="18" charset="0"/>
                <a:ea typeface="楷体_GB2312" pitchFamily="49" charset="-122"/>
              </a:rPr>
              <a:t>各实体之间的关系</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49158" name="Rectangle 6"/>
          <p:cNvSpPr/>
          <p:nvPr/>
        </p:nvSpPr>
        <p:spPr>
          <a:xfrm>
            <a:off x="2819400" y="2286000"/>
            <a:ext cx="5181600" cy="579438"/>
          </a:xfrm>
          <a:prstGeom prst="rect">
            <a:avLst/>
          </a:prstGeom>
          <a:noFill/>
          <a:ln w="9525">
            <a:noFill/>
          </a:ln>
        </p:spPr>
        <p:txBody>
          <a:bodyPr anchor="t">
            <a:spAutoFit/>
          </a:bodyPr>
          <a:p>
            <a:r>
              <a:rPr lang="zh-CN" altLang="en-US" sz="3200" b="1">
                <a:latin typeface="Times New Roman" panose="02020603050405020304" pitchFamily="18" charset="0"/>
                <a:ea typeface="楷体_GB2312" pitchFamily="49" charset="-122"/>
              </a:rPr>
              <a:t>管道与水箱：管道的水流量</a:t>
            </a:r>
            <a:endParaRPr lang="zh-CN" altLang="en-US" sz="3200" b="1">
              <a:latin typeface="Times New Roman" panose="02020603050405020304" pitchFamily="18" charset="0"/>
              <a:ea typeface="楷体_GB2312" pitchFamily="49" charset="-122"/>
            </a:endParaRPr>
          </a:p>
        </p:txBody>
      </p:sp>
      <p:sp>
        <p:nvSpPr>
          <p:cNvPr id="49159" name="AutoShape 7"/>
          <p:cNvSpPr/>
          <p:nvPr/>
        </p:nvSpPr>
        <p:spPr>
          <a:xfrm>
            <a:off x="2133600" y="1828800"/>
            <a:ext cx="304800" cy="2895600"/>
          </a:xfrm>
          <a:prstGeom prst="leftBrace">
            <a:avLst>
              <a:gd name="adj1" fmla="val 79166"/>
              <a:gd name="adj2" fmla="val 50000"/>
            </a:avLst>
          </a:prstGeom>
          <a:noFill/>
          <a:ln w="28575" cap="flat" cmpd="sng">
            <a:solidFill>
              <a:schemeClr val="tx1"/>
            </a:solidFill>
            <a:prstDash val="solid"/>
            <a:round/>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49160" name="Text Box 8"/>
          <p:cNvSpPr txBox="1"/>
          <p:nvPr/>
        </p:nvSpPr>
        <p:spPr>
          <a:xfrm>
            <a:off x="2743200" y="1524000"/>
            <a:ext cx="4689475" cy="579438"/>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水库与管道：水库的水深</a:t>
            </a:r>
            <a:endParaRPr lang="zh-CN" altLang="en-US" sz="3200" b="1">
              <a:latin typeface="Times New Roman" panose="02020603050405020304" pitchFamily="18" charset="0"/>
              <a:ea typeface="楷体_GB2312" pitchFamily="49" charset="-122"/>
            </a:endParaRPr>
          </a:p>
        </p:txBody>
      </p:sp>
      <p:sp>
        <p:nvSpPr>
          <p:cNvPr id="49161" name="Text Box 9"/>
          <p:cNvSpPr txBox="1"/>
          <p:nvPr/>
        </p:nvSpPr>
        <p:spPr>
          <a:xfrm>
            <a:off x="2743200" y="2895600"/>
            <a:ext cx="5588000" cy="1066800"/>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水箱与用户：出水口的水流量</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                         （或有效水深</a:t>
            </a:r>
            <a:r>
              <a:rPr lang="zh-CN" altLang="en-US" sz="3200">
                <a:latin typeface="Times New Roman" panose="02020603050405020304" pitchFamily="18" charset="0"/>
                <a:ea typeface="楷体_GB2312" pitchFamily="49" charset="-122"/>
              </a:rPr>
              <a:t>）</a:t>
            </a:r>
            <a:endParaRPr lang="zh-CN" altLang="en-US" sz="3200">
              <a:latin typeface="Times New Roman" panose="02020603050405020304" pitchFamily="18" charset="0"/>
              <a:ea typeface="楷体_GB2312" pitchFamily="49" charset="-122"/>
            </a:endParaRPr>
          </a:p>
        </p:txBody>
      </p:sp>
      <p:sp>
        <p:nvSpPr>
          <p:cNvPr id="49162" name="Text Box 10"/>
          <p:cNvSpPr txBox="1"/>
          <p:nvPr/>
        </p:nvSpPr>
        <p:spPr>
          <a:xfrm>
            <a:off x="2895600" y="4114800"/>
            <a:ext cx="3051175" cy="579438"/>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用户：总用水量</a:t>
            </a:r>
            <a:endParaRPr lang="zh-CN" altLang="en-US" sz="3200" b="1">
              <a:latin typeface="Times New Roman" panose="02020603050405020304" pitchFamily="18" charset="0"/>
              <a:ea typeface="楷体_GB2312" pitchFamily="49" charset="-122"/>
            </a:endParaRPr>
          </a:p>
        </p:txBody>
      </p:sp>
      <p:sp>
        <p:nvSpPr>
          <p:cNvPr id="49163" name="Text Box 11"/>
          <p:cNvSpPr txBox="1"/>
          <p:nvPr/>
        </p:nvSpPr>
        <p:spPr>
          <a:xfrm>
            <a:off x="441325" y="4972050"/>
            <a:ext cx="8267700" cy="1066800"/>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3.</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根据各实体的相互关系，</a:t>
            </a:r>
            <a:r>
              <a:rPr lang="zh-CN" altLang="en-US" sz="3200" b="1">
                <a:solidFill>
                  <a:srgbClr val="FF3300"/>
                </a:solidFill>
                <a:latin typeface="楷体_GB2312" pitchFamily="49" charset="-122"/>
                <a:ea typeface="楷体_GB2312" pitchFamily="49" charset="-122"/>
              </a:rPr>
              <a:t>提炼整理需考虑</a:t>
            </a:r>
            <a:endParaRPr lang="zh-CN" altLang="en-US" sz="3200" b="1">
              <a:solidFill>
                <a:srgbClr val="FF3300"/>
              </a:solidFill>
              <a:latin typeface="楷体_GB2312" pitchFamily="49" charset="-122"/>
              <a:ea typeface="楷体_GB2312" pitchFamily="49" charset="-122"/>
            </a:endParaRPr>
          </a:p>
          <a:p>
            <a:r>
              <a:rPr lang="zh-CN" altLang="en-US" sz="3200" b="1">
                <a:solidFill>
                  <a:srgbClr val="FF3300"/>
                </a:solidFill>
                <a:latin typeface="楷体_GB2312" pitchFamily="49" charset="-122"/>
                <a:ea typeface="楷体_GB2312" pitchFamily="49" charset="-122"/>
              </a:rPr>
              <a:t>的变量</a:t>
            </a:r>
            <a:r>
              <a:rPr lang="zh-CN" altLang="en-US" sz="3200" b="1">
                <a:latin typeface="楷体_GB2312" pitchFamily="49" charset="-122"/>
                <a:ea typeface="楷体_GB2312" pitchFamily="49" charset="-122"/>
              </a:rPr>
              <a:t>以及变量之的关系表达式</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 calcmode="lin" valueType="num">
                                      <p:cBhvr>
                                        <p:cTn id="7" dur="500" fill="hold"/>
                                        <p:tgtEl>
                                          <p:spTgt spid="49156"/>
                                        </p:tgtEl>
                                        <p:attrNameLst>
                                          <p:attrName>ppt_w</p:attrName>
                                        </p:attrNameLst>
                                      </p:cBhvr>
                                      <p:tavLst>
                                        <p:tav tm="0">
                                          <p:val>
                                            <p:fltVal val="0.000000"/>
                                          </p:val>
                                        </p:tav>
                                        <p:tav tm="100000">
                                          <p:val>
                                            <p:strVal val="#ppt_w"/>
                                          </p:val>
                                        </p:tav>
                                      </p:tavLst>
                                    </p:anim>
                                    <p:anim calcmode="lin" valueType="num">
                                      <p:cBhvr>
                                        <p:cTn id="8" dur="500" fill="hold"/>
                                        <p:tgtEl>
                                          <p:spTgt spid="49156"/>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iterate type="wd">
                                    <p:tmPct val="100000"/>
                                  </p:iterate>
                                  <p:childTnLst>
                                    <p:set>
                                      <p:cBhvr>
                                        <p:cTn id="12" dur="1" fill="hold">
                                          <p:stCondLst>
                                            <p:cond delay="0"/>
                                          </p:stCondLst>
                                        </p:cTn>
                                        <p:tgtEl>
                                          <p:spTgt spid="49157"/>
                                        </p:tgtEl>
                                        <p:attrNameLst>
                                          <p:attrName>style.visibility</p:attrName>
                                        </p:attrNameLst>
                                      </p:cBhvr>
                                      <p:to>
                                        <p:strVal val="visible"/>
                                      </p:to>
                                    </p:set>
                                    <p:animEffect transition="in" filter="wipe(up)">
                                      <p:cBhvr>
                                        <p:cTn id="13" dur="300"/>
                                        <p:tgtEl>
                                          <p:spTgt spid="4915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915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4916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4915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4916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4916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49163"/>
                                        </p:tgtEl>
                                        <p:attrNameLst>
                                          <p:attrName>style.visibility</p:attrName>
                                        </p:attrNameLst>
                                      </p:cBhvr>
                                      <p:to>
                                        <p:strVal val="visible"/>
                                      </p:to>
                                    </p:set>
                                    <p:animEffect transition="in" filter="wipe(up)">
                                      <p:cBhvr>
                                        <p:cTn id="38" dur="500"/>
                                        <p:tgtEl>
                                          <p:spTgt spid="49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nimBg="1"/>
      <p:bldP spid="49157" grpId="0" animBg="1"/>
      <p:bldP spid="49158" grpId="0"/>
      <p:bldP spid="49159" grpId="0" animBg="1"/>
      <p:bldP spid="49160" grpId="0"/>
      <p:bldP spid="49161" grpId="0"/>
      <p:bldP spid="49162" grpId="0"/>
      <p:bldP spid="4916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Text Box 4"/>
          <p:cNvSpPr txBox="1"/>
          <p:nvPr/>
        </p:nvSpPr>
        <p:spPr>
          <a:xfrm>
            <a:off x="609600" y="455613"/>
            <a:ext cx="7651750" cy="1163637"/>
          </a:xfrm>
          <a:prstGeom prst="rect">
            <a:avLst/>
          </a:prstGeom>
          <a:noFill/>
          <a:ln w="9525">
            <a:noFill/>
          </a:ln>
        </p:spPr>
        <p:txBody>
          <a:bodyPr wrap="none" anchor="t">
            <a:spAutoFit/>
          </a:bodyPr>
          <a:p>
            <a:pPr>
              <a:lnSpc>
                <a:spcPct val="120000"/>
              </a:lnSpc>
            </a:pP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假设</a:t>
            </a:r>
            <a:r>
              <a:rPr lang="zh-CN" altLang="en-US" sz="3200" b="1">
                <a:solidFill>
                  <a:srgbClr val="FF3300"/>
                </a:solidFill>
                <a:latin typeface="Times New Roman" panose="02020603050405020304" pitchFamily="18" charset="0"/>
                <a:ea typeface="楷体_GB2312" pitchFamily="49" charset="-122"/>
              </a:rPr>
              <a:t>“水库能保证管道所需的水流量”</a:t>
            </a:r>
            <a:r>
              <a:rPr lang="zh-CN" altLang="en-US" sz="3200" b="1">
                <a:latin typeface="Times New Roman" panose="02020603050405020304" pitchFamily="18" charset="0"/>
                <a:ea typeface="楷体_GB2312" pitchFamily="49" charset="-122"/>
              </a:rPr>
              <a:t>，</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现需考虑</a:t>
            </a:r>
            <a:r>
              <a:rPr lang="en-US" altLang="zh-CN" sz="3200" b="1">
                <a:latin typeface="Times New Roman" panose="02020603050405020304" pitchFamily="18" charset="0"/>
                <a:ea typeface="楷体_GB2312" pitchFamily="49" charset="-122"/>
              </a:rPr>
              <a:t>t </a:t>
            </a:r>
            <a:r>
              <a:rPr lang="zh-CN" altLang="en-US" sz="3200" b="1">
                <a:latin typeface="Times New Roman" panose="02020603050405020304" pitchFamily="18" charset="0"/>
                <a:ea typeface="楷体_GB2312" pitchFamily="49" charset="-122"/>
              </a:rPr>
              <a:t>时刻以下变量：</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0181" name="Text Box 5"/>
          <p:cNvSpPr txBox="1"/>
          <p:nvPr/>
        </p:nvSpPr>
        <p:spPr>
          <a:xfrm>
            <a:off x="838200" y="1676400"/>
            <a:ext cx="3235325" cy="579438"/>
          </a:xfrm>
          <a:prstGeom prst="rect">
            <a:avLst/>
          </a:prstGeom>
          <a:noFill/>
          <a:ln w="9525">
            <a:noFill/>
          </a:ln>
        </p:spPr>
        <p:txBody>
          <a:bodyPr wrap="none" anchor="t">
            <a:spAutoFit/>
          </a:bodyPr>
          <a:p>
            <a:r>
              <a:rPr lang="en-US" altLang="zh-CN" sz="3200" b="1">
                <a:solidFill>
                  <a:srgbClr val="FF3300"/>
                </a:solidFill>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总需水量</a:t>
            </a:r>
            <a:r>
              <a:rPr lang="en-US" altLang="zh-CN" sz="3200" b="1">
                <a:latin typeface="Times New Roman" panose="02020603050405020304" pitchFamily="18" charset="0"/>
                <a:ea typeface="宋体" panose="02010600030101010101" pitchFamily="2" charset="-122"/>
              </a:rPr>
              <a:t>D(t)</a:t>
            </a:r>
            <a:r>
              <a:rPr lang="zh-CN" altLang="en-US" sz="3200" b="1">
                <a:latin typeface="Times New Roman" panose="02020603050405020304" pitchFamily="18" charset="0"/>
                <a:ea typeface="宋体" panose="02010600030101010101" pitchFamily="2" charset="-122"/>
              </a:rPr>
              <a:t>；</a:t>
            </a:r>
            <a:endParaRPr lang="zh-CN" altLang="en-US" sz="3200">
              <a:latin typeface="Times New Roman" panose="02020603050405020304" pitchFamily="18" charset="0"/>
              <a:ea typeface="楷体_GB2312" pitchFamily="49" charset="-122"/>
            </a:endParaRPr>
          </a:p>
        </p:txBody>
      </p:sp>
      <p:sp>
        <p:nvSpPr>
          <p:cNvPr id="50182" name="Text Box 6"/>
          <p:cNvSpPr txBox="1"/>
          <p:nvPr/>
        </p:nvSpPr>
        <p:spPr>
          <a:xfrm>
            <a:off x="838200" y="2362200"/>
            <a:ext cx="6178550" cy="579438"/>
          </a:xfrm>
          <a:prstGeom prst="rect">
            <a:avLst/>
          </a:prstGeom>
          <a:noFill/>
          <a:ln w="9525">
            <a:noFill/>
          </a:ln>
        </p:spPr>
        <p:txBody>
          <a:bodyPr wrap="none" anchor="t">
            <a:spAutoFit/>
          </a:bodyPr>
          <a:p>
            <a:r>
              <a:rPr lang="en-US" altLang="zh-CN" sz="3200" b="1">
                <a:solidFill>
                  <a:srgbClr val="FF3300"/>
                </a:solidFill>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水箱的有效储水量</a:t>
            </a:r>
            <a:r>
              <a:rPr lang="en-US" altLang="zh-CN" sz="3200" b="1">
                <a:latin typeface="Times New Roman" panose="02020603050405020304" pitchFamily="18" charset="0"/>
                <a:ea typeface="宋体" panose="02010600030101010101" pitchFamily="2" charset="-122"/>
              </a:rPr>
              <a:t>Q(t)</a:t>
            </a:r>
            <a:r>
              <a:rPr lang="zh-CN" altLang="en-US" sz="3200" b="1">
                <a:latin typeface="Times New Roman" panose="02020603050405020304" pitchFamily="18" charset="0"/>
                <a:ea typeface="宋体" panose="02010600030101010101" pitchFamily="2" charset="-122"/>
              </a:rPr>
              <a:t>及 </a:t>
            </a:r>
            <a:r>
              <a:rPr lang="en-US" altLang="zh-CN" sz="3200" b="1">
                <a:latin typeface="Times New Roman" panose="02020603050405020304" pitchFamily="18" charset="0"/>
                <a:ea typeface="宋体" panose="02010600030101010101" pitchFamily="2" charset="-122"/>
              </a:rPr>
              <a:t>Q</a:t>
            </a:r>
            <a:r>
              <a:rPr lang="en-US" altLang="zh-CN" sz="3200" b="1" baseline="-30000">
                <a:latin typeface="Times New Roman" panose="02020603050405020304" pitchFamily="18" charset="0"/>
                <a:ea typeface="宋体" panose="02010600030101010101" pitchFamily="2" charset="-122"/>
              </a:rPr>
              <a:t>M</a:t>
            </a:r>
            <a:r>
              <a:rPr lang="en-US" altLang="zh-CN" sz="3200" b="1">
                <a:latin typeface="Times New Roman" panose="02020603050405020304" pitchFamily="18" charset="0"/>
                <a:ea typeface="宋体" panose="02010600030101010101" pitchFamily="2" charset="-122"/>
              </a:rPr>
              <a:t> </a:t>
            </a:r>
            <a:r>
              <a:rPr lang="zh-CN" altLang="en-US" sz="3200" b="1">
                <a:latin typeface="Times New Roman" panose="02020603050405020304" pitchFamily="18" charset="0"/>
                <a:ea typeface="宋体" panose="02010600030101010101" pitchFamily="2" charset="-122"/>
              </a:rPr>
              <a:t>；</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0183" name="Text Box 7"/>
          <p:cNvSpPr txBox="1"/>
          <p:nvPr/>
        </p:nvSpPr>
        <p:spPr>
          <a:xfrm>
            <a:off x="1143000" y="3048000"/>
            <a:ext cx="5867400" cy="579438"/>
          </a:xfrm>
          <a:prstGeom prst="rect">
            <a:avLst/>
          </a:prstGeom>
          <a:noFill/>
          <a:ln w="9525">
            <a:noFill/>
          </a:ln>
        </p:spPr>
        <p:txBody>
          <a:bodyPr anchor="t">
            <a:spAutoFit/>
          </a:bodyPr>
          <a:p>
            <a:r>
              <a:rPr lang="zh-CN" altLang="en-US" sz="3200" b="1">
                <a:latin typeface="Times New Roman" panose="02020603050405020304" pitchFamily="18" charset="0"/>
                <a:ea typeface="楷体_GB2312" pitchFamily="49" charset="-122"/>
              </a:rPr>
              <a:t>或流出水流量</a:t>
            </a:r>
            <a:r>
              <a:rPr lang="en-US" altLang="zh-CN" sz="3200" b="1">
                <a:latin typeface="Times New Roman" panose="02020603050405020304" pitchFamily="18" charset="0"/>
                <a:ea typeface="宋体" panose="02010600030101010101" pitchFamily="2" charset="-122"/>
              </a:rPr>
              <a:t>F</a:t>
            </a:r>
            <a:r>
              <a:rPr lang="zh-CN" altLang="en-US" sz="3200" b="1">
                <a:latin typeface="Times New Roman" panose="02020603050405020304" pitchFamily="18" charset="0"/>
                <a:ea typeface="宋体" panose="02010600030101010101" pitchFamily="2" charset="-122"/>
              </a:rPr>
              <a:t>（</a:t>
            </a:r>
            <a:r>
              <a:rPr lang="en-US" altLang="zh-CN" sz="3200" b="1">
                <a:latin typeface="Times New Roman" panose="02020603050405020304" pitchFamily="18" charset="0"/>
                <a:ea typeface="宋体" panose="02010600030101010101" pitchFamily="2" charset="-122"/>
              </a:rPr>
              <a:t>t</a:t>
            </a:r>
            <a:r>
              <a:rPr lang="zh-CN" altLang="en-US" sz="3200" b="1">
                <a:latin typeface="Times New Roman" panose="02020603050405020304" pitchFamily="18" charset="0"/>
                <a:ea typeface="宋体" panose="02010600030101010101" pitchFamily="2" charset="-122"/>
              </a:rPr>
              <a:t>）及 </a:t>
            </a:r>
            <a:r>
              <a:rPr lang="en-US" altLang="zh-CN" sz="3200" b="1">
                <a:latin typeface="Times New Roman" panose="02020603050405020304" pitchFamily="18" charset="0"/>
                <a:ea typeface="宋体" panose="02010600030101010101" pitchFamily="2" charset="-122"/>
              </a:rPr>
              <a:t>F</a:t>
            </a:r>
            <a:r>
              <a:rPr lang="en-US" altLang="zh-CN" sz="3200" b="1" baseline="-30000">
                <a:latin typeface="Times New Roman" panose="02020603050405020304" pitchFamily="18" charset="0"/>
                <a:ea typeface="宋体" panose="02010600030101010101" pitchFamily="2" charset="-122"/>
              </a:rPr>
              <a:t>M </a:t>
            </a:r>
            <a:r>
              <a:rPr lang="zh-CN" altLang="en-US" sz="3200" b="1">
                <a:latin typeface="Times New Roman" panose="02020603050405020304" pitchFamily="18" charset="0"/>
                <a:ea typeface="宋体" panose="02010600030101010101" pitchFamily="2" charset="-122"/>
              </a:rPr>
              <a:t>；</a:t>
            </a:r>
            <a:endParaRPr lang="zh-CN" altLang="en-US" sz="3200" b="1">
              <a:latin typeface="Times New Roman" panose="02020603050405020304" pitchFamily="18" charset="0"/>
              <a:ea typeface="宋体" panose="02010600030101010101" pitchFamily="2" charset="-122"/>
            </a:endParaRPr>
          </a:p>
        </p:txBody>
      </p:sp>
      <p:sp>
        <p:nvSpPr>
          <p:cNvPr id="50184" name="Text Box 8"/>
          <p:cNvSpPr txBox="1"/>
          <p:nvPr/>
        </p:nvSpPr>
        <p:spPr>
          <a:xfrm>
            <a:off x="838200" y="3733800"/>
            <a:ext cx="6934200" cy="579438"/>
          </a:xfrm>
          <a:prstGeom prst="rect">
            <a:avLst/>
          </a:prstGeom>
          <a:noFill/>
          <a:ln w="9525">
            <a:noFill/>
          </a:ln>
        </p:spPr>
        <p:txBody>
          <a:bodyPr anchor="t">
            <a:spAutoFit/>
          </a:bodyPr>
          <a:p>
            <a:r>
              <a:rPr lang="en-US" altLang="zh-CN" sz="3200" b="1">
                <a:solidFill>
                  <a:srgbClr val="FF3300"/>
                </a:solidFill>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管道能提供的供水量</a:t>
            </a:r>
            <a:r>
              <a:rPr lang="en-US" altLang="zh-CN" sz="3200" b="1">
                <a:latin typeface="Times New Roman" panose="02020603050405020304" pitchFamily="18" charset="0"/>
                <a:ea typeface="宋体" panose="02010600030101010101" pitchFamily="2" charset="-122"/>
              </a:rPr>
              <a:t>G(t)</a:t>
            </a:r>
            <a:r>
              <a:rPr lang="zh-CN" altLang="en-US" sz="3200" b="1">
                <a:latin typeface="Times New Roman" panose="02020603050405020304" pitchFamily="18" charset="0"/>
                <a:ea typeface="宋体" panose="02010600030101010101" pitchFamily="2" charset="-122"/>
              </a:rPr>
              <a:t>及</a:t>
            </a:r>
            <a:r>
              <a:rPr lang="en-US" altLang="zh-CN" sz="3200" b="1">
                <a:latin typeface="Times New Roman" panose="02020603050405020304" pitchFamily="18" charset="0"/>
                <a:ea typeface="宋体" panose="02010600030101010101" pitchFamily="2" charset="-122"/>
              </a:rPr>
              <a:t>G</a:t>
            </a:r>
            <a:r>
              <a:rPr lang="en-US" altLang="zh-CN" sz="3200" b="1" baseline="-30000">
                <a:latin typeface="Times New Roman" panose="02020603050405020304" pitchFamily="18" charset="0"/>
                <a:ea typeface="宋体" panose="02010600030101010101" pitchFamily="2" charset="-122"/>
              </a:rPr>
              <a:t>M</a:t>
            </a:r>
            <a:r>
              <a:rPr lang="en-US" altLang="zh-CN" sz="3200" b="1">
                <a:latin typeface="Times New Roman" panose="02020603050405020304" pitchFamily="18" charset="0"/>
                <a:ea typeface="宋体" panose="02010600030101010101" pitchFamily="2" charset="-122"/>
              </a:rPr>
              <a:t>.</a:t>
            </a:r>
            <a:endParaRPr lang="en-US" altLang="zh-CN" sz="3200">
              <a:latin typeface="Times New Roman" panose="02020603050405020304" pitchFamily="18" charset="0"/>
              <a:ea typeface="楷体_GB2312" pitchFamily="49" charset="-122"/>
            </a:endParaRPr>
          </a:p>
        </p:txBody>
      </p:sp>
      <p:sp>
        <p:nvSpPr>
          <p:cNvPr id="50185" name="Text Box 9"/>
          <p:cNvSpPr txBox="1"/>
          <p:nvPr/>
        </p:nvSpPr>
        <p:spPr>
          <a:xfrm>
            <a:off x="533400" y="4343400"/>
            <a:ext cx="3870325" cy="579438"/>
          </a:xfrm>
          <a:prstGeom prst="rect">
            <a:avLst/>
          </a:prstGeom>
          <a:noFill/>
          <a:ln w="9525">
            <a:noFill/>
          </a:ln>
        </p:spPr>
        <p:txBody>
          <a:bodyPr wrap="none" anchor="t">
            <a:spAutoFit/>
          </a:bodyPr>
          <a:p>
            <a:r>
              <a:rPr lang="zh-CN" altLang="en-US" sz="3200" b="1">
                <a:solidFill>
                  <a:srgbClr val="FF3300"/>
                </a:solidFill>
                <a:latin typeface="Times New Roman" panose="02020603050405020304" pitchFamily="18" charset="0"/>
                <a:ea typeface="楷体_GB2312" pitchFamily="49" charset="-122"/>
              </a:rPr>
              <a:t>分析各变量的特征：</a:t>
            </a:r>
            <a:endParaRPr lang="zh-CN" altLang="en-US" sz="3200" b="1">
              <a:solidFill>
                <a:srgbClr val="FF3300"/>
              </a:solidFill>
              <a:latin typeface="Times New Roman" panose="02020603050405020304" pitchFamily="18" charset="0"/>
              <a:ea typeface="楷体_GB2312" pitchFamily="49" charset="-122"/>
            </a:endParaRPr>
          </a:p>
        </p:txBody>
      </p:sp>
      <p:sp>
        <p:nvSpPr>
          <p:cNvPr id="50186" name="Text Box 10"/>
          <p:cNvSpPr txBox="1"/>
          <p:nvPr/>
        </p:nvSpPr>
        <p:spPr>
          <a:xfrm>
            <a:off x="1066800" y="4953000"/>
            <a:ext cx="6921500" cy="579438"/>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D(t)</a:t>
            </a:r>
            <a:r>
              <a:rPr lang="zh-CN" altLang="en-US" sz="3200" b="1">
                <a:latin typeface="Times New Roman" panose="02020603050405020304" pitchFamily="18" charset="0"/>
                <a:ea typeface="楷体_GB2312" pitchFamily="49" charset="-122"/>
              </a:rPr>
              <a:t>不可控，但可以对其进行描述；</a:t>
            </a:r>
            <a:endParaRPr lang="zh-CN" altLang="en-US" sz="3200" b="1">
              <a:latin typeface="Times New Roman" panose="02020603050405020304" pitchFamily="18" charset="0"/>
              <a:ea typeface="楷体_GB2312" pitchFamily="49" charset="-122"/>
            </a:endParaRPr>
          </a:p>
        </p:txBody>
      </p:sp>
      <p:sp>
        <p:nvSpPr>
          <p:cNvPr id="50187" name="Text Box 11"/>
          <p:cNvSpPr txBox="1"/>
          <p:nvPr/>
        </p:nvSpPr>
        <p:spPr>
          <a:xfrm>
            <a:off x="990600" y="5668963"/>
            <a:ext cx="3667125" cy="579437"/>
          </a:xfrm>
          <a:prstGeom prst="rect">
            <a:avLst/>
          </a:prstGeom>
          <a:noFill/>
          <a:ln w="9525">
            <a:noFill/>
          </a:ln>
        </p:spPr>
        <p:txBody>
          <a:bodyPr wrap="none" anchor="t">
            <a:spAutoFit/>
          </a:bodyPr>
          <a:p>
            <a:r>
              <a:rPr lang="en-US" altLang="zh-CN" sz="3200">
                <a:latin typeface="Times New Roman" panose="02020603050405020304" pitchFamily="18" charset="0"/>
                <a:ea typeface="楷体_GB2312" pitchFamily="49" charset="-122"/>
              </a:rPr>
              <a:t>* </a:t>
            </a:r>
            <a:r>
              <a:rPr lang="en-US" altLang="zh-CN" sz="3200" b="1">
                <a:latin typeface="Times New Roman" panose="02020603050405020304" pitchFamily="18" charset="0"/>
                <a:ea typeface="宋体" panose="02010600030101010101" pitchFamily="2" charset="-122"/>
              </a:rPr>
              <a:t>G(t)</a:t>
            </a:r>
            <a:r>
              <a:rPr lang="zh-CN" altLang="en-US" sz="3200" b="1">
                <a:latin typeface="Times New Roman" panose="02020603050405020304" pitchFamily="18" charset="0"/>
                <a:ea typeface="楷体_GB2312" pitchFamily="49" charset="-122"/>
              </a:rPr>
              <a:t>是可控变量。</a:t>
            </a:r>
            <a:endParaRPr lang="zh-CN" altLang="en-US" sz="3200" b="1">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animEffect transition="in" filter="wipe(up)">
                                      <p:cBhvr>
                                        <p:cTn id="7" dur="500"/>
                                        <p:tgtEl>
                                          <p:spTgt spid="5018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0182"/>
                                        </p:tgtEl>
                                        <p:attrNameLst>
                                          <p:attrName>style.visibility</p:attrName>
                                        </p:attrNameLst>
                                      </p:cBhvr>
                                      <p:to>
                                        <p:strVal val="visible"/>
                                      </p:to>
                                    </p:set>
                                    <p:animEffect transition="in" filter="wipe(up)">
                                      <p:cBhvr>
                                        <p:cTn id="12" dur="500"/>
                                        <p:tgtEl>
                                          <p:spTgt spid="501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0183"/>
                                        </p:tgtEl>
                                        <p:attrNameLst>
                                          <p:attrName>style.visibility</p:attrName>
                                        </p:attrNameLst>
                                      </p:cBhvr>
                                      <p:to>
                                        <p:strVal val="visible"/>
                                      </p:to>
                                    </p:set>
                                    <p:animEffect transition="in" filter="wipe(up)">
                                      <p:cBhvr>
                                        <p:cTn id="17" dur="500"/>
                                        <p:tgtEl>
                                          <p:spTgt spid="501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0184"/>
                                        </p:tgtEl>
                                        <p:attrNameLst>
                                          <p:attrName>style.visibility</p:attrName>
                                        </p:attrNameLst>
                                      </p:cBhvr>
                                      <p:to>
                                        <p:strVal val="visible"/>
                                      </p:to>
                                    </p:set>
                                    <p:animEffect transition="in" filter="wipe(up)">
                                      <p:cBhvr>
                                        <p:cTn id="22" dur="500"/>
                                        <p:tgtEl>
                                          <p:spTgt spid="501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0185"/>
                                        </p:tgtEl>
                                        <p:attrNameLst>
                                          <p:attrName>style.visibility</p:attrName>
                                        </p:attrNameLst>
                                      </p:cBhvr>
                                      <p:to>
                                        <p:strVal val="visible"/>
                                      </p:to>
                                    </p:set>
                                    <p:animEffect transition="in" filter="wipe(up)">
                                      <p:cBhvr>
                                        <p:cTn id="27" dur="500"/>
                                        <p:tgtEl>
                                          <p:spTgt spid="5018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0186"/>
                                        </p:tgtEl>
                                        <p:attrNameLst>
                                          <p:attrName>style.visibility</p:attrName>
                                        </p:attrNameLst>
                                      </p:cBhvr>
                                      <p:to>
                                        <p:strVal val="visible"/>
                                      </p:to>
                                    </p:set>
                                    <p:animEffect transition="in" filter="wipe(up)">
                                      <p:cBhvr>
                                        <p:cTn id="32" dur="500"/>
                                        <p:tgtEl>
                                          <p:spTgt spid="5018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0187"/>
                                        </p:tgtEl>
                                        <p:attrNameLst>
                                          <p:attrName>style.visibility</p:attrName>
                                        </p:attrNameLst>
                                      </p:cBhvr>
                                      <p:to>
                                        <p:strVal val="visible"/>
                                      </p:to>
                                    </p:set>
                                    <p:animEffect transition="in" filter="wipe(up)">
                                      <p:cBhvr>
                                        <p:cTn id="37" dur="500"/>
                                        <p:tgtEl>
                                          <p:spTgt spid="50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P spid="50182" grpId="0"/>
      <p:bldP spid="50183" grpId="0"/>
      <p:bldP spid="50184" grpId="0"/>
      <p:bldP spid="50185" grpId="0"/>
      <p:bldP spid="50186" grpId="0"/>
      <p:bldP spid="5018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4" name="Text Box 4"/>
          <p:cNvSpPr txBox="1"/>
          <p:nvPr/>
        </p:nvSpPr>
        <p:spPr>
          <a:xfrm>
            <a:off x="685800" y="1295400"/>
            <a:ext cx="6216650" cy="579438"/>
          </a:xfrm>
          <a:prstGeom prst="rect">
            <a:avLst/>
          </a:prstGeom>
          <a:noFill/>
          <a:ln w="9525">
            <a:noFill/>
          </a:ln>
        </p:spPr>
        <p:txBody>
          <a:bodyPr wrap="none" anchor="t">
            <a:spAutoFit/>
          </a:bodyPr>
          <a:p>
            <a:r>
              <a:rPr lang="en-US" altLang="zh-CN" sz="3200" b="1">
                <a:latin typeface="楷体_GB2312" pitchFamily="49" charset="-122"/>
                <a:ea typeface="楷体_GB2312" pitchFamily="49" charset="-122"/>
              </a:rPr>
              <a:t>4.</a:t>
            </a:r>
            <a:r>
              <a:rPr lang="en-US" altLang="zh-CN" sz="3200">
                <a:latin typeface="楷体_GB2312" pitchFamily="49" charset="-122"/>
                <a:ea typeface="楷体_GB2312" pitchFamily="49" charset="-122"/>
              </a:rPr>
              <a:t> </a:t>
            </a:r>
            <a:r>
              <a:rPr lang="zh-CN" altLang="en-US" sz="3200" b="1">
                <a:solidFill>
                  <a:srgbClr val="FF3300"/>
                </a:solidFill>
                <a:latin typeface="楷体_GB2312" pitchFamily="49" charset="-122"/>
                <a:ea typeface="楷体_GB2312" pitchFamily="49" charset="-122"/>
              </a:rPr>
              <a:t>用数学语言描述</a:t>
            </a:r>
            <a:r>
              <a:rPr lang="zh-CN" altLang="en-US" sz="3200" b="1">
                <a:latin typeface="楷体_GB2312" pitchFamily="49" charset="-122"/>
                <a:ea typeface="楷体_GB2312" pitchFamily="49" charset="-122"/>
              </a:rPr>
              <a:t>要解决的问题</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1205" name="Text Box 5"/>
          <p:cNvSpPr txBox="1"/>
          <p:nvPr/>
        </p:nvSpPr>
        <p:spPr>
          <a:xfrm>
            <a:off x="228600" y="1981200"/>
            <a:ext cx="5102225" cy="579438"/>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zh-CN" altLang="en-US" sz="3200" b="1">
                <a:latin typeface="楷体_GB2312" pitchFamily="49" charset="-122"/>
                <a:ea typeface="楷体_GB2312" pitchFamily="49" charset="-122"/>
              </a:rPr>
              <a:t>选择适当的函数</a:t>
            </a:r>
            <a:r>
              <a:rPr lang="en-US" altLang="zh-CN" sz="3200" b="1">
                <a:latin typeface="Times New Roman" panose="02020603050405020304" pitchFamily="18" charset="0"/>
                <a:ea typeface="楷体_GB2312" pitchFamily="49" charset="-122"/>
              </a:rPr>
              <a:t>G(t)</a:t>
            </a:r>
            <a:r>
              <a:rPr lang="zh-CN" altLang="en-US" sz="3200" b="1">
                <a:latin typeface="楷体_GB2312" pitchFamily="49" charset="-122"/>
                <a:ea typeface="楷体_GB2312" pitchFamily="49" charset="-122"/>
              </a:rPr>
              <a:t>，使得</a:t>
            </a:r>
            <a:endParaRPr lang="zh-CN" altLang="en-US" sz="3200">
              <a:latin typeface="Times New Roman" panose="02020603050405020304" pitchFamily="18" charset="0"/>
              <a:ea typeface="楷体_GB2312" pitchFamily="49" charset="-122"/>
            </a:endParaRPr>
          </a:p>
        </p:txBody>
      </p:sp>
      <p:sp>
        <p:nvSpPr>
          <p:cNvPr id="25603" name="Text Box 6"/>
          <p:cNvSpPr txBox="1"/>
          <p:nvPr/>
        </p:nvSpPr>
        <p:spPr>
          <a:xfrm>
            <a:off x="457200" y="457200"/>
            <a:ext cx="6638925" cy="579438"/>
          </a:xfrm>
          <a:prstGeom prst="rect">
            <a:avLst/>
          </a:prstGeom>
          <a:noFill/>
          <a:ln w="9525">
            <a:noFill/>
          </a:ln>
        </p:spPr>
        <p:txBody>
          <a:bodyPr wrap="none" anchor="t">
            <a:spAutoFit/>
          </a:bodyPr>
          <a:p>
            <a:r>
              <a:rPr lang="zh-CN" altLang="en-US" sz="3200" b="1">
                <a:latin typeface="楷体_GB2312" pitchFamily="49" charset="-122"/>
                <a:ea typeface="楷体_GB2312" pitchFamily="49" charset="-122"/>
              </a:rPr>
              <a:t>有 </a:t>
            </a:r>
            <a:r>
              <a:rPr lang="zh-CN" altLang="en-US"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宋体" panose="02010600030101010101" pitchFamily="2" charset="-122"/>
              </a:rPr>
              <a:t>Q(t)=G(t)</a:t>
            </a:r>
            <a:r>
              <a:rPr lang="zh-CN" altLang="en-US" sz="3200" b="1">
                <a:latin typeface="Times New Roman" panose="02020603050405020304" pitchFamily="18" charset="0"/>
                <a:ea typeface="宋体" panose="02010600030101010101" pitchFamily="2" charset="-122"/>
              </a:rPr>
              <a:t>－</a:t>
            </a:r>
            <a:r>
              <a:rPr lang="en-US" altLang="zh-CN" sz="3200" b="1">
                <a:latin typeface="Times New Roman" panose="02020603050405020304" pitchFamily="18" charset="0"/>
                <a:ea typeface="宋体" panose="02010600030101010101" pitchFamily="2" charset="-122"/>
              </a:rPr>
              <a:t>F(t),    F(t)=D(t),</a:t>
            </a:r>
            <a:endParaRPr lang="en-US" altLang="zh-CN" sz="3200">
              <a:latin typeface="Times New Roman" panose="02020603050405020304" pitchFamily="18" charset="0"/>
              <a:ea typeface="楷体_GB2312" pitchFamily="49" charset="-122"/>
            </a:endParaRPr>
          </a:p>
        </p:txBody>
      </p:sp>
      <p:sp>
        <p:nvSpPr>
          <p:cNvPr id="51207" name="Text Box 7"/>
          <p:cNvSpPr txBox="1"/>
          <p:nvPr/>
        </p:nvSpPr>
        <p:spPr>
          <a:xfrm>
            <a:off x="457200" y="2646363"/>
            <a:ext cx="7315200" cy="1163637"/>
          </a:xfrm>
          <a:prstGeom prst="rect">
            <a:avLst/>
          </a:prstGeom>
          <a:noFill/>
          <a:ln w="9525">
            <a:noFill/>
          </a:ln>
        </p:spPr>
        <p:txBody>
          <a:bodyPr anchor="t">
            <a:spAutoFit/>
          </a:bodyPr>
          <a:p>
            <a:r>
              <a:rPr lang="en-US" altLang="zh-CN" sz="3200" b="1">
                <a:latin typeface="Times New Roman" panose="02020603050405020304" pitchFamily="18" charset="0"/>
                <a:ea typeface="宋体" panose="02010600030101010101" pitchFamily="2" charset="-122"/>
              </a:rPr>
              <a:t>           0</a:t>
            </a:r>
            <a:r>
              <a:rPr lang="zh-CN" altLang="en-US" sz="3200" b="1">
                <a:latin typeface="Times New Roman" panose="02020603050405020304" pitchFamily="18" charset="0"/>
                <a:ea typeface="宋体" panose="02010600030101010101" pitchFamily="2" charset="-122"/>
              </a:rPr>
              <a:t>＜</a:t>
            </a:r>
            <a:r>
              <a:rPr lang="en-US" altLang="zh-CN" sz="3200" b="1">
                <a:latin typeface="Times New Roman" panose="02020603050405020304" pitchFamily="18" charset="0"/>
                <a:ea typeface="宋体" panose="02010600030101010101" pitchFamily="2" charset="-122"/>
              </a:rPr>
              <a:t>G(t)</a:t>
            </a:r>
            <a:r>
              <a:rPr lang="zh-CN" altLang="en-US" sz="3200" b="1">
                <a:latin typeface="Times New Roman" panose="02020603050405020304" pitchFamily="18" charset="0"/>
                <a:ea typeface="宋体" panose="02010600030101010101" pitchFamily="2" charset="-122"/>
              </a:rPr>
              <a:t>＜</a:t>
            </a:r>
            <a:r>
              <a:rPr lang="en-US" altLang="zh-CN" sz="3200" b="1">
                <a:latin typeface="Times New Roman" panose="02020603050405020304" pitchFamily="18" charset="0"/>
                <a:ea typeface="宋体" panose="02010600030101010101" pitchFamily="2" charset="-122"/>
              </a:rPr>
              <a:t>G</a:t>
            </a:r>
            <a:r>
              <a:rPr lang="en-US" altLang="zh-CN" sz="3200" b="1" baseline="-30000">
                <a:latin typeface="Times New Roman" panose="02020603050405020304" pitchFamily="18" charset="0"/>
                <a:ea typeface="宋体" panose="02010600030101010101" pitchFamily="2" charset="-122"/>
              </a:rPr>
              <a:t>M</a:t>
            </a:r>
            <a:r>
              <a:rPr lang="zh-CN" altLang="en-US"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宋体" panose="02010600030101010101" pitchFamily="2" charset="-122"/>
              </a:rPr>
              <a:t>0</a:t>
            </a:r>
            <a:r>
              <a:rPr lang="zh-CN" altLang="en-US" sz="3200" b="1">
                <a:latin typeface="Times New Roman" panose="02020603050405020304" pitchFamily="18" charset="0"/>
                <a:ea typeface="宋体" panose="02010600030101010101" pitchFamily="2" charset="-122"/>
              </a:rPr>
              <a:t>＜</a:t>
            </a:r>
            <a:r>
              <a:rPr lang="en-US" altLang="zh-CN" sz="3200" b="1">
                <a:latin typeface="Times New Roman" panose="02020603050405020304" pitchFamily="18" charset="0"/>
                <a:ea typeface="宋体" panose="02010600030101010101" pitchFamily="2" charset="-122"/>
              </a:rPr>
              <a:t>Q(t)</a:t>
            </a:r>
            <a:r>
              <a:rPr lang="zh-CN" altLang="en-US" sz="3200" b="1">
                <a:latin typeface="Times New Roman" panose="02020603050405020304" pitchFamily="18" charset="0"/>
                <a:ea typeface="宋体" panose="02010600030101010101" pitchFamily="2" charset="-122"/>
              </a:rPr>
              <a:t>＜</a:t>
            </a:r>
            <a:r>
              <a:rPr lang="en-US" altLang="zh-CN" sz="3200" b="1">
                <a:latin typeface="Times New Roman" panose="02020603050405020304" pitchFamily="18" charset="0"/>
                <a:ea typeface="宋体" panose="02010600030101010101" pitchFamily="2" charset="-122"/>
              </a:rPr>
              <a:t>Q</a:t>
            </a:r>
            <a:r>
              <a:rPr lang="en-US" altLang="zh-CN" sz="3200" b="1" baseline="-30000">
                <a:latin typeface="Times New Roman" panose="02020603050405020304" pitchFamily="18" charset="0"/>
                <a:ea typeface="宋体" panose="02010600030101010101" pitchFamily="2" charset="-122"/>
              </a:rPr>
              <a:t>M</a:t>
            </a:r>
            <a:r>
              <a:rPr lang="zh-CN" altLang="en-US" sz="3200" b="1">
                <a:latin typeface="Times New Roman" panose="02020603050405020304" pitchFamily="18" charset="0"/>
                <a:ea typeface="宋体" panose="02010600030101010101" pitchFamily="2" charset="-122"/>
              </a:rPr>
              <a:t>，</a:t>
            </a:r>
            <a:endParaRPr lang="zh-CN" altLang="en-US" sz="3200" b="1">
              <a:latin typeface="Times New Roman" panose="02020603050405020304" pitchFamily="18" charset="0"/>
              <a:ea typeface="宋体" panose="02010600030101010101" pitchFamily="2" charset="-122"/>
            </a:endParaRPr>
          </a:p>
          <a:p>
            <a:pPr>
              <a:lnSpc>
                <a:spcPct val="120000"/>
              </a:lnSpc>
            </a:pPr>
            <a:r>
              <a:rPr lang="zh-CN" altLang="en-US" sz="3200" b="1">
                <a:latin typeface="Times New Roman" panose="02020603050405020304" pitchFamily="18" charset="0"/>
                <a:ea typeface="楷体_GB2312" pitchFamily="49" charset="-122"/>
              </a:rPr>
              <a:t>同时成立</a:t>
            </a:r>
            <a:r>
              <a:rPr lang="en-US" altLang="zh-CN" sz="3200" b="1">
                <a:latin typeface="Times New Roman" panose="02020603050405020304" pitchFamily="18" charset="0"/>
                <a:ea typeface="楷体_GB2312" pitchFamily="49" charset="-122"/>
              </a:rPr>
              <a:t>.</a:t>
            </a:r>
            <a:endParaRPr lang="en-US" altLang="zh-CN" sz="3200">
              <a:latin typeface="Times New Roman" panose="02020603050405020304" pitchFamily="18" charset="0"/>
              <a:ea typeface="楷体_GB2312" pitchFamily="49" charset="-122"/>
            </a:endParaRPr>
          </a:p>
        </p:txBody>
      </p:sp>
      <p:sp>
        <p:nvSpPr>
          <p:cNvPr id="51208" name="Text Box 8"/>
          <p:cNvSpPr txBox="1"/>
          <p:nvPr/>
        </p:nvSpPr>
        <p:spPr>
          <a:xfrm>
            <a:off x="762000" y="3914775"/>
            <a:ext cx="4106863" cy="676275"/>
          </a:xfrm>
          <a:prstGeom prst="rect">
            <a:avLst/>
          </a:prstGeom>
          <a:gradFill rotWithShape="0">
            <a:gsLst>
              <a:gs pos="0">
                <a:schemeClr val="hlink"/>
              </a:gs>
              <a:gs pos="50000">
                <a:srgbClr val="FFFFFF"/>
              </a:gs>
              <a:gs pos="100000">
                <a:schemeClr val="hlink"/>
              </a:gs>
            </a:gsLst>
            <a:lin ang="5400000" scaled="1"/>
            <a:tileRect/>
          </a:gradFill>
          <a:ln w="9525">
            <a:noFill/>
          </a:ln>
        </p:spPr>
        <p:txBody>
          <a:bodyPr wrap="none" anchor="t">
            <a:spAutoFit/>
          </a:bodyPr>
          <a:p>
            <a:pPr>
              <a:lnSpc>
                <a:spcPct val="120000"/>
              </a:lnSpc>
            </a:pPr>
            <a:r>
              <a:rPr lang="zh-CN" altLang="en-US" sz="3200" b="1">
                <a:latin typeface="Times New Roman" panose="02020603050405020304" pitchFamily="18" charset="0"/>
                <a:ea typeface="楷体_GB2312" pitchFamily="49" charset="-122"/>
              </a:rPr>
              <a:t>建模工作的整体设计</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1209" name="Text Box 9"/>
          <p:cNvSpPr txBox="1"/>
          <p:nvPr/>
        </p:nvSpPr>
        <p:spPr>
          <a:xfrm>
            <a:off x="304800" y="4602163"/>
            <a:ext cx="8185150" cy="1066800"/>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楷体_GB2312" pitchFamily="49" charset="-122"/>
              </a:rPr>
              <a:t>1</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确定需求函数</a:t>
            </a:r>
            <a:r>
              <a:rPr lang="en-US" altLang="zh-CN" sz="3200" b="1">
                <a:latin typeface="Times New Roman" panose="02020603050405020304" pitchFamily="18" charset="0"/>
                <a:ea typeface="楷体_GB2312" pitchFamily="49" charset="-122"/>
              </a:rPr>
              <a:t>D</a:t>
            </a:r>
            <a:r>
              <a:rPr lang="zh-CN" altLang="en-US" sz="3200" b="1">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t</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，是保证有效控制</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的基础；</a:t>
            </a:r>
            <a:endParaRPr lang="zh-CN" altLang="en-US" sz="3200">
              <a:latin typeface="楷体_GB2312" pitchFamily="49" charset="-122"/>
              <a:ea typeface="楷体_GB2312" pitchFamily="49" charset="-122"/>
            </a:endParaRPr>
          </a:p>
        </p:txBody>
      </p:sp>
      <p:sp>
        <p:nvSpPr>
          <p:cNvPr id="51210" name="Text Box 10"/>
          <p:cNvSpPr txBox="1"/>
          <p:nvPr/>
        </p:nvSpPr>
        <p:spPr>
          <a:xfrm>
            <a:off x="609600" y="5668963"/>
            <a:ext cx="8782050" cy="579437"/>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楷体_GB2312" pitchFamily="49" charset="-122"/>
              </a:rPr>
              <a:t>2</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制定恰当的评价指标，以评价方案的优劣；</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wipe(left)">
                                      <p:cBhvr>
                                        <p:cTn id="7" dur="500"/>
                                        <p:tgtEl>
                                          <p:spTgt spid="512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5"/>
                                        </p:tgtEl>
                                        <p:attrNameLst>
                                          <p:attrName>style.visibility</p:attrName>
                                        </p:attrNameLst>
                                      </p:cBhvr>
                                      <p:to>
                                        <p:strVal val="visible"/>
                                      </p:to>
                                    </p:set>
                                    <p:animEffect transition="in" filter="wipe(left)">
                                      <p:cBhvr>
                                        <p:cTn id="12" dur="500"/>
                                        <p:tgtEl>
                                          <p:spTgt spid="512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07"/>
                                        </p:tgtEl>
                                        <p:attrNameLst>
                                          <p:attrName>style.visibility</p:attrName>
                                        </p:attrNameLst>
                                      </p:cBhvr>
                                      <p:to>
                                        <p:strVal val="visible"/>
                                      </p:to>
                                    </p:set>
                                    <p:animEffect transition="in" filter="wipe(left)">
                                      <p:cBhvr>
                                        <p:cTn id="17" dur="500"/>
                                        <p:tgtEl>
                                          <p:spTgt spid="512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208"/>
                                        </p:tgtEl>
                                        <p:attrNameLst>
                                          <p:attrName>style.visibility</p:attrName>
                                        </p:attrNameLst>
                                      </p:cBhvr>
                                      <p:to>
                                        <p:strVal val="visible"/>
                                      </p:to>
                                    </p:set>
                                    <p:animEffect transition="in" filter="wipe(left)">
                                      <p:cBhvr>
                                        <p:cTn id="22" dur="500"/>
                                        <p:tgtEl>
                                          <p:spTgt spid="512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209"/>
                                        </p:tgtEl>
                                        <p:attrNameLst>
                                          <p:attrName>style.visibility</p:attrName>
                                        </p:attrNameLst>
                                      </p:cBhvr>
                                      <p:to>
                                        <p:strVal val="visible"/>
                                      </p:to>
                                    </p:set>
                                    <p:animEffect transition="in" filter="wipe(left)">
                                      <p:cBhvr>
                                        <p:cTn id="27" dur="500"/>
                                        <p:tgtEl>
                                          <p:spTgt spid="512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1210"/>
                                        </p:tgtEl>
                                        <p:attrNameLst>
                                          <p:attrName>style.visibility</p:attrName>
                                        </p:attrNameLst>
                                      </p:cBhvr>
                                      <p:to>
                                        <p:strVal val="visible"/>
                                      </p:to>
                                    </p:set>
                                    <p:animEffect transition="in" filter="wipe(left)">
                                      <p:cBhvr>
                                        <p:cTn id="32" dur="500"/>
                                        <p:tgtEl>
                                          <p:spTgt spid="51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p:bldP spid="51205" grpId="0"/>
      <p:bldP spid="51207" grpId="0"/>
      <p:bldP spid="51208" grpId="0" animBg="1"/>
      <p:bldP spid="51209" grpId="0"/>
      <p:bldP spid="512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 Box 2"/>
          <p:cNvSpPr txBox="1"/>
          <p:nvPr/>
        </p:nvSpPr>
        <p:spPr>
          <a:xfrm>
            <a:off x="438150" y="457200"/>
            <a:ext cx="8782050" cy="579438"/>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楷体_GB2312" pitchFamily="49" charset="-122"/>
              </a:rPr>
              <a:t>3</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求出相对于评价指标最优的水箱供水方案；</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2227" name="Text Box 3"/>
          <p:cNvSpPr txBox="1"/>
          <p:nvPr/>
        </p:nvSpPr>
        <p:spPr>
          <a:xfrm>
            <a:off x="381000" y="990600"/>
            <a:ext cx="6324600" cy="579438"/>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latin typeface="Times New Roman" panose="02020603050405020304" pitchFamily="18" charset="0"/>
                <a:ea typeface="楷体_GB2312" pitchFamily="49" charset="-122"/>
              </a:rPr>
              <a:t>4</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分析各种参数对方案的影响；</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2228" name="Text Box 4"/>
          <p:cNvSpPr txBox="1"/>
          <p:nvPr/>
        </p:nvSpPr>
        <p:spPr>
          <a:xfrm>
            <a:off x="492125" y="1600200"/>
            <a:ext cx="4787900" cy="579438"/>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5</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分析随机因素的影响</a:t>
            </a:r>
            <a:r>
              <a:rPr lang="en-US" altLang="zh-CN" sz="3200" b="1">
                <a:latin typeface="楷体_GB2312" pitchFamily="49" charset="-122"/>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2229" name="Text Box 5"/>
          <p:cNvSpPr txBox="1"/>
          <p:nvPr/>
        </p:nvSpPr>
        <p:spPr>
          <a:xfrm>
            <a:off x="609600" y="2286000"/>
            <a:ext cx="4000500" cy="754063"/>
          </a:xfrm>
          <a:prstGeom prst="rect">
            <a:avLst/>
          </a:prstGeom>
          <a:gradFill rotWithShape="0">
            <a:gsLst>
              <a:gs pos="0">
                <a:schemeClr val="hlink"/>
              </a:gs>
              <a:gs pos="50000">
                <a:srgbClr val="FFFFFF"/>
              </a:gs>
              <a:gs pos="100000">
                <a:schemeClr val="hlink"/>
              </a:gs>
            </a:gsLst>
            <a:lin ang="5400000" scaled="1"/>
            <a:tileRect/>
          </a:gradFill>
          <a:ln w="28575" cap="flat" cmpd="sng">
            <a:solidFill>
              <a:schemeClr val="tx2"/>
            </a:solidFill>
            <a:prstDash val="solid"/>
            <a:miter/>
            <a:headEnd type="none" w="med" len="med"/>
            <a:tailEnd type="none" w="med" len="med"/>
          </a:ln>
        </p:spPr>
        <p:txBody>
          <a:bodyPr wrap="none" anchor="t">
            <a:spAutoFit/>
          </a:bodyPr>
          <a:p>
            <a:pPr>
              <a:lnSpc>
                <a:spcPct val="130000"/>
              </a:lnSpc>
            </a:pPr>
            <a:r>
              <a:rPr lang="zh-CN" altLang="en-US" sz="3200" b="1">
                <a:solidFill>
                  <a:srgbClr val="FF3300"/>
                </a:solidFill>
                <a:latin typeface="Times New Roman" panose="02020603050405020304" pitchFamily="18" charset="0"/>
                <a:ea typeface="楷体_GB2312" pitchFamily="49" charset="-122"/>
              </a:rPr>
              <a:t>模型整体设计的作用</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2230" name="Text Box 6"/>
          <p:cNvSpPr txBox="1"/>
          <p:nvPr/>
        </p:nvSpPr>
        <p:spPr>
          <a:xfrm>
            <a:off x="685800" y="3074988"/>
            <a:ext cx="7350125" cy="1066800"/>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1</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可将整个建模过程分解为一些可串行</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   或并行的子任务。</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52231" name="Text Box 7"/>
          <p:cNvSpPr txBox="1"/>
          <p:nvPr/>
        </p:nvSpPr>
        <p:spPr>
          <a:xfrm>
            <a:off x="762000" y="4144963"/>
            <a:ext cx="7245350" cy="579437"/>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2</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可把握住工作的重点、要点和难点</a:t>
            </a:r>
            <a:r>
              <a:rPr lang="en-US" altLang="zh-CN" sz="3200" b="1">
                <a:latin typeface="楷体_GB2312" pitchFamily="49" charset="-122"/>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2232" name="Text Box 8"/>
          <p:cNvSpPr txBox="1"/>
          <p:nvPr/>
        </p:nvSpPr>
        <p:spPr>
          <a:xfrm>
            <a:off x="533400" y="5410200"/>
            <a:ext cx="7959725" cy="1066800"/>
          </a:xfrm>
          <a:prstGeom prst="rect">
            <a:avLst/>
          </a:prstGeom>
          <a:noFill/>
          <a:ln w="9525">
            <a:noFill/>
          </a:ln>
        </p:spPr>
        <p:txBody>
          <a:bodyPr wrap="none" anchor="t">
            <a:spAutoFit/>
          </a:bodyPr>
          <a:p>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做出模型的整体设计后，着手建立模型</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之前，撰写一份工作提纲</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a:latin typeface="楷体_GB2312" pitchFamily="49" charset="-122"/>
              <a:ea typeface="楷体_GB2312" pitchFamily="49" charset="-122"/>
            </a:endParaRPr>
          </a:p>
        </p:txBody>
      </p:sp>
      <p:sp>
        <p:nvSpPr>
          <p:cNvPr id="52233" name="Text Box 9"/>
          <p:cNvSpPr txBox="1"/>
          <p:nvPr/>
        </p:nvSpPr>
        <p:spPr>
          <a:xfrm>
            <a:off x="593725" y="4830763"/>
            <a:ext cx="1138238" cy="579437"/>
          </a:xfrm>
          <a:prstGeom prst="rect">
            <a:avLst/>
          </a:prstGeom>
          <a:gradFill rotWithShape="0">
            <a:gsLst>
              <a:gs pos="0">
                <a:schemeClr val="hlink"/>
              </a:gs>
              <a:gs pos="50000">
                <a:srgbClr val="FFFFFF"/>
              </a:gs>
              <a:gs pos="100000">
                <a:schemeClr val="hlink"/>
              </a:gs>
            </a:gsLst>
            <a:lin ang="5400000" scaled="1"/>
            <a:tileRect/>
          </a:gradFill>
          <a:ln w="9525">
            <a:noFill/>
          </a:ln>
        </p:spPr>
        <p:txBody>
          <a:bodyPr wrap="none" anchor="t">
            <a:spAutoFit/>
          </a:bodyPr>
          <a:p>
            <a:r>
              <a:rPr lang="zh-CN" altLang="en-US" sz="3200" b="1">
                <a:solidFill>
                  <a:srgbClr val="FF0000"/>
                </a:solidFill>
                <a:latin typeface="Times New Roman" panose="02020603050405020304" pitchFamily="18" charset="0"/>
                <a:ea typeface="宋体" panose="02010600030101010101" pitchFamily="2" charset="-122"/>
              </a:rPr>
              <a:t>建议</a:t>
            </a:r>
            <a:r>
              <a:rPr lang="en-US" altLang="zh-CN" sz="3200" b="1">
                <a:solidFill>
                  <a:srgbClr val="FF0000"/>
                </a:solidFill>
                <a:latin typeface="Times New Roman" panose="02020603050405020304" pitchFamily="18" charset="0"/>
                <a:ea typeface="宋体" panose="02010600030101010101" pitchFamily="2" charset="-122"/>
              </a:rPr>
              <a:t>:</a:t>
            </a:r>
            <a:endParaRPr lang="en-US" altLang="zh-CN" sz="3200" b="1">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wipe(left)">
                                      <p:cBhvr>
                                        <p:cTn id="7" dur="500"/>
                                        <p:tgtEl>
                                          <p:spTgt spid="522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2227"/>
                                        </p:tgtEl>
                                        <p:attrNameLst>
                                          <p:attrName>style.visibility</p:attrName>
                                        </p:attrNameLst>
                                      </p:cBhvr>
                                      <p:to>
                                        <p:strVal val="visible"/>
                                      </p:to>
                                    </p:set>
                                    <p:animEffect transition="in" filter="wipe(left)">
                                      <p:cBhvr>
                                        <p:cTn id="12" dur="500"/>
                                        <p:tgtEl>
                                          <p:spTgt spid="522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228"/>
                                        </p:tgtEl>
                                        <p:attrNameLst>
                                          <p:attrName>style.visibility</p:attrName>
                                        </p:attrNameLst>
                                      </p:cBhvr>
                                      <p:to>
                                        <p:strVal val="visible"/>
                                      </p:to>
                                    </p:set>
                                    <p:animEffect transition="in" filter="wipe(left)">
                                      <p:cBhvr>
                                        <p:cTn id="17" dur="500"/>
                                        <p:tgtEl>
                                          <p:spTgt spid="522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229"/>
                                        </p:tgtEl>
                                        <p:attrNameLst>
                                          <p:attrName>style.visibility</p:attrName>
                                        </p:attrNameLst>
                                      </p:cBhvr>
                                      <p:to>
                                        <p:strVal val="visible"/>
                                      </p:to>
                                    </p:set>
                                    <p:animEffect transition="in" filter="wipe(left)">
                                      <p:cBhvr>
                                        <p:cTn id="22" dur="500"/>
                                        <p:tgtEl>
                                          <p:spTgt spid="522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2230"/>
                                        </p:tgtEl>
                                        <p:attrNameLst>
                                          <p:attrName>style.visibility</p:attrName>
                                        </p:attrNameLst>
                                      </p:cBhvr>
                                      <p:to>
                                        <p:strVal val="visible"/>
                                      </p:to>
                                    </p:set>
                                    <p:animEffect transition="in" filter="wipe(left)">
                                      <p:cBhvr>
                                        <p:cTn id="27" dur="500"/>
                                        <p:tgtEl>
                                          <p:spTgt spid="522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2231"/>
                                        </p:tgtEl>
                                        <p:attrNameLst>
                                          <p:attrName>style.visibility</p:attrName>
                                        </p:attrNameLst>
                                      </p:cBhvr>
                                      <p:to>
                                        <p:strVal val="visible"/>
                                      </p:to>
                                    </p:set>
                                    <p:animEffect transition="in" filter="wipe(left)">
                                      <p:cBhvr>
                                        <p:cTn id="32" dur="500"/>
                                        <p:tgtEl>
                                          <p:spTgt spid="522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2233"/>
                                        </p:tgtEl>
                                        <p:attrNameLst>
                                          <p:attrName>style.visibility</p:attrName>
                                        </p:attrNameLst>
                                      </p:cBhvr>
                                      <p:to>
                                        <p:strVal val="visible"/>
                                      </p:to>
                                    </p:set>
                                    <p:animEffect transition="in" filter="wipe(left)">
                                      <p:cBhvr>
                                        <p:cTn id="37" dur="500"/>
                                        <p:tgtEl>
                                          <p:spTgt spid="522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2232"/>
                                        </p:tgtEl>
                                        <p:attrNameLst>
                                          <p:attrName>style.visibility</p:attrName>
                                        </p:attrNameLst>
                                      </p:cBhvr>
                                      <p:to>
                                        <p:strVal val="visible"/>
                                      </p:to>
                                    </p:set>
                                    <p:animEffect transition="in" filter="wipe(left)">
                                      <p:cBhvr>
                                        <p:cTn id="42" dur="500"/>
                                        <p:tgtEl>
                                          <p:spTgt spid="52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P spid="52227" grpId="0"/>
      <p:bldP spid="52228" grpId="0"/>
      <p:bldP spid="52229" grpId="0" animBg="1"/>
      <p:bldP spid="52230" grpId="0"/>
      <p:bldP spid="52231" grpId="0"/>
      <p:bldP spid="52232" grpId="0"/>
      <p:bldP spid="522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Rectangle 2"/>
          <p:cNvSpPr>
            <a:spLocks noGrp="1"/>
          </p:cNvSpPr>
          <p:nvPr>
            <p:ph type="title"/>
          </p:nvPr>
        </p:nvSpPr>
        <p:spPr>
          <a:xfrm>
            <a:off x="457200" y="381000"/>
            <a:ext cx="3124200" cy="609600"/>
          </a:xfrm>
          <a:gradFill rotWithShape="0">
            <a:gsLst>
              <a:gs pos="0">
                <a:srgbClr val="FFCCCC"/>
              </a:gs>
              <a:gs pos="50000">
                <a:srgbClr val="FFFFFF"/>
              </a:gs>
              <a:gs pos="100000">
                <a:srgbClr val="FFCCCC"/>
              </a:gs>
            </a:gsLst>
            <a:lin ang="5400000" scaled="1"/>
            <a:tileRect/>
          </a:gradFill>
          <a:ln w="28575">
            <a:solidFill>
              <a:srgbClr val="FF3300"/>
            </a:solidFill>
            <a:miter/>
          </a:ln>
        </p:spPr>
        <p:txBody>
          <a:bodyPr vert="horz" wrap="square" lIns="91440" tIns="45720" rIns="91440" bIns="45720" anchor="b"/>
          <a:p>
            <a:pPr eaLnBrk="1" hangingPunct="1"/>
            <a:r>
              <a:rPr lang="en-US" altLang="zh-CN" sz="2400">
                <a:solidFill>
                  <a:srgbClr val="FF3300"/>
                </a:solidFill>
              </a:rPr>
              <a:t>(2) </a:t>
            </a:r>
            <a:r>
              <a:rPr lang="zh-CN" altLang="en-US" sz="2400">
                <a:solidFill>
                  <a:srgbClr val="FF3300"/>
                </a:solidFill>
              </a:rPr>
              <a:t>做出假设</a:t>
            </a:r>
            <a:endParaRPr lang="zh-CN" altLang="en-US" sz="2400">
              <a:solidFill>
                <a:srgbClr val="FF3300"/>
              </a:solidFill>
            </a:endParaRPr>
          </a:p>
        </p:txBody>
      </p:sp>
      <p:sp>
        <p:nvSpPr>
          <p:cNvPr id="53253" name="Text Box 5"/>
          <p:cNvSpPr txBox="1"/>
          <p:nvPr/>
        </p:nvSpPr>
        <p:spPr>
          <a:xfrm>
            <a:off x="381000" y="1143000"/>
            <a:ext cx="8523288" cy="1554163"/>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zh-CN" altLang="en-US" sz="3200" b="1">
                <a:latin typeface="Times New Roman" panose="02020603050405020304" pitchFamily="18" charset="0"/>
                <a:ea typeface="楷体_GB2312" pitchFamily="49" charset="-122"/>
              </a:rPr>
              <a:t>根据对象的特征和建模的目的对问题进行</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必要的、合理的简化，用精确的语言做出假</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设，是建模的</a:t>
            </a:r>
            <a:r>
              <a:rPr lang="zh-CN" altLang="en-US" sz="3200" b="1">
                <a:solidFill>
                  <a:srgbClr val="FF0000"/>
                </a:solidFill>
                <a:latin typeface="Times New Roman" panose="02020603050405020304" pitchFamily="18" charset="0"/>
                <a:ea typeface="楷体_GB2312" pitchFamily="49" charset="-122"/>
              </a:rPr>
              <a:t>关键步骤</a:t>
            </a:r>
            <a:r>
              <a:rPr lang="zh-CN" altLang="en-US" sz="3200" b="1">
                <a:latin typeface="Times New Roman" panose="02020603050405020304" pitchFamily="18" charset="0"/>
                <a:ea typeface="楷体_GB2312" pitchFamily="49" charset="-122"/>
              </a:rPr>
              <a:t>。</a:t>
            </a:r>
            <a:endParaRPr lang="zh-CN" altLang="en-US" sz="3200">
              <a:latin typeface="Times New Roman" panose="02020603050405020304" pitchFamily="18" charset="0"/>
              <a:ea typeface="楷体_GB2312" pitchFamily="49" charset="-122"/>
            </a:endParaRPr>
          </a:p>
        </p:txBody>
      </p:sp>
      <p:sp>
        <p:nvSpPr>
          <p:cNvPr id="53254" name="Text Box 6"/>
          <p:cNvSpPr txBox="1"/>
          <p:nvPr/>
        </p:nvSpPr>
        <p:spPr>
          <a:xfrm>
            <a:off x="977900" y="2819400"/>
            <a:ext cx="684213" cy="3073400"/>
          </a:xfrm>
          <a:prstGeom prst="rect">
            <a:avLst/>
          </a:prstGeom>
          <a:gradFill rotWithShape="0">
            <a:gsLst>
              <a:gs pos="0">
                <a:schemeClr val="hlink"/>
              </a:gs>
              <a:gs pos="50000">
                <a:srgbClr val="FFFFFF"/>
              </a:gs>
              <a:gs pos="100000">
                <a:schemeClr val="hlink"/>
              </a:gs>
            </a:gsLst>
            <a:lin ang="0" scaled="1"/>
            <a:tileRect/>
          </a:gradFill>
          <a:ln w="12700" cap="flat" cmpd="sng">
            <a:solidFill>
              <a:srgbClr val="FF3300"/>
            </a:solidFill>
            <a:prstDash val="solid"/>
            <a:miter/>
            <a:headEnd type="none" w="med" len="med"/>
            <a:tailEnd type="none" w="med" len="med"/>
          </a:ln>
        </p:spPr>
        <p:txBody>
          <a:bodyPr vert="eaVert" wrap="none" anchor="t">
            <a:spAutoFit/>
          </a:bodyPr>
          <a:p>
            <a:r>
              <a:rPr lang="zh-CN" altLang="en-US" sz="3200" b="1">
                <a:solidFill>
                  <a:srgbClr val="FF3300"/>
                </a:solidFill>
                <a:latin typeface="Times New Roman" panose="02020603050405020304" pitchFamily="18" charset="0"/>
                <a:ea typeface="楷体_GB2312" pitchFamily="49" charset="-122"/>
              </a:rPr>
              <a:t>合理假设的作用</a:t>
            </a:r>
            <a:r>
              <a:rPr lang="zh-CN" altLang="en-US" sz="3200">
                <a:solidFill>
                  <a:srgbClr val="FF3300"/>
                </a:solidFill>
                <a:latin typeface="Times New Roman" panose="02020603050405020304" pitchFamily="18" charset="0"/>
                <a:ea typeface="楷体_GB2312" pitchFamily="49" charset="-122"/>
              </a:rPr>
              <a:t> </a:t>
            </a:r>
            <a:endParaRPr lang="zh-CN" altLang="en-US" sz="3200">
              <a:solidFill>
                <a:srgbClr val="FF3300"/>
              </a:solidFill>
              <a:latin typeface="Times New Roman" panose="02020603050405020304" pitchFamily="18" charset="0"/>
              <a:ea typeface="楷体_GB2312" pitchFamily="49" charset="-122"/>
            </a:endParaRPr>
          </a:p>
        </p:txBody>
      </p:sp>
      <p:sp>
        <p:nvSpPr>
          <p:cNvPr id="53255" name="Text Box 7"/>
          <p:cNvSpPr txBox="1"/>
          <p:nvPr/>
        </p:nvSpPr>
        <p:spPr>
          <a:xfrm>
            <a:off x="2286000" y="2971800"/>
            <a:ext cx="1936750" cy="592138"/>
          </a:xfrm>
          <a:prstGeom prst="rect">
            <a:avLst/>
          </a:prstGeom>
          <a:gradFill rotWithShape="0">
            <a:gsLst>
              <a:gs pos="0">
                <a:schemeClr val="hlink"/>
              </a:gs>
              <a:gs pos="50000">
                <a:srgbClr val="FFFFFF"/>
              </a:gs>
              <a:gs pos="100000">
                <a:schemeClr val="hlink"/>
              </a:gs>
            </a:gsLst>
            <a:lin ang="5400000" scaled="1"/>
            <a:tileRect/>
          </a:gradFill>
          <a:ln w="12700" cap="flat" cmpd="sng">
            <a:solidFill>
              <a:srgbClr val="FF3300"/>
            </a:solidFill>
            <a:prstDash val="solid"/>
            <a:miter/>
            <a:headEnd type="none" w="med" len="med"/>
            <a:tailEnd type="none" w="med" len="med"/>
          </a:ln>
        </p:spPr>
        <p:txBody>
          <a:bodyPr wrap="none" anchor="t">
            <a:spAutoFit/>
          </a:bodyPr>
          <a:p>
            <a:r>
              <a:rPr lang="zh-CN" altLang="en-US" sz="3200" b="1">
                <a:solidFill>
                  <a:srgbClr val="FF0000"/>
                </a:solidFill>
                <a:latin typeface="Times New Roman" panose="02020603050405020304" pitchFamily="18" charset="0"/>
                <a:ea typeface="楷体_GB2312" pitchFamily="49" charset="-122"/>
              </a:rPr>
              <a:t>简化问题</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3256" name="Text Box 8"/>
          <p:cNvSpPr txBox="1"/>
          <p:nvPr/>
        </p:nvSpPr>
        <p:spPr>
          <a:xfrm>
            <a:off x="2286000" y="3810000"/>
            <a:ext cx="1936750" cy="592138"/>
          </a:xfrm>
          <a:prstGeom prst="rect">
            <a:avLst/>
          </a:prstGeom>
          <a:gradFill rotWithShape="0">
            <a:gsLst>
              <a:gs pos="0">
                <a:schemeClr val="hlink"/>
              </a:gs>
              <a:gs pos="50000">
                <a:srgbClr val="FFFFFF"/>
              </a:gs>
              <a:gs pos="100000">
                <a:schemeClr val="hlink"/>
              </a:gs>
            </a:gsLst>
            <a:lin ang="5400000" scaled="1"/>
            <a:tileRect/>
          </a:gradFill>
          <a:ln w="12700" cap="flat" cmpd="sng">
            <a:solidFill>
              <a:srgbClr val="FF3300"/>
            </a:solidFill>
            <a:prstDash val="solid"/>
            <a:miter/>
            <a:headEnd type="none" w="med" len="med"/>
            <a:tailEnd type="none" w="med" len="med"/>
          </a:ln>
        </p:spPr>
        <p:txBody>
          <a:bodyPr wrap="none" anchor="t">
            <a:spAutoFit/>
          </a:bodyPr>
          <a:p>
            <a:r>
              <a:rPr lang="zh-CN" altLang="en-US" sz="3200" b="1">
                <a:solidFill>
                  <a:srgbClr val="FF0000"/>
                </a:solidFill>
                <a:latin typeface="Times New Roman" panose="02020603050405020304" pitchFamily="18" charset="0"/>
                <a:ea typeface="楷体_GB2312" pitchFamily="49" charset="-122"/>
              </a:rPr>
              <a:t>明确问题</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3257" name="Text Box 9"/>
          <p:cNvSpPr txBox="1"/>
          <p:nvPr/>
        </p:nvSpPr>
        <p:spPr>
          <a:xfrm>
            <a:off x="2279650" y="4724400"/>
            <a:ext cx="2244725" cy="1079500"/>
          </a:xfrm>
          <a:prstGeom prst="rect">
            <a:avLst/>
          </a:prstGeom>
          <a:gradFill rotWithShape="0">
            <a:gsLst>
              <a:gs pos="0">
                <a:schemeClr val="hlink"/>
              </a:gs>
              <a:gs pos="50000">
                <a:srgbClr val="FFFFFF"/>
              </a:gs>
              <a:gs pos="100000">
                <a:schemeClr val="hlink"/>
              </a:gs>
            </a:gsLst>
            <a:lin ang="5400000" scaled="1"/>
            <a:tileRect/>
          </a:gradFill>
          <a:ln w="12700" cap="flat" cmpd="sng">
            <a:solidFill>
              <a:srgbClr val="FF3300"/>
            </a:solidFill>
            <a:prstDash val="solid"/>
            <a:miter/>
            <a:headEnd type="none" w="med" len="med"/>
            <a:tailEnd type="none" w="med" len="med"/>
          </a:ln>
        </p:spPr>
        <p:txBody>
          <a:bodyPr wrap="none" anchor="t">
            <a:spAutoFit/>
          </a:bodyPr>
          <a:p>
            <a:pPr algn="ctr"/>
            <a:r>
              <a:rPr lang="zh-CN" altLang="en-US" sz="3200" b="1">
                <a:solidFill>
                  <a:srgbClr val="FF0000"/>
                </a:solidFill>
                <a:latin typeface="Times New Roman" panose="02020603050405020304" pitchFamily="18" charset="0"/>
                <a:ea typeface="楷体_GB2312" pitchFamily="49" charset="-122"/>
              </a:rPr>
              <a:t>限定模型的</a:t>
            </a:r>
            <a:endParaRPr lang="zh-CN" altLang="en-US" sz="3200" b="1">
              <a:solidFill>
                <a:srgbClr val="FF0000"/>
              </a:solidFill>
              <a:latin typeface="Times New Roman" panose="02020603050405020304" pitchFamily="18" charset="0"/>
              <a:ea typeface="楷体_GB2312" pitchFamily="49" charset="-122"/>
            </a:endParaRPr>
          </a:p>
          <a:p>
            <a:pPr algn="ctr"/>
            <a:r>
              <a:rPr lang="zh-CN" altLang="en-US" sz="3200" b="1">
                <a:solidFill>
                  <a:srgbClr val="FF0000"/>
                </a:solidFill>
                <a:latin typeface="Times New Roman" panose="02020603050405020304" pitchFamily="18" charset="0"/>
                <a:ea typeface="楷体_GB2312" pitchFamily="49" charset="-122"/>
              </a:rPr>
              <a:t>适用范围</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3258" name="AutoShape 10"/>
          <p:cNvSpPr/>
          <p:nvPr/>
        </p:nvSpPr>
        <p:spPr>
          <a:xfrm>
            <a:off x="4876800" y="2133600"/>
            <a:ext cx="3886200" cy="4114800"/>
          </a:xfrm>
          <a:prstGeom prst="cloudCallout">
            <a:avLst>
              <a:gd name="adj1" fmla="val -45750"/>
              <a:gd name="adj2" fmla="val 8412"/>
            </a:avLst>
          </a:prstGeom>
          <a:gradFill rotWithShape="0">
            <a:gsLst>
              <a:gs pos="0">
                <a:srgbClr val="FFFF99"/>
              </a:gs>
              <a:gs pos="50000">
                <a:srgbClr val="FFFFFF"/>
              </a:gs>
              <a:gs pos="100000">
                <a:srgbClr val="FFFF99"/>
              </a:gs>
            </a:gsLst>
            <a:lin ang="5400000" scaled="1"/>
            <a:tileRect/>
          </a:gradFill>
          <a:ln w="9525" cap="flat" cmpd="sng">
            <a:solidFill>
              <a:schemeClr val="tx1"/>
            </a:solidFill>
            <a:prstDash val="solid"/>
            <a:round/>
            <a:headEnd type="none" w="med" len="med"/>
            <a:tailEnd type="none" w="med" len="med"/>
          </a:ln>
        </p:spPr>
        <p:txBody>
          <a:bodyPr anchor="t"/>
          <a:p>
            <a:r>
              <a:rPr lang="zh-CN" altLang="en-US" sz="3200" b="1">
                <a:latin typeface="楷体_GB2312" pitchFamily="49" charset="-122"/>
                <a:ea typeface="楷体_GB2312" pitchFamily="49" charset="-122"/>
              </a:rPr>
              <a:t>一个实际问题不经过简化假设</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很难抽象转化为数学问题。</a:t>
            </a:r>
            <a:endParaRPr lang="zh-CN" altLang="en-US" sz="3200" b="1">
              <a:latin typeface="楷体_GB2312" pitchFamily="49" charset="-122"/>
              <a:ea typeface="楷体_GB2312" pitchFamily="49" charset="-122"/>
            </a:endParaRPr>
          </a:p>
          <a:p>
            <a:pPr algn="ctr"/>
            <a:endParaRPr lang="en-US" altLang="zh-CN" sz="3200" b="1">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animEffect transition="in" filter="wipe(left)">
                                      <p:cBhvr>
                                        <p:cTn id="7" dur="500"/>
                                        <p:tgtEl>
                                          <p:spTgt spid="532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4"/>
                                        </p:tgtEl>
                                        <p:attrNameLst>
                                          <p:attrName>style.visibility</p:attrName>
                                        </p:attrNameLst>
                                      </p:cBhvr>
                                      <p:to>
                                        <p:strVal val="visible"/>
                                      </p:to>
                                    </p:set>
                                    <p:animEffect transition="in" filter="wipe(left)">
                                      <p:cBhvr>
                                        <p:cTn id="12" dur="500"/>
                                        <p:tgtEl>
                                          <p:spTgt spid="532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255"/>
                                        </p:tgtEl>
                                        <p:attrNameLst>
                                          <p:attrName>style.visibility</p:attrName>
                                        </p:attrNameLst>
                                      </p:cBhvr>
                                      <p:to>
                                        <p:strVal val="visible"/>
                                      </p:to>
                                    </p:set>
                                    <p:animEffect transition="in" filter="wipe(left)">
                                      <p:cBhvr>
                                        <p:cTn id="17" dur="500"/>
                                        <p:tgtEl>
                                          <p:spTgt spid="532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256"/>
                                        </p:tgtEl>
                                        <p:attrNameLst>
                                          <p:attrName>style.visibility</p:attrName>
                                        </p:attrNameLst>
                                      </p:cBhvr>
                                      <p:to>
                                        <p:strVal val="visible"/>
                                      </p:to>
                                    </p:set>
                                    <p:animEffect transition="in" filter="wipe(left)">
                                      <p:cBhvr>
                                        <p:cTn id="22" dur="500"/>
                                        <p:tgtEl>
                                          <p:spTgt spid="532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257"/>
                                        </p:tgtEl>
                                        <p:attrNameLst>
                                          <p:attrName>style.visibility</p:attrName>
                                        </p:attrNameLst>
                                      </p:cBhvr>
                                      <p:to>
                                        <p:strVal val="visible"/>
                                      </p:to>
                                    </p:set>
                                    <p:animEffect transition="in" filter="wipe(left)">
                                      <p:cBhvr>
                                        <p:cTn id="27" dur="500"/>
                                        <p:tgtEl>
                                          <p:spTgt spid="5325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3258"/>
                                        </p:tgtEl>
                                        <p:attrNameLst>
                                          <p:attrName>style.visibility</p:attrName>
                                        </p:attrNameLst>
                                      </p:cBhvr>
                                      <p:to>
                                        <p:strVal val="visible"/>
                                      </p:to>
                                    </p:set>
                                    <p:animEffect transition="in" filter="dissolve">
                                      <p:cBhvr>
                                        <p:cTn id="32" dur="500"/>
                                        <p:tgtEl>
                                          <p:spTgt spid="53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P spid="53254" grpId="0" animBg="1"/>
      <p:bldP spid="53255" grpId="0" animBg="1"/>
      <p:bldP spid="53256" grpId="0" animBg="1"/>
      <p:bldP spid="53257" grpId="0" animBg="1"/>
      <p:bldP spid="5325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6" name="Text Box 4"/>
          <p:cNvSpPr txBox="1"/>
          <p:nvPr/>
        </p:nvSpPr>
        <p:spPr>
          <a:xfrm>
            <a:off x="304800" y="1143000"/>
            <a:ext cx="7729538" cy="1163638"/>
          </a:xfrm>
          <a:prstGeom prst="rect">
            <a:avLst/>
          </a:prstGeom>
          <a:noFill/>
          <a:ln w="9525">
            <a:noFill/>
          </a:ln>
        </p:spPr>
        <p:txBody>
          <a:bodyPr wrap="none" anchor="t">
            <a:spAutoFit/>
          </a:bodyPr>
          <a:p>
            <a:r>
              <a:rPr lang="zh-CN" altLang="en-US" sz="3200" b="1">
                <a:solidFill>
                  <a:srgbClr val="FF3300"/>
                </a:solidFill>
                <a:latin typeface="Times New Roman" panose="02020603050405020304" pitchFamily="18" charset="0"/>
                <a:ea typeface="楷体_GB2312" pitchFamily="49" charset="-122"/>
              </a:rPr>
              <a:t>例</a:t>
            </a:r>
            <a:r>
              <a:rPr lang="en-US" altLang="zh-CN" sz="3200" b="1">
                <a:solidFill>
                  <a:srgbClr val="FF3300"/>
                </a:solidFill>
                <a:latin typeface="Times New Roman" panose="02020603050405020304" pitchFamily="18" charset="0"/>
                <a:ea typeface="楷体_GB2312" pitchFamily="49" charset="-122"/>
              </a:rPr>
              <a:t>2  </a:t>
            </a:r>
            <a:r>
              <a:rPr lang="zh-CN" altLang="en-US" sz="3200" b="1">
                <a:latin typeface="Times New Roman" panose="02020603050405020304" pitchFamily="18" charset="0"/>
                <a:ea typeface="楷体_GB2312" pitchFamily="49" charset="-122"/>
              </a:rPr>
              <a:t>飞行管理问题中有叙述：“</a:t>
            </a:r>
            <a:r>
              <a:rPr lang="zh-CN" altLang="en-US" sz="3200" b="1">
                <a:latin typeface="楷体_GB2312" pitchFamily="49" charset="-122"/>
                <a:ea typeface="楷体_GB2312" pitchFamily="49" charset="-122"/>
              </a:rPr>
              <a:t>对以下</a:t>
            </a:r>
            <a:r>
              <a:rPr lang="zh-CN" altLang="en-US" sz="3200" b="1">
                <a:solidFill>
                  <a:srgbClr val="FF3300"/>
                </a:solidFill>
                <a:latin typeface="楷体_GB2312" pitchFamily="49" charset="-122"/>
                <a:ea typeface="楷体_GB2312" pitchFamily="49" charset="-122"/>
              </a:rPr>
              <a:t>数据</a:t>
            </a:r>
            <a:endParaRPr lang="zh-CN" altLang="en-US" sz="3200" b="1">
              <a:solidFill>
                <a:srgbClr val="FF3300"/>
              </a:solidFill>
              <a:latin typeface="楷体_GB2312" pitchFamily="49" charset="-122"/>
              <a:ea typeface="楷体_GB2312" pitchFamily="49" charset="-122"/>
            </a:endParaRPr>
          </a:p>
          <a:p>
            <a:pPr>
              <a:lnSpc>
                <a:spcPct val="120000"/>
              </a:lnSpc>
            </a:pPr>
            <a:r>
              <a:rPr lang="zh-CN" altLang="en-US" sz="3200" b="1">
                <a:latin typeface="楷体_GB2312" pitchFamily="49" charset="-122"/>
                <a:ea typeface="楷体_GB2312" pitchFamily="49" charset="-122"/>
              </a:rPr>
              <a:t>进行</a:t>
            </a:r>
            <a:r>
              <a:rPr lang="zh-CN" altLang="en-US" sz="3200" b="1">
                <a:solidFill>
                  <a:srgbClr val="FF3300"/>
                </a:solidFill>
                <a:latin typeface="楷体_GB2312" pitchFamily="49" charset="-122"/>
                <a:ea typeface="楷体_GB2312" pitchFamily="49" charset="-122"/>
              </a:rPr>
              <a:t>计算</a:t>
            </a:r>
            <a:r>
              <a:rPr lang="zh-CN" altLang="en-US" sz="3200" b="1">
                <a:latin typeface="楷体_GB2312" pitchFamily="49" charset="-122"/>
                <a:ea typeface="楷体_GB2312" pitchFamily="49" charset="-122"/>
              </a:rPr>
              <a:t>（方向角误差</a:t>
            </a:r>
            <a:r>
              <a:rPr lang="zh-CN" altLang="en-US" sz="3200" b="1" u="sng">
                <a:solidFill>
                  <a:srgbClr val="800000"/>
                </a:solidFill>
                <a:latin typeface="楷体_GB2312" pitchFamily="49" charset="-122"/>
                <a:ea typeface="楷体_GB2312" pitchFamily="49" charset="-122"/>
              </a:rPr>
              <a:t>不超过</a:t>
            </a:r>
            <a:r>
              <a:rPr lang="en-US" altLang="zh-CN" sz="3200" b="1" u="sng">
                <a:solidFill>
                  <a:srgbClr val="800000"/>
                </a:solidFill>
                <a:latin typeface="Times New Roman" panose="02020603050405020304" pitchFamily="18" charset="0"/>
                <a:ea typeface="楷体_GB2312" pitchFamily="49" charset="-122"/>
              </a:rPr>
              <a:t>0.01</a:t>
            </a:r>
            <a:r>
              <a:rPr lang="zh-CN" altLang="en-US" sz="3200" b="1" u="sng">
                <a:solidFill>
                  <a:srgbClr val="800000"/>
                </a:solidFill>
                <a:latin typeface="楷体_GB2312" pitchFamily="49" charset="-122"/>
                <a:ea typeface="楷体_GB2312" pitchFamily="49" charset="-122"/>
              </a:rPr>
              <a:t>度</a:t>
            </a:r>
            <a:r>
              <a:rPr lang="zh-CN" altLang="en-US" sz="3200" b="1">
                <a:solidFill>
                  <a:srgbClr val="800000"/>
                </a:solidFill>
                <a:latin typeface="楷体_GB2312" pitchFamily="49" charset="-122"/>
                <a:ea typeface="楷体_GB2312" pitchFamily="49" charset="-122"/>
              </a:rPr>
              <a:t>）</a:t>
            </a:r>
            <a:r>
              <a:rPr lang="zh-CN" altLang="en-US" sz="3200" b="1">
                <a:solidFill>
                  <a:srgbClr val="800000"/>
                </a:solidFill>
                <a:latin typeface="Times New Roman" panose="02020603050405020304" pitchFamily="18" charset="0"/>
                <a:ea typeface="楷体_GB2312" pitchFamily="49" charset="-122"/>
              </a:rPr>
              <a:t>”</a:t>
            </a:r>
            <a:r>
              <a:rPr lang="zh-CN" altLang="en-US" sz="3200" b="1">
                <a:solidFill>
                  <a:srgbClr val="800000"/>
                </a:solidFill>
                <a:latin typeface="楷体_GB2312" pitchFamily="49" charset="-122"/>
                <a:ea typeface="楷体_GB2312" pitchFamily="49" charset="-122"/>
              </a:rPr>
              <a:t> </a:t>
            </a:r>
            <a:endParaRPr lang="zh-CN" altLang="en-US" sz="3200" b="1">
              <a:solidFill>
                <a:srgbClr val="800000"/>
              </a:solidFill>
              <a:latin typeface="楷体_GB2312" pitchFamily="49" charset="-122"/>
              <a:ea typeface="楷体_GB2312" pitchFamily="49" charset="-122"/>
            </a:endParaRPr>
          </a:p>
        </p:txBody>
      </p:sp>
      <p:sp>
        <p:nvSpPr>
          <p:cNvPr id="54277" name="AutoShape 5"/>
          <p:cNvSpPr/>
          <p:nvPr/>
        </p:nvSpPr>
        <p:spPr>
          <a:xfrm flipV="1">
            <a:off x="6324600" y="2209800"/>
            <a:ext cx="2819400" cy="914400"/>
          </a:xfrm>
          <a:prstGeom prst="wedgeEllipseCallout">
            <a:avLst>
              <a:gd name="adj1" fmla="val -69991"/>
              <a:gd name="adj2" fmla="val 48782"/>
            </a:avLst>
          </a:prstGeom>
          <a:gradFill rotWithShape="0">
            <a:gsLst>
              <a:gs pos="0">
                <a:srgbClr val="FFFF99"/>
              </a:gs>
              <a:gs pos="50000">
                <a:srgbClr val="FFFFFF"/>
              </a:gs>
              <a:gs pos="100000">
                <a:srgbClr val="FFFF99"/>
              </a:gs>
            </a:gsLst>
            <a:lin ang="5400000" scaled="1"/>
            <a:tileRect/>
          </a:gradFill>
          <a:ln w="9525" cap="flat" cmpd="sng">
            <a:solidFill>
              <a:schemeClr val="tx1"/>
            </a:solidFill>
            <a:prstDash val="solid"/>
            <a:miter/>
            <a:headEnd type="none" w="med" len="med"/>
            <a:tailEnd type="none" w="med" len="med"/>
          </a:ln>
        </p:spPr>
        <p:txBody>
          <a:bodyPr rot="10800000" anchor="t"/>
          <a:p>
            <a:pPr algn="ctr"/>
            <a:r>
              <a:rPr lang="zh-CN" altLang="en-US" sz="2800" b="1">
                <a:solidFill>
                  <a:srgbClr val="FF3300"/>
                </a:solidFill>
                <a:latin typeface="Times New Roman" panose="02020603050405020304" pitchFamily="18" charset="0"/>
                <a:ea typeface="楷体_GB2312" pitchFamily="49" charset="-122"/>
              </a:rPr>
              <a:t>如何理解？</a:t>
            </a:r>
            <a:endParaRPr lang="zh-CN" altLang="en-US" sz="2800" b="1">
              <a:solidFill>
                <a:srgbClr val="FF3300"/>
              </a:solidFill>
              <a:latin typeface="Times New Roman" panose="02020603050405020304" pitchFamily="18" charset="0"/>
              <a:ea typeface="楷体_GB2312" pitchFamily="49" charset="-122"/>
            </a:endParaRPr>
          </a:p>
        </p:txBody>
      </p:sp>
      <p:sp>
        <p:nvSpPr>
          <p:cNvPr id="54278" name="Text Box 6"/>
          <p:cNvSpPr txBox="1"/>
          <p:nvPr/>
        </p:nvSpPr>
        <p:spPr>
          <a:xfrm>
            <a:off x="457200" y="2438400"/>
            <a:ext cx="2333625" cy="579438"/>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通过假设：</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4279" name="Text Box 7"/>
          <p:cNvSpPr txBox="1"/>
          <p:nvPr/>
        </p:nvSpPr>
        <p:spPr>
          <a:xfrm>
            <a:off x="762000" y="3048000"/>
            <a:ext cx="8261350" cy="579438"/>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solidFill>
                  <a:srgbClr val="FF3300"/>
                </a:solidFill>
                <a:latin typeface="楷体_GB2312" pitchFamily="49" charset="-122"/>
                <a:ea typeface="楷体_GB2312" pitchFamily="49" charset="-122"/>
              </a:rPr>
              <a:t>*</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所给飞行方向角数据的误差不超过</a:t>
            </a:r>
            <a:r>
              <a:rPr lang="en-US" altLang="zh-CN" sz="3200" b="1">
                <a:latin typeface="Times New Roman" panose="02020603050405020304" pitchFamily="18" charset="0"/>
                <a:ea typeface="楷体_GB2312" pitchFamily="49" charset="-122"/>
              </a:rPr>
              <a:t>0.01</a:t>
            </a:r>
            <a:r>
              <a:rPr lang="zh-CN" altLang="en-US" sz="3200" b="1">
                <a:latin typeface="楷体_GB2312" pitchFamily="49" charset="-122"/>
                <a:ea typeface="楷体_GB2312" pitchFamily="49" charset="-122"/>
              </a:rPr>
              <a:t>度</a:t>
            </a:r>
            <a:r>
              <a:rPr lang="en-US" altLang="zh-CN" sz="3200" b="1">
                <a:latin typeface="楷体_GB2312" pitchFamily="49" charset="-122"/>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4280" name="Text Box 8"/>
          <p:cNvSpPr txBox="1"/>
          <p:nvPr/>
        </p:nvSpPr>
        <p:spPr>
          <a:xfrm>
            <a:off x="228600" y="3581400"/>
            <a:ext cx="7953375" cy="579438"/>
          </a:xfrm>
          <a:prstGeom prst="rect">
            <a:avLst/>
          </a:prstGeom>
          <a:noFill/>
          <a:ln w="9525">
            <a:noFill/>
          </a:ln>
        </p:spPr>
        <p:txBody>
          <a:bodyPr wrap="none" anchor="t">
            <a:spAutoFit/>
          </a:bodyPr>
          <a:p>
            <a:r>
              <a:rPr lang="zh-CN" altLang="en-US" sz="3200" b="1">
                <a:latin typeface="楷体_GB2312" pitchFamily="49" charset="-122"/>
                <a:ea typeface="楷体_GB2312" pitchFamily="49" charset="-122"/>
              </a:rPr>
              <a:t>或 </a:t>
            </a:r>
            <a:r>
              <a:rPr lang="zh-CN" altLang="en-US" sz="3200" b="1">
                <a:solidFill>
                  <a:srgbClr val="FF3300"/>
                </a:solidFill>
                <a:latin typeface="楷体_GB2312" pitchFamily="49" charset="-122"/>
                <a:ea typeface="楷体_GB2312" pitchFamily="49" charset="-122"/>
              </a:rPr>
              <a:t>*</a:t>
            </a:r>
            <a:r>
              <a:rPr lang="zh-CN" altLang="en-US" sz="3200" b="1">
                <a:latin typeface="楷体_GB2312" pitchFamily="49" charset="-122"/>
                <a:ea typeface="楷体_GB2312" pitchFamily="49" charset="-122"/>
              </a:rPr>
              <a:t> 数据的运算结果误差限控制为</a:t>
            </a:r>
            <a:r>
              <a:rPr lang="en-US" altLang="zh-CN" sz="3200" b="1">
                <a:latin typeface="Times New Roman" panose="02020603050405020304" pitchFamily="18" charset="0"/>
                <a:ea typeface="楷体_GB2312" pitchFamily="49" charset="-122"/>
              </a:rPr>
              <a:t>0.01</a:t>
            </a:r>
            <a:r>
              <a:rPr lang="zh-CN" altLang="en-US" sz="3200" b="1">
                <a:latin typeface="楷体_GB2312" pitchFamily="49" charset="-122"/>
                <a:ea typeface="楷体_GB2312" pitchFamily="49" charset="-122"/>
              </a:rPr>
              <a:t>度</a:t>
            </a:r>
            <a:r>
              <a:rPr lang="en-US" altLang="zh-CN" sz="3200" b="1">
                <a:latin typeface="楷体_GB2312" pitchFamily="49" charset="-122"/>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4281" name="Text Box 9"/>
          <p:cNvSpPr txBox="1"/>
          <p:nvPr/>
        </p:nvSpPr>
        <p:spPr>
          <a:xfrm>
            <a:off x="304800" y="4144963"/>
            <a:ext cx="3454400" cy="579437"/>
          </a:xfrm>
          <a:prstGeom prst="rect">
            <a:avLst/>
          </a:prstGeom>
          <a:noFill/>
          <a:ln w="9525">
            <a:noFill/>
          </a:ln>
        </p:spPr>
        <p:txBody>
          <a:bodyPr wrap="none" anchor="t">
            <a:spAutoFit/>
          </a:bodyPr>
          <a:p>
            <a:r>
              <a:rPr lang="zh-CN" altLang="en-US" sz="3200" b="1">
                <a:latin typeface="楷体_GB2312" pitchFamily="49" charset="-122"/>
                <a:ea typeface="楷体_GB2312" pitchFamily="49" charset="-122"/>
              </a:rPr>
              <a:t>使问题完全明确</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a:latin typeface="楷体_GB2312" pitchFamily="49" charset="-122"/>
              <a:ea typeface="楷体_GB2312" pitchFamily="49" charset="-122"/>
            </a:endParaRPr>
          </a:p>
        </p:txBody>
      </p:sp>
      <p:sp>
        <p:nvSpPr>
          <p:cNvPr id="54282" name="Text Box 10"/>
          <p:cNvSpPr txBox="1"/>
          <p:nvPr/>
        </p:nvSpPr>
        <p:spPr>
          <a:xfrm>
            <a:off x="381000" y="4922838"/>
            <a:ext cx="8534400" cy="1554162"/>
          </a:xfrm>
          <a:prstGeom prst="rect">
            <a:avLst/>
          </a:prstGeom>
          <a:noFill/>
          <a:ln w="9525">
            <a:noFill/>
          </a:ln>
        </p:spPr>
        <p:txBody>
          <a:bodyPr anchor="t">
            <a:spAutoFit/>
          </a:bodyPr>
          <a:p>
            <a:r>
              <a:rPr lang="zh-CN" altLang="en-US" sz="3200" b="1">
                <a:solidFill>
                  <a:srgbClr val="FF3300"/>
                </a:solidFill>
                <a:latin typeface="Times New Roman" panose="02020603050405020304" pitchFamily="18" charset="0"/>
                <a:ea typeface="楷体_GB2312" pitchFamily="49" charset="-122"/>
              </a:rPr>
              <a:t>例</a:t>
            </a:r>
            <a:r>
              <a:rPr lang="en-US" altLang="zh-CN" sz="3200" b="1">
                <a:solidFill>
                  <a:srgbClr val="FF3300"/>
                </a:solidFill>
                <a:latin typeface="Times New Roman" panose="02020603050405020304" pitchFamily="18" charset="0"/>
                <a:ea typeface="楷体_GB2312" pitchFamily="49" charset="-122"/>
              </a:rPr>
              <a:t>3  </a:t>
            </a:r>
            <a:r>
              <a:rPr lang="zh-CN" altLang="en-US" sz="3200" b="1">
                <a:latin typeface="楷体_GB2312" pitchFamily="49" charset="-122"/>
                <a:ea typeface="楷体_GB2312" pitchFamily="49" charset="-122"/>
              </a:rPr>
              <a:t>渔业管理问题中关于</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季节性集中产卵繁殖</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 </a:t>
            </a:r>
            <a:r>
              <a:rPr lang="en-US" altLang="zh-CN" sz="3200" b="1">
                <a:latin typeface="楷体_GB2312" pitchFamily="49" charset="-122"/>
                <a:ea typeface="楷体_GB2312" pitchFamily="49" charset="-122"/>
              </a:rPr>
              <a:t>,</a:t>
            </a:r>
            <a:r>
              <a:rPr lang="zh-CN" altLang="en-US" sz="3200" b="1">
                <a:latin typeface="楷体_GB2312" pitchFamily="49" charset="-122"/>
                <a:ea typeface="楷体_GB2312" pitchFamily="49" charset="-122"/>
              </a:rPr>
              <a:t>如何理解</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产卵孵化期是一年的</a:t>
            </a:r>
            <a:r>
              <a:rPr lang="zh-CN" altLang="en-US" sz="3200" b="1">
                <a:solidFill>
                  <a:srgbClr val="800000"/>
                </a:solidFill>
                <a:latin typeface="楷体_GB2312" pitchFamily="49" charset="-122"/>
                <a:ea typeface="楷体_GB2312" pitchFamily="49" charset="-122"/>
              </a:rPr>
              <a:t>最后四个月</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 ？</a:t>
            </a:r>
            <a:endParaRPr lang="zh-CN" altLang="en-US" sz="3200" b="1">
              <a:latin typeface="楷体_GB2312" pitchFamily="49" charset="-122"/>
              <a:ea typeface="楷体_GB2312" pitchFamily="49" charset="-122"/>
            </a:endParaRPr>
          </a:p>
        </p:txBody>
      </p:sp>
      <p:sp>
        <p:nvSpPr>
          <p:cNvPr id="54283" name="Text Box 11">
            <a:hlinkClick r:id="rId1"/>
          </p:cNvPr>
          <p:cNvSpPr txBox="1"/>
          <p:nvPr/>
        </p:nvSpPr>
        <p:spPr>
          <a:xfrm>
            <a:off x="5105400" y="381000"/>
            <a:ext cx="2971800" cy="704850"/>
          </a:xfrm>
          <a:prstGeom prst="rect">
            <a:avLst/>
          </a:prstGeom>
          <a:gradFill rotWithShape="0">
            <a:gsLst>
              <a:gs pos="0">
                <a:schemeClr val="hlink"/>
              </a:gs>
              <a:gs pos="50000">
                <a:srgbClr val="FFFFFF"/>
              </a:gs>
              <a:gs pos="100000">
                <a:schemeClr val="hlink"/>
              </a:gs>
            </a:gsLst>
            <a:lin ang="5400000" scaled="1"/>
            <a:tileRect/>
          </a:gradFill>
          <a:ln w="28575" cap="flat" cmpd="sng">
            <a:solidFill>
              <a:srgbClr val="FF3300"/>
            </a:solidFill>
            <a:prstDash val="solid"/>
            <a:miter/>
            <a:headEnd type="none" w="med" len="med"/>
            <a:tailEnd type="none" w="med" len="med"/>
          </a:ln>
        </p:spPr>
        <p:txBody>
          <a:bodyPr anchor="t">
            <a:spAutoFit/>
          </a:bodyPr>
          <a:p>
            <a:pPr algn="ctr">
              <a:lnSpc>
                <a:spcPct val="120000"/>
              </a:lnSpc>
            </a:pPr>
            <a:r>
              <a:rPr lang="zh-CN" altLang="en-US" sz="3200" b="1">
                <a:solidFill>
                  <a:srgbClr val="FF0000"/>
                </a:solidFill>
                <a:latin typeface="Times New Roman" panose="02020603050405020304" pitchFamily="18" charset="0"/>
                <a:ea typeface="楷体_GB2312" pitchFamily="49" charset="-122"/>
              </a:rPr>
              <a:t>最优捕鱼策略</a:t>
            </a:r>
            <a:r>
              <a:rPr lang="zh-CN" altLang="en-US" sz="3200" b="1">
                <a:solidFill>
                  <a:srgbClr val="FF0000"/>
                </a:solidFill>
                <a:latin typeface="楷体_GB2312" pitchFamily="49" charset="-122"/>
                <a:ea typeface="楷体_GB2312" pitchFamily="49" charset="-122"/>
              </a:rPr>
              <a:t> </a:t>
            </a:r>
            <a:endParaRPr lang="zh-CN" altLang="en-US" sz="3200" b="1">
              <a:solidFill>
                <a:srgbClr val="FF0000"/>
              </a:solidFill>
              <a:latin typeface="楷体_GB2312" pitchFamily="49" charset="-122"/>
              <a:ea typeface="楷体_GB2312" pitchFamily="49" charset="-122"/>
            </a:endParaRPr>
          </a:p>
        </p:txBody>
      </p:sp>
      <p:sp>
        <p:nvSpPr>
          <p:cNvPr id="54284" name="Text Box 12">
            <a:hlinkClick r:id="rId2"/>
          </p:cNvPr>
          <p:cNvSpPr txBox="1"/>
          <p:nvPr/>
        </p:nvSpPr>
        <p:spPr>
          <a:xfrm>
            <a:off x="1143000" y="381000"/>
            <a:ext cx="2971800" cy="704850"/>
          </a:xfrm>
          <a:prstGeom prst="rect">
            <a:avLst/>
          </a:prstGeom>
          <a:gradFill rotWithShape="0">
            <a:gsLst>
              <a:gs pos="0">
                <a:schemeClr val="hlink"/>
              </a:gs>
              <a:gs pos="50000">
                <a:srgbClr val="FFFFFF"/>
              </a:gs>
              <a:gs pos="100000">
                <a:schemeClr val="hlink"/>
              </a:gs>
            </a:gsLst>
            <a:lin ang="5400000" scaled="1"/>
            <a:tileRect/>
          </a:gradFill>
          <a:ln w="28575" cap="flat" cmpd="sng">
            <a:solidFill>
              <a:srgbClr val="FF3300"/>
            </a:solidFill>
            <a:prstDash val="solid"/>
            <a:miter/>
            <a:headEnd type="none" w="med" len="med"/>
            <a:tailEnd type="none" w="med" len="med"/>
          </a:ln>
        </p:spPr>
        <p:txBody>
          <a:bodyPr anchor="t">
            <a:spAutoFit/>
          </a:bodyPr>
          <a:p>
            <a:pPr algn="ctr">
              <a:lnSpc>
                <a:spcPct val="120000"/>
              </a:lnSpc>
            </a:pPr>
            <a:r>
              <a:rPr lang="zh-CN" altLang="en-US" sz="3200" b="1">
                <a:solidFill>
                  <a:srgbClr val="FF0000"/>
                </a:solidFill>
                <a:latin typeface="楷体_GB2312" pitchFamily="49" charset="-122"/>
                <a:ea typeface="楷体_GB2312" pitchFamily="49" charset="-122"/>
              </a:rPr>
              <a:t>飞行管理模型</a:t>
            </a:r>
            <a:r>
              <a:rPr lang="zh-CN" altLang="en-US" sz="3200">
                <a:solidFill>
                  <a:srgbClr val="FF0000"/>
                </a:solidFill>
                <a:latin typeface="Times New Roman" panose="02020603050405020304" pitchFamily="18" charset="0"/>
                <a:ea typeface="楷体_GB2312" pitchFamily="49" charset="-122"/>
              </a:rPr>
              <a:t> </a:t>
            </a:r>
            <a:endParaRPr lang="zh-CN" altLang="en-US" sz="3200">
              <a:solidFill>
                <a:srgbClr val="FF00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4284"/>
                                        </p:tgtEl>
                                        <p:attrNameLst>
                                          <p:attrName>style.visibility</p:attrName>
                                        </p:attrNameLst>
                                      </p:cBhvr>
                                      <p:to>
                                        <p:strVal val="visible"/>
                                      </p:to>
                                    </p:set>
                                    <p:anim calcmode="lin" valueType="num">
                                      <p:cBhvr>
                                        <p:cTn id="7" dur="500" fill="hold"/>
                                        <p:tgtEl>
                                          <p:spTgt spid="54284"/>
                                        </p:tgtEl>
                                        <p:attrNameLst>
                                          <p:attrName>ppt_x</p:attrName>
                                        </p:attrNameLst>
                                      </p:cBhvr>
                                      <p:tavLst>
                                        <p:tav tm="0">
                                          <p:val>
                                            <p:strVal val="0-#ppt_w/2"/>
                                          </p:val>
                                        </p:tav>
                                        <p:tav tm="100000">
                                          <p:val>
                                            <p:strVal val="#ppt_x"/>
                                          </p:val>
                                        </p:tav>
                                      </p:tavLst>
                                    </p:anim>
                                    <p:anim calcmode="lin" valueType="num">
                                      <p:cBhvr>
                                        <p:cTn id="8" dur="500" fill="hold"/>
                                        <p:tgtEl>
                                          <p:spTgt spid="542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4283"/>
                                        </p:tgtEl>
                                        <p:attrNameLst>
                                          <p:attrName>style.visibility</p:attrName>
                                        </p:attrNameLst>
                                      </p:cBhvr>
                                      <p:to>
                                        <p:strVal val="visible"/>
                                      </p:to>
                                    </p:set>
                                    <p:anim calcmode="lin" valueType="num">
                                      <p:cBhvr>
                                        <p:cTn id="13" dur="500" fill="hold"/>
                                        <p:tgtEl>
                                          <p:spTgt spid="54283"/>
                                        </p:tgtEl>
                                        <p:attrNameLst>
                                          <p:attrName>ppt_x</p:attrName>
                                        </p:attrNameLst>
                                      </p:cBhvr>
                                      <p:tavLst>
                                        <p:tav tm="0">
                                          <p:val>
                                            <p:strVal val="1+#ppt_w/2"/>
                                          </p:val>
                                        </p:tav>
                                        <p:tav tm="100000">
                                          <p:val>
                                            <p:strVal val="#ppt_x"/>
                                          </p:val>
                                        </p:tav>
                                      </p:tavLst>
                                    </p:anim>
                                    <p:anim calcmode="lin" valueType="num">
                                      <p:cBhvr>
                                        <p:cTn id="14" dur="500" fill="hold"/>
                                        <p:tgtEl>
                                          <p:spTgt spid="5428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4276"/>
                                        </p:tgtEl>
                                        <p:attrNameLst>
                                          <p:attrName>style.visibility</p:attrName>
                                        </p:attrNameLst>
                                      </p:cBhvr>
                                      <p:to>
                                        <p:strVal val="visible"/>
                                      </p:to>
                                    </p:set>
                                    <p:animEffect transition="in" filter="dissolve">
                                      <p:cBhvr>
                                        <p:cTn id="19" dur="500"/>
                                        <p:tgtEl>
                                          <p:spTgt spid="5427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54277"/>
                                        </p:tgtEl>
                                        <p:attrNameLst>
                                          <p:attrName>style.visibility</p:attrName>
                                        </p:attrNameLst>
                                      </p:cBhvr>
                                      <p:to>
                                        <p:strVal val="visible"/>
                                      </p:to>
                                    </p:set>
                                    <p:animEffect transition="in" filter="dissolve">
                                      <p:cBhvr>
                                        <p:cTn id="24" dur="500"/>
                                        <p:tgtEl>
                                          <p:spTgt spid="5427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4278"/>
                                        </p:tgtEl>
                                        <p:attrNameLst>
                                          <p:attrName>style.visibility</p:attrName>
                                        </p:attrNameLst>
                                      </p:cBhvr>
                                      <p:to>
                                        <p:strVal val="visible"/>
                                      </p:to>
                                    </p:set>
                                    <p:animEffect transition="in" filter="wipe(left)">
                                      <p:cBhvr>
                                        <p:cTn id="29" dur="500"/>
                                        <p:tgtEl>
                                          <p:spTgt spid="5427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4279"/>
                                        </p:tgtEl>
                                        <p:attrNameLst>
                                          <p:attrName>style.visibility</p:attrName>
                                        </p:attrNameLst>
                                      </p:cBhvr>
                                      <p:to>
                                        <p:strVal val="visible"/>
                                      </p:to>
                                    </p:set>
                                    <p:animEffect transition="in" filter="wipe(left)">
                                      <p:cBhvr>
                                        <p:cTn id="34" dur="500"/>
                                        <p:tgtEl>
                                          <p:spTgt spid="5427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4280"/>
                                        </p:tgtEl>
                                        <p:attrNameLst>
                                          <p:attrName>style.visibility</p:attrName>
                                        </p:attrNameLst>
                                      </p:cBhvr>
                                      <p:to>
                                        <p:strVal val="visible"/>
                                      </p:to>
                                    </p:set>
                                    <p:animEffect transition="in" filter="wipe(left)">
                                      <p:cBhvr>
                                        <p:cTn id="39" dur="500"/>
                                        <p:tgtEl>
                                          <p:spTgt spid="5428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4281"/>
                                        </p:tgtEl>
                                        <p:attrNameLst>
                                          <p:attrName>style.visibility</p:attrName>
                                        </p:attrNameLst>
                                      </p:cBhvr>
                                      <p:to>
                                        <p:strVal val="visible"/>
                                      </p:to>
                                    </p:set>
                                    <p:animEffect transition="in" filter="wipe(left)">
                                      <p:cBhvr>
                                        <p:cTn id="44" dur="500"/>
                                        <p:tgtEl>
                                          <p:spTgt spid="5428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4282"/>
                                        </p:tgtEl>
                                        <p:attrNameLst>
                                          <p:attrName>style.visibility</p:attrName>
                                        </p:attrNameLst>
                                      </p:cBhvr>
                                      <p:to>
                                        <p:strVal val="visible"/>
                                      </p:to>
                                    </p:set>
                                    <p:animEffect transition="in" filter="wipe(left)">
                                      <p:cBhvr>
                                        <p:cTn id="49" dur="500"/>
                                        <p:tgtEl>
                                          <p:spTgt spid="54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p:bldP spid="54277" grpId="0" animBg="1"/>
      <p:bldP spid="54278" grpId="0"/>
      <p:bldP spid="54279" grpId="0"/>
      <p:bldP spid="54280" grpId="0"/>
      <p:bldP spid="54281" grpId="0"/>
      <p:bldP spid="54282" grpId="0"/>
      <p:bldP spid="54283" grpId="0" animBg="1"/>
      <p:bldP spid="5428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ext Box 4"/>
          <p:cNvSpPr txBox="1"/>
          <p:nvPr/>
        </p:nvSpPr>
        <p:spPr>
          <a:xfrm>
            <a:off x="685800" y="228600"/>
            <a:ext cx="3287713" cy="579438"/>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有以下几种假设</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5301" name="Text Box 5"/>
          <p:cNvSpPr txBox="1"/>
          <p:nvPr/>
        </p:nvSpPr>
        <p:spPr>
          <a:xfrm>
            <a:off x="365125" y="838200"/>
            <a:ext cx="8778875" cy="1066800"/>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solidFill>
                  <a:srgbClr val="FF3300"/>
                </a:solidFill>
                <a:latin typeface="Times New Roman" panose="02020603050405020304" pitchFamily="18" charset="0"/>
                <a:ea typeface="宋体" panose="02010600030101010101" pitchFamily="2" charset="-122"/>
              </a:rPr>
              <a:t> </a:t>
            </a:r>
            <a:r>
              <a:rPr lang="en-US" altLang="zh-CN" sz="3200" b="1">
                <a:solidFill>
                  <a:srgbClr val="FF3300"/>
                </a:solidFill>
                <a:latin typeface="楷体_GB2312" pitchFamily="49" charset="-122"/>
                <a:ea typeface="楷体_GB2312" pitchFamily="49" charset="-122"/>
              </a:rPr>
              <a:t>*</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产卵是均匀地分布在整个四个月的期间内，</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从而孵化也是均匀进行</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a:latin typeface="楷体_GB2312" pitchFamily="49" charset="-122"/>
              <a:ea typeface="楷体_GB2312" pitchFamily="49" charset="-122"/>
            </a:endParaRPr>
          </a:p>
        </p:txBody>
      </p:sp>
      <p:sp>
        <p:nvSpPr>
          <p:cNvPr id="55302" name="Text Box 6"/>
          <p:cNvSpPr txBox="1"/>
          <p:nvPr/>
        </p:nvSpPr>
        <p:spPr>
          <a:xfrm>
            <a:off x="762000" y="1828800"/>
            <a:ext cx="7038975" cy="579438"/>
          </a:xfrm>
          <a:prstGeom prst="rect">
            <a:avLst/>
          </a:prstGeom>
          <a:noFill/>
          <a:ln w="9525">
            <a:noFill/>
          </a:ln>
        </p:spPr>
        <p:txBody>
          <a:bodyPr wrap="none" anchor="t">
            <a:spAutoFit/>
          </a:bodyPr>
          <a:p>
            <a:r>
              <a:rPr lang="en-US" altLang="zh-CN" sz="3200" b="1">
                <a:solidFill>
                  <a:srgbClr val="FF3300"/>
                </a:solidFill>
                <a:latin typeface="楷体_GB2312" pitchFamily="49" charset="-122"/>
                <a:ea typeface="楷体_GB2312" pitchFamily="49" charset="-122"/>
              </a:rPr>
              <a:t>*</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产卵时间服从方差很小的正态分布</a:t>
            </a:r>
            <a:r>
              <a:rPr lang="en-US" altLang="zh-CN" sz="3200" b="1">
                <a:latin typeface="楷体_GB2312" pitchFamily="49" charset="-122"/>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5303" name="Text Box 7"/>
          <p:cNvSpPr txBox="1"/>
          <p:nvPr/>
        </p:nvSpPr>
        <p:spPr>
          <a:xfrm>
            <a:off x="339725" y="2362200"/>
            <a:ext cx="8778875" cy="1066800"/>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en-US" altLang="zh-CN" sz="3200" b="1">
                <a:solidFill>
                  <a:srgbClr val="FF3300"/>
                </a:solidFill>
                <a:latin typeface="楷体_GB2312" pitchFamily="49" charset="-122"/>
                <a:ea typeface="楷体_GB2312" pitchFamily="49" charset="-122"/>
              </a:rPr>
              <a:t>*</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鱼群的个体在后四个月的第一天集中产卵，</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在最后一天孵化出来</a:t>
            </a:r>
            <a:r>
              <a:rPr lang="en-US" altLang="zh-CN" sz="3200" b="1">
                <a:latin typeface="楷体_GB2312" pitchFamily="49" charset="-122"/>
                <a:ea typeface="楷体_GB2312" pitchFamily="49" charset="-122"/>
              </a:rPr>
              <a:t>.</a:t>
            </a:r>
            <a:r>
              <a:rPr lang="en-US" altLang="zh-CN" sz="3200">
                <a:latin typeface="楷体_GB2312" pitchFamily="49" charset="-122"/>
                <a:ea typeface="楷体_GB2312" pitchFamily="49" charset="-122"/>
              </a:rPr>
              <a:t> </a:t>
            </a:r>
            <a:endParaRPr lang="en-US" altLang="zh-CN" sz="3200">
              <a:latin typeface="楷体_GB2312" pitchFamily="49" charset="-122"/>
              <a:ea typeface="楷体_GB2312" pitchFamily="49" charset="-122"/>
            </a:endParaRPr>
          </a:p>
        </p:txBody>
      </p:sp>
      <p:sp>
        <p:nvSpPr>
          <p:cNvPr id="55304" name="Text Box 8"/>
          <p:cNvSpPr txBox="1"/>
          <p:nvPr/>
        </p:nvSpPr>
        <p:spPr>
          <a:xfrm>
            <a:off x="4876800" y="2997200"/>
            <a:ext cx="3771900" cy="812800"/>
          </a:xfrm>
          <a:prstGeom prst="rect">
            <a:avLst/>
          </a:prstGeom>
          <a:gradFill rotWithShape="0">
            <a:gsLst>
              <a:gs pos="0">
                <a:srgbClr val="00185E"/>
              </a:gs>
              <a:gs pos="50000">
                <a:srgbClr val="0033CC"/>
              </a:gs>
              <a:gs pos="100000">
                <a:srgbClr val="00185E"/>
              </a:gs>
            </a:gsLst>
            <a:lin ang="5400000" scaled="1"/>
            <a:tileRect/>
          </a:gradFill>
          <a:ln w="38100" cap="flat" cmpd="sng">
            <a:solidFill>
              <a:schemeClr val="bg2"/>
            </a:solidFill>
            <a:prstDash val="solid"/>
            <a:miter/>
            <a:headEnd type="none" w="med" len="med"/>
            <a:tailEnd type="none" w="med" len="med"/>
          </a:ln>
        </p:spPr>
        <p:txBody>
          <a:bodyPr anchor="t">
            <a:spAutoFit/>
          </a:bodyPr>
          <a:p>
            <a:pPr>
              <a:lnSpc>
                <a:spcPct val="140000"/>
              </a:lnSpc>
            </a:pPr>
            <a:r>
              <a:rPr lang="zh-CN" altLang="en-US" sz="3200" b="1">
                <a:solidFill>
                  <a:srgbClr val="FFFFFF"/>
                </a:solidFill>
                <a:latin typeface="Times New Roman" panose="02020603050405020304" pitchFamily="18" charset="0"/>
                <a:ea typeface="楷体_GB2312" pitchFamily="49" charset="-122"/>
              </a:rPr>
              <a:t>哪一条“最好”？</a:t>
            </a:r>
            <a:endParaRPr lang="zh-CN" altLang="en-US" sz="3200" b="1">
              <a:solidFill>
                <a:srgbClr val="FFFFFF"/>
              </a:solidFill>
              <a:latin typeface="Times New Roman" panose="02020603050405020304" pitchFamily="18" charset="0"/>
              <a:ea typeface="楷体_GB2312" pitchFamily="49" charset="-122"/>
            </a:endParaRPr>
          </a:p>
        </p:txBody>
      </p:sp>
      <p:sp>
        <p:nvSpPr>
          <p:cNvPr id="55305" name="Text Box 9"/>
          <p:cNvSpPr txBox="1"/>
          <p:nvPr/>
        </p:nvSpPr>
        <p:spPr>
          <a:xfrm>
            <a:off x="533400" y="5486400"/>
            <a:ext cx="6632575" cy="1066800"/>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第三种与第二种没有本质的差别，</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处理较容易</a:t>
            </a:r>
            <a:r>
              <a:rPr lang="en-US" altLang="zh-CN" sz="3200" b="1">
                <a:latin typeface="Times New Roman" panose="02020603050405020304" pitchFamily="18" charset="0"/>
                <a:ea typeface="楷体_GB2312" pitchFamily="49" charset="-122"/>
              </a:rPr>
              <a:t>.</a:t>
            </a:r>
            <a:endParaRPr lang="en-US" altLang="zh-CN" sz="3200">
              <a:latin typeface="Times New Roman" panose="02020603050405020304" pitchFamily="18" charset="0"/>
              <a:ea typeface="楷体_GB2312" pitchFamily="49" charset="-122"/>
            </a:endParaRPr>
          </a:p>
        </p:txBody>
      </p:sp>
      <p:sp>
        <p:nvSpPr>
          <p:cNvPr id="55306" name="Text Box 10"/>
          <p:cNvSpPr txBox="1"/>
          <p:nvPr/>
        </p:nvSpPr>
        <p:spPr>
          <a:xfrm>
            <a:off x="457200" y="3429000"/>
            <a:ext cx="6734175" cy="1066800"/>
          </a:xfrm>
          <a:prstGeom prst="rect">
            <a:avLst/>
          </a:prstGeom>
          <a:noFill/>
          <a:ln w="9525">
            <a:noFill/>
          </a:ln>
        </p:spPr>
        <p:txBody>
          <a:bodyPr wrap="none" anchor="t">
            <a:spAutoFit/>
          </a:bodyPr>
          <a:p>
            <a:r>
              <a:rPr lang="zh-CN" altLang="en-US" sz="3200" b="1">
                <a:solidFill>
                  <a:srgbClr val="FF3300"/>
                </a:solidFill>
                <a:latin typeface="Times New Roman" panose="02020603050405020304" pitchFamily="18" charset="0"/>
                <a:ea typeface="楷体_GB2312" pitchFamily="49" charset="-122"/>
              </a:rPr>
              <a:t>分析：</a:t>
            </a:r>
            <a:endParaRPr lang="zh-CN" altLang="en-US" sz="3200" b="1">
              <a:solidFill>
                <a:srgbClr val="FF3300"/>
              </a:solidFill>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    第一种不符合鱼类的生物学实际；</a:t>
            </a:r>
            <a:endParaRPr lang="zh-CN" altLang="en-US" sz="3200" b="1">
              <a:latin typeface="Times New Roman" panose="02020603050405020304" pitchFamily="18" charset="0"/>
              <a:ea typeface="楷体_GB2312" pitchFamily="49" charset="-122"/>
            </a:endParaRPr>
          </a:p>
        </p:txBody>
      </p:sp>
      <p:sp>
        <p:nvSpPr>
          <p:cNvPr id="55307" name="Text Box 11"/>
          <p:cNvSpPr txBox="1"/>
          <p:nvPr/>
        </p:nvSpPr>
        <p:spPr>
          <a:xfrm>
            <a:off x="304800" y="4419600"/>
            <a:ext cx="8064500" cy="1066800"/>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第二种比较符合实际，但大大增加了解决</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问题的难度；</a:t>
            </a:r>
            <a:endParaRPr lang="zh-CN" altLang="en-US" sz="3200" b="1">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301"/>
                                        </p:tgtEl>
                                        <p:attrNameLst>
                                          <p:attrName>style.visibility</p:attrName>
                                        </p:attrNameLst>
                                      </p:cBhvr>
                                      <p:to>
                                        <p:strVal val="visible"/>
                                      </p:to>
                                    </p:set>
                                    <p:animEffect transition="in" filter="wipe(up)">
                                      <p:cBhvr>
                                        <p:cTn id="7" dur="500"/>
                                        <p:tgtEl>
                                          <p:spTgt spid="553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302"/>
                                        </p:tgtEl>
                                        <p:attrNameLst>
                                          <p:attrName>style.visibility</p:attrName>
                                        </p:attrNameLst>
                                      </p:cBhvr>
                                      <p:to>
                                        <p:strVal val="visible"/>
                                      </p:to>
                                    </p:set>
                                    <p:animEffect transition="in" filter="wipe(up)">
                                      <p:cBhvr>
                                        <p:cTn id="12" dur="500"/>
                                        <p:tgtEl>
                                          <p:spTgt spid="553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303"/>
                                        </p:tgtEl>
                                        <p:attrNameLst>
                                          <p:attrName>style.visibility</p:attrName>
                                        </p:attrNameLst>
                                      </p:cBhvr>
                                      <p:to>
                                        <p:strVal val="visible"/>
                                      </p:to>
                                    </p:set>
                                    <p:animEffect transition="in" filter="wipe(up)">
                                      <p:cBhvr>
                                        <p:cTn id="17" dur="500"/>
                                        <p:tgtEl>
                                          <p:spTgt spid="553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5304"/>
                                        </p:tgtEl>
                                        <p:attrNameLst>
                                          <p:attrName>style.visibility</p:attrName>
                                        </p:attrNameLst>
                                      </p:cBhvr>
                                      <p:to>
                                        <p:strVal val="visible"/>
                                      </p:to>
                                    </p:set>
                                    <p:animEffect transition="in" filter="wipe(up)">
                                      <p:cBhvr>
                                        <p:cTn id="22" dur="500"/>
                                        <p:tgtEl>
                                          <p:spTgt spid="553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5306"/>
                                        </p:tgtEl>
                                        <p:attrNameLst>
                                          <p:attrName>style.visibility</p:attrName>
                                        </p:attrNameLst>
                                      </p:cBhvr>
                                      <p:to>
                                        <p:strVal val="visible"/>
                                      </p:to>
                                    </p:set>
                                    <p:animEffect transition="in" filter="wipe(up)">
                                      <p:cBhvr>
                                        <p:cTn id="27" dur="500"/>
                                        <p:tgtEl>
                                          <p:spTgt spid="5530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5307"/>
                                        </p:tgtEl>
                                        <p:attrNameLst>
                                          <p:attrName>style.visibility</p:attrName>
                                        </p:attrNameLst>
                                      </p:cBhvr>
                                      <p:to>
                                        <p:strVal val="visible"/>
                                      </p:to>
                                    </p:set>
                                    <p:animEffect transition="in" filter="wipe(up)">
                                      <p:cBhvr>
                                        <p:cTn id="32" dur="500"/>
                                        <p:tgtEl>
                                          <p:spTgt spid="5530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5305"/>
                                        </p:tgtEl>
                                        <p:attrNameLst>
                                          <p:attrName>style.visibility</p:attrName>
                                        </p:attrNameLst>
                                      </p:cBhvr>
                                      <p:to>
                                        <p:strVal val="visible"/>
                                      </p:to>
                                    </p:set>
                                    <p:animEffect transition="in" filter="wipe(up)">
                                      <p:cBhvr>
                                        <p:cTn id="37" dur="500"/>
                                        <p:tgtEl>
                                          <p:spTgt spid="55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p:bldP spid="55302" grpId="0"/>
      <p:bldP spid="55303" grpId="0"/>
      <p:bldP spid="55304" grpId="0" animBg="1"/>
      <p:bldP spid="55305" grpId="0"/>
      <p:bldP spid="55306" grpId="0"/>
      <p:bldP spid="5530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4" name="Text Box 4"/>
          <p:cNvSpPr txBox="1"/>
          <p:nvPr/>
        </p:nvSpPr>
        <p:spPr>
          <a:xfrm>
            <a:off x="457200" y="381000"/>
            <a:ext cx="4829175" cy="763588"/>
          </a:xfrm>
          <a:prstGeom prst="rect">
            <a:avLst/>
          </a:prstGeom>
          <a:gradFill rotWithShape="0">
            <a:gsLst>
              <a:gs pos="0">
                <a:srgbClr val="800000"/>
              </a:gs>
              <a:gs pos="50000">
                <a:srgbClr val="3B0000"/>
              </a:gs>
              <a:gs pos="100000">
                <a:srgbClr val="800000"/>
              </a:gs>
            </a:gsLst>
            <a:lin ang="5400000" scaled="1"/>
            <a:tileRect/>
          </a:gradFill>
          <a:ln w="38100" cap="flat" cmpd="sng">
            <a:solidFill>
              <a:srgbClr val="FFFFFF"/>
            </a:solidFill>
            <a:prstDash val="solid"/>
            <a:miter/>
            <a:headEnd type="none" w="med" len="med"/>
            <a:tailEnd type="none" w="med" len="med"/>
          </a:ln>
        </p:spPr>
        <p:txBody>
          <a:bodyPr wrap="none" anchor="t">
            <a:spAutoFit/>
          </a:bodyPr>
          <a:p>
            <a:pPr>
              <a:lnSpc>
                <a:spcPct val="130000"/>
              </a:lnSpc>
            </a:pPr>
            <a:r>
              <a:rPr lang="zh-CN" altLang="en-US" sz="3200" b="1">
                <a:solidFill>
                  <a:srgbClr val="FFFFFF"/>
                </a:solidFill>
                <a:latin typeface="Times New Roman" panose="02020603050405020304" pitchFamily="18" charset="0"/>
                <a:ea typeface="楷体_GB2312" pitchFamily="49" charset="-122"/>
              </a:rPr>
              <a:t>假设起到简化问题的作用</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
        <p:nvSpPr>
          <p:cNvPr id="56325" name="Text Box 5"/>
          <p:cNvSpPr txBox="1"/>
          <p:nvPr/>
        </p:nvSpPr>
        <p:spPr>
          <a:xfrm>
            <a:off x="228600" y="1143000"/>
            <a:ext cx="8778875" cy="1066800"/>
          </a:xfrm>
          <a:prstGeom prst="rect">
            <a:avLst/>
          </a:prstGeom>
          <a:noFill/>
          <a:ln w="9525">
            <a:noFill/>
          </a:ln>
        </p:spPr>
        <p:txBody>
          <a:bodyPr wrap="none" anchor="t">
            <a:spAutoFit/>
          </a:bodyPr>
          <a:p>
            <a:r>
              <a:rPr lang="en-US" altLang="zh-CN" sz="3200" b="1">
                <a:latin typeface="Times New Roman" panose="02020603050405020304" pitchFamily="18" charset="0"/>
                <a:ea typeface="宋体" panose="02010600030101010101" pitchFamily="2" charset="-122"/>
              </a:rPr>
              <a:t>      </a:t>
            </a:r>
            <a:r>
              <a:rPr lang="zh-CN" altLang="en-US" sz="3200" b="1">
                <a:latin typeface="楷体_GB2312" pitchFamily="49" charset="-122"/>
                <a:ea typeface="楷体_GB2312" pitchFamily="49" charset="-122"/>
              </a:rPr>
              <a:t>假设</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渔场是非开放式的，不与其它水域发生</a:t>
            </a:r>
            <a:endParaRPr lang="zh-CN" altLang="en-US" sz="3200" b="1">
              <a:latin typeface="楷体_GB2312" pitchFamily="49" charset="-122"/>
              <a:ea typeface="楷体_GB2312" pitchFamily="49" charset="-122"/>
            </a:endParaRPr>
          </a:p>
          <a:p>
            <a:r>
              <a:rPr lang="zh-CN" altLang="en-US" sz="3200" b="1">
                <a:latin typeface="楷体_GB2312" pitchFamily="49" charset="-122"/>
                <a:ea typeface="楷体_GB2312" pitchFamily="49" charset="-122"/>
              </a:rPr>
              <a:t>关系，从而构成独立的生态群落</a:t>
            </a:r>
            <a:r>
              <a:rPr lang="zh-CN" altLang="en-US" sz="3200" b="1">
                <a:latin typeface="Times New Roman" panose="02020603050405020304" pitchFamily="18" charset="0"/>
                <a:ea typeface="楷体_GB2312" pitchFamily="49" charset="-122"/>
              </a:rPr>
              <a:t>”</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56326" name="Text Box 6"/>
          <p:cNvSpPr txBox="1"/>
          <p:nvPr/>
        </p:nvSpPr>
        <p:spPr>
          <a:xfrm>
            <a:off x="762000" y="2239963"/>
            <a:ext cx="7759700" cy="579437"/>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将建立的数学模型限定在一定的适用范围</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6327" name="Text Box 7"/>
          <p:cNvSpPr txBox="1"/>
          <p:nvPr/>
        </p:nvSpPr>
        <p:spPr>
          <a:xfrm>
            <a:off x="381000" y="2932113"/>
            <a:ext cx="4724400" cy="763587"/>
          </a:xfrm>
          <a:prstGeom prst="rect">
            <a:avLst/>
          </a:prstGeom>
          <a:gradFill rotWithShape="0">
            <a:gsLst>
              <a:gs pos="0">
                <a:srgbClr val="800000"/>
              </a:gs>
              <a:gs pos="50000">
                <a:srgbClr val="3B0000"/>
              </a:gs>
              <a:gs pos="100000">
                <a:srgbClr val="800000"/>
              </a:gs>
            </a:gsLst>
            <a:lin ang="5400000" scaled="1"/>
            <a:tileRect/>
          </a:gradFill>
          <a:ln w="38100" cap="flat" cmpd="sng">
            <a:solidFill>
              <a:schemeClr val="accent2"/>
            </a:solidFill>
            <a:prstDash val="solid"/>
            <a:miter/>
            <a:headEnd type="none" w="med" len="med"/>
            <a:tailEnd type="none" w="med" len="med"/>
          </a:ln>
        </p:spPr>
        <p:txBody>
          <a:bodyPr anchor="t">
            <a:spAutoFit/>
          </a:bodyPr>
          <a:p>
            <a:pPr>
              <a:lnSpc>
                <a:spcPct val="130000"/>
              </a:lnSpc>
            </a:pPr>
            <a:r>
              <a:rPr lang="zh-CN" altLang="en-US" sz="3200" b="1">
                <a:solidFill>
                  <a:srgbClr val="FFFFFF"/>
                </a:solidFill>
                <a:latin typeface="Times New Roman" panose="02020603050405020304" pitchFamily="18" charset="0"/>
                <a:ea typeface="楷体_GB2312" pitchFamily="49" charset="-122"/>
              </a:rPr>
              <a:t>设计假设应遵循的原则</a:t>
            </a:r>
            <a:endParaRPr lang="zh-CN" altLang="en-US" sz="3200">
              <a:latin typeface="Times New Roman" panose="02020603050405020304" pitchFamily="18" charset="0"/>
              <a:ea typeface="楷体_GB2312" pitchFamily="49" charset="-122"/>
            </a:endParaRPr>
          </a:p>
        </p:txBody>
      </p:sp>
      <p:sp>
        <p:nvSpPr>
          <p:cNvPr id="56328" name="Text Box 8"/>
          <p:cNvSpPr txBox="1"/>
          <p:nvPr/>
        </p:nvSpPr>
        <p:spPr>
          <a:xfrm>
            <a:off x="323850" y="3733800"/>
            <a:ext cx="8820150" cy="1066800"/>
          </a:xfrm>
          <a:prstGeom prst="rect">
            <a:avLst/>
          </a:prstGeom>
          <a:noFill/>
          <a:ln w="9525">
            <a:noFill/>
          </a:ln>
        </p:spPr>
        <p:txBody>
          <a:bodyPr anchor="t">
            <a:spAutoFit/>
          </a:bodyPr>
          <a:p>
            <a:r>
              <a:rPr lang="en-US" altLang="zh-CN" sz="3200" b="1">
                <a:latin typeface="楷体_GB2312" pitchFamily="49" charset="-122"/>
                <a:ea typeface="楷体_GB2312" pitchFamily="49" charset="-122"/>
              </a:rPr>
              <a:t>   </a:t>
            </a:r>
            <a:r>
              <a:rPr lang="en-US" altLang="zh-CN" sz="3200" b="1">
                <a:solidFill>
                  <a:srgbClr val="FF3300"/>
                </a:solidFill>
                <a:latin typeface="楷体_GB2312" pitchFamily="49" charset="-122"/>
                <a:ea typeface="楷体_GB2312" pitchFamily="49" charset="-122"/>
              </a:rPr>
              <a:t>*</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假设应是有依据的，基于对问题内在规律的认识和对数据及现象的分析；</a:t>
            </a:r>
            <a:r>
              <a:rPr lang="zh-CN" altLang="en-US" sz="3200">
                <a:latin typeface="楷体_GB2312" pitchFamily="49" charset="-122"/>
                <a:ea typeface="楷体_GB2312" pitchFamily="49" charset="-122"/>
              </a:rPr>
              <a:t> </a:t>
            </a:r>
            <a:endParaRPr lang="zh-CN" altLang="en-US" sz="3200">
              <a:latin typeface="楷体_GB2312" pitchFamily="49" charset="-122"/>
              <a:ea typeface="楷体_GB2312" pitchFamily="49" charset="-122"/>
            </a:endParaRPr>
          </a:p>
        </p:txBody>
      </p:sp>
      <p:sp>
        <p:nvSpPr>
          <p:cNvPr id="56329" name="Text Box 9"/>
          <p:cNvSpPr txBox="1"/>
          <p:nvPr/>
        </p:nvSpPr>
        <p:spPr>
          <a:xfrm>
            <a:off x="533400" y="4876800"/>
            <a:ext cx="8267700" cy="1066800"/>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en-US" altLang="zh-CN" sz="3200" b="1">
                <a:solidFill>
                  <a:srgbClr val="FF3300"/>
                </a:solidFill>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善于辨别问题的主次，抓主要因素，尽量</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使问题简化</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6330" name="Text Box 10"/>
          <p:cNvSpPr txBox="1"/>
          <p:nvPr/>
        </p:nvSpPr>
        <p:spPr>
          <a:xfrm>
            <a:off x="685800" y="5821363"/>
            <a:ext cx="7038975" cy="579437"/>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en-US" altLang="zh-CN" sz="3200" b="1">
                <a:solidFill>
                  <a:srgbClr val="FF3300"/>
                </a:solidFill>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避免过于简单、过于详细或不合理</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6324"/>
                                        </p:tgtEl>
                                        <p:attrNameLst>
                                          <p:attrName>style.visibility</p:attrName>
                                        </p:attrNameLst>
                                      </p:cBhvr>
                                      <p:to>
                                        <p:strVal val="visible"/>
                                      </p:to>
                                    </p:set>
                                    <p:anim calcmode="lin" valueType="num">
                                      <p:cBhvr>
                                        <p:cTn id="7" dur="500" fill="hold"/>
                                        <p:tgtEl>
                                          <p:spTgt spid="56324"/>
                                        </p:tgtEl>
                                        <p:attrNameLst>
                                          <p:attrName>ppt_w</p:attrName>
                                        </p:attrNameLst>
                                      </p:cBhvr>
                                      <p:tavLst>
                                        <p:tav tm="0">
                                          <p:val>
                                            <p:fltVal val="0.000000"/>
                                          </p:val>
                                        </p:tav>
                                        <p:tav tm="100000">
                                          <p:val>
                                            <p:strVal val="#ppt_w"/>
                                          </p:val>
                                        </p:tav>
                                      </p:tavLst>
                                    </p:anim>
                                    <p:anim calcmode="lin" valueType="num">
                                      <p:cBhvr>
                                        <p:cTn id="8" dur="500" fill="hold"/>
                                        <p:tgtEl>
                                          <p:spTgt spid="56324"/>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6325"/>
                                        </p:tgtEl>
                                        <p:attrNameLst>
                                          <p:attrName>style.visibility</p:attrName>
                                        </p:attrNameLst>
                                      </p:cBhvr>
                                      <p:to>
                                        <p:strVal val="visible"/>
                                      </p:to>
                                    </p:set>
                                    <p:animEffect transition="in" filter="wipe(left)">
                                      <p:cBhvr>
                                        <p:cTn id="13" dur="500"/>
                                        <p:tgtEl>
                                          <p:spTgt spid="5632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6326"/>
                                        </p:tgtEl>
                                        <p:attrNameLst>
                                          <p:attrName>style.visibility</p:attrName>
                                        </p:attrNameLst>
                                      </p:cBhvr>
                                      <p:to>
                                        <p:strVal val="visible"/>
                                      </p:to>
                                    </p:set>
                                    <p:animEffect transition="in" filter="wipe(left)">
                                      <p:cBhvr>
                                        <p:cTn id="18" dur="500"/>
                                        <p:tgtEl>
                                          <p:spTgt spid="56326"/>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grpId="0" nodeType="clickEffect">
                                  <p:stCondLst>
                                    <p:cond delay="0"/>
                                  </p:stCondLst>
                                  <p:iterate type="wd">
                                    <p:tmPct val="100000"/>
                                  </p:iterate>
                                  <p:childTnLst>
                                    <p:set>
                                      <p:cBhvr>
                                        <p:cTn id="22" dur="1" fill="hold">
                                          <p:stCondLst>
                                            <p:cond delay="0"/>
                                          </p:stCondLst>
                                        </p:cTn>
                                        <p:tgtEl>
                                          <p:spTgt spid="56327"/>
                                        </p:tgtEl>
                                        <p:attrNameLst>
                                          <p:attrName>style.visibility</p:attrName>
                                        </p:attrNameLst>
                                      </p:cBhvr>
                                      <p:to>
                                        <p:strVal val="visible"/>
                                      </p:to>
                                    </p:set>
                                    <p:animEffect transition="in" filter="barn(inHorizontal)">
                                      <p:cBhvr>
                                        <p:cTn id="23" dur="300"/>
                                        <p:tgtEl>
                                          <p:spTgt spid="5632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6328"/>
                                        </p:tgtEl>
                                        <p:attrNameLst>
                                          <p:attrName>style.visibility</p:attrName>
                                        </p:attrNameLst>
                                      </p:cBhvr>
                                      <p:to>
                                        <p:strVal val="visible"/>
                                      </p:to>
                                    </p:set>
                                    <p:animEffect transition="in" filter="wipe(left)">
                                      <p:cBhvr>
                                        <p:cTn id="28" dur="500"/>
                                        <p:tgtEl>
                                          <p:spTgt spid="5632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6329"/>
                                        </p:tgtEl>
                                        <p:attrNameLst>
                                          <p:attrName>style.visibility</p:attrName>
                                        </p:attrNameLst>
                                      </p:cBhvr>
                                      <p:to>
                                        <p:strVal val="visible"/>
                                      </p:to>
                                    </p:set>
                                    <p:animEffect transition="in" filter="wipe(left)">
                                      <p:cBhvr>
                                        <p:cTn id="33" dur="500"/>
                                        <p:tgtEl>
                                          <p:spTgt spid="5632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56330"/>
                                        </p:tgtEl>
                                        <p:attrNameLst>
                                          <p:attrName>style.visibility</p:attrName>
                                        </p:attrNameLst>
                                      </p:cBhvr>
                                      <p:to>
                                        <p:strVal val="visible"/>
                                      </p:to>
                                    </p:set>
                                    <p:animEffect transition="in" filter="wipe(left)">
                                      <p:cBhvr>
                                        <p:cTn id="38" dur="500"/>
                                        <p:tgtEl>
                                          <p:spTgt spid="56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animBg="1"/>
      <p:bldP spid="56325" grpId="0"/>
      <p:bldP spid="56326" grpId="0"/>
      <p:bldP spid="56327" grpId="0" animBg="1"/>
      <p:bldP spid="56328" grpId="0"/>
      <p:bldP spid="56329" grpId="0"/>
      <p:bldP spid="563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8" name="Text Box 4"/>
          <p:cNvSpPr txBox="1"/>
          <p:nvPr/>
        </p:nvSpPr>
        <p:spPr>
          <a:xfrm>
            <a:off x="241300" y="1143000"/>
            <a:ext cx="8877300" cy="1651000"/>
          </a:xfrm>
          <a:prstGeom prst="rect">
            <a:avLst/>
          </a:prstGeom>
          <a:noFill/>
          <a:ln w="9525">
            <a:noFill/>
          </a:ln>
        </p:spPr>
        <p:txBody>
          <a:bodyPr wrap="none" anchor="t">
            <a:spAutoFit/>
          </a:bodyPr>
          <a:p>
            <a:r>
              <a:rPr lang="en-US" altLang="zh-CN" sz="3200" b="1">
                <a:solidFill>
                  <a:srgbClr val="FF3300"/>
                </a:solidFill>
                <a:latin typeface="Times New Roman" panose="02020603050405020304" pitchFamily="18" charset="0"/>
                <a:ea typeface="楷体_GB2312" pitchFamily="49" charset="-122"/>
              </a:rPr>
              <a:t>    </a:t>
            </a:r>
            <a:r>
              <a:rPr lang="zh-CN" altLang="en-US" sz="3200" b="1">
                <a:solidFill>
                  <a:srgbClr val="FF3300"/>
                </a:solidFill>
                <a:latin typeface="Times New Roman" panose="02020603050405020304" pitchFamily="18" charset="0"/>
                <a:ea typeface="楷体_GB2312" pitchFamily="49" charset="-122"/>
              </a:rPr>
              <a:t>例</a:t>
            </a:r>
            <a:r>
              <a:rPr lang="en-US" altLang="zh-CN" sz="3200" b="1">
                <a:solidFill>
                  <a:srgbClr val="FF3300"/>
                </a:solidFill>
                <a:latin typeface="Times New Roman" panose="02020603050405020304" pitchFamily="18" charset="0"/>
                <a:ea typeface="楷体_GB2312" pitchFamily="49" charset="-122"/>
              </a:rPr>
              <a:t>4</a:t>
            </a:r>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渔业管理问题中有条件：“平均每条</a:t>
            </a:r>
            <a:endParaRPr lang="zh-CN" altLang="en-US" sz="3200" b="1">
              <a:latin typeface="Times New Roman" panose="02020603050405020304" pitchFamily="18" charset="0"/>
              <a:ea typeface="楷体_GB2312" pitchFamily="49" charset="-122"/>
            </a:endParaRPr>
          </a:p>
          <a:p>
            <a:pPr>
              <a:lnSpc>
                <a:spcPct val="120000"/>
              </a:lnSpc>
            </a:pPr>
            <a:r>
              <a:rPr lang="en-US" altLang="zh-CN" sz="3200" b="1">
                <a:latin typeface="Times New Roman" panose="02020603050405020304" pitchFamily="18" charset="0"/>
                <a:ea typeface="楷体_GB2312" pitchFamily="49" charset="-122"/>
              </a:rPr>
              <a:t>4 </a:t>
            </a:r>
            <a:r>
              <a:rPr lang="zh-CN" altLang="en-US" sz="3200" b="1">
                <a:latin typeface="Times New Roman" panose="02020603050405020304" pitchFamily="18" charset="0"/>
                <a:ea typeface="楷体_GB2312" pitchFamily="49" charset="-122"/>
              </a:rPr>
              <a:t>龄鱼的产卵量为</a:t>
            </a:r>
            <a:r>
              <a:rPr lang="en-US" altLang="zh-CN" sz="3200" b="1">
                <a:latin typeface="Times New Roman" panose="02020603050405020304" pitchFamily="18" charset="0"/>
                <a:ea typeface="楷体_GB2312" pitchFamily="49" charset="-122"/>
              </a:rPr>
              <a:t>1.109×10</a:t>
            </a:r>
            <a:r>
              <a:rPr lang="en-US" altLang="zh-CN" sz="3200" b="1" baseline="30000">
                <a:latin typeface="Times New Roman" panose="02020603050405020304" pitchFamily="18" charset="0"/>
                <a:ea typeface="楷体_GB2312" pitchFamily="49" charset="-122"/>
              </a:rPr>
              <a:t>5</a:t>
            </a:r>
            <a:r>
              <a:rPr lang="zh-CN" altLang="en-US" sz="3200" b="1">
                <a:latin typeface="Times New Roman" panose="02020603050405020304" pitchFamily="18" charset="0"/>
                <a:ea typeface="楷体_GB2312" pitchFamily="49" charset="-122"/>
              </a:rPr>
              <a:t>个，</a:t>
            </a:r>
            <a:r>
              <a:rPr lang="en-US" altLang="zh-CN" sz="3200" b="1">
                <a:latin typeface="Times New Roman" panose="02020603050405020304" pitchFamily="18" charset="0"/>
                <a:ea typeface="楷体_GB2312" pitchFamily="49" charset="-122"/>
              </a:rPr>
              <a:t>3  </a:t>
            </a:r>
            <a:r>
              <a:rPr lang="zh-CN" altLang="en-US" sz="3200" b="1">
                <a:latin typeface="Times New Roman" panose="02020603050405020304" pitchFamily="18" charset="0"/>
                <a:ea typeface="楷体_GB2312" pitchFamily="49" charset="-122"/>
              </a:rPr>
              <a:t>龄鱼的产卵量</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为这个数的一半，</a:t>
            </a:r>
            <a:r>
              <a:rPr lang="en-US" altLang="zh-CN" sz="3200" b="1">
                <a:latin typeface="Times New Roman" panose="02020603050405020304" pitchFamily="18" charset="0"/>
                <a:ea typeface="楷体_GB2312" pitchFamily="49" charset="-122"/>
              </a:rPr>
              <a:t>2 </a:t>
            </a:r>
            <a:r>
              <a:rPr lang="zh-CN" altLang="en-US" sz="3200" b="1">
                <a:latin typeface="Times New Roman" panose="02020603050405020304" pitchFamily="18" charset="0"/>
                <a:ea typeface="楷体_GB2312" pitchFamily="49" charset="-122"/>
              </a:rPr>
              <a:t>龄鱼和</a:t>
            </a:r>
            <a:r>
              <a:rPr lang="en-US" altLang="zh-CN" sz="3200" b="1">
                <a:latin typeface="Times New Roman" panose="02020603050405020304" pitchFamily="18" charset="0"/>
                <a:ea typeface="楷体_GB2312" pitchFamily="49" charset="-122"/>
              </a:rPr>
              <a:t>1 </a:t>
            </a:r>
            <a:r>
              <a:rPr lang="zh-CN" altLang="en-US" sz="3200" b="1">
                <a:latin typeface="Times New Roman" panose="02020603050405020304" pitchFamily="18" charset="0"/>
                <a:ea typeface="楷体_GB2312" pitchFamily="49" charset="-122"/>
              </a:rPr>
              <a:t>龄鱼不产卵”</a:t>
            </a:r>
            <a:r>
              <a:rPr lang="en-US" altLang="zh-CN" sz="3200" b="1">
                <a:latin typeface="Times New Roman" panose="02020603050405020304" pitchFamily="18" charset="0"/>
                <a:ea typeface="楷体_GB2312" pitchFamily="49" charset="-122"/>
              </a:rPr>
              <a:t>.</a:t>
            </a:r>
            <a:endParaRPr lang="en-US" altLang="zh-CN" sz="3200">
              <a:latin typeface="Times New Roman" panose="02020603050405020304" pitchFamily="18" charset="0"/>
              <a:ea typeface="楷体_GB2312" pitchFamily="49" charset="-122"/>
            </a:endParaRPr>
          </a:p>
        </p:txBody>
      </p:sp>
      <p:sp>
        <p:nvSpPr>
          <p:cNvPr id="57349" name="Text Box 5"/>
          <p:cNvSpPr txBox="1"/>
          <p:nvPr/>
        </p:nvSpPr>
        <p:spPr>
          <a:xfrm>
            <a:off x="488950" y="2773363"/>
            <a:ext cx="8578850" cy="579437"/>
          </a:xfrm>
          <a:prstGeom prst="rect">
            <a:avLst/>
          </a:prstGeom>
          <a:noFill/>
          <a:ln w="9525">
            <a:noFill/>
          </a:ln>
        </p:spPr>
        <p:txBody>
          <a:bodyPr wrap="none" anchor="t">
            <a:spAutoFit/>
          </a:bodyPr>
          <a:p>
            <a:r>
              <a:rPr lang="zh-CN" altLang="en-US" sz="3200" b="1">
                <a:solidFill>
                  <a:srgbClr val="FF3300"/>
                </a:solidFill>
                <a:latin typeface="Times New Roman" panose="02020603050405020304" pitchFamily="18" charset="0"/>
                <a:ea typeface="楷体_GB2312" pitchFamily="49" charset="-122"/>
              </a:rPr>
              <a:t>分析</a:t>
            </a:r>
            <a:r>
              <a:rPr lang="zh-CN" altLang="en-US" sz="3200" b="1">
                <a:latin typeface="Times New Roman" panose="02020603050405020304" pitchFamily="18" charset="0"/>
                <a:ea typeface="楷体_GB2312" pitchFamily="49" charset="-122"/>
              </a:rPr>
              <a:t>：为了计算鱼群的产卵量，需明确此条件</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57350" name="Text Box 6"/>
          <p:cNvSpPr txBox="1"/>
          <p:nvPr/>
        </p:nvSpPr>
        <p:spPr>
          <a:xfrm>
            <a:off x="152400" y="4522788"/>
            <a:ext cx="8782050" cy="1116012"/>
          </a:xfrm>
          <a:prstGeom prst="rect">
            <a:avLst/>
          </a:prstGeom>
          <a:noFill/>
          <a:ln w="9525">
            <a:noFill/>
          </a:ln>
        </p:spPr>
        <p:txBody>
          <a:bodyPr wrap="none" anchor="t">
            <a:spAutoFit/>
          </a:bodyPr>
          <a:p>
            <a:r>
              <a:rPr lang="en-US" altLang="zh-CN" sz="3200" b="1">
                <a:latin typeface="楷体_GB2312" pitchFamily="49" charset="-122"/>
                <a:ea typeface="楷体_GB2312" pitchFamily="49" charset="-122"/>
              </a:rPr>
              <a:t> </a:t>
            </a:r>
            <a:r>
              <a:rPr lang="en-US" altLang="zh-CN" sz="3200" b="1">
                <a:solidFill>
                  <a:srgbClr val="FF3300"/>
                </a:solidFill>
                <a:latin typeface="楷体_GB2312" pitchFamily="49" charset="-122"/>
                <a:ea typeface="楷体_GB2312" pitchFamily="49" charset="-122"/>
              </a:rPr>
              <a:t>*</a:t>
            </a:r>
            <a:r>
              <a:rPr lang="en-US" altLang="zh-CN" sz="3200" b="1">
                <a:latin typeface="楷体_GB2312" pitchFamily="49" charset="-122"/>
                <a:ea typeface="楷体_GB2312" pitchFamily="49" charset="-122"/>
              </a:rPr>
              <a:t> </a:t>
            </a:r>
            <a:r>
              <a:rPr lang="en-US" altLang="zh-CN"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平均每条鱼的产卵量</a:t>
            </a:r>
            <a:r>
              <a:rPr lang="zh-CN" altLang="en-US" sz="3200" b="1">
                <a:latin typeface="Times New Roman" panose="02020603050405020304" pitchFamily="18" charset="0"/>
                <a:ea typeface="楷体_GB2312" pitchFamily="49" charset="-122"/>
              </a:rPr>
              <a:t>”</a:t>
            </a:r>
            <a:r>
              <a:rPr lang="zh-CN" altLang="en-US" sz="3200" b="1">
                <a:latin typeface="楷体_GB2312" pitchFamily="49" charset="-122"/>
                <a:ea typeface="楷体_GB2312" pitchFamily="49" charset="-122"/>
              </a:rPr>
              <a:t>理解为对所有鱼的</a:t>
            </a:r>
            <a:endParaRPr lang="zh-CN" altLang="en-US" sz="3200" b="1">
              <a:latin typeface="楷体_GB2312" pitchFamily="49" charset="-122"/>
              <a:ea typeface="楷体_GB2312" pitchFamily="49" charset="-122"/>
            </a:endParaRPr>
          </a:p>
          <a:p>
            <a:pPr>
              <a:lnSpc>
                <a:spcPct val="110000"/>
              </a:lnSpc>
            </a:pPr>
            <a:r>
              <a:rPr lang="zh-CN" altLang="en-US" sz="3200" b="1">
                <a:latin typeface="楷体_GB2312" pitchFamily="49" charset="-122"/>
                <a:ea typeface="楷体_GB2312" pitchFamily="49" charset="-122"/>
              </a:rPr>
              <a:t>平均， 故在计算总产卵量时，不考虑雌雄区别</a:t>
            </a:r>
            <a:r>
              <a:rPr lang="en-US" altLang="zh-CN" sz="3200" b="1">
                <a:latin typeface="楷体_GB2312" pitchFamily="49" charset="-122"/>
                <a:ea typeface="楷体_GB2312" pitchFamily="49" charset="-122"/>
              </a:rPr>
              <a:t>.</a:t>
            </a:r>
            <a:endParaRPr lang="en-US" altLang="zh-CN" sz="3200">
              <a:latin typeface="楷体_GB2312" pitchFamily="49" charset="-122"/>
              <a:ea typeface="楷体_GB2312" pitchFamily="49" charset="-122"/>
            </a:endParaRPr>
          </a:p>
        </p:txBody>
      </p:sp>
      <p:sp>
        <p:nvSpPr>
          <p:cNvPr id="57351" name="Text Box 7"/>
          <p:cNvSpPr txBox="1"/>
          <p:nvPr/>
        </p:nvSpPr>
        <p:spPr>
          <a:xfrm>
            <a:off x="228600" y="3306763"/>
            <a:ext cx="2641600" cy="579437"/>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有两种假设：</a:t>
            </a:r>
            <a:endParaRPr lang="zh-CN" altLang="en-US" sz="3200" b="1">
              <a:latin typeface="Times New Roman" panose="02020603050405020304" pitchFamily="18" charset="0"/>
              <a:ea typeface="楷体_GB2312" pitchFamily="49" charset="-122"/>
            </a:endParaRPr>
          </a:p>
        </p:txBody>
      </p:sp>
      <p:sp>
        <p:nvSpPr>
          <p:cNvPr id="57352" name="Text Box 8"/>
          <p:cNvSpPr txBox="1"/>
          <p:nvPr/>
        </p:nvSpPr>
        <p:spPr>
          <a:xfrm>
            <a:off x="355600" y="3992563"/>
            <a:ext cx="4408488" cy="579437"/>
          </a:xfrm>
          <a:prstGeom prst="rect">
            <a:avLst/>
          </a:prstGeom>
          <a:noFill/>
          <a:ln w="9525">
            <a:noFill/>
          </a:ln>
        </p:spPr>
        <p:txBody>
          <a:bodyPr wrap="none" anchor="t">
            <a:spAutoFit/>
          </a:bodyPr>
          <a:p>
            <a:r>
              <a:rPr lang="en-US" altLang="zh-CN" sz="3200" b="1">
                <a:solidFill>
                  <a:srgbClr val="FF3300"/>
                </a:solidFill>
                <a:latin typeface="楷体_GB2312" pitchFamily="49" charset="-122"/>
                <a:ea typeface="楷体_GB2312" pitchFamily="49" charset="-122"/>
              </a:rPr>
              <a:t>*</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雌雄鱼的比例是</a:t>
            </a:r>
            <a:r>
              <a:rPr lang="en-US" altLang="zh-CN" sz="3200" b="1">
                <a:latin typeface="Times New Roman" panose="02020603050405020304" pitchFamily="18" charset="0"/>
                <a:ea typeface="楷体_GB2312" pitchFamily="49" charset="-122"/>
              </a:rPr>
              <a:t>1:1</a:t>
            </a:r>
            <a:r>
              <a:rPr lang="zh-CN" altLang="en-US" sz="3200" b="1">
                <a:latin typeface="楷体_GB2312" pitchFamily="49" charset="-122"/>
                <a:ea typeface="楷体_GB2312" pitchFamily="49" charset="-122"/>
              </a:rPr>
              <a:t>；</a:t>
            </a:r>
            <a:endParaRPr lang="zh-CN" altLang="en-US" sz="3200">
              <a:latin typeface="Times New Roman" panose="02020603050405020304" pitchFamily="18" charset="0"/>
              <a:ea typeface="楷体_GB2312" pitchFamily="49" charset="-122"/>
            </a:endParaRPr>
          </a:p>
        </p:txBody>
      </p:sp>
      <p:sp>
        <p:nvSpPr>
          <p:cNvPr id="57353" name="Text Box 9"/>
          <p:cNvSpPr txBox="1"/>
          <p:nvPr/>
        </p:nvSpPr>
        <p:spPr>
          <a:xfrm>
            <a:off x="2362200" y="5791200"/>
            <a:ext cx="4114800" cy="608013"/>
          </a:xfrm>
          <a:prstGeom prst="rect">
            <a:avLst/>
          </a:prstGeom>
          <a:solidFill>
            <a:srgbClr val="CCFFCC"/>
          </a:solidFill>
          <a:ln w="28575" cap="flat" cmpd="sng">
            <a:solidFill>
              <a:srgbClr val="336600"/>
            </a:solidFill>
            <a:prstDash val="solid"/>
            <a:miter/>
            <a:headEnd type="none" w="med" len="med"/>
            <a:tailEnd type="none" w="med" len="med"/>
          </a:ln>
        </p:spPr>
        <p:txBody>
          <a:bodyPr anchor="t">
            <a:spAutoFit/>
          </a:bodyPr>
          <a:p>
            <a:r>
              <a:rPr lang="zh-CN" altLang="en-US" sz="3200" b="1">
                <a:latin typeface="Times New Roman" panose="02020603050405020304" pitchFamily="18" charset="0"/>
                <a:ea typeface="楷体_GB2312" pitchFamily="49" charset="-122"/>
              </a:rPr>
              <a:t>哪一种较为合理？</a:t>
            </a:r>
            <a:endParaRPr lang="zh-CN" altLang="en-US" sz="3200" b="1">
              <a:latin typeface="Times New Roman" panose="02020603050405020304" pitchFamily="18" charset="0"/>
              <a:ea typeface="楷体_GB2312" pitchFamily="49" charset="-122"/>
            </a:endParaRPr>
          </a:p>
        </p:txBody>
      </p:sp>
      <p:sp>
        <p:nvSpPr>
          <p:cNvPr id="31751" name="Text Box 10">
            <a:hlinkClick r:id="rId1"/>
          </p:cNvPr>
          <p:cNvSpPr txBox="1"/>
          <p:nvPr/>
        </p:nvSpPr>
        <p:spPr>
          <a:xfrm>
            <a:off x="2590800" y="304800"/>
            <a:ext cx="2971800" cy="704850"/>
          </a:xfrm>
          <a:prstGeom prst="rect">
            <a:avLst/>
          </a:prstGeom>
          <a:gradFill rotWithShape="0">
            <a:gsLst>
              <a:gs pos="0">
                <a:schemeClr val="hlink"/>
              </a:gs>
              <a:gs pos="50000">
                <a:srgbClr val="FFFFFF"/>
              </a:gs>
              <a:gs pos="100000">
                <a:schemeClr val="hlink"/>
              </a:gs>
            </a:gsLst>
            <a:lin ang="5400000" scaled="1"/>
            <a:tileRect/>
          </a:gradFill>
          <a:ln w="28575" cap="flat" cmpd="sng">
            <a:solidFill>
              <a:srgbClr val="FF3300"/>
            </a:solidFill>
            <a:prstDash val="solid"/>
            <a:miter/>
            <a:headEnd type="none" w="med" len="med"/>
            <a:tailEnd type="none" w="med" len="med"/>
          </a:ln>
        </p:spPr>
        <p:txBody>
          <a:bodyPr anchor="t">
            <a:spAutoFit/>
          </a:bodyPr>
          <a:p>
            <a:pPr algn="ctr">
              <a:lnSpc>
                <a:spcPct val="120000"/>
              </a:lnSpc>
            </a:pPr>
            <a:r>
              <a:rPr lang="zh-CN" altLang="en-US" sz="3200" b="1">
                <a:solidFill>
                  <a:srgbClr val="FF0000"/>
                </a:solidFill>
                <a:latin typeface="Times New Roman" panose="02020603050405020304" pitchFamily="18" charset="0"/>
                <a:ea typeface="楷体_GB2312" pitchFamily="49" charset="-122"/>
              </a:rPr>
              <a:t>最优捕鱼策略</a:t>
            </a:r>
            <a:r>
              <a:rPr lang="zh-CN" altLang="en-US" sz="3200" b="1">
                <a:solidFill>
                  <a:srgbClr val="FF0000"/>
                </a:solidFill>
                <a:latin typeface="楷体_GB2312" pitchFamily="49" charset="-122"/>
                <a:ea typeface="楷体_GB2312" pitchFamily="49" charset="-122"/>
              </a:rPr>
              <a:t> </a:t>
            </a:r>
            <a:endParaRPr lang="zh-CN" altLang="en-US" sz="3200" b="1">
              <a:solidFill>
                <a:srgbClr val="FF0000"/>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wipe(left)">
                                      <p:cBhvr>
                                        <p:cTn id="7" dur="500"/>
                                        <p:tgtEl>
                                          <p:spTgt spid="573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9"/>
                                        </p:tgtEl>
                                        <p:attrNameLst>
                                          <p:attrName>style.visibility</p:attrName>
                                        </p:attrNameLst>
                                      </p:cBhvr>
                                      <p:to>
                                        <p:strVal val="visible"/>
                                      </p:to>
                                    </p:set>
                                    <p:animEffect transition="in" filter="wipe(left)">
                                      <p:cBhvr>
                                        <p:cTn id="12" dur="500"/>
                                        <p:tgtEl>
                                          <p:spTgt spid="573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51"/>
                                        </p:tgtEl>
                                        <p:attrNameLst>
                                          <p:attrName>style.visibility</p:attrName>
                                        </p:attrNameLst>
                                      </p:cBhvr>
                                      <p:to>
                                        <p:strVal val="visible"/>
                                      </p:to>
                                    </p:set>
                                    <p:animEffect transition="in" filter="wipe(left)">
                                      <p:cBhvr>
                                        <p:cTn id="17" dur="500"/>
                                        <p:tgtEl>
                                          <p:spTgt spid="5735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352"/>
                                        </p:tgtEl>
                                        <p:attrNameLst>
                                          <p:attrName>style.visibility</p:attrName>
                                        </p:attrNameLst>
                                      </p:cBhvr>
                                      <p:to>
                                        <p:strVal val="visible"/>
                                      </p:to>
                                    </p:set>
                                    <p:animEffect transition="in" filter="wipe(left)">
                                      <p:cBhvr>
                                        <p:cTn id="22" dur="500"/>
                                        <p:tgtEl>
                                          <p:spTgt spid="573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7350"/>
                                        </p:tgtEl>
                                        <p:attrNameLst>
                                          <p:attrName>style.visibility</p:attrName>
                                        </p:attrNameLst>
                                      </p:cBhvr>
                                      <p:to>
                                        <p:strVal val="visible"/>
                                      </p:to>
                                    </p:set>
                                    <p:animEffect transition="in" filter="wipe(left)">
                                      <p:cBhvr>
                                        <p:cTn id="27" dur="500"/>
                                        <p:tgtEl>
                                          <p:spTgt spid="5735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7353"/>
                                        </p:tgtEl>
                                        <p:attrNameLst>
                                          <p:attrName>style.visibility</p:attrName>
                                        </p:attrNameLst>
                                      </p:cBhvr>
                                      <p:to>
                                        <p:strVal val="visible"/>
                                      </p:to>
                                    </p:set>
                                    <p:animEffect transition="in" filter="wipe(left)">
                                      <p:cBhvr>
                                        <p:cTn id="32" dur="500"/>
                                        <p:tgtEl>
                                          <p:spTgt spid="57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p:bldP spid="57349" grpId="0"/>
      <p:bldP spid="57350" grpId="0"/>
      <p:bldP spid="57351" grpId="0"/>
      <p:bldP spid="57352" grpId="0"/>
      <p:bldP spid="5735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2" name="Text Box 4"/>
          <p:cNvSpPr txBox="1"/>
          <p:nvPr/>
        </p:nvSpPr>
        <p:spPr>
          <a:xfrm>
            <a:off x="228600" y="914400"/>
            <a:ext cx="8610600" cy="1554163"/>
          </a:xfrm>
          <a:prstGeom prst="rect">
            <a:avLst/>
          </a:prstGeom>
          <a:noFill/>
          <a:ln w="9525">
            <a:noFill/>
          </a:ln>
        </p:spPr>
        <p:txBody>
          <a:bodyPr anchor="t">
            <a:spAutoFit/>
          </a:bodyPr>
          <a:p>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可假设：</a:t>
            </a:r>
            <a:endParaRPr lang="zh-CN" altLang="en-US" sz="3200">
              <a:latin typeface="Times New Roman" panose="02020603050405020304" pitchFamily="18" charset="0"/>
              <a:ea typeface="宋体" panose="02010600030101010101" pitchFamily="2" charset="-122"/>
            </a:endParaRPr>
          </a:p>
          <a:p>
            <a:r>
              <a:rPr lang="zh-CN" altLang="en-US" sz="3200" b="1">
                <a:latin typeface="Times New Roman" panose="02020603050405020304" pitchFamily="18" charset="0"/>
                <a:ea typeface="宋体" panose="02010600030101010101" pitchFamily="2" charset="-122"/>
              </a:rPr>
              <a:t>   </a:t>
            </a:r>
            <a:r>
              <a:rPr lang="zh-CN" altLang="en-US" sz="3200" b="1">
                <a:solidFill>
                  <a:srgbClr val="FF3300"/>
                </a:solidFill>
                <a:latin typeface="Times New Roman" panose="02020603050405020304" pitchFamily="18" charset="0"/>
                <a:ea typeface="宋体" panose="02010600030101010101" pitchFamily="2" charset="-122"/>
              </a:rPr>
              <a:t> </a:t>
            </a:r>
            <a:r>
              <a:rPr lang="zh-CN" altLang="en-US" sz="3200" b="1">
                <a:solidFill>
                  <a:srgbClr val="FF3300"/>
                </a:solidFill>
                <a:latin typeface="楷体_GB2312" pitchFamily="49" charset="-122"/>
                <a:ea typeface="楷体_GB2312" pitchFamily="49" charset="-122"/>
              </a:rPr>
              <a:t>* </a:t>
            </a:r>
            <a:r>
              <a:rPr lang="zh-CN" altLang="en-US" sz="3200" b="1">
                <a:latin typeface="楷体_GB2312" pitchFamily="49" charset="-122"/>
                <a:ea typeface="楷体_GB2312" pitchFamily="49" charset="-122"/>
              </a:rPr>
              <a:t>每到次年初，头一年的</a:t>
            </a:r>
            <a:r>
              <a:rPr lang="en-US" altLang="zh-CN" sz="3200" b="1">
                <a:latin typeface="Times New Roman" panose="02020603050405020304" pitchFamily="18" charset="0"/>
                <a:ea typeface="楷体_GB2312" pitchFamily="49" charset="-122"/>
              </a:rPr>
              <a:t>1</a:t>
            </a:r>
            <a:r>
              <a:rPr lang="zh-CN" altLang="en-US" sz="3200" b="1">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2</a:t>
            </a:r>
            <a:r>
              <a:rPr lang="zh-CN" altLang="en-US" sz="3200" b="1">
                <a:latin typeface="Times New Roman" panose="02020603050405020304" pitchFamily="18" charset="0"/>
                <a:ea typeface="楷体_GB2312" pitchFamily="49" charset="-122"/>
              </a:rPr>
              <a:t>、</a:t>
            </a:r>
            <a:r>
              <a:rPr lang="en-US" altLang="zh-CN" sz="3200" b="1">
                <a:latin typeface="Times New Roman" panose="02020603050405020304" pitchFamily="18" charset="0"/>
                <a:ea typeface="楷体_GB2312" pitchFamily="49" charset="-122"/>
              </a:rPr>
              <a:t>3</a:t>
            </a:r>
            <a:r>
              <a:rPr lang="en-US" altLang="zh-CN" sz="3200" b="1">
                <a:latin typeface="楷体_GB2312" pitchFamily="49" charset="-122"/>
                <a:ea typeface="楷体_GB2312" pitchFamily="49" charset="-122"/>
              </a:rPr>
              <a:t> </a:t>
            </a:r>
            <a:r>
              <a:rPr lang="zh-CN" altLang="en-US" sz="3200" b="1">
                <a:latin typeface="楷体_GB2312" pitchFamily="49" charset="-122"/>
                <a:ea typeface="楷体_GB2312" pitchFamily="49" charset="-122"/>
              </a:rPr>
              <a:t>龄鱼均增</a:t>
            </a:r>
            <a:r>
              <a:rPr lang="en-US" altLang="zh-CN" sz="3200" b="1">
                <a:latin typeface="Times New Roman" panose="02020603050405020304" pitchFamily="18" charset="0"/>
                <a:ea typeface="楷体_GB2312" pitchFamily="49" charset="-122"/>
              </a:rPr>
              <a:t>1</a:t>
            </a:r>
            <a:r>
              <a:rPr lang="zh-CN" altLang="en-US" sz="3200" b="1">
                <a:latin typeface="楷体_GB2312" pitchFamily="49" charset="-122"/>
                <a:ea typeface="楷体_GB2312" pitchFamily="49" charset="-122"/>
              </a:rPr>
              <a:t>岁，将</a:t>
            </a:r>
            <a:r>
              <a:rPr lang="en-US" altLang="zh-CN" sz="3200" b="1">
                <a:latin typeface="Times New Roman" panose="02020603050405020304" pitchFamily="18" charset="0"/>
                <a:ea typeface="楷体_GB2312" pitchFamily="49" charset="-122"/>
              </a:rPr>
              <a:t>5</a:t>
            </a:r>
            <a:r>
              <a:rPr lang="zh-CN" altLang="en-US" sz="3200" b="1">
                <a:latin typeface="楷体_GB2312" pitchFamily="49" charset="-122"/>
                <a:ea typeface="楷体_GB2312" pitchFamily="49" charset="-122"/>
              </a:rPr>
              <a:t>龄鱼归并为</a:t>
            </a:r>
            <a:r>
              <a:rPr lang="en-US" altLang="zh-CN" sz="3200" b="1">
                <a:latin typeface="Times New Roman" panose="02020603050405020304" pitchFamily="18" charset="0"/>
                <a:ea typeface="楷体_GB2312" pitchFamily="49" charset="-122"/>
              </a:rPr>
              <a:t>4</a:t>
            </a:r>
            <a:r>
              <a:rPr lang="zh-CN" altLang="en-US" sz="3200" b="1">
                <a:latin typeface="楷体_GB2312" pitchFamily="49" charset="-122"/>
                <a:ea typeface="楷体_GB2312" pitchFamily="49" charset="-122"/>
              </a:rPr>
              <a:t>龄鱼</a:t>
            </a:r>
            <a:r>
              <a:rPr lang="en-US" altLang="zh-CN" sz="3200" b="1">
                <a:latin typeface="楷体_GB2312" pitchFamily="49" charset="-122"/>
                <a:ea typeface="楷体_GB2312" pitchFamily="49" charset="-122"/>
              </a:rPr>
              <a:t>.</a:t>
            </a:r>
            <a:endParaRPr lang="en-US" altLang="zh-CN" sz="3200">
              <a:latin typeface="楷体_GB2312" pitchFamily="49" charset="-122"/>
              <a:ea typeface="楷体_GB2312" pitchFamily="49" charset="-122"/>
            </a:endParaRPr>
          </a:p>
        </p:txBody>
      </p:sp>
      <p:sp>
        <p:nvSpPr>
          <p:cNvPr id="58373" name="Text Box 5"/>
          <p:cNvSpPr txBox="1"/>
          <p:nvPr/>
        </p:nvSpPr>
        <p:spPr>
          <a:xfrm>
            <a:off x="228600" y="2484438"/>
            <a:ext cx="8474075" cy="1554162"/>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zh-CN" altLang="en-US" sz="3200" b="1">
                <a:solidFill>
                  <a:srgbClr val="FF3300"/>
                </a:solidFill>
                <a:latin typeface="Times New Roman" panose="02020603050405020304" pitchFamily="18" charset="0"/>
                <a:ea typeface="楷体_GB2312" pitchFamily="49" charset="-122"/>
              </a:rPr>
              <a:t>合理性解释</a:t>
            </a:r>
            <a:r>
              <a:rPr lang="zh-CN" altLang="en-US" sz="3200" b="1">
                <a:latin typeface="Times New Roman" panose="02020603050405020304" pitchFamily="18" charset="0"/>
                <a:ea typeface="楷体_GB2312" pitchFamily="49" charset="-122"/>
              </a:rPr>
              <a:t>：事实上，资料表明此种鱼的寿</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命一般为</a:t>
            </a:r>
            <a:r>
              <a:rPr lang="en-US" altLang="zh-CN" sz="3200" b="1">
                <a:latin typeface="Times New Roman" panose="02020603050405020304" pitchFamily="18" charset="0"/>
                <a:ea typeface="楷体_GB2312" pitchFamily="49" charset="-122"/>
              </a:rPr>
              <a:t>3</a:t>
            </a:r>
            <a:r>
              <a:rPr lang="zh-CN" altLang="en-US" sz="3200" b="1">
                <a:latin typeface="Times New Roman" panose="02020603050405020304" pitchFamily="18" charset="0"/>
                <a:ea typeface="楷体_GB2312" pitchFamily="49" charset="-122"/>
              </a:rPr>
              <a:t>年，另一方面经过捕捞后</a:t>
            </a:r>
            <a:r>
              <a:rPr lang="en-US" altLang="zh-CN" sz="3200" b="1">
                <a:latin typeface="Times New Roman" panose="02020603050405020304" pitchFamily="18" charset="0"/>
                <a:ea typeface="楷体_GB2312" pitchFamily="49" charset="-122"/>
              </a:rPr>
              <a:t>4 </a:t>
            </a:r>
            <a:r>
              <a:rPr lang="zh-CN" altLang="en-US" sz="3200" b="1">
                <a:latin typeface="Times New Roman" panose="02020603050405020304" pitchFamily="18" charset="0"/>
                <a:ea typeface="楷体_GB2312" pitchFamily="49" charset="-122"/>
              </a:rPr>
              <a:t>龄鱼的数</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量很少，可以忽略不计</a:t>
            </a:r>
            <a:r>
              <a:rPr lang="en-US" altLang="zh-CN" sz="3200" b="1">
                <a:latin typeface="Times New Roman" panose="02020603050405020304" pitchFamily="18" charset="0"/>
                <a:ea typeface="楷体_GB2312" pitchFamily="49" charset="-122"/>
              </a:rPr>
              <a:t>.</a:t>
            </a:r>
            <a:endParaRPr lang="en-US" altLang="zh-CN" sz="3200" b="1">
              <a:latin typeface="Times New Roman" panose="02020603050405020304" pitchFamily="18" charset="0"/>
              <a:ea typeface="楷体_GB2312" pitchFamily="49" charset="-122"/>
            </a:endParaRPr>
          </a:p>
        </p:txBody>
      </p:sp>
      <p:sp>
        <p:nvSpPr>
          <p:cNvPr id="58374" name="Text Box 6"/>
          <p:cNvSpPr txBox="1"/>
          <p:nvPr/>
        </p:nvSpPr>
        <p:spPr>
          <a:xfrm>
            <a:off x="304800" y="3962400"/>
            <a:ext cx="8270875" cy="1066800"/>
          </a:xfrm>
          <a:prstGeom prst="rect">
            <a:avLst/>
          </a:prstGeom>
          <a:noFill/>
          <a:ln w="9525">
            <a:noFill/>
          </a:ln>
        </p:spPr>
        <p:txBody>
          <a:bodyPr wrap="none" anchor="t">
            <a:spAutoFit/>
          </a:bodyPr>
          <a:p>
            <a:r>
              <a:rPr lang="en-US" altLang="zh-CN" sz="3200">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对于假设：</a:t>
            </a:r>
            <a:endParaRPr lang="zh-CN" altLang="en-US" sz="3200" b="1">
              <a:latin typeface="Times New Roman" panose="02020603050405020304" pitchFamily="18" charset="0"/>
              <a:ea typeface="楷体_GB2312" pitchFamily="49" charset="-122"/>
            </a:endParaRPr>
          </a:p>
          <a:p>
            <a:r>
              <a:rPr lang="zh-CN" altLang="en-US" sz="3200" b="1">
                <a:solidFill>
                  <a:srgbClr val="FF0000"/>
                </a:solidFill>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有时需要对假设以及假设的推论进行检验；</a:t>
            </a:r>
            <a:endParaRPr lang="zh-CN" altLang="en-US" sz="3200">
              <a:latin typeface="Times New Roman" panose="02020603050405020304" pitchFamily="18" charset="0"/>
              <a:ea typeface="宋体" panose="02010600030101010101" pitchFamily="2" charset="-122"/>
            </a:endParaRPr>
          </a:p>
        </p:txBody>
      </p:sp>
      <p:sp>
        <p:nvSpPr>
          <p:cNvPr id="32772" name="Text Box 8"/>
          <p:cNvSpPr txBox="1"/>
          <p:nvPr/>
        </p:nvSpPr>
        <p:spPr>
          <a:xfrm>
            <a:off x="304800" y="304800"/>
            <a:ext cx="7858125" cy="579438"/>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zh-CN" altLang="en-US" sz="3200" b="1">
                <a:solidFill>
                  <a:srgbClr val="FF3300"/>
                </a:solidFill>
                <a:latin typeface="Times New Roman" panose="02020603050405020304" pitchFamily="18" charset="0"/>
                <a:ea typeface="楷体_GB2312" pitchFamily="49" charset="-122"/>
              </a:rPr>
              <a:t>问题</a:t>
            </a:r>
            <a:r>
              <a:rPr lang="zh-CN" altLang="en-US" sz="3200" b="1">
                <a:latin typeface="Times New Roman" panose="02020603050405020304" pitchFamily="18" charset="0"/>
                <a:ea typeface="楷体_GB2312" pitchFamily="49" charset="-122"/>
              </a:rPr>
              <a:t>： 当年的</a:t>
            </a:r>
            <a:r>
              <a:rPr lang="en-US" altLang="zh-CN" sz="3200" b="1">
                <a:latin typeface="Times New Roman" panose="02020603050405020304" pitchFamily="18" charset="0"/>
                <a:ea typeface="楷体_GB2312" pitchFamily="49" charset="-122"/>
              </a:rPr>
              <a:t>4 </a:t>
            </a:r>
            <a:r>
              <a:rPr lang="zh-CN" altLang="en-US" sz="3200" b="1">
                <a:latin typeface="Times New Roman" panose="02020603050405020304" pitchFamily="18" charset="0"/>
                <a:ea typeface="楷体_GB2312" pitchFamily="49" charset="-122"/>
              </a:rPr>
              <a:t>龄鱼，第二年如何处理？</a:t>
            </a:r>
            <a:endParaRPr lang="zh-CN" altLang="en-US" sz="3200" b="1">
              <a:latin typeface="Times New Roman" panose="02020603050405020304" pitchFamily="18" charset="0"/>
              <a:ea typeface="楷体_GB2312" pitchFamily="49" charset="-122"/>
            </a:endParaRPr>
          </a:p>
        </p:txBody>
      </p:sp>
      <p:sp>
        <p:nvSpPr>
          <p:cNvPr id="58377" name="Text Box 9"/>
          <p:cNvSpPr txBox="1"/>
          <p:nvPr/>
        </p:nvSpPr>
        <p:spPr>
          <a:xfrm>
            <a:off x="381000" y="5029200"/>
            <a:ext cx="4276725" cy="628650"/>
          </a:xfrm>
          <a:prstGeom prst="rect">
            <a:avLst/>
          </a:prstGeom>
          <a:noFill/>
          <a:ln w="9525">
            <a:noFill/>
          </a:ln>
        </p:spPr>
        <p:txBody>
          <a:bodyPr wrap="none" anchor="t">
            <a:spAutoFit/>
          </a:bodyPr>
          <a:p>
            <a:pPr>
              <a:lnSpc>
                <a:spcPct val="110000"/>
              </a:lnSpc>
            </a:pPr>
            <a:r>
              <a:rPr lang="en-US" altLang="zh-CN" sz="3200" b="1">
                <a:solidFill>
                  <a:srgbClr val="FF0000"/>
                </a:solidFill>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应意识到隐含的假设</a:t>
            </a:r>
            <a:r>
              <a:rPr lang="en-US" altLang="zh-CN" sz="3200" b="1">
                <a:latin typeface="Times New Roman" panose="02020603050405020304" pitchFamily="18" charset="0"/>
                <a:ea typeface="楷体_GB2312" pitchFamily="49" charset="-122"/>
              </a:rPr>
              <a:t>.</a:t>
            </a:r>
            <a:endParaRPr lang="en-US" altLang="zh-CN" sz="3200">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animEffect transition="in" filter="strips(downRight)">
                                      <p:cBhvr>
                                        <p:cTn id="7" dur="500"/>
                                        <p:tgtEl>
                                          <p:spTgt spid="583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3"/>
                                        </p:tgtEl>
                                        <p:attrNameLst>
                                          <p:attrName>style.visibility</p:attrName>
                                        </p:attrNameLst>
                                      </p:cBhvr>
                                      <p:to>
                                        <p:strVal val="visible"/>
                                      </p:to>
                                    </p:set>
                                    <p:animEffect transition="in" filter="wipe(left)">
                                      <p:cBhvr>
                                        <p:cTn id="12" dur="500"/>
                                        <p:tgtEl>
                                          <p:spTgt spid="583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374"/>
                                        </p:tgtEl>
                                        <p:attrNameLst>
                                          <p:attrName>style.visibility</p:attrName>
                                        </p:attrNameLst>
                                      </p:cBhvr>
                                      <p:to>
                                        <p:strVal val="visible"/>
                                      </p:to>
                                    </p:set>
                                    <p:animEffect transition="in" filter="wipe(left)">
                                      <p:cBhvr>
                                        <p:cTn id="17" dur="500"/>
                                        <p:tgtEl>
                                          <p:spTgt spid="5837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377"/>
                                        </p:tgtEl>
                                        <p:attrNameLst>
                                          <p:attrName>style.visibility</p:attrName>
                                        </p:attrNameLst>
                                      </p:cBhvr>
                                      <p:to>
                                        <p:strVal val="visible"/>
                                      </p:to>
                                    </p:set>
                                    <p:animEffect transition="in" filter="wipe(left)">
                                      <p:cBhvr>
                                        <p:cTn id="22" dur="500"/>
                                        <p:tgtEl>
                                          <p:spTgt spid="58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p:bldP spid="58373" grpId="0"/>
      <p:bldP spid="58374" grpId="0"/>
      <p:bldP spid="5837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type="title"/>
          </p:nvPr>
        </p:nvSpPr>
        <p:spPr>
          <a:xfrm>
            <a:off x="228600" y="304800"/>
            <a:ext cx="7772400" cy="762000"/>
          </a:xfrm>
          <a:ln/>
        </p:spPr>
        <p:txBody>
          <a:bodyPr vert="horz" wrap="square" lIns="91440" tIns="45720" rIns="91440" bIns="45720" anchor="b"/>
          <a:p>
            <a:pPr eaLnBrk="1" hangingPunct="1"/>
            <a:r>
              <a:rPr lang="en-US" altLang="zh-CN" sz="2400" b="1">
                <a:solidFill>
                  <a:srgbClr val="FF0000"/>
                </a:solidFill>
              </a:rPr>
              <a:t>    </a:t>
            </a:r>
            <a:r>
              <a:rPr lang="en-US" altLang="zh-CN" sz="3600" b="1">
                <a:solidFill>
                  <a:srgbClr val="3333FF"/>
                </a:solidFill>
                <a:latin typeface="Arial" panose="020B0604020202020204" pitchFamily="34" charset="0"/>
              </a:rPr>
              <a:t>3</a:t>
            </a:r>
            <a:r>
              <a:rPr lang="zh-CN" altLang="en-US" sz="3600" b="1">
                <a:solidFill>
                  <a:srgbClr val="3333FF"/>
                </a:solidFill>
                <a:latin typeface="Arial" panose="020B0604020202020204" pitchFamily="34" charset="0"/>
              </a:rPr>
              <a:t>、求解模型</a:t>
            </a:r>
            <a:endParaRPr lang="zh-CN" altLang="en-US" sz="3600" b="1">
              <a:solidFill>
                <a:srgbClr val="3333FF"/>
              </a:solidFill>
              <a:latin typeface="Arial" panose="020B0604020202020204" pitchFamily="34" charset="0"/>
            </a:endParaRPr>
          </a:p>
        </p:txBody>
      </p:sp>
      <p:sp>
        <p:nvSpPr>
          <p:cNvPr id="60421" name="Text Box 5"/>
          <p:cNvSpPr txBox="1"/>
          <p:nvPr/>
        </p:nvSpPr>
        <p:spPr>
          <a:xfrm>
            <a:off x="1371600" y="1304925"/>
            <a:ext cx="6096000" cy="676275"/>
          </a:xfrm>
          <a:prstGeom prst="rect">
            <a:avLst/>
          </a:prstGeom>
          <a:gradFill rotWithShape="0">
            <a:gsLst>
              <a:gs pos="0">
                <a:srgbClr val="FFCC99"/>
              </a:gs>
              <a:gs pos="50000">
                <a:srgbClr val="FFFF99"/>
              </a:gs>
              <a:gs pos="100000">
                <a:srgbClr val="FFCC99"/>
              </a:gs>
            </a:gsLst>
            <a:lin ang="5400000" scaled="1"/>
            <a:tileRect/>
          </a:gradFill>
          <a:ln w="9525">
            <a:noFill/>
          </a:ln>
        </p:spPr>
        <p:txBody>
          <a:bodyPr anchor="t">
            <a:spAutoFit/>
          </a:bodyPr>
          <a:p>
            <a:pPr algn="ctr">
              <a:lnSpc>
                <a:spcPct val="120000"/>
              </a:lnSpc>
            </a:pPr>
            <a:r>
              <a:rPr lang="zh-CN" altLang="en-US" sz="3200" b="1">
                <a:latin typeface="Times New Roman" panose="02020603050405020304" pitchFamily="18" charset="0"/>
                <a:ea typeface="楷体_GB2312" pitchFamily="49" charset="-122"/>
              </a:rPr>
              <a:t>求数学模型的解重要而困难</a:t>
            </a:r>
            <a:endParaRPr lang="zh-CN" altLang="en-US" sz="3200" b="1">
              <a:latin typeface="Times New Roman" panose="02020603050405020304" pitchFamily="18" charset="0"/>
              <a:ea typeface="楷体_GB2312" pitchFamily="49" charset="-122"/>
            </a:endParaRPr>
          </a:p>
        </p:txBody>
      </p:sp>
      <p:grpSp>
        <p:nvGrpSpPr>
          <p:cNvPr id="2" name="Group 6"/>
          <p:cNvGrpSpPr/>
          <p:nvPr/>
        </p:nvGrpSpPr>
        <p:grpSpPr>
          <a:xfrm>
            <a:off x="3352800" y="2239963"/>
            <a:ext cx="1524000" cy="533400"/>
            <a:chOff x="1776" y="2304"/>
            <a:chExt cx="1056" cy="336"/>
          </a:xfrm>
        </p:grpSpPr>
        <p:sp>
          <p:nvSpPr>
            <p:cNvPr id="33796" name="AutoShape 7"/>
            <p:cNvSpPr/>
            <p:nvPr/>
          </p:nvSpPr>
          <p:spPr>
            <a:xfrm>
              <a:off x="1776" y="2352"/>
              <a:ext cx="1056" cy="240"/>
            </a:xfrm>
            <a:prstGeom prst="leftRightArrow">
              <a:avLst>
                <a:gd name="adj1" fmla="val 50000"/>
                <a:gd name="adj2" fmla="val 88000"/>
              </a:avLst>
            </a:prstGeom>
            <a:solidFill>
              <a:srgbClr val="FFCC99"/>
            </a:solidFill>
            <a:ln w="9525" cap="flat" cmpd="sng">
              <a:solidFill>
                <a:schemeClr val="tx1"/>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33797" name="Line 8"/>
            <p:cNvSpPr/>
            <p:nvPr/>
          </p:nvSpPr>
          <p:spPr>
            <a:xfrm>
              <a:off x="2160" y="2304"/>
              <a:ext cx="384" cy="336"/>
            </a:xfrm>
            <a:prstGeom prst="line">
              <a:avLst/>
            </a:prstGeom>
            <a:ln w="76200" cap="flat" cmpd="sng">
              <a:solidFill>
                <a:srgbClr val="800000"/>
              </a:solidFill>
              <a:prstDash val="solid"/>
              <a:round/>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sp>
        <p:nvSpPr>
          <p:cNvPr id="60425" name="Text Box 9"/>
          <p:cNvSpPr txBox="1"/>
          <p:nvPr/>
        </p:nvSpPr>
        <p:spPr>
          <a:xfrm>
            <a:off x="5029200" y="2163763"/>
            <a:ext cx="3276600" cy="579437"/>
          </a:xfrm>
          <a:prstGeom prst="rect">
            <a:avLst/>
          </a:prstGeom>
          <a:gradFill rotWithShape="0">
            <a:gsLst>
              <a:gs pos="0">
                <a:srgbClr val="FF3399"/>
              </a:gs>
              <a:gs pos="50000">
                <a:srgbClr val="761847"/>
              </a:gs>
              <a:gs pos="100000">
                <a:srgbClr val="FF3399"/>
              </a:gs>
            </a:gsLst>
            <a:lin ang="5400000" scaled="1"/>
            <a:tileRect/>
          </a:gradFill>
          <a:ln w="9525">
            <a:noFill/>
          </a:ln>
        </p:spPr>
        <p:txBody>
          <a:bodyPr anchor="t">
            <a:spAutoFit/>
          </a:bodyPr>
          <a:p>
            <a:pPr algn="ctr"/>
            <a:r>
              <a:rPr lang="zh-CN" altLang="en-US" sz="3200" b="1">
                <a:solidFill>
                  <a:srgbClr val="FFFFFF"/>
                </a:solidFill>
                <a:latin typeface="Times New Roman" panose="02020603050405020304" pitchFamily="18" charset="0"/>
                <a:ea typeface="楷体_GB2312" pitchFamily="49" charset="-122"/>
              </a:rPr>
              <a:t>求解纯数学问题</a:t>
            </a:r>
            <a:endParaRPr lang="zh-CN" altLang="en-US" sz="3200" b="1">
              <a:latin typeface="Times New Roman" panose="02020603050405020304" pitchFamily="18" charset="0"/>
              <a:ea typeface="楷体_GB2312" pitchFamily="49" charset="-122"/>
            </a:endParaRPr>
          </a:p>
        </p:txBody>
      </p:sp>
      <p:sp>
        <p:nvSpPr>
          <p:cNvPr id="60426" name="Text Box 10"/>
          <p:cNvSpPr txBox="1"/>
          <p:nvPr/>
        </p:nvSpPr>
        <p:spPr>
          <a:xfrm>
            <a:off x="381000" y="2239963"/>
            <a:ext cx="2819400" cy="588962"/>
          </a:xfrm>
          <a:prstGeom prst="rect">
            <a:avLst/>
          </a:prstGeom>
          <a:solidFill>
            <a:srgbClr val="66FF99"/>
          </a:solidFill>
          <a:ln w="9525" cap="flat" cmpd="sng">
            <a:solidFill>
              <a:schemeClr val="tx2"/>
            </a:solidFill>
            <a:prstDash val="solid"/>
            <a:miter/>
            <a:headEnd type="none" w="med" len="med"/>
            <a:tailEnd type="none" w="med" len="med"/>
          </a:ln>
        </p:spPr>
        <p:txBody>
          <a:bodyPr anchor="t">
            <a:spAutoFit/>
          </a:bodyPr>
          <a:p>
            <a:pPr algn="ctr"/>
            <a:r>
              <a:rPr lang="zh-CN" altLang="en-US" sz="3200" b="1">
                <a:solidFill>
                  <a:srgbClr val="800000"/>
                </a:solidFill>
                <a:latin typeface="Times New Roman" panose="02020603050405020304" pitchFamily="18" charset="0"/>
                <a:ea typeface="楷体_GB2312" pitchFamily="49" charset="-122"/>
              </a:rPr>
              <a:t>求解数学模型</a:t>
            </a:r>
            <a:endParaRPr lang="zh-CN" altLang="en-US" sz="3200" b="1">
              <a:solidFill>
                <a:srgbClr val="800000"/>
              </a:solidFill>
              <a:latin typeface="Times New Roman" panose="02020603050405020304" pitchFamily="18" charset="0"/>
              <a:ea typeface="楷体_GB2312" pitchFamily="49" charset="-122"/>
            </a:endParaRPr>
          </a:p>
        </p:txBody>
      </p:sp>
      <p:sp>
        <p:nvSpPr>
          <p:cNvPr id="60427" name="Text Box 11"/>
          <p:cNvSpPr txBox="1"/>
          <p:nvPr/>
        </p:nvSpPr>
        <p:spPr>
          <a:xfrm>
            <a:off x="304800" y="3124200"/>
            <a:ext cx="8267700" cy="1066800"/>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 </a:t>
            </a:r>
            <a:r>
              <a:rPr lang="zh-CN" altLang="en-US" sz="3200" b="1">
                <a:latin typeface="Times New Roman" panose="02020603050405020304" pitchFamily="18" charset="0"/>
                <a:ea typeface="楷体_GB2312" pitchFamily="49" charset="-122"/>
              </a:rPr>
              <a:t>涉及不同数学分支的知识，同时还需借助</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与背景知识</a:t>
            </a:r>
            <a:r>
              <a:rPr lang="en-US" altLang="zh-CN" sz="3200" b="1">
                <a:latin typeface="Times New Roman" panose="02020603050405020304" pitchFamily="18" charset="0"/>
                <a:ea typeface="楷体_GB2312" pitchFamily="49" charset="-122"/>
              </a:rPr>
              <a:t>.</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
        <p:nvSpPr>
          <p:cNvPr id="60428" name="Text Box 12"/>
          <p:cNvSpPr txBox="1"/>
          <p:nvPr/>
        </p:nvSpPr>
        <p:spPr>
          <a:xfrm>
            <a:off x="304800" y="4267200"/>
            <a:ext cx="8839200" cy="1066800"/>
          </a:xfrm>
          <a:prstGeom prst="rect">
            <a:avLst/>
          </a:prstGeom>
          <a:noFill/>
          <a:ln w="9525">
            <a:noFill/>
          </a:ln>
        </p:spPr>
        <p:txBody>
          <a:bodyPr anchor="t">
            <a:spAutoFit/>
          </a:bodyPr>
          <a:p>
            <a:r>
              <a:rPr lang="en-US" altLang="zh-CN" sz="3200" b="1">
                <a:latin typeface="Times New Roman" panose="02020603050405020304" pitchFamily="18" charset="0"/>
                <a:ea typeface="楷体_GB2312" pitchFamily="49" charset="-122"/>
              </a:rPr>
              <a:t>    * </a:t>
            </a:r>
            <a:r>
              <a:rPr lang="zh-CN" altLang="en-US" sz="3200" b="1">
                <a:latin typeface="Times New Roman" panose="02020603050405020304" pitchFamily="18" charset="0"/>
                <a:ea typeface="楷体_GB2312" pitchFamily="49" charset="-122"/>
              </a:rPr>
              <a:t>针对现实问题建立的数学模型，往往仅可求数值解</a:t>
            </a:r>
            <a:r>
              <a:rPr lang="en-US" altLang="zh-CN" sz="3200" b="1">
                <a:latin typeface="Times New Roman" panose="02020603050405020304" pitchFamily="18" charset="0"/>
                <a:ea typeface="楷体_GB2312" pitchFamily="49" charset="-122"/>
              </a:rPr>
              <a:t>.</a:t>
            </a:r>
            <a:endParaRPr lang="en-US" altLang="zh-CN" sz="3200" b="1">
              <a:latin typeface="Times New Roman" panose="02020603050405020304" pitchFamily="18" charset="0"/>
              <a:ea typeface="楷体_GB2312" pitchFamily="49" charset="-122"/>
            </a:endParaRPr>
          </a:p>
        </p:txBody>
      </p:sp>
      <p:sp>
        <p:nvSpPr>
          <p:cNvPr id="60429" name="Text Box 13"/>
          <p:cNvSpPr txBox="1"/>
          <p:nvPr/>
        </p:nvSpPr>
        <p:spPr>
          <a:xfrm>
            <a:off x="381000" y="5334000"/>
            <a:ext cx="8474075" cy="1066800"/>
          </a:xfrm>
          <a:prstGeom prst="rect">
            <a:avLst/>
          </a:prstGeom>
          <a:noFill/>
          <a:ln w="9525">
            <a:noFill/>
          </a:ln>
        </p:spPr>
        <p:txBody>
          <a:bodyPr anchor="t">
            <a:spAutoFit/>
          </a:bodyPr>
          <a:p>
            <a:r>
              <a:rPr lang="en-US" altLang="zh-CN" sz="3200" b="1">
                <a:latin typeface="Times New Roman" panose="02020603050405020304" pitchFamily="18" charset="0"/>
                <a:ea typeface="楷体_GB2312" pitchFamily="49" charset="-122"/>
              </a:rPr>
              <a:t>    * </a:t>
            </a:r>
            <a:r>
              <a:rPr lang="zh-CN" altLang="en-US" sz="3200" b="1">
                <a:latin typeface="Times New Roman" panose="02020603050405020304" pitchFamily="18" charset="0"/>
                <a:ea typeface="楷体_GB2312" pitchFamily="49" charset="-122"/>
              </a:rPr>
              <a:t>有类问题可采用分析法得到问题的实际解答</a:t>
            </a:r>
            <a:r>
              <a:rPr lang="en-US" altLang="zh-CN" sz="3200" b="1">
                <a:latin typeface="Times New Roman" panose="02020603050405020304" pitchFamily="18" charset="0"/>
                <a:ea typeface="楷体_GB2312" pitchFamily="49" charset="-122"/>
              </a:rPr>
              <a:t>(</a:t>
            </a:r>
            <a:r>
              <a:rPr lang="zh-CN" altLang="en-US" sz="3200" b="1">
                <a:latin typeface="Times New Roman" panose="02020603050405020304" pitchFamily="18" charset="0"/>
                <a:ea typeface="楷体_GB2312" pitchFamily="49" charset="-122"/>
              </a:rPr>
              <a:t>如微分方程定性分析</a:t>
            </a:r>
            <a:r>
              <a:rPr lang="en-US" altLang="zh-CN" sz="3200" b="1">
                <a:latin typeface="Times New Roman" panose="02020603050405020304" pitchFamily="18" charset="0"/>
                <a:ea typeface="楷体_GB2312" pitchFamily="49" charset="-122"/>
              </a:rPr>
              <a:t>). </a:t>
            </a:r>
            <a:r>
              <a:rPr lang="en-US" altLang="zh-CN" sz="3200">
                <a:latin typeface="Times New Roman" panose="02020603050405020304" pitchFamily="18" charset="0"/>
                <a:ea typeface="楷体_GB2312" pitchFamily="49" charset="-122"/>
              </a:rPr>
              <a:t> </a:t>
            </a:r>
            <a:endParaRPr lang="en-US" altLang="zh-CN" sz="3200">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0421"/>
                                        </p:tgtEl>
                                        <p:attrNameLst>
                                          <p:attrName>style.visibility</p:attrName>
                                        </p:attrNameLst>
                                      </p:cBhvr>
                                      <p:to>
                                        <p:strVal val="visible"/>
                                      </p:to>
                                    </p:set>
                                    <p:anim calcmode="lin" valueType="num">
                                      <p:cBhvr>
                                        <p:cTn id="7" dur="500" fill="hold"/>
                                        <p:tgtEl>
                                          <p:spTgt spid="60421"/>
                                        </p:tgtEl>
                                        <p:attrNameLst>
                                          <p:attrName>ppt_w</p:attrName>
                                        </p:attrNameLst>
                                      </p:cBhvr>
                                      <p:tavLst>
                                        <p:tav tm="0">
                                          <p:val>
                                            <p:fltVal val="0.000000"/>
                                          </p:val>
                                        </p:tav>
                                        <p:tav tm="100000">
                                          <p:val>
                                            <p:strVal val="#ppt_w"/>
                                          </p:val>
                                        </p:tav>
                                      </p:tavLst>
                                    </p:anim>
                                    <p:anim calcmode="lin" valueType="num">
                                      <p:cBhvr>
                                        <p:cTn id="8" dur="500" fill="hold"/>
                                        <p:tgtEl>
                                          <p:spTgt spid="60421"/>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9" presetClass="entr" presetSubtype="10" fill="hold" grpId="0" nodeType="clickEffect">
                                  <p:stCondLst>
                                    <p:cond delay="0"/>
                                  </p:stCondLst>
                                  <p:childTnLst>
                                    <p:set>
                                      <p:cBhvr>
                                        <p:cTn id="12" dur="1" fill="hold">
                                          <p:stCondLst>
                                            <p:cond delay="0"/>
                                          </p:stCondLst>
                                        </p:cTn>
                                        <p:tgtEl>
                                          <p:spTgt spid="60426"/>
                                        </p:tgtEl>
                                        <p:attrNameLst>
                                          <p:attrName>style.visibility</p:attrName>
                                        </p:attrNameLst>
                                      </p:cBhvr>
                                      <p:to>
                                        <p:strVal val="visible"/>
                                      </p:to>
                                    </p:set>
                                    <p:anim calcmode="lin" valueType="num">
                                      <p:cBhvr>
                                        <p:cTn id="13" dur="5000" fill="hold"/>
                                        <p:tgtEl>
                                          <p:spTgt spid="60426"/>
                                        </p:tgtEl>
                                        <p:attrNameLst>
                                          <p:attrName>ppt_w</p:attrName>
                                        </p:attrNameLst>
                                      </p:cBhvr>
                                      <p:tavLst>
                                        <p:tav tm="0" fmla="#ppt_w*sin(2.5*pi*$)">
                                          <p:val>
                                            <p:fltVal val="0.000000"/>
                                          </p:val>
                                        </p:tav>
                                        <p:tav tm="100000">
                                          <p:val>
                                            <p:fltVal val="1.000000"/>
                                          </p:val>
                                        </p:tav>
                                      </p:tavLst>
                                    </p:anim>
                                    <p:anim calcmode="lin" valueType="num">
                                      <p:cBhvr>
                                        <p:cTn id="14" dur="5000" fill="hold"/>
                                        <p:tgtEl>
                                          <p:spTgt spid="60426"/>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9" presetClass="entr" presetSubtype="10" fill="hold" grpId="0" nodeType="clickEffect">
                                  <p:stCondLst>
                                    <p:cond delay="0"/>
                                  </p:stCondLst>
                                  <p:childTnLst>
                                    <p:set>
                                      <p:cBhvr>
                                        <p:cTn id="18" dur="1" fill="hold">
                                          <p:stCondLst>
                                            <p:cond delay="0"/>
                                          </p:stCondLst>
                                        </p:cTn>
                                        <p:tgtEl>
                                          <p:spTgt spid="60425"/>
                                        </p:tgtEl>
                                        <p:attrNameLst>
                                          <p:attrName>style.visibility</p:attrName>
                                        </p:attrNameLst>
                                      </p:cBhvr>
                                      <p:to>
                                        <p:strVal val="visible"/>
                                      </p:to>
                                    </p:set>
                                    <p:anim calcmode="lin" valueType="num">
                                      <p:cBhvr>
                                        <p:cTn id="19" dur="5000" fill="hold"/>
                                        <p:tgtEl>
                                          <p:spTgt spid="60425"/>
                                        </p:tgtEl>
                                        <p:attrNameLst>
                                          <p:attrName>ppt_w</p:attrName>
                                        </p:attrNameLst>
                                      </p:cBhvr>
                                      <p:tavLst>
                                        <p:tav tm="0" fmla="#ppt_w*sin(2.5*pi*$)">
                                          <p:val>
                                            <p:fltVal val="0.000000"/>
                                          </p:val>
                                        </p:tav>
                                        <p:tav tm="100000">
                                          <p:val>
                                            <p:fltVal val="1.000000"/>
                                          </p:val>
                                        </p:tav>
                                      </p:tavLst>
                                    </p:anim>
                                    <p:anim calcmode="lin" valueType="num">
                                      <p:cBhvr>
                                        <p:cTn id="20" dur="5000" fill="hold"/>
                                        <p:tgtEl>
                                          <p:spTgt spid="60425"/>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0427"/>
                                        </p:tgtEl>
                                        <p:attrNameLst>
                                          <p:attrName>style.visibility</p:attrName>
                                        </p:attrNameLst>
                                      </p:cBhvr>
                                      <p:to>
                                        <p:strVal val="visible"/>
                                      </p:to>
                                    </p:set>
                                    <p:animEffect transition="in" filter="wipe(left)">
                                      <p:cBhvr>
                                        <p:cTn id="29" dur="500"/>
                                        <p:tgtEl>
                                          <p:spTgt spid="6042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0428"/>
                                        </p:tgtEl>
                                        <p:attrNameLst>
                                          <p:attrName>style.visibility</p:attrName>
                                        </p:attrNameLst>
                                      </p:cBhvr>
                                      <p:to>
                                        <p:strVal val="visible"/>
                                      </p:to>
                                    </p:set>
                                    <p:animEffect transition="in" filter="wipe(left)">
                                      <p:cBhvr>
                                        <p:cTn id="34" dur="500"/>
                                        <p:tgtEl>
                                          <p:spTgt spid="6042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0429"/>
                                        </p:tgtEl>
                                        <p:attrNameLst>
                                          <p:attrName>style.visibility</p:attrName>
                                        </p:attrNameLst>
                                      </p:cBhvr>
                                      <p:to>
                                        <p:strVal val="visible"/>
                                      </p:to>
                                    </p:set>
                                    <p:animEffect transition="in" filter="wipe(left)">
                                      <p:cBhvr>
                                        <p:cTn id="39" dur="500"/>
                                        <p:tgtEl>
                                          <p:spTgt spid="60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animBg="1"/>
      <p:bldP spid="60425" grpId="0" animBg="1"/>
      <p:bldP spid="60426" grpId="0" animBg="1"/>
      <p:bldP spid="60427" grpId="0"/>
      <p:bldP spid="60428" grpId="0"/>
      <p:bldP spid="6042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Rectangle 2"/>
          <p:cNvSpPr>
            <a:spLocks noGrp="1"/>
          </p:cNvSpPr>
          <p:nvPr>
            <p:ph type="title"/>
          </p:nvPr>
        </p:nvSpPr>
        <p:spPr>
          <a:xfrm>
            <a:off x="457200" y="304800"/>
            <a:ext cx="7772400" cy="762000"/>
          </a:xfrm>
          <a:ln/>
        </p:spPr>
        <p:txBody>
          <a:bodyPr vert="horz" wrap="square" lIns="91440" tIns="45720" rIns="91440" bIns="45720" anchor="b"/>
          <a:p>
            <a:pPr eaLnBrk="1" hangingPunct="1"/>
            <a:r>
              <a:rPr lang="en-US" altLang="zh-CN" sz="3600" b="1">
                <a:solidFill>
                  <a:srgbClr val="3333FF"/>
                </a:solidFill>
                <a:latin typeface="Arial" panose="020B0604020202020204" pitchFamily="34" charset="0"/>
              </a:rPr>
              <a:t>4</a:t>
            </a:r>
            <a:r>
              <a:rPr lang="zh-CN" altLang="en-US" sz="3600" b="1">
                <a:solidFill>
                  <a:srgbClr val="3333FF"/>
                </a:solidFill>
                <a:latin typeface="Arial" panose="020B0604020202020204" pitchFamily="34" charset="0"/>
              </a:rPr>
              <a:t>、模型解的分析和检验</a:t>
            </a:r>
            <a:endParaRPr lang="zh-CN" altLang="en-US" sz="3600" b="1">
              <a:solidFill>
                <a:srgbClr val="3333FF"/>
              </a:solidFill>
              <a:latin typeface="Arial" panose="020B0604020202020204" pitchFamily="34" charset="0"/>
            </a:endParaRPr>
          </a:p>
        </p:txBody>
      </p:sp>
      <p:sp>
        <p:nvSpPr>
          <p:cNvPr id="61445" name="AutoShape 5"/>
          <p:cNvSpPr/>
          <p:nvPr/>
        </p:nvSpPr>
        <p:spPr>
          <a:xfrm>
            <a:off x="1371600" y="1219200"/>
            <a:ext cx="6096000" cy="914400"/>
          </a:xfrm>
          <a:prstGeom prst="flowChartAlternateProcess">
            <a:avLst/>
          </a:prstGeom>
          <a:gradFill rotWithShape="0">
            <a:gsLst>
              <a:gs pos="0">
                <a:srgbClr val="0A0A7E"/>
              </a:gs>
              <a:gs pos="50000">
                <a:schemeClr val="accent1"/>
              </a:gs>
              <a:gs pos="100000">
                <a:srgbClr val="0A0A7E"/>
              </a:gs>
            </a:gsLst>
            <a:lin ang="5400000" scaled="1"/>
            <a:tileRect/>
          </a:gradFill>
          <a:ln w="9525" cap="flat" cmpd="sng">
            <a:solidFill>
              <a:schemeClr val="tx1"/>
            </a:solidFill>
            <a:prstDash val="solid"/>
            <a:miter/>
            <a:headEnd type="none" w="med" len="med"/>
            <a:tailEnd type="none" w="med" len="med"/>
          </a:ln>
        </p:spPr>
        <p:txBody>
          <a:bodyPr wrap="none" anchor="ctr"/>
          <a:p>
            <a:pPr algn="ctr"/>
            <a:r>
              <a:rPr lang="zh-CN" altLang="en-US" sz="3200" b="1">
                <a:solidFill>
                  <a:srgbClr val="FFFFFF"/>
                </a:solidFill>
                <a:latin typeface="Times New Roman" panose="02020603050405020304" pitchFamily="18" charset="0"/>
                <a:ea typeface="宋体" panose="02010600030101010101" pitchFamily="2" charset="-122"/>
              </a:rPr>
              <a:t>始于现实世界并终于现实世界</a:t>
            </a:r>
            <a:endParaRPr lang="zh-CN" altLang="en-US" sz="3200" b="1">
              <a:solidFill>
                <a:srgbClr val="FFFFFF"/>
              </a:solidFill>
              <a:latin typeface="Times New Roman" panose="02020603050405020304" pitchFamily="18" charset="0"/>
              <a:ea typeface="宋体" panose="02010600030101010101" pitchFamily="2" charset="-122"/>
            </a:endParaRPr>
          </a:p>
        </p:txBody>
      </p:sp>
      <p:sp>
        <p:nvSpPr>
          <p:cNvPr id="61446" name="AutoShape 6"/>
          <p:cNvSpPr/>
          <p:nvPr/>
        </p:nvSpPr>
        <p:spPr>
          <a:xfrm>
            <a:off x="457200" y="2667000"/>
            <a:ext cx="2590800" cy="1524000"/>
          </a:xfrm>
          <a:prstGeom prst="cloudCallout">
            <a:avLst>
              <a:gd name="adj1" fmla="val 96630"/>
              <a:gd name="adj2" fmla="val -79792"/>
            </a:avLst>
          </a:prstGeom>
          <a:gradFill rotWithShape="0">
            <a:gsLst>
              <a:gs pos="0">
                <a:srgbClr val="FFCC99"/>
              </a:gs>
              <a:gs pos="100000">
                <a:srgbClr val="FFFFFF"/>
              </a:gs>
            </a:gsLst>
            <a:lin ang="5400000" scaled="1"/>
            <a:tileRect/>
          </a:gradFill>
          <a:ln w="9525" cap="flat" cmpd="sng">
            <a:solidFill>
              <a:schemeClr val="tx1"/>
            </a:solidFill>
            <a:prstDash val="solid"/>
            <a:round/>
            <a:headEnd type="none" w="med" len="med"/>
            <a:tailEnd type="none" w="med" len="med"/>
          </a:ln>
        </p:spPr>
        <p:txBody>
          <a:bodyPr anchor="t"/>
          <a:p>
            <a:pPr algn="ctr"/>
            <a:r>
              <a:rPr lang="zh-CN" altLang="en-US" sz="3200" b="1">
                <a:latin typeface="Times New Roman" panose="02020603050405020304" pitchFamily="18" charset="0"/>
                <a:ea typeface="楷体_GB2312" pitchFamily="49" charset="-122"/>
              </a:rPr>
              <a:t>数学建模工作</a:t>
            </a:r>
            <a:endParaRPr lang="zh-CN" altLang="en-US" sz="3200" b="1">
              <a:latin typeface="Times New Roman" panose="02020603050405020304" pitchFamily="18" charset="0"/>
              <a:ea typeface="楷体_GB2312" pitchFamily="49" charset="-122"/>
            </a:endParaRPr>
          </a:p>
        </p:txBody>
      </p:sp>
      <p:sp>
        <p:nvSpPr>
          <p:cNvPr id="61447" name="AutoShape 7"/>
          <p:cNvSpPr/>
          <p:nvPr/>
        </p:nvSpPr>
        <p:spPr>
          <a:xfrm>
            <a:off x="4267200" y="2819400"/>
            <a:ext cx="4876800" cy="1676400"/>
          </a:xfrm>
          <a:prstGeom prst="cloudCallout">
            <a:avLst>
              <a:gd name="adj1" fmla="val -42579"/>
              <a:gd name="adj2" fmla="val -83616"/>
            </a:avLst>
          </a:prstGeom>
          <a:gradFill rotWithShape="0">
            <a:gsLst>
              <a:gs pos="0">
                <a:schemeClr val="hlink"/>
              </a:gs>
              <a:gs pos="100000">
                <a:srgbClr val="FFFFFF"/>
              </a:gs>
            </a:gsLst>
            <a:lin ang="5400000" scaled="1"/>
            <a:tileRect/>
          </a:gradFill>
          <a:ln w="9525" cap="flat" cmpd="sng">
            <a:solidFill>
              <a:schemeClr val="tx1"/>
            </a:solidFill>
            <a:prstDash val="solid"/>
            <a:round/>
            <a:headEnd type="none" w="med" len="med"/>
            <a:tailEnd type="none" w="med" len="med"/>
          </a:ln>
        </p:spPr>
        <p:txBody>
          <a:bodyPr anchor="t"/>
          <a:p>
            <a:pPr algn="ctr"/>
            <a:r>
              <a:rPr lang="zh-CN" altLang="en-US" sz="3600" b="1">
                <a:latin typeface="Times New Roman" panose="02020603050405020304" pitchFamily="18" charset="0"/>
                <a:ea typeface="楷体_GB2312" pitchFamily="49" charset="-122"/>
              </a:rPr>
              <a:t>最终要得到现实问题的解答</a:t>
            </a:r>
            <a:endParaRPr lang="zh-CN" altLang="en-US" sz="3600" b="1">
              <a:latin typeface="Times New Roman" panose="02020603050405020304" pitchFamily="18" charset="0"/>
              <a:ea typeface="楷体_GB2312" pitchFamily="49" charset="-122"/>
            </a:endParaRPr>
          </a:p>
        </p:txBody>
      </p:sp>
      <p:sp>
        <p:nvSpPr>
          <p:cNvPr id="61448" name="Text Box 8"/>
          <p:cNvSpPr txBox="1"/>
          <p:nvPr/>
        </p:nvSpPr>
        <p:spPr>
          <a:xfrm>
            <a:off x="990600" y="4800600"/>
            <a:ext cx="7010400" cy="1128713"/>
          </a:xfrm>
          <a:prstGeom prst="rect">
            <a:avLst/>
          </a:prstGeom>
          <a:solidFill>
            <a:srgbClr val="0A0A7E"/>
          </a:solidFill>
          <a:ln w="9525">
            <a:noFill/>
          </a:ln>
        </p:spPr>
        <p:txBody>
          <a:bodyPr anchor="t">
            <a:spAutoFit/>
          </a:bodyPr>
          <a:p>
            <a:r>
              <a:rPr lang="en-US" altLang="zh-CN" sz="3200" b="1">
                <a:latin typeface="Times New Roman" panose="02020603050405020304" pitchFamily="18" charset="0"/>
                <a:ea typeface="楷体_GB2312" pitchFamily="49" charset="-122"/>
              </a:rPr>
              <a:t>     </a:t>
            </a:r>
            <a:r>
              <a:rPr lang="zh-CN" altLang="en-US" sz="3200" b="1">
                <a:solidFill>
                  <a:srgbClr val="FFFFFF"/>
                </a:solidFill>
                <a:latin typeface="Times New Roman" panose="02020603050405020304" pitchFamily="18" charset="0"/>
                <a:ea typeface="楷体_GB2312" pitchFamily="49" charset="-122"/>
              </a:rPr>
              <a:t>求出模型的数学解以后，</a:t>
            </a:r>
            <a:endParaRPr lang="zh-CN" altLang="en-US" sz="3200" b="1">
              <a:solidFill>
                <a:srgbClr val="FFFFFF"/>
              </a:solidFill>
              <a:latin typeface="Times New Roman" panose="02020603050405020304" pitchFamily="18" charset="0"/>
              <a:ea typeface="楷体_GB2312" pitchFamily="49" charset="-122"/>
            </a:endParaRPr>
          </a:p>
          <a:p>
            <a:r>
              <a:rPr lang="zh-CN" altLang="en-US" sz="3600" b="1">
                <a:solidFill>
                  <a:srgbClr val="FFFFFF"/>
                </a:solidFill>
                <a:latin typeface="Times New Roman" panose="02020603050405020304" pitchFamily="18" charset="0"/>
                <a:ea typeface="楷体_GB2312" pitchFamily="49" charset="-122"/>
              </a:rPr>
              <a:t>必须对解的意义进行分析、检验</a:t>
            </a:r>
            <a:endParaRPr lang="zh-CN" altLang="en-US" sz="3600">
              <a:solidFill>
                <a:srgbClr val="FFFFFF"/>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wd">
                                    <p:tmPct val="100000"/>
                                  </p:iterate>
                                  <p:childTnLst>
                                    <p:set>
                                      <p:cBhvr>
                                        <p:cTn id="6" dur="1" fill="hold">
                                          <p:stCondLst>
                                            <p:cond delay="0"/>
                                          </p:stCondLst>
                                        </p:cTn>
                                        <p:tgtEl>
                                          <p:spTgt spid="61445"/>
                                        </p:tgtEl>
                                        <p:attrNameLst>
                                          <p:attrName>style.visibility</p:attrName>
                                        </p:attrNameLst>
                                      </p:cBhvr>
                                      <p:to>
                                        <p:strVal val="visible"/>
                                      </p:to>
                                    </p:set>
                                    <p:animEffect transition="in" filter="wipe(up)">
                                      <p:cBhvr>
                                        <p:cTn id="7" dur="300"/>
                                        <p:tgtEl>
                                          <p:spTgt spid="6144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1446"/>
                                        </p:tgtEl>
                                        <p:attrNameLst>
                                          <p:attrName>style.visibility</p:attrName>
                                        </p:attrNameLst>
                                      </p:cBhvr>
                                      <p:to>
                                        <p:strVal val="visible"/>
                                      </p:to>
                                    </p:set>
                                    <p:animEffect transition="in" filter="dissolve">
                                      <p:cBhvr>
                                        <p:cTn id="12" dur="500"/>
                                        <p:tgtEl>
                                          <p:spTgt spid="614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447"/>
                                        </p:tgtEl>
                                        <p:attrNameLst>
                                          <p:attrName>style.visibility</p:attrName>
                                        </p:attrNameLst>
                                      </p:cBhvr>
                                      <p:to>
                                        <p:strVal val="visible"/>
                                      </p:to>
                                    </p:set>
                                    <p:animEffect transition="in" filter="dissolve">
                                      <p:cBhvr>
                                        <p:cTn id="17" dur="500"/>
                                        <p:tgtEl>
                                          <p:spTgt spid="614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iterate type="wd">
                                    <p:tmPct val="100000"/>
                                  </p:iterate>
                                  <p:childTnLst>
                                    <p:set>
                                      <p:cBhvr>
                                        <p:cTn id="21" dur="1" fill="hold">
                                          <p:stCondLst>
                                            <p:cond delay="0"/>
                                          </p:stCondLst>
                                        </p:cTn>
                                        <p:tgtEl>
                                          <p:spTgt spid="61448"/>
                                        </p:tgtEl>
                                        <p:attrNameLst>
                                          <p:attrName>style.visibility</p:attrName>
                                        </p:attrNameLst>
                                      </p:cBhvr>
                                      <p:to>
                                        <p:strVal val="visible"/>
                                      </p:to>
                                    </p:set>
                                    <p:animEffect transition="in" filter="wipe(up)">
                                      <p:cBhvr>
                                        <p:cTn id="22" dur="300"/>
                                        <p:tgtEl>
                                          <p:spTgt spid="61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animBg="1"/>
      <p:bldP spid="61446" grpId="0" animBg="1"/>
      <p:bldP spid="61447" grpId="0" animBg="1"/>
      <p:bldP spid="6144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8" name="Text Box 4"/>
          <p:cNvSpPr txBox="1"/>
          <p:nvPr/>
        </p:nvSpPr>
        <p:spPr>
          <a:xfrm>
            <a:off x="609600" y="1524000"/>
            <a:ext cx="4264025" cy="579438"/>
          </a:xfrm>
          <a:prstGeom prst="rect">
            <a:avLst/>
          </a:prstGeom>
          <a:noFill/>
          <a:ln w="9525">
            <a:noFill/>
          </a:ln>
        </p:spPr>
        <p:txBody>
          <a:bodyPr wrap="none" anchor="t">
            <a:spAutoFit/>
          </a:bodyPr>
          <a:p>
            <a:r>
              <a:rPr lang="zh-CN" altLang="en-US" sz="3200" b="1">
                <a:latin typeface="Times New Roman" panose="02020603050405020304" pitchFamily="18" charset="0"/>
                <a:ea typeface="楷体_GB2312" pitchFamily="49" charset="-122"/>
              </a:rPr>
              <a:t>需讨论以下类似问题：</a:t>
            </a:r>
            <a:endParaRPr lang="zh-CN" altLang="en-US" sz="3200" b="1">
              <a:latin typeface="Times New Roman" panose="02020603050405020304" pitchFamily="18" charset="0"/>
              <a:ea typeface="楷体_GB2312" pitchFamily="49" charset="-122"/>
            </a:endParaRPr>
          </a:p>
        </p:txBody>
      </p:sp>
      <p:sp>
        <p:nvSpPr>
          <p:cNvPr id="62469" name="Text Box 5"/>
          <p:cNvSpPr txBox="1"/>
          <p:nvPr/>
        </p:nvSpPr>
        <p:spPr>
          <a:xfrm>
            <a:off x="381000" y="2133600"/>
            <a:ext cx="5078413" cy="579438"/>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1. </a:t>
            </a:r>
            <a:r>
              <a:rPr lang="zh-CN" altLang="en-US" sz="3200" b="1">
                <a:latin typeface="Times New Roman" panose="02020603050405020304" pitchFamily="18" charset="0"/>
                <a:ea typeface="楷体_GB2312" pitchFamily="49" charset="-122"/>
              </a:rPr>
              <a:t>这个解说明了什么问题？</a:t>
            </a:r>
            <a:endParaRPr lang="zh-CN" altLang="en-US" sz="3200" b="1">
              <a:latin typeface="Times New Roman" panose="02020603050405020304" pitchFamily="18" charset="0"/>
              <a:ea typeface="楷体_GB2312" pitchFamily="49" charset="-122"/>
            </a:endParaRPr>
          </a:p>
        </p:txBody>
      </p:sp>
      <p:sp>
        <p:nvSpPr>
          <p:cNvPr id="62470" name="Text Box 6"/>
          <p:cNvSpPr txBox="1"/>
          <p:nvPr/>
        </p:nvSpPr>
        <p:spPr>
          <a:xfrm>
            <a:off x="381000" y="2773363"/>
            <a:ext cx="5078413" cy="579437"/>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2. </a:t>
            </a:r>
            <a:r>
              <a:rPr lang="zh-CN" altLang="en-US" sz="3200" b="1">
                <a:latin typeface="Times New Roman" panose="02020603050405020304" pitchFamily="18" charset="0"/>
                <a:ea typeface="楷体_GB2312" pitchFamily="49" charset="-122"/>
              </a:rPr>
              <a:t>是否达到了建模的目的？</a:t>
            </a:r>
            <a:endParaRPr lang="zh-CN" altLang="en-US" sz="3200" b="1">
              <a:latin typeface="Times New Roman" panose="02020603050405020304" pitchFamily="18" charset="0"/>
              <a:ea typeface="楷体_GB2312" pitchFamily="49" charset="-122"/>
            </a:endParaRPr>
          </a:p>
        </p:txBody>
      </p:sp>
      <p:sp>
        <p:nvSpPr>
          <p:cNvPr id="62471" name="Text Box 7"/>
          <p:cNvSpPr txBox="1"/>
          <p:nvPr/>
        </p:nvSpPr>
        <p:spPr>
          <a:xfrm>
            <a:off x="381000" y="3382963"/>
            <a:ext cx="4670425" cy="579437"/>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3. </a:t>
            </a:r>
            <a:r>
              <a:rPr lang="zh-CN" altLang="en-US" sz="3200" b="1">
                <a:latin typeface="Times New Roman" panose="02020603050405020304" pitchFamily="18" charset="0"/>
                <a:ea typeface="楷体_GB2312" pitchFamily="49" charset="-122"/>
              </a:rPr>
              <a:t>模型的适用范围怎样？</a:t>
            </a:r>
            <a:endParaRPr lang="zh-CN" altLang="en-US" sz="3200">
              <a:latin typeface="Times New Roman" panose="02020603050405020304" pitchFamily="18" charset="0"/>
              <a:ea typeface="楷体_GB2312" pitchFamily="49" charset="-122"/>
            </a:endParaRPr>
          </a:p>
        </p:txBody>
      </p:sp>
      <p:sp>
        <p:nvSpPr>
          <p:cNvPr id="62473" name="Text Box 9"/>
          <p:cNvSpPr txBox="1"/>
          <p:nvPr/>
        </p:nvSpPr>
        <p:spPr>
          <a:xfrm>
            <a:off x="390525" y="3940175"/>
            <a:ext cx="8342313" cy="1165225"/>
          </a:xfrm>
          <a:prstGeom prst="rect">
            <a:avLst/>
          </a:prstGeom>
          <a:noFill/>
          <a:ln w="9525">
            <a:noFill/>
          </a:ln>
        </p:spPr>
        <p:txBody>
          <a:bodyPr wrap="none" anchor="t">
            <a:spAutoFit/>
          </a:bodyPr>
          <a:p>
            <a:pPr>
              <a:lnSpc>
                <a:spcPct val="110000"/>
              </a:lnSpc>
            </a:pPr>
            <a:r>
              <a:rPr lang="en-US" altLang="zh-CN" sz="3200" b="1">
                <a:latin typeface="Times New Roman" panose="02020603050405020304" pitchFamily="18" charset="0"/>
                <a:ea typeface="楷体_GB2312" pitchFamily="49" charset="-122"/>
              </a:rPr>
              <a:t>4. </a:t>
            </a:r>
            <a:r>
              <a:rPr lang="zh-CN" altLang="en-US" sz="3200" b="1">
                <a:latin typeface="Times New Roman" panose="02020603050405020304" pitchFamily="18" charset="0"/>
                <a:ea typeface="楷体_GB2312" pitchFamily="49" charset="-122"/>
              </a:rPr>
              <a:t>所建模型是否合理？是否合乎实际？是否有</a:t>
            </a:r>
            <a:endParaRPr lang="zh-CN" altLang="en-US" sz="3200" b="1">
              <a:latin typeface="Times New Roman" panose="02020603050405020304" pitchFamily="18" charset="0"/>
              <a:ea typeface="楷体_GB2312" pitchFamily="49" charset="-122"/>
            </a:endParaRPr>
          </a:p>
          <a:p>
            <a:pPr>
              <a:lnSpc>
                <a:spcPct val="110000"/>
              </a:lnSpc>
            </a:pPr>
            <a:r>
              <a:rPr lang="zh-CN" altLang="en-US" sz="3200" b="1">
                <a:latin typeface="Times New Roman" panose="02020603050405020304" pitchFamily="18" charset="0"/>
                <a:ea typeface="楷体_GB2312" pitchFamily="49" charset="-122"/>
              </a:rPr>
              <a:t>     原理性错误、常识性错误？</a:t>
            </a:r>
            <a:r>
              <a:rPr lang="en-US" altLang="zh-CN" sz="3200" b="1">
                <a:latin typeface="Times New Roman" panose="02020603050405020304" pitchFamily="18" charset="0"/>
                <a:ea typeface="楷体_GB2312" pitchFamily="49" charset="-122"/>
              </a:rPr>
              <a:t>……</a:t>
            </a:r>
            <a:endParaRPr lang="en-US" altLang="zh-CN" sz="3200" b="1">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Effect transition="in" filter="wipe(left)">
                                      <p:cBhvr>
                                        <p:cTn id="7" dur="500"/>
                                        <p:tgtEl>
                                          <p:spTgt spid="624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69"/>
                                        </p:tgtEl>
                                        <p:attrNameLst>
                                          <p:attrName>style.visibility</p:attrName>
                                        </p:attrNameLst>
                                      </p:cBhvr>
                                      <p:to>
                                        <p:strVal val="visible"/>
                                      </p:to>
                                    </p:set>
                                    <p:animEffect transition="in" filter="wipe(left)">
                                      <p:cBhvr>
                                        <p:cTn id="12" dur="500"/>
                                        <p:tgtEl>
                                          <p:spTgt spid="624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70"/>
                                        </p:tgtEl>
                                        <p:attrNameLst>
                                          <p:attrName>style.visibility</p:attrName>
                                        </p:attrNameLst>
                                      </p:cBhvr>
                                      <p:to>
                                        <p:strVal val="visible"/>
                                      </p:to>
                                    </p:set>
                                    <p:animEffect transition="in" filter="wipe(left)">
                                      <p:cBhvr>
                                        <p:cTn id="17" dur="500"/>
                                        <p:tgtEl>
                                          <p:spTgt spid="624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71"/>
                                        </p:tgtEl>
                                        <p:attrNameLst>
                                          <p:attrName>style.visibility</p:attrName>
                                        </p:attrNameLst>
                                      </p:cBhvr>
                                      <p:to>
                                        <p:strVal val="visible"/>
                                      </p:to>
                                    </p:set>
                                    <p:animEffect transition="in" filter="wipe(left)">
                                      <p:cBhvr>
                                        <p:cTn id="22" dur="500"/>
                                        <p:tgtEl>
                                          <p:spTgt spid="624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473"/>
                                        </p:tgtEl>
                                        <p:attrNameLst>
                                          <p:attrName>style.visibility</p:attrName>
                                        </p:attrNameLst>
                                      </p:cBhvr>
                                      <p:to>
                                        <p:strVal val="visible"/>
                                      </p:to>
                                    </p:set>
                                    <p:animEffect transition="in" filter="wipe(left)">
                                      <p:cBhvr>
                                        <p:cTn id="27" dur="500"/>
                                        <p:tgtEl>
                                          <p:spTgt spid="62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p:bldP spid="62469" grpId="0"/>
      <p:bldP spid="62470" grpId="0"/>
      <p:bldP spid="62471" grpId="0"/>
      <p:bldP spid="6247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idx="1"/>
          </p:nvPr>
        </p:nvSpPr>
        <p:spPr>
          <a:xfrm>
            <a:off x="457200" y="2438400"/>
            <a:ext cx="7772400" cy="3505200"/>
          </a:xfrm>
          <a:ln/>
        </p:spPr>
        <p:txBody>
          <a:bodyPr vert="horz" wrap="square" lIns="91440" tIns="45720" rIns="91440" bIns="45720" anchor="t"/>
          <a:p>
            <a:pPr algn="just" eaLnBrk="1" hangingPunct="1"/>
            <a:r>
              <a:rPr lang="en-US" altLang="zh-CN" b="1"/>
              <a:t> </a:t>
            </a:r>
            <a:r>
              <a:rPr lang="zh-CN" altLang="en-US" b="1">
                <a:ea typeface="楷体_GB2312" pitchFamily="49" charset="-122"/>
              </a:rPr>
              <a:t>量纲一致性检验；</a:t>
            </a:r>
            <a:endParaRPr lang="zh-CN" altLang="en-US"/>
          </a:p>
          <a:p>
            <a:pPr algn="just" eaLnBrk="1" hangingPunct="1"/>
            <a:r>
              <a:rPr lang="zh-CN" altLang="en-US" b="1">
                <a:ea typeface="楷体_GB2312" pitchFamily="49" charset="-122"/>
              </a:rPr>
              <a:t>假设的合理性检验；</a:t>
            </a:r>
            <a:endParaRPr lang="zh-CN" altLang="en-US"/>
          </a:p>
          <a:p>
            <a:pPr algn="just" eaLnBrk="1" hangingPunct="1"/>
            <a:r>
              <a:rPr lang="zh-CN" altLang="en-US" b="1">
                <a:ea typeface="楷体_GB2312" pitchFamily="49" charset="-122"/>
              </a:rPr>
              <a:t>对模型参数的灵敏度分析；</a:t>
            </a:r>
            <a:endParaRPr lang="zh-CN" altLang="en-US"/>
          </a:p>
          <a:p>
            <a:pPr algn="just" eaLnBrk="1" hangingPunct="1"/>
            <a:r>
              <a:rPr lang="zh-CN" altLang="en-US" b="1">
                <a:ea typeface="楷体_GB2312" pitchFamily="49" charset="-122"/>
              </a:rPr>
              <a:t>模型及模型解的误差分析，分析误差及误差的来源等；</a:t>
            </a:r>
            <a:endParaRPr lang="zh-CN" altLang="en-US"/>
          </a:p>
          <a:p>
            <a:pPr algn="just" eaLnBrk="1" hangingPunct="1"/>
            <a:r>
              <a:rPr lang="zh-CN" altLang="en-US" b="1">
                <a:ea typeface="楷体_GB2312" pitchFamily="49" charset="-122"/>
              </a:rPr>
              <a:t>参数或变量的临界值；</a:t>
            </a:r>
            <a:r>
              <a:rPr lang="en-US" altLang="zh-CN" b="1">
                <a:latin typeface="Arial" panose="020B0604020202020204" pitchFamily="34" charset="0"/>
                <a:ea typeface="楷体_GB2312" pitchFamily="49" charset="-122"/>
              </a:rPr>
              <a:t>……</a:t>
            </a:r>
            <a:endParaRPr lang="en-US" altLang="zh-CN"/>
          </a:p>
        </p:txBody>
      </p:sp>
      <p:sp>
        <p:nvSpPr>
          <p:cNvPr id="36866" name="Text Box 5"/>
          <p:cNvSpPr txBox="1"/>
          <p:nvPr/>
        </p:nvSpPr>
        <p:spPr>
          <a:xfrm>
            <a:off x="381000" y="1371600"/>
            <a:ext cx="8035925" cy="1066800"/>
          </a:xfrm>
          <a:prstGeom prst="rect">
            <a:avLst/>
          </a:prstGeom>
          <a:noFill/>
          <a:ln w="9525">
            <a:noFill/>
          </a:ln>
        </p:spPr>
        <p:txBody>
          <a:bodyPr wrap="none" anchor="t">
            <a:spAutoFit/>
          </a:bodyPr>
          <a:p>
            <a:r>
              <a:rPr lang="en-US" altLang="zh-CN" sz="3200" b="1">
                <a:latin typeface="Times New Roman" panose="02020603050405020304" pitchFamily="18" charset="0"/>
                <a:ea typeface="楷体_GB2312" pitchFamily="49" charset="-122"/>
              </a:rPr>
              <a:t>     </a:t>
            </a:r>
            <a:r>
              <a:rPr lang="zh-CN" altLang="en-US" sz="3200" b="1">
                <a:latin typeface="Times New Roman" panose="02020603050405020304" pitchFamily="18" charset="0"/>
                <a:ea typeface="楷体_GB2312" pitchFamily="49" charset="-122"/>
              </a:rPr>
              <a:t>模型与模型解的分析与检验，通常需要做</a:t>
            </a:r>
            <a:endParaRPr lang="zh-CN" altLang="en-US" sz="3200" b="1">
              <a:latin typeface="Times New Roman" panose="02020603050405020304" pitchFamily="18" charset="0"/>
              <a:ea typeface="楷体_GB2312" pitchFamily="49" charset="-122"/>
            </a:endParaRPr>
          </a:p>
          <a:p>
            <a:r>
              <a:rPr lang="zh-CN" altLang="en-US" sz="3200" b="1">
                <a:latin typeface="Times New Roman" panose="02020603050405020304" pitchFamily="18" charset="0"/>
                <a:ea typeface="楷体_GB2312" pitchFamily="49" charset="-122"/>
              </a:rPr>
              <a:t>以下几类工作：</a:t>
            </a:r>
            <a:r>
              <a:rPr lang="zh-CN" altLang="en-US" sz="3200">
                <a:latin typeface="Times New Roman" panose="02020603050405020304" pitchFamily="18" charset="0"/>
                <a:ea typeface="楷体_GB2312" pitchFamily="49" charset="-122"/>
              </a:rPr>
              <a:t> </a:t>
            </a:r>
            <a:endParaRPr lang="zh-CN" altLang="en-US" sz="3200">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3490">
                                            <p:txEl>
                                              <p:charRg st="0" end="10"/>
                                            </p:txEl>
                                          </p:spTgt>
                                        </p:tgtEl>
                                        <p:attrNameLst>
                                          <p:attrName>style.visibility</p:attrName>
                                        </p:attrNameLst>
                                      </p:cBhvr>
                                      <p:to>
                                        <p:strVal val="visible"/>
                                      </p:to>
                                    </p:set>
                                    <p:animEffect transition="in" filter="strips(downRight)">
                                      <p:cBhvr>
                                        <p:cTn id="7" dur="500"/>
                                        <p:tgtEl>
                                          <p:spTgt spid="63490">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3490">
                                            <p:txEl>
                                              <p:charRg st="10" end="20"/>
                                            </p:txEl>
                                          </p:spTgt>
                                        </p:tgtEl>
                                        <p:attrNameLst>
                                          <p:attrName>style.visibility</p:attrName>
                                        </p:attrNameLst>
                                      </p:cBhvr>
                                      <p:to>
                                        <p:strVal val="visible"/>
                                      </p:to>
                                    </p:set>
                                    <p:animEffect transition="in" filter="strips(downRight)">
                                      <p:cBhvr>
                                        <p:cTn id="12" dur="500"/>
                                        <p:tgtEl>
                                          <p:spTgt spid="63490">
                                            <p:txEl>
                                              <p:charRg st="10" end="2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3490">
                                            <p:txEl>
                                              <p:charRg st="20" end="33"/>
                                            </p:txEl>
                                          </p:spTgt>
                                        </p:tgtEl>
                                        <p:attrNameLst>
                                          <p:attrName>style.visibility</p:attrName>
                                        </p:attrNameLst>
                                      </p:cBhvr>
                                      <p:to>
                                        <p:strVal val="visible"/>
                                      </p:to>
                                    </p:set>
                                    <p:animEffect transition="in" filter="strips(downRight)">
                                      <p:cBhvr>
                                        <p:cTn id="17" dur="500"/>
                                        <p:tgtEl>
                                          <p:spTgt spid="63490">
                                            <p:txEl>
                                              <p:charRg st="20" end="3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3490">
                                            <p:txEl>
                                              <p:charRg st="33" end="58"/>
                                            </p:txEl>
                                          </p:spTgt>
                                        </p:tgtEl>
                                        <p:attrNameLst>
                                          <p:attrName>style.visibility</p:attrName>
                                        </p:attrNameLst>
                                      </p:cBhvr>
                                      <p:to>
                                        <p:strVal val="visible"/>
                                      </p:to>
                                    </p:set>
                                    <p:animEffect transition="in" filter="strips(downRight)">
                                      <p:cBhvr>
                                        <p:cTn id="22" dur="500"/>
                                        <p:tgtEl>
                                          <p:spTgt spid="63490">
                                            <p:txEl>
                                              <p:charRg st="33" end="5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63490">
                                            <p:txEl>
                                              <p:charRg st="58" end="71"/>
                                            </p:txEl>
                                          </p:spTgt>
                                        </p:tgtEl>
                                        <p:attrNameLst>
                                          <p:attrName>style.visibility</p:attrName>
                                        </p:attrNameLst>
                                      </p:cBhvr>
                                      <p:to>
                                        <p:strVal val="visible"/>
                                      </p:to>
                                    </p:set>
                                    <p:animEffect transition="in" filter="strips(downRight)">
                                      <p:cBhvr>
                                        <p:cTn id="27" dur="500"/>
                                        <p:tgtEl>
                                          <p:spTgt spid="63490">
                                            <p:txEl>
                                              <p:charRg st="58" end="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a:spLocks noGrp="1"/>
          </p:cNvSpPr>
          <p:nvPr>
            <p:ph type="title"/>
          </p:nvPr>
        </p:nvSpPr>
        <p:spPr>
          <a:xfrm>
            <a:off x="609600" y="533400"/>
            <a:ext cx="8001000" cy="533400"/>
          </a:xfrm>
          <a:ln/>
        </p:spPr>
        <p:txBody>
          <a:bodyPr vert="horz" wrap="square" lIns="91440" tIns="45720" rIns="91440" bIns="45720" anchor="b"/>
          <a:p>
            <a:pPr eaLnBrk="1" hangingPunct="1"/>
            <a:r>
              <a:rPr lang="zh-CN" altLang="en-US" sz="2800" b="1">
                <a:solidFill>
                  <a:schemeClr val="accent2"/>
                </a:solidFill>
              </a:rPr>
              <a:t>一个例子：</a:t>
            </a:r>
            <a:r>
              <a:rPr lang="en-US" altLang="zh-CN" sz="2800" b="1">
                <a:solidFill>
                  <a:schemeClr val="accent2"/>
                </a:solidFill>
              </a:rPr>
              <a:t>Google</a:t>
            </a:r>
            <a:r>
              <a:rPr lang="zh-CN" altLang="en-US" sz="2800" b="1">
                <a:solidFill>
                  <a:schemeClr val="accent2"/>
                </a:solidFill>
              </a:rPr>
              <a:t>搜索引擎的奥妙</a:t>
            </a:r>
            <a:endParaRPr lang="zh-CN" altLang="en-US" sz="2800" b="1">
              <a:solidFill>
                <a:schemeClr val="accent2"/>
              </a:solidFill>
            </a:endParaRPr>
          </a:p>
        </p:txBody>
      </p:sp>
      <p:sp>
        <p:nvSpPr>
          <p:cNvPr id="37890" name="Rectangle 3"/>
          <p:cNvSpPr>
            <a:spLocks noGrp="1"/>
          </p:cNvSpPr>
          <p:nvPr>
            <p:ph idx="1"/>
          </p:nvPr>
        </p:nvSpPr>
        <p:spPr>
          <a:ln/>
        </p:spPr>
        <p:txBody>
          <a:bodyPr vert="horz" wrap="square" lIns="91440" tIns="45720" rIns="91440" bIns="45720" anchor="t"/>
          <a:p>
            <a:pPr eaLnBrk="1" hangingPunct="1"/>
            <a:r>
              <a:rPr lang="zh-CN" altLang="en-US"/>
              <a:t>引言</a:t>
            </a:r>
            <a:endParaRPr lang="zh-CN" altLang="en-US"/>
          </a:p>
          <a:p>
            <a:pPr lvl="1" indent="-436245" eaLnBrk="1" hangingPunct="1"/>
            <a:r>
              <a:rPr lang="zh-CN" altLang="en-US"/>
              <a:t>互联网的高速发展使得网络上的信息量爆炸似的增长，高效搜索信息越来越重要，信息引擎已经成为除电子邮件之外的第二大互联网网应用。</a:t>
            </a:r>
            <a:endParaRPr lang="zh-CN" altLang="en-US"/>
          </a:p>
          <a:p>
            <a:pPr lvl="1" indent="-436245" eaLnBrk="1" hangingPunct="1"/>
            <a:r>
              <a:rPr lang="zh-CN" altLang="en-US"/>
              <a:t>在众多搜索引擎中，</a:t>
            </a:r>
            <a:r>
              <a:rPr lang="en-US" altLang="zh-CN"/>
              <a:t>Google</a:t>
            </a:r>
            <a:r>
              <a:rPr lang="zh-CN" altLang="en-US"/>
              <a:t>以其庞大的搜索量，快速而精确的搜索结果和极高的知名度成为搜索引擎的代名词。</a:t>
            </a:r>
            <a:endParaRPr lang="zh-CN" altLang="en-US"/>
          </a:p>
          <a:p>
            <a:pPr lvl="1" indent="-436245" eaLnBrk="1" hangingPunct="1"/>
            <a:r>
              <a:rPr lang="zh-CN" altLang="en-US"/>
              <a:t>可是你知道它是如何工作的吗？</a:t>
            </a:r>
            <a:endParaRPr lang="zh-CN"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AutoShape 2"/>
          <p:cNvSpPr>
            <a:spLocks noGrp="1" noChangeAspect="1"/>
          </p:cNvSpPr>
          <p:nvPr>
            <p:ph type="title"/>
          </p:nvPr>
        </p:nvSpPr>
        <p:spPr>
          <a:xfrm>
            <a:off x="609600" y="533400"/>
            <a:ext cx="8001000" cy="533400"/>
          </a:xfrm>
          <a:ln/>
        </p:spPr>
        <p:txBody>
          <a:bodyPr vert="horz" wrap="square" lIns="91440" tIns="45720" rIns="91440" bIns="45720" anchor="b"/>
          <a:p>
            <a:pPr eaLnBrk="1" hangingPunct="1"/>
            <a:r>
              <a:rPr lang="en-US" altLang="zh-CN" sz="2800"/>
              <a:t>1</a:t>
            </a:r>
            <a:r>
              <a:rPr lang="zh-CN" altLang="en-US" sz="2800"/>
              <a:t>、</a:t>
            </a:r>
            <a:r>
              <a:rPr lang="en-US" altLang="zh-CN" sz="2800"/>
              <a:t>Google</a:t>
            </a:r>
            <a:r>
              <a:rPr lang="zh-CN" altLang="en-US" sz="2800"/>
              <a:t>及其查询过程</a:t>
            </a:r>
            <a:endParaRPr lang="zh-CN" altLang="en-US" sz="2800"/>
          </a:p>
        </p:txBody>
      </p:sp>
      <p:pic>
        <p:nvPicPr>
          <p:cNvPr id="38914" name="Picture 4"/>
          <p:cNvPicPr>
            <a:picLocks noChangeAspect="1"/>
          </p:cNvPicPr>
          <p:nvPr/>
        </p:nvPicPr>
        <p:blipFill>
          <a:blip r:embed="rId1"/>
          <a:stretch>
            <a:fillRect/>
          </a:stretch>
        </p:blipFill>
        <p:spPr>
          <a:xfrm>
            <a:off x="762000" y="1524000"/>
            <a:ext cx="7467600" cy="2406650"/>
          </a:xfrm>
          <a:prstGeom prst="rect">
            <a:avLst/>
          </a:prstGeom>
          <a:noFill/>
          <a:ln w="9525">
            <a:noFill/>
          </a:ln>
        </p:spPr>
      </p:pic>
      <p:pic>
        <p:nvPicPr>
          <p:cNvPr id="38915" name="Picture 5"/>
          <p:cNvPicPr>
            <a:picLocks noChangeAspect="1"/>
          </p:cNvPicPr>
          <p:nvPr/>
        </p:nvPicPr>
        <p:blipFill>
          <a:blip r:embed="rId2"/>
          <a:stretch>
            <a:fillRect/>
          </a:stretch>
        </p:blipFill>
        <p:spPr>
          <a:xfrm>
            <a:off x="838200" y="3962400"/>
            <a:ext cx="7467600" cy="2479675"/>
          </a:xfrm>
          <a:prstGeom prst="rect">
            <a:avLst/>
          </a:prstGeom>
          <a:noFill/>
          <a:ln w="9525">
            <a:noFill/>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Rectangle 2"/>
          <p:cNvSpPr>
            <a:spLocks noGrp="1"/>
          </p:cNvSpPr>
          <p:nvPr>
            <p:ph type="title"/>
          </p:nvPr>
        </p:nvSpPr>
        <p:spPr>
          <a:xfrm>
            <a:off x="609600" y="381000"/>
            <a:ext cx="8001000" cy="533400"/>
          </a:xfrm>
          <a:ln/>
        </p:spPr>
        <p:txBody>
          <a:bodyPr vert="horz" wrap="square" lIns="91440" tIns="45720" rIns="91440" bIns="45720" anchor="b"/>
          <a:p>
            <a:pPr eaLnBrk="1" hangingPunct="1"/>
            <a:r>
              <a:rPr lang="en-US" altLang="zh-CN" sz="2800"/>
              <a:t>2</a:t>
            </a:r>
            <a:r>
              <a:rPr lang="zh-CN" altLang="en-US" sz="2800"/>
              <a:t>、搜索引擎需要完成的工作</a:t>
            </a:r>
            <a:endParaRPr lang="zh-CN" altLang="en-US" sz="2800"/>
          </a:p>
        </p:txBody>
      </p:sp>
      <p:sp>
        <p:nvSpPr>
          <p:cNvPr id="39938" name="Rectangle 3"/>
          <p:cNvSpPr>
            <a:spLocks noGrp="1"/>
          </p:cNvSpPr>
          <p:nvPr>
            <p:ph idx="1"/>
          </p:nvPr>
        </p:nvSpPr>
        <p:spPr>
          <a:ln/>
        </p:spPr>
        <p:txBody>
          <a:bodyPr vert="horz" wrap="square" lIns="91440" tIns="45720" rIns="91440" bIns="45720" anchor="t"/>
          <a:p>
            <a:pPr eaLnBrk="1" hangingPunct="1"/>
            <a:r>
              <a:rPr lang="zh-CN" altLang="en-US"/>
              <a:t>从页面上可以看到，与关键词</a:t>
            </a:r>
            <a:r>
              <a:rPr lang="zh-CN" altLang="en-US">
                <a:latin typeface="Arial" panose="020B0604020202020204" pitchFamily="34" charset="0"/>
              </a:rPr>
              <a:t>“</a:t>
            </a:r>
            <a:r>
              <a:rPr lang="en-US" altLang="zh-CN"/>
              <a:t>math modeling</a:t>
            </a:r>
            <a:r>
              <a:rPr lang="en-US" altLang="zh-CN">
                <a:latin typeface="Arial" panose="020B0604020202020204" pitchFamily="34" charset="0"/>
              </a:rPr>
              <a:t>”</a:t>
            </a:r>
            <a:r>
              <a:rPr lang="zh-CN" altLang="en-US"/>
              <a:t>匹配的结果有</a:t>
            </a:r>
            <a:r>
              <a:rPr lang="en-US" altLang="zh-CN"/>
              <a:t>3000</a:t>
            </a:r>
            <a:r>
              <a:rPr lang="zh-CN" altLang="en-US"/>
              <a:t>多万条；与关键词</a:t>
            </a:r>
            <a:r>
              <a:rPr lang="zh-CN" altLang="en-US">
                <a:latin typeface="Arial" panose="020B0604020202020204" pitchFamily="34" charset="0"/>
              </a:rPr>
              <a:t>“</a:t>
            </a:r>
            <a:r>
              <a:rPr lang="zh-CN" altLang="en-US"/>
              <a:t>数学建模</a:t>
            </a:r>
            <a:r>
              <a:rPr lang="zh-CN" altLang="en-US">
                <a:latin typeface="Arial" panose="020B0604020202020204" pitchFamily="34" charset="0"/>
              </a:rPr>
              <a:t>”</a:t>
            </a:r>
            <a:r>
              <a:rPr lang="zh-CN" altLang="en-US"/>
              <a:t>匹配的关键词有</a:t>
            </a:r>
            <a:r>
              <a:rPr lang="en-US" altLang="zh-CN"/>
              <a:t>130</a:t>
            </a:r>
            <a:r>
              <a:rPr lang="zh-CN" altLang="en-US"/>
              <a:t>多万条；用户需要的显然不是所有，而是其中最重要的，如何实现快速的搜索，如何合理定义网页的重要性无疑是</a:t>
            </a:r>
            <a:r>
              <a:rPr lang="en-US" altLang="zh-CN"/>
              <a:t>Google</a:t>
            </a:r>
            <a:r>
              <a:rPr lang="zh-CN" altLang="en-US"/>
              <a:t>制胜的关键。</a:t>
            </a:r>
            <a:endParaRPr lang="zh-CN" altLang="en-US"/>
          </a:p>
          <a:p>
            <a:pPr eaLnBrk="1" hangingPunct="1"/>
            <a:r>
              <a:rPr lang="zh-CN" altLang="en-US"/>
              <a:t>如何最快速最精确的提供搜索结果？</a:t>
            </a:r>
            <a:endParaRPr lang="zh-CN" altLang="en-US"/>
          </a:p>
          <a:p>
            <a:pPr eaLnBrk="1" hangingPunct="1"/>
            <a:r>
              <a:rPr lang="zh-CN" altLang="en-US"/>
              <a:t>搜索引擎完成的工作：</a:t>
            </a:r>
            <a:endParaRPr lang="zh-CN" altLang="en-US"/>
          </a:p>
          <a:p>
            <a:pPr lvl="1" indent="-436245" eaLnBrk="1" hangingPunct="1"/>
            <a:r>
              <a:rPr lang="zh-CN" altLang="en-US"/>
              <a:t>自动下载尽可能多的网页；</a:t>
            </a:r>
            <a:endParaRPr lang="zh-CN" altLang="en-US"/>
          </a:p>
          <a:p>
            <a:pPr lvl="1" indent="-436245" eaLnBrk="1" hangingPunct="1"/>
            <a:r>
              <a:rPr lang="zh-CN" altLang="en-US"/>
              <a:t>建立快速有效的索引；</a:t>
            </a:r>
            <a:endParaRPr lang="zh-CN" altLang="en-US"/>
          </a:p>
          <a:p>
            <a:pPr lvl="1" indent="-436245" eaLnBrk="1" hangingPunct="1"/>
            <a:r>
              <a:rPr lang="zh-CN" altLang="en-US"/>
              <a:t>根据相关性对网页进行公平准确的排序。 </a:t>
            </a:r>
            <a:endParaRPr lang="zh-CN"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Rectangle 2"/>
          <p:cNvSpPr>
            <a:spLocks noGrp="1"/>
          </p:cNvSpPr>
          <p:nvPr>
            <p:ph type="title"/>
          </p:nvPr>
        </p:nvSpPr>
        <p:spPr>
          <a:xfrm>
            <a:off x="609600" y="381000"/>
            <a:ext cx="8001000" cy="533400"/>
          </a:xfrm>
          <a:ln/>
        </p:spPr>
        <p:txBody>
          <a:bodyPr vert="horz" wrap="square" lIns="91440" tIns="45720" rIns="91440" bIns="45720" anchor="b"/>
          <a:p>
            <a:pPr eaLnBrk="1" hangingPunct="1"/>
            <a:r>
              <a:rPr lang="en-US" altLang="zh-CN" sz="2800"/>
              <a:t>2</a:t>
            </a:r>
            <a:r>
              <a:rPr lang="zh-CN" altLang="en-US" sz="2800"/>
              <a:t>、搜索引擎需要完成的工作</a:t>
            </a:r>
            <a:endParaRPr lang="zh-CN" altLang="en-US" sz="2800"/>
          </a:p>
        </p:txBody>
      </p:sp>
      <p:sp>
        <p:nvSpPr>
          <p:cNvPr id="40962" name="Rectangle 3"/>
          <p:cNvSpPr>
            <a:spLocks noGrp="1"/>
          </p:cNvSpPr>
          <p:nvPr>
            <p:ph idx="1"/>
          </p:nvPr>
        </p:nvSpPr>
        <p:spPr>
          <a:ln/>
        </p:spPr>
        <p:txBody>
          <a:bodyPr vert="horz" wrap="square" lIns="91440" tIns="45720" rIns="91440" bIns="45720" anchor="t"/>
          <a:p>
            <a:pPr eaLnBrk="1" hangingPunct="1"/>
            <a:r>
              <a:rPr lang="zh-CN" altLang="en-US"/>
              <a:t>从页面上可以看到，与关键词</a:t>
            </a:r>
            <a:r>
              <a:rPr lang="zh-CN" altLang="en-US">
                <a:latin typeface="Arial" panose="020B0604020202020204" pitchFamily="34" charset="0"/>
              </a:rPr>
              <a:t>“</a:t>
            </a:r>
            <a:r>
              <a:rPr lang="en-US" altLang="zh-CN"/>
              <a:t>math modeling</a:t>
            </a:r>
            <a:r>
              <a:rPr lang="en-US" altLang="zh-CN">
                <a:latin typeface="Arial" panose="020B0604020202020204" pitchFamily="34" charset="0"/>
              </a:rPr>
              <a:t>”</a:t>
            </a:r>
            <a:r>
              <a:rPr lang="zh-CN" altLang="en-US"/>
              <a:t>匹配的结果有</a:t>
            </a:r>
            <a:r>
              <a:rPr lang="en-US" altLang="zh-CN"/>
              <a:t>3000</a:t>
            </a:r>
            <a:r>
              <a:rPr lang="zh-CN" altLang="en-US"/>
              <a:t>多万条；与关键词</a:t>
            </a:r>
            <a:r>
              <a:rPr lang="zh-CN" altLang="en-US">
                <a:latin typeface="Arial" panose="020B0604020202020204" pitchFamily="34" charset="0"/>
              </a:rPr>
              <a:t>“</a:t>
            </a:r>
            <a:r>
              <a:rPr lang="zh-CN" altLang="en-US"/>
              <a:t>数学建模</a:t>
            </a:r>
            <a:r>
              <a:rPr lang="zh-CN" altLang="en-US">
                <a:latin typeface="Arial" panose="020B0604020202020204" pitchFamily="34" charset="0"/>
              </a:rPr>
              <a:t>”</a:t>
            </a:r>
            <a:r>
              <a:rPr lang="zh-CN" altLang="en-US"/>
              <a:t>匹配的关键词有</a:t>
            </a:r>
            <a:r>
              <a:rPr lang="en-US" altLang="zh-CN"/>
              <a:t>130</a:t>
            </a:r>
            <a:r>
              <a:rPr lang="zh-CN" altLang="en-US"/>
              <a:t>多万条；用户需要的显然不是所有，而是其中最重要的，如何实现快速的搜索，如何合理定义网页的重要性无疑是</a:t>
            </a:r>
            <a:r>
              <a:rPr lang="en-US" altLang="zh-CN"/>
              <a:t>Google</a:t>
            </a:r>
            <a:r>
              <a:rPr lang="zh-CN" altLang="en-US"/>
              <a:t>制胜的关键。</a:t>
            </a:r>
            <a:endParaRPr lang="zh-CN" altLang="en-US"/>
          </a:p>
          <a:p>
            <a:pPr eaLnBrk="1" hangingPunct="1"/>
            <a:r>
              <a:rPr lang="zh-CN" altLang="en-US"/>
              <a:t>如何最快速最精确的提供搜索结果？</a:t>
            </a:r>
            <a:endParaRPr lang="zh-CN" altLang="en-US"/>
          </a:p>
          <a:p>
            <a:pPr eaLnBrk="1" hangingPunct="1"/>
            <a:r>
              <a:rPr lang="zh-CN" altLang="en-US"/>
              <a:t>搜索引擎完成的工作：</a:t>
            </a:r>
            <a:endParaRPr lang="zh-CN" altLang="en-US"/>
          </a:p>
          <a:p>
            <a:pPr lvl="1" indent="-436245" eaLnBrk="1" hangingPunct="1"/>
            <a:r>
              <a:rPr lang="zh-CN" altLang="en-US"/>
              <a:t>自动下载尽可能多的网页；</a:t>
            </a:r>
            <a:endParaRPr lang="zh-CN" altLang="en-US"/>
          </a:p>
          <a:p>
            <a:pPr lvl="1" indent="-436245" eaLnBrk="1" hangingPunct="1"/>
            <a:r>
              <a:rPr lang="zh-CN" altLang="en-US"/>
              <a:t>建立快速有效的索引；</a:t>
            </a:r>
            <a:endParaRPr lang="zh-CN" altLang="en-US"/>
          </a:p>
          <a:p>
            <a:pPr lvl="1" indent="-436245" eaLnBrk="1" hangingPunct="1"/>
            <a:r>
              <a:rPr lang="zh-CN" altLang="en-US"/>
              <a:t>根据相关性对网页进行公平准确的排序。 </a:t>
            </a:r>
            <a:endParaRPr lang="zh-CN" alt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3"/>
          <p:cNvSpPr>
            <a:spLocks noGrp="1"/>
          </p:cNvSpPr>
          <p:nvPr>
            <p:ph idx="1"/>
          </p:nvPr>
        </p:nvSpPr>
        <p:spPr>
          <a:ln/>
        </p:spPr>
        <p:txBody>
          <a:bodyPr vert="horz" wrap="square" lIns="91440" tIns="45720" rIns="91440" bIns="45720" anchor="t"/>
          <a:p>
            <a:pPr eaLnBrk="1" hangingPunct="1">
              <a:lnSpc>
                <a:spcPct val="90000"/>
              </a:lnSpc>
            </a:pPr>
            <a:r>
              <a:rPr lang="zh-CN" altLang="en-US" sz="2000"/>
              <a:t>它要用到图论中的</a:t>
            </a:r>
            <a:r>
              <a:rPr lang="zh-CN" altLang="en-US" sz="2000">
                <a:solidFill>
                  <a:schemeClr val="accent2"/>
                </a:solidFill>
              </a:rPr>
              <a:t>遍历</a:t>
            </a:r>
            <a:r>
              <a:rPr lang="zh-CN" altLang="en-US" sz="2000"/>
              <a:t>（</a:t>
            </a:r>
            <a:r>
              <a:rPr lang="en-US" altLang="zh-CN" sz="2000"/>
              <a:t>Traverse) </a:t>
            </a:r>
            <a:r>
              <a:rPr lang="zh-CN" altLang="en-US" sz="2000"/>
              <a:t>算法。 </a:t>
            </a:r>
            <a:endParaRPr lang="zh-CN" altLang="en-US" sz="2000"/>
          </a:p>
          <a:p>
            <a:pPr lvl="1" indent="-436245" eaLnBrk="1" hangingPunct="1">
              <a:lnSpc>
                <a:spcPct val="90000"/>
              </a:lnSpc>
            </a:pPr>
            <a:r>
              <a:rPr lang="zh-CN" altLang="en-US" sz="1800"/>
              <a:t>图论中所讨论的的图由一些节点和连接这些节点的弧组成。如果我们把中国的城市当成节点，连接城市的国道当成弧，那么全国的公路干线网就是图论中所说的图。关于图的算法有很多，但最重要的是图的遍历算法，也就是如何通过弧访问图的各个节点。 </a:t>
            </a:r>
            <a:endParaRPr lang="zh-CN" altLang="en-US" sz="1800"/>
          </a:p>
          <a:p>
            <a:pPr lvl="1" indent="-436245" eaLnBrk="1" hangingPunct="1">
              <a:lnSpc>
                <a:spcPct val="90000"/>
              </a:lnSpc>
            </a:pPr>
            <a:r>
              <a:rPr lang="zh-CN" altLang="en-US" sz="1800"/>
              <a:t>以中国公路网为例，我们从北京出发，看一看北京和哪些城市直接相连，比如说和天津、济南、石家庄、南京、沈阳、大同直接相连。我们可以依次访问这些城市，然后我们看看都有哪些城市和这些已经访问过的城市相连，比如说北戴河、秦皇岛与天津相连，青岛、烟台和济南相连，太原、郑州和石家庄相连等等，我们再一次访问北戴河这些城市，直到中国所有的城市都访问过一遍为止。这种图的遍历算法称为</a:t>
            </a:r>
            <a:r>
              <a:rPr lang="zh-CN" altLang="en-US" sz="1800">
                <a:latin typeface="Arial" panose="020B0604020202020204" pitchFamily="34" charset="0"/>
              </a:rPr>
              <a:t>“</a:t>
            </a:r>
            <a:r>
              <a:rPr lang="zh-CN" altLang="en-US" sz="1800"/>
              <a:t>广度优先算法</a:t>
            </a:r>
            <a:r>
              <a:rPr lang="zh-CN" altLang="en-US" sz="1800">
                <a:latin typeface="Arial" panose="020B0604020202020204" pitchFamily="34" charset="0"/>
              </a:rPr>
              <a:t>”</a:t>
            </a:r>
            <a:r>
              <a:rPr lang="zh-CN" altLang="en-US" sz="1800"/>
              <a:t>（</a:t>
            </a:r>
            <a:r>
              <a:rPr lang="en-US" altLang="zh-CN" sz="1800"/>
              <a:t>BFS)</a:t>
            </a:r>
            <a:r>
              <a:rPr lang="zh-CN" altLang="en-US" sz="1800"/>
              <a:t>，因为它先要尽可能广地访问每个节点所直接连接的其他节点。 </a:t>
            </a:r>
            <a:endParaRPr lang="zh-CN" altLang="en-US" sz="1800"/>
          </a:p>
          <a:p>
            <a:pPr lvl="1" indent="-436245" eaLnBrk="1" hangingPunct="1">
              <a:lnSpc>
                <a:spcPct val="90000"/>
              </a:lnSpc>
            </a:pPr>
            <a:r>
              <a:rPr lang="zh-CN" altLang="en-US" sz="1800"/>
              <a:t>外还有一种策略是从北京出发，随便找到下一个要访问的城市，比如是济南，然后从济南出发到下一个城市，比如说南京，再访问从南京出发的城市，一直走到头。然后再往回找，看看中间是否有尚未访问的城市。这种方法叫</a:t>
            </a:r>
            <a:r>
              <a:rPr lang="zh-CN" altLang="en-US" sz="1800">
                <a:latin typeface="Arial" panose="020B0604020202020204" pitchFamily="34" charset="0"/>
              </a:rPr>
              <a:t>“</a:t>
            </a:r>
            <a:r>
              <a:rPr lang="zh-CN" altLang="en-US" sz="1800"/>
              <a:t>深度优先算法</a:t>
            </a:r>
            <a:r>
              <a:rPr lang="zh-CN" altLang="en-US" sz="1800">
                <a:latin typeface="Arial" panose="020B0604020202020204" pitchFamily="34" charset="0"/>
              </a:rPr>
              <a:t>”</a:t>
            </a:r>
            <a:r>
              <a:rPr lang="zh-CN" altLang="en-US" sz="1800"/>
              <a:t>（</a:t>
            </a:r>
            <a:r>
              <a:rPr lang="en-US" altLang="zh-CN" sz="1800"/>
              <a:t>DFS)</a:t>
            </a:r>
            <a:r>
              <a:rPr lang="zh-CN" altLang="en-US" sz="1800"/>
              <a:t>，因为它是一条路走到黑。这两种方法都可以保证访问到全部的城市。 </a:t>
            </a:r>
            <a:endParaRPr lang="zh-CN" altLang="en-US" sz="1800"/>
          </a:p>
        </p:txBody>
      </p:sp>
      <p:sp>
        <p:nvSpPr>
          <p:cNvPr id="41986" name="Text Box 4"/>
          <p:cNvSpPr txBox="1"/>
          <p:nvPr/>
        </p:nvSpPr>
        <p:spPr>
          <a:xfrm>
            <a:off x="0" y="6126163"/>
            <a:ext cx="9448800" cy="731837"/>
          </a:xfrm>
          <a:prstGeom prst="rect">
            <a:avLst/>
          </a:prstGeom>
          <a:noFill/>
          <a:ln w="9525">
            <a:noFill/>
          </a:ln>
        </p:spPr>
        <p:txBody>
          <a:bodyPr anchor="t">
            <a:spAutoFit/>
          </a:bodyPr>
          <a:p>
            <a:pPr>
              <a:spcBef>
                <a:spcPct val="50000"/>
              </a:spcBef>
            </a:pPr>
            <a:r>
              <a:rPr lang="zh-CN" altLang="en-US" sz="2400">
                <a:solidFill>
                  <a:schemeClr val="accent2"/>
                </a:solidFill>
                <a:latin typeface="Arial" panose="020B0604020202020204" pitchFamily="34" charset="0"/>
                <a:ea typeface="黑体" panose="02010609060101010101" pitchFamily="2" charset="-122"/>
              </a:rPr>
              <a:t>需要记录已经访问过的城市，以防同一个城市访问多次或者漏掉哪个</a:t>
            </a:r>
            <a:br>
              <a:rPr lang="zh-CN" altLang="en-US">
                <a:latin typeface="Arial" panose="020B0604020202020204" pitchFamily="34" charset="0"/>
                <a:ea typeface="宋体" panose="02010600030101010101" pitchFamily="2" charset="-122"/>
              </a:rPr>
            </a:br>
            <a:endParaRPr lang="zh-CN" altLang="en-US">
              <a:latin typeface="Arial" panose="020B0604020202020204" pitchFamily="34" charset="0"/>
              <a:ea typeface="宋体" panose="02010600030101010101" pitchFamily="2" charset="-122"/>
            </a:endParaRPr>
          </a:p>
        </p:txBody>
      </p:sp>
      <p:sp>
        <p:nvSpPr>
          <p:cNvPr id="41987" name="Rectangle 5"/>
          <p:cNvSpPr>
            <a:spLocks noGrp="1"/>
          </p:cNvSpPr>
          <p:nvPr>
            <p:ph type="title"/>
          </p:nvPr>
        </p:nvSpPr>
        <p:spPr>
          <a:xfrm>
            <a:off x="533400" y="457200"/>
            <a:ext cx="8001000" cy="533400"/>
          </a:xfrm>
          <a:ln/>
        </p:spPr>
        <p:txBody>
          <a:bodyPr vert="horz" wrap="square" lIns="91440" tIns="45720" rIns="91440" bIns="45720" anchor="b"/>
          <a:p>
            <a:pPr eaLnBrk="1" hangingPunct="1"/>
            <a:r>
              <a:rPr lang="zh-CN" altLang="en-US" sz="2800"/>
              <a:t>如何自动下载互联网所有的网页呢？</a:t>
            </a:r>
            <a:endParaRPr lang="zh-CN" altLang="en-US" sz="280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3"/>
          <p:cNvSpPr>
            <a:spLocks noGrp="1"/>
          </p:cNvSpPr>
          <p:nvPr>
            <p:ph idx="1"/>
          </p:nvPr>
        </p:nvSpPr>
        <p:spPr>
          <a:xfrm>
            <a:off x="566738" y="1341438"/>
            <a:ext cx="8001000" cy="6126162"/>
          </a:xfrm>
          <a:ln/>
        </p:spPr>
        <p:txBody>
          <a:bodyPr vert="horz" wrap="square" lIns="91440" tIns="45720" rIns="91440" bIns="45720" anchor="t"/>
          <a:p>
            <a:pPr eaLnBrk="1" hangingPunct="1"/>
            <a:r>
              <a:rPr lang="zh-CN" altLang="en-US" sz="2400"/>
              <a:t>通过超链接，我们可以从任何一个网页出发，用图的遍历算法，自动地访问到每一个网页并把它们存起来。完成这个功能的程序叫做网络爬虫，或者在一些文献中称为</a:t>
            </a:r>
            <a:r>
              <a:rPr lang="zh-CN" altLang="en-US" sz="2400">
                <a:latin typeface="Arial" panose="020B0604020202020204" pitchFamily="34" charset="0"/>
              </a:rPr>
              <a:t>“</a:t>
            </a:r>
            <a:r>
              <a:rPr lang="zh-CN" altLang="en-US" sz="2400"/>
              <a:t>机器人</a:t>
            </a:r>
            <a:r>
              <a:rPr lang="zh-CN" altLang="en-US" sz="2400">
                <a:latin typeface="Arial" panose="020B0604020202020204" pitchFamily="34" charset="0"/>
              </a:rPr>
              <a:t>”</a:t>
            </a:r>
            <a:r>
              <a:rPr lang="zh-CN" altLang="en-US" sz="2400"/>
              <a:t>（</a:t>
            </a:r>
            <a:r>
              <a:rPr lang="en-US" altLang="zh-CN" sz="2400"/>
              <a:t>Robot)</a:t>
            </a:r>
            <a:r>
              <a:rPr lang="zh-CN" altLang="en-US" sz="2400"/>
              <a:t>。 </a:t>
            </a:r>
            <a:endParaRPr lang="zh-CN" altLang="en-US" sz="2400"/>
          </a:p>
          <a:p>
            <a:pPr eaLnBrk="1" hangingPunct="1"/>
            <a:r>
              <a:rPr lang="zh-CN" altLang="en-US" sz="2400"/>
              <a:t>假定我们从一家门户网站的首页出发，先下载这个网页，然后通过分析这个网页，可以找到藏在它里面的所有超链接，也就等于知道了这家门户网站首页所直接连接的全部网页，诸如雅虎邮件、雅虎财经、雅虎新闻等等。我们接下来访问、下载并分析这家门户网站的邮件等网页，又能找到其他相连的网页。我们让计算机不停地做下去，就能下载整个的互联网。当然，我们也要记载哪个网页下载过了，以免重复。在网络爬虫中，我们使用一个称为</a:t>
            </a:r>
            <a:r>
              <a:rPr lang="zh-CN" altLang="en-US" sz="2400">
                <a:latin typeface="Arial" panose="020B0604020202020204" pitchFamily="34" charset="0"/>
              </a:rPr>
              <a:t>“</a:t>
            </a:r>
            <a:r>
              <a:rPr lang="zh-CN" altLang="en-US" sz="2400">
                <a:hlinkClick r:id="rId1"/>
              </a:rPr>
              <a:t>哈希表</a:t>
            </a:r>
            <a:r>
              <a:rPr lang="zh-CN" altLang="en-US" sz="2400">
                <a:latin typeface="Arial" panose="020B0604020202020204" pitchFamily="34" charset="0"/>
              </a:rPr>
              <a:t>”</a:t>
            </a:r>
            <a:r>
              <a:rPr lang="en-US" altLang="zh-CN" sz="2400"/>
              <a:t>(Hash Table)</a:t>
            </a:r>
            <a:r>
              <a:rPr lang="zh-CN" altLang="en-US" sz="2400"/>
              <a:t>的列表而不是一个记事本纪录网页是否下载过的信息。</a:t>
            </a:r>
            <a:br>
              <a:rPr lang="zh-CN" altLang="en-US" sz="2400"/>
            </a:br>
            <a:endParaRPr lang="zh-CN" altLang="en-US" sz="240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Rectangle 3"/>
          <p:cNvSpPr>
            <a:spLocks noGrp="1"/>
          </p:cNvSpPr>
          <p:nvPr>
            <p:ph idx="1"/>
          </p:nvPr>
        </p:nvSpPr>
        <p:spPr>
          <a:ln/>
        </p:spPr>
        <p:txBody>
          <a:bodyPr vert="horz" wrap="square" lIns="91440" tIns="45720" rIns="91440" bIns="45720" anchor="t"/>
          <a:p>
            <a:pPr eaLnBrk="1" hangingPunct="1"/>
            <a:r>
              <a:rPr lang="zh-CN" altLang="en-US"/>
              <a:t>现在的互联网非常巨大，不可能通过一台或几台计算机服务器就能完成下载任务。比如雅虎公司（</a:t>
            </a:r>
            <a:r>
              <a:rPr lang="en-US" altLang="zh-CN"/>
              <a:t>Google </a:t>
            </a:r>
            <a:r>
              <a:rPr lang="zh-CN" altLang="en-US"/>
              <a:t>没有公开数目，这里举了雅虎的索引大小为例）宣称他们索引了 </a:t>
            </a:r>
            <a:r>
              <a:rPr lang="en-US" altLang="zh-CN"/>
              <a:t>200 </a:t>
            </a:r>
            <a:r>
              <a:rPr lang="zh-CN" altLang="en-US"/>
              <a:t>亿个网页，假如下载一个网页需要一秒钟，下载这 </a:t>
            </a:r>
            <a:r>
              <a:rPr lang="en-US" altLang="zh-CN"/>
              <a:t>200 </a:t>
            </a:r>
            <a:r>
              <a:rPr lang="zh-CN" altLang="en-US"/>
              <a:t>亿个网页则需要 </a:t>
            </a:r>
            <a:r>
              <a:rPr lang="en-US" altLang="zh-CN"/>
              <a:t>634 </a:t>
            </a:r>
            <a:r>
              <a:rPr lang="zh-CN" altLang="en-US"/>
              <a:t>年。因此，一个商业的网络爬虫需要有成千上万个服务器，并且由快速网络连接起来。如何建立这样复杂的网络系统，如何协调这些服务器的任务，就是网络设计和程序设计的艺术了。 </a:t>
            </a:r>
            <a:endParaRPr lang="zh-CN" alt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Rectangle 2"/>
          <p:cNvSpPr>
            <a:spLocks noGrp="1"/>
          </p:cNvSpPr>
          <p:nvPr>
            <p:ph type="title"/>
          </p:nvPr>
        </p:nvSpPr>
        <p:spPr>
          <a:xfrm>
            <a:off x="533400" y="533400"/>
            <a:ext cx="8001000" cy="533400"/>
          </a:xfrm>
          <a:ln/>
        </p:spPr>
        <p:txBody>
          <a:bodyPr vert="horz" wrap="square" lIns="91440" tIns="45720" rIns="91440" bIns="45720" anchor="b"/>
          <a:p>
            <a:pPr eaLnBrk="1" hangingPunct="1"/>
            <a:r>
              <a:rPr lang="zh-CN" altLang="en-US" sz="2800"/>
              <a:t>如何建立快速的索引？</a:t>
            </a:r>
            <a:endParaRPr lang="zh-CN" altLang="en-US" sz="2800"/>
          </a:p>
        </p:txBody>
      </p:sp>
      <p:sp>
        <p:nvSpPr>
          <p:cNvPr id="45058" name="Rectangle 3"/>
          <p:cNvSpPr>
            <a:spLocks noGrp="1"/>
          </p:cNvSpPr>
          <p:nvPr>
            <p:ph idx="1"/>
          </p:nvPr>
        </p:nvSpPr>
        <p:spPr>
          <a:xfrm>
            <a:off x="566738" y="1341438"/>
            <a:ext cx="8001000" cy="5516562"/>
          </a:xfrm>
          <a:ln/>
        </p:spPr>
        <p:txBody>
          <a:bodyPr vert="horz" wrap="square" lIns="91440" tIns="45720" rIns="91440" bIns="45720" anchor="t"/>
          <a:p>
            <a:pPr eaLnBrk="1" hangingPunct="1">
              <a:lnSpc>
                <a:spcPct val="110000"/>
              </a:lnSpc>
            </a:pPr>
            <a:r>
              <a:rPr lang="zh-CN" altLang="en-US" sz="2400"/>
              <a:t>世界上不可能有比二进制更简单的计数方法了，也不可能有比布尔运算更简单的运算了。尽管今天每个搜索引擎都宣称自己如何聪明、多么智能化，其实从根本上讲都没有逃出布尔运算的框框。</a:t>
            </a:r>
            <a:endParaRPr lang="zh-CN" altLang="en-US" sz="2400"/>
          </a:p>
          <a:p>
            <a:pPr eaLnBrk="1" hangingPunct="1">
              <a:lnSpc>
                <a:spcPct val="110000"/>
              </a:lnSpc>
            </a:pPr>
            <a:r>
              <a:rPr lang="zh-CN" altLang="en-US" sz="2400"/>
              <a:t>布尔代数简单得不能再简单了。运算的元素只有两个</a:t>
            </a:r>
            <a:r>
              <a:rPr lang="en-US" altLang="zh-CN" sz="2400"/>
              <a:t>1 </a:t>
            </a:r>
            <a:r>
              <a:rPr lang="zh-CN" altLang="en-US" sz="2400"/>
              <a:t>（</a:t>
            </a:r>
            <a:r>
              <a:rPr lang="en-US" altLang="zh-CN" sz="2400"/>
              <a:t>TRUE</a:t>
            </a:r>
            <a:r>
              <a:rPr lang="zh-CN" altLang="en-US" sz="2400"/>
              <a:t>， 真</a:t>
            </a:r>
            <a:r>
              <a:rPr lang="en-US" altLang="zh-CN" sz="2400"/>
              <a:t>) </a:t>
            </a:r>
            <a:r>
              <a:rPr lang="zh-CN" altLang="en-US" sz="2400"/>
              <a:t>和 </a:t>
            </a:r>
            <a:r>
              <a:rPr lang="en-US" altLang="zh-CN" sz="2400"/>
              <a:t>0</a:t>
            </a:r>
            <a:r>
              <a:rPr lang="zh-CN" altLang="en-US" sz="2400"/>
              <a:t>（</a:t>
            </a:r>
            <a:r>
              <a:rPr lang="en-US" altLang="zh-CN" sz="2400"/>
              <a:t>FALSE</a:t>
            </a:r>
            <a:r>
              <a:rPr lang="zh-CN" altLang="en-US" sz="2400"/>
              <a:t>，假</a:t>
            </a:r>
            <a:r>
              <a:rPr lang="en-US" altLang="zh-CN" sz="2400"/>
              <a:t>)</a:t>
            </a:r>
            <a:r>
              <a:rPr lang="zh-CN" altLang="en-US" sz="2400"/>
              <a:t>。 </a:t>
            </a:r>
            <a:endParaRPr lang="zh-CN" altLang="en-US" sz="2400"/>
          </a:p>
          <a:p>
            <a:pPr eaLnBrk="1" hangingPunct="1">
              <a:lnSpc>
                <a:spcPct val="110000"/>
              </a:lnSpc>
            </a:pPr>
            <a:r>
              <a:rPr lang="zh-CN" altLang="en-US" sz="2400"/>
              <a:t>你们也许会问这么简单的理论能解决什么实际问题。事实上在布尔代数提出后</a:t>
            </a:r>
            <a:r>
              <a:rPr lang="en-US" altLang="zh-CN" sz="2400"/>
              <a:t>80 </a:t>
            </a:r>
            <a:r>
              <a:rPr lang="zh-CN" altLang="en-US" sz="2400"/>
              <a:t>多年里，它确实没有什么像样的应用，直到 </a:t>
            </a:r>
            <a:r>
              <a:rPr lang="en-US" altLang="zh-CN" sz="2400"/>
              <a:t>1938 </a:t>
            </a:r>
            <a:r>
              <a:rPr lang="zh-CN" altLang="en-US" sz="2400"/>
              <a:t>年香农在他的硕士论文中指出用布尔代数来实现开关电路，才使得布尔代数成为数字电路的基础。所有的数学和逻辑运算，加、减、乘、除、乘方、开方等等，全部能转换成二值的布尔运算。</a:t>
            </a:r>
            <a:endParaRPr lang="zh-CN" altLang="en-US" sz="240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Rectangle 3"/>
          <p:cNvSpPr>
            <a:spLocks noGrp="1"/>
          </p:cNvSpPr>
          <p:nvPr>
            <p:ph idx="1"/>
          </p:nvPr>
        </p:nvSpPr>
        <p:spPr>
          <a:ln/>
        </p:spPr>
        <p:txBody>
          <a:bodyPr vert="horz" wrap="square" lIns="91440" tIns="45720" rIns="91440" bIns="45720" anchor="t"/>
          <a:p>
            <a:pPr eaLnBrk="1" hangingPunct="1"/>
            <a:r>
              <a:rPr lang="zh-CN" altLang="en-US" sz="2400"/>
              <a:t>文献检索和布尔运算的关系</a:t>
            </a:r>
            <a:endParaRPr lang="zh-CN" altLang="en-US" sz="2400"/>
          </a:p>
          <a:p>
            <a:pPr lvl="1" indent="-436245" eaLnBrk="1" hangingPunct="1"/>
            <a:r>
              <a:rPr lang="zh-CN" altLang="en-US" sz="2000"/>
              <a:t>对于一个用户输入的关键词，搜索引擎要判断每篇文献是否含有这个关键词，如果一篇文献含有它，我们相应地给这篇文献一个逻辑值 </a:t>
            </a:r>
            <a:r>
              <a:rPr lang="en-US" altLang="zh-CN" sz="2000"/>
              <a:t>-- </a:t>
            </a:r>
            <a:r>
              <a:rPr lang="zh-CN" altLang="en-US" sz="2000"/>
              <a:t>真（</a:t>
            </a:r>
            <a:r>
              <a:rPr lang="en-US" altLang="zh-CN" sz="2000"/>
              <a:t>TRUE,</a:t>
            </a:r>
            <a:r>
              <a:rPr lang="zh-CN" altLang="en-US" sz="2000"/>
              <a:t>或 </a:t>
            </a:r>
            <a:r>
              <a:rPr lang="en-US" altLang="zh-CN" sz="2000"/>
              <a:t>1</a:t>
            </a:r>
            <a:r>
              <a:rPr lang="zh-CN" altLang="en-US" sz="2000"/>
              <a:t>），否则，给一个逻辑值 </a:t>
            </a:r>
            <a:r>
              <a:rPr lang="en-US" altLang="zh-CN" sz="2000"/>
              <a:t>-- </a:t>
            </a:r>
            <a:r>
              <a:rPr lang="zh-CN" altLang="en-US" sz="2000"/>
              <a:t>假（</a:t>
            </a:r>
            <a:r>
              <a:rPr lang="en-US" altLang="zh-CN" sz="2000"/>
              <a:t>FALSE, </a:t>
            </a:r>
            <a:r>
              <a:rPr lang="zh-CN" altLang="en-US" sz="2000"/>
              <a:t>或</a:t>
            </a:r>
            <a:r>
              <a:rPr lang="en-US" altLang="zh-CN" sz="2000"/>
              <a:t>0</a:t>
            </a:r>
            <a:r>
              <a:rPr lang="zh-CN" altLang="en-US" sz="2000"/>
              <a:t>）。</a:t>
            </a:r>
            <a:endParaRPr lang="zh-CN" altLang="en-US" sz="2000"/>
          </a:p>
          <a:p>
            <a:pPr lvl="1" indent="-436245" eaLnBrk="1" hangingPunct="1"/>
            <a:r>
              <a:rPr lang="zh-CN" altLang="en-US" sz="2000"/>
              <a:t>比如我们要找有关原子能应用的文献，但并不想知道如何造原子弹：</a:t>
            </a:r>
            <a:endParaRPr lang="zh-CN" altLang="en-US" sz="2000"/>
          </a:p>
          <a:p>
            <a:pPr lvl="2" indent="-394970" eaLnBrk="1" hangingPunct="1"/>
            <a:r>
              <a:rPr lang="zh-CN" altLang="en-US" sz="1800"/>
              <a:t>写一个查询语句</a:t>
            </a:r>
            <a:r>
              <a:rPr lang="zh-CN" altLang="en-US" sz="1800">
                <a:latin typeface="Arial" panose="020B0604020202020204" pitchFamily="34" charset="0"/>
              </a:rPr>
              <a:t>“</a:t>
            </a:r>
            <a:r>
              <a:rPr lang="zh-CN" altLang="en-US" sz="1800"/>
              <a:t>原子能 </a:t>
            </a:r>
            <a:r>
              <a:rPr lang="en-US" altLang="zh-CN" sz="1800"/>
              <a:t>AND </a:t>
            </a:r>
            <a:r>
              <a:rPr lang="zh-CN" altLang="en-US" sz="1800"/>
              <a:t>应用 </a:t>
            </a:r>
            <a:r>
              <a:rPr lang="en-US" altLang="zh-CN" sz="1800"/>
              <a:t>AND (NOT </a:t>
            </a:r>
            <a:r>
              <a:rPr lang="zh-CN" altLang="en-US" sz="1800"/>
              <a:t>原子弹</a:t>
            </a:r>
            <a:r>
              <a:rPr lang="en-US" altLang="zh-CN" sz="1800"/>
              <a:t>)</a:t>
            </a:r>
            <a:r>
              <a:rPr lang="en-US" altLang="zh-CN" sz="1800">
                <a:latin typeface="Arial" panose="020B0604020202020204" pitchFamily="34" charset="0"/>
              </a:rPr>
              <a:t>”</a:t>
            </a:r>
            <a:r>
              <a:rPr lang="zh-CN" altLang="en-US" sz="1800"/>
              <a:t>。</a:t>
            </a:r>
            <a:endParaRPr lang="zh-CN" altLang="en-US" sz="1800"/>
          </a:p>
          <a:p>
            <a:pPr lvl="2" indent="-394970" eaLnBrk="1" hangingPunct="1"/>
            <a:r>
              <a:rPr lang="zh-CN" altLang="en-US" sz="1800"/>
              <a:t>每一篇文献对于上面每一个条件，都有一个 </a:t>
            </a:r>
            <a:r>
              <a:rPr lang="en-US" altLang="zh-CN" sz="1800"/>
              <a:t>True </a:t>
            </a:r>
            <a:r>
              <a:rPr lang="zh-CN" altLang="en-US" sz="1800"/>
              <a:t>或者 </a:t>
            </a:r>
            <a:r>
              <a:rPr lang="en-US" altLang="zh-CN" sz="1800"/>
              <a:t>False </a:t>
            </a:r>
            <a:r>
              <a:rPr lang="zh-CN" altLang="en-US" sz="1800"/>
              <a:t>的答案，根据上述真值表就能算出每篇文献是否是要找的 网页。</a:t>
            </a:r>
            <a:endParaRPr lang="zh-CN" altLang="en-US" sz="1800"/>
          </a:p>
          <a:p>
            <a:pPr lvl="1" indent="-436245" eaLnBrk="1" hangingPunct="1"/>
            <a:r>
              <a:rPr lang="zh-CN" altLang="en-US" sz="2000"/>
              <a:t>当然在查询时，不能将每篇文献扫描一遍，来看看它是否满足上面三个条件，因此需要建立一个索引。</a:t>
            </a:r>
            <a:br>
              <a:rPr lang="zh-CN" altLang="en-US" sz="2000"/>
            </a:br>
            <a:endParaRPr lang="zh-CN" altLang="en-US" sz="200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3"/>
          <p:cNvSpPr>
            <a:spLocks noGrp="1"/>
          </p:cNvSpPr>
          <p:nvPr>
            <p:ph idx="1"/>
          </p:nvPr>
        </p:nvSpPr>
        <p:spPr>
          <a:ln/>
        </p:spPr>
        <p:txBody>
          <a:bodyPr vert="horz" wrap="square" lIns="91440" tIns="45720" rIns="91440" bIns="45720" anchor="t"/>
          <a:p>
            <a:pPr lvl="1" indent="-436245" eaLnBrk="1" hangingPunct="1">
              <a:lnSpc>
                <a:spcPct val="90000"/>
              </a:lnSpc>
            </a:pPr>
            <a:r>
              <a:rPr lang="zh-CN" altLang="en-US"/>
              <a:t>最简单索引的结构是用一个很长的二进制数表示一个关键字是否出现在每篇文献中。有多少篇文献，就有多少位数，每一位对应一篇文献，</a:t>
            </a:r>
            <a:r>
              <a:rPr lang="en-US" altLang="zh-CN"/>
              <a:t>1 </a:t>
            </a:r>
            <a:r>
              <a:rPr lang="zh-CN" altLang="en-US"/>
              <a:t>代表相应的文献有这个关键字，</a:t>
            </a:r>
            <a:r>
              <a:rPr lang="en-US" altLang="zh-CN"/>
              <a:t>0 </a:t>
            </a:r>
            <a:r>
              <a:rPr lang="zh-CN" altLang="en-US"/>
              <a:t>代表没有。</a:t>
            </a:r>
            <a:endParaRPr lang="zh-CN" altLang="en-US"/>
          </a:p>
          <a:p>
            <a:pPr lvl="2" indent="-394970" eaLnBrk="1" hangingPunct="1">
              <a:lnSpc>
                <a:spcPct val="90000"/>
              </a:lnSpc>
            </a:pPr>
            <a:r>
              <a:rPr lang="zh-CN" altLang="en-US"/>
              <a:t>比如关键字</a:t>
            </a:r>
            <a:r>
              <a:rPr lang="zh-CN" altLang="en-US">
                <a:latin typeface="Arial" panose="020B0604020202020204" pitchFamily="34" charset="0"/>
              </a:rPr>
              <a:t>“</a:t>
            </a:r>
            <a:r>
              <a:rPr lang="zh-CN" altLang="en-US"/>
              <a:t>原子能</a:t>
            </a:r>
            <a:r>
              <a:rPr lang="zh-CN" altLang="en-US">
                <a:latin typeface="Arial" panose="020B0604020202020204" pitchFamily="34" charset="0"/>
              </a:rPr>
              <a:t>”</a:t>
            </a:r>
            <a:r>
              <a:rPr lang="zh-CN" altLang="en-US"/>
              <a:t>对应的二进制数是</a:t>
            </a:r>
            <a:r>
              <a:rPr lang="en-US" altLang="zh-CN"/>
              <a:t>0100100001100001</a:t>
            </a:r>
            <a:endParaRPr lang="en-US" altLang="zh-CN"/>
          </a:p>
          <a:p>
            <a:pPr lvl="2" indent="-394970" eaLnBrk="1" hangingPunct="1">
              <a:lnSpc>
                <a:spcPct val="90000"/>
              </a:lnSpc>
              <a:buNone/>
            </a:pPr>
            <a:r>
              <a:rPr lang="en-US" altLang="zh-CN"/>
              <a:t>       ...</a:t>
            </a:r>
            <a:r>
              <a:rPr lang="zh-CN" altLang="en-US"/>
              <a:t>，表示第二、第五、第九、第十、第十六篇文献包含着个关键字。 </a:t>
            </a:r>
            <a:endParaRPr lang="zh-CN" altLang="en-US"/>
          </a:p>
          <a:p>
            <a:pPr lvl="2" indent="-394970" eaLnBrk="1" hangingPunct="1">
              <a:lnSpc>
                <a:spcPct val="90000"/>
              </a:lnSpc>
            </a:pPr>
            <a:r>
              <a:rPr lang="zh-CN" altLang="en-US"/>
              <a:t>同样，我们假定</a:t>
            </a:r>
            <a:r>
              <a:rPr lang="zh-CN" altLang="en-US">
                <a:latin typeface="Arial" panose="020B0604020202020204" pitchFamily="34" charset="0"/>
              </a:rPr>
              <a:t>“</a:t>
            </a:r>
            <a:r>
              <a:rPr lang="zh-CN" altLang="en-US"/>
              <a:t>应用</a:t>
            </a:r>
            <a:r>
              <a:rPr lang="zh-CN" altLang="en-US">
                <a:latin typeface="Arial" panose="020B0604020202020204" pitchFamily="34" charset="0"/>
              </a:rPr>
              <a:t>”</a:t>
            </a:r>
            <a:r>
              <a:rPr lang="zh-CN" altLang="en-US"/>
              <a:t>对应的二进制数</a:t>
            </a:r>
            <a:r>
              <a:rPr lang="en-US" altLang="zh-CN"/>
              <a:t>0010100110000001</a:t>
            </a:r>
            <a:endParaRPr lang="en-US" altLang="zh-CN"/>
          </a:p>
          <a:p>
            <a:pPr lvl="2" indent="-394970" eaLnBrk="1" hangingPunct="1">
              <a:lnSpc>
                <a:spcPct val="90000"/>
              </a:lnSpc>
              <a:buNone/>
            </a:pPr>
            <a:r>
              <a:rPr lang="en-US" altLang="zh-CN"/>
              <a:t>       ...</a:t>
            </a:r>
            <a:r>
              <a:rPr lang="zh-CN" altLang="en-US"/>
              <a:t>。那么要找到同时包含</a:t>
            </a:r>
            <a:r>
              <a:rPr lang="zh-CN" altLang="en-US">
                <a:latin typeface="Arial" panose="020B0604020202020204" pitchFamily="34" charset="0"/>
              </a:rPr>
              <a:t>“</a:t>
            </a:r>
            <a:r>
              <a:rPr lang="zh-CN" altLang="en-US"/>
              <a:t>原子能</a:t>
            </a:r>
            <a:r>
              <a:rPr lang="zh-CN" altLang="en-US">
                <a:latin typeface="Arial" panose="020B0604020202020204" pitchFamily="34" charset="0"/>
              </a:rPr>
              <a:t>”</a:t>
            </a:r>
            <a:r>
              <a:rPr lang="zh-CN" altLang="en-US"/>
              <a:t>和</a:t>
            </a:r>
            <a:r>
              <a:rPr lang="zh-CN" altLang="en-US">
                <a:latin typeface="Arial" panose="020B0604020202020204" pitchFamily="34" charset="0"/>
              </a:rPr>
              <a:t>“</a:t>
            </a:r>
            <a:r>
              <a:rPr lang="zh-CN" altLang="en-US"/>
              <a:t>应用</a:t>
            </a:r>
            <a:r>
              <a:rPr lang="zh-CN" altLang="en-US">
                <a:latin typeface="Arial" panose="020B0604020202020204" pitchFamily="34" charset="0"/>
              </a:rPr>
              <a:t>”</a:t>
            </a:r>
            <a:r>
              <a:rPr lang="zh-CN" altLang="en-US"/>
              <a:t>的文献时，只要将这两个二进制数进行布尔运算 </a:t>
            </a:r>
            <a:r>
              <a:rPr lang="en-US" altLang="zh-CN"/>
              <a:t>AND</a:t>
            </a:r>
            <a:r>
              <a:rPr lang="zh-CN" altLang="en-US"/>
              <a:t>。根据上面的真值表，我们知道运算结果是</a:t>
            </a:r>
            <a:r>
              <a:rPr lang="en-US" altLang="zh-CN"/>
              <a:t>0000100000000001...</a:t>
            </a:r>
            <a:r>
              <a:rPr lang="zh-CN" altLang="en-US"/>
              <a:t>。表示第五篇，第十六篇文献满足要求。</a:t>
            </a:r>
            <a:endParaRPr lang="zh-CN" altLang="en-US"/>
          </a:p>
          <a:p>
            <a:pPr lvl="2" indent="-394970" eaLnBrk="1" hangingPunct="1">
              <a:lnSpc>
                <a:spcPct val="90000"/>
              </a:lnSpc>
              <a:buNone/>
            </a:pPr>
            <a:r>
              <a:rPr lang="zh-CN" altLang="en-US"/>
              <a:t>      </a:t>
            </a:r>
            <a:r>
              <a:rPr lang="zh-CN" altLang="en-US">
                <a:solidFill>
                  <a:schemeClr val="accent2"/>
                </a:solidFill>
              </a:rPr>
              <a:t>注意，计算机作布尔运算是非常非常快的。现在最便宜的微机都可以一次进行三十二位布尔运算，一秒钟进行十亿次以上。当然，由于这些二进制数中绝大部分位数都是零，我们只需要记录那些等于</a:t>
            </a:r>
            <a:r>
              <a:rPr lang="en-US" altLang="zh-CN">
                <a:solidFill>
                  <a:schemeClr val="accent2"/>
                </a:solidFill>
              </a:rPr>
              <a:t>1</a:t>
            </a:r>
            <a:r>
              <a:rPr lang="zh-CN" altLang="en-US">
                <a:solidFill>
                  <a:schemeClr val="accent2"/>
                </a:solidFill>
              </a:rPr>
              <a:t>的位数即可。 </a:t>
            </a:r>
            <a:endParaRPr lang="zh-CN" altLang="en-US">
              <a:solidFill>
                <a:schemeClr val="accent2"/>
              </a:solidFill>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3"/>
          <p:cNvSpPr>
            <a:spLocks noGrp="1"/>
          </p:cNvSpPr>
          <p:nvPr>
            <p:ph idx="1"/>
          </p:nvPr>
        </p:nvSpPr>
        <p:spPr>
          <a:ln/>
        </p:spPr>
        <p:txBody>
          <a:bodyPr vert="horz" wrap="square" lIns="91440" tIns="45720" rIns="91440" bIns="45720" anchor="t"/>
          <a:p>
            <a:pPr eaLnBrk="1" hangingPunct="1"/>
            <a:r>
              <a:rPr lang="zh-CN" altLang="en-US" sz="2400"/>
              <a:t>布尔运算它的最大好处是容易实现，速度快，这对于海量的信息查找是至关重要的。它的不足是只能给出是与否的判断，而不能给出量化的度量。因此，所有搜索引擎在内部检索完毕后，都要对符合要求的网页根据相关性排序，然后才返回给用户。 </a:t>
            </a:r>
            <a:endParaRPr lang="zh-CN" altLang="en-US" sz="2400"/>
          </a:p>
          <a:p>
            <a:pPr eaLnBrk="1" hangingPunct="1"/>
            <a:r>
              <a:rPr lang="zh-CN" altLang="en-US" sz="2400"/>
              <a:t>查找关于</a:t>
            </a:r>
            <a:r>
              <a:rPr lang="zh-CN" altLang="en-US" sz="2400">
                <a:latin typeface="Arial" panose="020B0604020202020204" pitchFamily="34" charset="0"/>
              </a:rPr>
              <a:t>“</a:t>
            </a:r>
            <a:r>
              <a:rPr lang="zh-CN" altLang="en-US" sz="2400"/>
              <a:t>原子能的应用</a:t>
            </a:r>
            <a:r>
              <a:rPr lang="zh-CN" altLang="en-US" sz="2400">
                <a:latin typeface="Arial" panose="020B0604020202020204" pitchFamily="34" charset="0"/>
              </a:rPr>
              <a:t>”</a:t>
            </a:r>
            <a:r>
              <a:rPr lang="zh-CN" altLang="en-US" sz="2400"/>
              <a:t>的网页。我们第一步是在索引中找到包含这三个词的网页。现在任何一个搜索引擎都包含几十万甚至是上百万个多少有点关系的网页。那么哪个应该排在前面呢？显然我们应该根据网页和查询</a:t>
            </a:r>
            <a:r>
              <a:rPr lang="zh-CN" altLang="en-US" sz="2400">
                <a:latin typeface="Arial" panose="020B0604020202020204" pitchFamily="34" charset="0"/>
              </a:rPr>
              <a:t>“</a:t>
            </a:r>
            <a:r>
              <a:rPr lang="zh-CN" altLang="en-US" sz="2400"/>
              <a:t>原子能的应用</a:t>
            </a:r>
            <a:r>
              <a:rPr lang="zh-CN" altLang="en-US" sz="2400">
                <a:latin typeface="Arial" panose="020B0604020202020204" pitchFamily="34" charset="0"/>
              </a:rPr>
              <a:t>”</a:t>
            </a:r>
            <a:r>
              <a:rPr lang="zh-CN" altLang="en-US" sz="2400"/>
              <a:t>的相关性对这些网页进行排序。因此，这里的关键问题是</a:t>
            </a:r>
            <a:r>
              <a:rPr lang="zh-CN" altLang="en-US" sz="2400">
                <a:solidFill>
                  <a:schemeClr val="accent2"/>
                </a:solidFill>
              </a:rPr>
              <a:t>如何度量网页和查询的相关性。</a:t>
            </a:r>
            <a:br>
              <a:rPr lang="zh-CN" altLang="en-US" sz="2400">
                <a:solidFill>
                  <a:schemeClr val="accent2"/>
                </a:solidFill>
              </a:rPr>
            </a:br>
            <a:endParaRPr lang="zh-CN" altLang="en-US" sz="2400">
              <a:solidFill>
                <a:schemeClr val="accent2"/>
              </a:solidFill>
            </a:endParaRPr>
          </a:p>
        </p:txBody>
      </p:sp>
      <p:sp>
        <p:nvSpPr>
          <p:cNvPr id="48130" name="Rectangle 4"/>
          <p:cNvSpPr>
            <a:spLocks noGrp="1"/>
          </p:cNvSpPr>
          <p:nvPr>
            <p:ph type="title"/>
          </p:nvPr>
        </p:nvSpPr>
        <p:spPr>
          <a:xfrm>
            <a:off x="609600" y="533400"/>
            <a:ext cx="8001000" cy="533400"/>
          </a:xfrm>
          <a:ln/>
        </p:spPr>
        <p:txBody>
          <a:bodyPr vert="horz" wrap="square" lIns="91440" tIns="45720" rIns="91440" bIns="45720" anchor="b"/>
          <a:p>
            <a:pPr eaLnBrk="1" hangingPunct="1"/>
            <a:r>
              <a:rPr lang="zh-CN" altLang="en-US" sz="2800"/>
              <a:t>如何确定网页和查询的相关性 ？</a:t>
            </a:r>
            <a:endParaRPr lang="zh-CN" altLang="en-US" sz="280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Rectangle 3"/>
          <p:cNvSpPr>
            <a:spLocks noGrp="1"/>
          </p:cNvSpPr>
          <p:nvPr>
            <p:ph idx="1"/>
          </p:nvPr>
        </p:nvSpPr>
        <p:spPr>
          <a:xfrm>
            <a:off x="566738" y="1371600"/>
            <a:ext cx="8001000" cy="5791200"/>
          </a:xfrm>
          <a:ln/>
        </p:spPr>
        <p:txBody>
          <a:bodyPr vert="horz" wrap="square" lIns="91440" tIns="45720" rIns="91440" bIns="45720" anchor="t"/>
          <a:p>
            <a:pPr eaLnBrk="1" hangingPunct="1"/>
            <a:r>
              <a:rPr lang="zh-CN" altLang="en-US" sz="2000"/>
              <a:t>短语</a:t>
            </a:r>
            <a:r>
              <a:rPr lang="zh-CN" altLang="en-US" sz="2000">
                <a:latin typeface="Arial" panose="020B0604020202020204" pitchFamily="34" charset="0"/>
              </a:rPr>
              <a:t>“</a:t>
            </a:r>
            <a:r>
              <a:rPr lang="zh-CN" altLang="en-US" sz="2000"/>
              <a:t>原子能的应用</a:t>
            </a:r>
            <a:r>
              <a:rPr lang="zh-CN" altLang="en-US" sz="2000">
                <a:latin typeface="Arial" panose="020B0604020202020204" pitchFamily="34" charset="0"/>
              </a:rPr>
              <a:t>”</a:t>
            </a:r>
            <a:r>
              <a:rPr lang="zh-CN" altLang="en-US" sz="2000"/>
              <a:t>可以分成三个关键词：原子能、的、应用。根据我们的直觉，我们知道，包含这三个词多的网页应该比包含它们少的网页相关。 </a:t>
            </a:r>
            <a:endParaRPr lang="zh-CN" altLang="en-US" sz="2000"/>
          </a:p>
          <a:p>
            <a:pPr lvl="1" indent="-436245" eaLnBrk="1" hangingPunct="1"/>
            <a:r>
              <a:rPr lang="zh-CN" altLang="en-US" sz="1800"/>
              <a:t>漏洞：就是长的网页比短的网页占便宜。</a:t>
            </a:r>
            <a:endParaRPr lang="zh-CN" altLang="en-US" sz="1800"/>
          </a:p>
          <a:p>
            <a:pPr eaLnBrk="1" hangingPunct="1"/>
            <a:r>
              <a:rPr lang="zh-CN" altLang="en-US" sz="2000"/>
              <a:t>因此我们需要根据网页的长度，对关键词的次数进行归一化，也就是用关键词的次数除以网页的总字数。我们把这个商称为</a:t>
            </a:r>
            <a:r>
              <a:rPr lang="zh-CN" altLang="en-US" sz="2000">
                <a:latin typeface="Arial" panose="020B0604020202020204" pitchFamily="34" charset="0"/>
              </a:rPr>
              <a:t>“</a:t>
            </a:r>
            <a:r>
              <a:rPr lang="zh-CN" altLang="en-US" sz="2000"/>
              <a:t>关键词的频率</a:t>
            </a:r>
            <a:r>
              <a:rPr lang="zh-CN" altLang="en-US" sz="2000">
                <a:latin typeface="Arial" panose="020B0604020202020204" pitchFamily="34" charset="0"/>
              </a:rPr>
              <a:t>”</a:t>
            </a:r>
            <a:r>
              <a:rPr lang="zh-CN" altLang="en-US" sz="2000"/>
              <a:t>，或者</a:t>
            </a:r>
            <a:r>
              <a:rPr lang="zh-CN" altLang="en-US" sz="2000">
                <a:latin typeface="Arial" panose="020B0604020202020204" pitchFamily="34" charset="0"/>
              </a:rPr>
              <a:t>“</a:t>
            </a:r>
            <a:r>
              <a:rPr lang="zh-CN" altLang="en-US" sz="2000"/>
              <a:t>单文本词汇频率</a:t>
            </a:r>
            <a:r>
              <a:rPr lang="zh-CN" altLang="en-US" sz="2000">
                <a:latin typeface="Arial" panose="020B0604020202020204" pitchFamily="34" charset="0"/>
              </a:rPr>
              <a:t>”</a:t>
            </a:r>
            <a:r>
              <a:rPr lang="zh-CN" altLang="en-US" sz="2000"/>
              <a:t>（</a:t>
            </a:r>
            <a:r>
              <a:rPr lang="en-US" altLang="zh-CN" sz="2000"/>
              <a:t>Term Frequency)</a:t>
            </a:r>
            <a:r>
              <a:rPr lang="zh-CN" altLang="en-US" sz="2000"/>
              <a:t>，概括地讲，如果一个查询包含关键词 </a:t>
            </a:r>
            <a:r>
              <a:rPr lang="en-US" altLang="zh-CN" sz="2000"/>
              <a:t>w1,w2,...,wN, </a:t>
            </a:r>
            <a:r>
              <a:rPr lang="zh-CN" altLang="en-US" sz="2000"/>
              <a:t>它们在一篇特定网页中的词频分别是</a:t>
            </a:r>
            <a:r>
              <a:rPr lang="en-US" altLang="zh-CN" sz="2000"/>
              <a:t>: TF1, TF2, ..., TFN</a:t>
            </a:r>
            <a:r>
              <a:rPr lang="zh-CN" altLang="en-US" sz="2000"/>
              <a:t>。 （</a:t>
            </a:r>
            <a:r>
              <a:rPr lang="en-US" altLang="zh-CN" sz="2000"/>
              <a:t>TF: term frequency)</a:t>
            </a:r>
            <a:r>
              <a:rPr lang="zh-CN" altLang="en-US" sz="2000"/>
              <a:t>。 那么，这个查询和该网页的相关性就是</a:t>
            </a:r>
            <a:r>
              <a:rPr lang="en-US" altLang="zh-CN" sz="2000"/>
              <a:t>:</a:t>
            </a:r>
            <a:br>
              <a:rPr lang="en-US" altLang="zh-CN" sz="2000"/>
            </a:br>
            <a:r>
              <a:rPr lang="en-US" altLang="zh-CN" sz="2000"/>
              <a:t>TF1 + TF2 + ... + TFN</a:t>
            </a:r>
            <a:r>
              <a:rPr lang="zh-CN" altLang="en-US" sz="2000"/>
              <a:t>。</a:t>
            </a:r>
            <a:endParaRPr lang="zh-CN" altLang="en-US" sz="2000"/>
          </a:p>
          <a:p>
            <a:pPr lvl="1" indent="-436245" eaLnBrk="1" hangingPunct="1"/>
            <a:r>
              <a:rPr lang="zh-CN" altLang="en-US" sz="1800"/>
              <a:t>漏洞：词</a:t>
            </a:r>
            <a:r>
              <a:rPr lang="zh-CN" altLang="en-US" sz="1800">
                <a:latin typeface="Arial" panose="020B0604020202020204" pitchFamily="34" charset="0"/>
              </a:rPr>
              <a:t>“</a:t>
            </a:r>
            <a:r>
              <a:rPr lang="zh-CN" altLang="en-US" sz="1800"/>
              <a:t>的</a:t>
            </a:r>
            <a:r>
              <a:rPr lang="zh-CN" altLang="en-US" sz="1800">
                <a:latin typeface="Arial" panose="020B0604020202020204" pitchFamily="34" charset="0"/>
              </a:rPr>
              <a:t>”</a:t>
            </a:r>
            <a:r>
              <a:rPr lang="zh-CN" altLang="en-US" sz="1800"/>
              <a:t>的词频对确定网页的主题几乎没有用。称这种词叫</a:t>
            </a:r>
            <a:r>
              <a:rPr lang="zh-CN" altLang="en-US" sz="1800">
                <a:latin typeface="Arial" panose="020B0604020202020204" pitchFamily="34" charset="0"/>
              </a:rPr>
              <a:t>“</a:t>
            </a:r>
            <a:r>
              <a:rPr lang="zh-CN" altLang="en-US" sz="1800"/>
              <a:t>应删除词</a:t>
            </a:r>
            <a:r>
              <a:rPr lang="zh-CN" altLang="en-US" sz="1800">
                <a:latin typeface="Arial" panose="020B0604020202020204" pitchFamily="34" charset="0"/>
              </a:rPr>
              <a:t>”</a:t>
            </a:r>
            <a:r>
              <a:rPr lang="zh-CN" altLang="en-US" sz="1800"/>
              <a:t>（</a:t>
            </a:r>
            <a:r>
              <a:rPr lang="en-US" altLang="zh-CN" sz="1800"/>
              <a:t>Stopwords)</a:t>
            </a:r>
            <a:r>
              <a:rPr lang="zh-CN" altLang="en-US" sz="1800"/>
              <a:t>，也就是说在度量相关性是不应考虑它们的频率。 </a:t>
            </a:r>
            <a:endParaRPr lang="zh-CN" altLang="en-US" sz="1800"/>
          </a:p>
          <a:p>
            <a:pPr lvl="1" indent="-436245" eaLnBrk="1" hangingPunct="1"/>
            <a:r>
              <a:rPr lang="zh-CN" altLang="en-US" sz="1800"/>
              <a:t>另一个小的漏洞。在汉语中，</a:t>
            </a:r>
            <a:r>
              <a:rPr lang="zh-CN" altLang="en-US" sz="1800">
                <a:latin typeface="Arial" panose="020B0604020202020204" pitchFamily="34" charset="0"/>
              </a:rPr>
              <a:t>“</a:t>
            </a:r>
            <a:r>
              <a:rPr lang="zh-CN" altLang="en-US" sz="1800"/>
              <a:t>应用</a:t>
            </a:r>
            <a:r>
              <a:rPr lang="zh-CN" altLang="en-US" sz="1800">
                <a:latin typeface="Arial" panose="020B0604020202020204" pitchFamily="34" charset="0"/>
              </a:rPr>
              <a:t>”</a:t>
            </a:r>
            <a:r>
              <a:rPr lang="zh-CN" altLang="en-US" sz="1800"/>
              <a:t>是个很通用的词，而</a:t>
            </a:r>
            <a:r>
              <a:rPr lang="zh-CN" altLang="en-US" sz="1800">
                <a:latin typeface="Arial" panose="020B0604020202020204" pitchFamily="34" charset="0"/>
              </a:rPr>
              <a:t>“</a:t>
            </a:r>
            <a:r>
              <a:rPr lang="zh-CN" altLang="en-US" sz="1800"/>
              <a:t>原子能</a:t>
            </a:r>
            <a:r>
              <a:rPr lang="zh-CN" altLang="en-US" sz="1800">
                <a:latin typeface="Arial" panose="020B0604020202020204" pitchFamily="34" charset="0"/>
              </a:rPr>
              <a:t>”</a:t>
            </a:r>
            <a:r>
              <a:rPr lang="zh-CN" altLang="en-US" sz="1800"/>
              <a:t>是个很专业的词，后者在相关性排名中比前者重要。</a:t>
            </a:r>
            <a:endParaRPr lang="zh-CN" altLang="en-US" sz="1800"/>
          </a:p>
          <a:p>
            <a:pPr eaLnBrk="1" hangingPunct="1"/>
            <a:r>
              <a:rPr lang="zh-CN" altLang="en-US" sz="2000"/>
              <a:t>需要给分解的关键词给一个权重。一个词预测主题能力越强，权重就越大，反之，权重就越小。 </a:t>
            </a:r>
            <a:endParaRPr lang="zh-CN" altLang="en-US" sz="2000"/>
          </a:p>
          <a:p>
            <a:pPr eaLnBrk="1" hangingPunct="1">
              <a:lnSpc>
                <a:spcPct val="90000"/>
              </a:lnSpc>
            </a:pPr>
            <a:endParaRPr lang="zh-CN" altLang="en-US" sz="2000"/>
          </a:p>
          <a:p>
            <a:pPr lvl="1" indent="-436245" eaLnBrk="1" hangingPunct="1">
              <a:lnSpc>
                <a:spcPct val="90000"/>
              </a:lnSpc>
            </a:pPr>
            <a:endParaRPr lang="en-US" altLang="zh-CN" sz="180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Rectangle 3"/>
          <p:cNvSpPr>
            <a:spLocks noGrp="1"/>
          </p:cNvSpPr>
          <p:nvPr>
            <p:ph idx="1"/>
          </p:nvPr>
        </p:nvSpPr>
        <p:spPr>
          <a:ln/>
        </p:spPr>
        <p:txBody>
          <a:bodyPr vert="horz" wrap="square" lIns="91440" tIns="45720" rIns="91440" bIns="45720" anchor="t"/>
          <a:p>
            <a:pPr eaLnBrk="1" hangingPunct="1">
              <a:lnSpc>
                <a:spcPct val="90000"/>
              </a:lnSpc>
            </a:pPr>
            <a:r>
              <a:rPr lang="zh-CN" altLang="en-US" sz="2000"/>
              <a:t>我们很容易发现，如果一个关键词只在很少的网页中出现，我们通过它就容易锁定搜索目标，它的权重也就应该大。反之如果一个词在大量网页中出现，我们看到它仍然不很清楚要找什么内容，因此它应该小。概括地讲，假定一个关键词 ｗ 在 Ｄｗ 个网页中出现过，那么 Ｄｗ 越大，ｗ 的权重越小，反之亦然。在信息检索中，使用最多的权重是</a:t>
            </a:r>
            <a:r>
              <a:rPr lang="zh-CN" altLang="en-US" sz="2000">
                <a:latin typeface="Arial" panose="020B0604020202020204" pitchFamily="34" charset="0"/>
              </a:rPr>
              <a:t>“</a:t>
            </a:r>
            <a:r>
              <a:rPr lang="zh-CN" altLang="en-US" sz="2000">
                <a:solidFill>
                  <a:schemeClr val="accent2"/>
                </a:solidFill>
              </a:rPr>
              <a:t>逆文本频率指数</a:t>
            </a:r>
            <a:r>
              <a:rPr lang="zh-CN" altLang="en-US" sz="2000">
                <a:latin typeface="Arial" panose="020B0604020202020204" pitchFamily="34" charset="0"/>
              </a:rPr>
              <a:t>”</a:t>
            </a:r>
            <a:r>
              <a:rPr lang="zh-CN" altLang="en-US" sz="2000"/>
              <a:t> （</a:t>
            </a:r>
            <a:r>
              <a:rPr lang="en-US" altLang="zh-CN" sz="2000"/>
              <a:t>Inverse document frequency </a:t>
            </a:r>
            <a:r>
              <a:rPr lang="zh-CN" altLang="en-US" sz="2000"/>
              <a:t>缩写为ＩＤＦ），它的公式为ｌｏｇ（Ｄ／Ｄｗ）其中Ｄ是全部网页数。比如，我们假定中文网页数是Ｄ＝１０亿，应删除词</a:t>
            </a:r>
            <a:r>
              <a:rPr lang="zh-CN" altLang="en-US" sz="2000">
                <a:latin typeface="Arial" panose="020B0604020202020204" pitchFamily="34" charset="0"/>
              </a:rPr>
              <a:t>“</a:t>
            </a:r>
            <a:r>
              <a:rPr lang="zh-CN" altLang="en-US" sz="2000"/>
              <a:t>的</a:t>
            </a:r>
            <a:r>
              <a:rPr lang="zh-CN" altLang="en-US" sz="2000">
                <a:latin typeface="Arial" panose="020B0604020202020204" pitchFamily="34" charset="0"/>
              </a:rPr>
              <a:t>”</a:t>
            </a:r>
            <a:r>
              <a:rPr lang="zh-CN" altLang="en-US" sz="2000"/>
              <a:t>在所有的网页中都出现，即Ｄｗ＝１０亿，那么它的ＩＤＦ＝</a:t>
            </a:r>
            <a:r>
              <a:rPr lang="en-US" altLang="zh-CN" sz="2000"/>
              <a:t>log(10</a:t>
            </a:r>
            <a:r>
              <a:rPr lang="zh-CN" altLang="en-US" sz="2000"/>
              <a:t>亿</a:t>
            </a:r>
            <a:r>
              <a:rPr lang="en-US" altLang="zh-CN" sz="2000"/>
              <a:t>/10</a:t>
            </a:r>
            <a:r>
              <a:rPr lang="zh-CN" altLang="en-US" sz="2000"/>
              <a:t>亿）</a:t>
            </a:r>
            <a:r>
              <a:rPr lang="en-US" altLang="zh-CN" sz="2000"/>
              <a:t>= log (1) = </a:t>
            </a:r>
            <a:r>
              <a:rPr lang="zh-CN" altLang="en-US" sz="2000"/>
              <a:t>０。假如专用词</a:t>
            </a:r>
            <a:r>
              <a:rPr lang="zh-CN" altLang="en-US" sz="2000">
                <a:latin typeface="Arial" panose="020B0604020202020204" pitchFamily="34" charset="0"/>
              </a:rPr>
              <a:t>“</a:t>
            </a:r>
            <a:r>
              <a:rPr lang="zh-CN" altLang="en-US" sz="2000"/>
              <a:t>原子能</a:t>
            </a:r>
            <a:r>
              <a:rPr lang="zh-CN" altLang="en-US" sz="2000">
                <a:latin typeface="Arial" panose="020B0604020202020204" pitchFamily="34" charset="0"/>
              </a:rPr>
              <a:t>”</a:t>
            </a:r>
            <a:r>
              <a:rPr lang="zh-CN" altLang="en-US" sz="2000"/>
              <a:t>在两百万个网页中出现，即Ｄｗ＝２００万，则它的权重ＩＤＦ＝</a:t>
            </a:r>
            <a:r>
              <a:rPr lang="en-US" altLang="zh-CN" sz="2000"/>
              <a:t>log(500) =6.2</a:t>
            </a:r>
            <a:r>
              <a:rPr lang="zh-CN" altLang="en-US" sz="2000"/>
              <a:t>。又假定通用词</a:t>
            </a:r>
            <a:r>
              <a:rPr lang="zh-CN" altLang="en-US" sz="2000">
                <a:latin typeface="Arial" panose="020B0604020202020204" pitchFamily="34" charset="0"/>
              </a:rPr>
              <a:t>“</a:t>
            </a:r>
            <a:r>
              <a:rPr lang="zh-CN" altLang="en-US" sz="2000"/>
              <a:t>应用</a:t>
            </a:r>
            <a:r>
              <a:rPr lang="zh-CN" altLang="en-US" sz="2000">
                <a:latin typeface="Arial" panose="020B0604020202020204" pitchFamily="34" charset="0"/>
              </a:rPr>
              <a:t>”</a:t>
            </a:r>
            <a:r>
              <a:rPr lang="zh-CN" altLang="en-US" sz="2000"/>
              <a:t>，出现在五亿个网页中，它的权重ＩＤＦ </a:t>
            </a:r>
            <a:r>
              <a:rPr lang="en-US" altLang="zh-CN" sz="2000"/>
              <a:t>= log(2)</a:t>
            </a:r>
            <a:r>
              <a:rPr lang="zh-CN" altLang="en-US" sz="2000"/>
              <a:t>，则只有 </a:t>
            </a:r>
            <a:r>
              <a:rPr lang="en-US" altLang="zh-CN" sz="2000"/>
              <a:t>0.7</a:t>
            </a:r>
            <a:r>
              <a:rPr lang="zh-CN" altLang="en-US" sz="2000"/>
              <a:t>。也就只说，在网页中找到一个</a:t>
            </a:r>
            <a:r>
              <a:rPr lang="zh-CN" altLang="en-US" sz="2000">
                <a:latin typeface="Arial" panose="020B0604020202020204" pitchFamily="34" charset="0"/>
              </a:rPr>
              <a:t>“</a:t>
            </a:r>
            <a:r>
              <a:rPr lang="zh-CN" altLang="en-US" sz="2000"/>
              <a:t>原子能</a:t>
            </a:r>
            <a:r>
              <a:rPr lang="zh-CN" altLang="en-US" sz="2000">
                <a:latin typeface="Arial" panose="020B0604020202020204" pitchFamily="34" charset="0"/>
              </a:rPr>
              <a:t>”</a:t>
            </a:r>
            <a:r>
              <a:rPr lang="zh-CN" altLang="en-US" sz="2000"/>
              <a:t>的比配相当于找到九个</a:t>
            </a:r>
            <a:r>
              <a:rPr lang="zh-CN" altLang="en-US" sz="2000">
                <a:latin typeface="Arial" panose="020B0604020202020204" pitchFamily="34" charset="0"/>
              </a:rPr>
              <a:t>“</a:t>
            </a:r>
            <a:r>
              <a:rPr lang="zh-CN" altLang="en-US" sz="2000"/>
              <a:t>应用</a:t>
            </a:r>
            <a:r>
              <a:rPr lang="zh-CN" altLang="en-US" sz="2000">
                <a:latin typeface="Arial" panose="020B0604020202020204" pitchFamily="34" charset="0"/>
              </a:rPr>
              <a:t>”</a:t>
            </a:r>
            <a:r>
              <a:rPr lang="zh-CN" altLang="en-US" sz="2000"/>
              <a:t>的匹配。利用 </a:t>
            </a:r>
            <a:r>
              <a:rPr lang="en-US" altLang="zh-CN" sz="2000"/>
              <a:t>IDF</a:t>
            </a:r>
            <a:r>
              <a:rPr lang="zh-CN" altLang="en-US" sz="2000"/>
              <a:t>，上述相关性计算个公式就由词频的简单求和变成了加权求和，即 </a:t>
            </a:r>
            <a:r>
              <a:rPr lang="en-US" altLang="zh-CN" sz="2000"/>
              <a:t>TF1*IDF1 +</a:t>
            </a:r>
            <a:r>
              <a:rPr lang="zh-CN" altLang="en-US" sz="2000"/>
              <a:t>　</a:t>
            </a:r>
            <a:r>
              <a:rPr lang="en-US" altLang="zh-CN" sz="2000"/>
              <a:t>TF2*IDF2 </a:t>
            </a:r>
            <a:r>
              <a:rPr lang="zh-CN" altLang="en-US" sz="2000"/>
              <a:t>＋</a:t>
            </a:r>
            <a:r>
              <a:rPr lang="en-US" altLang="zh-CN" sz="2000"/>
              <a:t>... + TFN*IDFN</a:t>
            </a:r>
            <a:r>
              <a:rPr lang="zh-CN" altLang="en-US" sz="2000"/>
              <a:t>。 </a:t>
            </a:r>
            <a:endParaRPr lang="zh-CN" altLang="en-US" sz="200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Rectangle 3"/>
          <p:cNvSpPr>
            <a:spLocks noGrp="1"/>
          </p:cNvSpPr>
          <p:nvPr>
            <p:ph idx="1"/>
          </p:nvPr>
        </p:nvSpPr>
        <p:spPr>
          <a:ln/>
        </p:spPr>
        <p:txBody>
          <a:bodyPr vert="horz" wrap="square" lIns="91440" tIns="45720" rIns="91440" bIns="45720" anchor="t"/>
          <a:p>
            <a:pPr eaLnBrk="1" hangingPunct="1"/>
            <a:r>
              <a:rPr lang="en-US" altLang="zh-CN"/>
              <a:t>TF/IDF</a:t>
            </a:r>
            <a:r>
              <a:rPr lang="zh-CN" altLang="en-US"/>
              <a:t>（</a:t>
            </a:r>
            <a:r>
              <a:rPr lang="en-US" altLang="zh-CN"/>
              <a:t>term frequency/inverse document frequency) </a:t>
            </a:r>
            <a:r>
              <a:rPr lang="zh-CN" altLang="en-US"/>
              <a:t>的概念被公认为信息检索中最重要的发明。在搜索、文献分类和其他相关领域有广泛的应用。 </a:t>
            </a:r>
            <a:endParaRPr lang="zh-CN" altLang="en-US"/>
          </a:p>
          <a:p>
            <a:pPr eaLnBrk="1" hangingPunct="1"/>
            <a:r>
              <a:rPr lang="zh-CN" altLang="en-US"/>
              <a:t>其实，信息论的学者们已经发现并指出，其实 </a:t>
            </a:r>
            <a:r>
              <a:rPr lang="en-US" altLang="zh-CN"/>
              <a:t>IDF </a:t>
            </a:r>
            <a:r>
              <a:rPr lang="zh-CN" altLang="en-US"/>
              <a:t>的概念就是一个特定条件下、关键词的概率分布的交叉熵（</a:t>
            </a:r>
            <a:r>
              <a:rPr lang="en-US" altLang="zh-CN"/>
              <a:t>Kullback-Leibler Divergence) </a:t>
            </a:r>
            <a:endParaRPr lang="en-US" altLang="zh-CN"/>
          </a:p>
          <a:p>
            <a:pPr eaLnBrk="1" hangingPunct="1">
              <a:buNone/>
            </a:pPr>
            <a:r>
              <a:rPr lang="en-US" altLang="zh-CN"/>
              <a:t>     </a:t>
            </a:r>
            <a:r>
              <a:rPr lang="zh-CN" altLang="en-US"/>
              <a:t>。这样，信息检索相关性的度量，又回到了信息论。 </a:t>
            </a:r>
            <a:endParaRPr lang="zh-CN" alt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zh-CN" altLang="en-US" sz="2800"/>
              <a:t>如何确定网页的排名？</a:t>
            </a:r>
            <a:endParaRPr lang="zh-CN" altLang="en-US" sz="2800"/>
          </a:p>
        </p:txBody>
      </p:sp>
      <p:sp>
        <p:nvSpPr>
          <p:cNvPr id="52226" name="Rectangle 3"/>
          <p:cNvSpPr>
            <a:spLocks noGrp="1"/>
          </p:cNvSpPr>
          <p:nvPr>
            <p:ph idx="1"/>
          </p:nvPr>
        </p:nvSpPr>
        <p:spPr>
          <a:xfrm>
            <a:off x="533400" y="1371600"/>
            <a:ext cx="8001000" cy="5334000"/>
          </a:xfrm>
          <a:ln/>
        </p:spPr>
        <p:txBody>
          <a:bodyPr vert="horz" wrap="square" lIns="91440" tIns="45720" rIns="91440" bIns="45720" anchor="t"/>
          <a:p>
            <a:pPr eaLnBrk="1" hangingPunct="1">
              <a:lnSpc>
                <a:spcPct val="90000"/>
              </a:lnSpc>
            </a:pPr>
            <a:r>
              <a:rPr lang="en-US" altLang="zh-CN"/>
              <a:t>Page Rank </a:t>
            </a:r>
            <a:r>
              <a:rPr lang="en-US" altLang="zh-CN">
                <a:latin typeface="Arial" panose="020B0604020202020204" pitchFamily="34" charset="0"/>
              </a:rPr>
              <a:t>–</a:t>
            </a:r>
            <a:r>
              <a:rPr lang="en-US" altLang="zh-CN"/>
              <a:t> Google </a:t>
            </a:r>
            <a:r>
              <a:rPr lang="zh-CN" altLang="en-US"/>
              <a:t>的民主表决式网页排名技术</a:t>
            </a:r>
            <a:endParaRPr lang="zh-CN" altLang="en-US"/>
          </a:p>
          <a:p>
            <a:pPr lvl="1" indent="-436245" eaLnBrk="1" hangingPunct="1">
              <a:lnSpc>
                <a:spcPct val="90000"/>
              </a:lnSpc>
            </a:pPr>
            <a:r>
              <a:rPr lang="en-US" altLang="zh-CN"/>
              <a:t>Google </a:t>
            </a:r>
            <a:r>
              <a:rPr lang="zh-CN" altLang="en-US"/>
              <a:t>革命性的发明是它名为 </a:t>
            </a:r>
            <a:r>
              <a:rPr lang="zh-CN" altLang="en-US">
                <a:latin typeface="Arial" panose="020B0604020202020204" pitchFamily="34" charset="0"/>
              </a:rPr>
              <a:t>“</a:t>
            </a:r>
            <a:r>
              <a:rPr lang="en-US" altLang="zh-CN"/>
              <a:t>Page Rank</a:t>
            </a:r>
            <a:r>
              <a:rPr lang="en-US" altLang="zh-CN">
                <a:latin typeface="Arial" panose="020B0604020202020204" pitchFamily="34" charset="0"/>
              </a:rPr>
              <a:t>”</a:t>
            </a:r>
            <a:r>
              <a:rPr lang="en-US" altLang="zh-CN"/>
              <a:t> </a:t>
            </a:r>
            <a:r>
              <a:rPr lang="zh-CN" altLang="en-US"/>
              <a:t>的网页排名算法，这项技术彻底解决了搜索结果排序的问题。</a:t>
            </a:r>
            <a:endParaRPr lang="zh-CN" altLang="en-US"/>
          </a:p>
          <a:p>
            <a:pPr eaLnBrk="1" hangingPunct="1">
              <a:lnSpc>
                <a:spcPct val="90000"/>
              </a:lnSpc>
            </a:pPr>
            <a:r>
              <a:rPr lang="en-US" altLang="zh-CN"/>
              <a:t>Google</a:t>
            </a:r>
            <a:r>
              <a:rPr lang="zh-CN" altLang="en-US"/>
              <a:t>为了提供搜索者想要的信息，达到完美的搜索引擎功能，采用</a:t>
            </a:r>
            <a:r>
              <a:rPr lang="zh-CN" altLang="en-US">
                <a:latin typeface="Arial" panose="020B0604020202020204" pitchFamily="34" charset="0"/>
              </a:rPr>
              <a:t>“</a:t>
            </a:r>
            <a:r>
              <a:rPr lang="zh-CN" altLang="en-US"/>
              <a:t>网页级别</a:t>
            </a:r>
            <a:r>
              <a:rPr lang="en-US" altLang="zh-CN"/>
              <a:t>(Pagebank)</a:t>
            </a:r>
            <a:r>
              <a:rPr lang="en-US" altLang="zh-CN">
                <a:latin typeface="Arial" panose="020B0604020202020204" pitchFamily="34" charset="0"/>
              </a:rPr>
              <a:t>”</a:t>
            </a:r>
            <a:r>
              <a:rPr lang="zh-CN" altLang="en-US"/>
              <a:t>与</a:t>
            </a:r>
            <a:r>
              <a:rPr lang="zh-CN" altLang="en-US">
                <a:latin typeface="Arial" panose="020B0604020202020204" pitchFamily="34" charset="0"/>
              </a:rPr>
              <a:t>“</a:t>
            </a:r>
            <a:r>
              <a:rPr lang="zh-CN" altLang="en-US"/>
              <a:t>页面分析</a:t>
            </a:r>
            <a:r>
              <a:rPr lang="zh-CN" altLang="en-US">
                <a:latin typeface="Arial" panose="020B0604020202020204" pitchFamily="34" charset="0"/>
              </a:rPr>
              <a:t>”</a:t>
            </a:r>
            <a:r>
              <a:rPr lang="zh-CN" altLang="en-US"/>
              <a:t>两种技术来确保检索质量与精确率，所谓</a:t>
            </a:r>
            <a:r>
              <a:rPr lang="en-US" altLang="zh-CN"/>
              <a:t>Pagebank</a:t>
            </a:r>
            <a:r>
              <a:rPr lang="zh-CN" altLang="en-US"/>
              <a:t>技术是基于整个网络的链接结构，按网页链接广泛程度来决定网页的重要性，而</a:t>
            </a:r>
            <a:r>
              <a:rPr lang="zh-CN" altLang="en-US">
                <a:latin typeface="Arial" panose="020B0604020202020204" pitchFamily="34" charset="0"/>
              </a:rPr>
              <a:t>“</a:t>
            </a:r>
            <a:r>
              <a:rPr lang="zh-CN" altLang="en-US"/>
              <a:t>页面分析</a:t>
            </a:r>
            <a:r>
              <a:rPr lang="zh-CN" altLang="en-US">
                <a:latin typeface="Arial" panose="020B0604020202020204" pitchFamily="34" charset="0"/>
              </a:rPr>
              <a:t>”</a:t>
            </a:r>
            <a:r>
              <a:rPr lang="zh-CN" altLang="en-US"/>
              <a:t>也就是前面所讲的相关性的分析。</a:t>
            </a:r>
            <a:r>
              <a:rPr lang="en-US" altLang="zh-CN"/>
              <a:t>Google</a:t>
            </a:r>
            <a:r>
              <a:rPr lang="zh-CN" altLang="en-US"/>
              <a:t>将最相关和最可靠的结果放在搜索结果的顶端，一般而言，</a:t>
            </a:r>
            <a:r>
              <a:rPr lang="en-US" altLang="zh-CN"/>
              <a:t>Pagebank</a:t>
            </a:r>
            <a:r>
              <a:rPr lang="zh-CN" altLang="en-US"/>
              <a:t>对于排名的影响还是比页面分析高。</a:t>
            </a:r>
            <a:endParaRPr lang="zh-CN" altLang="en-US"/>
          </a:p>
          <a:p>
            <a:pPr eaLnBrk="1" hangingPunct="1">
              <a:lnSpc>
                <a:spcPct val="90000"/>
              </a:lnSpc>
            </a:pPr>
            <a:endParaRPr lang="en-US" altLang="zh-CN"/>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Rectangle 3"/>
          <p:cNvSpPr>
            <a:spLocks noGrp="1"/>
          </p:cNvSpPr>
          <p:nvPr>
            <p:ph idx="1"/>
          </p:nvPr>
        </p:nvSpPr>
        <p:spPr>
          <a:ln/>
        </p:spPr>
        <p:txBody>
          <a:bodyPr vert="horz" wrap="square" lIns="91440" tIns="45720" rIns="91440" bIns="45720" anchor="t"/>
          <a:p>
            <a:pPr eaLnBrk="1" hangingPunct="1"/>
            <a:r>
              <a:rPr lang="en-US" altLang="zh-CN" sz="2400"/>
              <a:t>Pagebank</a:t>
            </a:r>
            <a:r>
              <a:rPr lang="zh-CN" altLang="en-US" sz="2400"/>
              <a:t>技术通过对多达</a:t>
            </a:r>
            <a:r>
              <a:rPr lang="en-US" altLang="zh-CN" sz="2400"/>
              <a:t>80</a:t>
            </a:r>
            <a:r>
              <a:rPr lang="zh-CN" altLang="en-US" sz="2400"/>
              <a:t>多亿个的网页进行重要性分析，利用网络链接结构对网页进行组织整理。基本的原理是：如果网页</a:t>
            </a:r>
            <a:r>
              <a:rPr lang="en-US" altLang="zh-CN" sz="2400"/>
              <a:t>A</a:t>
            </a:r>
            <a:r>
              <a:rPr lang="zh-CN" altLang="en-US" sz="2400"/>
              <a:t>链接到网页</a:t>
            </a:r>
            <a:r>
              <a:rPr lang="en-US" altLang="zh-CN" sz="2400"/>
              <a:t>B</a:t>
            </a:r>
            <a:r>
              <a:rPr lang="zh-CN" altLang="en-US" sz="2400"/>
              <a:t>，</a:t>
            </a:r>
            <a:r>
              <a:rPr lang="en-US" altLang="zh-CN" sz="2400"/>
              <a:t>Google</a:t>
            </a:r>
            <a:r>
              <a:rPr lang="zh-CN" altLang="en-US" sz="2400"/>
              <a:t>就认为</a:t>
            </a:r>
            <a:r>
              <a:rPr lang="zh-CN" altLang="en-US" sz="2400">
                <a:latin typeface="Arial" panose="020B0604020202020204" pitchFamily="34" charset="0"/>
              </a:rPr>
              <a:t>“</a:t>
            </a:r>
            <a:r>
              <a:rPr lang="zh-CN" altLang="en-US" sz="2400"/>
              <a:t>网页</a:t>
            </a:r>
            <a:r>
              <a:rPr lang="en-US" altLang="zh-CN" sz="2400"/>
              <a:t>A</a:t>
            </a:r>
            <a:r>
              <a:rPr lang="zh-CN" altLang="en-US" sz="2400"/>
              <a:t>投了网页</a:t>
            </a:r>
            <a:r>
              <a:rPr lang="en-US" altLang="zh-CN" sz="2400"/>
              <a:t>B</a:t>
            </a:r>
            <a:r>
              <a:rPr lang="zh-CN" altLang="en-US" sz="2400"/>
              <a:t>一票</a:t>
            </a:r>
            <a:r>
              <a:rPr lang="zh-CN" altLang="en-US" sz="2400">
                <a:latin typeface="Arial" panose="020B0604020202020204" pitchFamily="34" charset="0"/>
              </a:rPr>
              <a:t>”</a:t>
            </a:r>
            <a:r>
              <a:rPr lang="zh-CN" altLang="en-US" sz="2400"/>
              <a:t>，这是</a:t>
            </a:r>
            <a:r>
              <a:rPr lang="en-US" altLang="zh-CN" sz="2400"/>
              <a:t>80</a:t>
            </a:r>
            <a:r>
              <a:rPr lang="zh-CN" altLang="en-US" sz="2400"/>
              <a:t>多亿个网页之间的海选，每个网页都有选举权，也有被选举权，投票次数不限。初看起来这样的选举不是很有序，公平性似乎无从谈起，关键在于如何</a:t>
            </a:r>
            <a:r>
              <a:rPr lang="zh-CN" altLang="en-US" sz="2400">
                <a:latin typeface="Arial" panose="020B0604020202020204" pitchFamily="34" charset="0"/>
              </a:rPr>
              <a:t>“</a:t>
            </a:r>
            <a:r>
              <a:rPr lang="zh-CN" altLang="en-US" sz="2400"/>
              <a:t>计票</a:t>
            </a:r>
            <a:r>
              <a:rPr lang="zh-CN" altLang="en-US" sz="2400">
                <a:latin typeface="Arial" panose="020B0604020202020204" pitchFamily="34" charset="0"/>
              </a:rPr>
              <a:t>”</a:t>
            </a:r>
            <a:r>
              <a:rPr lang="zh-CN" altLang="en-US" sz="2400"/>
              <a:t>，一个网页的</a:t>
            </a:r>
            <a:r>
              <a:rPr lang="en-US" altLang="zh-CN" sz="2400"/>
              <a:t>Pagebank</a:t>
            </a:r>
            <a:r>
              <a:rPr lang="zh-CN" altLang="en-US" sz="2400"/>
              <a:t>并不是它的得票数。</a:t>
            </a:r>
            <a:endParaRPr lang="zh-CN" altLang="en-US" sz="2400"/>
          </a:p>
          <a:p>
            <a:pPr eaLnBrk="1" hangingPunct="1"/>
            <a:r>
              <a:rPr lang="zh-CN" altLang="en-US" sz="2400"/>
              <a:t>假设</a:t>
            </a:r>
            <a:r>
              <a:rPr lang="en-US" altLang="zh-CN" sz="2400"/>
              <a:t>Google</a:t>
            </a:r>
            <a:r>
              <a:rPr lang="zh-CN" altLang="en-US" sz="2400"/>
              <a:t>数据库中网页的集合为</a:t>
            </a:r>
            <a:r>
              <a:rPr lang="en-US" altLang="zh-CN" sz="2400"/>
              <a:t>W</a:t>
            </a:r>
            <a:r>
              <a:rPr lang="zh-CN" altLang="en-US" sz="2400"/>
              <a:t>，该集合元素的格式为</a:t>
            </a:r>
            <a:r>
              <a:rPr lang="en-US" altLang="zh-CN" sz="2400"/>
              <a:t>N</a:t>
            </a:r>
            <a:r>
              <a:rPr lang="zh-CN" altLang="en-US" sz="2400"/>
              <a:t>，为了描述这些网页之间的关系，定义一个</a:t>
            </a:r>
            <a:r>
              <a:rPr lang="en-US" altLang="zh-CN" sz="2400"/>
              <a:t>N*N</a:t>
            </a:r>
            <a:r>
              <a:rPr lang="zh-CN" altLang="en-US" sz="2400"/>
              <a:t>的方阵</a:t>
            </a:r>
            <a:r>
              <a:rPr lang="en-US" altLang="zh-CN" sz="2400"/>
              <a:t>G=(g</a:t>
            </a:r>
            <a:r>
              <a:rPr lang="en-US" altLang="zh-CN" sz="2400" baseline="-25000"/>
              <a:t>ij</a:t>
            </a:r>
            <a:r>
              <a:rPr lang="en-US" altLang="zh-CN" sz="2400"/>
              <a:t>).</a:t>
            </a:r>
            <a:r>
              <a:rPr lang="zh-CN" altLang="en-US" sz="2400"/>
              <a:t>如果从网页</a:t>
            </a:r>
            <a:r>
              <a:rPr lang="en-US" altLang="zh-CN" sz="2400"/>
              <a:t>j</a:t>
            </a:r>
            <a:r>
              <a:rPr lang="zh-CN" altLang="en-US" sz="2400"/>
              <a:t>到网页</a:t>
            </a:r>
            <a:r>
              <a:rPr lang="en-US" altLang="zh-CN" sz="2400"/>
              <a:t>i</a:t>
            </a:r>
            <a:r>
              <a:rPr lang="zh-CN" altLang="en-US" sz="2400"/>
              <a:t>有超链接，则</a:t>
            </a:r>
            <a:r>
              <a:rPr lang="en-US" altLang="zh-CN" sz="2400"/>
              <a:t>g</a:t>
            </a:r>
            <a:r>
              <a:rPr lang="en-US" altLang="zh-CN" sz="2400" baseline="-25000"/>
              <a:t>ij</a:t>
            </a:r>
            <a:r>
              <a:rPr lang="en-US" altLang="zh-CN" sz="2400"/>
              <a:t>=1,</a:t>
            </a:r>
            <a:r>
              <a:rPr lang="zh-CN" altLang="en-US" sz="2400"/>
              <a:t>否则为零，显然</a:t>
            </a:r>
            <a:r>
              <a:rPr lang="en-US" altLang="zh-CN" sz="2400"/>
              <a:t>G</a:t>
            </a:r>
            <a:r>
              <a:rPr lang="zh-CN" altLang="en-US" sz="2400"/>
              <a:t>是巨大的但是非常稀疏的矩阵，其中非零元素的总数即是网页之间超链接的总数。</a:t>
            </a:r>
            <a:endParaRPr lang="zh-CN" altLang="en-US" sz="240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4273" name="Picture 5"/>
          <p:cNvPicPr>
            <a:picLocks noChangeAspect="1"/>
          </p:cNvPicPr>
          <p:nvPr/>
        </p:nvPicPr>
        <p:blipFill>
          <a:blip r:embed="rId1"/>
          <a:stretch>
            <a:fillRect/>
          </a:stretch>
        </p:blipFill>
        <p:spPr>
          <a:xfrm>
            <a:off x="152400" y="1524000"/>
            <a:ext cx="8991600" cy="5334000"/>
          </a:xfrm>
          <a:prstGeom prst="rect">
            <a:avLst/>
          </a:prstGeom>
          <a:noFill/>
          <a:ln w="9525">
            <a:noFill/>
          </a:ln>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5297" name="Picture 4"/>
          <p:cNvPicPr>
            <a:picLocks noChangeAspect="1"/>
          </p:cNvPicPr>
          <p:nvPr/>
        </p:nvPicPr>
        <p:blipFill>
          <a:blip r:embed="rId1"/>
          <a:stretch>
            <a:fillRect/>
          </a:stretch>
        </p:blipFill>
        <p:spPr>
          <a:xfrm>
            <a:off x="0" y="1295400"/>
            <a:ext cx="9144000" cy="5486400"/>
          </a:xfrm>
          <a:prstGeom prst="rect">
            <a:avLst/>
          </a:prstGeom>
          <a:noFill/>
          <a:ln w="9525">
            <a:noFill/>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6321" name="Picture 4"/>
          <p:cNvPicPr>
            <a:picLocks noChangeAspect="1"/>
          </p:cNvPicPr>
          <p:nvPr/>
        </p:nvPicPr>
        <p:blipFill>
          <a:blip r:embed="rId1"/>
          <a:stretch>
            <a:fillRect/>
          </a:stretch>
        </p:blipFill>
        <p:spPr>
          <a:xfrm>
            <a:off x="0" y="1398588"/>
            <a:ext cx="9144000" cy="5459412"/>
          </a:xfrm>
          <a:prstGeom prst="rect">
            <a:avLst/>
          </a:prstGeom>
          <a:noFill/>
          <a:ln w="9525">
            <a:noFill/>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5" name="Picture 4"/>
          <p:cNvPicPr>
            <a:picLocks noChangeAspect="1"/>
          </p:cNvPicPr>
          <p:nvPr/>
        </p:nvPicPr>
        <p:blipFill>
          <a:blip r:embed="rId1"/>
          <a:stretch>
            <a:fillRect/>
          </a:stretch>
        </p:blipFill>
        <p:spPr>
          <a:xfrm>
            <a:off x="0" y="1295400"/>
            <a:ext cx="9144000" cy="4691063"/>
          </a:xfrm>
          <a:prstGeom prst="rect">
            <a:avLst/>
          </a:prstGeom>
          <a:noFill/>
          <a:ln w="9525">
            <a:noFill/>
          </a:ln>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3"/>
          <p:cNvSpPr>
            <a:spLocks noGrp="1"/>
          </p:cNvSpPr>
          <p:nvPr>
            <p:ph idx="1"/>
          </p:nvPr>
        </p:nvSpPr>
        <p:spPr>
          <a:xfrm>
            <a:off x="566738" y="5105400"/>
            <a:ext cx="8001000" cy="1203325"/>
          </a:xfrm>
          <a:ln/>
        </p:spPr>
        <p:txBody>
          <a:bodyPr vert="horz" wrap="square" lIns="91440" tIns="45720" rIns="91440" bIns="45720" anchor="t"/>
          <a:p>
            <a:pPr eaLnBrk="1" hangingPunct="1">
              <a:lnSpc>
                <a:spcPct val="90000"/>
              </a:lnSpc>
            </a:pPr>
            <a:r>
              <a:rPr lang="zh-CN" altLang="en-US" sz="2400"/>
              <a:t>计算得到该</a:t>
            </a:r>
            <a:r>
              <a:rPr lang="en-US" altLang="zh-CN" sz="2400"/>
              <a:t>Markov</a:t>
            </a:r>
            <a:r>
              <a:rPr lang="zh-CN" altLang="en-US" sz="2400"/>
              <a:t>链的平均分布为：</a:t>
            </a:r>
            <a:endParaRPr lang="zh-CN" altLang="en-US" sz="2400"/>
          </a:p>
          <a:p>
            <a:pPr eaLnBrk="1" hangingPunct="1">
              <a:lnSpc>
                <a:spcPct val="90000"/>
              </a:lnSpc>
              <a:buNone/>
            </a:pPr>
            <a:r>
              <a:rPr lang="zh-CN" altLang="en-US" sz="2400"/>
              <a:t>       </a:t>
            </a:r>
            <a:r>
              <a:rPr lang="en-US" altLang="zh-CN" sz="2400"/>
              <a:t>x=(0.2330 0.2447 0.1965 0.1240 0.0777 0.1240)</a:t>
            </a:r>
            <a:r>
              <a:rPr lang="zh-CN" altLang="en-US" sz="2400"/>
              <a:t>，这就是</a:t>
            </a:r>
            <a:r>
              <a:rPr lang="en-US" altLang="zh-CN" sz="2400"/>
              <a:t>6</a:t>
            </a:r>
            <a:r>
              <a:rPr lang="zh-CN" altLang="en-US" sz="2400"/>
              <a:t>个网页的</a:t>
            </a:r>
            <a:r>
              <a:rPr lang="en-US" altLang="zh-CN" sz="2400"/>
              <a:t>Pagebank.</a:t>
            </a:r>
            <a:endParaRPr lang="en-US" altLang="zh-CN" sz="2400"/>
          </a:p>
        </p:txBody>
      </p:sp>
      <p:sp>
        <p:nvSpPr>
          <p:cNvPr id="58370" name="Rectangle 5"/>
          <p:cNvSpPr/>
          <p:nvPr/>
        </p:nvSpPr>
        <p:spPr>
          <a:xfrm>
            <a:off x="0" y="26289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58371" name="Object 4"/>
          <p:cNvGraphicFramePr>
            <a:graphicFrameLocks noChangeAspect="1"/>
          </p:cNvGraphicFramePr>
          <p:nvPr/>
        </p:nvGraphicFramePr>
        <p:xfrm>
          <a:off x="762000" y="1600200"/>
          <a:ext cx="6400800" cy="3657600"/>
        </p:xfrm>
        <a:graphic>
          <a:graphicData uri="http://schemas.openxmlformats.org/presentationml/2006/ole">
            <mc:AlternateContent xmlns:mc="http://schemas.openxmlformats.org/markup-compatibility/2006">
              <mc:Choice xmlns:v="urn:schemas-microsoft-com:vml" Requires="v">
                <p:oleObj spid="_x0000_s3077" name="" r:id="rId1" imgW="3251200" imgH="1600200" progId="Equation.DSMT4">
                  <p:embed/>
                </p:oleObj>
              </mc:Choice>
              <mc:Fallback>
                <p:oleObj name="" r:id="rId1" imgW="3251200" imgH="1600200" progId="Equation.DSMT4">
                  <p:embed/>
                  <p:pic>
                    <p:nvPicPr>
                      <p:cNvPr id="0" name="图片 3076"/>
                      <p:cNvPicPr/>
                      <p:nvPr/>
                    </p:nvPicPr>
                    <p:blipFill>
                      <a:blip r:embed="rId2"/>
                      <a:stretch>
                        <a:fillRect/>
                      </a:stretch>
                    </p:blipFill>
                    <p:spPr>
                      <a:xfrm>
                        <a:off x="762000" y="1600200"/>
                        <a:ext cx="6400800" cy="3657600"/>
                      </a:xfrm>
                      <a:prstGeom prst="rect">
                        <a:avLst/>
                      </a:prstGeom>
                      <a:noFill/>
                      <a:ln w="38100">
                        <a:noFill/>
                        <a:miter/>
                      </a:ln>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9393" name="Object 4"/>
          <p:cNvGraphicFramePr>
            <a:graphicFrameLocks noGrp="1" noChangeAspect="1"/>
          </p:cNvGraphicFramePr>
          <p:nvPr>
            <p:ph/>
          </p:nvPr>
        </p:nvGraphicFramePr>
        <p:xfrm>
          <a:off x="685800" y="1219200"/>
          <a:ext cx="6943725" cy="4114800"/>
        </p:xfrm>
        <a:graphic>
          <a:graphicData uri="http://schemas.openxmlformats.org/presentationml/2006/ole">
            <mc:AlternateContent xmlns:mc="http://schemas.openxmlformats.org/markup-compatibility/2006">
              <mc:Choice xmlns:v="urn:schemas-microsoft-com:vml" Requires="v">
                <p:oleObj spid="_x0000_s3078" name="" r:id="rId1" imgW="6005830" imgH="3169285" progId="Excel.Chart.8">
                  <p:embed/>
                </p:oleObj>
              </mc:Choice>
              <mc:Fallback>
                <p:oleObj name="" r:id="rId1" imgW="6005830" imgH="3169285" progId="Excel.Chart.8">
                  <p:embed/>
                  <p:pic>
                    <p:nvPicPr>
                      <p:cNvPr id="0" name="图片 3077"/>
                      <p:cNvPicPr/>
                      <p:nvPr/>
                    </p:nvPicPr>
                    <p:blipFill>
                      <a:blip r:embed="rId2"/>
                      <a:stretch>
                        <a:fillRect/>
                      </a:stretch>
                    </p:blipFill>
                    <p:spPr>
                      <a:xfrm>
                        <a:off x="685800" y="1219200"/>
                        <a:ext cx="6943725" cy="4114800"/>
                      </a:xfrm>
                      <a:prstGeom prst="rect">
                        <a:avLst/>
                      </a:prstGeom>
                      <a:noFill/>
                      <a:ln w="38100">
                        <a:miter/>
                      </a:ln>
                    </p:spPr>
                  </p:pic>
                </p:oleObj>
              </mc:Fallback>
            </mc:AlternateContent>
          </a:graphicData>
        </a:graphic>
      </p:graphicFrame>
      <p:sp>
        <p:nvSpPr>
          <p:cNvPr id="59394" name="Rectangle 6"/>
          <p:cNvSpPr/>
          <p:nvPr/>
        </p:nvSpPr>
        <p:spPr>
          <a:xfrm>
            <a:off x="533400" y="5334000"/>
            <a:ext cx="8001000" cy="1203325"/>
          </a:xfrm>
          <a:prstGeom prst="rect">
            <a:avLst/>
          </a:prstGeom>
          <a:noFill/>
          <a:ln w="9525">
            <a:noFill/>
          </a:ln>
        </p:spPr>
        <p:txBody>
          <a:bodyPr anchor="t"/>
          <a:p>
            <a:pPr marL="469900" indent="-469900">
              <a:lnSpc>
                <a:spcPct val="90000"/>
              </a:lnSpc>
              <a:spcBef>
                <a:spcPct val="10000"/>
              </a:spcBef>
              <a:buClr>
                <a:schemeClr val="accent2"/>
              </a:buClr>
              <a:buFont typeface="Wingdings" panose="05000000000000000000" pitchFamily="2" charset="2"/>
              <a:buNone/>
            </a:pPr>
            <a:r>
              <a:rPr lang="en-US" altLang="zh-CN" sz="2400">
                <a:solidFill>
                  <a:srgbClr val="0000FF"/>
                </a:solidFill>
                <a:latin typeface="Times New Roman" panose="02020603050405020304" pitchFamily="18" charset="0"/>
                <a:ea typeface="黑体" panose="02010609060101010101" pitchFamily="2" charset="-122"/>
              </a:rPr>
              <a:t>      </a:t>
            </a:r>
            <a:r>
              <a:rPr lang="zh-CN" altLang="en-US" sz="2400">
                <a:solidFill>
                  <a:schemeClr val="accent2"/>
                </a:solidFill>
                <a:latin typeface="Times New Roman" panose="02020603050405020304" pitchFamily="18" charset="0"/>
                <a:ea typeface="黑体" panose="02010609060101010101" pitchFamily="2" charset="-122"/>
              </a:rPr>
              <a:t>编号为</a:t>
            </a:r>
            <a:r>
              <a:rPr lang="en-US" altLang="zh-CN" sz="2400">
                <a:solidFill>
                  <a:schemeClr val="accent2"/>
                </a:solidFill>
                <a:latin typeface="Times New Roman" panose="02020603050405020304" pitchFamily="18" charset="0"/>
                <a:ea typeface="黑体" panose="02010609060101010101" pitchFamily="2" charset="-122"/>
              </a:rPr>
              <a:t>2</a:t>
            </a:r>
            <a:r>
              <a:rPr lang="zh-CN" altLang="en-US" sz="2400">
                <a:solidFill>
                  <a:schemeClr val="accent2"/>
                </a:solidFill>
                <a:latin typeface="Times New Roman" panose="02020603050405020304" pitchFamily="18" charset="0"/>
                <a:ea typeface="黑体" panose="02010609060101010101" pitchFamily="2" charset="-122"/>
              </a:rPr>
              <a:t>的网页在选举中仅仅得到一票，但是它的</a:t>
            </a:r>
            <a:r>
              <a:rPr lang="en-US" altLang="zh-CN" sz="2400">
                <a:solidFill>
                  <a:schemeClr val="accent2"/>
                </a:solidFill>
                <a:latin typeface="Times New Roman" panose="02020603050405020304" pitchFamily="18" charset="0"/>
                <a:ea typeface="黑体" panose="02010609060101010101" pitchFamily="2" charset="-122"/>
              </a:rPr>
              <a:t>Pagebank</a:t>
            </a:r>
            <a:r>
              <a:rPr lang="zh-CN" altLang="en-US" sz="2400">
                <a:solidFill>
                  <a:schemeClr val="accent2"/>
                </a:solidFill>
                <a:latin typeface="Times New Roman" panose="02020603050405020304" pitchFamily="18" charset="0"/>
                <a:ea typeface="黑体" panose="02010609060101010101" pitchFamily="2" charset="-122"/>
              </a:rPr>
              <a:t>要高于其它得到一票的网页，原因在于它的一票来自网页</a:t>
            </a:r>
            <a:r>
              <a:rPr lang="en-US" altLang="zh-CN" sz="2400">
                <a:solidFill>
                  <a:schemeClr val="accent2"/>
                </a:solidFill>
                <a:latin typeface="Times New Roman" panose="02020603050405020304" pitchFamily="18" charset="0"/>
                <a:ea typeface="黑体" panose="02010609060101010101" pitchFamily="2" charset="-122"/>
              </a:rPr>
              <a:t>ALPHA</a:t>
            </a:r>
            <a:r>
              <a:rPr lang="zh-CN" altLang="en-US" sz="2400">
                <a:solidFill>
                  <a:schemeClr val="accent2"/>
                </a:solidFill>
                <a:latin typeface="Times New Roman" panose="02020603050405020304" pitchFamily="18" charset="0"/>
                <a:ea typeface="黑体" panose="02010609060101010101" pitchFamily="2" charset="-122"/>
              </a:rPr>
              <a:t>，这个网页的</a:t>
            </a:r>
            <a:r>
              <a:rPr lang="en-US" altLang="zh-CN" sz="2400">
                <a:solidFill>
                  <a:schemeClr val="accent2"/>
                </a:solidFill>
                <a:latin typeface="Times New Roman" panose="02020603050405020304" pitchFamily="18" charset="0"/>
                <a:ea typeface="黑体" panose="02010609060101010101" pitchFamily="2" charset="-122"/>
              </a:rPr>
              <a:t>Pagebank</a:t>
            </a:r>
            <a:r>
              <a:rPr lang="zh-CN" altLang="en-US" sz="2400">
                <a:solidFill>
                  <a:schemeClr val="accent2"/>
                </a:solidFill>
                <a:latin typeface="Times New Roman" panose="02020603050405020304" pitchFamily="18" charset="0"/>
                <a:ea typeface="黑体" panose="02010609060101010101" pitchFamily="2" charset="-122"/>
              </a:rPr>
              <a:t>也比较高，所以这是合理的。</a:t>
            </a:r>
            <a:endParaRPr lang="zh-CN" altLang="en-US" sz="2400">
              <a:solidFill>
                <a:schemeClr val="accent2"/>
              </a:solidFill>
              <a:latin typeface="Times New Roman" panose="02020603050405020304" pitchFamily="18" charset="0"/>
              <a:ea typeface="黑体" panose="0201060906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Rectangle 3"/>
          <p:cNvSpPr>
            <a:spLocks noGrp="1"/>
          </p:cNvSpPr>
          <p:nvPr>
            <p:ph idx="1"/>
          </p:nvPr>
        </p:nvSpPr>
        <p:spPr>
          <a:xfrm>
            <a:off x="566738" y="1447800"/>
            <a:ext cx="8001000" cy="5867400"/>
          </a:xfrm>
          <a:ln/>
        </p:spPr>
        <p:txBody>
          <a:bodyPr vert="horz" wrap="square" lIns="91440" tIns="45720" rIns="91440" bIns="45720" anchor="t"/>
          <a:p>
            <a:pPr eaLnBrk="1" hangingPunct="1"/>
            <a:r>
              <a:rPr lang="zh-CN" altLang="en-US" sz="2000"/>
              <a:t>理论问题解决了，又遇到实际问题。因为互联网上网页的数量是巨大的，上面提到的二维矩阵从理论上讲有网页数目平方之多个元素。如果我们假定有十亿个网页，那么这个矩阵 就有一百亿亿个元素。这样大的矩阵相乘，计算量是非常大的。</a:t>
            </a:r>
            <a:r>
              <a:rPr lang="en-US" altLang="zh-CN" sz="2000"/>
              <a:t>Google </a:t>
            </a:r>
            <a:r>
              <a:rPr lang="zh-CN" altLang="en-US" sz="2000"/>
              <a:t>的两个创始人拉里</a:t>
            </a:r>
            <a:r>
              <a:rPr lang="en-US" altLang="zh-CN" sz="2000">
                <a:latin typeface="Arial" panose="020B0604020202020204" pitchFamily="34" charset="0"/>
              </a:rPr>
              <a:t>•</a:t>
            </a:r>
            <a:r>
              <a:rPr lang="zh-CN" altLang="en-US" sz="2000"/>
              <a:t>佩奇 （</a:t>
            </a:r>
            <a:r>
              <a:rPr lang="en-US" altLang="zh-CN" sz="2000">
                <a:hlinkClick r:id="rId1"/>
              </a:rPr>
              <a:t>Larry Page</a:t>
            </a:r>
            <a:r>
              <a:rPr lang="en-US" altLang="zh-CN" sz="2000"/>
              <a:t> </a:t>
            </a:r>
            <a:r>
              <a:rPr lang="zh-CN" altLang="en-US" sz="2000"/>
              <a:t>）和谢尔盖</a:t>
            </a:r>
            <a:r>
              <a:rPr lang="en-US" altLang="zh-CN" sz="2000">
                <a:latin typeface="Arial" panose="020B0604020202020204" pitchFamily="34" charset="0"/>
              </a:rPr>
              <a:t>•</a:t>
            </a:r>
            <a:r>
              <a:rPr lang="zh-CN" altLang="en-US" sz="2000"/>
              <a:t>布林 </a:t>
            </a:r>
            <a:r>
              <a:rPr lang="en-US" altLang="zh-CN" sz="2000"/>
              <a:t>(</a:t>
            </a:r>
            <a:r>
              <a:rPr lang="en-US" altLang="zh-CN" sz="2000">
                <a:hlinkClick r:id="rId1"/>
              </a:rPr>
              <a:t>Sergey Brin</a:t>
            </a:r>
            <a:r>
              <a:rPr lang="en-US" altLang="zh-CN" sz="2000"/>
              <a:t>)</a:t>
            </a:r>
            <a:r>
              <a:rPr lang="zh-CN" altLang="en-US" sz="2000"/>
              <a:t>两人利用稀疏矩阵计算的技巧，大大的简化了计算量，并实现了这个网页排名算法。今天 </a:t>
            </a:r>
            <a:r>
              <a:rPr lang="en-US" altLang="zh-CN" sz="2000"/>
              <a:t>Google </a:t>
            </a:r>
            <a:r>
              <a:rPr lang="zh-CN" altLang="en-US" sz="2000"/>
              <a:t>的工程师把这个算法移植到并行的计算机中，进一步缩短了计算时间，使网页更新的周期比以前短了许多。</a:t>
            </a:r>
            <a:br>
              <a:rPr lang="zh-CN" altLang="en-US" sz="2000"/>
            </a:br>
            <a:endParaRPr lang="zh-CN" altLang="en-US" sz="2000"/>
          </a:p>
          <a:p>
            <a:pPr eaLnBrk="1" hangingPunct="1"/>
            <a:r>
              <a:rPr lang="zh-CN" altLang="en-US" sz="2000"/>
              <a:t>今天，</a:t>
            </a:r>
            <a:r>
              <a:rPr lang="en-US" altLang="zh-CN" sz="2000"/>
              <a:t>Google </a:t>
            </a:r>
            <a:r>
              <a:rPr lang="zh-CN" altLang="en-US" sz="2000"/>
              <a:t>搜索引擎比最初复杂、完善了许多。但是网页排名在 </a:t>
            </a:r>
            <a:r>
              <a:rPr lang="en-US" altLang="zh-CN" sz="2000"/>
              <a:t>Google </a:t>
            </a:r>
            <a:r>
              <a:rPr lang="zh-CN" altLang="en-US" sz="2000"/>
              <a:t>所有算法中依然是至关重要的。在学术界</a:t>
            </a:r>
            <a:r>
              <a:rPr lang="en-US" altLang="zh-CN" sz="2000"/>
              <a:t>, </a:t>
            </a:r>
            <a:r>
              <a:rPr lang="zh-CN" altLang="en-US" sz="2000"/>
              <a:t>这个算法被公认为是文献检索中最大的贡献之一，并且被很多大学引入了信息检索课程 </a:t>
            </a:r>
            <a:r>
              <a:rPr lang="en-US" altLang="zh-CN" sz="2000"/>
              <a:t>(Information Retrieval) </a:t>
            </a:r>
            <a:r>
              <a:rPr lang="zh-CN" altLang="en-US" sz="2000"/>
              <a:t>的教程。 </a:t>
            </a:r>
            <a:endParaRPr lang="zh-CN" altLang="en-US" sz="200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p:cNvSpPr>
          <p:nvPr>
            <p:ph idx="1"/>
          </p:nvPr>
        </p:nvSpPr>
        <p:spPr>
          <a:xfrm>
            <a:off x="323850" y="1676400"/>
            <a:ext cx="8497888" cy="4084638"/>
          </a:xfrm>
          <a:ln/>
        </p:spPr>
        <p:txBody>
          <a:bodyPr vert="horz" wrap="square" lIns="91440" tIns="45720" rIns="91440" bIns="45720" anchor="t"/>
          <a:p>
            <a:pPr eaLnBrk="1" hangingPunct="1">
              <a:buNone/>
            </a:pPr>
            <a:r>
              <a:rPr lang="en-US" altLang="zh-CN" sz="2100" b="1"/>
              <a:t>      </a:t>
            </a:r>
            <a:r>
              <a:rPr lang="en-US" altLang="zh-CN" sz="2400" b="1"/>
              <a:t> </a:t>
            </a:r>
            <a:r>
              <a:rPr lang="zh-CN" altLang="en-US" sz="2400" b="1"/>
              <a:t>地面上存在着</a:t>
            </a:r>
            <a:r>
              <a:rPr lang="en-US" altLang="zh-CN" sz="2400" b="1" i="1"/>
              <a:t>n</a:t>
            </a:r>
            <a:r>
              <a:rPr lang="zh-CN" altLang="en-US" sz="2400" b="1"/>
              <a:t>个接收站与</a:t>
            </a:r>
            <a:r>
              <a:rPr lang="en-US" altLang="zh-CN" sz="2400" b="1" i="1"/>
              <a:t>n</a:t>
            </a:r>
            <a:r>
              <a:rPr lang="zh-CN" altLang="en-US" sz="2400" b="1"/>
              <a:t>个发送站，而在通讯卫星上则设置了若干种开关模式。开关模式可用矩阵</a:t>
            </a:r>
            <a:r>
              <a:rPr lang="en-US" altLang="zh-CN" sz="2400" b="1" i="1"/>
              <a:t>P</a:t>
            </a:r>
            <a:r>
              <a:rPr lang="en-US" altLang="zh-CN" sz="2400" b="1"/>
              <a:t>=(</a:t>
            </a:r>
            <a:r>
              <a:rPr lang="en-US" altLang="zh-CN" sz="2400" b="1" i="1"/>
              <a:t>p</a:t>
            </a:r>
            <a:r>
              <a:rPr lang="en-US" altLang="zh-CN" sz="2400" b="1" i="1" baseline="-25000"/>
              <a:t>ij</a:t>
            </a:r>
            <a:r>
              <a:rPr lang="en-US" altLang="zh-CN" sz="2400" b="1"/>
              <a:t>)</a:t>
            </a:r>
            <a:r>
              <a:rPr lang="zh-CN" altLang="en-US" sz="2400" b="1"/>
              <a:t>表示，若卫星可接收发送站</a:t>
            </a:r>
            <a:r>
              <a:rPr lang="en-US" altLang="zh-CN" sz="2400" b="1" i="1"/>
              <a:t>i</a:t>
            </a:r>
            <a:r>
              <a:rPr lang="zh-CN" altLang="en-US" sz="2400" b="1"/>
              <a:t>发射的信息并将信息送回地面的接收站</a:t>
            </a:r>
            <a:r>
              <a:rPr lang="en-US" altLang="zh-CN" sz="2400" b="1" i="1"/>
              <a:t>j</a:t>
            </a:r>
            <a:r>
              <a:rPr lang="zh-CN" altLang="en-US" sz="2400" b="1"/>
              <a:t>，矩阵中的元素</a:t>
            </a:r>
            <a:r>
              <a:rPr lang="en-US" altLang="zh-CN" sz="2400" b="1" i="1"/>
              <a:t>p</a:t>
            </a:r>
            <a:r>
              <a:rPr lang="en-US" altLang="zh-CN" sz="2400" b="1" i="1" baseline="-25000"/>
              <a:t>ij</a:t>
            </a:r>
            <a:r>
              <a:rPr lang="en-US" altLang="zh-CN" sz="2400" b="1"/>
              <a:t> =1</a:t>
            </a:r>
            <a:r>
              <a:rPr lang="zh-CN" altLang="en-US" sz="2400" b="1"/>
              <a:t>，否则</a:t>
            </a:r>
            <a:r>
              <a:rPr lang="en-US" altLang="zh-CN" sz="2400" b="1" i="1"/>
              <a:t>p</a:t>
            </a:r>
            <a:r>
              <a:rPr lang="en-US" altLang="zh-CN" sz="2400" b="1" i="1" baseline="-25000"/>
              <a:t>ij</a:t>
            </a:r>
            <a:r>
              <a:rPr lang="en-US" altLang="zh-CN" sz="2400" b="1"/>
              <a:t> =0</a:t>
            </a:r>
            <a:r>
              <a:rPr lang="zh-CN" altLang="en-US" sz="2400" b="1"/>
              <a:t>。通讯卫星上的接收发送任务也可以用一个矩阵</a:t>
            </a:r>
            <a:r>
              <a:rPr lang="en-US" altLang="zh-CN" sz="2400" b="1" i="1"/>
              <a:t>T</a:t>
            </a:r>
            <a:r>
              <a:rPr lang="en-US" altLang="zh-CN" sz="2400" b="1"/>
              <a:t>=</a:t>
            </a:r>
            <a:r>
              <a:rPr lang="zh-CN" altLang="en-US" sz="2400" b="1"/>
              <a:t>（</a:t>
            </a:r>
            <a:r>
              <a:rPr lang="en-US" altLang="zh-CN" sz="2400" b="1" i="1"/>
              <a:t>t</a:t>
            </a:r>
            <a:r>
              <a:rPr lang="en-US" altLang="zh-CN" sz="2400" b="1" i="1" baseline="-25000"/>
              <a:t>ij</a:t>
            </a:r>
            <a:r>
              <a:rPr lang="zh-CN" altLang="en-US" sz="2400" b="1"/>
              <a:t>）来表示，其元素</a:t>
            </a:r>
            <a:r>
              <a:rPr lang="en-US" altLang="zh-CN" sz="2400" b="1" i="1"/>
              <a:t>t</a:t>
            </a:r>
            <a:r>
              <a:rPr lang="en-US" altLang="zh-CN" sz="2400" b="1" i="1" baseline="-25000"/>
              <a:t>ij</a:t>
            </a:r>
            <a:r>
              <a:rPr lang="zh-CN" altLang="en-US" sz="2400" b="1"/>
              <a:t>为需经通讯卫星传递的由</a:t>
            </a:r>
            <a:r>
              <a:rPr lang="en-US" altLang="zh-CN" sz="2400" b="1" i="1"/>
              <a:t>i</a:t>
            </a:r>
            <a:r>
              <a:rPr lang="zh-CN" altLang="en-US" sz="2400" b="1"/>
              <a:t>发点发送到</a:t>
            </a:r>
            <a:r>
              <a:rPr lang="en-US" altLang="zh-CN" sz="2400" b="1" i="1"/>
              <a:t>j</a:t>
            </a:r>
            <a:r>
              <a:rPr lang="zh-CN" altLang="en-US" sz="2400" b="1"/>
              <a:t>接收点的信息量的传送时间长度。由于技术原因，当发送站</a:t>
            </a:r>
            <a:r>
              <a:rPr lang="en-US" altLang="zh-CN" sz="2400" b="1" i="1"/>
              <a:t>i</a:t>
            </a:r>
            <a:r>
              <a:rPr lang="zh-CN" altLang="en-US" sz="2400" b="1"/>
              <a:t>在发送给接收站</a:t>
            </a:r>
            <a:r>
              <a:rPr lang="en-US" altLang="zh-CN" sz="2400" b="1" i="1"/>
              <a:t>j</a:t>
            </a:r>
            <a:r>
              <a:rPr lang="zh-CN" altLang="en-US" sz="2400" b="1"/>
              <a:t>信息时，它不能同时发送给别的接收站信息；同样，当接收站</a:t>
            </a:r>
            <a:r>
              <a:rPr lang="en-US" altLang="zh-CN" sz="2400" b="1" i="1"/>
              <a:t>j</a:t>
            </a:r>
            <a:r>
              <a:rPr lang="zh-CN" altLang="en-US" sz="2400" b="1"/>
              <a:t>在接收发送站</a:t>
            </a:r>
            <a:r>
              <a:rPr lang="en-US" altLang="zh-CN" sz="2400" b="1" i="1"/>
              <a:t>i</a:t>
            </a:r>
            <a:r>
              <a:rPr lang="zh-CN" altLang="en-US" sz="2400" b="1"/>
              <a:t>的信息时，也不能同时接收其他发送站发送的信息。你的任务是：</a:t>
            </a:r>
            <a:endParaRPr lang="zh-CN" altLang="en-US" sz="2400" b="1"/>
          </a:p>
        </p:txBody>
      </p:sp>
      <p:sp>
        <p:nvSpPr>
          <p:cNvPr id="61442" name="Text Box 3"/>
          <p:cNvSpPr txBox="1"/>
          <p:nvPr/>
        </p:nvSpPr>
        <p:spPr>
          <a:xfrm>
            <a:off x="609600" y="457200"/>
            <a:ext cx="7543800" cy="641350"/>
          </a:xfrm>
          <a:prstGeom prst="rect">
            <a:avLst/>
          </a:prstGeom>
          <a:noFill/>
          <a:ln w="9525">
            <a:noFill/>
          </a:ln>
        </p:spPr>
        <p:txBody>
          <a:bodyPr anchor="t">
            <a:spAutoFit/>
          </a:bodyPr>
          <a:p>
            <a:pPr>
              <a:spcBef>
                <a:spcPct val="50000"/>
              </a:spcBef>
            </a:pPr>
            <a:r>
              <a:rPr lang="zh-CN" altLang="en-US" sz="3600" b="1">
                <a:solidFill>
                  <a:schemeClr val="accent2"/>
                </a:solidFill>
                <a:latin typeface="Arial" panose="020B0604020202020204" pitchFamily="34" charset="0"/>
                <a:ea typeface="黑体" panose="02010609060101010101" pitchFamily="2" charset="-122"/>
              </a:rPr>
              <a:t>另一个例子：通讯卫星上的开关设置</a:t>
            </a:r>
            <a:endParaRPr lang="zh-CN" altLang="en-US" sz="3600" b="1">
              <a:solidFill>
                <a:schemeClr val="accent2"/>
              </a:solidFill>
              <a:latin typeface="Arial" panose="020B0604020202020204" pitchFamily="34" charset="0"/>
              <a:ea typeface="黑体" panose="02010609060101010101" pitchFamily="2" charset="-122"/>
            </a:endParaRPr>
          </a:p>
        </p:txBody>
      </p:sp>
      <p:sp>
        <p:nvSpPr>
          <p:cNvPr id="61443" name="Rectangle 4"/>
          <p:cNvSpPr/>
          <p:nvPr/>
        </p:nvSpPr>
        <p:spPr>
          <a:xfrm>
            <a:off x="0" y="32956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fill="hold">
                                          <p:stCondLst>
                                            <p:cond delay="0"/>
                                          </p:stCondLst>
                                        </p:cTn>
                                        <p:tgtEl>
                                          <p:spTgt spid="177154">
                                            <p:txEl>
                                              <p:charRg st="0" end="268"/>
                                            </p:txEl>
                                          </p:spTgt>
                                        </p:tgtEl>
                                        <p:attrNameLst>
                                          <p:attrName>style.visibility</p:attrName>
                                        </p:attrNameLst>
                                      </p:cBhvr>
                                      <p:to>
                                        <p:strVal val="visible"/>
                                      </p:to>
                                    </p:set>
                                    <p:animEffect transition="in" filter="fade">
                                      <p:cBhvr>
                                        <p:cTn id="7" dur="1000"/>
                                        <p:tgtEl>
                                          <p:spTgt spid="177154">
                                            <p:txEl>
                                              <p:charRg st="0" end="268"/>
                                            </p:txEl>
                                          </p:spTgt>
                                        </p:tgtEl>
                                      </p:cBhvr>
                                    </p:animEffect>
                                    <p:anim calcmode="lin" valueType="num">
                                      <p:cBhvr>
                                        <p:cTn id="8" dur="1000" fill="hold"/>
                                        <p:tgtEl>
                                          <p:spTgt spid="177154">
                                            <p:txEl>
                                              <p:charRg st="0" end="268"/>
                                            </p:txEl>
                                          </p:spTgt>
                                        </p:tgtEl>
                                        <p:attrNameLst>
                                          <p:attrName>ppt_x</p:attrName>
                                        </p:attrNameLst>
                                      </p:cBhvr>
                                      <p:tavLst>
                                        <p:tav tm="0">
                                          <p:val>
                                            <p:strVal val="#ppt_x"/>
                                          </p:val>
                                        </p:tav>
                                        <p:tav tm="100000">
                                          <p:val>
                                            <p:strVal val="#ppt_x"/>
                                          </p:val>
                                        </p:tav>
                                      </p:tavLst>
                                    </p:anim>
                                    <p:anim calcmode="lin" valueType="num">
                                      <p:cBhvr>
                                        <p:cTn id="9" dur="1000" fill="hold"/>
                                        <p:tgtEl>
                                          <p:spTgt spid="177154">
                                            <p:txEl>
                                              <p:charRg st="0" end="26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a:xfrm>
            <a:off x="323850" y="620713"/>
            <a:ext cx="8540750" cy="1143000"/>
          </a:xfrm>
          <a:ln/>
        </p:spPr>
        <p:txBody>
          <a:bodyPr vert="horz" wrap="square" lIns="91440" tIns="45720" rIns="91440" bIns="45720" anchor="b"/>
          <a:p>
            <a:pPr eaLnBrk="1" hangingPunct="1"/>
            <a:br>
              <a:rPr lang="en-US" altLang="zh-CN" sz="2800"/>
            </a:br>
            <a:br>
              <a:rPr lang="en-US" altLang="zh-CN" sz="2800"/>
            </a:br>
            <a:endParaRPr lang="en-US" altLang="zh-CN" sz="2800"/>
          </a:p>
        </p:txBody>
      </p:sp>
      <p:sp>
        <p:nvSpPr>
          <p:cNvPr id="179203" name="Rectangle 3"/>
          <p:cNvSpPr>
            <a:spLocks noGrp="1"/>
          </p:cNvSpPr>
          <p:nvPr>
            <p:ph idx="1"/>
          </p:nvPr>
        </p:nvSpPr>
        <p:spPr>
          <a:xfrm>
            <a:off x="304800" y="1143000"/>
            <a:ext cx="8569325" cy="5903913"/>
          </a:xfrm>
          <a:ln/>
        </p:spPr>
        <p:txBody>
          <a:bodyPr vert="horz" wrap="square" lIns="91440" tIns="45720" rIns="91440" bIns="45720" anchor="t"/>
          <a:p>
            <a:pPr marL="609600" indent="-609600" eaLnBrk="1" hangingPunct="1">
              <a:lnSpc>
                <a:spcPct val="90000"/>
              </a:lnSpc>
              <a:buNone/>
            </a:pPr>
            <a:endParaRPr lang="en-US" altLang="zh-CN" sz="1500"/>
          </a:p>
          <a:p>
            <a:pPr marL="609600" indent="-609600" eaLnBrk="1" hangingPunct="1">
              <a:lnSpc>
                <a:spcPct val="90000"/>
              </a:lnSpc>
            </a:pPr>
            <a:r>
              <a:rPr lang="zh-CN" altLang="en-US" sz="2400" b="1"/>
              <a:t>设计一组开关模式，</a:t>
            </a:r>
            <a:r>
              <a:rPr lang="en-US" altLang="zh-CN" sz="2400" b="1"/>
              <a:t>k=1, </a:t>
            </a:r>
            <a:r>
              <a:rPr lang="en-US" altLang="zh-CN" sz="2400" b="1">
                <a:latin typeface="Arial" panose="020B0604020202020204" pitchFamily="34" charset="0"/>
              </a:rPr>
              <a:t>…</a:t>
            </a:r>
            <a:r>
              <a:rPr lang="en-US" altLang="zh-CN" sz="2400" b="1"/>
              <a:t>,r</a:t>
            </a:r>
            <a:r>
              <a:rPr lang="zh-CN" altLang="en-US" sz="2400" b="1"/>
              <a:t>（注：</a:t>
            </a:r>
            <a:r>
              <a:rPr lang="en-US" altLang="zh-CN" sz="2400" b="1"/>
              <a:t>r</a:t>
            </a:r>
            <a:r>
              <a:rPr lang="zh-CN" altLang="en-US" sz="2400" b="1"/>
              <a:t>应当尽可能小），使得对任意给定的任务矩阵</a:t>
            </a:r>
            <a:r>
              <a:rPr lang="en-US" altLang="zh-CN" sz="2400" b="1"/>
              <a:t>T</a:t>
            </a:r>
            <a:r>
              <a:rPr lang="zh-CN" altLang="en-US" sz="2400" b="1"/>
              <a:t>，卫星开关设置均能完成要求的发接收任务。</a:t>
            </a:r>
            <a:endParaRPr lang="zh-CN" altLang="en-US" sz="2400" b="1"/>
          </a:p>
          <a:p>
            <a:pPr marL="609600" indent="-609600" eaLnBrk="1" hangingPunct="1">
              <a:lnSpc>
                <a:spcPct val="90000"/>
              </a:lnSpc>
            </a:pPr>
            <a:r>
              <a:rPr lang="zh-CN" altLang="en-US" sz="2400" b="1"/>
              <a:t>设计一个算法，在发接收任务</a:t>
            </a:r>
            <a:r>
              <a:rPr lang="en-US" altLang="zh-CN" sz="2400" b="1"/>
              <a:t>T</a:t>
            </a:r>
            <a:r>
              <a:rPr lang="zh-CN" altLang="en-US" sz="2400" b="1"/>
              <a:t>给出后，可根据你设计的开关模式（</a:t>
            </a:r>
            <a:r>
              <a:rPr lang="en-US" altLang="zh-CN" sz="2400" b="1"/>
              <a:t>k=1,</a:t>
            </a:r>
            <a:r>
              <a:rPr lang="en-US" altLang="zh-CN" sz="2400" b="1">
                <a:latin typeface="Arial" panose="020B0604020202020204" pitchFamily="34" charset="0"/>
              </a:rPr>
              <a:t>…</a:t>
            </a:r>
            <a:r>
              <a:rPr lang="en-US" altLang="zh-CN" sz="2400" b="1"/>
              <a:t>,r</a:t>
            </a:r>
            <a:r>
              <a:rPr lang="zh-CN" altLang="en-US" sz="2400" b="1"/>
              <a:t>）求出各开关的使用时间</a:t>
            </a:r>
            <a:r>
              <a:rPr lang="en-US" altLang="zh-CN" sz="2400" b="1"/>
              <a:t>λ</a:t>
            </a:r>
            <a:r>
              <a:rPr lang="zh-CN" altLang="en-US" sz="2400" b="1"/>
              <a:t>，使得在完成预定传送任务的前提下使用各开关模式的总时间短。</a:t>
            </a:r>
            <a:endParaRPr lang="zh-CN" altLang="en-US" sz="2000" b="1"/>
          </a:p>
          <a:p>
            <a:pPr marL="609600" indent="-609600" eaLnBrk="1" hangingPunct="1">
              <a:lnSpc>
                <a:spcPct val="90000"/>
              </a:lnSpc>
            </a:pPr>
            <a:r>
              <a:rPr lang="zh-CN" altLang="en-US" sz="2400" b="1"/>
              <a:t>同样由于技术上的原因，开关模式的总数</a:t>
            </a:r>
            <a:r>
              <a:rPr lang="en-US" altLang="zh-CN" sz="2400" b="1"/>
              <a:t>r</a:t>
            </a:r>
            <a:r>
              <a:rPr lang="zh-CN" altLang="en-US" sz="2400" b="1"/>
              <a:t>有一个上限。当需要传送的任务数数量较大时，仍无法分派任务。要求想一些办法来解决这一困难，（当然，这时可能要作出一些牺牲，即传送时间可能会增加一些）。</a:t>
            </a:r>
            <a:endParaRPr lang="zh-CN" altLang="en-US" sz="2400" b="1"/>
          </a:p>
        </p:txBody>
      </p:sp>
    </p:spTree>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withEffect">
                                  <p:stCondLst>
                                    <p:cond delay="0"/>
                                  </p:stCondLst>
                                  <p:childTnLst>
                                    <p:set>
                                      <p:cBhvr>
                                        <p:cTn id="6" fill="hold">
                                          <p:stCondLst>
                                            <p:cond delay="0"/>
                                          </p:stCondLst>
                                        </p:cTn>
                                        <p:tgtEl>
                                          <p:spTgt spid="179202"/>
                                        </p:tgtEl>
                                        <p:attrNameLst>
                                          <p:attrName>style.visibility</p:attrName>
                                        </p:attrNameLst>
                                      </p:cBhvr>
                                      <p:to>
                                        <p:strVal val="visible"/>
                                      </p:to>
                                    </p:set>
                                    <p:animEffect transition="in" filter="fade">
                                      <p:cBhvr>
                                        <p:cTn id="7" dur="799" decel="100000"/>
                                        <p:tgtEl>
                                          <p:spTgt spid="179202"/>
                                        </p:tgtEl>
                                      </p:cBhvr>
                                    </p:animEffect>
                                    <p:anim calcmode="lin" valueType="num">
                                      <p:cBhvr>
                                        <p:cTn id="8" dur="799" decel="100000" fill="hold"/>
                                        <p:tgtEl>
                                          <p:spTgt spid="179202"/>
                                        </p:tgtEl>
                                        <p:attrNameLst>
                                          <p:attrName>style.rotation</p:attrName>
                                        </p:attrNameLst>
                                      </p:cBhvr>
                                      <p:tavLst>
                                        <p:tav tm="0">
                                          <p:val>
                                            <p:fltVal val="-90.000000"/>
                                          </p:val>
                                        </p:tav>
                                        <p:tav tm="100000">
                                          <p:val>
                                            <p:fltVal val="0.000000"/>
                                          </p:val>
                                        </p:tav>
                                      </p:tavLst>
                                    </p:anim>
                                    <p:anim calcmode="lin" valueType="num">
                                      <p:cBhvr>
                                        <p:cTn id="9" dur="799" decel="100000" fill="hold"/>
                                        <p:tgtEl>
                                          <p:spTgt spid="179202"/>
                                        </p:tgtEl>
                                        <p:attrNameLst>
                                          <p:attrName>ppt_x</p:attrName>
                                        </p:attrNameLst>
                                      </p:cBhvr>
                                      <p:tavLst>
                                        <p:tav tm="0">
                                          <p:val>
                                            <p:strVal val="#ppt_x+0.4"/>
                                          </p:val>
                                        </p:tav>
                                        <p:tav tm="100000">
                                          <p:val>
                                            <p:strVal val="#ppt_x-0.05"/>
                                          </p:val>
                                        </p:tav>
                                      </p:tavLst>
                                    </p:anim>
                                    <p:anim calcmode="lin" valueType="num">
                                      <p:cBhvr>
                                        <p:cTn id="10" dur="799" decel="100000" fill="hold"/>
                                        <p:tgtEl>
                                          <p:spTgt spid="179202"/>
                                        </p:tgtEl>
                                        <p:attrNameLst>
                                          <p:attrName>ppt_y</p:attrName>
                                        </p:attrNameLst>
                                      </p:cBhvr>
                                      <p:tavLst>
                                        <p:tav tm="0">
                                          <p:val>
                                            <p:strVal val="#ppt_y-0.4"/>
                                          </p:val>
                                        </p:tav>
                                        <p:tav tm="100000">
                                          <p:val>
                                            <p:strVal val="#ppt_y+0.1"/>
                                          </p:val>
                                        </p:tav>
                                      </p:tavLst>
                                    </p:anim>
                                    <p:anim calcmode="lin" valueType="num">
                                      <p:cBhvr>
                                        <p:cTn id="11" dur="199" accel="100000" fill="hold">
                                          <p:stCondLst>
                                            <p:cond delay="799"/>
                                          </p:stCondLst>
                                        </p:cTn>
                                        <p:tgtEl>
                                          <p:spTgt spid="179202"/>
                                        </p:tgtEl>
                                        <p:attrNameLst>
                                          <p:attrName>ppt_x</p:attrName>
                                        </p:attrNameLst>
                                      </p:cBhvr>
                                      <p:tavLst>
                                        <p:tav tm="0">
                                          <p:val>
                                            <p:strVal val="#ppt_x-0.05"/>
                                          </p:val>
                                        </p:tav>
                                        <p:tav tm="100000">
                                          <p:val>
                                            <p:strVal val="#ppt_x"/>
                                          </p:val>
                                        </p:tav>
                                      </p:tavLst>
                                    </p:anim>
                                    <p:anim calcmode="lin" valueType="num">
                                      <p:cBhvr>
                                        <p:cTn id="12" dur="199" accel="100000" fill="hold">
                                          <p:stCondLst>
                                            <p:cond delay="799"/>
                                          </p:stCondLst>
                                        </p:cTn>
                                        <p:tgtEl>
                                          <p:spTgt spid="17920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7" presetClass="entr" presetSubtype="0" fill="hold" grpId="0" nodeType="clickEffect">
                                  <p:stCondLst>
                                    <p:cond delay="0"/>
                                  </p:stCondLst>
                                  <p:childTnLst>
                                    <p:set>
                                      <p:cBhvr>
                                        <p:cTn id="16" fill="hold">
                                          <p:stCondLst>
                                            <p:cond delay="0"/>
                                          </p:stCondLst>
                                        </p:cTn>
                                        <p:tgtEl>
                                          <p:spTgt spid="179203">
                                            <p:txEl>
                                              <p:charRg st="1" end="64"/>
                                            </p:txEl>
                                          </p:spTgt>
                                        </p:tgtEl>
                                        <p:attrNameLst>
                                          <p:attrName>style.visibility</p:attrName>
                                        </p:attrNameLst>
                                      </p:cBhvr>
                                      <p:to>
                                        <p:strVal val="visible"/>
                                      </p:to>
                                    </p:set>
                                    <p:animEffect transition="in" filter="fade">
                                      <p:cBhvr>
                                        <p:cTn id="17" dur="1000"/>
                                        <p:tgtEl>
                                          <p:spTgt spid="179203">
                                            <p:txEl>
                                              <p:charRg st="1" end="64"/>
                                            </p:txEl>
                                          </p:spTgt>
                                        </p:tgtEl>
                                      </p:cBhvr>
                                    </p:animEffect>
                                    <p:anim calcmode="lin" valueType="num">
                                      <p:cBhvr>
                                        <p:cTn id="18" dur="1000" fill="hold"/>
                                        <p:tgtEl>
                                          <p:spTgt spid="179203">
                                            <p:txEl>
                                              <p:charRg st="1" end="64"/>
                                            </p:txEl>
                                          </p:spTgt>
                                        </p:tgtEl>
                                        <p:attrNameLst>
                                          <p:attrName>ppt_x</p:attrName>
                                        </p:attrNameLst>
                                      </p:cBhvr>
                                      <p:tavLst>
                                        <p:tav tm="0">
                                          <p:val>
                                            <p:strVal val="#ppt_x"/>
                                          </p:val>
                                        </p:tav>
                                        <p:tav tm="100000">
                                          <p:val>
                                            <p:strVal val="#ppt_x"/>
                                          </p:val>
                                        </p:tav>
                                      </p:tavLst>
                                    </p:anim>
                                    <p:anim calcmode="lin" valueType="num">
                                      <p:cBhvr>
                                        <p:cTn id="19" dur="1000" fill="hold"/>
                                        <p:tgtEl>
                                          <p:spTgt spid="179203">
                                            <p:txEl>
                                              <p:charRg st="1" end="6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fill="hold">
                                          <p:stCondLst>
                                            <p:cond delay="0"/>
                                          </p:stCondLst>
                                        </p:cTn>
                                        <p:tgtEl>
                                          <p:spTgt spid="179203">
                                            <p:txEl>
                                              <p:charRg st="64" end="143"/>
                                            </p:txEl>
                                          </p:spTgt>
                                        </p:tgtEl>
                                        <p:attrNameLst>
                                          <p:attrName>style.visibility</p:attrName>
                                        </p:attrNameLst>
                                      </p:cBhvr>
                                      <p:to>
                                        <p:strVal val="visible"/>
                                      </p:to>
                                    </p:set>
                                    <p:animEffect transition="in" filter="fade">
                                      <p:cBhvr>
                                        <p:cTn id="24" dur="1000"/>
                                        <p:tgtEl>
                                          <p:spTgt spid="179203">
                                            <p:txEl>
                                              <p:charRg st="64" end="143"/>
                                            </p:txEl>
                                          </p:spTgt>
                                        </p:tgtEl>
                                      </p:cBhvr>
                                    </p:animEffect>
                                    <p:anim calcmode="lin" valueType="num">
                                      <p:cBhvr>
                                        <p:cTn id="25" dur="1000" fill="hold"/>
                                        <p:tgtEl>
                                          <p:spTgt spid="179203">
                                            <p:txEl>
                                              <p:charRg st="64" end="143"/>
                                            </p:txEl>
                                          </p:spTgt>
                                        </p:tgtEl>
                                        <p:attrNameLst>
                                          <p:attrName>ppt_x</p:attrName>
                                        </p:attrNameLst>
                                      </p:cBhvr>
                                      <p:tavLst>
                                        <p:tav tm="0">
                                          <p:val>
                                            <p:strVal val="#ppt_x"/>
                                          </p:val>
                                        </p:tav>
                                        <p:tav tm="100000">
                                          <p:val>
                                            <p:strVal val="#ppt_x"/>
                                          </p:val>
                                        </p:tav>
                                      </p:tavLst>
                                    </p:anim>
                                    <p:anim calcmode="lin" valueType="num">
                                      <p:cBhvr>
                                        <p:cTn id="26" dur="1000" fill="hold"/>
                                        <p:tgtEl>
                                          <p:spTgt spid="179203">
                                            <p:txEl>
                                              <p:charRg st="64" end="14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fill="hold">
                                          <p:stCondLst>
                                            <p:cond delay="0"/>
                                          </p:stCondLst>
                                        </p:cTn>
                                        <p:tgtEl>
                                          <p:spTgt spid="179203">
                                            <p:txEl>
                                              <p:charRg st="143" end="237"/>
                                            </p:txEl>
                                          </p:spTgt>
                                        </p:tgtEl>
                                        <p:attrNameLst>
                                          <p:attrName>style.visibility</p:attrName>
                                        </p:attrNameLst>
                                      </p:cBhvr>
                                      <p:to>
                                        <p:strVal val="visible"/>
                                      </p:to>
                                    </p:set>
                                    <p:animEffect transition="in" filter="fade">
                                      <p:cBhvr>
                                        <p:cTn id="31" dur="1000"/>
                                        <p:tgtEl>
                                          <p:spTgt spid="179203">
                                            <p:txEl>
                                              <p:charRg st="143" end="237"/>
                                            </p:txEl>
                                          </p:spTgt>
                                        </p:tgtEl>
                                      </p:cBhvr>
                                    </p:animEffect>
                                    <p:anim calcmode="lin" valueType="num">
                                      <p:cBhvr>
                                        <p:cTn id="32" dur="1000" fill="hold"/>
                                        <p:tgtEl>
                                          <p:spTgt spid="179203">
                                            <p:txEl>
                                              <p:charRg st="143" end="237"/>
                                            </p:txEl>
                                          </p:spTgt>
                                        </p:tgtEl>
                                        <p:attrNameLst>
                                          <p:attrName>ppt_x</p:attrName>
                                        </p:attrNameLst>
                                      </p:cBhvr>
                                      <p:tavLst>
                                        <p:tav tm="0">
                                          <p:val>
                                            <p:strVal val="#ppt_x"/>
                                          </p:val>
                                        </p:tav>
                                        <p:tav tm="100000">
                                          <p:val>
                                            <p:strVal val="#ppt_x"/>
                                          </p:val>
                                        </p:tav>
                                      </p:tavLst>
                                    </p:anim>
                                    <p:anim calcmode="lin" valueType="num">
                                      <p:cBhvr>
                                        <p:cTn id="33" dur="1000" fill="hold"/>
                                        <p:tgtEl>
                                          <p:spTgt spid="179203">
                                            <p:txEl>
                                              <p:charRg st="143" end="23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2" grpId="0"/>
      <p:bldP spid="17920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Rectangle 2"/>
          <p:cNvSpPr>
            <a:spLocks noGrp="1"/>
          </p:cNvSpPr>
          <p:nvPr>
            <p:ph type="title"/>
          </p:nvPr>
        </p:nvSpPr>
        <p:spPr>
          <a:xfrm>
            <a:off x="539750" y="333375"/>
            <a:ext cx="7993063" cy="719138"/>
          </a:xfrm>
          <a:ln/>
        </p:spPr>
        <p:txBody>
          <a:bodyPr vert="horz" wrap="square" lIns="91440" tIns="45720" rIns="91440" bIns="45720" anchor="b"/>
          <a:p>
            <a:pPr eaLnBrk="1" hangingPunct="1"/>
            <a:r>
              <a:rPr lang="zh-CN" altLang="en-US" sz="2400">
                <a:solidFill>
                  <a:schemeClr val="accent2"/>
                </a:solidFill>
              </a:rPr>
              <a:t>即要求</a:t>
            </a:r>
            <a:r>
              <a:rPr lang="zh-CN" altLang="en-US" sz="2400" b="1">
                <a:solidFill>
                  <a:schemeClr val="accent2"/>
                </a:solidFill>
                <a:sym typeface="Wingdings" panose="05000000000000000000" pitchFamily="2" charset="2"/>
              </a:rPr>
              <a:t>设计开关系统及使用方法，达到以下目的：</a:t>
            </a:r>
            <a:endParaRPr lang="zh-CN" altLang="en-US" sz="2400" b="1">
              <a:solidFill>
                <a:schemeClr val="accent2"/>
              </a:solidFill>
              <a:sym typeface="Wingdings" panose="05000000000000000000" pitchFamily="2" charset="2"/>
            </a:endParaRPr>
          </a:p>
        </p:txBody>
      </p:sp>
      <p:sp>
        <p:nvSpPr>
          <p:cNvPr id="181251" name="Rectangle 3"/>
          <p:cNvSpPr>
            <a:spLocks noGrp="1"/>
          </p:cNvSpPr>
          <p:nvPr>
            <p:ph idx="1"/>
          </p:nvPr>
        </p:nvSpPr>
        <p:spPr>
          <a:xfrm>
            <a:off x="228600" y="1143000"/>
            <a:ext cx="7772400" cy="4114800"/>
          </a:xfrm>
          <a:ln/>
        </p:spPr>
        <p:txBody>
          <a:bodyPr vert="horz" wrap="square" lIns="91440" tIns="45720" rIns="91440" bIns="45720" anchor="t"/>
          <a:p>
            <a:pPr eaLnBrk="1" hangingPunct="1">
              <a:buNone/>
            </a:pPr>
            <a:endParaRPr lang="en-US" altLang="zh-CN" b="1">
              <a:sym typeface="Wingdings" panose="05000000000000000000" pitchFamily="2" charset="2"/>
            </a:endParaRPr>
          </a:p>
          <a:p>
            <a:pPr eaLnBrk="1" hangingPunct="1">
              <a:buNone/>
            </a:pPr>
            <a:r>
              <a:rPr lang="zh-CN" altLang="en-US" b="1">
                <a:sym typeface="Wingdings" panose="05000000000000000000" pitchFamily="2" charset="2"/>
              </a:rPr>
              <a:t>（</a:t>
            </a:r>
            <a:r>
              <a:rPr lang="en-US" altLang="zh-CN" b="1"/>
              <a:t>1</a:t>
            </a:r>
            <a:r>
              <a:rPr lang="zh-CN" altLang="en-US" b="1"/>
              <a:t>）开关数量要少（控制在一个合理的范围内）</a:t>
            </a:r>
            <a:endParaRPr lang="zh-CN" altLang="en-US" b="1"/>
          </a:p>
          <a:p>
            <a:pPr eaLnBrk="1" hangingPunct="1">
              <a:buNone/>
            </a:pPr>
            <a:r>
              <a:rPr lang="zh-CN" altLang="en-US" b="1"/>
              <a:t>（</a:t>
            </a:r>
            <a:r>
              <a:rPr lang="en-US" altLang="zh-CN" b="1"/>
              <a:t>2</a:t>
            </a:r>
            <a:r>
              <a:rPr lang="zh-CN" altLang="en-US" b="1"/>
              <a:t>）使用卫星上的开关时应尽量节省卫星租用时间</a:t>
            </a:r>
            <a:endParaRPr lang="zh-CN" altLang="en-US" b="1"/>
          </a:p>
          <a:p>
            <a:pPr eaLnBrk="1" hangingPunct="1">
              <a:buNone/>
            </a:pPr>
            <a:r>
              <a:rPr lang="zh-CN" altLang="en-US" b="1"/>
              <a:t>（</a:t>
            </a:r>
            <a:r>
              <a:rPr lang="en-US" altLang="zh-CN" b="1"/>
              <a:t>3</a:t>
            </a:r>
            <a:r>
              <a:rPr lang="zh-CN" altLang="en-US" b="1"/>
              <a:t>）设计具体操作方法</a:t>
            </a:r>
            <a:endParaRPr lang="zh-CN" altLang="en-US" sz="3600" b="1"/>
          </a:p>
          <a:p>
            <a:pPr eaLnBrk="1" hangingPunct="1">
              <a:buNone/>
            </a:pPr>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1251">
                                            <p:txEl>
                                              <p:charRg st="1" end="24"/>
                                            </p:txEl>
                                          </p:spTgt>
                                        </p:tgtEl>
                                        <p:attrNameLst>
                                          <p:attrName>style.visibility</p:attrName>
                                        </p:attrNameLst>
                                      </p:cBhvr>
                                      <p:to>
                                        <p:strVal val="visible"/>
                                      </p:to>
                                    </p:set>
                                    <p:animEffect transition="in" filter="fade">
                                      <p:cBhvr>
                                        <p:cTn id="7" dur="1000"/>
                                        <p:tgtEl>
                                          <p:spTgt spid="181251">
                                            <p:txEl>
                                              <p:charRg st="1" end="24"/>
                                            </p:txEl>
                                          </p:spTgt>
                                        </p:tgtEl>
                                      </p:cBhvr>
                                    </p:animEffect>
                                    <p:anim calcmode="lin" valueType="num">
                                      <p:cBhvr>
                                        <p:cTn id="8" dur="1000" fill="hold"/>
                                        <p:tgtEl>
                                          <p:spTgt spid="181251">
                                            <p:txEl>
                                              <p:charRg st="1" end="24"/>
                                            </p:txEl>
                                          </p:spTgt>
                                        </p:tgtEl>
                                        <p:attrNameLst>
                                          <p:attrName>ppt_x</p:attrName>
                                        </p:attrNameLst>
                                      </p:cBhvr>
                                      <p:tavLst>
                                        <p:tav tm="0">
                                          <p:val>
                                            <p:strVal val="#ppt_x"/>
                                          </p:val>
                                        </p:tav>
                                        <p:tav tm="100000">
                                          <p:val>
                                            <p:strVal val="#ppt_x"/>
                                          </p:val>
                                        </p:tav>
                                      </p:tavLst>
                                    </p:anim>
                                    <p:anim calcmode="lin" valueType="num">
                                      <p:cBhvr>
                                        <p:cTn id="9" dur="1000" fill="hold"/>
                                        <p:tgtEl>
                                          <p:spTgt spid="181251">
                                            <p:txEl>
                                              <p:charRg st="1" end="2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1251">
                                            <p:txEl>
                                              <p:charRg st="24" end="48"/>
                                            </p:txEl>
                                          </p:spTgt>
                                        </p:tgtEl>
                                        <p:attrNameLst>
                                          <p:attrName>style.visibility</p:attrName>
                                        </p:attrNameLst>
                                      </p:cBhvr>
                                      <p:to>
                                        <p:strVal val="visible"/>
                                      </p:to>
                                    </p:set>
                                    <p:animEffect transition="in" filter="fade">
                                      <p:cBhvr>
                                        <p:cTn id="14" dur="1000"/>
                                        <p:tgtEl>
                                          <p:spTgt spid="181251">
                                            <p:txEl>
                                              <p:charRg st="24" end="48"/>
                                            </p:txEl>
                                          </p:spTgt>
                                        </p:tgtEl>
                                      </p:cBhvr>
                                    </p:animEffect>
                                    <p:anim calcmode="lin" valueType="num">
                                      <p:cBhvr>
                                        <p:cTn id="15" dur="1000" fill="hold"/>
                                        <p:tgtEl>
                                          <p:spTgt spid="181251">
                                            <p:txEl>
                                              <p:charRg st="24" end="48"/>
                                            </p:txEl>
                                          </p:spTgt>
                                        </p:tgtEl>
                                        <p:attrNameLst>
                                          <p:attrName>ppt_x</p:attrName>
                                        </p:attrNameLst>
                                      </p:cBhvr>
                                      <p:tavLst>
                                        <p:tav tm="0">
                                          <p:val>
                                            <p:strVal val="#ppt_x"/>
                                          </p:val>
                                        </p:tav>
                                        <p:tav tm="100000">
                                          <p:val>
                                            <p:strVal val="#ppt_x"/>
                                          </p:val>
                                        </p:tav>
                                      </p:tavLst>
                                    </p:anim>
                                    <p:anim calcmode="lin" valueType="num">
                                      <p:cBhvr>
                                        <p:cTn id="16" dur="1000" fill="hold"/>
                                        <p:tgtEl>
                                          <p:spTgt spid="181251">
                                            <p:txEl>
                                              <p:charRg st="24" end="48"/>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81251">
                                            <p:txEl>
                                              <p:charRg st="48" end="60"/>
                                            </p:txEl>
                                          </p:spTgt>
                                        </p:tgtEl>
                                        <p:attrNameLst>
                                          <p:attrName>style.visibility</p:attrName>
                                        </p:attrNameLst>
                                      </p:cBhvr>
                                      <p:to>
                                        <p:strVal val="visible"/>
                                      </p:to>
                                    </p:set>
                                    <p:animEffect transition="in" filter="fade">
                                      <p:cBhvr>
                                        <p:cTn id="21" dur="1000"/>
                                        <p:tgtEl>
                                          <p:spTgt spid="181251">
                                            <p:txEl>
                                              <p:charRg st="48" end="60"/>
                                            </p:txEl>
                                          </p:spTgt>
                                        </p:tgtEl>
                                      </p:cBhvr>
                                    </p:animEffect>
                                    <p:anim calcmode="lin" valueType="num">
                                      <p:cBhvr>
                                        <p:cTn id="22" dur="1000" fill="hold"/>
                                        <p:tgtEl>
                                          <p:spTgt spid="181251">
                                            <p:txEl>
                                              <p:charRg st="48" end="60"/>
                                            </p:txEl>
                                          </p:spTgt>
                                        </p:tgtEl>
                                        <p:attrNameLst>
                                          <p:attrName>ppt_x</p:attrName>
                                        </p:attrNameLst>
                                      </p:cBhvr>
                                      <p:tavLst>
                                        <p:tav tm="0">
                                          <p:val>
                                            <p:strVal val="#ppt_x"/>
                                          </p:val>
                                        </p:tav>
                                        <p:tav tm="100000">
                                          <p:val>
                                            <p:strVal val="#ppt_x"/>
                                          </p:val>
                                        </p:tav>
                                      </p:tavLst>
                                    </p:anim>
                                    <p:anim calcmode="lin" valueType="num">
                                      <p:cBhvr>
                                        <p:cTn id="23" dur="1000" fill="hold"/>
                                        <p:tgtEl>
                                          <p:spTgt spid="181251">
                                            <p:txEl>
                                              <p:charRg st="48" end="6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p:nvPr/>
        </p:nvSpPr>
        <p:spPr>
          <a:xfrm>
            <a:off x="3352800" y="381000"/>
            <a:ext cx="2232025" cy="519113"/>
          </a:xfrm>
          <a:prstGeom prst="rect">
            <a:avLst/>
          </a:prstGeom>
          <a:noFill/>
          <a:ln w="9525">
            <a:noFill/>
          </a:ln>
        </p:spPr>
        <p:txBody>
          <a:bodyPr anchor="ctr">
            <a:spAutoFit/>
          </a:bodyPr>
          <a:p>
            <a:r>
              <a:rPr lang="zh-CN" altLang="en-US" sz="2800" b="1">
                <a:solidFill>
                  <a:srgbClr val="009900"/>
                </a:solidFill>
                <a:latin typeface="Times New Roman" panose="02020603050405020304" pitchFamily="18" charset="0"/>
                <a:ea typeface="宋体" panose="02010600030101010101" pitchFamily="2" charset="-122"/>
              </a:rPr>
              <a:t>问题及模型</a:t>
            </a:r>
            <a:endParaRPr lang="zh-CN" altLang="en-US" sz="2800" b="1">
              <a:solidFill>
                <a:srgbClr val="009900"/>
              </a:solidFill>
              <a:latin typeface="Times New Roman" panose="02020603050405020304" pitchFamily="18" charset="0"/>
              <a:ea typeface="宋体" panose="02010600030101010101" pitchFamily="2" charset="-122"/>
            </a:endParaRPr>
          </a:p>
        </p:txBody>
      </p:sp>
      <p:sp>
        <p:nvSpPr>
          <p:cNvPr id="183299" name="Rectangle 3"/>
          <p:cNvSpPr/>
          <p:nvPr/>
        </p:nvSpPr>
        <p:spPr>
          <a:xfrm>
            <a:off x="468313" y="1455738"/>
            <a:ext cx="8207375" cy="3378200"/>
          </a:xfrm>
          <a:prstGeom prst="rect">
            <a:avLst/>
          </a:prstGeom>
          <a:noFill/>
          <a:ln w="9525">
            <a:noFill/>
          </a:ln>
        </p:spPr>
        <p:txBody>
          <a:bodyPr anchor="ctr">
            <a:spAutoFit/>
          </a:bodyPr>
          <a:p>
            <a:r>
              <a:rPr lang="zh-CN" altLang="en-US" sz="2400" b="1">
                <a:latin typeface="Times New Roman" panose="02020603050405020304" pitchFamily="18" charset="0"/>
                <a:ea typeface="宋体" panose="02010600030101010101" pitchFamily="2" charset="-122"/>
              </a:rPr>
              <a:t>问题的标准形式为：在地面上存在着</a:t>
            </a:r>
            <a:r>
              <a:rPr lang="en-US" altLang="zh-CN" sz="2400" b="1" i="1">
                <a:latin typeface="Times New Roman" panose="02020603050405020304" pitchFamily="18" charset="0"/>
                <a:ea typeface="宋体" panose="02010600030101010101" pitchFamily="2" charset="-122"/>
              </a:rPr>
              <a:t>n</a:t>
            </a:r>
            <a:r>
              <a:rPr lang="zh-CN" altLang="en-US" sz="2400" b="1">
                <a:latin typeface="Times New Roman" panose="02020603050405020304" pitchFamily="18" charset="0"/>
                <a:ea typeface="宋体" panose="02010600030101010101" pitchFamily="2" charset="-122"/>
              </a:rPr>
              <a:t>个收站与</a:t>
            </a:r>
            <a:r>
              <a:rPr lang="en-US" altLang="zh-CN" sz="2400" b="1" i="1">
                <a:latin typeface="Times New Roman" panose="02020603050405020304" pitchFamily="18" charset="0"/>
                <a:ea typeface="宋体" panose="02010600030101010101" pitchFamily="2" charset="-122"/>
              </a:rPr>
              <a:t>n</a:t>
            </a:r>
            <a:r>
              <a:rPr lang="zh-CN" altLang="en-US" sz="2400" b="1">
                <a:latin typeface="Times New Roman" panose="02020603050405020304" pitchFamily="18" charset="0"/>
                <a:ea typeface="宋体" panose="02010600030101010101" pitchFamily="2" charset="-122"/>
              </a:rPr>
              <a:t>个发战，而在通讯卫星上则设置了若干种开关模式。开关模式可用矩阵</a:t>
            </a:r>
            <a:r>
              <a:rPr lang="en-US" altLang="zh-CN" sz="2400" b="1" i="1">
                <a:latin typeface="Times New Roman" panose="02020603050405020304" pitchFamily="18" charset="0"/>
                <a:ea typeface="宋体" panose="02010600030101010101" pitchFamily="2" charset="-122"/>
              </a:rPr>
              <a:t>P</a:t>
            </a:r>
            <a:r>
              <a:rPr lang="en-US" altLang="zh-CN" sz="2400" b="1">
                <a:latin typeface="Times New Roman" panose="02020603050405020304" pitchFamily="18" charset="0"/>
                <a:ea typeface="宋体" panose="02010600030101010101" pitchFamily="2" charset="-122"/>
              </a:rPr>
              <a:t>=(</a:t>
            </a:r>
            <a:r>
              <a:rPr lang="en-US" altLang="zh-CN" sz="2400" b="1" i="1">
                <a:latin typeface="Times New Roman" panose="02020603050405020304" pitchFamily="18" charset="0"/>
                <a:ea typeface="宋体" panose="02010600030101010101" pitchFamily="2" charset="-122"/>
              </a:rPr>
              <a:t>p</a:t>
            </a:r>
            <a:r>
              <a:rPr lang="en-US" altLang="zh-CN" sz="2400" b="1" i="1" baseline="-30000">
                <a:latin typeface="Times New Roman" panose="02020603050405020304" pitchFamily="18" charset="0"/>
                <a:ea typeface="宋体" panose="02010600030101010101" pitchFamily="2" charset="-122"/>
              </a:rPr>
              <a:t>ij</a:t>
            </a:r>
            <a:r>
              <a:rPr lang="en-US" altLang="zh-CN" sz="2400" b="1">
                <a:latin typeface="Times New Roman" panose="02020603050405020304" pitchFamily="18" charset="0"/>
                <a:ea typeface="宋体" panose="02010600030101010101" pitchFamily="2" charset="-122"/>
              </a:rPr>
              <a:t>)</a:t>
            </a:r>
            <a:r>
              <a:rPr lang="zh-CN" altLang="en-US" sz="2400" b="1">
                <a:latin typeface="Times New Roman" panose="02020603050405020304" pitchFamily="18" charset="0"/>
                <a:ea typeface="宋体" panose="02010600030101010101" pitchFamily="2" charset="-122"/>
              </a:rPr>
              <a:t>来表示，若卫星可接收发射站</a:t>
            </a:r>
            <a:r>
              <a:rPr lang="en-US" altLang="zh-CN" sz="2400" b="1" i="1">
                <a:latin typeface="Times New Roman" panose="02020603050405020304" pitchFamily="18" charset="0"/>
                <a:ea typeface="宋体" panose="02010600030101010101" pitchFamily="2" charset="-122"/>
              </a:rPr>
              <a:t>i</a:t>
            </a:r>
            <a:r>
              <a:rPr lang="zh-CN" altLang="en-US" sz="2400" b="1">
                <a:latin typeface="Times New Roman" panose="02020603050405020304" pitchFamily="18" charset="0"/>
                <a:ea typeface="宋体" panose="02010600030101010101" pitchFamily="2" charset="-122"/>
              </a:rPr>
              <a:t>发射的信息并将信息传送回地面的接收站</a:t>
            </a:r>
            <a:r>
              <a:rPr lang="en-US" altLang="zh-CN" sz="2400" b="1" i="1">
                <a:latin typeface="Times New Roman" panose="02020603050405020304" pitchFamily="18" charset="0"/>
                <a:ea typeface="宋体" panose="02010600030101010101" pitchFamily="2" charset="-122"/>
              </a:rPr>
              <a:t>j</a:t>
            </a:r>
            <a:r>
              <a:rPr lang="zh-CN" altLang="en-US" sz="2400" b="1">
                <a:latin typeface="Times New Roman" panose="02020603050405020304" pitchFamily="18" charset="0"/>
                <a:ea typeface="宋体" panose="02010600030101010101" pitchFamily="2" charset="-122"/>
              </a:rPr>
              <a:t>时，矩阵元素</a:t>
            </a:r>
            <a:r>
              <a:rPr lang="en-US" altLang="zh-CN" sz="2400" b="1" i="1">
                <a:latin typeface="Times New Roman" panose="02020603050405020304" pitchFamily="18" charset="0"/>
                <a:ea typeface="宋体" panose="02010600030101010101" pitchFamily="2" charset="-122"/>
              </a:rPr>
              <a:t>p</a:t>
            </a:r>
            <a:r>
              <a:rPr lang="en-US" altLang="zh-CN" sz="2400" b="1" i="1" baseline="-30000">
                <a:latin typeface="Times New Roman" panose="02020603050405020304" pitchFamily="18" charset="0"/>
                <a:ea typeface="宋体" panose="02010600030101010101" pitchFamily="2" charset="-122"/>
              </a:rPr>
              <a:t>ij</a:t>
            </a:r>
            <a:r>
              <a:rPr lang="en-US" altLang="zh-CN" sz="2400" b="1">
                <a:latin typeface="Times New Roman" panose="02020603050405020304" pitchFamily="18" charset="0"/>
                <a:ea typeface="宋体" panose="02010600030101010101" pitchFamily="2" charset="-122"/>
              </a:rPr>
              <a:t> =1</a:t>
            </a:r>
            <a:r>
              <a:rPr lang="zh-CN" altLang="en-US" sz="2400" b="1">
                <a:latin typeface="Times New Roman" panose="02020603050405020304" pitchFamily="18" charset="0"/>
                <a:ea typeface="宋体" panose="02010600030101010101" pitchFamily="2" charset="-122"/>
              </a:rPr>
              <a:t>，否则</a:t>
            </a:r>
            <a:r>
              <a:rPr lang="en-US" altLang="zh-CN" sz="2400" b="1" i="1">
                <a:latin typeface="Times New Roman" panose="02020603050405020304" pitchFamily="18" charset="0"/>
                <a:ea typeface="宋体" panose="02010600030101010101" pitchFamily="2" charset="-122"/>
              </a:rPr>
              <a:t>p</a:t>
            </a:r>
            <a:r>
              <a:rPr lang="en-US" altLang="zh-CN" sz="2400" b="1" i="1" baseline="-30000">
                <a:latin typeface="Times New Roman" panose="02020603050405020304" pitchFamily="18" charset="0"/>
                <a:ea typeface="宋体" panose="02010600030101010101" pitchFamily="2" charset="-122"/>
              </a:rPr>
              <a:t>ij</a:t>
            </a:r>
            <a:r>
              <a:rPr lang="en-US" altLang="zh-CN" sz="2400" b="1">
                <a:latin typeface="Times New Roman" panose="02020603050405020304" pitchFamily="18" charset="0"/>
                <a:ea typeface="宋体" panose="02010600030101010101" pitchFamily="2" charset="-122"/>
              </a:rPr>
              <a:t> =0</a:t>
            </a:r>
            <a:r>
              <a:rPr lang="zh-CN" altLang="en-US" sz="2400" b="1">
                <a:latin typeface="Times New Roman" panose="02020603050405020304" pitchFamily="18" charset="0"/>
                <a:ea typeface="宋体" panose="02010600030101010101" pitchFamily="2" charset="-122"/>
              </a:rPr>
              <a:t>。通讯卫星的接发任务也可用一矩阵</a:t>
            </a:r>
            <a:r>
              <a:rPr lang="en-US" altLang="zh-CN" sz="2400" b="1" i="1">
                <a:latin typeface="Times New Roman" panose="02020603050405020304" pitchFamily="18" charset="0"/>
                <a:ea typeface="宋体" panose="02010600030101010101" pitchFamily="2" charset="-122"/>
              </a:rPr>
              <a:t>T</a:t>
            </a:r>
            <a:r>
              <a:rPr lang="en-US" altLang="zh-CN" sz="2400" b="1">
                <a:latin typeface="Times New Roman" panose="02020603050405020304" pitchFamily="18" charset="0"/>
                <a:ea typeface="宋体" panose="02010600030101010101" pitchFamily="2" charset="-122"/>
              </a:rPr>
              <a:t>=</a:t>
            </a:r>
            <a:r>
              <a:rPr lang="zh-CN" altLang="en-US" sz="2400" b="1">
                <a:latin typeface="Times New Roman" panose="02020603050405020304" pitchFamily="18" charset="0"/>
                <a:ea typeface="宋体" panose="02010600030101010101" pitchFamily="2" charset="-122"/>
              </a:rPr>
              <a:t>（</a:t>
            </a:r>
            <a:r>
              <a:rPr lang="en-US" altLang="zh-CN" sz="2400" b="1" i="1">
                <a:latin typeface="Times New Roman" panose="02020603050405020304" pitchFamily="18" charset="0"/>
                <a:ea typeface="宋体" panose="02010600030101010101" pitchFamily="2" charset="-122"/>
              </a:rPr>
              <a:t>t</a:t>
            </a:r>
            <a:r>
              <a:rPr lang="en-US" altLang="zh-CN" sz="2400" b="1" i="1" baseline="-30000">
                <a:latin typeface="Times New Roman" panose="02020603050405020304" pitchFamily="18" charset="0"/>
                <a:ea typeface="宋体" panose="02010600030101010101" pitchFamily="2" charset="-122"/>
              </a:rPr>
              <a:t>ij</a:t>
            </a:r>
            <a:r>
              <a:rPr lang="zh-CN" altLang="en-US" sz="2400" b="1">
                <a:latin typeface="Times New Roman" panose="02020603050405020304" pitchFamily="18" charset="0"/>
                <a:ea typeface="宋体" panose="02010600030101010101" pitchFamily="2" charset="-122"/>
              </a:rPr>
              <a:t>）来表示，其元素</a:t>
            </a:r>
            <a:r>
              <a:rPr lang="en-US" altLang="zh-CN" sz="2400" b="1" i="1">
                <a:latin typeface="Times New Roman" panose="02020603050405020304" pitchFamily="18" charset="0"/>
                <a:ea typeface="宋体" panose="02010600030101010101" pitchFamily="2" charset="-122"/>
              </a:rPr>
              <a:t>t</a:t>
            </a:r>
            <a:r>
              <a:rPr lang="en-US" altLang="zh-CN" sz="2400" b="1" i="1" baseline="-30000">
                <a:latin typeface="Times New Roman" panose="02020603050405020304" pitchFamily="18" charset="0"/>
                <a:ea typeface="宋体" panose="02010600030101010101" pitchFamily="2" charset="-122"/>
              </a:rPr>
              <a:t>ij</a:t>
            </a:r>
            <a:r>
              <a:rPr lang="zh-CN" altLang="en-US" sz="2400" b="1">
                <a:latin typeface="Times New Roman" panose="02020603050405020304" pitchFamily="18" charset="0"/>
                <a:ea typeface="宋体" panose="02010600030101010101" pitchFamily="2" charset="-122"/>
              </a:rPr>
              <a:t>为需经通讯卫星传递的由</a:t>
            </a:r>
            <a:r>
              <a:rPr lang="en-US" altLang="zh-CN" sz="2400" b="1" i="1">
                <a:latin typeface="Times New Roman" panose="02020603050405020304" pitchFamily="18" charset="0"/>
                <a:ea typeface="宋体" panose="02010600030101010101" pitchFamily="2" charset="-122"/>
              </a:rPr>
              <a:t>i</a:t>
            </a:r>
            <a:r>
              <a:rPr lang="zh-CN" altLang="en-US" sz="2400" b="1">
                <a:latin typeface="Times New Roman" panose="02020603050405020304" pitchFamily="18" charset="0"/>
                <a:ea typeface="宋体" panose="02010600030101010101" pitchFamily="2" charset="-122"/>
              </a:rPr>
              <a:t>发点发送到</a:t>
            </a:r>
            <a:r>
              <a:rPr lang="en-US" altLang="zh-CN" sz="2400" b="1" i="1">
                <a:latin typeface="Times New Roman" panose="02020603050405020304" pitchFamily="18" charset="0"/>
                <a:ea typeface="宋体" panose="02010600030101010101" pitchFamily="2" charset="-122"/>
              </a:rPr>
              <a:t>j</a:t>
            </a:r>
            <a:r>
              <a:rPr lang="zh-CN" altLang="en-US" sz="2400" b="1">
                <a:latin typeface="Times New Roman" panose="02020603050405020304" pitchFamily="18" charset="0"/>
                <a:ea typeface="宋体" panose="02010600030101010101" pitchFamily="2" charset="-122"/>
              </a:rPr>
              <a:t>接受点的信息量的传送时间长度。问题要求求</a:t>
            </a:r>
            <a:r>
              <a:rPr lang="en-US" altLang="zh-CN" sz="2400" b="1" i="1">
                <a:latin typeface="Times New Roman" panose="02020603050405020304" pitchFamily="18" charset="0"/>
                <a:ea typeface="宋体" panose="02010600030101010101" pitchFamily="2" charset="-122"/>
              </a:rPr>
              <a:t>r</a:t>
            </a:r>
            <a:r>
              <a:rPr lang="zh-CN" altLang="en-US" sz="2400" b="1">
                <a:latin typeface="Times New Roman" panose="02020603050405020304" pitchFamily="18" charset="0"/>
                <a:ea typeface="宋体" panose="02010600030101010101" pitchFamily="2" charset="-122"/>
              </a:rPr>
              <a:t>并设计一组开关模式</a:t>
            </a:r>
            <a:r>
              <a:rPr lang="en-US" altLang="zh-CN" sz="2400" b="1" i="1">
                <a:latin typeface="Times New Roman" panose="02020603050405020304" pitchFamily="18" charset="0"/>
                <a:ea typeface="宋体" panose="02010600030101010101" pitchFamily="2" charset="-122"/>
              </a:rPr>
              <a:t>P</a:t>
            </a:r>
            <a:r>
              <a:rPr lang="en-US" altLang="zh-CN" sz="2400" b="1" i="1" baseline="-30000">
                <a:latin typeface="Times New Roman" panose="02020603050405020304" pitchFamily="18" charset="0"/>
                <a:ea typeface="宋体" panose="02010600030101010101" pitchFamily="2" charset="-122"/>
              </a:rPr>
              <a:t>k</a:t>
            </a:r>
            <a:r>
              <a:rPr lang="zh-CN" altLang="en-US" sz="2400" b="1">
                <a:latin typeface="Times New Roman" panose="02020603050405020304" pitchFamily="18" charset="0"/>
                <a:ea typeface="宋体" panose="02010600030101010101" pitchFamily="2" charset="-122"/>
              </a:rPr>
              <a:t>，</a:t>
            </a:r>
            <a:r>
              <a:rPr lang="en-US" altLang="zh-CN" sz="2400" b="1" i="1">
                <a:latin typeface="Times New Roman" panose="02020603050405020304" pitchFamily="18" charset="0"/>
                <a:ea typeface="宋体" panose="02010600030101010101" pitchFamily="2" charset="-122"/>
              </a:rPr>
              <a:t>k</a:t>
            </a:r>
            <a:r>
              <a:rPr lang="en-US" altLang="zh-CN" sz="2400" b="1">
                <a:latin typeface="Times New Roman" panose="02020603050405020304" pitchFamily="18" charset="0"/>
                <a:ea typeface="宋体" panose="02010600030101010101" pitchFamily="2" charset="-122"/>
              </a:rPr>
              <a:t>=1, …,</a:t>
            </a:r>
            <a:r>
              <a:rPr lang="en-US" altLang="zh-CN" sz="2400" b="1" i="1">
                <a:latin typeface="Times New Roman" panose="02020603050405020304" pitchFamily="18" charset="0"/>
                <a:ea typeface="宋体" panose="02010600030101010101" pitchFamily="2" charset="-122"/>
              </a:rPr>
              <a:t>r</a:t>
            </a:r>
            <a:r>
              <a:rPr lang="zh-CN" altLang="en-US" sz="2400" b="1">
                <a:latin typeface="Times New Roman" panose="02020603050405020304" pitchFamily="18" charset="0"/>
                <a:ea typeface="宋体" panose="02010600030101010101" pitchFamily="2" charset="-122"/>
              </a:rPr>
              <a:t>及模式</a:t>
            </a:r>
            <a:r>
              <a:rPr lang="en-US" altLang="zh-CN" sz="2400" b="1" i="1">
                <a:latin typeface="Times New Roman" panose="02020603050405020304" pitchFamily="18" charset="0"/>
                <a:ea typeface="宋体" panose="02010600030101010101" pitchFamily="2" charset="-122"/>
              </a:rPr>
              <a:t>P</a:t>
            </a:r>
            <a:r>
              <a:rPr lang="en-US" altLang="zh-CN" sz="2400" b="1" i="1" baseline="-30000">
                <a:latin typeface="Times New Roman" panose="02020603050405020304" pitchFamily="18" charset="0"/>
                <a:ea typeface="宋体" panose="02010600030101010101" pitchFamily="2" charset="-122"/>
              </a:rPr>
              <a:t>k</a:t>
            </a:r>
            <a:r>
              <a:rPr lang="zh-CN" altLang="en-US" sz="2400" b="1">
                <a:latin typeface="Times New Roman" panose="02020603050405020304" pitchFamily="18" charset="0"/>
                <a:ea typeface="宋体" panose="02010600030101010101" pitchFamily="2" charset="-122"/>
              </a:rPr>
              <a:t>的使用时间</a:t>
            </a:r>
            <a:r>
              <a:rPr lang="en-US" altLang="zh-CN" sz="2400" b="1">
                <a:latin typeface="Times New Roman" panose="02020603050405020304" pitchFamily="18" charset="0"/>
                <a:ea typeface="宋体" panose="02010600030101010101" pitchFamily="2" charset="-122"/>
              </a:rPr>
              <a:t>λ</a:t>
            </a:r>
            <a:r>
              <a:rPr lang="en-US" altLang="zh-CN" sz="2400" b="1" i="1" baseline="-30000">
                <a:latin typeface="Times New Roman" panose="02020603050405020304" pitchFamily="18" charset="0"/>
                <a:ea typeface="宋体" panose="02010600030101010101" pitchFamily="2" charset="-122"/>
              </a:rPr>
              <a:t>k</a:t>
            </a:r>
            <a:r>
              <a:rPr lang="zh-CN" altLang="en-US" sz="2400" b="1">
                <a:latin typeface="Times New Roman" panose="02020603050405020304" pitchFamily="18" charset="0"/>
                <a:ea typeface="宋体" panose="02010600030101010101" pitchFamily="2" charset="-122"/>
              </a:rPr>
              <a:t>，使得在完成预定传送任务的前提下各开关模式使用的总时间最短，即要求求解下面的问题： </a:t>
            </a:r>
            <a:endParaRPr lang="zh-CN" altLang="en-US" sz="2400" b="1">
              <a:latin typeface="Times New Roman" panose="02020603050405020304" pitchFamily="18" charset="0"/>
              <a:ea typeface="宋体" panose="02010600030101010101" pitchFamily="2" charset="-122"/>
            </a:endParaRPr>
          </a:p>
        </p:txBody>
      </p:sp>
      <p:sp>
        <p:nvSpPr>
          <p:cNvPr id="67587" name="Rectangle 4"/>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83301" name="Object 5"/>
          <p:cNvGraphicFramePr>
            <a:graphicFrameLocks noChangeAspect="1"/>
          </p:cNvGraphicFramePr>
          <p:nvPr/>
        </p:nvGraphicFramePr>
        <p:xfrm>
          <a:off x="2195513" y="4724400"/>
          <a:ext cx="1223962" cy="822325"/>
        </p:xfrm>
        <a:graphic>
          <a:graphicData uri="http://schemas.openxmlformats.org/presentationml/2006/ole">
            <mc:AlternateContent xmlns:mc="http://schemas.openxmlformats.org/markup-compatibility/2006">
              <mc:Choice xmlns:v="urn:schemas-microsoft-com:vml" Requires="v">
                <p:oleObj spid="_x0000_s3076" name="" r:id="rId1" imgW="635000" imgH="431800" progId="Equation.DSMT4">
                  <p:embed/>
                </p:oleObj>
              </mc:Choice>
              <mc:Fallback>
                <p:oleObj name="" r:id="rId1" imgW="635000" imgH="431800" progId="Equation.DSMT4">
                  <p:embed/>
                  <p:pic>
                    <p:nvPicPr>
                      <p:cNvPr id="0" name="图片 3075"/>
                      <p:cNvPicPr/>
                      <p:nvPr/>
                    </p:nvPicPr>
                    <p:blipFill>
                      <a:blip r:embed="rId2"/>
                      <a:stretch>
                        <a:fillRect/>
                      </a:stretch>
                    </p:blipFill>
                    <p:spPr>
                      <a:xfrm>
                        <a:off x="2195513" y="4724400"/>
                        <a:ext cx="1223962" cy="822325"/>
                      </a:xfrm>
                      <a:prstGeom prst="rect">
                        <a:avLst/>
                      </a:prstGeom>
                      <a:noFill/>
                      <a:ln w="38100">
                        <a:noFill/>
                        <a:miter/>
                      </a:ln>
                    </p:spPr>
                  </p:pic>
                </p:oleObj>
              </mc:Fallback>
            </mc:AlternateContent>
          </a:graphicData>
        </a:graphic>
      </p:graphicFrame>
      <p:sp>
        <p:nvSpPr>
          <p:cNvPr id="67589" name="Rectangle 6"/>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83303" name="Object 7"/>
          <p:cNvGraphicFramePr>
            <a:graphicFrameLocks noChangeAspect="1"/>
          </p:cNvGraphicFramePr>
          <p:nvPr/>
        </p:nvGraphicFramePr>
        <p:xfrm>
          <a:off x="2195513" y="5454650"/>
          <a:ext cx="1800225" cy="842963"/>
        </p:xfrm>
        <a:graphic>
          <a:graphicData uri="http://schemas.openxmlformats.org/presentationml/2006/ole">
            <mc:AlternateContent xmlns:mc="http://schemas.openxmlformats.org/markup-compatibility/2006">
              <mc:Choice xmlns:v="urn:schemas-microsoft-com:vml" Requires="v">
                <p:oleObj spid="_x0000_s3081" name="" r:id="rId3" imgW="914400" imgH="431800" progId="Equation.DSMT4">
                  <p:embed/>
                </p:oleObj>
              </mc:Choice>
              <mc:Fallback>
                <p:oleObj name="" r:id="rId3" imgW="914400" imgH="431800" progId="Equation.DSMT4">
                  <p:embed/>
                  <p:pic>
                    <p:nvPicPr>
                      <p:cNvPr id="0" name="图片 3080"/>
                      <p:cNvPicPr/>
                      <p:nvPr/>
                    </p:nvPicPr>
                    <p:blipFill>
                      <a:blip r:embed="rId4"/>
                      <a:stretch>
                        <a:fillRect/>
                      </a:stretch>
                    </p:blipFill>
                    <p:spPr>
                      <a:xfrm>
                        <a:off x="2195513" y="5454650"/>
                        <a:ext cx="1800225" cy="84296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83298"/>
                                        </p:tgtEl>
                                        <p:attrNameLst>
                                          <p:attrName>style.visibility</p:attrName>
                                        </p:attrNameLst>
                                      </p:cBhvr>
                                      <p:to>
                                        <p:strVal val="visible"/>
                                      </p:to>
                                    </p:set>
                                    <p:anim calcmode="lin" valueType="num">
                                      <p:cBhvr>
                                        <p:cTn id="7" dur="500" fill="hold"/>
                                        <p:tgtEl>
                                          <p:spTgt spid="183298"/>
                                        </p:tgtEl>
                                        <p:attrNameLst>
                                          <p:attrName>ppt_x</p:attrName>
                                        </p:attrNameLst>
                                      </p:cBhvr>
                                      <p:tavLst>
                                        <p:tav tm="0">
                                          <p:val>
                                            <p:strVal val="0-#ppt_w/2"/>
                                          </p:val>
                                        </p:tav>
                                        <p:tav tm="100000">
                                          <p:val>
                                            <p:strVal val="#ppt_x"/>
                                          </p:val>
                                        </p:tav>
                                      </p:tavLst>
                                    </p:anim>
                                    <p:anim calcmode="lin" valueType="num">
                                      <p:cBhvr>
                                        <p:cTn id="8" dur="500" fill="hold"/>
                                        <p:tgtEl>
                                          <p:spTgt spid="18329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3299"/>
                                        </p:tgtEl>
                                        <p:attrNameLst>
                                          <p:attrName>style.visibility</p:attrName>
                                        </p:attrNameLst>
                                      </p:cBhvr>
                                      <p:to>
                                        <p:strVal val="visible"/>
                                      </p:to>
                                    </p:set>
                                    <p:anim calcmode="lin" valueType="num">
                                      <p:cBhvr>
                                        <p:cTn id="13" dur="500" fill="hold"/>
                                        <p:tgtEl>
                                          <p:spTgt spid="183299"/>
                                        </p:tgtEl>
                                        <p:attrNameLst>
                                          <p:attrName>ppt_x</p:attrName>
                                        </p:attrNameLst>
                                      </p:cBhvr>
                                      <p:tavLst>
                                        <p:tav tm="0">
                                          <p:val>
                                            <p:strVal val="0-#ppt_w/2"/>
                                          </p:val>
                                        </p:tav>
                                        <p:tav tm="100000">
                                          <p:val>
                                            <p:strVal val="#ppt_x"/>
                                          </p:val>
                                        </p:tav>
                                      </p:tavLst>
                                    </p:anim>
                                    <p:anim calcmode="lin" valueType="num">
                                      <p:cBhvr>
                                        <p:cTn id="14" dur="500" fill="hold"/>
                                        <p:tgtEl>
                                          <p:spTgt spid="18329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83301"/>
                                        </p:tgtEl>
                                        <p:attrNameLst>
                                          <p:attrName>style.visibility</p:attrName>
                                        </p:attrNameLst>
                                      </p:cBhvr>
                                      <p:to>
                                        <p:strVal val="visible"/>
                                      </p:to>
                                    </p:set>
                                    <p:anim calcmode="lin" valueType="num">
                                      <p:cBhvr>
                                        <p:cTn id="19" dur="500" fill="hold"/>
                                        <p:tgtEl>
                                          <p:spTgt spid="183301"/>
                                        </p:tgtEl>
                                        <p:attrNameLst>
                                          <p:attrName>ppt_x</p:attrName>
                                        </p:attrNameLst>
                                      </p:cBhvr>
                                      <p:tavLst>
                                        <p:tav tm="0">
                                          <p:val>
                                            <p:strVal val="0-#ppt_w/2"/>
                                          </p:val>
                                        </p:tav>
                                        <p:tav tm="100000">
                                          <p:val>
                                            <p:strVal val="#ppt_x"/>
                                          </p:val>
                                        </p:tav>
                                      </p:tavLst>
                                    </p:anim>
                                    <p:anim calcmode="lin" valueType="num">
                                      <p:cBhvr>
                                        <p:cTn id="20" dur="500" fill="hold"/>
                                        <p:tgtEl>
                                          <p:spTgt spid="18330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83303"/>
                                        </p:tgtEl>
                                        <p:attrNameLst>
                                          <p:attrName>style.visibility</p:attrName>
                                        </p:attrNameLst>
                                      </p:cBhvr>
                                      <p:to>
                                        <p:strVal val="visible"/>
                                      </p:to>
                                    </p:set>
                                    <p:anim calcmode="lin" valueType="num">
                                      <p:cBhvr>
                                        <p:cTn id="25" dur="500" fill="hold"/>
                                        <p:tgtEl>
                                          <p:spTgt spid="183303"/>
                                        </p:tgtEl>
                                        <p:attrNameLst>
                                          <p:attrName>ppt_x</p:attrName>
                                        </p:attrNameLst>
                                      </p:cBhvr>
                                      <p:tavLst>
                                        <p:tav tm="0">
                                          <p:val>
                                            <p:strVal val="0-#ppt_w/2"/>
                                          </p:val>
                                        </p:tav>
                                        <p:tav tm="100000">
                                          <p:val>
                                            <p:strVal val="#ppt_x"/>
                                          </p:val>
                                        </p:tav>
                                      </p:tavLst>
                                    </p:anim>
                                    <p:anim calcmode="lin" valueType="num">
                                      <p:cBhvr>
                                        <p:cTn id="26" dur="500" fill="hold"/>
                                        <p:tgtEl>
                                          <p:spTgt spid="1833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8" grpId="0"/>
      <p:bldP spid="18329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Rectangle 2"/>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3"/>
          <p:cNvGrpSpPr/>
          <p:nvPr/>
        </p:nvGrpSpPr>
        <p:grpSpPr>
          <a:xfrm>
            <a:off x="684213" y="1195388"/>
            <a:ext cx="3044825" cy="1243012"/>
            <a:chOff x="282" y="152"/>
            <a:chExt cx="1918" cy="783"/>
          </a:xfrm>
        </p:grpSpPr>
        <p:sp>
          <p:nvSpPr>
            <p:cNvPr id="69635" name="Text Box 4"/>
            <p:cNvSpPr txBox="1"/>
            <p:nvPr/>
          </p:nvSpPr>
          <p:spPr>
            <a:xfrm>
              <a:off x="282" y="413"/>
              <a:ext cx="961" cy="250"/>
            </a:xfrm>
            <a:prstGeom prst="rect">
              <a:avLst/>
            </a:prstGeom>
            <a:noFill/>
            <a:ln w="9525">
              <a:noFill/>
            </a:ln>
          </p:spPr>
          <p:txBody>
            <a:bodyPr wrap="none" anchor="t">
              <a:spAutoFit/>
            </a:bodyPr>
            <a:p>
              <a:r>
                <a:rPr lang="zh-CN" altLang="en-US" sz="2000" b="1">
                  <a:solidFill>
                    <a:srgbClr val="009900"/>
                  </a:solidFill>
                  <a:latin typeface="宋体" panose="02010600030101010101" pitchFamily="2" charset="-122"/>
                  <a:ea typeface="宋体" panose="02010600030101010101" pitchFamily="2" charset="-122"/>
                </a:rPr>
                <a:t>一个实例</a:t>
              </a:r>
              <a:r>
                <a:rPr lang="zh-CN" altLang="en-US" sz="2000" b="1">
                  <a:latin typeface="Times New Roman" panose="02020603050405020304" pitchFamily="18" charset="0"/>
                  <a:ea typeface="宋体" panose="02010600030101010101" pitchFamily="2" charset="-122"/>
                </a:rPr>
                <a:t>设 </a:t>
              </a:r>
              <a:endParaRPr lang="zh-CN" altLang="en-US" sz="2000" b="1">
                <a:latin typeface="Times New Roman" panose="02020603050405020304" pitchFamily="18" charset="0"/>
                <a:ea typeface="宋体" panose="02010600030101010101" pitchFamily="2" charset="-122"/>
              </a:endParaRPr>
            </a:p>
          </p:txBody>
        </p:sp>
        <p:graphicFrame>
          <p:nvGraphicFramePr>
            <p:cNvPr id="69636" name="Object 5"/>
            <p:cNvGraphicFramePr>
              <a:graphicFrameLocks noChangeAspect="1"/>
            </p:cNvGraphicFramePr>
            <p:nvPr/>
          </p:nvGraphicFramePr>
          <p:xfrm>
            <a:off x="1157" y="152"/>
            <a:ext cx="1043" cy="783"/>
          </p:xfrm>
          <a:graphic>
            <a:graphicData uri="http://schemas.openxmlformats.org/presentationml/2006/ole">
              <mc:AlternateContent xmlns:mc="http://schemas.openxmlformats.org/markup-compatibility/2006">
                <mc:Choice xmlns:v="urn:schemas-microsoft-com:vml" Requires="v">
                  <p:oleObj spid="_x0000_s3083" name="" r:id="rId1" imgW="951865" imgH="711200" progId="Equation.DSMT4">
                    <p:embed/>
                  </p:oleObj>
                </mc:Choice>
                <mc:Fallback>
                  <p:oleObj name="" r:id="rId1" imgW="951865" imgH="711200" progId="Equation.DSMT4">
                    <p:embed/>
                    <p:pic>
                      <p:nvPicPr>
                        <p:cNvPr id="0" name="图片 3082"/>
                        <p:cNvPicPr/>
                        <p:nvPr/>
                      </p:nvPicPr>
                      <p:blipFill>
                        <a:blip r:embed="rId2"/>
                        <a:stretch>
                          <a:fillRect/>
                        </a:stretch>
                      </p:blipFill>
                      <p:spPr>
                        <a:xfrm>
                          <a:off x="1157" y="152"/>
                          <a:ext cx="1043" cy="783"/>
                        </a:xfrm>
                        <a:prstGeom prst="rect">
                          <a:avLst/>
                        </a:prstGeom>
                        <a:noFill/>
                        <a:ln w="38100">
                          <a:noFill/>
                          <a:miter/>
                        </a:ln>
                      </p:spPr>
                    </p:pic>
                  </p:oleObj>
                </mc:Fallback>
              </mc:AlternateContent>
            </a:graphicData>
          </a:graphic>
        </p:graphicFrame>
      </p:grpSp>
      <p:sp>
        <p:nvSpPr>
          <p:cNvPr id="185350" name="Rectangle 6"/>
          <p:cNvSpPr/>
          <p:nvPr/>
        </p:nvSpPr>
        <p:spPr>
          <a:xfrm>
            <a:off x="207963" y="2438400"/>
            <a:ext cx="7820025" cy="7016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这是一个有</a:t>
            </a:r>
            <a:r>
              <a:rPr lang="en-US" altLang="zh-CN" sz="2000" b="1">
                <a:latin typeface="Times New Roman" panose="02020603050405020304" pitchFamily="18" charset="0"/>
                <a:ea typeface="宋体" panose="02010600030101010101" pitchFamily="2" charset="-122"/>
              </a:rPr>
              <a:t>3</a:t>
            </a:r>
            <a:r>
              <a:rPr lang="zh-CN" altLang="en-US" sz="2000" b="1">
                <a:latin typeface="Times New Roman" panose="02020603050405020304" pitchFamily="18" charset="0"/>
                <a:ea typeface="宋体" panose="02010600030101010101" pitchFamily="2" charset="-122"/>
              </a:rPr>
              <a:t>个发送站与</a:t>
            </a:r>
            <a:r>
              <a:rPr lang="en-US" altLang="zh-CN" sz="2000" b="1">
                <a:latin typeface="Times New Roman" panose="02020603050405020304" pitchFamily="18" charset="0"/>
                <a:ea typeface="宋体" panose="02010600030101010101" pitchFamily="2" charset="-122"/>
              </a:rPr>
              <a:t>3</a:t>
            </a:r>
            <a:r>
              <a:rPr lang="zh-CN" altLang="en-US" sz="2000" b="1">
                <a:latin typeface="Times New Roman" panose="02020603050405020304" pitchFamily="18" charset="0"/>
                <a:ea typeface="宋体" panose="02010600030101010101" pitchFamily="2" charset="-122"/>
              </a:rPr>
              <a:t>个接收站的实例，</a:t>
            </a:r>
            <a:r>
              <a:rPr lang="en-US" altLang="zh-CN" sz="2000" b="1" i="1">
                <a:latin typeface="Times New Roman" panose="02020603050405020304" pitchFamily="18" charset="0"/>
                <a:ea typeface="宋体" panose="02010600030101010101" pitchFamily="2" charset="-122"/>
              </a:rPr>
              <a:t>t</a:t>
            </a:r>
            <a:r>
              <a:rPr lang="en-US" altLang="zh-CN" sz="2000" b="1" i="1" baseline="-30000">
                <a:latin typeface="Times New Roman" panose="02020603050405020304" pitchFamily="18" charset="0"/>
                <a:ea typeface="宋体" panose="02010600030101010101" pitchFamily="2" charset="-122"/>
              </a:rPr>
              <a:t>ij</a:t>
            </a:r>
            <a:r>
              <a:rPr lang="zh-CN" altLang="en-US" sz="2000" b="1">
                <a:latin typeface="Times New Roman" panose="02020603050405020304" pitchFamily="18" charset="0"/>
                <a:ea typeface="宋体" panose="02010600030101010101" pitchFamily="2" charset="-122"/>
              </a:rPr>
              <a:t>在矩阵中已给出，例如由发站</a:t>
            </a: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传送到收站</a:t>
            </a: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的通讯量为</a:t>
            </a:r>
            <a:r>
              <a:rPr lang="en-US" altLang="zh-CN" sz="2000" b="1">
                <a:latin typeface="Times New Roman" panose="02020603050405020304" pitchFamily="18" charset="0"/>
                <a:ea typeface="宋体" panose="02010600030101010101" pitchFamily="2" charset="-122"/>
              </a:rPr>
              <a:t>3</a:t>
            </a:r>
            <a:r>
              <a:rPr lang="zh-CN" altLang="en-US" sz="2000" b="1">
                <a:latin typeface="Times New Roman" panose="02020603050405020304" pitchFamily="18" charset="0"/>
                <a:ea typeface="宋体" panose="02010600030101010101" pitchFamily="2" charset="-122"/>
              </a:rPr>
              <a:t>单位时间等。</a:t>
            </a:r>
            <a:endParaRPr lang="zh-CN" altLang="en-US" sz="2000" b="1">
              <a:latin typeface="Times New Roman" panose="02020603050405020304" pitchFamily="18" charset="0"/>
              <a:ea typeface="宋体" panose="02010600030101010101" pitchFamily="2" charset="-122"/>
            </a:endParaRPr>
          </a:p>
        </p:txBody>
      </p:sp>
      <p:sp>
        <p:nvSpPr>
          <p:cNvPr id="185351" name="Text Box 7"/>
          <p:cNvSpPr txBox="1"/>
          <p:nvPr/>
        </p:nvSpPr>
        <p:spPr>
          <a:xfrm>
            <a:off x="250825" y="3089275"/>
            <a:ext cx="8642350" cy="1006475"/>
          </a:xfrm>
          <a:prstGeom prst="rect">
            <a:avLst/>
          </a:prstGeom>
          <a:noFill/>
          <a:ln w="9525">
            <a:noFill/>
          </a:ln>
        </p:spPr>
        <p:txBody>
          <a:bodyPr anchor="t">
            <a:spAutoFit/>
          </a:bodyPr>
          <a:p>
            <a:r>
              <a:rPr lang="zh-CN" altLang="en-US" sz="2000" b="1">
                <a:solidFill>
                  <a:srgbClr val="009900"/>
                </a:solidFill>
                <a:latin typeface="宋体" panose="02010600030101010101" pitchFamily="2" charset="-122"/>
                <a:ea typeface="宋体" panose="02010600030101010101" pitchFamily="2" charset="-122"/>
              </a:rPr>
              <a:t>分析 </a:t>
            </a:r>
            <a:r>
              <a:rPr lang="zh-CN" altLang="en-US" sz="2000" b="1">
                <a:solidFill>
                  <a:srgbClr val="000000"/>
                </a:solidFill>
                <a:latin typeface="宋体" panose="02010600030101010101" pitchFamily="2" charset="-122"/>
                <a:ea typeface="宋体" panose="02010600030101010101" pitchFamily="2" charset="-122"/>
              </a:rPr>
              <a:t> </a:t>
            </a:r>
            <a:r>
              <a:rPr lang="zh-CN" altLang="en-US" sz="2000" b="1">
                <a:solidFill>
                  <a:srgbClr val="000000"/>
                </a:solidFill>
                <a:latin typeface="Times New Roman" panose="02020603050405020304" pitchFamily="18" charset="0"/>
                <a:ea typeface="宋体" panose="02010600030101010101" pitchFamily="2" charset="-122"/>
              </a:rPr>
              <a:t>容易看出，三个发站需传送的时间分别为</a:t>
            </a:r>
            <a:r>
              <a:rPr lang="en-US" altLang="zh-CN" sz="2000" b="1">
                <a:solidFill>
                  <a:srgbClr val="000000"/>
                </a:solidFill>
                <a:latin typeface="Times New Roman" panose="02020603050405020304" pitchFamily="18" charset="0"/>
                <a:ea typeface="宋体" panose="02010600030101010101" pitchFamily="2" charset="-122"/>
              </a:rPr>
              <a:t>6</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5</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5</a:t>
            </a:r>
            <a:r>
              <a:rPr lang="zh-CN" altLang="en-US" sz="2000" b="1">
                <a:solidFill>
                  <a:srgbClr val="000000"/>
                </a:solidFill>
                <a:latin typeface="Times New Roman" panose="02020603050405020304" pitchFamily="18" charset="0"/>
                <a:ea typeface="宋体" panose="02010600030101010101" pitchFamily="2" charset="-122"/>
              </a:rPr>
              <a:t>；而三个收站需接收的时间分别为</a:t>
            </a:r>
            <a:r>
              <a:rPr lang="en-US" altLang="zh-CN" sz="2000" b="1">
                <a:solidFill>
                  <a:srgbClr val="000000"/>
                </a:solidFill>
                <a:latin typeface="Times New Roman" panose="02020603050405020304" pitchFamily="18" charset="0"/>
                <a:ea typeface="宋体" panose="02010600030101010101" pitchFamily="2" charset="-122"/>
              </a:rPr>
              <a:t>6</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3</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7</a:t>
            </a:r>
            <a:r>
              <a:rPr lang="zh-CN" altLang="en-US" sz="2000" b="1">
                <a:solidFill>
                  <a:srgbClr val="000000"/>
                </a:solidFill>
                <a:latin typeface="Times New Roman" panose="02020603050405020304" pitchFamily="18" charset="0"/>
                <a:ea typeface="宋体" panose="02010600030101010101" pitchFamily="2" charset="-122"/>
              </a:rPr>
              <a:t>。为完成全部传送任务，通讯卫星总传送时间至少应为</a:t>
            </a:r>
            <a:r>
              <a:rPr lang="en-US" altLang="zh-CN" sz="2000" b="1">
                <a:solidFill>
                  <a:srgbClr val="000000"/>
                </a:solidFill>
                <a:latin typeface="Times New Roman" panose="02020603050405020304" pitchFamily="18" charset="0"/>
                <a:ea typeface="宋体" panose="02010600030101010101" pitchFamily="2" charset="-122"/>
              </a:rPr>
              <a:t>7</a:t>
            </a:r>
            <a:r>
              <a:rPr lang="zh-CN" altLang="en-US" sz="2000" b="1">
                <a:solidFill>
                  <a:srgbClr val="000000"/>
                </a:solidFill>
                <a:latin typeface="Times New Roman" panose="02020603050405020304" pitchFamily="18" charset="0"/>
                <a:ea typeface="宋体" panose="02010600030101010101" pitchFamily="2" charset="-122"/>
              </a:rPr>
              <a:t>单位时间，即的下界为</a:t>
            </a:r>
            <a:r>
              <a:rPr lang="en-US" altLang="zh-CN" sz="2000" b="1">
                <a:solidFill>
                  <a:srgbClr val="000000"/>
                </a:solidFill>
                <a:latin typeface="Times New Roman" panose="02020603050405020304" pitchFamily="18" charset="0"/>
                <a:ea typeface="宋体" panose="02010600030101010101" pitchFamily="2" charset="-122"/>
              </a:rPr>
              <a:t>7</a:t>
            </a:r>
            <a:r>
              <a:rPr lang="zh-CN" altLang="en-US" sz="2000" b="1">
                <a:solidFill>
                  <a:srgbClr val="000000"/>
                </a:solidFill>
                <a:latin typeface="Times New Roman" panose="02020603050405020304" pitchFamily="18" charset="0"/>
                <a:ea typeface="宋体" panose="02010600030101010101" pitchFamily="2" charset="-122"/>
              </a:rPr>
              <a:t>。</a:t>
            </a:r>
            <a:endParaRPr lang="zh-CN" altLang="en-US" sz="2000" b="1">
              <a:solidFill>
                <a:srgbClr val="000000"/>
              </a:solidFill>
              <a:latin typeface="Times New Roman" panose="02020603050405020304" pitchFamily="18" charset="0"/>
              <a:ea typeface="宋体" panose="02010600030101010101" pitchFamily="2" charset="-122"/>
            </a:endParaRPr>
          </a:p>
        </p:txBody>
      </p:sp>
      <p:sp>
        <p:nvSpPr>
          <p:cNvPr id="185352" name="Text Box 8"/>
          <p:cNvSpPr txBox="1"/>
          <p:nvPr/>
        </p:nvSpPr>
        <p:spPr>
          <a:xfrm>
            <a:off x="250825" y="4022725"/>
            <a:ext cx="8516938" cy="1616075"/>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由于技术上的原因，当发站</a:t>
            </a:r>
            <a:r>
              <a:rPr lang="en-US" altLang="zh-CN" sz="2000" b="1" i="1">
                <a:solidFill>
                  <a:srgbClr val="000000"/>
                </a:solidFill>
                <a:latin typeface="Times New Roman" panose="02020603050405020304" pitchFamily="18" charset="0"/>
                <a:ea typeface="宋体" panose="02010600030101010101" pitchFamily="2" charset="-122"/>
              </a:rPr>
              <a:t>i</a:t>
            </a:r>
            <a:r>
              <a:rPr lang="zh-CN" altLang="en-US" sz="2000" b="1">
                <a:solidFill>
                  <a:srgbClr val="000000"/>
                </a:solidFill>
                <a:latin typeface="Times New Roman" panose="02020603050405020304" pitchFamily="18" charset="0"/>
                <a:ea typeface="宋体" panose="02010600030101010101" pitchFamily="2" charset="-122"/>
              </a:rPr>
              <a:t>在发送给收站</a:t>
            </a:r>
            <a:r>
              <a:rPr lang="en-US" altLang="zh-CN" sz="2000" b="1" i="1">
                <a:solidFill>
                  <a:srgbClr val="000000"/>
                </a:solidFill>
                <a:latin typeface="Times New Roman" panose="02020603050405020304" pitchFamily="18" charset="0"/>
                <a:ea typeface="宋体" panose="02010600030101010101" pitchFamily="2" charset="-122"/>
              </a:rPr>
              <a:t>j</a:t>
            </a:r>
            <a:r>
              <a:rPr lang="zh-CN" altLang="en-US" sz="2000" b="1">
                <a:solidFill>
                  <a:srgbClr val="000000"/>
                </a:solidFill>
                <a:latin typeface="Times New Roman" panose="02020603050405020304" pitchFamily="18" charset="0"/>
                <a:ea typeface="宋体" panose="02010600030101010101" pitchFamily="2" charset="-122"/>
              </a:rPr>
              <a:t>信息时，它不能同时发送给别的收站信息；同样，当收站</a:t>
            </a:r>
            <a:r>
              <a:rPr lang="en-US" altLang="zh-CN" sz="2000" b="1" i="1">
                <a:solidFill>
                  <a:srgbClr val="000000"/>
                </a:solidFill>
                <a:latin typeface="Times New Roman" panose="02020603050405020304" pitchFamily="18" charset="0"/>
                <a:ea typeface="宋体" panose="02010600030101010101" pitchFamily="2" charset="-122"/>
              </a:rPr>
              <a:t>j</a:t>
            </a:r>
            <a:r>
              <a:rPr lang="zh-CN" altLang="en-US" sz="2000" b="1">
                <a:solidFill>
                  <a:srgbClr val="000000"/>
                </a:solidFill>
                <a:latin typeface="Times New Roman" panose="02020603050405020304" pitchFamily="18" charset="0"/>
                <a:ea typeface="宋体" panose="02010600030101010101" pitchFamily="2" charset="-122"/>
              </a:rPr>
              <a:t>在接收发站</a:t>
            </a:r>
            <a:r>
              <a:rPr lang="en-US" altLang="zh-CN" sz="2000" b="1" i="1">
                <a:solidFill>
                  <a:srgbClr val="000000"/>
                </a:solidFill>
                <a:latin typeface="Times New Roman" panose="02020603050405020304" pitchFamily="18" charset="0"/>
                <a:ea typeface="宋体" panose="02010600030101010101" pitchFamily="2" charset="-122"/>
              </a:rPr>
              <a:t>i</a:t>
            </a:r>
            <a:r>
              <a:rPr lang="zh-CN" altLang="en-US" sz="2000" b="1">
                <a:solidFill>
                  <a:srgbClr val="000000"/>
                </a:solidFill>
                <a:latin typeface="Times New Roman" panose="02020603050405020304" pitchFamily="18" charset="0"/>
                <a:ea typeface="宋体" panose="02010600030101010101" pitchFamily="2" charset="-122"/>
              </a:rPr>
              <a:t>的信息时，也不能同时接收其他发站发送的信息。这一要求说明，任一开关模式</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应具有以下性质：（</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的每一行中有且只有一个</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，每一列中也有且只有一个</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2</a:t>
            </a:r>
            <a:r>
              <a:rPr lang="zh-CN" altLang="en-US" sz="2000" b="1">
                <a:solidFill>
                  <a:srgbClr val="000000"/>
                </a:solidFill>
                <a:latin typeface="Times New Roman" panose="02020603050405020304" pitchFamily="18" charset="0"/>
                <a:ea typeface="宋体" panose="02010600030101010101" pitchFamily="2" charset="-122"/>
              </a:rPr>
              <a:t>）所有的</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均位于不同的行列中。</a:t>
            </a:r>
            <a:endParaRPr lang="zh-CN" altLang="en-US" sz="2000" b="1">
              <a:solidFill>
                <a:srgbClr val="000000"/>
              </a:solidFill>
              <a:latin typeface="Times New Roman" panose="02020603050405020304" pitchFamily="18" charset="0"/>
              <a:ea typeface="宋体" panose="02010600030101010101" pitchFamily="2" charset="-122"/>
            </a:endParaRPr>
          </a:p>
        </p:txBody>
      </p:sp>
      <p:sp>
        <p:nvSpPr>
          <p:cNvPr id="185353" name="Text Box 9"/>
          <p:cNvSpPr txBox="1"/>
          <p:nvPr/>
        </p:nvSpPr>
        <p:spPr>
          <a:xfrm>
            <a:off x="250825" y="5607050"/>
            <a:ext cx="8569325" cy="1616075"/>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满足（</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2</a:t>
            </a:r>
            <a:r>
              <a:rPr lang="zh-CN" altLang="en-US" sz="2000" b="1">
                <a:solidFill>
                  <a:srgbClr val="000000"/>
                </a:solidFill>
                <a:latin typeface="Times New Roman" panose="02020603050405020304" pitchFamily="18" charset="0"/>
                <a:ea typeface="宋体" panose="02010600030101010101" pitchFamily="2" charset="-122"/>
              </a:rPr>
              <a:t>）的矩阵 被称为置换矩阵，</a:t>
            </a:r>
            <a:r>
              <a:rPr lang="en-US" altLang="zh-CN" sz="2000" b="1" i="1">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阶置换矩阵</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共有</a:t>
            </a:r>
            <a:r>
              <a:rPr lang="en-US" altLang="zh-CN" sz="2000" b="1" i="1">
                <a:solidFill>
                  <a:srgbClr val="000000"/>
                </a:solidFill>
                <a:latin typeface="Times New Roman" panose="02020603050405020304" pitchFamily="18" charset="0"/>
                <a:ea typeface="宋体" panose="02010600030101010101" pitchFamily="2" charset="-122"/>
              </a:rPr>
              <a:t>n</a:t>
            </a:r>
            <a:r>
              <a:rPr lang="en-US" altLang="zh-CN" sz="2000" b="1">
                <a:solidFill>
                  <a:srgbClr val="000000"/>
                </a:solidFill>
                <a:latin typeface="Times New Roman" panose="02020603050405020304" pitchFamily="18" charset="0"/>
                <a:ea typeface="宋体" panose="02010600030101010101" pitchFamily="2" charset="-122"/>
              </a:rPr>
              <a:t>!</a:t>
            </a:r>
            <a:r>
              <a:rPr lang="zh-CN" altLang="en-US" sz="2000" b="1">
                <a:solidFill>
                  <a:srgbClr val="000000"/>
                </a:solidFill>
                <a:latin typeface="Times New Roman" panose="02020603050405020304" pitchFamily="18" charset="0"/>
                <a:ea typeface="宋体" panose="02010600030101010101" pitchFamily="2" charset="-122"/>
              </a:rPr>
              <a:t>个，当</a:t>
            </a:r>
            <a:r>
              <a:rPr lang="en-US" altLang="zh-CN" sz="2000" b="1" i="1">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较大时，我们不可能在通讯卫星上设置这么多种不同的开关模式。因而，为了设计出切实可行的开关模式，我们还得另想办法。</a:t>
            </a:r>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      （问题）至少要多少种开关模式？   易见，必须有</a:t>
            </a:r>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                                                                                               </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69641" name="Object 10"/>
          <p:cNvGraphicFramePr>
            <a:graphicFrameLocks noGrp="1" noChangeAspect="1"/>
          </p:cNvGraphicFramePr>
          <p:nvPr>
            <p:ph/>
          </p:nvPr>
        </p:nvGraphicFramePr>
        <p:xfrm>
          <a:off x="6248400" y="6516688"/>
          <a:ext cx="606425" cy="339725"/>
        </p:xfrm>
        <a:graphic>
          <a:graphicData uri="http://schemas.openxmlformats.org/presentationml/2006/ole">
            <mc:AlternateContent xmlns:mc="http://schemas.openxmlformats.org/markup-compatibility/2006">
              <mc:Choice xmlns:v="urn:schemas-microsoft-com:vml" Requires="v">
                <p:oleObj spid="_x0000_s3079" name="" r:id="rId3" imgW="342900" imgH="165100" progId="Equation.DSMT4">
                  <p:embed/>
                </p:oleObj>
              </mc:Choice>
              <mc:Fallback>
                <p:oleObj name="" r:id="rId3" imgW="342900" imgH="165100" progId="Equation.DSMT4">
                  <p:embed/>
                  <p:pic>
                    <p:nvPicPr>
                      <p:cNvPr id="0" name="图片 3078"/>
                      <p:cNvPicPr/>
                      <p:nvPr/>
                    </p:nvPicPr>
                    <p:blipFill>
                      <a:blip r:embed="rId4"/>
                      <a:stretch>
                        <a:fillRect/>
                      </a:stretch>
                    </p:blipFill>
                    <p:spPr>
                      <a:xfrm>
                        <a:off x="6248400" y="6516688"/>
                        <a:ext cx="606425" cy="339725"/>
                      </a:xfrm>
                      <a:prstGeom prst="rect">
                        <a:avLst/>
                      </a:prstGeom>
                      <a:noFill/>
                      <a:ln w="38100">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5350"/>
                                        </p:tgtEl>
                                        <p:attrNameLst>
                                          <p:attrName>style.visibility</p:attrName>
                                        </p:attrNameLst>
                                      </p:cBhvr>
                                      <p:to>
                                        <p:strVal val="visible"/>
                                      </p:to>
                                    </p:set>
                                    <p:anim calcmode="lin" valueType="num">
                                      <p:cBhvr>
                                        <p:cTn id="13" dur="500" fill="hold"/>
                                        <p:tgtEl>
                                          <p:spTgt spid="185350"/>
                                        </p:tgtEl>
                                        <p:attrNameLst>
                                          <p:attrName>ppt_x</p:attrName>
                                        </p:attrNameLst>
                                      </p:cBhvr>
                                      <p:tavLst>
                                        <p:tav tm="0">
                                          <p:val>
                                            <p:strVal val="0-#ppt_w/2"/>
                                          </p:val>
                                        </p:tav>
                                        <p:tav tm="100000">
                                          <p:val>
                                            <p:strVal val="#ppt_x"/>
                                          </p:val>
                                        </p:tav>
                                      </p:tavLst>
                                    </p:anim>
                                    <p:anim calcmode="lin" valueType="num">
                                      <p:cBhvr>
                                        <p:cTn id="14" dur="500" fill="hold"/>
                                        <p:tgtEl>
                                          <p:spTgt spid="18535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5351"/>
                                        </p:tgtEl>
                                        <p:attrNameLst>
                                          <p:attrName>style.visibility</p:attrName>
                                        </p:attrNameLst>
                                      </p:cBhvr>
                                      <p:to>
                                        <p:strVal val="visible"/>
                                      </p:to>
                                    </p:set>
                                    <p:anim calcmode="lin" valueType="num">
                                      <p:cBhvr>
                                        <p:cTn id="19" dur="500" fill="hold"/>
                                        <p:tgtEl>
                                          <p:spTgt spid="185351"/>
                                        </p:tgtEl>
                                        <p:attrNameLst>
                                          <p:attrName>ppt_x</p:attrName>
                                        </p:attrNameLst>
                                      </p:cBhvr>
                                      <p:tavLst>
                                        <p:tav tm="0">
                                          <p:val>
                                            <p:strVal val="0-#ppt_w/2"/>
                                          </p:val>
                                        </p:tav>
                                        <p:tav tm="100000">
                                          <p:val>
                                            <p:strVal val="#ppt_x"/>
                                          </p:val>
                                        </p:tav>
                                      </p:tavLst>
                                    </p:anim>
                                    <p:anim calcmode="lin" valueType="num">
                                      <p:cBhvr>
                                        <p:cTn id="20" dur="500" fill="hold"/>
                                        <p:tgtEl>
                                          <p:spTgt spid="18535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5352"/>
                                        </p:tgtEl>
                                        <p:attrNameLst>
                                          <p:attrName>style.visibility</p:attrName>
                                        </p:attrNameLst>
                                      </p:cBhvr>
                                      <p:to>
                                        <p:strVal val="visible"/>
                                      </p:to>
                                    </p:set>
                                    <p:anim calcmode="lin" valueType="num">
                                      <p:cBhvr>
                                        <p:cTn id="25" dur="500" fill="hold"/>
                                        <p:tgtEl>
                                          <p:spTgt spid="185352"/>
                                        </p:tgtEl>
                                        <p:attrNameLst>
                                          <p:attrName>ppt_x</p:attrName>
                                        </p:attrNameLst>
                                      </p:cBhvr>
                                      <p:tavLst>
                                        <p:tav tm="0">
                                          <p:val>
                                            <p:strVal val="0-#ppt_w/2"/>
                                          </p:val>
                                        </p:tav>
                                        <p:tav tm="100000">
                                          <p:val>
                                            <p:strVal val="#ppt_x"/>
                                          </p:val>
                                        </p:tav>
                                      </p:tavLst>
                                    </p:anim>
                                    <p:anim calcmode="lin" valueType="num">
                                      <p:cBhvr>
                                        <p:cTn id="26" dur="500" fill="hold"/>
                                        <p:tgtEl>
                                          <p:spTgt spid="18535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85353"/>
                                        </p:tgtEl>
                                        <p:attrNameLst>
                                          <p:attrName>style.visibility</p:attrName>
                                        </p:attrNameLst>
                                      </p:cBhvr>
                                      <p:to>
                                        <p:strVal val="visible"/>
                                      </p:to>
                                    </p:set>
                                    <p:anim calcmode="lin" valueType="num">
                                      <p:cBhvr>
                                        <p:cTn id="31" dur="500" fill="hold"/>
                                        <p:tgtEl>
                                          <p:spTgt spid="185353"/>
                                        </p:tgtEl>
                                        <p:attrNameLst>
                                          <p:attrName>ppt_x</p:attrName>
                                        </p:attrNameLst>
                                      </p:cBhvr>
                                      <p:tavLst>
                                        <p:tav tm="0">
                                          <p:val>
                                            <p:strVal val="0-#ppt_w/2"/>
                                          </p:val>
                                        </p:tav>
                                        <p:tav tm="100000">
                                          <p:val>
                                            <p:strVal val="#ppt_x"/>
                                          </p:val>
                                        </p:tav>
                                      </p:tavLst>
                                    </p:anim>
                                    <p:anim calcmode="lin" valueType="num">
                                      <p:cBhvr>
                                        <p:cTn id="32" dur="500" fill="hold"/>
                                        <p:tgtEl>
                                          <p:spTgt spid="1853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50" grpId="0"/>
      <p:bldP spid="185351" grpId="0"/>
      <p:bldP spid="185352" grpId="0"/>
      <p:bldP spid="18535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p:nvPr/>
        </p:nvSpPr>
        <p:spPr>
          <a:xfrm>
            <a:off x="533400" y="655638"/>
            <a:ext cx="2174875" cy="457200"/>
          </a:xfrm>
          <a:prstGeom prst="rect">
            <a:avLst/>
          </a:prstGeom>
          <a:noFill/>
          <a:ln w="9525">
            <a:noFill/>
          </a:ln>
        </p:spPr>
        <p:txBody>
          <a:bodyPr wrap="none" anchor="ctr">
            <a:spAutoFit/>
          </a:bodyPr>
          <a:p>
            <a:r>
              <a:rPr lang="zh-CN" altLang="en-US" sz="2400" b="1">
                <a:solidFill>
                  <a:srgbClr val="009900"/>
                </a:solidFill>
                <a:latin typeface="Times New Roman" panose="02020603050405020304" pitchFamily="18" charset="0"/>
                <a:ea typeface="宋体" panose="02010600030101010101" pitchFamily="2" charset="-122"/>
              </a:rPr>
              <a:t>（设计方法</a:t>
            </a:r>
            <a:r>
              <a:rPr lang="en-US" altLang="zh-CN" sz="2400" b="1">
                <a:solidFill>
                  <a:srgbClr val="009900"/>
                </a:solidFill>
                <a:latin typeface="Times New Roman" panose="02020603050405020304" pitchFamily="18" charset="0"/>
                <a:ea typeface="宋体" panose="02010600030101010101" pitchFamily="2" charset="-122"/>
              </a:rPr>
              <a:t>1</a:t>
            </a:r>
            <a:r>
              <a:rPr lang="zh-CN" altLang="en-US" sz="2400" b="1">
                <a:solidFill>
                  <a:srgbClr val="009900"/>
                </a:solidFill>
                <a:latin typeface="Times New Roman" panose="02020603050405020304" pitchFamily="18" charset="0"/>
                <a:ea typeface="宋体" panose="02010600030101010101" pitchFamily="2" charset="-122"/>
              </a:rPr>
              <a:t>）</a:t>
            </a:r>
            <a:endParaRPr lang="zh-CN" altLang="en-US" sz="2400" b="1">
              <a:solidFill>
                <a:srgbClr val="009900"/>
              </a:solidFill>
              <a:latin typeface="Times New Roman" panose="02020603050405020304" pitchFamily="18" charset="0"/>
              <a:ea typeface="宋体" panose="02010600030101010101" pitchFamily="2" charset="-122"/>
            </a:endParaRPr>
          </a:p>
        </p:txBody>
      </p:sp>
      <p:sp>
        <p:nvSpPr>
          <p:cNvPr id="187395" name="Rectangle 3"/>
          <p:cNvSpPr/>
          <p:nvPr/>
        </p:nvSpPr>
        <p:spPr>
          <a:xfrm>
            <a:off x="574675" y="1295400"/>
            <a:ext cx="8569325" cy="7016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注意到</a:t>
            </a:r>
            <a:r>
              <a:rPr lang="en-US" altLang="zh-CN" sz="2000" b="1" i="1">
                <a:latin typeface="Times New Roman" panose="02020603050405020304" pitchFamily="18" charset="0"/>
                <a:ea typeface="宋体" panose="02010600030101010101" pitchFamily="2" charset="-122"/>
              </a:rPr>
              <a:t>P</a:t>
            </a:r>
            <a:r>
              <a:rPr lang="en-US" altLang="zh-CN" sz="2000" b="1" i="1" baseline="-30000">
                <a:latin typeface="Times New Roman" panose="02020603050405020304" pitchFamily="18" charset="0"/>
                <a:ea typeface="宋体" panose="02010600030101010101" pitchFamily="2" charset="-122"/>
              </a:rPr>
              <a:t>k</a:t>
            </a:r>
            <a:r>
              <a:rPr lang="zh-CN" altLang="en-US" sz="2000" b="1">
                <a:latin typeface="Times New Roman" panose="02020603050405020304" pitchFamily="18" charset="0"/>
                <a:ea typeface="宋体" panose="02010600030101010101" pitchFamily="2" charset="-122"/>
              </a:rPr>
              <a:t>每行（或列）元素之和均为</a:t>
            </a: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，故不管如何指派开关的使用时间（即不论如何取</a:t>
            </a:r>
            <a:r>
              <a:rPr lang="en-US" altLang="zh-CN" sz="2000" b="1">
                <a:latin typeface="Times New Roman" panose="02020603050405020304" pitchFamily="18" charset="0"/>
                <a:ea typeface="宋体" panose="02010600030101010101" pitchFamily="2" charset="-122"/>
              </a:rPr>
              <a:t>λ</a:t>
            </a:r>
            <a:r>
              <a:rPr lang="en-US" altLang="zh-CN" sz="2000" b="1" i="1" baseline="-30000">
                <a:latin typeface="Times New Roman" panose="02020603050405020304" pitchFamily="18" charset="0"/>
                <a:ea typeface="宋体" panose="02010600030101010101" pitchFamily="2" charset="-122"/>
              </a:rPr>
              <a:t>k</a:t>
            </a:r>
            <a:r>
              <a:rPr lang="zh-CN" altLang="en-US" sz="2000" b="1">
                <a:latin typeface="Times New Roman" panose="02020603050405020304" pitchFamily="18" charset="0"/>
                <a:ea typeface="宋体" panose="02010600030101010101" pitchFamily="2" charset="-122"/>
              </a:rPr>
              <a:t>），矩阵</a:t>
            </a:r>
            <a:endParaRPr lang="zh-CN" altLang="en-US" sz="2000" b="1">
              <a:latin typeface="Times New Roman" panose="02020603050405020304" pitchFamily="18" charset="0"/>
              <a:ea typeface="宋体" panose="02010600030101010101" pitchFamily="2" charset="-122"/>
            </a:endParaRPr>
          </a:p>
        </p:txBody>
      </p:sp>
      <p:sp>
        <p:nvSpPr>
          <p:cNvPr id="71683" name="Rectangle 4"/>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87397" name="Object 5"/>
          <p:cNvGraphicFramePr>
            <a:graphicFrameLocks noChangeAspect="1"/>
          </p:cNvGraphicFramePr>
          <p:nvPr/>
        </p:nvGraphicFramePr>
        <p:xfrm>
          <a:off x="2555875" y="1943100"/>
          <a:ext cx="792163" cy="673100"/>
        </p:xfrm>
        <a:graphic>
          <a:graphicData uri="http://schemas.openxmlformats.org/presentationml/2006/ole">
            <mc:AlternateContent xmlns:mc="http://schemas.openxmlformats.org/markup-compatibility/2006">
              <mc:Choice xmlns:v="urn:schemas-microsoft-com:vml" Requires="v">
                <p:oleObj spid="_x0000_s3085" name="" r:id="rId1" imgW="508000" imgH="431800" progId="Equation.DSMT4">
                  <p:embed/>
                </p:oleObj>
              </mc:Choice>
              <mc:Fallback>
                <p:oleObj name="" r:id="rId1" imgW="508000" imgH="431800" progId="Equation.DSMT4">
                  <p:embed/>
                  <p:pic>
                    <p:nvPicPr>
                      <p:cNvPr id="0" name="图片 3084"/>
                      <p:cNvPicPr/>
                      <p:nvPr/>
                    </p:nvPicPr>
                    <p:blipFill>
                      <a:blip r:embed="rId2"/>
                      <a:stretch>
                        <a:fillRect/>
                      </a:stretch>
                    </p:blipFill>
                    <p:spPr>
                      <a:xfrm>
                        <a:off x="2555875" y="1943100"/>
                        <a:ext cx="792163" cy="673100"/>
                      </a:xfrm>
                      <a:prstGeom prst="rect">
                        <a:avLst/>
                      </a:prstGeom>
                      <a:noFill/>
                      <a:ln w="38100">
                        <a:noFill/>
                        <a:miter/>
                      </a:ln>
                    </p:spPr>
                  </p:pic>
                </p:oleObj>
              </mc:Fallback>
            </mc:AlternateContent>
          </a:graphicData>
        </a:graphic>
      </p:graphicFrame>
      <p:sp>
        <p:nvSpPr>
          <p:cNvPr id="187398" name="Rectangle 6"/>
          <p:cNvSpPr/>
          <p:nvPr/>
        </p:nvSpPr>
        <p:spPr>
          <a:xfrm>
            <a:off x="250825" y="2559050"/>
            <a:ext cx="8497888" cy="16160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均具有某些特殊的性质，例如其行和（及列和）均为同一常数。这样的矩阵构成一个线性空间（参见</a:t>
            </a:r>
            <a:r>
              <a:rPr lang="en-US" altLang="zh-CN" sz="2000" b="1">
                <a:latin typeface="Times New Roman" panose="02020603050405020304" pitchFamily="18" charset="0"/>
                <a:ea typeface="宋体" panose="02010600030101010101" pitchFamily="2" charset="-122"/>
              </a:rPr>
              <a:t>D</a:t>
            </a:r>
            <a:r>
              <a:rPr lang="en-US" altLang="zh-CN" sz="2000" b="1">
                <a:latin typeface="Arial" panose="020B0604020202020204" pitchFamily="34" charset="0"/>
                <a:ea typeface="宋体" panose="02010600030101010101" pitchFamily="2" charset="-122"/>
              </a:rPr>
              <a:t>ü</a:t>
            </a:r>
            <a:r>
              <a:rPr lang="en-US" altLang="zh-CN" sz="2000" b="1">
                <a:latin typeface="Times New Roman" panose="02020603050405020304" pitchFamily="18" charset="0"/>
                <a:ea typeface="宋体" panose="02010600030101010101" pitchFamily="2" charset="-122"/>
              </a:rPr>
              <a:t>rer</a:t>
            </a:r>
            <a:r>
              <a:rPr lang="zh-CN" altLang="en-US" sz="2000" b="1">
                <a:latin typeface="Times New Roman" panose="02020603050405020304" pitchFamily="18" charset="0"/>
                <a:ea typeface="宋体" panose="02010600030101010101" pitchFamily="2" charset="-122"/>
              </a:rPr>
              <a:t>魔方），为减少开关模式的种类，可取此空间的一组基底作为开关模式。在使用这种开关模式时，无论</a:t>
            </a:r>
            <a:r>
              <a:rPr lang="en-US" altLang="zh-CN" sz="2000" b="1">
                <a:latin typeface="Times New Roman" panose="02020603050405020304" pitchFamily="18" charset="0"/>
                <a:ea typeface="宋体" panose="02010600030101010101" pitchFamily="2" charset="-122"/>
              </a:rPr>
              <a:t>T</a:t>
            </a:r>
            <a:r>
              <a:rPr lang="zh-CN" altLang="en-US" sz="2000" b="1">
                <a:latin typeface="Times New Roman" panose="02020603050405020304" pitchFamily="18" charset="0"/>
                <a:ea typeface="宋体" panose="02010600030101010101" pitchFamily="2" charset="-122"/>
              </a:rPr>
              <a:t>的元素</a:t>
            </a:r>
            <a:r>
              <a:rPr lang="en-US" altLang="zh-CN" sz="2000" b="1" i="1">
                <a:latin typeface="Times New Roman" panose="02020603050405020304" pitchFamily="18" charset="0"/>
                <a:ea typeface="宋体" panose="02010600030101010101" pitchFamily="2" charset="-122"/>
              </a:rPr>
              <a:t>t</a:t>
            </a:r>
            <a:r>
              <a:rPr lang="en-US" altLang="zh-CN" sz="2000" b="1" i="1" baseline="-30000">
                <a:latin typeface="Times New Roman" panose="02020603050405020304" pitchFamily="18" charset="0"/>
                <a:ea typeface="宋体" panose="02010600030101010101" pitchFamily="2" charset="-122"/>
              </a:rPr>
              <a:t>ij</a:t>
            </a:r>
            <a:r>
              <a:rPr lang="zh-CN" altLang="en-US" sz="2000" b="1">
                <a:latin typeface="Times New Roman" panose="02020603050405020304" pitchFamily="18" charset="0"/>
                <a:ea typeface="宋体" panose="02010600030101010101" pitchFamily="2" charset="-122"/>
              </a:rPr>
              <a:t>怎么取，通讯卫星对每一发（收）点的开通时间总和是恒定的。在这种开关模式下，可按如下方式指派各开关模式的使用时间： </a:t>
            </a:r>
            <a:endParaRPr lang="zh-CN" altLang="en-US" sz="2000" b="1">
              <a:latin typeface="Times New Roman" panose="02020603050405020304" pitchFamily="18" charset="0"/>
              <a:ea typeface="宋体" panose="02010600030101010101" pitchFamily="2" charset="-122"/>
            </a:endParaRPr>
          </a:p>
        </p:txBody>
      </p:sp>
      <p:sp>
        <p:nvSpPr>
          <p:cNvPr id="71686" name="Rectangle 7"/>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8"/>
          <p:cNvGrpSpPr/>
          <p:nvPr/>
        </p:nvGrpSpPr>
        <p:grpSpPr>
          <a:xfrm>
            <a:off x="250825" y="4113213"/>
            <a:ext cx="3721100" cy="422275"/>
            <a:chOff x="191" y="2257"/>
            <a:chExt cx="2344" cy="266"/>
          </a:xfrm>
        </p:grpSpPr>
        <p:sp>
          <p:nvSpPr>
            <p:cNvPr id="71688" name="Text Box 9"/>
            <p:cNvSpPr txBox="1"/>
            <p:nvPr/>
          </p:nvSpPr>
          <p:spPr>
            <a:xfrm>
              <a:off x="191" y="2273"/>
              <a:ext cx="2344"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步</a:t>
              </a:r>
              <a:r>
                <a:rPr lang="en-US" altLang="zh-CN" sz="2000" b="1">
                  <a:solidFill>
                    <a:srgbClr val="000000"/>
                  </a:solidFill>
                  <a:latin typeface="Times New Roman" panose="02020603050405020304" pitchFamily="18" charset="0"/>
                  <a:ea typeface="宋体" panose="02010600030101010101" pitchFamily="2" charset="-122"/>
                </a:rPr>
                <a:t>1  </a:t>
              </a:r>
              <a:r>
                <a:rPr lang="zh-CN" altLang="en-US" sz="2000" b="1">
                  <a:solidFill>
                    <a:srgbClr val="000000"/>
                  </a:solidFill>
                  <a:latin typeface="Times New Roman" panose="02020603050405020304" pitchFamily="18" charset="0"/>
                  <a:ea typeface="宋体" panose="02010600030101010101" pitchFamily="2" charset="-122"/>
                </a:rPr>
                <a:t>先将</a:t>
              </a:r>
              <a:r>
                <a:rPr lang="en-US" altLang="zh-CN" sz="2000" b="1" i="1">
                  <a:solidFill>
                    <a:srgbClr val="000000"/>
                  </a:solidFill>
                  <a:latin typeface="Times New Roman" panose="02020603050405020304" pitchFamily="18" charset="0"/>
                  <a:ea typeface="宋体" panose="02010600030101010101" pitchFamily="2" charset="-122"/>
                </a:rPr>
                <a:t>T</a:t>
              </a:r>
              <a:r>
                <a:rPr lang="zh-CN" altLang="en-US" sz="2000" b="1">
                  <a:solidFill>
                    <a:srgbClr val="000000"/>
                  </a:solidFill>
                  <a:latin typeface="Times New Roman" panose="02020603050405020304" pitchFamily="18" charset="0"/>
                  <a:ea typeface="宋体" panose="02010600030101010101" pitchFamily="2" charset="-122"/>
                </a:rPr>
                <a:t>改变为      ，   满足：</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1689" name="Object 10"/>
            <p:cNvGraphicFramePr>
              <a:graphicFrameLocks noChangeAspect="1"/>
            </p:cNvGraphicFramePr>
            <p:nvPr/>
          </p:nvGraphicFramePr>
          <p:xfrm>
            <a:off x="1507" y="2257"/>
            <a:ext cx="148" cy="214"/>
          </p:xfrm>
          <a:graphic>
            <a:graphicData uri="http://schemas.openxmlformats.org/presentationml/2006/ole">
              <mc:AlternateContent xmlns:mc="http://schemas.openxmlformats.org/markup-compatibility/2006">
                <mc:Choice xmlns:v="urn:schemas-microsoft-com:vml" Requires="v">
                  <p:oleObj spid="_x0000_s3080" name="" r:id="rId3" imgW="139700" imgH="203200" progId="Equation.DSMT4">
                    <p:embed/>
                  </p:oleObj>
                </mc:Choice>
                <mc:Fallback>
                  <p:oleObj name="" r:id="rId3" imgW="139700" imgH="203200" progId="Equation.DSMT4">
                    <p:embed/>
                    <p:pic>
                      <p:nvPicPr>
                        <p:cNvPr id="0" name="图片 3079"/>
                        <p:cNvPicPr/>
                        <p:nvPr/>
                      </p:nvPicPr>
                      <p:blipFill>
                        <a:blip r:embed="rId4"/>
                        <a:stretch>
                          <a:fillRect/>
                        </a:stretch>
                      </p:blipFill>
                      <p:spPr>
                        <a:xfrm>
                          <a:off x="1507" y="2257"/>
                          <a:ext cx="148" cy="214"/>
                        </a:xfrm>
                        <a:prstGeom prst="rect">
                          <a:avLst/>
                        </a:prstGeom>
                        <a:noFill/>
                        <a:ln w="38100">
                          <a:noFill/>
                          <a:miter/>
                        </a:ln>
                      </p:spPr>
                    </p:pic>
                  </p:oleObj>
                </mc:Fallback>
              </mc:AlternateContent>
            </a:graphicData>
          </a:graphic>
        </p:graphicFrame>
        <p:graphicFrame>
          <p:nvGraphicFramePr>
            <p:cNvPr id="71690" name="Object 11"/>
            <p:cNvGraphicFramePr>
              <a:graphicFrameLocks noChangeAspect="1"/>
            </p:cNvGraphicFramePr>
            <p:nvPr/>
          </p:nvGraphicFramePr>
          <p:xfrm>
            <a:off x="1837" y="2257"/>
            <a:ext cx="148" cy="214"/>
          </p:xfrm>
          <a:graphic>
            <a:graphicData uri="http://schemas.openxmlformats.org/presentationml/2006/ole">
              <mc:AlternateContent xmlns:mc="http://schemas.openxmlformats.org/markup-compatibility/2006">
                <mc:Choice xmlns:v="urn:schemas-microsoft-com:vml" Requires="v">
                  <p:oleObj spid="_x0000_s3082" name="" r:id="rId5" imgW="139700" imgH="203200" progId="Equation.DSMT4">
                    <p:embed/>
                  </p:oleObj>
                </mc:Choice>
                <mc:Fallback>
                  <p:oleObj name="" r:id="rId5" imgW="139700" imgH="203200" progId="Equation.DSMT4">
                    <p:embed/>
                    <p:pic>
                      <p:nvPicPr>
                        <p:cNvPr id="0" name="图片 3081"/>
                        <p:cNvPicPr/>
                        <p:nvPr/>
                      </p:nvPicPr>
                      <p:blipFill>
                        <a:blip r:embed="rId6"/>
                        <a:stretch>
                          <a:fillRect/>
                        </a:stretch>
                      </p:blipFill>
                      <p:spPr>
                        <a:xfrm>
                          <a:off x="1837" y="2257"/>
                          <a:ext cx="148" cy="214"/>
                        </a:xfrm>
                        <a:prstGeom prst="rect">
                          <a:avLst/>
                        </a:prstGeom>
                        <a:noFill/>
                        <a:ln w="38100">
                          <a:noFill/>
                          <a:miter/>
                        </a:ln>
                      </p:spPr>
                    </p:pic>
                  </p:oleObj>
                </mc:Fallback>
              </mc:AlternateContent>
            </a:graphicData>
          </a:graphic>
        </p:graphicFrame>
      </p:grpSp>
      <p:sp>
        <p:nvSpPr>
          <p:cNvPr id="71691" name="Rectangle 12"/>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1692" name="Rectangle 13"/>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1693" name="Rectangle 14"/>
          <p:cNvSpPr/>
          <p:nvPr/>
        </p:nvSpPr>
        <p:spPr>
          <a:xfrm>
            <a:off x="0" y="33004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1694" name="Rectangle 15"/>
          <p:cNvSpPr/>
          <p:nvPr/>
        </p:nvSpPr>
        <p:spPr>
          <a:xfrm>
            <a:off x="0" y="320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71695" name="Group 16"/>
          <p:cNvGrpSpPr/>
          <p:nvPr/>
        </p:nvGrpSpPr>
        <p:grpSpPr>
          <a:xfrm>
            <a:off x="376238" y="4475163"/>
            <a:ext cx="4195762" cy="1141412"/>
            <a:chOff x="237" y="2394"/>
            <a:chExt cx="2643" cy="719"/>
          </a:xfrm>
        </p:grpSpPr>
        <p:sp>
          <p:nvSpPr>
            <p:cNvPr id="71696" name="Text Box 17"/>
            <p:cNvSpPr txBox="1"/>
            <p:nvPr/>
          </p:nvSpPr>
          <p:spPr>
            <a:xfrm>
              <a:off x="237" y="2409"/>
              <a:ext cx="937"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    ≥</a:t>
              </a:r>
              <a:r>
                <a:rPr lang="en-US" altLang="zh-CN" sz="2000" b="1" i="1">
                  <a:solidFill>
                    <a:srgbClr val="000000"/>
                  </a:solidFill>
                  <a:latin typeface="Times New Roman" panose="02020603050405020304" pitchFamily="18" charset="0"/>
                  <a:ea typeface="宋体" panose="02010600030101010101" pitchFamily="2" charset="-122"/>
                </a:rPr>
                <a:t>T</a:t>
              </a:r>
              <a:endParaRPr lang="en-US" altLang="zh-CN" sz="2000" b="1" i="1">
                <a:solidFill>
                  <a:srgbClr val="000000"/>
                </a:solidFill>
                <a:latin typeface="Times New Roman" panose="02020603050405020304" pitchFamily="18" charset="0"/>
                <a:ea typeface="宋体" panose="02010600030101010101" pitchFamily="2" charset="-122"/>
              </a:endParaRPr>
            </a:p>
          </p:txBody>
        </p:sp>
        <p:graphicFrame>
          <p:nvGraphicFramePr>
            <p:cNvPr id="71697" name="Object 18"/>
            <p:cNvGraphicFramePr>
              <a:graphicFrameLocks noChangeAspect="1"/>
            </p:cNvGraphicFramePr>
            <p:nvPr/>
          </p:nvGraphicFramePr>
          <p:xfrm>
            <a:off x="674" y="2394"/>
            <a:ext cx="147" cy="212"/>
          </p:xfrm>
          <a:graphic>
            <a:graphicData uri="http://schemas.openxmlformats.org/presentationml/2006/ole">
              <mc:AlternateContent xmlns:mc="http://schemas.openxmlformats.org/markup-compatibility/2006">
                <mc:Choice xmlns:v="urn:schemas-microsoft-com:vml" Requires="v">
                  <p:oleObj spid="_x0000_s3084" name="" r:id="rId7" imgW="139700" imgH="203200" progId="Equation.DSMT4">
                    <p:embed/>
                  </p:oleObj>
                </mc:Choice>
                <mc:Fallback>
                  <p:oleObj name="" r:id="rId7" imgW="139700" imgH="203200" progId="Equation.DSMT4">
                    <p:embed/>
                    <p:pic>
                      <p:nvPicPr>
                        <p:cNvPr id="0" name="图片 3083"/>
                        <p:cNvPicPr/>
                        <p:nvPr/>
                      </p:nvPicPr>
                      <p:blipFill>
                        <a:blip r:embed="rId8"/>
                        <a:stretch>
                          <a:fillRect/>
                        </a:stretch>
                      </p:blipFill>
                      <p:spPr>
                        <a:xfrm>
                          <a:off x="674" y="2394"/>
                          <a:ext cx="147" cy="212"/>
                        </a:xfrm>
                        <a:prstGeom prst="rect">
                          <a:avLst/>
                        </a:prstGeom>
                        <a:noFill/>
                        <a:ln w="38100">
                          <a:noFill/>
                          <a:miter/>
                        </a:ln>
                      </p:spPr>
                    </p:pic>
                  </p:oleObj>
                </mc:Fallback>
              </mc:AlternateContent>
            </a:graphicData>
          </a:graphic>
        </p:graphicFrame>
        <p:grpSp>
          <p:nvGrpSpPr>
            <p:cNvPr id="71698" name="Group 19"/>
            <p:cNvGrpSpPr/>
            <p:nvPr/>
          </p:nvGrpSpPr>
          <p:grpSpPr>
            <a:xfrm>
              <a:off x="237" y="2657"/>
              <a:ext cx="2643" cy="456"/>
              <a:chOff x="282" y="2747"/>
              <a:chExt cx="2643" cy="456"/>
            </a:xfrm>
          </p:grpSpPr>
          <p:sp>
            <p:nvSpPr>
              <p:cNvPr id="71699" name="Text Box 20"/>
              <p:cNvSpPr txBox="1"/>
              <p:nvPr/>
            </p:nvSpPr>
            <p:spPr>
              <a:xfrm>
                <a:off x="282" y="2793"/>
                <a:ext cx="1480"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2</a:t>
                </a:r>
                <a:r>
                  <a:rPr lang="zh-CN" altLang="en-US" sz="2000" b="1">
                    <a:solidFill>
                      <a:srgbClr val="000000"/>
                    </a:solidFill>
                    <a:latin typeface="Times New Roman" panose="02020603050405020304" pitchFamily="18" charset="0"/>
                    <a:ea typeface="宋体" panose="02010600030101010101" pitchFamily="2" charset="-122"/>
                  </a:rPr>
                  <a:t>）记                ，</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1700" name="Object 21"/>
              <p:cNvGraphicFramePr>
                <a:graphicFrameLocks noChangeAspect="1"/>
              </p:cNvGraphicFramePr>
              <p:nvPr/>
            </p:nvGraphicFramePr>
            <p:xfrm>
              <a:off x="923" y="2758"/>
              <a:ext cx="650" cy="296"/>
            </p:xfrm>
            <a:graphic>
              <a:graphicData uri="http://schemas.openxmlformats.org/presentationml/2006/ole">
                <mc:AlternateContent xmlns:mc="http://schemas.openxmlformats.org/markup-compatibility/2006">
                  <mc:Choice xmlns:v="urn:schemas-microsoft-com:vml" Requires="v">
                    <p:oleObj spid="_x0000_s3096" name="" r:id="rId9" imgW="533400" imgH="241300" progId="Equation.DSMT4">
                      <p:embed/>
                    </p:oleObj>
                  </mc:Choice>
                  <mc:Fallback>
                    <p:oleObj name="" r:id="rId9" imgW="533400" imgH="241300" progId="Equation.DSMT4">
                      <p:embed/>
                      <p:pic>
                        <p:nvPicPr>
                          <p:cNvPr id="0" name="图片 3095"/>
                          <p:cNvPicPr/>
                          <p:nvPr/>
                        </p:nvPicPr>
                        <p:blipFill>
                          <a:blip r:embed="rId10"/>
                          <a:stretch>
                            <a:fillRect/>
                          </a:stretch>
                        </p:blipFill>
                        <p:spPr>
                          <a:xfrm>
                            <a:off x="923" y="2758"/>
                            <a:ext cx="650" cy="296"/>
                          </a:xfrm>
                          <a:prstGeom prst="rect">
                            <a:avLst/>
                          </a:prstGeom>
                          <a:noFill/>
                          <a:ln w="38100">
                            <a:noFill/>
                            <a:miter/>
                          </a:ln>
                        </p:spPr>
                      </p:pic>
                    </p:oleObj>
                  </mc:Fallback>
                </mc:AlternateContent>
              </a:graphicData>
            </a:graphic>
          </p:graphicFrame>
          <p:graphicFrame>
            <p:nvGraphicFramePr>
              <p:cNvPr id="71701" name="Object 22"/>
              <p:cNvGraphicFramePr>
                <a:graphicFrameLocks noChangeAspect="1"/>
              </p:cNvGraphicFramePr>
              <p:nvPr/>
            </p:nvGraphicFramePr>
            <p:xfrm>
              <a:off x="1655" y="2747"/>
              <a:ext cx="1270" cy="456"/>
            </p:xfrm>
            <a:graphic>
              <a:graphicData uri="http://schemas.openxmlformats.org/presentationml/2006/ole">
                <mc:AlternateContent xmlns:mc="http://schemas.openxmlformats.org/markup-compatibility/2006">
                  <mc:Choice xmlns:v="urn:schemas-microsoft-com:vml" Requires="v">
                    <p:oleObj spid="_x0000_s3094" name="" r:id="rId11" imgW="1244600" imgH="444500" progId="Equation.DSMT4">
                      <p:embed/>
                    </p:oleObj>
                  </mc:Choice>
                  <mc:Fallback>
                    <p:oleObj name="" r:id="rId11" imgW="1244600" imgH="444500" progId="Equation.DSMT4">
                      <p:embed/>
                      <p:pic>
                        <p:nvPicPr>
                          <p:cNvPr id="0" name="图片 3093"/>
                          <p:cNvPicPr/>
                          <p:nvPr/>
                        </p:nvPicPr>
                        <p:blipFill>
                          <a:blip r:embed="rId12"/>
                          <a:stretch>
                            <a:fillRect/>
                          </a:stretch>
                        </p:blipFill>
                        <p:spPr>
                          <a:xfrm>
                            <a:off x="1655" y="2747"/>
                            <a:ext cx="1270" cy="456"/>
                          </a:xfrm>
                          <a:prstGeom prst="rect">
                            <a:avLst/>
                          </a:prstGeom>
                          <a:noFill/>
                          <a:ln w="38100">
                            <a:noFill/>
                            <a:miter/>
                          </a:ln>
                        </p:spPr>
                      </p:pic>
                    </p:oleObj>
                  </mc:Fallback>
                </mc:AlternateContent>
              </a:graphicData>
            </a:graphic>
          </p:graphicFrame>
        </p:grpSp>
      </p:grpSp>
      <p:sp>
        <p:nvSpPr>
          <p:cNvPr id="71702" name="Rectangle 23"/>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1703" name="Rectangle 24"/>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71704" name="Group 25"/>
          <p:cNvGrpSpPr/>
          <p:nvPr/>
        </p:nvGrpSpPr>
        <p:grpSpPr>
          <a:xfrm>
            <a:off x="250825" y="5556250"/>
            <a:ext cx="4200525" cy="1343025"/>
            <a:chOff x="158" y="3075"/>
            <a:chExt cx="2646" cy="846"/>
          </a:xfrm>
        </p:grpSpPr>
        <p:grpSp>
          <p:nvGrpSpPr>
            <p:cNvPr id="71705" name="Group 26"/>
            <p:cNvGrpSpPr/>
            <p:nvPr/>
          </p:nvGrpSpPr>
          <p:grpSpPr>
            <a:xfrm>
              <a:off x="158" y="3075"/>
              <a:ext cx="2516" cy="285"/>
              <a:chOff x="327" y="3121"/>
              <a:chExt cx="2516" cy="285"/>
            </a:xfrm>
          </p:grpSpPr>
          <p:sp>
            <p:nvSpPr>
              <p:cNvPr id="71706" name="Text Box 27"/>
              <p:cNvSpPr txBox="1"/>
              <p:nvPr/>
            </p:nvSpPr>
            <p:spPr>
              <a:xfrm>
                <a:off x="327" y="3156"/>
                <a:ext cx="2516"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步</a:t>
                </a:r>
                <a:r>
                  <a:rPr lang="en-US" altLang="zh-CN" sz="2000" b="1">
                    <a:solidFill>
                      <a:srgbClr val="000000"/>
                    </a:solidFill>
                    <a:latin typeface="Times New Roman" panose="02020603050405020304" pitchFamily="18" charset="0"/>
                    <a:ea typeface="宋体" panose="02010600030101010101" pitchFamily="2" charset="-122"/>
                  </a:rPr>
                  <a:t>2  </a:t>
                </a:r>
                <a:r>
                  <a:rPr lang="zh-CN" altLang="en-US" sz="2000" b="1">
                    <a:solidFill>
                      <a:srgbClr val="000000"/>
                    </a:solidFill>
                    <a:latin typeface="Times New Roman" panose="02020603050405020304" pitchFamily="18" charset="0"/>
                    <a:ea typeface="宋体" panose="02010600030101010101" pitchFamily="2" charset="-122"/>
                  </a:rPr>
                  <a:t>用</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表示       ，即将     分解为</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1707" name="Object 28"/>
              <p:cNvGraphicFramePr>
                <a:graphicFrameLocks noChangeAspect="1"/>
              </p:cNvGraphicFramePr>
              <p:nvPr/>
            </p:nvGraphicFramePr>
            <p:xfrm>
              <a:off x="1338" y="3121"/>
              <a:ext cx="177" cy="256"/>
            </p:xfrm>
            <a:graphic>
              <a:graphicData uri="http://schemas.openxmlformats.org/presentationml/2006/ole">
                <mc:AlternateContent xmlns:mc="http://schemas.openxmlformats.org/markup-compatibility/2006">
                  <mc:Choice xmlns:v="urn:schemas-microsoft-com:vml" Requires="v">
                    <p:oleObj spid="_x0000_s3088" name="" r:id="rId13" imgW="139700" imgH="203200" progId="Equation.DSMT4">
                      <p:embed/>
                    </p:oleObj>
                  </mc:Choice>
                  <mc:Fallback>
                    <p:oleObj name="" r:id="rId13" imgW="139700" imgH="203200" progId="Equation.DSMT4">
                      <p:embed/>
                      <p:pic>
                        <p:nvPicPr>
                          <p:cNvPr id="0" name="图片 3087"/>
                          <p:cNvPicPr/>
                          <p:nvPr/>
                        </p:nvPicPr>
                        <p:blipFill>
                          <a:blip r:embed="rId14"/>
                          <a:stretch>
                            <a:fillRect/>
                          </a:stretch>
                        </p:blipFill>
                        <p:spPr>
                          <a:xfrm>
                            <a:off x="1338" y="3121"/>
                            <a:ext cx="177" cy="256"/>
                          </a:xfrm>
                          <a:prstGeom prst="rect">
                            <a:avLst/>
                          </a:prstGeom>
                          <a:noFill/>
                          <a:ln w="38100">
                            <a:noFill/>
                            <a:miter/>
                          </a:ln>
                        </p:spPr>
                      </p:pic>
                    </p:oleObj>
                  </mc:Fallback>
                </mc:AlternateContent>
              </a:graphicData>
            </a:graphic>
          </p:graphicFrame>
          <p:graphicFrame>
            <p:nvGraphicFramePr>
              <p:cNvPr id="71708" name="Object 29"/>
              <p:cNvGraphicFramePr>
                <a:graphicFrameLocks noChangeAspect="1"/>
              </p:cNvGraphicFramePr>
              <p:nvPr/>
            </p:nvGraphicFramePr>
            <p:xfrm>
              <a:off x="2109" y="3121"/>
              <a:ext cx="177" cy="256"/>
            </p:xfrm>
            <a:graphic>
              <a:graphicData uri="http://schemas.openxmlformats.org/presentationml/2006/ole">
                <mc:AlternateContent xmlns:mc="http://schemas.openxmlformats.org/markup-compatibility/2006">
                  <mc:Choice xmlns:v="urn:schemas-microsoft-com:vml" Requires="v">
                    <p:oleObj spid="_x0000_s3095" name="" r:id="rId15" imgW="139700" imgH="203200" progId="Equation.DSMT4">
                      <p:embed/>
                    </p:oleObj>
                  </mc:Choice>
                  <mc:Fallback>
                    <p:oleObj name="" r:id="rId15" imgW="139700" imgH="203200" progId="Equation.DSMT4">
                      <p:embed/>
                      <p:pic>
                        <p:nvPicPr>
                          <p:cNvPr id="0" name="图片 3094"/>
                          <p:cNvPicPr/>
                          <p:nvPr/>
                        </p:nvPicPr>
                        <p:blipFill>
                          <a:blip r:embed="rId16"/>
                          <a:stretch>
                            <a:fillRect/>
                          </a:stretch>
                        </p:blipFill>
                        <p:spPr>
                          <a:xfrm>
                            <a:off x="2109" y="3121"/>
                            <a:ext cx="177" cy="256"/>
                          </a:xfrm>
                          <a:prstGeom prst="rect">
                            <a:avLst/>
                          </a:prstGeom>
                          <a:noFill/>
                          <a:ln w="38100">
                            <a:noFill/>
                            <a:miter/>
                          </a:ln>
                        </p:spPr>
                      </p:pic>
                    </p:oleObj>
                  </mc:Fallback>
                </mc:AlternateContent>
              </a:graphicData>
            </a:graphic>
          </p:graphicFrame>
        </p:grpSp>
        <p:graphicFrame>
          <p:nvGraphicFramePr>
            <p:cNvPr id="71709" name="Object 30"/>
            <p:cNvGraphicFramePr>
              <a:graphicFrameLocks noChangeAspect="1"/>
            </p:cNvGraphicFramePr>
            <p:nvPr/>
          </p:nvGraphicFramePr>
          <p:xfrm>
            <a:off x="514" y="3430"/>
            <a:ext cx="876" cy="491"/>
          </p:xfrm>
          <a:graphic>
            <a:graphicData uri="http://schemas.openxmlformats.org/presentationml/2006/ole">
              <mc:AlternateContent xmlns:mc="http://schemas.openxmlformats.org/markup-compatibility/2006">
                <mc:Choice xmlns:v="urn:schemas-microsoft-com:vml" Requires="v">
                  <p:oleObj spid="_x0000_s3092" name="" r:id="rId17" imgW="761365" imgH="431800" progId="Equation.DSMT4">
                    <p:embed/>
                  </p:oleObj>
                </mc:Choice>
                <mc:Fallback>
                  <p:oleObj name="" r:id="rId17" imgW="761365" imgH="431800" progId="Equation.DSMT4">
                    <p:embed/>
                    <p:pic>
                      <p:nvPicPr>
                        <p:cNvPr id="0" name="图片 3091"/>
                        <p:cNvPicPr/>
                        <p:nvPr/>
                      </p:nvPicPr>
                      <p:blipFill>
                        <a:blip r:embed="rId18"/>
                        <a:stretch>
                          <a:fillRect/>
                        </a:stretch>
                      </p:blipFill>
                      <p:spPr>
                        <a:xfrm>
                          <a:off x="514" y="3430"/>
                          <a:ext cx="876" cy="491"/>
                        </a:xfrm>
                        <a:prstGeom prst="rect">
                          <a:avLst/>
                        </a:prstGeom>
                        <a:noFill/>
                        <a:ln w="38100">
                          <a:noFill/>
                          <a:miter/>
                        </a:ln>
                      </p:spPr>
                    </p:pic>
                  </p:oleObj>
                </mc:Fallback>
              </mc:AlternateContent>
            </a:graphicData>
          </a:graphic>
        </p:graphicFrame>
        <p:sp>
          <p:nvSpPr>
            <p:cNvPr id="71710" name="Rectangle 31"/>
            <p:cNvSpPr/>
            <p:nvPr/>
          </p:nvSpPr>
          <p:spPr>
            <a:xfrm>
              <a:off x="1338" y="3566"/>
              <a:ext cx="1466" cy="250"/>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r</a:t>
              </a:r>
              <a:r>
                <a:rPr lang="zh-CN" altLang="en-US" sz="2000" b="1">
                  <a:latin typeface="Times New Roman" panose="02020603050405020304" pitchFamily="18" charset="0"/>
                  <a:ea typeface="宋体" panose="02010600030101010101" pitchFamily="2" charset="-122"/>
                </a:rPr>
                <a:t>为空间的维数）</a:t>
              </a:r>
              <a:endParaRPr lang="zh-CN" altLang="en-US" sz="2000" b="1">
                <a:latin typeface="Times New Roman" panose="02020603050405020304" pitchFamily="18"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87394"/>
                                        </p:tgtEl>
                                        <p:attrNameLst>
                                          <p:attrName>style.visibility</p:attrName>
                                        </p:attrNameLst>
                                      </p:cBhvr>
                                      <p:to>
                                        <p:strVal val="visible"/>
                                      </p:to>
                                    </p:set>
                                    <p:anim calcmode="lin" valueType="num">
                                      <p:cBhvr>
                                        <p:cTn id="7" dur="500" fill="hold"/>
                                        <p:tgtEl>
                                          <p:spTgt spid="187394"/>
                                        </p:tgtEl>
                                        <p:attrNameLst>
                                          <p:attrName>ppt_x</p:attrName>
                                        </p:attrNameLst>
                                      </p:cBhvr>
                                      <p:tavLst>
                                        <p:tav tm="0">
                                          <p:val>
                                            <p:strVal val="0-#ppt_w/2"/>
                                          </p:val>
                                        </p:tav>
                                        <p:tav tm="100000">
                                          <p:val>
                                            <p:strVal val="#ppt_x"/>
                                          </p:val>
                                        </p:tav>
                                      </p:tavLst>
                                    </p:anim>
                                    <p:anim calcmode="lin" valueType="num">
                                      <p:cBhvr>
                                        <p:cTn id="8" dur="500" fill="hold"/>
                                        <p:tgtEl>
                                          <p:spTgt spid="1873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7395"/>
                                        </p:tgtEl>
                                        <p:attrNameLst>
                                          <p:attrName>style.visibility</p:attrName>
                                        </p:attrNameLst>
                                      </p:cBhvr>
                                      <p:to>
                                        <p:strVal val="visible"/>
                                      </p:to>
                                    </p:set>
                                    <p:anim calcmode="lin" valueType="num">
                                      <p:cBhvr>
                                        <p:cTn id="13" dur="500" fill="hold"/>
                                        <p:tgtEl>
                                          <p:spTgt spid="187395"/>
                                        </p:tgtEl>
                                        <p:attrNameLst>
                                          <p:attrName>ppt_x</p:attrName>
                                        </p:attrNameLst>
                                      </p:cBhvr>
                                      <p:tavLst>
                                        <p:tav tm="0">
                                          <p:val>
                                            <p:strVal val="0-#ppt_w/2"/>
                                          </p:val>
                                        </p:tav>
                                        <p:tav tm="100000">
                                          <p:val>
                                            <p:strVal val="#ppt_x"/>
                                          </p:val>
                                        </p:tav>
                                      </p:tavLst>
                                    </p:anim>
                                    <p:anim calcmode="lin" valueType="num">
                                      <p:cBhvr>
                                        <p:cTn id="14" dur="500" fill="hold"/>
                                        <p:tgtEl>
                                          <p:spTgt spid="18739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87397"/>
                                        </p:tgtEl>
                                        <p:attrNameLst>
                                          <p:attrName>style.visibility</p:attrName>
                                        </p:attrNameLst>
                                      </p:cBhvr>
                                      <p:to>
                                        <p:strVal val="visible"/>
                                      </p:to>
                                    </p:set>
                                    <p:anim calcmode="lin" valueType="num">
                                      <p:cBhvr>
                                        <p:cTn id="19" dur="500" fill="hold"/>
                                        <p:tgtEl>
                                          <p:spTgt spid="187397"/>
                                        </p:tgtEl>
                                        <p:attrNameLst>
                                          <p:attrName>ppt_x</p:attrName>
                                        </p:attrNameLst>
                                      </p:cBhvr>
                                      <p:tavLst>
                                        <p:tav tm="0">
                                          <p:val>
                                            <p:strVal val="0-#ppt_w/2"/>
                                          </p:val>
                                        </p:tav>
                                        <p:tav tm="100000">
                                          <p:val>
                                            <p:strVal val="#ppt_x"/>
                                          </p:val>
                                        </p:tav>
                                      </p:tavLst>
                                    </p:anim>
                                    <p:anim calcmode="lin" valueType="num">
                                      <p:cBhvr>
                                        <p:cTn id="20" dur="500" fill="hold"/>
                                        <p:tgtEl>
                                          <p:spTgt spid="18739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7398"/>
                                        </p:tgtEl>
                                        <p:attrNameLst>
                                          <p:attrName>style.visibility</p:attrName>
                                        </p:attrNameLst>
                                      </p:cBhvr>
                                      <p:to>
                                        <p:strVal val="visible"/>
                                      </p:to>
                                    </p:set>
                                    <p:anim calcmode="lin" valueType="num">
                                      <p:cBhvr>
                                        <p:cTn id="25" dur="500" fill="hold"/>
                                        <p:tgtEl>
                                          <p:spTgt spid="187398"/>
                                        </p:tgtEl>
                                        <p:attrNameLst>
                                          <p:attrName>ppt_x</p:attrName>
                                        </p:attrNameLst>
                                      </p:cBhvr>
                                      <p:tavLst>
                                        <p:tav tm="0">
                                          <p:val>
                                            <p:strVal val="0-#ppt_w/2"/>
                                          </p:val>
                                        </p:tav>
                                        <p:tav tm="100000">
                                          <p:val>
                                            <p:strVal val="#ppt_x"/>
                                          </p:val>
                                        </p:tav>
                                      </p:tavLst>
                                    </p:anim>
                                    <p:anim calcmode="lin" valueType="num">
                                      <p:cBhvr>
                                        <p:cTn id="26" dur="500" fill="hold"/>
                                        <p:tgtEl>
                                          <p:spTgt spid="18739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p:cTn id="31" dur="500" fill="hold"/>
                                        <p:tgtEl>
                                          <p:spTgt spid="2"/>
                                        </p:tgtEl>
                                        <p:attrNameLst>
                                          <p:attrName>ppt_x</p:attrName>
                                        </p:attrNameLst>
                                      </p:cBhvr>
                                      <p:tavLst>
                                        <p:tav tm="0">
                                          <p:val>
                                            <p:strVal val="0-#ppt_w/2"/>
                                          </p:val>
                                        </p:tav>
                                        <p:tav tm="100000">
                                          <p:val>
                                            <p:strVal val="#ppt_x"/>
                                          </p:val>
                                        </p:tav>
                                      </p:tavLst>
                                    </p:anim>
                                    <p:anim calcmode="lin" valueType="num">
                                      <p:cBhvr>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4" grpId="0"/>
      <p:bldP spid="187395" grpId="0"/>
      <p:bldP spid="18739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3"/>
          <p:cNvGrpSpPr/>
          <p:nvPr/>
        </p:nvGrpSpPr>
        <p:grpSpPr>
          <a:xfrm>
            <a:off x="381000" y="609600"/>
            <a:ext cx="6024563" cy="452438"/>
            <a:chOff x="327" y="218"/>
            <a:chExt cx="3795" cy="285"/>
          </a:xfrm>
        </p:grpSpPr>
        <p:sp>
          <p:nvSpPr>
            <p:cNvPr id="73731" name="Text Box 4"/>
            <p:cNvSpPr txBox="1"/>
            <p:nvPr/>
          </p:nvSpPr>
          <p:spPr>
            <a:xfrm>
              <a:off x="327" y="253"/>
              <a:ext cx="3795"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将</a:t>
              </a:r>
              <a:r>
                <a:rPr lang="en-US" altLang="zh-CN" sz="2000" b="1" i="1">
                  <a:solidFill>
                    <a:srgbClr val="000000"/>
                  </a:solidFill>
                  <a:latin typeface="Times New Roman" panose="02020603050405020304" pitchFamily="18" charset="0"/>
                  <a:ea typeface="宋体" panose="02010600030101010101" pitchFamily="2" charset="-122"/>
                </a:rPr>
                <a:t>T</a:t>
              </a:r>
              <a:r>
                <a:rPr lang="zh-CN" altLang="en-US" sz="2000" b="1">
                  <a:solidFill>
                    <a:srgbClr val="000000"/>
                  </a:solidFill>
                  <a:latin typeface="Times New Roman" panose="02020603050405020304" pitchFamily="18" charset="0"/>
                  <a:ea typeface="宋体" panose="02010600030101010101" pitchFamily="2" charset="-122"/>
                </a:rPr>
                <a:t>化为     的方法一般有无穷多种，如可如下化法：</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3732" name="Object 5"/>
            <p:cNvGraphicFramePr>
              <a:graphicFrameLocks noChangeAspect="1"/>
            </p:cNvGraphicFramePr>
            <p:nvPr/>
          </p:nvGraphicFramePr>
          <p:xfrm>
            <a:off x="975" y="218"/>
            <a:ext cx="177" cy="256"/>
          </p:xfrm>
          <a:graphic>
            <a:graphicData uri="http://schemas.openxmlformats.org/presentationml/2006/ole">
              <mc:AlternateContent xmlns:mc="http://schemas.openxmlformats.org/markup-compatibility/2006">
                <mc:Choice xmlns:v="urn:schemas-microsoft-com:vml" Requires="v">
                  <p:oleObj spid="_x0000_s3091" name="" r:id="rId1" imgW="139700" imgH="203200" progId="Equation.DSMT4">
                    <p:embed/>
                  </p:oleObj>
                </mc:Choice>
                <mc:Fallback>
                  <p:oleObj name="" r:id="rId1" imgW="139700" imgH="203200" progId="Equation.DSMT4">
                    <p:embed/>
                    <p:pic>
                      <p:nvPicPr>
                        <p:cNvPr id="0" name="图片 3090"/>
                        <p:cNvPicPr/>
                        <p:nvPr/>
                      </p:nvPicPr>
                      <p:blipFill>
                        <a:blip r:embed="rId2"/>
                        <a:stretch>
                          <a:fillRect/>
                        </a:stretch>
                      </p:blipFill>
                      <p:spPr>
                        <a:xfrm>
                          <a:off x="975" y="218"/>
                          <a:ext cx="177" cy="256"/>
                        </a:xfrm>
                        <a:prstGeom prst="rect">
                          <a:avLst/>
                        </a:prstGeom>
                        <a:noFill/>
                        <a:ln w="38100">
                          <a:noFill/>
                          <a:miter/>
                        </a:ln>
                      </p:spPr>
                    </p:pic>
                  </p:oleObj>
                </mc:Fallback>
              </mc:AlternateContent>
            </a:graphicData>
          </a:graphic>
        </p:graphicFrame>
      </p:grpSp>
      <p:sp>
        <p:nvSpPr>
          <p:cNvPr id="73733" name="Rectangle 6"/>
          <p:cNvSpPr/>
          <p:nvPr/>
        </p:nvSpPr>
        <p:spPr>
          <a:xfrm>
            <a:off x="0" y="31861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3734" name="Rectangle 7"/>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4" name="Group 8"/>
          <p:cNvGrpSpPr/>
          <p:nvPr/>
        </p:nvGrpSpPr>
        <p:grpSpPr>
          <a:xfrm>
            <a:off x="376238" y="1243013"/>
            <a:ext cx="7011987" cy="1366837"/>
            <a:chOff x="237" y="437"/>
            <a:chExt cx="4417" cy="861"/>
          </a:xfrm>
        </p:grpSpPr>
        <p:sp>
          <p:nvSpPr>
            <p:cNvPr id="73736" name="Text Box 9"/>
            <p:cNvSpPr txBox="1"/>
            <p:nvPr/>
          </p:nvSpPr>
          <p:spPr>
            <a:xfrm>
              <a:off x="237" y="571"/>
              <a:ext cx="4417" cy="634"/>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令                                                        </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事实上，                       ，（即通讯卫星传送总时间的下界）。</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3737" name="Object 10"/>
            <p:cNvGraphicFramePr>
              <a:graphicFrameLocks noChangeAspect="1"/>
            </p:cNvGraphicFramePr>
            <p:nvPr/>
          </p:nvGraphicFramePr>
          <p:xfrm>
            <a:off x="521" y="437"/>
            <a:ext cx="2721" cy="498"/>
          </p:xfrm>
          <a:graphic>
            <a:graphicData uri="http://schemas.openxmlformats.org/presentationml/2006/ole">
              <mc:AlternateContent xmlns:mc="http://schemas.openxmlformats.org/markup-compatibility/2006">
                <mc:Choice xmlns:v="urn:schemas-microsoft-com:vml" Requires="v">
                  <p:oleObj spid="_x0000_s3093" name="" r:id="rId3" imgW="2654300" imgH="482600" progId="Equation.DSMT4">
                    <p:embed/>
                  </p:oleObj>
                </mc:Choice>
                <mc:Fallback>
                  <p:oleObj name="" r:id="rId3" imgW="2654300" imgH="482600" progId="Equation.DSMT4">
                    <p:embed/>
                    <p:pic>
                      <p:nvPicPr>
                        <p:cNvPr id="0" name="图片 3092"/>
                        <p:cNvPicPr/>
                        <p:nvPr/>
                      </p:nvPicPr>
                      <p:blipFill>
                        <a:blip r:embed="rId4"/>
                        <a:stretch>
                          <a:fillRect/>
                        </a:stretch>
                      </p:blipFill>
                      <p:spPr>
                        <a:xfrm>
                          <a:off x="521" y="437"/>
                          <a:ext cx="2721" cy="498"/>
                        </a:xfrm>
                        <a:prstGeom prst="rect">
                          <a:avLst/>
                        </a:prstGeom>
                        <a:noFill/>
                        <a:ln w="38100">
                          <a:noFill/>
                          <a:miter/>
                        </a:ln>
                      </p:spPr>
                    </p:pic>
                  </p:oleObj>
                </mc:Fallback>
              </mc:AlternateContent>
            </a:graphicData>
          </a:graphic>
        </p:graphicFrame>
        <p:graphicFrame>
          <p:nvGraphicFramePr>
            <p:cNvPr id="73738" name="Object 11"/>
            <p:cNvGraphicFramePr>
              <a:graphicFrameLocks noChangeAspect="1"/>
            </p:cNvGraphicFramePr>
            <p:nvPr/>
          </p:nvGraphicFramePr>
          <p:xfrm>
            <a:off x="884" y="859"/>
            <a:ext cx="907" cy="439"/>
          </p:xfrm>
          <a:graphic>
            <a:graphicData uri="http://schemas.openxmlformats.org/presentationml/2006/ole">
              <mc:AlternateContent xmlns:mc="http://schemas.openxmlformats.org/markup-compatibility/2006">
                <mc:Choice xmlns:v="urn:schemas-microsoft-com:vml" Requires="v">
                  <p:oleObj spid="_x0000_s3097" name="" r:id="rId5" imgW="888365" imgH="431800" progId="Equation.DSMT4">
                    <p:embed/>
                  </p:oleObj>
                </mc:Choice>
                <mc:Fallback>
                  <p:oleObj name="" r:id="rId5" imgW="888365" imgH="431800" progId="Equation.DSMT4">
                    <p:embed/>
                    <p:pic>
                      <p:nvPicPr>
                        <p:cNvPr id="0" name="图片 3096"/>
                        <p:cNvPicPr/>
                        <p:nvPr/>
                      </p:nvPicPr>
                      <p:blipFill>
                        <a:blip r:embed="rId6"/>
                        <a:stretch>
                          <a:fillRect/>
                        </a:stretch>
                      </p:blipFill>
                      <p:spPr>
                        <a:xfrm>
                          <a:off x="884" y="859"/>
                          <a:ext cx="907" cy="439"/>
                        </a:xfrm>
                        <a:prstGeom prst="rect">
                          <a:avLst/>
                        </a:prstGeom>
                        <a:noFill/>
                        <a:ln w="38100">
                          <a:noFill/>
                          <a:miter/>
                        </a:ln>
                      </p:spPr>
                    </p:pic>
                  </p:oleObj>
                </mc:Fallback>
              </mc:AlternateContent>
            </a:graphicData>
          </a:graphic>
        </p:graphicFrame>
      </p:grpSp>
      <p:sp>
        <p:nvSpPr>
          <p:cNvPr id="73739" name="Rectangle 12"/>
          <p:cNvSpPr/>
          <p:nvPr/>
        </p:nvSpPr>
        <p:spPr>
          <a:xfrm>
            <a:off x="0" y="3252788"/>
            <a:ext cx="9144000" cy="0"/>
          </a:xfrm>
          <a:prstGeom prst="rect">
            <a:avLst/>
          </a:prstGeom>
          <a:noFill/>
          <a:ln w="9525">
            <a:noFill/>
          </a:ln>
        </p:spPr>
        <p:txBody>
          <a:bodyPr wrap="none" anchor="ctr">
            <a:spAutoFit/>
          </a:bodyPr>
          <a:p>
            <a:pPr algn="ctr"/>
            <a:endParaRPr lang="zh-CN" altLang="zh-CN" sz="2000" b="1">
              <a:latin typeface="Times New Roman" panose="02020603050405020304" pitchFamily="18" charset="0"/>
              <a:ea typeface="宋体" panose="02010600030101010101" pitchFamily="2" charset="-122"/>
            </a:endParaRPr>
          </a:p>
        </p:txBody>
      </p:sp>
      <p:grpSp>
        <p:nvGrpSpPr>
          <p:cNvPr id="6" name="Group 13"/>
          <p:cNvGrpSpPr/>
          <p:nvPr/>
        </p:nvGrpSpPr>
        <p:grpSpPr>
          <a:xfrm>
            <a:off x="323850" y="2600325"/>
            <a:ext cx="1871663" cy="585788"/>
            <a:chOff x="204" y="1292"/>
            <a:chExt cx="1179" cy="369"/>
          </a:xfrm>
        </p:grpSpPr>
        <p:sp>
          <p:nvSpPr>
            <p:cNvPr id="73741" name="Rectangle 14"/>
            <p:cNvSpPr/>
            <p:nvPr/>
          </p:nvSpPr>
          <p:spPr>
            <a:xfrm>
              <a:off x="204" y="1298"/>
              <a:ext cx="316" cy="250"/>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令 </a:t>
              </a:r>
              <a:endParaRPr lang="zh-CN" altLang="en-US" sz="2000" b="1">
                <a:latin typeface="Times New Roman" panose="02020603050405020304" pitchFamily="18" charset="0"/>
                <a:ea typeface="宋体" panose="02010600030101010101" pitchFamily="2" charset="-122"/>
              </a:endParaRPr>
            </a:p>
          </p:txBody>
        </p:sp>
        <p:graphicFrame>
          <p:nvGraphicFramePr>
            <p:cNvPr id="73742" name="Object 15"/>
            <p:cNvGraphicFramePr>
              <a:graphicFrameLocks noChangeAspect="1"/>
            </p:cNvGraphicFramePr>
            <p:nvPr/>
          </p:nvGraphicFramePr>
          <p:xfrm>
            <a:off x="476" y="1292"/>
            <a:ext cx="907" cy="369"/>
          </p:xfrm>
          <a:graphic>
            <a:graphicData uri="http://schemas.openxmlformats.org/presentationml/2006/ole">
              <mc:AlternateContent xmlns:mc="http://schemas.openxmlformats.org/markup-compatibility/2006">
                <mc:Choice xmlns:v="urn:schemas-microsoft-com:vml" Requires="v">
                  <p:oleObj spid="_x0000_s3086" name="" r:id="rId7" imgW="862965" imgH="355600" progId="Equation.DSMT4">
                    <p:embed/>
                  </p:oleObj>
                </mc:Choice>
                <mc:Fallback>
                  <p:oleObj name="" r:id="rId7" imgW="862965" imgH="355600" progId="Equation.DSMT4">
                    <p:embed/>
                    <p:pic>
                      <p:nvPicPr>
                        <p:cNvPr id="0" name="图片 3085"/>
                        <p:cNvPicPr/>
                        <p:nvPr/>
                      </p:nvPicPr>
                      <p:blipFill>
                        <a:blip r:embed="rId8"/>
                        <a:stretch>
                          <a:fillRect/>
                        </a:stretch>
                      </p:blipFill>
                      <p:spPr>
                        <a:xfrm>
                          <a:off x="476" y="1292"/>
                          <a:ext cx="907" cy="369"/>
                        </a:xfrm>
                        <a:prstGeom prst="rect">
                          <a:avLst/>
                        </a:prstGeom>
                        <a:noFill/>
                        <a:ln w="38100">
                          <a:noFill/>
                          <a:miter/>
                        </a:ln>
                      </p:spPr>
                    </p:pic>
                  </p:oleObj>
                </mc:Fallback>
              </mc:AlternateContent>
            </a:graphicData>
          </a:graphic>
        </p:graphicFrame>
      </p:grpSp>
      <p:sp>
        <p:nvSpPr>
          <p:cNvPr id="73743" name="Rectangle 16"/>
          <p:cNvSpPr/>
          <p:nvPr/>
        </p:nvSpPr>
        <p:spPr>
          <a:xfrm>
            <a:off x="0" y="320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89457" name="Object 17"/>
          <p:cNvGraphicFramePr>
            <a:graphicFrameLocks noChangeAspect="1"/>
          </p:cNvGraphicFramePr>
          <p:nvPr/>
        </p:nvGraphicFramePr>
        <p:xfrm>
          <a:off x="755650" y="3160713"/>
          <a:ext cx="2592388" cy="817562"/>
        </p:xfrm>
        <a:graphic>
          <a:graphicData uri="http://schemas.openxmlformats.org/presentationml/2006/ole">
            <mc:AlternateContent xmlns:mc="http://schemas.openxmlformats.org/markup-compatibility/2006">
              <mc:Choice xmlns:v="urn:schemas-microsoft-com:vml" Requires="v">
                <p:oleObj spid="_x0000_s3087" name="" r:id="rId9" imgW="1422400" imgH="444500" progId="Equation.DSMT4">
                  <p:embed/>
                </p:oleObj>
              </mc:Choice>
              <mc:Fallback>
                <p:oleObj name="" r:id="rId9" imgW="1422400" imgH="444500" progId="Equation.DSMT4">
                  <p:embed/>
                  <p:pic>
                    <p:nvPicPr>
                      <p:cNvPr id="0" name="图片 3086"/>
                      <p:cNvPicPr/>
                      <p:nvPr/>
                    </p:nvPicPr>
                    <p:blipFill>
                      <a:blip r:embed="rId10"/>
                      <a:stretch>
                        <a:fillRect/>
                      </a:stretch>
                    </p:blipFill>
                    <p:spPr>
                      <a:xfrm>
                        <a:off x="755650" y="3160713"/>
                        <a:ext cx="2592388" cy="817562"/>
                      </a:xfrm>
                      <a:prstGeom prst="rect">
                        <a:avLst/>
                      </a:prstGeom>
                      <a:noFill/>
                      <a:ln w="38100">
                        <a:noFill/>
                        <a:miter/>
                      </a:ln>
                    </p:spPr>
                  </p:pic>
                </p:oleObj>
              </mc:Fallback>
            </mc:AlternateContent>
          </a:graphicData>
        </a:graphic>
      </p:graphicFrame>
      <p:sp>
        <p:nvSpPr>
          <p:cNvPr id="73745" name="Rectangle 18"/>
          <p:cNvSpPr/>
          <p:nvPr/>
        </p:nvSpPr>
        <p:spPr>
          <a:xfrm>
            <a:off x="0" y="320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73746" name="Group 19"/>
          <p:cNvGrpSpPr/>
          <p:nvPr/>
        </p:nvGrpSpPr>
        <p:grpSpPr>
          <a:xfrm>
            <a:off x="357188" y="3954463"/>
            <a:ext cx="4935537" cy="744537"/>
            <a:chOff x="225" y="2145"/>
            <a:chExt cx="3109" cy="469"/>
          </a:xfrm>
        </p:grpSpPr>
        <p:sp>
          <p:nvSpPr>
            <p:cNvPr id="73747" name="Rectangle 20"/>
            <p:cNvSpPr/>
            <p:nvPr/>
          </p:nvSpPr>
          <p:spPr>
            <a:xfrm>
              <a:off x="225" y="2228"/>
              <a:ext cx="478" cy="250"/>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其中 </a:t>
              </a:r>
              <a:endParaRPr lang="zh-CN" altLang="en-US" sz="2000" b="1">
                <a:latin typeface="Times New Roman" panose="02020603050405020304" pitchFamily="18" charset="0"/>
                <a:ea typeface="宋体" panose="02010600030101010101" pitchFamily="2" charset="-122"/>
              </a:endParaRPr>
            </a:p>
          </p:txBody>
        </p:sp>
        <p:graphicFrame>
          <p:nvGraphicFramePr>
            <p:cNvPr id="73748" name="Object 21"/>
            <p:cNvGraphicFramePr>
              <a:graphicFrameLocks noChangeAspect="1"/>
            </p:cNvGraphicFramePr>
            <p:nvPr/>
          </p:nvGraphicFramePr>
          <p:xfrm>
            <a:off x="657" y="2145"/>
            <a:ext cx="2677" cy="469"/>
          </p:xfrm>
          <a:graphic>
            <a:graphicData uri="http://schemas.openxmlformats.org/presentationml/2006/ole">
              <mc:AlternateContent xmlns:mc="http://schemas.openxmlformats.org/markup-compatibility/2006">
                <mc:Choice xmlns:v="urn:schemas-microsoft-com:vml" Requires="v">
                  <p:oleObj spid="_x0000_s3089" name="" r:id="rId11" imgW="2552700" imgH="444500" progId="Equation.DSMT4">
                    <p:embed/>
                  </p:oleObj>
                </mc:Choice>
                <mc:Fallback>
                  <p:oleObj name="" r:id="rId11" imgW="2552700" imgH="444500" progId="Equation.DSMT4">
                    <p:embed/>
                    <p:pic>
                      <p:nvPicPr>
                        <p:cNvPr id="0" name="图片 3088"/>
                        <p:cNvPicPr/>
                        <p:nvPr/>
                      </p:nvPicPr>
                      <p:blipFill>
                        <a:blip r:embed="rId12"/>
                        <a:stretch>
                          <a:fillRect/>
                        </a:stretch>
                      </p:blipFill>
                      <p:spPr>
                        <a:xfrm>
                          <a:off x="657" y="2145"/>
                          <a:ext cx="2677" cy="469"/>
                        </a:xfrm>
                        <a:prstGeom prst="rect">
                          <a:avLst/>
                        </a:prstGeom>
                        <a:noFill/>
                        <a:ln w="38100">
                          <a:noFill/>
                          <a:miter/>
                        </a:ln>
                      </p:spPr>
                    </p:pic>
                  </p:oleObj>
                </mc:Fallback>
              </mc:AlternateContent>
            </a:graphicData>
          </a:graphic>
        </p:graphicFrame>
      </p:grpSp>
      <p:sp>
        <p:nvSpPr>
          <p:cNvPr id="189462" name="Rectangle 22"/>
          <p:cNvSpPr/>
          <p:nvPr/>
        </p:nvSpPr>
        <p:spPr>
          <a:xfrm>
            <a:off x="457200" y="5334000"/>
            <a:ext cx="3421063"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用这种方法化例中的</a:t>
            </a:r>
            <a:r>
              <a:rPr lang="en-US" altLang="zh-CN" sz="2000" b="1">
                <a:latin typeface="Times New Roman" panose="02020603050405020304" pitchFamily="18" charset="0"/>
                <a:ea typeface="宋体" panose="02010600030101010101" pitchFamily="2" charset="-122"/>
              </a:rPr>
              <a:t>T</a:t>
            </a:r>
            <a:r>
              <a:rPr lang="zh-CN" altLang="en-US" sz="2000" b="1">
                <a:latin typeface="Times New Roman" panose="02020603050405020304" pitchFamily="18" charset="0"/>
                <a:ea typeface="宋体" panose="02010600030101010101" pitchFamily="2" charset="-122"/>
              </a:rPr>
              <a:t>，得到</a:t>
            </a:r>
            <a:endParaRPr lang="zh-CN" altLang="en-US" sz="2000" b="1">
              <a:latin typeface="Times New Roman" panose="02020603050405020304" pitchFamily="18" charset="0"/>
              <a:ea typeface="宋体" panose="02010600030101010101" pitchFamily="2" charset="-122"/>
            </a:endParaRPr>
          </a:p>
        </p:txBody>
      </p:sp>
      <p:sp>
        <p:nvSpPr>
          <p:cNvPr id="73750" name="Rectangle 23"/>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89464" name="Object 24"/>
          <p:cNvGraphicFramePr>
            <a:graphicFrameLocks noChangeAspect="1"/>
          </p:cNvGraphicFramePr>
          <p:nvPr/>
        </p:nvGraphicFramePr>
        <p:xfrm>
          <a:off x="3962400" y="4648200"/>
          <a:ext cx="2438400" cy="1828800"/>
        </p:xfrm>
        <a:graphic>
          <a:graphicData uri="http://schemas.openxmlformats.org/presentationml/2006/ole">
            <mc:AlternateContent xmlns:mc="http://schemas.openxmlformats.org/markup-compatibility/2006">
              <mc:Choice xmlns:v="urn:schemas-microsoft-com:vml" Requires="v">
                <p:oleObj spid="_x0000_s3090" name="" r:id="rId13" imgW="1117600" imgH="1244600" progId="Equation.DSMT4">
                  <p:embed/>
                </p:oleObj>
              </mc:Choice>
              <mc:Fallback>
                <p:oleObj name="" r:id="rId13" imgW="1117600" imgH="1244600" progId="Equation.DSMT4">
                  <p:embed/>
                  <p:pic>
                    <p:nvPicPr>
                      <p:cNvPr id="0" name="图片 3089"/>
                      <p:cNvPicPr/>
                      <p:nvPr/>
                    </p:nvPicPr>
                    <p:blipFill>
                      <a:blip r:embed="rId14"/>
                      <a:stretch>
                        <a:fillRect/>
                      </a:stretch>
                    </p:blipFill>
                    <p:spPr>
                      <a:xfrm>
                        <a:off x="3962400" y="4648200"/>
                        <a:ext cx="2438400" cy="1828800"/>
                      </a:xfrm>
                      <a:prstGeom prst="rect">
                        <a:avLst/>
                      </a:prstGeom>
                      <a:noFill/>
                      <a:ln w="38100">
                        <a:noFill/>
                        <a:miter/>
                      </a:ln>
                    </p:spPr>
                  </p:pic>
                </p:oleObj>
              </mc:Fallback>
            </mc:AlternateContent>
          </a:graphicData>
        </a:graphic>
      </p:graphicFrame>
      <p:sp>
        <p:nvSpPr>
          <p:cNvPr id="73752" name="Rectangle 25"/>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73753" name="Group 26"/>
          <p:cNvGrpSpPr/>
          <p:nvPr/>
        </p:nvGrpSpPr>
        <p:grpSpPr>
          <a:xfrm>
            <a:off x="468313" y="6402388"/>
            <a:ext cx="4616450" cy="455612"/>
            <a:chOff x="295" y="3665"/>
            <a:chExt cx="2908" cy="287"/>
          </a:xfrm>
        </p:grpSpPr>
        <p:sp>
          <p:nvSpPr>
            <p:cNvPr id="73754" name="Text Box 27"/>
            <p:cNvSpPr txBox="1"/>
            <p:nvPr/>
          </p:nvSpPr>
          <p:spPr>
            <a:xfrm>
              <a:off x="431" y="3702"/>
              <a:ext cx="2772"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的任一行（或列）中元素之和均为</a:t>
              </a:r>
              <a:r>
                <a:rPr lang="en-US" altLang="zh-CN" sz="2000" b="1">
                  <a:solidFill>
                    <a:srgbClr val="000000"/>
                  </a:solidFill>
                  <a:latin typeface="Times New Roman" panose="02020603050405020304" pitchFamily="18" charset="0"/>
                  <a:ea typeface="宋体" panose="02010600030101010101" pitchFamily="2" charset="-122"/>
                </a:rPr>
                <a:t>7</a:t>
              </a:r>
              <a:r>
                <a:rPr lang="zh-CN" altLang="en-US" sz="2000" b="1">
                  <a:solidFill>
                    <a:srgbClr val="000000"/>
                  </a:solidFill>
                  <a:latin typeface="Times New Roman" panose="02020603050405020304" pitchFamily="18" charset="0"/>
                  <a:ea typeface="宋体" panose="02010600030101010101" pitchFamily="2" charset="-122"/>
                </a:rPr>
                <a:t>。</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3755" name="Object 28"/>
            <p:cNvGraphicFramePr>
              <a:graphicFrameLocks noChangeAspect="1"/>
            </p:cNvGraphicFramePr>
            <p:nvPr/>
          </p:nvGraphicFramePr>
          <p:xfrm>
            <a:off x="295" y="3665"/>
            <a:ext cx="177" cy="256"/>
          </p:xfrm>
          <a:graphic>
            <a:graphicData uri="http://schemas.openxmlformats.org/presentationml/2006/ole">
              <mc:AlternateContent xmlns:mc="http://schemas.openxmlformats.org/markup-compatibility/2006">
                <mc:Choice xmlns:v="urn:schemas-microsoft-com:vml" Requires="v">
                  <p:oleObj spid="_x0000_s3106" name="" r:id="rId15" imgW="139700" imgH="203200" progId="Equation.DSMT4">
                    <p:embed/>
                  </p:oleObj>
                </mc:Choice>
                <mc:Fallback>
                  <p:oleObj name="" r:id="rId15" imgW="139700" imgH="203200" progId="Equation.DSMT4">
                    <p:embed/>
                    <p:pic>
                      <p:nvPicPr>
                        <p:cNvPr id="0" name="图片 3105"/>
                        <p:cNvPicPr/>
                        <p:nvPr/>
                      </p:nvPicPr>
                      <p:blipFill>
                        <a:blip r:embed="rId16"/>
                        <a:stretch>
                          <a:fillRect/>
                        </a:stretch>
                      </p:blipFill>
                      <p:spPr>
                        <a:xfrm>
                          <a:off x="295" y="3665"/>
                          <a:ext cx="177" cy="256"/>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ppt_x</p:attrName>
                                        </p:attrNameLst>
                                      </p:cBhvr>
                                      <p:tavLst>
                                        <p:tav tm="0">
                                          <p:val>
                                            <p:strVal val="0-#ppt_w/2"/>
                                          </p:val>
                                        </p:tav>
                                        <p:tav tm="100000">
                                          <p:val>
                                            <p:strVal val="#ppt_x"/>
                                          </p:val>
                                        </p:tav>
                                      </p:tavLst>
                                    </p:anim>
                                    <p:anim calcmode="lin" valueType="num">
                                      <p:cBhvr>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89457"/>
                                        </p:tgtEl>
                                        <p:attrNameLst>
                                          <p:attrName>style.visibility</p:attrName>
                                        </p:attrNameLst>
                                      </p:cBhvr>
                                      <p:to>
                                        <p:strVal val="visible"/>
                                      </p:to>
                                    </p:set>
                                    <p:anim calcmode="lin" valueType="num">
                                      <p:cBhvr>
                                        <p:cTn id="19" dur="500" fill="hold"/>
                                        <p:tgtEl>
                                          <p:spTgt spid="189457"/>
                                        </p:tgtEl>
                                        <p:attrNameLst>
                                          <p:attrName>ppt_x</p:attrName>
                                        </p:attrNameLst>
                                      </p:cBhvr>
                                      <p:tavLst>
                                        <p:tav tm="0">
                                          <p:val>
                                            <p:strVal val="0-#ppt_w/2"/>
                                          </p:val>
                                        </p:tav>
                                        <p:tav tm="100000">
                                          <p:val>
                                            <p:strVal val="#ppt_x"/>
                                          </p:val>
                                        </p:tav>
                                      </p:tavLst>
                                    </p:anim>
                                    <p:anim calcmode="lin" valueType="num">
                                      <p:cBhvr>
                                        <p:cTn id="20" dur="500" fill="hold"/>
                                        <p:tgtEl>
                                          <p:spTgt spid="18945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9462"/>
                                        </p:tgtEl>
                                        <p:attrNameLst>
                                          <p:attrName>style.visibility</p:attrName>
                                        </p:attrNameLst>
                                      </p:cBhvr>
                                      <p:to>
                                        <p:strVal val="visible"/>
                                      </p:to>
                                    </p:set>
                                    <p:anim calcmode="lin" valueType="num">
                                      <p:cBhvr>
                                        <p:cTn id="25" dur="500" fill="hold"/>
                                        <p:tgtEl>
                                          <p:spTgt spid="189462"/>
                                        </p:tgtEl>
                                        <p:attrNameLst>
                                          <p:attrName>ppt_x</p:attrName>
                                        </p:attrNameLst>
                                      </p:cBhvr>
                                      <p:tavLst>
                                        <p:tav tm="0">
                                          <p:val>
                                            <p:strVal val="0-#ppt_w/2"/>
                                          </p:val>
                                        </p:tav>
                                        <p:tav tm="100000">
                                          <p:val>
                                            <p:strVal val="#ppt_x"/>
                                          </p:val>
                                        </p:tav>
                                      </p:tavLst>
                                    </p:anim>
                                    <p:anim calcmode="lin" valueType="num">
                                      <p:cBhvr>
                                        <p:cTn id="26" dur="500" fill="hold"/>
                                        <p:tgtEl>
                                          <p:spTgt spid="18946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89464"/>
                                        </p:tgtEl>
                                        <p:attrNameLst>
                                          <p:attrName>style.visibility</p:attrName>
                                        </p:attrNameLst>
                                      </p:cBhvr>
                                      <p:to>
                                        <p:strVal val="visible"/>
                                      </p:to>
                                    </p:set>
                                    <p:anim calcmode="lin" valueType="num">
                                      <p:cBhvr>
                                        <p:cTn id="31" dur="500" fill="hold"/>
                                        <p:tgtEl>
                                          <p:spTgt spid="189464"/>
                                        </p:tgtEl>
                                        <p:attrNameLst>
                                          <p:attrName>ppt_x</p:attrName>
                                        </p:attrNameLst>
                                      </p:cBhvr>
                                      <p:tavLst>
                                        <p:tav tm="0">
                                          <p:val>
                                            <p:strVal val="0-#ppt_w/2"/>
                                          </p:val>
                                        </p:tav>
                                        <p:tav tm="100000">
                                          <p:val>
                                            <p:strVal val="#ppt_x"/>
                                          </p:val>
                                        </p:tav>
                                      </p:tavLst>
                                    </p:anim>
                                    <p:anim calcmode="lin" valueType="num">
                                      <p:cBhvr>
                                        <p:cTn id="32" dur="500" fill="hold"/>
                                        <p:tgtEl>
                                          <p:spTgt spid="18946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ppt_x</p:attrName>
                                        </p:attrNameLst>
                                      </p:cBhvr>
                                      <p:tavLst>
                                        <p:tav tm="0">
                                          <p:val>
                                            <p:strVal val="0-#ppt_w/2"/>
                                          </p:val>
                                        </p:tav>
                                        <p:tav tm="100000">
                                          <p:val>
                                            <p:strVal val="#ppt_x"/>
                                          </p:val>
                                        </p:tav>
                                      </p:tavLst>
                                    </p:anim>
                                    <p:anim calcmode="lin" valueType="num">
                                      <p:cBhvr>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6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p:nvPr/>
        </p:nvSpPr>
        <p:spPr>
          <a:xfrm>
            <a:off x="228600" y="1203325"/>
            <a:ext cx="8001000" cy="701675"/>
          </a:xfrm>
          <a:prstGeom prst="rect">
            <a:avLst/>
          </a:prstGeom>
          <a:noFill/>
          <a:ln w="9525">
            <a:noFill/>
          </a:ln>
        </p:spPr>
        <p:txBody>
          <a:bodyPr wrap="none" anchor="ctr">
            <a:spAutoFit/>
          </a:bodyPr>
          <a:p>
            <a:r>
              <a:rPr lang="zh-CN" altLang="en-US" sz="2000" b="1">
                <a:solidFill>
                  <a:srgbClr val="009900"/>
                </a:solidFill>
                <a:latin typeface="宋体" panose="02010600030101010101" pitchFamily="2" charset="-122"/>
                <a:ea typeface="宋体" panose="02010600030101010101" pitchFamily="2" charset="-122"/>
              </a:rPr>
              <a:t>定义</a:t>
            </a:r>
            <a:r>
              <a:rPr lang="en-US" altLang="zh-CN" sz="2000" b="1">
                <a:solidFill>
                  <a:srgbClr val="009900"/>
                </a:solidFill>
                <a:latin typeface="宋体" panose="02010600030101010101" pitchFamily="2" charset="-122"/>
                <a:ea typeface="宋体" panose="02010600030101010101" pitchFamily="2" charset="-122"/>
              </a:rPr>
              <a:t>1</a:t>
            </a:r>
            <a:endParaRPr lang="en-US" altLang="zh-CN" sz="2000" b="1">
              <a:latin typeface="Times New Roman" panose="02020603050405020304" pitchFamily="18" charset="0"/>
              <a:ea typeface="宋体" panose="02010600030101010101" pitchFamily="2" charset="-122"/>
            </a:endParaRPr>
          </a:p>
          <a:p>
            <a:r>
              <a:rPr lang="zh-CN" altLang="en-US" sz="2000" b="1">
                <a:latin typeface="Times New Roman" panose="02020603050405020304" pitchFamily="18" charset="0"/>
                <a:ea typeface="宋体" panose="02010600030101010101" pitchFamily="2" charset="-122"/>
              </a:rPr>
              <a:t>称行和、列和均相等的矩阵为双随机矩阵（</a:t>
            </a:r>
            <a:r>
              <a:rPr lang="en-US" altLang="zh-CN" sz="2000" b="1">
                <a:latin typeface="Times New Roman" panose="02020603050405020304" pitchFamily="18" charset="0"/>
                <a:ea typeface="宋体" panose="02010600030101010101" pitchFamily="2" charset="-122"/>
              </a:rPr>
              <a:t>Doubly stochastic matrix</a:t>
            </a:r>
            <a:r>
              <a:rPr lang="zh-CN" altLang="en-US" sz="2000" b="1">
                <a:latin typeface="Times New Roman" panose="02020603050405020304" pitchFamily="18" charset="0"/>
                <a:ea typeface="宋体" panose="02010600030101010101" pitchFamily="2" charset="-122"/>
              </a:rPr>
              <a:t>）</a:t>
            </a:r>
            <a:endParaRPr lang="zh-CN" altLang="en-US" sz="2000" b="1">
              <a:latin typeface="Times New Roman" panose="02020603050405020304" pitchFamily="18" charset="0"/>
              <a:ea typeface="宋体" panose="02010600030101010101" pitchFamily="2" charset="-122"/>
            </a:endParaRPr>
          </a:p>
        </p:txBody>
      </p:sp>
      <p:sp>
        <p:nvSpPr>
          <p:cNvPr id="191491" name="Rectangle 3"/>
          <p:cNvSpPr/>
          <p:nvPr/>
        </p:nvSpPr>
        <p:spPr>
          <a:xfrm>
            <a:off x="228600" y="1981200"/>
            <a:ext cx="8666163" cy="701675"/>
          </a:xfrm>
          <a:prstGeom prst="rect">
            <a:avLst/>
          </a:prstGeom>
          <a:noFill/>
          <a:ln w="9525">
            <a:noFill/>
          </a:ln>
        </p:spPr>
        <p:txBody>
          <a:bodyPr anchor="ctr">
            <a:spAutoFit/>
          </a:bodyPr>
          <a:p>
            <a:r>
              <a:rPr lang="zh-CN" altLang="en-US" sz="2000" b="1">
                <a:solidFill>
                  <a:srgbClr val="009900"/>
                </a:solidFill>
                <a:latin typeface="宋体" panose="02010600030101010101" pitchFamily="2" charset="-122"/>
                <a:ea typeface="宋体" panose="02010600030101010101" pitchFamily="2" charset="-122"/>
              </a:rPr>
              <a:t>定理</a:t>
            </a:r>
            <a:r>
              <a:rPr lang="en-US" altLang="zh-CN" sz="2000" b="1">
                <a:solidFill>
                  <a:srgbClr val="009900"/>
                </a:solidFill>
                <a:latin typeface="宋体" panose="02010600030101010101" pitchFamily="2" charset="-122"/>
                <a:ea typeface="宋体" panose="02010600030101010101" pitchFamily="2" charset="-122"/>
              </a:rPr>
              <a:t>1</a:t>
            </a:r>
            <a:r>
              <a:rPr lang="en-US" altLang="zh-CN" sz="2000" b="1">
                <a:latin typeface="Times New Roman" panose="02020603050405020304" pitchFamily="18" charset="0"/>
                <a:ea typeface="宋体" panose="02010600030101010101" pitchFamily="2" charset="-122"/>
              </a:rPr>
              <a:t> </a:t>
            </a:r>
            <a:r>
              <a:rPr lang="zh-CN" altLang="en-US" sz="2000" b="1">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Birkhoff</a:t>
            </a:r>
            <a:r>
              <a:rPr lang="zh-CN" altLang="en-US" sz="2000" b="1">
                <a:latin typeface="Times New Roman" panose="02020603050405020304" pitchFamily="18" charset="0"/>
                <a:ea typeface="宋体" panose="02010600030101010101" pitchFamily="2" charset="-122"/>
              </a:rPr>
              <a:t>定理，</a:t>
            </a:r>
            <a:r>
              <a:rPr lang="en-US" altLang="zh-CN" sz="2000" b="1">
                <a:latin typeface="Times New Roman" panose="02020603050405020304" pitchFamily="18" charset="0"/>
                <a:ea typeface="宋体" panose="02010600030101010101" pitchFamily="2" charset="-122"/>
              </a:rPr>
              <a:t>1944</a:t>
            </a:r>
            <a:r>
              <a:rPr lang="zh-CN" altLang="en-US" sz="2000" b="1">
                <a:latin typeface="Times New Roman" panose="02020603050405020304" pitchFamily="18" charset="0"/>
                <a:ea typeface="宋体" panose="02010600030101010101" pitchFamily="2" charset="-122"/>
              </a:rPr>
              <a:t>）任一</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阶双随机矩阵均可写成至多</a:t>
            </a:r>
            <a:endParaRPr lang="zh-CN" altLang="en-US" sz="2000" b="1">
              <a:latin typeface="Times New Roman" panose="02020603050405020304" pitchFamily="18" charset="0"/>
              <a:ea typeface="宋体" panose="02010600030101010101" pitchFamily="2" charset="-122"/>
            </a:endParaRPr>
          </a:p>
          <a:p>
            <a:r>
              <a:rPr lang="zh-CN" altLang="en-US" sz="2000" b="1">
                <a:latin typeface="Times New Roman" panose="02020603050405020304" pitchFamily="18" charset="0"/>
                <a:ea typeface="宋体" panose="02010600030101010101" pitchFamily="2" charset="-122"/>
              </a:rPr>
              <a:t>                  （</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a:t>
            </a:r>
            <a:r>
              <a:rPr lang="en-US" altLang="zh-CN" sz="2000" b="1" baseline="30000">
                <a:latin typeface="Times New Roman" panose="02020603050405020304" pitchFamily="18" charset="0"/>
                <a:ea typeface="宋体" panose="02010600030101010101" pitchFamily="2" charset="-122"/>
              </a:rPr>
              <a:t>2</a:t>
            </a: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个置换矩阵的非线性组合。</a:t>
            </a:r>
            <a:endParaRPr lang="zh-CN" altLang="en-US" sz="2000" b="1">
              <a:latin typeface="Times New Roman" panose="02020603050405020304" pitchFamily="18" charset="0"/>
              <a:ea typeface="宋体" panose="02010600030101010101" pitchFamily="2" charset="-122"/>
            </a:endParaRPr>
          </a:p>
        </p:txBody>
      </p:sp>
      <p:sp>
        <p:nvSpPr>
          <p:cNvPr id="75779" name="Rectangle 4"/>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5"/>
          <p:cNvGrpSpPr/>
          <p:nvPr/>
        </p:nvGrpSpPr>
        <p:grpSpPr>
          <a:xfrm>
            <a:off x="900113" y="2590800"/>
            <a:ext cx="3175000" cy="434975"/>
            <a:chOff x="295" y="989"/>
            <a:chExt cx="2000" cy="274"/>
          </a:xfrm>
        </p:grpSpPr>
        <p:sp>
          <p:nvSpPr>
            <p:cNvPr id="75781" name="Text Box 6"/>
            <p:cNvSpPr txBox="1"/>
            <p:nvPr/>
          </p:nvSpPr>
          <p:spPr>
            <a:xfrm>
              <a:off x="408" y="1013"/>
              <a:ext cx="1887"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的分解方法可如下进行：</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5782" name="Object 7"/>
            <p:cNvGraphicFramePr>
              <a:graphicFrameLocks noChangeAspect="1"/>
            </p:cNvGraphicFramePr>
            <p:nvPr/>
          </p:nvGraphicFramePr>
          <p:xfrm>
            <a:off x="295" y="989"/>
            <a:ext cx="179" cy="257"/>
          </p:xfrm>
          <a:graphic>
            <a:graphicData uri="http://schemas.openxmlformats.org/presentationml/2006/ole">
              <mc:AlternateContent xmlns:mc="http://schemas.openxmlformats.org/markup-compatibility/2006">
                <mc:Choice xmlns:v="urn:schemas-microsoft-com:vml" Requires="v">
                  <p:oleObj spid="_x0000_s3105" name="" r:id="rId1" imgW="139700" imgH="203200" progId="Equation.DSMT4">
                    <p:embed/>
                  </p:oleObj>
                </mc:Choice>
                <mc:Fallback>
                  <p:oleObj name="" r:id="rId1" imgW="139700" imgH="203200" progId="Equation.DSMT4">
                    <p:embed/>
                    <p:pic>
                      <p:nvPicPr>
                        <p:cNvPr id="0" name="图片 3104"/>
                        <p:cNvPicPr/>
                        <p:nvPr/>
                      </p:nvPicPr>
                      <p:blipFill>
                        <a:blip r:embed="rId2"/>
                        <a:stretch>
                          <a:fillRect/>
                        </a:stretch>
                      </p:blipFill>
                      <p:spPr>
                        <a:xfrm>
                          <a:off x="295" y="989"/>
                          <a:ext cx="179" cy="257"/>
                        </a:xfrm>
                        <a:prstGeom prst="rect">
                          <a:avLst/>
                        </a:prstGeom>
                        <a:noFill/>
                        <a:ln w="38100">
                          <a:noFill/>
                          <a:miter/>
                        </a:ln>
                      </p:spPr>
                    </p:pic>
                  </p:oleObj>
                </mc:Fallback>
              </mc:AlternateContent>
            </a:graphicData>
          </a:graphic>
        </p:graphicFrame>
      </p:grpSp>
      <p:sp>
        <p:nvSpPr>
          <p:cNvPr id="75783" name="Rectangle 8"/>
          <p:cNvSpPr/>
          <p:nvPr/>
        </p:nvSpPr>
        <p:spPr>
          <a:xfrm>
            <a:off x="0" y="33004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3" name="Group 9"/>
          <p:cNvGrpSpPr/>
          <p:nvPr/>
        </p:nvGrpSpPr>
        <p:grpSpPr>
          <a:xfrm>
            <a:off x="827088" y="3022600"/>
            <a:ext cx="4832350" cy="473075"/>
            <a:chOff x="191" y="1298"/>
            <a:chExt cx="3044" cy="298"/>
          </a:xfrm>
        </p:grpSpPr>
        <p:sp>
          <p:nvSpPr>
            <p:cNvPr id="75785" name="Text Box 10"/>
            <p:cNvSpPr txBox="1"/>
            <p:nvPr/>
          </p:nvSpPr>
          <p:spPr>
            <a:xfrm>
              <a:off x="191" y="1342"/>
              <a:ext cx="3044"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步</a:t>
              </a:r>
              <a:r>
                <a:rPr lang="en-US" altLang="zh-CN" sz="2000" b="1">
                  <a:solidFill>
                    <a:srgbClr val="000000"/>
                  </a:solidFill>
                  <a:latin typeface="Times New Roman" panose="02020603050405020304" pitchFamily="18" charset="0"/>
                  <a:ea typeface="宋体" panose="02010600030101010101" pitchFamily="2" charset="-122"/>
                </a:rPr>
                <a:t>1  </a:t>
              </a:r>
              <a:r>
                <a:rPr lang="zh-CN" altLang="en-US" sz="2000" b="1">
                  <a:solidFill>
                    <a:srgbClr val="000000"/>
                  </a:solidFill>
                  <a:latin typeface="Times New Roman" panose="02020603050405020304" pitchFamily="18" charset="0"/>
                  <a:ea typeface="宋体" panose="02010600030101010101" pitchFamily="2" charset="-122"/>
                </a:rPr>
                <a:t>选取由</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ij</a:t>
              </a:r>
              <a:r>
                <a:rPr lang="en-US" altLang="zh-CN" sz="2000" b="1">
                  <a:solidFill>
                    <a:srgbClr val="000000"/>
                  </a:solidFill>
                  <a:latin typeface="Times New Roman" panose="02020603050405020304" pitchFamily="18" charset="0"/>
                  <a:ea typeface="宋体" panose="02010600030101010101" pitchFamily="2" charset="-122"/>
                </a:rPr>
                <a:t>&gt;0</a:t>
              </a:r>
              <a:r>
                <a:rPr lang="zh-CN" altLang="en-US" sz="2000" b="1">
                  <a:solidFill>
                    <a:srgbClr val="000000"/>
                  </a:solidFill>
                  <a:latin typeface="Times New Roman" panose="02020603050405020304" pitchFamily="18" charset="0"/>
                  <a:ea typeface="宋体" panose="02010600030101010101" pitchFamily="2" charset="-122"/>
                </a:rPr>
                <a:t>可推出      </a:t>
              </a:r>
              <a:r>
                <a:rPr lang="en-US" altLang="zh-CN" sz="2000" b="1">
                  <a:solidFill>
                    <a:srgbClr val="000000"/>
                  </a:solidFill>
                  <a:latin typeface="Times New Roman" panose="02020603050405020304" pitchFamily="18" charset="0"/>
                  <a:ea typeface="宋体" panose="02010600030101010101" pitchFamily="2" charset="-122"/>
                </a:rPr>
                <a:t>&gt;0</a:t>
              </a:r>
              <a:r>
                <a:rPr lang="zh-CN" altLang="en-US" sz="2000" b="1">
                  <a:solidFill>
                    <a:srgbClr val="000000"/>
                  </a:solidFill>
                  <a:latin typeface="Times New Roman" panose="02020603050405020304" pitchFamily="18" charset="0"/>
                  <a:ea typeface="宋体" panose="02010600030101010101" pitchFamily="2" charset="-122"/>
                </a:rPr>
                <a:t>的置换矩阵</a:t>
              </a:r>
              <a:r>
                <a:rPr lang="en-US" altLang="zh-CN" sz="2000" b="1" i="1">
                  <a:solidFill>
                    <a:srgbClr val="000000"/>
                  </a:solidFill>
                  <a:latin typeface="Times New Roman" panose="02020603050405020304" pitchFamily="18" charset="0"/>
                  <a:ea typeface="宋体" panose="02010600030101010101" pitchFamily="2" charset="-122"/>
                </a:rPr>
                <a:t>P</a:t>
              </a:r>
              <a:endParaRPr lang="en-US" altLang="zh-CN" sz="2000" b="1" i="1">
                <a:solidFill>
                  <a:srgbClr val="000000"/>
                </a:solidFill>
                <a:latin typeface="Times New Roman" panose="02020603050405020304" pitchFamily="18" charset="0"/>
                <a:ea typeface="宋体" panose="02010600030101010101" pitchFamily="2" charset="-122"/>
              </a:endParaRPr>
            </a:p>
          </p:txBody>
        </p:sp>
        <p:graphicFrame>
          <p:nvGraphicFramePr>
            <p:cNvPr id="75786" name="Object 11"/>
            <p:cNvGraphicFramePr>
              <a:graphicFrameLocks noChangeAspect="1"/>
            </p:cNvGraphicFramePr>
            <p:nvPr/>
          </p:nvGraphicFramePr>
          <p:xfrm>
            <a:off x="1887" y="1298"/>
            <a:ext cx="177" cy="298"/>
          </p:xfrm>
          <a:graphic>
            <a:graphicData uri="http://schemas.openxmlformats.org/presentationml/2006/ole">
              <mc:AlternateContent xmlns:mc="http://schemas.openxmlformats.org/markup-compatibility/2006">
                <mc:Choice xmlns:v="urn:schemas-microsoft-com:vml" Requires="v">
                  <p:oleObj spid="_x0000_s3101" name="" r:id="rId3" imgW="152400" imgH="254000" progId="Equation.DSMT4">
                    <p:embed/>
                  </p:oleObj>
                </mc:Choice>
                <mc:Fallback>
                  <p:oleObj name="" r:id="rId3" imgW="152400" imgH="254000" progId="Equation.DSMT4">
                    <p:embed/>
                    <p:pic>
                      <p:nvPicPr>
                        <p:cNvPr id="0" name="图片 3100"/>
                        <p:cNvPicPr/>
                        <p:nvPr/>
                      </p:nvPicPr>
                      <p:blipFill>
                        <a:blip r:embed="rId4"/>
                        <a:stretch>
                          <a:fillRect/>
                        </a:stretch>
                      </p:blipFill>
                      <p:spPr>
                        <a:xfrm>
                          <a:off x="1887" y="1298"/>
                          <a:ext cx="177" cy="298"/>
                        </a:xfrm>
                        <a:prstGeom prst="rect">
                          <a:avLst/>
                        </a:prstGeom>
                        <a:noFill/>
                        <a:ln w="38100">
                          <a:noFill/>
                          <a:miter/>
                        </a:ln>
                      </p:spPr>
                    </p:pic>
                  </p:oleObj>
                </mc:Fallback>
              </mc:AlternateContent>
            </a:graphicData>
          </a:graphic>
        </p:graphicFrame>
      </p:grpSp>
      <p:sp>
        <p:nvSpPr>
          <p:cNvPr id="75787" name="Rectangle 12"/>
          <p:cNvSpPr/>
          <p:nvPr/>
        </p:nvSpPr>
        <p:spPr>
          <a:xfrm>
            <a:off x="0" y="32623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4" name="Group 13"/>
          <p:cNvGrpSpPr/>
          <p:nvPr/>
        </p:nvGrpSpPr>
        <p:grpSpPr>
          <a:xfrm>
            <a:off x="827088" y="3382963"/>
            <a:ext cx="3313112" cy="576262"/>
            <a:chOff x="158" y="1434"/>
            <a:chExt cx="2087" cy="363"/>
          </a:xfrm>
        </p:grpSpPr>
        <p:sp>
          <p:nvSpPr>
            <p:cNvPr id="75789" name="Text Box 14"/>
            <p:cNvSpPr txBox="1"/>
            <p:nvPr/>
          </p:nvSpPr>
          <p:spPr>
            <a:xfrm>
              <a:off x="158" y="1502"/>
              <a:ext cx="799"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步</a:t>
              </a:r>
              <a:r>
                <a:rPr lang="en-US" altLang="zh-CN" sz="2000" b="1">
                  <a:solidFill>
                    <a:srgbClr val="000000"/>
                  </a:solidFill>
                  <a:latin typeface="Times New Roman" panose="02020603050405020304" pitchFamily="18" charset="0"/>
                  <a:ea typeface="宋体" panose="02010600030101010101" pitchFamily="2" charset="-122"/>
                </a:rPr>
                <a:t>2  </a:t>
              </a:r>
              <a:r>
                <a:rPr lang="zh-CN" altLang="en-US" sz="2000" b="1">
                  <a:solidFill>
                    <a:srgbClr val="000000"/>
                  </a:solidFill>
                  <a:latin typeface="Times New Roman" panose="02020603050405020304" pitchFamily="18" charset="0"/>
                  <a:ea typeface="宋体" panose="02010600030101010101" pitchFamily="2" charset="-122"/>
                </a:rPr>
                <a:t>确定</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graphicFrame>
          <p:nvGraphicFramePr>
            <p:cNvPr id="75790" name="Object 15"/>
            <p:cNvGraphicFramePr>
              <a:graphicFrameLocks noChangeAspect="1"/>
            </p:cNvGraphicFramePr>
            <p:nvPr/>
          </p:nvGraphicFramePr>
          <p:xfrm>
            <a:off x="884" y="1434"/>
            <a:ext cx="1361" cy="363"/>
          </p:xfrm>
          <a:graphic>
            <a:graphicData uri="http://schemas.openxmlformats.org/presentationml/2006/ole">
              <mc:AlternateContent xmlns:mc="http://schemas.openxmlformats.org/markup-compatibility/2006">
                <mc:Choice xmlns:v="urn:schemas-microsoft-com:vml" Requires="v">
                  <p:oleObj spid="_x0000_s3107" name="" r:id="rId5" imgW="1244600" imgH="330200" progId="Equation.DSMT4">
                    <p:embed/>
                  </p:oleObj>
                </mc:Choice>
                <mc:Fallback>
                  <p:oleObj name="" r:id="rId5" imgW="1244600" imgH="330200" progId="Equation.DSMT4">
                    <p:embed/>
                    <p:pic>
                      <p:nvPicPr>
                        <p:cNvPr id="0" name="图片 3106"/>
                        <p:cNvPicPr/>
                        <p:nvPr/>
                      </p:nvPicPr>
                      <p:blipFill>
                        <a:blip r:embed="rId6"/>
                        <a:stretch>
                          <a:fillRect/>
                        </a:stretch>
                      </p:blipFill>
                      <p:spPr>
                        <a:xfrm>
                          <a:off x="884" y="1434"/>
                          <a:ext cx="1361" cy="363"/>
                        </a:xfrm>
                        <a:prstGeom prst="rect">
                          <a:avLst/>
                        </a:prstGeom>
                        <a:noFill/>
                        <a:ln w="38100">
                          <a:noFill/>
                          <a:miter/>
                        </a:ln>
                      </p:spPr>
                    </p:pic>
                  </p:oleObj>
                </mc:Fallback>
              </mc:AlternateContent>
            </a:graphicData>
          </a:graphic>
        </p:graphicFrame>
      </p:grpSp>
      <p:sp>
        <p:nvSpPr>
          <p:cNvPr id="75791" name="Rectangle 16"/>
          <p:cNvSpPr/>
          <p:nvPr/>
        </p:nvSpPr>
        <p:spPr>
          <a:xfrm>
            <a:off x="0" y="33385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5792" name="Rectangle 17"/>
          <p:cNvSpPr/>
          <p:nvPr/>
        </p:nvSpPr>
        <p:spPr>
          <a:xfrm>
            <a:off x="468313" y="37893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5793" name="Rectangle 18"/>
          <p:cNvSpPr/>
          <p:nvPr/>
        </p:nvSpPr>
        <p:spPr>
          <a:xfrm>
            <a:off x="0" y="33385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6" name="Group 19"/>
          <p:cNvGrpSpPr/>
          <p:nvPr/>
        </p:nvGrpSpPr>
        <p:grpSpPr>
          <a:xfrm>
            <a:off x="827088" y="3959225"/>
            <a:ext cx="3567112" cy="396875"/>
            <a:chOff x="191" y="1796"/>
            <a:chExt cx="2247" cy="305"/>
          </a:xfrm>
        </p:grpSpPr>
        <p:sp>
          <p:nvSpPr>
            <p:cNvPr id="75795" name="Text Box 20"/>
            <p:cNvSpPr txBox="1"/>
            <p:nvPr/>
          </p:nvSpPr>
          <p:spPr>
            <a:xfrm>
              <a:off x="191" y="1796"/>
              <a:ext cx="2123" cy="305"/>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步</a:t>
              </a:r>
              <a:r>
                <a:rPr lang="en-US" altLang="zh-CN" sz="2000" b="1">
                  <a:solidFill>
                    <a:srgbClr val="000000"/>
                  </a:solidFill>
                  <a:latin typeface="Times New Roman" panose="02020603050405020304" pitchFamily="18" charset="0"/>
                  <a:ea typeface="宋体" panose="02010600030101010101" pitchFamily="2" charset="-122"/>
                </a:rPr>
                <a:t>3  </a:t>
              </a:r>
              <a:r>
                <a:rPr lang="zh-CN" altLang="en-US" sz="2000" b="1">
                  <a:solidFill>
                    <a:srgbClr val="000000"/>
                  </a:solidFill>
                  <a:latin typeface="Times New Roman" panose="02020603050405020304" pitchFamily="18" charset="0"/>
                  <a:ea typeface="宋体" panose="02010600030101010101" pitchFamily="2" charset="-122"/>
                </a:rPr>
                <a:t>取       ，用     －      代替</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5796" name="Object 21"/>
            <p:cNvGraphicFramePr>
              <a:graphicFrameLocks noChangeAspect="1"/>
            </p:cNvGraphicFramePr>
            <p:nvPr/>
          </p:nvGraphicFramePr>
          <p:xfrm>
            <a:off x="748" y="1842"/>
            <a:ext cx="227" cy="173"/>
          </p:xfrm>
          <a:graphic>
            <a:graphicData uri="http://schemas.openxmlformats.org/presentationml/2006/ole">
              <mc:AlternateContent xmlns:mc="http://schemas.openxmlformats.org/markup-compatibility/2006">
                <mc:Choice xmlns:v="urn:schemas-microsoft-com:vml" Requires="v">
                  <p:oleObj spid="_x0000_s3099" name="" r:id="rId7" imgW="241300" imgH="177800" progId="Equation.DSMT4">
                    <p:embed/>
                  </p:oleObj>
                </mc:Choice>
                <mc:Fallback>
                  <p:oleObj name="" r:id="rId7" imgW="241300" imgH="177800" progId="Equation.DSMT4">
                    <p:embed/>
                    <p:pic>
                      <p:nvPicPr>
                        <p:cNvPr id="0" name="图片 3098"/>
                        <p:cNvPicPr/>
                        <p:nvPr/>
                      </p:nvPicPr>
                      <p:blipFill>
                        <a:blip r:embed="rId8"/>
                        <a:stretch>
                          <a:fillRect/>
                        </a:stretch>
                      </p:blipFill>
                      <p:spPr>
                        <a:xfrm>
                          <a:off x="748" y="1842"/>
                          <a:ext cx="227" cy="173"/>
                        </a:xfrm>
                        <a:prstGeom prst="rect">
                          <a:avLst/>
                        </a:prstGeom>
                        <a:noFill/>
                        <a:ln w="38100">
                          <a:noFill/>
                          <a:miter/>
                        </a:ln>
                      </p:spPr>
                    </p:pic>
                  </p:oleObj>
                </mc:Fallback>
              </mc:AlternateContent>
            </a:graphicData>
          </a:graphic>
        </p:graphicFrame>
        <p:graphicFrame>
          <p:nvGraphicFramePr>
            <p:cNvPr id="75797" name="Object 22"/>
            <p:cNvGraphicFramePr>
              <a:graphicFrameLocks noChangeAspect="1"/>
            </p:cNvGraphicFramePr>
            <p:nvPr/>
          </p:nvGraphicFramePr>
          <p:xfrm>
            <a:off x="1383" y="1803"/>
            <a:ext cx="148" cy="214"/>
          </p:xfrm>
          <a:graphic>
            <a:graphicData uri="http://schemas.openxmlformats.org/presentationml/2006/ole">
              <mc:AlternateContent xmlns:mc="http://schemas.openxmlformats.org/markup-compatibility/2006">
                <mc:Choice xmlns:v="urn:schemas-microsoft-com:vml" Requires="v">
                  <p:oleObj spid="_x0000_s3102" name="" r:id="rId9" imgW="139700" imgH="203200" progId="Equation.DSMT4">
                    <p:embed/>
                  </p:oleObj>
                </mc:Choice>
                <mc:Fallback>
                  <p:oleObj name="" r:id="rId9" imgW="139700" imgH="203200" progId="Equation.DSMT4">
                    <p:embed/>
                    <p:pic>
                      <p:nvPicPr>
                        <p:cNvPr id="0" name="图片 3101"/>
                        <p:cNvPicPr/>
                        <p:nvPr/>
                      </p:nvPicPr>
                      <p:blipFill>
                        <a:blip r:embed="rId10"/>
                        <a:stretch>
                          <a:fillRect/>
                        </a:stretch>
                      </p:blipFill>
                      <p:spPr>
                        <a:xfrm>
                          <a:off x="1383" y="1803"/>
                          <a:ext cx="148" cy="214"/>
                        </a:xfrm>
                        <a:prstGeom prst="rect">
                          <a:avLst/>
                        </a:prstGeom>
                        <a:noFill/>
                        <a:ln w="38100">
                          <a:noFill/>
                          <a:miter/>
                        </a:ln>
                      </p:spPr>
                    </p:pic>
                  </p:oleObj>
                </mc:Fallback>
              </mc:AlternateContent>
            </a:graphicData>
          </a:graphic>
        </p:graphicFrame>
        <p:graphicFrame>
          <p:nvGraphicFramePr>
            <p:cNvPr id="75798" name="Object 23"/>
            <p:cNvGraphicFramePr>
              <a:graphicFrameLocks noChangeAspect="1"/>
            </p:cNvGraphicFramePr>
            <p:nvPr/>
          </p:nvGraphicFramePr>
          <p:xfrm>
            <a:off x="1655" y="1851"/>
            <a:ext cx="227" cy="173"/>
          </p:xfrm>
          <a:graphic>
            <a:graphicData uri="http://schemas.openxmlformats.org/presentationml/2006/ole">
              <mc:AlternateContent xmlns:mc="http://schemas.openxmlformats.org/markup-compatibility/2006">
                <mc:Choice xmlns:v="urn:schemas-microsoft-com:vml" Requires="v">
                  <p:oleObj spid="_x0000_s3098" name="" r:id="rId11" imgW="241300" imgH="177800" progId="Equation.DSMT4">
                    <p:embed/>
                  </p:oleObj>
                </mc:Choice>
                <mc:Fallback>
                  <p:oleObj name="" r:id="rId11" imgW="241300" imgH="177800" progId="Equation.DSMT4">
                    <p:embed/>
                    <p:pic>
                      <p:nvPicPr>
                        <p:cNvPr id="0" name="图片 3097"/>
                        <p:cNvPicPr/>
                        <p:nvPr/>
                      </p:nvPicPr>
                      <p:blipFill>
                        <a:blip r:embed="rId8"/>
                        <a:stretch>
                          <a:fillRect/>
                        </a:stretch>
                      </p:blipFill>
                      <p:spPr>
                        <a:xfrm>
                          <a:off x="1655" y="1851"/>
                          <a:ext cx="227" cy="173"/>
                        </a:xfrm>
                        <a:prstGeom prst="rect">
                          <a:avLst/>
                        </a:prstGeom>
                        <a:noFill/>
                        <a:ln w="38100">
                          <a:noFill/>
                          <a:miter/>
                        </a:ln>
                      </p:spPr>
                    </p:pic>
                  </p:oleObj>
                </mc:Fallback>
              </mc:AlternateContent>
            </a:graphicData>
          </a:graphic>
        </p:graphicFrame>
        <p:graphicFrame>
          <p:nvGraphicFramePr>
            <p:cNvPr id="75799" name="Object 24"/>
            <p:cNvGraphicFramePr>
              <a:graphicFrameLocks noChangeAspect="1"/>
            </p:cNvGraphicFramePr>
            <p:nvPr/>
          </p:nvGraphicFramePr>
          <p:xfrm>
            <a:off x="2290" y="1803"/>
            <a:ext cx="148" cy="214"/>
          </p:xfrm>
          <a:graphic>
            <a:graphicData uri="http://schemas.openxmlformats.org/presentationml/2006/ole">
              <mc:AlternateContent xmlns:mc="http://schemas.openxmlformats.org/markup-compatibility/2006">
                <mc:Choice xmlns:v="urn:schemas-microsoft-com:vml" Requires="v">
                  <p:oleObj spid="_x0000_s3100" name="" r:id="rId12" imgW="139700" imgH="203200" progId="Equation.DSMT4">
                    <p:embed/>
                  </p:oleObj>
                </mc:Choice>
                <mc:Fallback>
                  <p:oleObj name="" r:id="rId12" imgW="139700" imgH="203200" progId="Equation.DSMT4">
                    <p:embed/>
                    <p:pic>
                      <p:nvPicPr>
                        <p:cNvPr id="0" name="图片 3099"/>
                        <p:cNvPicPr/>
                        <p:nvPr/>
                      </p:nvPicPr>
                      <p:blipFill>
                        <a:blip r:embed="rId13"/>
                        <a:stretch>
                          <a:fillRect/>
                        </a:stretch>
                      </p:blipFill>
                      <p:spPr>
                        <a:xfrm>
                          <a:off x="2290" y="1803"/>
                          <a:ext cx="148" cy="214"/>
                        </a:xfrm>
                        <a:prstGeom prst="rect">
                          <a:avLst/>
                        </a:prstGeom>
                        <a:noFill/>
                        <a:ln w="38100">
                          <a:noFill/>
                          <a:miter/>
                        </a:ln>
                      </p:spPr>
                    </p:pic>
                  </p:oleObj>
                </mc:Fallback>
              </mc:AlternateContent>
            </a:graphicData>
          </a:graphic>
        </p:graphicFrame>
      </p:grpSp>
      <p:sp>
        <p:nvSpPr>
          <p:cNvPr id="75800" name="Rectangle 25"/>
          <p:cNvSpPr/>
          <p:nvPr/>
        </p:nvSpPr>
        <p:spPr>
          <a:xfrm>
            <a:off x="-323850" y="3573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75801" name="Group 26"/>
          <p:cNvGrpSpPr/>
          <p:nvPr/>
        </p:nvGrpSpPr>
        <p:grpSpPr>
          <a:xfrm>
            <a:off x="827088" y="4319588"/>
            <a:ext cx="4811712" cy="396875"/>
            <a:chOff x="149" y="2024"/>
            <a:chExt cx="2647" cy="250"/>
          </a:xfrm>
        </p:grpSpPr>
        <p:sp>
          <p:nvSpPr>
            <p:cNvPr id="75802" name="Text Box 27"/>
            <p:cNvSpPr txBox="1"/>
            <p:nvPr/>
          </p:nvSpPr>
          <p:spPr>
            <a:xfrm>
              <a:off x="149" y="2024"/>
              <a:ext cx="2647" cy="250"/>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步</a:t>
              </a:r>
              <a:r>
                <a:rPr lang="en-US" altLang="zh-CN" sz="2000" b="1">
                  <a:solidFill>
                    <a:srgbClr val="000000"/>
                  </a:solidFill>
                  <a:latin typeface="Times New Roman" panose="02020603050405020304" pitchFamily="18" charset="0"/>
                  <a:ea typeface="宋体" panose="02010600030101010101" pitchFamily="2" charset="-122"/>
                </a:rPr>
                <a:t>4  </a:t>
              </a:r>
              <a:r>
                <a:rPr lang="zh-CN" altLang="en-US" sz="2000" b="1">
                  <a:solidFill>
                    <a:srgbClr val="000000"/>
                  </a:solidFill>
                  <a:latin typeface="Times New Roman" panose="02020603050405020304" pitchFamily="18" charset="0"/>
                  <a:ea typeface="宋体" panose="02010600030101010101" pitchFamily="2" charset="-122"/>
                </a:rPr>
                <a:t>若     </a:t>
              </a:r>
              <a:r>
                <a:rPr lang="en-US" altLang="zh-CN" sz="2000" b="1">
                  <a:solidFill>
                    <a:srgbClr val="000000"/>
                  </a:solidFill>
                  <a:latin typeface="Times New Roman" panose="02020603050405020304" pitchFamily="18" charset="0"/>
                  <a:ea typeface="宋体" panose="02010600030101010101" pitchFamily="2" charset="-122"/>
                </a:rPr>
                <a:t>=0</a:t>
              </a:r>
              <a:r>
                <a:rPr lang="zh-CN" altLang="en-US" sz="2000" b="1">
                  <a:solidFill>
                    <a:srgbClr val="000000"/>
                  </a:solidFill>
                  <a:latin typeface="Times New Roman" panose="02020603050405020304" pitchFamily="18" charset="0"/>
                  <a:ea typeface="宋体" panose="02010600030101010101" pitchFamily="2" charset="-122"/>
                </a:rPr>
                <a:t>，停；否则，返回步</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75803" name="Object 28"/>
            <p:cNvGraphicFramePr>
              <a:graphicFrameLocks noChangeAspect="1"/>
            </p:cNvGraphicFramePr>
            <p:nvPr/>
          </p:nvGraphicFramePr>
          <p:xfrm>
            <a:off x="748" y="2030"/>
            <a:ext cx="148" cy="214"/>
          </p:xfrm>
          <a:graphic>
            <a:graphicData uri="http://schemas.openxmlformats.org/presentationml/2006/ole">
              <mc:AlternateContent xmlns:mc="http://schemas.openxmlformats.org/markup-compatibility/2006">
                <mc:Choice xmlns:v="urn:schemas-microsoft-com:vml" Requires="v">
                  <p:oleObj spid="_x0000_s3103" name="" r:id="rId14" imgW="139700" imgH="203200" progId="Equation.DSMT4">
                    <p:embed/>
                  </p:oleObj>
                </mc:Choice>
                <mc:Fallback>
                  <p:oleObj name="" r:id="rId14" imgW="139700" imgH="203200" progId="Equation.DSMT4">
                    <p:embed/>
                    <p:pic>
                      <p:nvPicPr>
                        <p:cNvPr id="0" name="图片 3102"/>
                        <p:cNvPicPr/>
                        <p:nvPr/>
                      </p:nvPicPr>
                      <p:blipFill>
                        <a:blip r:embed="rId15"/>
                        <a:stretch>
                          <a:fillRect/>
                        </a:stretch>
                      </p:blipFill>
                      <p:spPr>
                        <a:xfrm>
                          <a:off x="748" y="2030"/>
                          <a:ext cx="148" cy="214"/>
                        </a:xfrm>
                        <a:prstGeom prst="rect">
                          <a:avLst/>
                        </a:prstGeom>
                        <a:noFill/>
                        <a:ln w="38100">
                          <a:noFill/>
                          <a:miter/>
                        </a:ln>
                      </p:spPr>
                    </p:pic>
                  </p:oleObj>
                </mc:Fallback>
              </mc:AlternateContent>
            </a:graphicData>
          </a:graphic>
        </p:graphicFrame>
      </p:grpSp>
      <p:sp>
        <p:nvSpPr>
          <p:cNvPr id="191517" name="Rectangle 29"/>
          <p:cNvSpPr/>
          <p:nvPr/>
        </p:nvSpPr>
        <p:spPr>
          <a:xfrm>
            <a:off x="468313" y="4784725"/>
            <a:ext cx="8929687" cy="701675"/>
          </a:xfrm>
          <a:prstGeom prst="rect">
            <a:avLst/>
          </a:prstGeom>
          <a:noFill/>
          <a:ln w="9525">
            <a:noFill/>
          </a:ln>
        </p:spPr>
        <p:txBody>
          <a:bodyPr anchor="ctr">
            <a:spAutoFit/>
          </a:bodyPr>
          <a:p>
            <a:r>
              <a:rPr lang="zh-CN" altLang="en-US" sz="2000" b="1">
                <a:solidFill>
                  <a:srgbClr val="009900"/>
                </a:solidFill>
                <a:latin typeface="宋体" panose="02010600030101010101" pitchFamily="2" charset="-122"/>
                <a:ea typeface="宋体" panose="02010600030101010101" pitchFamily="2" charset="-122"/>
              </a:rPr>
              <a:t>例</a:t>
            </a:r>
            <a:r>
              <a:rPr lang="en-US" altLang="zh-CN" sz="2000" b="1">
                <a:solidFill>
                  <a:srgbClr val="009900"/>
                </a:solidFill>
                <a:latin typeface="宋体" panose="02010600030101010101" pitchFamily="2" charset="-122"/>
                <a:ea typeface="宋体" panose="02010600030101010101" pitchFamily="2" charset="-122"/>
              </a:rPr>
              <a:t>2. </a:t>
            </a:r>
            <a:r>
              <a:rPr lang="en-US" altLang="zh-CN" sz="2000" b="1">
                <a:latin typeface="Times New Roman" panose="02020603050405020304" pitchFamily="18" charset="0"/>
                <a:ea typeface="宋体" panose="02010600030101010101" pitchFamily="2" charset="-122"/>
              </a:rPr>
              <a:t> </a:t>
            </a:r>
            <a:r>
              <a:rPr lang="zh-CN" altLang="en-US" sz="2000" b="1">
                <a:latin typeface="Times New Roman" panose="02020603050405020304" pitchFamily="18" charset="0"/>
                <a:ea typeface="宋体" panose="02010600030101010101" pitchFamily="2" charset="-122"/>
              </a:rPr>
              <a:t>为方便起见，我们来分解一个元素均为非负整数的</a:t>
            </a:r>
            <a:r>
              <a:rPr lang="en-US" altLang="zh-CN" sz="2000" b="1">
                <a:latin typeface="Times New Roman" panose="02020603050405020304" pitchFamily="18" charset="0"/>
                <a:ea typeface="宋体" panose="02010600030101010101" pitchFamily="2" charset="-122"/>
              </a:rPr>
              <a:t>3</a:t>
            </a:r>
            <a:r>
              <a:rPr lang="zh-CN" altLang="en-US" sz="2000" b="1">
                <a:latin typeface="Times New Roman" panose="02020603050405020304" pitchFamily="18" charset="0"/>
                <a:ea typeface="宋体" panose="02010600030101010101" pitchFamily="2" charset="-122"/>
              </a:rPr>
              <a:t>阶双随机矩阵，</a:t>
            </a:r>
            <a:endParaRPr lang="zh-CN" altLang="en-US" sz="2000" b="1">
              <a:latin typeface="Times New Roman" panose="02020603050405020304" pitchFamily="18" charset="0"/>
              <a:ea typeface="宋体" panose="02010600030101010101" pitchFamily="2" charset="-122"/>
            </a:endParaRPr>
          </a:p>
          <a:p>
            <a:r>
              <a:rPr lang="zh-CN" altLang="en-US" sz="2000" b="1">
                <a:latin typeface="Times New Roman" panose="02020603050405020304" pitchFamily="18" charset="0"/>
                <a:ea typeface="宋体" panose="02010600030101010101" pitchFamily="2" charset="-122"/>
              </a:rPr>
              <a:t>（由</a:t>
            </a:r>
            <a:r>
              <a:rPr lang="en-US" altLang="zh-CN" sz="2000" b="1">
                <a:latin typeface="Times New Roman" panose="02020603050405020304" pitchFamily="18" charset="0"/>
                <a:ea typeface="宋体" panose="02010600030101010101" pitchFamily="2" charset="-122"/>
              </a:rPr>
              <a:t>Birkhoff</a:t>
            </a:r>
            <a:r>
              <a:rPr lang="zh-CN" altLang="en-US" sz="2000" b="1">
                <a:latin typeface="Times New Roman" panose="02020603050405020304" pitchFamily="18" charset="0"/>
                <a:ea typeface="宋体" panose="02010600030101010101" pitchFamily="2" charset="-122"/>
              </a:rPr>
              <a:t>定理，</a:t>
            </a:r>
            <a:r>
              <a:rPr lang="en-US" altLang="zh-CN" sz="2000" b="1" i="1">
                <a:latin typeface="Times New Roman" panose="02020603050405020304" pitchFamily="18" charset="0"/>
                <a:ea typeface="宋体" panose="02010600030101010101" pitchFamily="2" charset="-122"/>
              </a:rPr>
              <a:t>r</a:t>
            </a:r>
            <a:r>
              <a:rPr lang="en-US" altLang="zh-CN" sz="2000" b="1">
                <a:latin typeface="Times New Roman" panose="02020603050405020304" pitchFamily="18" charset="0"/>
                <a:ea typeface="宋体" panose="02010600030101010101" pitchFamily="2" charset="-122"/>
              </a:rPr>
              <a:t>≤5</a:t>
            </a:r>
            <a:r>
              <a:rPr lang="zh-CN" altLang="en-US" sz="2000" b="1">
                <a:latin typeface="Times New Roman" panose="02020603050405020304" pitchFamily="18" charset="0"/>
                <a:ea typeface="宋体" panose="02010600030101010101" pitchFamily="2" charset="-122"/>
              </a:rPr>
              <a:t>）</a:t>
            </a:r>
            <a:endParaRPr lang="zh-CN" altLang="en-US" sz="2000" b="1">
              <a:latin typeface="Times New Roman" panose="02020603050405020304" pitchFamily="18" charset="0"/>
              <a:ea typeface="宋体" panose="02010600030101010101" pitchFamily="2" charset="-122"/>
            </a:endParaRPr>
          </a:p>
        </p:txBody>
      </p:sp>
      <p:sp>
        <p:nvSpPr>
          <p:cNvPr id="75805" name="Rectangle 30"/>
          <p:cNvSpPr/>
          <p:nvPr/>
        </p:nvSpPr>
        <p:spPr>
          <a:xfrm>
            <a:off x="0" y="31416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1519" name="Object 31"/>
          <p:cNvGraphicFramePr>
            <a:graphicFrameLocks noChangeAspect="1"/>
          </p:cNvGraphicFramePr>
          <p:nvPr/>
        </p:nvGraphicFramePr>
        <p:xfrm>
          <a:off x="1331913" y="5614988"/>
          <a:ext cx="1657350" cy="1243012"/>
        </p:xfrm>
        <a:graphic>
          <a:graphicData uri="http://schemas.openxmlformats.org/presentationml/2006/ole">
            <mc:AlternateContent xmlns:mc="http://schemas.openxmlformats.org/markup-compatibility/2006">
              <mc:Choice xmlns:v="urn:schemas-microsoft-com:vml" Requires="v">
                <p:oleObj spid="_x0000_s3104" name="" r:id="rId16" imgW="951865" imgH="711200" progId="Equation.DSMT4">
                  <p:embed/>
                </p:oleObj>
              </mc:Choice>
              <mc:Fallback>
                <p:oleObj name="" r:id="rId16" imgW="951865" imgH="711200" progId="Equation.DSMT4">
                  <p:embed/>
                  <p:pic>
                    <p:nvPicPr>
                      <p:cNvPr id="0" name="图片 3103"/>
                      <p:cNvPicPr/>
                      <p:nvPr/>
                    </p:nvPicPr>
                    <p:blipFill>
                      <a:blip r:embed="rId17"/>
                      <a:stretch>
                        <a:fillRect/>
                      </a:stretch>
                    </p:blipFill>
                    <p:spPr>
                      <a:xfrm>
                        <a:off x="1331913" y="5614988"/>
                        <a:ext cx="1657350" cy="1243012"/>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1490"/>
                                        </p:tgtEl>
                                        <p:attrNameLst>
                                          <p:attrName>style.visibility</p:attrName>
                                        </p:attrNameLst>
                                      </p:cBhvr>
                                      <p:to>
                                        <p:strVal val="visible"/>
                                      </p:to>
                                    </p:set>
                                    <p:anim calcmode="lin" valueType="num">
                                      <p:cBhvr>
                                        <p:cTn id="7" dur="500" fill="hold"/>
                                        <p:tgtEl>
                                          <p:spTgt spid="191490"/>
                                        </p:tgtEl>
                                        <p:attrNameLst>
                                          <p:attrName>ppt_x</p:attrName>
                                        </p:attrNameLst>
                                      </p:cBhvr>
                                      <p:tavLst>
                                        <p:tav tm="0">
                                          <p:val>
                                            <p:strVal val="0-#ppt_w/2"/>
                                          </p:val>
                                        </p:tav>
                                        <p:tav tm="100000">
                                          <p:val>
                                            <p:strVal val="#ppt_x"/>
                                          </p:val>
                                        </p:tav>
                                      </p:tavLst>
                                    </p:anim>
                                    <p:anim calcmode="lin" valueType="num">
                                      <p:cBhvr>
                                        <p:cTn id="8" dur="500" fill="hold"/>
                                        <p:tgtEl>
                                          <p:spTgt spid="1914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1491"/>
                                        </p:tgtEl>
                                        <p:attrNameLst>
                                          <p:attrName>style.visibility</p:attrName>
                                        </p:attrNameLst>
                                      </p:cBhvr>
                                      <p:to>
                                        <p:strVal val="visible"/>
                                      </p:to>
                                    </p:set>
                                    <p:anim calcmode="lin" valueType="num">
                                      <p:cBhvr>
                                        <p:cTn id="13" dur="500" fill="hold"/>
                                        <p:tgtEl>
                                          <p:spTgt spid="191491"/>
                                        </p:tgtEl>
                                        <p:attrNameLst>
                                          <p:attrName>ppt_x</p:attrName>
                                        </p:attrNameLst>
                                      </p:cBhvr>
                                      <p:tavLst>
                                        <p:tav tm="0">
                                          <p:val>
                                            <p:strVal val="0-#ppt_w/2"/>
                                          </p:val>
                                        </p:tav>
                                        <p:tav tm="100000">
                                          <p:val>
                                            <p:strVal val="#ppt_x"/>
                                          </p:val>
                                        </p:tav>
                                      </p:tavLst>
                                    </p:anim>
                                    <p:anim calcmode="lin" valueType="num">
                                      <p:cBhvr>
                                        <p:cTn id="14" dur="500" fill="hold"/>
                                        <p:tgtEl>
                                          <p:spTgt spid="19149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0-#ppt_w/2"/>
                                          </p:val>
                                        </p:tav>
                                        <p:tav tm="100000">
                                          <p:val>
                                            <p:strVal val="#ppt_x"/>
                                          </p:val>
                                        </p:tav>
                                      </p:tavLst>
                                    </p:anim>
                                    <p:anim calcmode="lin" valueType="num">
                                      <p:cBhvr>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ppt_x</p:attrName>
                                        </p:attrNameLst>
                                      </p:cBhvr>
                                      <p:tavLst>
                                        <p:tav tm="0">
                                          <p:val>
                                            <p:strVal val="0-#ppt_w/2"/>
                                          </p:val>
                                        </p:tav>
                                        <p:tav tm="100000">
                                          <p:val>
                                            <p:strVal val="#ppt_x"/>
                                          </p:val>
                                        </p:tav>
                                      </p:tavLst>
                                    </p:anim>
                                    <p:anim calcmode="lin" valueType="num">
                                      <p:cBhvr>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500" fill="hold"/>
                                        <p:tgtEl>
                                          <p:spTgt spid="4"/>
                                        </p:tgtEl>
                                        <p:attrNameLst>
                                          <p:attrName>ppt_x</p:attrName>
                                        </p:attrNameLst>
                                      </p:cBhvr>
                                      <p:tavLst>
                                        <p:tav tm="0">
                                          <p:val>
                                            <p:strVal val="0-#ppt_w/2"/>
                                          </p:val>
                                        </p:tav>
                                        <p:tav tm="100000">
                                          <p:val>
                                            <p:strVal val="#ppt_x"/>
                                          </p:val>
                                        </p:tav>
                                      </p:tavLst>
                                    </p:anim>
                                    <p:anim calcmode="lin" valueType="num">
                                      <p:cBhvr>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p:cTn id="37" dur="500" fill="hold"/>
                                        <p:tgtEl>
                                          <p:spTgt spid="6"/>
                                        </p:tgtEl>
                                        <p:attrNameLst>
                                          <p:attrName>ppt_x</p:attrName>
                                        </p:attrNameLst>
                                      </p:cBhvr>
                                      <p:tavLst>
                                        <p:tav tm="0">
                                          <p:val>
                                            <p:strVal val="0-#ppt_w/2"/>
                                          </p:val>
                                        </p:tav>
                                        <p:tav tm="100000">
                                          <p:val>
                                            <p:strVal val="#ppt_x"/>
                                          </p:val>
                                        </p:tav>
                                      </p:tavLst>
                                    </p:anim>
                                    <p:anim calcmode="lin" valueType="num">
                                      <p:cBhvr>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91517"/>
                                        </p:tgtEl>
                                        <p:attrNameLst>
                                          <p:attrName>style.visibility</p:attrName>
                                        </p:attrNameLst>
                                      </p:cBhvr>
                                      <p:to>
                                        <p:strVal val="visible"/>
                                      </p:to>
                                    </p:set>
                                    <p:anim calcmode="lin" valueType="num">
                                      <p:cBhvr>
                                        <p:cTn id="43" dur="500" fill="hold"/>
                                        <p:tgtEl>
                                          <p:spTgt spid="191517"/>
                                        </p:tgtEl>
                                        <p:attrNameLst>
                                          <p:attrName>ppt_x</p:attrName>
                                        </p:attrNameLst>
                                      </p:cBhvr>
                                      <p:tavLst>
                                        <p:tav tm="0">
                                          <p:val>
                                            <p:strVal val="0-#ppt_w/2"/>
                                          </p:val>
                                        </p:tav>
                                        <p:tav tm="100000">
                                          <p:val>
                                            <p:strVal val="#ppt_x"/>
                                          </p:val>
                                        </p:tav>
                                      </p:tavLst>
                                    </p:anim>
                                    <p:anim calcmode="lin" valueType="num">
                                      <p:cBhvr>
                                        <p:cTn id="44" dur="500" fill="hold"/>
                                        <p:tgtEl>
                                          <p:spTgt spid="19151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91519"/>
                                        </p:tgtEl>
                                        <p:attrNameLst>
                                          <p:attrName>style.visibility</p:attrName>
                                        </p:attrNameLst>
                                      </p:cBhvr>
                                      <p:to>
                                        <p:strVal val="visible"/>
                                      </p:to>
                                    </p:set>
                                    <p:anim calcmode="lin" valueType="num">
                                      <p:cBhvr>
                                        <p:cTn id="49" dur="500" fill="hold"/>
                                        <p:tgtEl>
                                          <p:spTgt spid="191519"/>
                                        </p:tgtEl>
                                        <p:attrNameLst>
                                          <p:attrName>ppt_x</p:attrName>
                                        </p:attrNameLst>
                                      </p:cBhvr>
                                      <p:tavLst>
                                        <p:tav tm="0">
                                          <p:val>
                                            <p:strVal val="0-#ppt_w/2"/>
                                          </p:val>
                                        </p:tav>
                                        <p:tav tm="100000">
                                          <p:val>
                                            <p:strVal val="#ppt_x"/>
                                          </p:val>
                                        </p:tav>
                                      </p:tavLst>
                                    </p:anim>
                                    <p:anim calcmode="lin" valueType="num">
                                      <p:cBhvr>
                                        <p:cTn id="50" dur="500" fill="hold"/>
                                        <p:tgtEl>
                                          <p:spTgt spid="1915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P spid="191491" grpId="0"/>
      <p:bldP spid="19151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3"/>
          <p:cNvGrpSpPr/>
          <p:nvPr/>
        </p:nvGrpSpPr>
        <p:grpSpPr>
          <a:xfrm>
            <a:off x="1547813" y="1360488"/>
            <a:ext cx="5230812" cy="1230312"/>
            <a:chOff x="204" y="251"/>
            <a:chExt cx="3295" cy="775"/>
          </a:xfrm>
        </p:grpSpPr>
        <p:sp>
          <p:nvSpPr>
            <p:cNvPr id="77827" name="Text Box 4"/>
            <p:cNvSpPr txBox="1"/>
            <p:nvPr/>
          </p:nvSpPr>
          <p:spPr>
            <a:xfrm>
              <a:off x="204" y="482"/>
              <a:ext cx="3295"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解：取                              ，</a:t>
              </a:r>
              <a:r>
                <a:rPr lang="en-US" altLang="zh-CN" sz="2000" b="1">
                  <a:solidFill>
                    <a:srgbClr val="000000"/>
                  </a:solidFill>
                  <a:latin typeface="Times New Roman" panose="02020603050405020304" pitchFamily="18" charset="0"/>
                  <a:ea typeface="宋体" panose="02010600030101010101" pitchFamily="2" charset="-122"/>
                </a:rPr>
                <a:t>λ=min {1, 3, 3 } =1</a:t>
              </a:r>
              <a:endParaRPr lang="en-US" altLang="zh-CN" sz="2000" b="1">
                <a:solidFill>
                  <a:srgbClr val="000000"/>
                </a:solidFill>
                <a:latin typeface="Times New Roman" panose="02020603050405020304" pitchFamily="18" charset="0"/>
                <a:ea typeface="宋体" panose="02010600030101010101" pitchFamily="2" charset="-122"/>
              </a:endParaRPr>
            </a:p>
          </p:txBody>
        </p:sp>
        <p:graphicFrame>
          <p:nvGraphicFramePr>
            <p:cNvPr id="77828" name="Object 5"/>
            <p:cNvGraphicFramePr>
              <a:graphicFrameLocks noChangeAspect="1"/>
            </p:cNvGraphicFramePr>
            <p:nvPr/>
          </p:nvGraphicFramePr>
          <p:xfrm>
            <a:off x="794" y="251"/>
            <a:ext cx="1043" cy="775"/>
          </p:xfrm>
          <a:graphic>
            <a:graphicData uri="http://schemas.openxmlformats.org/presentationml/2006/ole">
              <mc:AlternateContent xmlns:mc="http://schemas.openxmlformats.org/markup-compatibility/2006">
                <mc:Choice xmlns:v="urn:schemas-microsoft-com:vml" Requires="v">
                  <p:oleObj spid="_x0000_s3111" name="" r:id="rId1" imgW="965200" imgH="711200" progId="Equation.DSMT4">
                    <p:embed/>
                  </p:oleObj>
                </mc:Choice>
                <mc:Fallback>
                  <p:oleObj name="" r:id="rId1" imgW="965200" imgH="711200" progId="Equation.DSMT4">
                    <p:embed/>
                    <p:pic>
                      <p:nvPicPr>
                        <p:cNvPr id="0" name="图片 3110"/>
                        <p:cNvPicPr/>
                        <p:nvPr/>
                      </p:nvPicPr>
                      <p:blipFill>
                        <a:blip r:embed="rId2"/>
                        <a:stretch>
                          <a:fillRect/>
                        </a:stretch>
                      </p:blipFill>
                      <p:spPr>
                        <a:xfrm>
                          <a:off x="794" y="251"/>
                          <a:ext cx="1043" cy="775"/>
                        </a:xfrm>
                        <a:prstGeom prst="rect">
                          <a:avLst/>
                        </a:prstGeom>
                        <a:noFill/>
                        <a:ln w="38100">
                          <a:noFill/>
                          <a:miter/>
                        </a:ln>
                      </p:spPr>
                    </p:pic>
                  </p:oleObj>
                </mc:Fallback>
              </mc:AlternateContent>
            </a:graphicData>
          </a:graphic>
        </p:graphicFrame>
      </p:grpSp>
      <p:sp>
        <p:nvSpPr>
          <p:cNvPr id="77829" name="Rectangle 6"/>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7830" name="Rectangle 7"/>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4" name="Group 8"/>
          <p:cNvGrpSpPr/>
          <p:nvPr/>
        </p:nvGrpSpPr>
        <p:grpSpPr>
          <a:xfrm>
            <a:off x="1835150" y="2809875"/>
            <a:ext cx="5187950" cy="1744663"/>
            <a:chOff x="383" y="1071"/>
            <a:chExt cx="3268" cy="1099"/>
          </a:xfrm>
        </p:grpSpPr>
        <p:sp>
          <p:nvSpPr>
            <p:cNvPr id="77832" name="Rectangle 9"/>
            <p:cNvSpPr/>
            <p:nvPr/>
          </p:nvSpPr>
          <p:spPr>
            <a:xfrm>
              <a:off x="383" y="1071"/>
              <a:ext cx="599" cy="250"/>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分解成</a:t>
              </a:r>
              <a:endParaRPr lang="zh-CN" altLang="en-US" sz="2000" b="1">
                <a:latin typeface="Times New Roman" panose="02020603050405020304" pitchFamily="18" charset="0"/>
                <a:ea typeface="宋体" panose="02010600030101010101" pitchFamily="2" charset="-122"/>
              </a:endParaRPr>
            </a:p>
          </p:txBody>
        </p:sp>
        <p:graphicFrame>
          <p:nvGraphicFramePr>
            <p:cNvPr id="77833" name="Object 10"/>
            <p:cNvGraphicFramePr>
              <a:graphicFrameLocks noChangeAspect="1"/>
            </p:cNvGraphicFramePr>
            <p:nvPr/>
          </p:nvGraphicFramePr>
          <p:xfrm>
            <a:off x="560" y="1389"/>
            <a:ext cx="1329" cy="777"/>
          </p:xfrm>
          <a:graphic>
            <a:graphicData uri="http://schemas.openxmlformats.org/presentationml/2006/ole">
              <mc:AlternateContent xmlns:mc="http://schemas.openxmlformats.org/markup-compatibility/2006">
                <mc:Choice xmlns:v="urn:schemas-microsoft-com:vml" Requires="v">
                  <p:oleObj spid="_x0000_s3115" name="" r:id="rId3" imgW="1218565" imgH="711200" progId="Equation.DSMT4">
                    <p:embed/>
                  </p:oleObj>
                </mc:Choice>
                <mc:Fallback>
                  <p:oleObj name="" r:id="rId3" imgW="1218565" imgH="711200" progId="Equation.DSMT4">
                    <p:embed/>
                    <p:pic>
                      <p:nvPicPr>
                        <p:cNvPr id="0" name="图片 3114"/>
                        <p:cNvPicPr/>
                        <p:nvPr/>
                      </p:nvPicPr>
                      <p:blipFill>
                        <a:blip r:embed="rId4"/>
                        <a:stretch>
                          <a:fillRect/>
                        </a:stretch>
                      </p:blipFill>
                      <p:spPr>
                        <a:xfrm>
                          <a:off x="560" y="1389"/>
                          <a:ext cx="1329" cy="777"/>
                        </a:xfrm>
                        <a:prstGeom prst="rect">
                          <a:avLst/>
                        </a:prstGeom>
                        <a:noFill/>
                        <a:ln w="38100">
                          <a:noFill/>
                          <a:miter/>
                        </a:ln>
                      </p:spPr>
                    </p:pic>
                  </p:oleObj>
                </mc:Fallback>
              </mc:AlternateContent>
            </a:graphicData>
          </a:graphic>
        </p:graphicFrame>
        <p:sp>
          <p:nvSpPr>
            <p:cNvPr id="77834" name="Text Box 11"/>
            <p:cNvSpPr txBox="1"/>
            <p:nvPr/>
          </p:nvSpPr>
          <p:spPr>
            <a:xfrm>
              <a:off x="2006" y="1614"/>
              <a:ext cx="639"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，再取</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graphicFrame>
          <p:nvGraphicFramePr>
            <p:cNvPr id="77835" name="Object 12"/>
            <p:cNvGraphicFramePr>
              <a:graphicFrameLocks noChangeAspect="1"/>
            </p:cNvGraphicFramePr>
            <p:nvPr/>
          </p:nvGraphicFramePr>
          <p:xfrm>
            <a:off x="2562" y="1377"/>
            <a:ext cx="1089" cy="793"/>
          </p:xfrm>
          <a:graphic>
            <a:graphicData uri="http://schemas.openxmlformats.org/presentationml/2006/ole">
              <mc:AlternateContent xmlns:mc="http://schemas.openxmlformats.org/markup-compatibility/2006">
                <mc:Choice xmlns:v="urn:schemas-microsoft-com:vml" Requires="v">
                  <p:oleObj spid="_x0000_s3112" name="" r:id="rId5" imgW="977900" imgH="711200" progId="Equation.DSMT4">
                    <p:embed/>
                  </p:oleObj>
                </mc:Choice>
                <mc:Fallback>
                  <p:oleObj name="" r:id="rId5" imgW="977900" imgH="711200" progId="Equation.DSMT4">
                    <p:embed/>
                    <p:pic>
                      <p:nvPicPr>
                        <p:cNvPr id="0" name="图片 3111"/>
                        <p:cNvPicPr/>
                        <p:nvPr/>
                      </p:nvPicPr>
                      <p:blipFill>
                        <a:blip r:embed="rId6"/>
                        <a:stretch>
                          <a:fillRect/>
                        </a:stretch>
                      </p:blipFill>
                      <p:spPr>
                        <a:xfrm>
                          <a:off x="2562" y="1377"/>
                          <a:ext cx="1089" cy="793"/>
                        </a:xfrm>
                        <a:prstGeom prst="rect">
                          <a:avLst/>
                        </a:prstGeom>
                        <a:noFill/>
                        <a:ln w="38100">
                          <a:noFill/>
                          <a:miter/>
                        </a:ln>
                      </p:spPr>
                    </p:pic>
                  </p:oleObj>
                </mc:Fallback>
              </mc:AlternateContent>
            </a:graphicData>
          </a:graphic>
        </p:graphicFrame>
      </p:grpSp>
      <p:sp>
        <p:nvSpPr>
          <p:cNvPr id="193549" name="Rectangle 13"/>
          <p:cNvSpPr/>
          <p:nvPr/>
        </p:nvSpPr>
        <p:spPr>
          <a:xfrm>
            <a:off x="1835150" y="4681538"/>
            <a:ext cx="2925763"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因</a:t>
            </a:r>
            <a:r>
              <a:rPr lang="en-US" altLang="zh-CN" sz="2000" b="1">
                <a:latin typeface="Times New Roman" panose="02020603050405020304" pitchFamily="18" charset="0"/>
                <a:ea typeface="宋体" panose="02010600030101010101" pitchFamily="2" charset="-122"/>
              </a:rPr>
              <a:t>min{ 5, 5, 3} = 3</a:t>
            </a:r>
            <a:r>
              <a:rPr lang="zh-CN" altLang="en-US" sz="2000" b="1">
                <a:latin typeface="Times New Roman" panose="02020603050405020304" pitchFamily="18" charset="0"/>
                <a:ea typeface="宋体" panose="02010600030101010101" pitchFamily="2" charset="-122"/>
              </a:rPr>
              <a:t>，又有</a:t>
            </a:r>
            <a:endParaRPr lang="zh-CN" altLang="en-US" sz="2000" b="1">
              <a:latin typeface="Times New Roman" panose="02020603050405020304" pitchFamily="18" charset="0"/>
              <a:ea typeface="宋体" panose="02010600030101010101" pitchFamily="2" charset="-122"/>
            </a:endParaRPr>
          </a:p>
        </p:txBody>
      </p:sp>
      <p:sp>
        <p:nvSpPr>
          <p:cNvPr id="77837" name="Rectangle 14"/>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77838" name="Rectangle 15"/>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77839" name="Group 16"/>
          <p:cNvGrpSpPr/>
          <p:nvPr/>
        </p:nvGrpSpPr>
        <p:grpSpPr>
          <a:xfrm>
            <a:off x="2097088" y="5257800"/>
            <a:ext cx="5218112" cy="1311275"/>
            <a:chOff x="500" y="2659"/>
            <a:chExt cx="3287" cy="826"/>
          </a:xfrm>
        </p:grpSpPr>
        <p:graphicFrame>
          <p:nvGraphicFramePr>
            <p:cNvPr id="77840" name="Object 17"/>
            <p:cNvGraphicFramePr>
              <a:graphicFrameLocks noChangeAspect="1"/>
            </p:cNvGraphicFramePr>
            <p:nvPr/>
          </p:nvGraphicFramePr>
          <p:xfrm>
            <a:off x="500" y="2659"/>
            <a:ext cx="1766" cy="803"/>
          </p:xfrm>
          <a:graphic>
            <a:graphicData uri="http://schemas.openxmlformats.org/presentationml/2006/ole">
              <mc:AlternateContent xmlns:mc="http://schemas.openxmlformats.org/markup-compatibility/2006">
                <mc:Choice xmlns:v="urn:schemas-microsoft-com:vml" Requires="v">
                  <p:oleObj spid="_x0000_s3110" name="" r:id="rId7" imgW="1574800" imgH="711200" progId="Equation.DSMT4">
                    <p:embed/>
                  </p:oleObj>
                </mc:Choice>
                <mc:Fallback>
                  <p:oleObj name="" r:id="rId7" imgW="1574800" imgH="711200" progId="Equation.DSMT4">
                    <p:embed/>
                    <p:pic>
                      <p:nvPicPr>
                        <p:cNvPr id="0" name="图片 3109"/>
                        <p:cNvPicPr/>
                        <p:nvPr/>
                      </p:nvPicPr>
                      <p:blipFill>
                        <a:blip r:embed="rId8"/>
                        <a:stretch>
                          <a:fillRect/>
                        </a:stretch>
                      </p:blipFill>
                      <p:spPr>
                        <a:xfrm>
                          <a:off x="500" y="2659"/>
                          <a:ext cx="1766" cy="803"/>
                        </a:xfrm>
                        <a:prstGeom prst="rect">
                          <a:avLst/>
                        </a:prstGeom>
                        <a:noFill/>
                        <a:ln w="38100">
                          <a:noFill/>
                          <a:miter/>
                        </a:ln>
                      </p:spPr>
                    </p:pic>
                  </p:oleObj>
                </mc:Fallback>
              </mc:AlternateContent>
            </a:graphicData>
          </a:graphic>
        </p:graphicFrame>
        <p:sp>
          <p:nvSpPr>
            <p:cNvPr id="77841" name="Text Box 18"/>
            <p:cNvSpPr txBox="1"/>
            <p:nvPr/>
          </p:nvSpPr>
          <p:spPr>
            <a:xfrm>
              <a:off x="2232" y="2930"/>
              <a:ext cx="478" cy="250"/>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，取</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graphicFrame>
          <p:nvGraphicFramePr>
            <p:cNvPr id="77842" name="Object 19"/>
            <p:cNvGraphicFramePr>
              <a:graphicFrameLocks noChangeAspect="1"/>
            </p:cNvGraphicFramePr>
            <p:nvPr/>
          </p:nvGraphicFramePr>
          <p:xfrm>
            <a:off x="2653" y="2659"/>
            <a:ext cx="1134" cy="826"/>
          </p:xfrm>
          <a:graphic>
            <a:graphicData uri="http://schemas.openxmlformats.org/presentationml/2006/ole">
              <mc:AlternateContent xmlns:mc="http://schemas.openxmlformats.org/markup-compatibility/2006">
                <mc:Choice xmlns:v="urn:schemas-microsoft-com:vml" Requires="v">
                  <p:oleObj spid="_x0000_s3113" name="" r:id="rId9" imgW="977900" imgH="711200" progId="Equation.DSMT4">
                    <p:embed/>
                  </p:oleObj>
                </mc:Choice>
                <mc:Fallback>
                  <p:oleObj name="" r:id="rId9" imgW="977900" imgH="711200" progId="Equation.DSMT4">
                    <p:embed/>
                    <p:pic>
                      <p:nvPicPr>
                        <p:cNvPr id="0" name="图片 3112"/>
                        <p:cNvPicPr/>
                        <p:nvPr/>
                      </p:nvPicPr>
                      <p:blipFill>
                        <a:blip r:embed="rId10"/>
                        <a:stretch>
                          <a:fillRect/>
                        </a:stretch>
                      </p:blipFill>
                      <p:spPr>
                        <a:xfrm>
                          <a:off x="2653" y="2659"/>
                          <a:ext cx="1134" cy="826"/>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3549"/>
                                        </p:tgtEl>
                                        <p:attrNameLst>
                                          <p:attrName>style.visibility</p:attrName>
                                        </p:attrNameLst>
                                      </p:cBhvr>
                                      <p:to>
                                        <p:strVal val="visible"/>
                                      </p:to>
                                    </p:set>
                                    <p:anim calcmode="lin" valueType="num">
                                      <p:cBhvr>
                                        <p:cTn id="13" dur="500" fill="hold"/>
                                        <p:tgtEl>
                                          <p:spTgt spid="193549"/>
                                        </p:tgtEl>
                                        <p:attrNameLst>
                                          <p:attrName>ppt_x</p:attrName>
                                        </p:attrNameLst>
                                      </p:cBhvr>
                                      <p:tavLst>
                                        <p:tav tm="0">
                                          <p:val>
                                            <p:strVal val="0-#ppt_w/2"/>
                                          </p:val>
                                        </p:tav>
                                        <p:tav tm="100000">
                                          <p:val>
                                            <p:strVal val="#ppt_x"/>
                                          </p:val>
                                        </p:tav>
                                      </p:tavLst>
                                    </p:anim>
                                    <p:anim calcmode="lin" valueType="num">
                                      <p:cBhvr>
                                        <p:cTn id="14" dur="500" fill="hold"/>
                                        <p:tgtEl>
                                          <p:spTgt spid="19354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0-#ppt_w/2"/>
                                          </p:val>
                                        </p:tav>
                                        <p:tav tm="100000">
                                          <p:val>
                                            <p:strVal val="#ppt_x"/>
                                          </p:val>
                                        </p:tav>
                                      </p:tavLst>
                                    </p:anim>
                                    <p:anim calcmode="lin" valueType="num">
                                      <p:cBhvr>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2"/>
          <p:cNvSpPr/>
          <p:nvPr/>
        </p:nvSpPr>
        <p:spPr>
          <a:xfrm>
            <a:off x="228600" y="1431925"/>
            <a:ext cx="1270000"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于是又有 </a:t>
            </a:r>
            <a:endParaRPr lang="zh-CN" altLang="en-US" sz="2000" b="1">
              <a:latin typeface="Times New Roman" panose="02020603050405020304" pitchFamily="18" charset="0"/>
              <a:ea typeface="宋体" panose="02010600030101010101" pitchFamily="2" charset="-122"/>
            </a:endParaRPr>
          </a:p>
        </p:txBody>
      </p:sp>
      <p:sp>
        <p:nvSpPr>
          <p:cNvPr id="79874" name="Rectangle 3"/>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5588" name="Object 4"/>
          <p:cNvGraphicFramePr>
            <a:graphicFrameLocks noChangeAspect="1"/>
          </p:cNvGraphicFramePr>
          <p:nvPr/>
        </p:nvGraphicFramePr>
        <p:xfrm>
          <a:off x="1649413" y="1658938"/>
          <a:ext cx="4794250" cy="1541462"/>
        </p:xfrm>
        <a:graphic>
          <a:graphicData uri="http://schemas.openxmlformats.org/presentationml/2006/ole">
            <mc:AlternateContent xmlns:mc="http://schemas.openxmlformats.org/markup-compatibility/2006">
              <mc:Choice xmlns:v="urn:schemas-microsoft-com:vml" Requires="v">
                <p:oleObj spid="_x0000_s3114" name="" r:id="rId1" imgW="2222500" imgH="711200" progId="Equation.DSMT4">
                  <p:embed/>
                </p:oleObj>
              </mc:Choice>
              <mc:Fallback>
                <p:oleObj name="" r:id="rId1" imgW="2222500" imgH="711200" progId="Equation.DSMT4">
                  <p:embed/>
                  <p:pic>
                    <p:nvPicPr>
                      <p:cNvPr id="0" name="图片 3113"/>
                      <p:cNvPicPr/>
                      <p:nvPr/>
                    </p:nvPicPr>
                    <p:blipFill>
                      <a:blip r:embed="rId2"/>
                      <a:stretch>
                        <a:fillRect/>
                      </a:stretch>
                    </p:blipFill>
                    <p:spPr>
                      <a:xfrm>
                        <a:off x="1649413" y="1658938"/>
                        <a:ext cx="4794250" cy="1541462"/>
                      </a:xfrm>
                      <a:prstGeom prst="rect">
                        <a:avLst/>
                      </a:prstGeom>
                      <a:noFill/>
                      <a:ln w="38100">
                        <a:noFill/>
                        <a:miter/>
                      </a:ln>
                    </p:spPr>
                  </p:pic>
                </p:oleObj>
              </mc:Fallback>
            </mc:AlternateContent>
          </a:graphicData>
        </a:graphic>
      </p:graphicFrame>
      <p:sp>
        <p:nvSpPr>
          <p:cNvPr id="195589" name="Rectangle 5"/>
          <p:cNvSpPr/>
          <p:nvPr/>
        </p:nvSpPr>
        <p:spPr>
          <a:xfrm>
            <a:off x="179388" y="3336925"/>
            <a:ext cx="2228850"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易得分解结果为：</a:t>
            </a:r>
            <a:endParaRPr lang="zh-CN" altLang="en-US" sz="2000" b="1">
              <a:latin typeface="Times New Roman" panose="02020603050405020304" pitchFamily="18" charset="0"/>
              <a:ea typeface="宋体" panose="02010600030101010101" pitchFamily="2" charset="-122"/>
            </a:endParaRPr>
          </a:p>
        </p:txBody>
      </p:sp>
      <p:sp>
        <p:nvSpPr>
          <p:cNvPr id="79877" name="Rectangle 6"/>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5591" name="Object 7"/>
          <p:cNvGraphicFramePr>
            <a:graphicFrameLocks noChangeAspect="1"/>
          </p:cNvGraphicFramePr>
          <p:nvPr/>
        </p:nvGraphicFramePr>
        <p:xfrm>
          <a:off x="323850" y="4071938"/>
          <a:ext cx="8388350" cy="1338262"/>
        </p:xfrm>
        <a:graphic>
          <a:graphicData uri="http://schemas.openxmlformats.org/presentationml/2006/ole">
            <mc:AlternateContent xmlns:mc="http://schemas.openxmlformats.org/markup-compatibility/2006">
              <mc:Choice xmlns:v="urn:schemas-microsoft-com:vml" Requires="v">
                <p:oleObj spid="_x0000_s3109" name="" r:id="rId3" imgW="4483100" imgH="711200" progId="Equation.DSMT4">
                  <p:embed/>
                </p:oleObj>
              </mc:Choice>
              <mc:Fallback>
                <p:oleObj name="" r:id="rId3" imgW="4483100" imgH="711200" progId="Equation.DSMT4">
                  <p:embed/>
                  <p:pic>
                    <p:nvPicPr>
                      <p:cNvPr id="0" name="图片 3108"/>
                      <p:cNvPicPr/>
                      <p:nvPr/>
                    </p:nvPicPr>
                    <p:blipFill>
                      <a:blip r:embed="rId4"/>
                      <a:stretch>
                        <a:fillRect/>
                      </a:stretch>
                    </p:blipFill>
                    <p:spPr>
                      <a:xfrm>
                        <a:off x="323850" y="4071938"/>
                        <a:ext cx="8388350" cy="1338262"/>
                      </a:xfrm>
                      <a:prstGeom prst="rect">
                        <a:avLst/>
                      </a:prstGeom>
                      <a:noFill/>
                      <a:ln w="38100">
                        <a:noFill/>
                        <a:miter/>
                      </a:ln>
                    </p:spPr>
                  </p:pic>
                </p:oleObj>
              </mc:Fallback>
            </mc:AlternateContent>
          </a:graphicData>
        </a:graphic>
      </p:graphicFrame>
      <p:sp>
        <p:nvSpPr>
          <p:cNvPr id="79879" name="Rectangle 8"/>
          <p:cNvSpPr/>
          <p:nvPr/>
        </p:nvSpPr>
        <p:spPr>
          <a:xfrm>
            <a:off x="250825" y="36449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5593" name="Object 9"/>
          <p:cNvGraphicFramePr>
            <a:graphicFrameLocks noChangeAspect="1"/>
          </p:cNvGraphicFramePr>
          <p:nvPr/>
        </p:nvGraphicFramePr>
        <p:xfrm>
          <a:off x="900113" y="5578475"/>
          <a:ext cx="1727200" cy="1127125"/>
        </p:xfrm>
        <a:graphic>
          <a:graphicData uri="http://schemas.openxmlformats.org/presentationml/2006/ole">
            <mc:AlternateContent xmlns:mc="http://schemas.openxmlformats.org/markup-compatibility/2006">
              <mc:Choice xmlns:v="urn:schemas-microsoft-com:vml" Requires="v">
                <p:oleObj spid="_x0000_s3108" name="" r:id="rId5" imgW="660400" imgH="431800" progId="Equation.DSMT4">
                  <p:embed/>
                </p:oleObj>
              </mc:Choice>
              <mc:Fallback>
                <p:oleObj name="" r:id="rId5" imgW="660400" imgH="431800" progId="Equation.DSMT4">
                  <p:embed/>
                  <p:pic>
                    <p:nvPicPr>
                      <p:cNvPr id="0" name="图片 3107"/>
                      <p:cNvPicPr/>
                      <p:nvPr/>
                    </p:nvPicPr>
                    <p:blipFill>
                      <a:blip r:embed="rId6"/>
                      <a:stretch>
                        <a:fillRect/>
                      </a:stretch>
                    </p:blipFill>
                    <p:spPr>
                      <a:xfrm>
                        <a:off x="900113" y="5578475"/>
                        <a:ext cx="1727200" cy="11271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5586"/>
                                        </p:tgtEl>
                                        <p:attrNameLst>
                                          <p:attrName>style.visibility</p:attrName>
                                        </p:attrNameLst>
                                      </p:cBhvr>
                                      <p:to>
                                        <p:strVal val="visible"/>
                                      </p:to>
                                    </p:set>
                                    <p:anim calcmode="lin" valueType="num">
                                      <p:cBhvr>
                                        <p:cTn id="7" dur="500" fill="hold"/>
                                        <p:tgtEl>
                                          <p:spTgt spid="195586"/>
                                        </p:tgtEl>
                                        <p:attrNameLst>
                                          <p:attrName>ppt_x</p:attrName>
                                        </p:attrNameLst>
                                      </p:cBhvr>
                                      <p:tavLst>
                                        <p:tav tm="0">
                                          <p:val>
                                            <p:strVal val="0-#ppt_w/2"/>
                                          </p:val>
                                        </p:tav>
                                        <p:tav tm="100000">
                                          <p:val>
                                            <p:strVal val="#ppt_x"/>
                                          </p:val>
                                        </p:tav>
                                      </p:tavLst>
                                    </p:anim>
                                    <p:anim calcmode="lin" valueType="num">
                                      <p:cBhvr>
                                        <p:cTn id="8" dur="500" fill="hold"/>
                                        <p:tgtEl>
                                          <p:spTgt spid="19558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95588"/>
                                        </p:tgtEl>
                                        <p:attrNameLst>
                                          <p:attrName>style.visibility</p:attrName>
                                        </p:attrNameLst>
                                      </p:cBhvr>
                                      <p:to>
                                        <p:strVal val="visible"/>
                                      </p:to>
                                    </p:set>
                                    <p:anim calcmode="lin" valueType="num">
                                      <p:cBhvr>
                                        <p:cTn id="11" dur="500" fill="hold"/>
                                        <p:tgtEl>
                                          <p:spTgt spid="195588"/>
                                        </p:tgtEl>
                                        <p:attrNameLst>
                                          <p:attrName>ppt_x</p:attrName>
                                        </p:attrNameLst>
                                      </p:cBhvr>
                                      <p:tavLst>
                                        <p:tav tm="0">
                                          <p:val>
                                            <p:strVal val="0-#ppt_w/2"/>
                                          </p:val>
                                        </p:tav>
                                        <p:tav tm="100000">
                                          <p:val>
                                            <p:strVal val="#ppt_x"/>
                                          </p:val>
                                        </p:tav>
                                      </p:tavLst>
                                    </p:anim>
                                    <p:anim calcmode="lin" valueType="num">
                                      <p:cBhvr>
                                        <p:cTn id="12" dur="500" fill="hold"/>
                                        <p:tgtEl>
                                          <p:spTgt spid="19558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95589"/>
                                        </p:tgtEl>
                                        <p:attrNameLst>
                                          <p:attrName>style.visibility</p:attrName>
                                        </p:attrNameLst>
                                      </p:cBhvr>
                                      <p:to>
                                        <p:strVal val="visible"/>
                                      </p:to>
                                    </p:set>
                                    <p:anim calcmode="lin" valueType="num">
                                      <p:cBhvr>
                                        <p:cTn id="17" dur="500" fill="hold"/>
                                        <p:tgtEl>
                                          <p:spTgt spid="195589"/>
                                        </p:tgtEl>
                                        <p:attrNameLst>
                                          <p:attrName>ppt_x</p:attrName>
                                        </p:attrNameLst>
                                      </p:cBhvr>
                                      <p:tavLst>
                                        <p:tav tm="0">
                                          <p:val>
                                            <p:strVal val="0-#ppt_w/2"/>
                                          </p:val>
                                        </p:tav>
                                        <p:tav tm="100000">
                                          <p:val>
                                            <p:strVal val="#ppt_x"/>
                                          </p:val>
                                        </p:tav>
                                      </p:tavLst>
                                    </p:anim>
                                    <p:anim calcmode="lin" valueType="num">
                                      <p:cBhvr>
                                        <p:cTn id="18" dur="500" fill="hold"/>
                                        <p:tgtEl>
                                          <p:spTgt spid="195589"/>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0"/>
                                  </p:stCondLst>
                                  <p:childTnLst>
                                    <p:set>
                                      <p:cBhvr>
                                        <p:cTn id="20" dur="1" fill="hold">
                                          <p:stCondLst>
                                            <p:cond delay="0"/>
                                          </p:stCondLst>
                                        </p:cTn>
                                        <p:tgtEl>
                                          <p:spTgt spid="195591"/>
                                        </p:tgtEl>
                                        <p:attrNameLst>
                                          <p:attrName>style.visibility</p:attrName>
                                        </p:attrNameLst>
                                      </p:cBhvr>
                                      <p:to>
                                        <p:strVal val="visible"/>
                                      </p:to>
                                    </p:set>
                                    <p:anim calcmode="lin" valueType="num">
                                      <p:cBhvr>
                                        <p:cTn id="21" dur="500" fill="hold"/>
                                        <p:tgtEl>
                                          <p:spTgt spid="195591"/>
                                        </p:tgtEl>
                                        <p:attrNameLst>
                                          <p:attrName>ppt_x</p:attrName>
                                        </p:attrNameLst>
                                      </p:cBhvr>
                                      <p:tavLst>
                                        <p:tav tm="0">
                                          <p:val>
                                            <p:strVal val="0-#ppt_w/2"/>
                                          </p:val>
                                        </p:tav>
                                        <p:tav tm="100000">
                                          <p:val>
                                            <p:strVal val="#ppt_x"/>
                                          </p:val>
                                        </p:tav>
                                      </p:tavLst>
                                    </p:anim>
                                    <p:anim calcmode="lin" valueType="num">
                                      <p:cBhvr>
                                        <p:cTn id="22" dur="500" fill="hold"/>
                                        <p:tgtEl>
                                          <p:spTgt spid="195591"/>
                                        </p:tgtEl>
                                        <p:attrNameLst>
                                          <p:attrName>ppt_y</p:attrName>
                                        </p:attrNameLst>
                                      </p:cBhvr>
                                      <p:tavLst>
                                        <p:tav tm="0">
                                          <p:val>
                                            <p:strVal val="#ppt_y"/>
                                          </p:val>
                                        </p:tav>
                                        <p:tav tm="100000">
                                          <p:val>
                                            <p:strVal val="#ppt_y"/>
                                          </p:val>
                                        </p:tav>
                                      </p:tavLst>
                                    </p:anim>
                                  </p:childTnLst>
                                </p:cTn>
                              </p:par>
                              <p:par>
                                <p:cTn id="23" presetID="2" presetClass="entr" presetSubtype="8" fill="hold" nodeType="withEffect">
                                  <p:stCondLst>
                                    <p:cond delay="0"/>
                                  </p:stCondLst>
                                  <p:childTnLst>
                                    <p:set>
                                      <p:cBhvr>
                                        <p:cTn id="24" dur="1" fill="hold">
                                          <p:stCondLst>
                                            <p:cond delay="0"/>
                                          </p:stCondLst>
                                        </p:cTn>
                                        <p:tgtEl>
                                          <p:spTgt spid="195593"/>
                                        </p:tgtEl>
                                        <p:attrNameLst>
                                          <p:attrName>style.visibility</p:attrName>
                                        </p:attrNameLst>
                                      </p:cBhvr>
                                      <p:to>
                                        <p:strVal val="visible"/>
                                      </p:to>
                                    </p:set>
                                    <p:anim calcmode="lin" valueType="num">
                                      <p:cBhvr>
                                        <p:cTn id="25" dur="500" fill="hold"/>
                                        <p:tgtEl>
                                          <p:spTgt spid="195593"/>
                                        </p:tgtEl>
                                        <p:attrNameLst>
                                          <p:attrName>ppt_x</p:attrName>
                                        </p:attrNameLst>
                                      </p:cBhvr>
                                      <p:tavLst>
                                        <p:tav tm="0">
                                          <p:val>
                                            <p:strVal val="0-#ppt_w/2"/>
                                          </p:val>
                                        </p:tav>
                                        <p:tav tm="100000">
                                          <p:val>
                                            <p:strVal val="#ppt_x"/>
                                          </p:val>
                                        </p:tav>
                                      </p:tavLst>
                                    </p:anim>
                                    <p:anim calcmode="lin" valueType="num">
                                      <p:cBhvr>
                                        <p:cTn id="26" dur="500" fill="hold"/>
                                        <p:tgtEl>
                                          <p:spTgt spid="1955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6" grpId="0"/>
      <p:bldP spid="19558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p:nvPr/>
        </p:nvSpPr>
        <p:spPr>
          <a:xfrm>
            <a:off x="0" y="33004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81922" name="Rectangle 3"/>
          <p:cNvSpPr/>
          <p:nvPr/>
        </p:nvSpPr>
        <p:spPr>
          <a:xfrm>
            <a:off x="0" y="33004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81923" name="Rectangle 4"/>
          <p:cNvSpPr/>
          <p:nvPr/>
        </p:nvSpPr>
        <p:spPr>
          <a:xfrm>
            <a:off x="0" y="33004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5"/>
          <p:cNvGrpSpPr/>
          <p:nvPr/>
        </p:nvGrpSpPr>
        <p:grpSpPr>
          <a:xfrm>
            <a:off x="323850" y="1524000"/>
            <a:ext cx="8228013" cy="1649413"/>
            <a:chOff x="204" y="210"/>
            <a:chExt cx="5183" cy="1039"/>
          </a:xfrm>
        </p:grpSpPr>
        <p:sp>
          <p:nvSpPr>
            <p:cNvPr id="81925" name="Text Box 6"/>
            <p:cNvSpPr txBox="1"/>
            <p:nvPr/>
          </p:nvSpPr>
          <p:spPr>
            <a:xfrm>
              <a:off x="204" y="210"/>
              <a:ext cx="5183" cy="1018"/>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尚需解决的问题是如何求</a:t>
              </a:r>
              <a:r>
                <a:rPr lang="en-US" altLang="zh-CN" sz="2000" b="1">
                  <a:solidFill>
                    <a:srgbClr val="000000"/>
                  </a:solidFill>
                  <a:latin typeface="Times New Roman" panose="02020603050405020304" pitchFamily="18" charset="0"/>
                  <a:ea typeface="宋体" panose="02010600030101010101" pitchFamily="2" charset="-122"/>
                </a:rPr>
                <a:t>P</a:t>
              </a:r>
              <a:r>
                <a:rPr lang="zh-CN" altLang="en-US" sz="2000" b="1">
                  <a:solidFill>
                    <a:srgbClr val="000000"/>
                  </a:solidFill>
                  <a:latin typeface="Times New Roman" panose="02020603050405020304" pitchFamily="18" charset="0"/>
                  <a:ea typeface="宋体" panose="02010600030101010101" pitchFamily="2" charset="-122"/>
                </a:rPr>
                <a:t>，使得</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ij</a:t>
              </a:r>
              <a:r>
                <a:rPr lang="en-US" altLang="zh-CN" sz="2000" b="1">
                  <a:solidFill>
                    <a:srgbClr val="000000"/>
                  </a:solidFill>
                  <a:latin typeface="Times New Roman" panose="02020603050405020304" pitchFamily="18" charset="0"/>
                  <a:ea typeface="宋体" panose="02010600030101010101" pitchFamily="2" charset="-122"/>
                </a:rPr>
                <a:t>&gt;0</a:t>
              </a:r>
              <a:r>
                <a:rPr lang="zh-CN" altLang="en-US" sz="2000" b="1">
                  <a:solidFill>
                    <a:srgbClr val="000000"/>
                  </a:solidFill>
                  <a:latin typeface="Times New Roman" panose="02020603050405020304" pitchFamily="18" charset="0"/>
                  <a:ea typeface="宋体" panose="02010600030101010101" pitchFamily="2" charset="-122"/>
                </a:rPr>
                <a:t>必有           。读者不难发现，此问题可以通过求解一个两分图上的最大流（或最大匹配）来实现，计算量为</a:t>
              </a:r>
              <a:r>
                <a:rPr lang="en-US" altLang="zh-CN" sz="2000" b="1" i="1">
                  <a:solidFill>
                    <a:srgbClr val="000000"/>
                  </a:solidFill>
                  <a:latin typeface="Times New Roman" panose="02020603050405020304" pitchFamily="18" charset="0"/>
                  <a:ea typeface="宋体" panose="02010600030101010101" pitchFamily="2" charset="-122"/>
                </a:rPr>
                <a:t>O</a:t>
              </a:r>
              <a:r>
                <a:rPr lang="en-US" altLang="zh-CN"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n</a:t>
              </a:r>
              <a:r>
                <a:rPr lang="en-US" altLang="zh-CN" sz="2000" b="1" baseline="30000">
                  <a:solidFill>
                    <a:srgbClr val="000000"/>
                  </a:solidFill>
                  <a:latin typeface="Times New Roman" panose="02020603050405020304" pitchFamily="18" charset="0"/>
                  <a:ea typeface="宋体" panose="02010600030101010101" pitchFamily="2" charset="-122"/>
                </a:rPr>
                <a:t>4</a:t>
              </a:r>
              <a:r>
                <a:rPr lang="en-US" altLang="zh-CN" sz="2000" b="1">
                  <a:solidFill>
                    <a:srgbClr val="000000"/>
                  </a:solidFill>
                  <a:latin typeface="Times New Roman" panose="02020603050405020304" pitchFamily="18" charset="0"/>
                  <a:ea typeface="宋体" panose="02010600030101010101" pitchFamily="2" charset="-122"/>
                </a:rPr>
                <a:t>)</a:t>
              </a:r>
              <a:r>
                <a:rPr lang="zh-CN" altLang="en-US" sz="2000" b="1">
                  <a:solidFill>
                    <a:srgbClr val="000000"/>
                  </a:solidFill>
                  <a:latin typeface="Times New Roman" panose="02020603050405020304" pitchFamily="18" charset="0"/>
                  <a:ea typeface="宋体" panose="02010600030101010101" pitchFamily="2" charset="-122"/>
                </a:rPr>
                <a:t>，是多项式时间可解的。具体方法为：作一两分图，若            ，则作边（</a:t>
              </a:r>
              <a:r>
                <a:rPr lang="en-US" altLang="zh-CN" sz="2000" b="1" i="1">
                  <a:solidFill>
                    <a:srgbClr val="000000"/>
                  </a:solidFill>
                  <a:latin typeface="Times New Roman" panose="02020603050405020304" pitchFamily="18" charset="0"/>
                  <a:ea typeface="宋体" panose="02010600030101010101" pitchFamily="2" charset="-122"/>
                </a:rPr>
                <a:t>i</a:t>
              </a:r>
              <a:r>
                <a:rPr lang="en-US" altLang="zh-CN" sz="2000" b="1">
                  <a:solidFill>
                    <a:srgbClr val="000000"/>
                  </a:solidFill>
                  <a:latin typeface="Times New Roman" panose="02020603050405020304" pitchFamily="18" charset="0"/>
                  <a:ea typeface="宋体" panose="02010600030101010101" pitchFamily="2" charset="-122"/>
                </a:rPr>
                <a:t>, </a:t>
              </a:r>
              <a:r>
                <a:rPr lang="en-US" altLang="zh-CN" sz="2000" b="1" i="1">
                  <a:solidFill>
                    <a:srgbClr val="000000"/>
                  </a:solidFill>
                  <a:latin typeface="Times New Roman" panose="02020603050405020304" pitchFamily="18" charset="0"/>
                  <a:ea typeface="宋体" panose="02010600030101010101" pitchFamily="2" charset="-122"/>
                </a:rPr>
                <a:t>j</a:t>
              </a:r>
              <a:r>
                <a:rPr lang="zh-CN" altLang="en-US" sz="2000" b="1">
                  <a:solidFill>
                    <a:srgbClr val="000000"/>
                  </a:solidFill>
                  <a:latin typeface="Times New Roman" panose="02020603050405020304" pitchFamily="18" charset="0"/>
                  <a:ea typeface="宋体" panose="02010600030101010101" pitchFamily="2" charset="-122"/>
                </a:rPr>
                <a:t>），令边容量为</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，这样，可作出</a:t>
              </a:r>
              <a:r>
                <a:rPr lang="en-US" altLang="zh-CN" sz="2000" b="1">
                  <a:solidFill>
                    <a:srgbClr val="000000"/>
                  </a:solidFill>
                  <a:latin typeface="Times New Roman" panose="02020603050405020304" pitchFamily="18" charset="0"/>
                  <a:ea typeface="宋体" panose="02010600030101010101" pitchFamily="2" charset="-122"/>
                </a:rPr>
                <a:t>P</a:t>
              </a:r>
              <a:r>
                <a:rPr lang="zh-CN" altLang="en-US" sz="2000" b="1">
                  <a:solidFill>
                    <a:srgbClr val="000000"/>
                  </a:solidFill>
                  <a:latin typeface="Times New Roman" panose="02020603050405020304" pitchFamily="18" charset="0"/>
                  <a:ea typeface="宋体" panose="02010600030101010101" pitchFamily="2" charset="-122"/>
                </a:rPr>
                <a:t>的充要条件是该最大流问题的最大流量为</a:t>
              </a:r>
              <a:r>
                <a:rPr lang="en-US" altLang="zh-CN" sz="2000" b="1" i="1">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。对例</a:t>
              </a:r>
              <a:r>
                <a:rPr lang="en-US" altLang="zh-CN" sz="2000" b="1">
                  <a:solidFill>
                    <a:srgbClr val="000000"/>
                  </a:solidFill>
                  <a:latin typeface="Times New Roman" panose="02020603050405020304" pitchFamily="18" charset="0"/>
                  <a:ea typeface="宋体" panose="02010600030101010101" pitchFamily="2" charset="-122"/>
                </a:rPr>
                <a:t>9.33</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n</a:t>
              </a:r>
              <a:r>
                <a:rPr lang="en-US" altLang="zh-CN" sz="2000" b="1">
                  <a:solidFill>
                    <a:srgbClr val="000000"/>
                  </a:solidFill>
                  <a:latin typeface="Times New Roman" panose="02020603050405020304" pitchFamily="18" charset="0"/>
                  <a:ea typeface="宋体" panose="02010600030101010101" pitchFamily="2" charset="-122"/>
                </a:rPr>
                <a:t>=3</a:t>
              </a:r>
              <a:r>
                <a:rPr lang="zh-CN" altLang="en-US" sz="2000" b="1">
                  <a:solidFill>
                    <a:srgbClr val="000000"/>
                  </a:solidFill>
                  <a:latin typeface="Times New Roman" panose="02020603050405020304" pitchFamily="18" charset="0"/>
                  <a:ea typeface="宋体" panose="02010600030101010101" pitchFamily="2" charset="-122"/>
                </a:rPr>
                <a:t>。由于所有             ，先取</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graphicFrame>
          <p:nvGraphicFramePr>
            <p:cNvPr id="81926" name="Object 7"/>
            <p:cNvGraphicFramePr>
              <a:graphicFrameLocks noChangeAspect="1"/>
            </p:cNvGraphicFramePr>
            <p:nvPr/>
          </p:nvGraphicFramePr>
          <p:xfrm>
            <a:off x="3288" y="210"/>
            <a:ext cx="363" cy="239"/>
          </p:xfrm>
          <a:graphic>
            <a:graphicData uri="http://schemas.openxmlformats.org/presentationml/2006/ole">
              <mc:AlternateContent xmlns:mc="http://schemas.openxmlformats.org/markup-compatibility/2006">
                <mc:Choice xmlns:v="urn:schemas-microsoft-com:vml" Requires="v">
                  <p:oleObj spid="_x0000_s3119" name="" r:id="rId1" imgW="393700" imgH="254000" progId="Equation.DSMT4">
                    <p:embed/>
                  </p:oleObj>
                </mc:Choice>
                <mc:Fallback>
                  <p:oleObj name="" r:id="rId1" imgW="393700" imgH="254000" progId="Equation.DSMT4">
                    <p:embed/>
                    <p:pic>
                      <p:nvPicPr>
                        <p:cNvPr id="0" name="图片 3118"/>
                        <p:cNvPicPr/>
                        <p:nvPr/>
                      </p:nvPicPr>
                      <p:blipFill>
                        <a:blip r:embed="rId2"/>
                        <a:stretch>
                          <a:fillRect/>
                        </a:stretch>
                      </p:blipFill>
                      <p:spPr>
                        <a:xfrm>
                          <a:off x="3288" y="210"/>
                          <a:ext cx="363" cy="239"/>
                        </a:xfrm>
                        <a:prstGeom prst="rect">
                          <a:avLst/>
                        </a:prstGeom>
                        <a:noFill/>
                        <a:ln w="38100">
                          <a:noFill/>
                          <a:miter/>
                        </a:ln>
                      </p:spPr>
                    </p:pic>
                  </p:oleObj>
                </mc:Fallback>
              </mc:AlternateContent>
            </a:graphicData>
          </a:graphic>
        </p:graphicFrame>
        <p:graphicFrame>
          <p:nvGraphicFramePr>
            <p:cNvPr id="81927" name="Object 8"/>
            <p:cNvGraphicFramePr>
              <a:graphicFrameLocks noChangeAspect="1"/>
            </p:cNvGraphicFramePr>
            <p:nvPr/>
          </p:nvGraphicFramePr>
          <p:xfrm>
            <a:off x="4740" y="572"/>
            <a:ext cx="408" cy="269"/>
          </p:xfrm>
          <a:graphic>
            <a:graphicData uri="http://schemas.openxmlformats.org/presentationml/2006/ole">
              <mc:AlternateContent xmlns:mc="http://schemas.openxmlformats.org/markup-compatibility/2006">
                <mc:Choice xmlns:v="urn:schemas-microsoft-com:vml" Requires="v">
                  <p:oleObj spid="_x0000_s3117" name="" r:id="rId3" imgW="393700" imgH="254000" progId="Equation.DSMT4">
                    <p:embed/>
                  </p:oleObj>
                </mc:Choice>
                <mc:Fallback>
                  <p:oleObj name="" r:id="rId3" imgW="393700" imgH="254000" progId="Equation.DSMT4">
                    <p:embed/>
                    <p:pic>
                      <p:nvPicPr>
                        <p:cNvPr id="0" name="图片 3116"/>
                        <p:cNvPicPr/>
                        <p:nvPr/>
                      </p:nvPicPr>
                      <p:blipFill>
                        <a:blip r:embed="rId2"/>
                        <a:stretch>
                          <a:fillRect/>
                        </a:stretch>
                      </p:blipFill>
                      <p:spPr>
                        <a:xfrm>
                          <a:off x="4740" y="572"/>
                          <a:ext cx="408" cy="269"/>
                        </a:xfrm>
                        <a:prstGeom prst="rect">
                          <a:avLst/>
                        </a:prstGeom>
                        <a:noFill/>
                        <a:ln w="38100">
                          <a:noFill/>
                          <a:miter/>
                        </a:ln>
                      </p:spPr>
                    </p:pic>
                  </p:oleObj>
                </mc:Fallback>
              </mc:AlternateContent>
            </a:graphicData>
          </a:graphic>
        </p:graphicFrame>
        <p:graphicFrame>
          <p:nvGraphicFramePr>
            <p:cNvPr id="81928" name="Object 9"/>
            <p:cNvGraphicFramePr>
              <a:graphicFrameLocks noChangeAspect="1"/>
            </p:cNvGraphicFramePr>
            <p:nvPr/>
          </p:nvGraphicFramePr>
          <p:xfrm>
            <a:off x="3515" y="981"/>
            <a:ext cx="408" cy="268"/>
          </p:xfrm>
          <a:graphic>
            <a:graphicData uri="http://schemas.openxmlformats.org/presentationml/2006/ole">
              <mc:AlternateContent xmlns:mc="http://schemas.openxmlformats.org/markup-compatibility/2006">
                <mc:Choice xmlns:v="urn:schemas-microsoft-com:vml" Requires="v">
                  <p:oleObj spid="_x0000_s3121" name="" r:id="rId4" imgW="393700" imgH="254000" progId="Equation.DSMT4">
                    <p:embed/>
                  </p:oleObj>
                </mc:Choice>
                <mc:Fallback>
                  <p:oleObj name="" r:id="rId4" imgW="393700" imgH="254000" progId="Equation.DSMT4">
                    <p:embed/>
                    <p:pic>
                      <p:nvPicPr>
                        <p:cNvPr id="0" name="图片 3120"/>
                        <p:cNvPicPr/>
                        <p:nvPr/>
                      </p:nvPicPr>
                      <p:blipFill>
                        <a:blip r:embed="rId2"/>
                        <a:stretch>
                          <a:fillRect/>
                        </a:stretch>
                      </p:blipFill>
                      <p:spPr>
                        <a:xfrm>
                          <a:off x="3515" y="981"/>
                          <a:ext cx="408" cy="268"/>
                        </a:xfrm>
                        <a:prstGeom prst="rect">
                          <a:avLst/>
                        </a:prstGeom>
                        <a:noFill/>
                        <a:ln w="38100">
                          <a:noFill/>
                          <a:miter/>
                        </a:ln>
                      </p:spPr>
                    </p:pic>
                  </p:oleObj>
                </mc:Fallback>
              </mc:AlternateContent>
            </a:graphicData>
          </a:graphic>
        </p:graphicFrame>
      </p:grpSp>
      <p:sp>
        <p:nvSpPr>
          <p:cNvPr id="81929" name="Rectangle 10"/>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81930" name="Rectangle 11"/>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81931" name="Group 12"/>
          <p:cNvGrpSpPr/>
          <p:nvPr/>
        </p:nvGrpSpPr>
        <p:grpSpPr>
          <a:xfrm>
            <a:off x="762000" y="3581400"/>
            <a:ext cx="3594100" cy="1439863"/>
            <a:chOff x="431" y="1434"/>
            <a:chExt cx="2264" cy="826"/>
          </a:xfrm>
        </p:grpSpPr>
        <p:sp>
          <p:nvSpPr>
            <p:cNvPr id="81932" name="Text Box 13"/>
            <p:cNvSpPr txBox="1"/>
            <p:nvPr/>
          </p:nvSpPr>
          <p:spPr>
            <a:xfrm>
              <a:off x="1746" y="1706"/>
              <a:ext cx="949" cy="228"/>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    －</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baseline="-30000">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为</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graphicFrame>
          <p:nvGraphicFramePr>
            <p:cNvPr id="81933" name="Object 14"/>
            <p:cNvGraphicFramePr>
              <a:graphicFrameLocks noChangeAspect="1"/>
            </p:cNvGraphicFramePr>
            <p:nvPr/>
          </p:nvGraphicFramePr>
          <p:xfrm>
            <a:off x="431" y="1434"/>
            <a:ext cx="1134" cy="826"/>
          </p:xfrm>
          <a:graphic>
            <a:graphicData uri="http://schemas.openxmlformats.org/presentationml/2006/ole">
              <mc:AlternateContent xmlns:mc="http://schemas.openxmlformats.org/markup-compatibility/2006">
                <mc:Choice xmlns:v="urn:schemas-microsoft-com:vml" Requires="v">
                  <p:oleObj spid="_x0000_s3118" name="" r:id="rId5" imgW="977900" imgH="711200" progId="Equation.DSMT4">
                    <p:embed/>
                  </p:oleObj>
                </mc:Choice>
                <mc:Fallback>
                  <p:oleObj name="" r:id="rId5" imgW="977900" imgH="711200" progId="Equation.DSMT4">
                    <p:embed/>
                    <p:pic>
                      <p:nvPicPr>
                        <p:cNvPr id="0" name="图片 3117"/>
                        <p:cNvPicPr/>
                        <p:nvPr/>
                      </p:nvPicPr>
                      <p:blipFill>
                        <a:blip r:embed="rId6"/>
                        <a:stretch>
                          <a:fillRect/>
                        </a:stretch>
                      </p:blipFill>
                      <p:spPr>
                        <a:xfrm>
                          <a:off x="431" y="1434"/>
                          <a:ext cx="1134" cy="826"/>
                        </a:xfrm>
                        <a:prstGeom prst="rect">
                          <a:avLst/>
                        </a:prstGeom>
                        <a:noFill/>
                        <a:ln w="38100">
                          <a:noFill/>
                          <a:miter/>
                        </a:ln>
                      </p:spPr>
                    </p:pic>
                  </p:oleObj>
                </mc:Fallback>
              </mc:AlternateContent>
            </a:graphicData>
          </a:graphic>
        </p:graphicFrame>
        <p:graphicFrame>
          <p:nvGraphicFramePr>
            <p:cNvPr id="81934" name="Object 15"/>
            <p:cNvGraphicFramePr>
              <a:graphicFrameLocks noChangeAspect="1"/>
            </p:cNvGraphicFramePr>
            <p:nvPr/>
          </p:nvGraphicFramePr>
          <p:xfrm>
            <a:off x="1931" y="1669"/>
            <a:ext cx="178" cy="257"/>
          </p:xfrm>
          <a:graphic>
            <a:graphicData uri="http://schemas.openxmlformats.org/presentationml/2006/ole">
              <mc:AlternateContent xmlns:mc="http://schemas.openxmlformats.org/markup-compatibility/2006">
                <mc:Choice xmlns:v="urn:schemas-microsoft-com:vml" Requires="v">
                  <p:oleObj spid="_x0000_s3120" name="" r:id="rId7" imgW="139700" imgH="203200" progId="Equation.DSMT4">
                    <p:embed/>
                  </p:oleObj>
                </mc:Choice>
                <mc:Fallback>
                  <p:oleObj name="" r:id="rId7" imgW="139700" imgH="203200" progId="Equation.DSMT4">
                    <p:embed/>
                    <p:pic>
                      <p:nvPicPr>
                        <p:cNvPr id="0" name="图片 3119"/>
                        <p:cNvPicPr/>
                        <p:nvPr/>
                      </p:nvPicPr>
                      <p:blipFill>
                        <a:blip r:embed="rId8"/>
                        <a:stretch>
                          <a:fillRect/>
                        </a:stretch>
                      </p:blipFill>
                      <p:spPr>
                        <a:xfrm>
                          <a:off x="1931" y="1669"/>
                          <a:ext cx="178" cy="257"/>
                        </a:xfrm>
                        <a:prstGeom prst="rect">
                          <a:avLst/>
                        </a:prstGeom>
                        <a:noFill/>
                        <a:ln w="38100">
                          <a:noFill/>
                          <a:miter/>
                        </a:ln>
                      </p:spPr>
                    </p:pic>
                  </p:oleObj>
                </mc:Fallback>
              </mc:AlternateContent>
            </a:graphicData>
          </a:graphic>
        </p:graphicFrame>
      </p:grpSp>
      <p:sp>
        <p:nvSpPr>
          <p:cNvPr id="81935" name="Rectangle 16"/>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7649" name="Object 17"/>
          <p:cNvGraphicFramePr>
            <a:graphicFrameLocks noChangeAspect="1"/>
          </p:cNvGraphicFramePr>
          <p:nvPr/>
        </p:nvGraphicFramePr>
        <p:xfrm>
          <a:off x="4267200" y="3429000"/>
          <a:ext cx="1655763" cy="1654175"/>
        </p:xfrm>
        <a:graphic>
          <a:graphicData uri="http://schemas.openxmlformats.org/presentationml/2006/ole">
            <mc:AlternateContent xmlns:mc="http://schemas.openxmlformats.org/markup-compatibility/2006">
              <mc:Choice xmlns:v="urn:schemas-microsoft-com:vml" Requires="v">
                <p:oleObj spid="_x0000_s3123" name="" r:id="rId9" imgW="711200" imgH="711200" progId="Equation.DSMT4">
                  <p:embed/>
                </p:oleObj>
              </mc:Choice>
              <mc:Fallback>
                <p:oleObj name="" r:id="rId9" imgW="711200" imgH="711200" progId="Equation.DSMT4">
                  <p:embed/>
                  <p:pic>
                    <p:nvPicPr>
                      <p:cNvPr id="0" name="图片 3122"/>
                      <p:cNvPicPr/>
                      <p:nvPr/>
                    </p:nvPicPr>
                    <p:blipFill>
                      <a:blip r:embed="rId10"/>
                      <a:stretch>
                        <a:fillRect/>
                      </a:stretch>
                    </p:blipFill>
                    <p:spPr>
                      <a:xfrm>
                        <a:off x="4267200" y="3429000"/>
                        <a:ext cx="1655763" cy="1654175"/>
                      </a:xfrm>
                      <a:prstGeom prst="rect">
                        <a:avLst/>
                      </a:prstGeom>
                      <a:noFill/>
                      <a:ln w="38100">
                        <a:noFill/>
                        <a:miter/>
                      </a:ln>
                    </p:spPr>
                  </p:pic>
                </p:oleObj>
              </mc:Fallback>
            </mc:AlternateContent>
          </a:graphicData>
        </a:graphic>
      </p:graphicFrame>
      <p:sp>
        <p:nvSpPr>
          <p:cNvPr id="197650" name="Rectangle 18"/>
          <p:cNvSpPr/>
          <p:nvPr/>
        </p:nvSpPr>
        <p:spPr>
          <a:xfrm>
            <a:off x="533400" y="5562600"/>
            <a:ext cx="1717675"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于是又可求得</a:t>
            </a:r>
            <a:endParaRPr lang="zh-CN" altLang="en-US" sz="2000" b="1">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97649"/>
                                        </p:tgtEl>
                                        <p:attrNameLst>
                                          <p:attrName>style.visibility</p:attrName>
                                        </p:attrNameLst>
                                      </p:cBhvr>
                                      <p:to>
                                        <p:strVal val="visible"/>
                                      </p:to>
                                    </p:set>
                                    <p:anim calcmode="lin" valueType="num">
                                      <p:cBhvr>
                                        <p:cTn id="13" dur="500" fill="hold"/>
                                        <p:tgtEl>
                                          <p:spTgt spid="197649"/>
                                        </p:tgtEl>
                                        <p:attrNameLst>
                                          <p:attrName>ppt_x</p:attrName>
                                        </p:attrNameLst>
                                      </p:cBhvr>
                                      <p:tavLst>
                                        <p:tav tm="0">
                                          <p:val>
                                            <p:strVal val="0-#ppt_w/2"/>
                                          </p:val>
                                        </p:tav>
                                        <p:tav tm="100000">
                                          <p:val>
                                            <p:strVal val="#ppt_x"/>
                                          </p:val>
                                        </p:tav>
                                      </p:tavLst>
                                    </p:anim>
                                    <p:anim calcmode="lin" valueType="num">
                                      <p:cBhvr>
                                        <p:cTn id="14" dur="500" fill="hold"/>
                                        <p:tgtEl>
                                          <p:spTgt spid="19764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7650"/>
                                        </p:tgtEl>
                                        <p:attrNameLst>
                                          <p:attrName>style.visibility</p:attrName>
                                        </p:attrNameLst>
                                      </p:cBhvr>
                                      <p:to>
                                        <p:strVal val="visible"/>
                                      </p:to>
                                    </p:set>
                                    <p:anim calcmode="lin" valueType="num">
                                      <p:cBhvr>
                                        <p:cTn id="19" dur="500" fill="hold"/>
                                        <p:tgtEl>
                                          <p:spTgt spid="197650"/>
                                        </p:tgtEl>
                                        <p:attrNameLst>
                                          <p:attrName>ppt_x</p:attrName>
                                        </p:attrNameLst>
                                      </p:cBhvr>
                                      <p:tavLst>
                                        <p:tav tm="0">
                                          <p:val>
                                            <p:strVal val="0-#ppt_w/2"/>
                                          </p:val>
                                        </p:tav>
                                        <p:tav tm="100000">
                                          <p:val>
                                            <p:strVal val="#ppt_x"/>
                                          </p:val>
                                        </p:tav>
                                      </p:tavLst>
                                    </p:anim>
                                    <p:anim calcmode="lin" valueType="num">
                                      <p:cBhvr>
                                        <p:cTn id="20" dur="500" fill="hold"/>
                                        <p:tgtEl>
                                          <p:spTgt spid="1976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5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Rectangle 2"/>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9683" name="Object 3"/>
          <p:cNvGraphicFramePr>
            <a:graphicFrameLocks noChangeAspect="1"/>
          </p:cNvGraphicFramePr>
          <p:nvPr/>
        </p:nvGraphicFramePr>
        <p:xfrm>
          <a:off x="684213" y="1485900"/>
          <a:ext cx="1727200" cy="1257300"/>
        </p:xfrm>
        <a:graphic>
          <a:graphicData uri="http://schemas.openxmlformats.org/presentationml/2006/ole">
            <mc:AlternateContent xmlns:mc="http://schemas.openxmlformats.org/markup-compatibility/2006">
              <mc:Choice xmlns:v="urn:schemas-microsoft-com:vml" Requires="v">
                <p:oleObj spid="_x0000_s3122" name="" r:id="rId1" imgW="977900" imgH="711200" progId="Equation.DSMT4">
                  <p:embed/>
                </p:oleObj>
              </mc:Choice>
              <mc:Fallback>
                <p:oleObj name="" r:id="rId1" imgW="977900" imgH="711200" progId="Equation.DSMT4">
                  <p:embed/>
                  <p:pic>
                    <p:nvPicPr>
                      <p:cNvPr id="0" name="图片 3121"/>
                      <p:cNvPicPr/>
                      <p:nvPr/>
                    </p:nvPicPr>
                    <p:blipFill>
                      <a:blip r:embed="rId2"/>
                      <a:stretch>
                        <a:fillRect/>
                      </a:stretch>
                    </p:blipFill>
                    <p:spPr>
                      <a:xfrm>
                        <a:off x="684213" y="1485900"/>
                        <a:ext cx="1727200" cy="1257300"/>
                      </a:xfrm>
                      <a:prstGeom prst="rect">
                        <a:avLst/>
                      </a:prstGeom>
                      <a:noFill/>
                      <a:ln w="38100">
                        <a:noFill/>
                        <a:miter/>
                      </a:ln>
                    </p:spPr>
                  </p:pic>
                </p:oleObj>
              </mc:Fallback>
            </mc:AlternateContent>
          </a:graphicData>
        </a:graphic>
      </p:graphicFrame>
      <p:sp>
        <p:nvSpPr>
          <p:cNvPr id="83971" name="Rectangle 4"/>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3" name="Group 5"/>
          <p:cNvGrpSpPr/>
          <p:nvPr/>
        </p:nvGrpSpPr>
        <p:grpSpPr>
          <a:xfrm>
            <a:off x="2871788" y="1506538"/>
            <a:ext cx="5434012" cy="1274762"/>
            <a:chOff x="455" y="994"/>
            <a:chExt cx="3423" cy="803"/>
          </a:xfrm>
        </p:grpSpPr>
        <p:graphicFrame>
          <p:nvGraphicFramePr>
            <p:cNvPr id="83973" name="Object 6"/>
            <p:cNvGraphicFramePr>
              <a:graphicFrameLocks noChangeAspect="1"/>
            </p:cNvGraphicFramePr>
            <p:nvPr/>
          </p:nvGraphicFramePr>
          <p:xfrm>
            <a:off x="455" y="994"/>
            <a:ext cx="1766" cy="803"/>
          </p:xfrm>
          <a:graphic>
            <a:graphicData uri="http://schemas.openxmlformats.org/presentationml/2006/ole">
              <mc:AlternateContent xmlns:mc="http://schemas.openxmlformats.org/markup-compatibility/2006">
                <mc:Choice xmlns:v="urn:schemas-microsoft-com:vml" Requires="v">
                  <p:oleObj spid="_x0000_s3116" name="" r:id="rId3" imgW="1574800" imgH="711200" progId="Equation.DSMT4">
                    <p:embed/>
                  </p:oleObj>
                </mc:Choice>
                <mc:Fallback>
                  <p:oleObj name="" r:id="rId3" imgW="1574800" imgH="711200" progId="Equation.DSMT4">
                    <p:embed/>
                    <p:pic>
                      <p:nvPicPr>
                        <p:cNvPr id="0" name="图片 3115"/>
                        <p:cNvPicPr/>
                        <p:nvPr/>
                      </p:nvPicPr>
                      <p:blipFill>
                        <a:blip r:embed="rId4"/>
                        <a:stretch>
                          <a:fillRect/>
                        </a:stretch>
                      </p:blipFill>
                      <p:spPr>
                        <a:xfrm>
                          <a:off x="455" y="994"/>
                          <a:ext cx="1766" cy="803"/>
                        </a:xfrm>
                        <a:prstGeom prst="rect">
                          <a:avLst/>
                        </a:prstGeom>
                        <a:noFill/>
                        <a:ln w="38100">
                          <a:noFill/>
                          <a:miter/>
                        </a:ln>
                      </p:spPr>
                    </p:pic>
                  </p:oleObj>
                </mc:Fallback>
              </mc:AlternateContent>
            </a:graphicData>
          </a:graphic>
        </p:graphicFrame>
        <p:sp>
          <p:nvSpPr>
            <p:cNvPr id="83974" name="Rectangle 7"/>
            <p:cNvSpPr/>
            <p:nvPr/>
          </p:nvSpPr>
          <p:spPr>
            <a:xfrm>
              <a:off x="2273" y="1275"/>
              <a:ext cx="1605" cy="250"/>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，相应的两分图为： </a:t>
              </a:r>
              <a:endParaRPr lang="zh-CN" altLang="en-US" sz="2000" b="1">
                <a:latin typeface="Times New Roman" panose="02020603050405020304" pitchFamily="18" charset="0"/>
                <a:ea typeface="宋体" panose="02010600030101010101" pitchFamily="2" charset="-122"/>
              </a:endParaRPr>
            </a:p>
          </p:txBody>
        </p:sp>
      </p:grpSp>
      <p:sp>
        <p:nvSpPr>
          <p:cNvPr id="83975" name="Rectangle 8"/>
          <p:cNvSpPr/>
          <p:nvPr/>
        </p:nvSpPr>
        <p:spPr>
          <a:xfrm>
            <a:off x="-1765300" y="33575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83976" name="Rectangle 9"/>
          <p:cNvSpPr/>
          <p:nvPr/>
        </p:nvSpPr>
        <p:spPr>
          <a:xfrm>
            <a:off x="-541337" y="32845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83977" name="Group 10"/>
          <p:cNvGrpSpPr/>
          <p:nvPr/>
        </p:nvGrpSpPr>
        <p:grpSpPr>
          <a:xfrm>
            <a:off x="468313" y="2746375"/>
            <a:ext cx="7993062" cy="1978025"/>
            <a:chOff x="295" y="1888"/>
            <a:chExt cx="5035" cy="1246"/>
          </a:xfrm>
        </p:grpSpPr>
        <p:sp>
          <p:nvSpPr>
            <p:cNvPr id="83978" name="Text Box 11"/>
            <p:cNvSpPr txBox="1"/>
            <p:nvPr/>
          </p:nvSpPr>
          <p:spPr>
            <a:xfrm>
              <a:off x="295" y="2116"/>
              <a:ext cx="5035" cy="1018"/>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又可得                             ，</a:t>
              </a:r>
              <a:r>
                <a:rPr lang="en-US" altLang="zh-CN" sz="2000" b="1">
                  <a:solidFill>
                    <a:srgbClr val="000000"/>
                  </a:solidFill>
                  <a:latin typeface="Times New Roman" panose="02020603050405020304" pitchFamily="18" charset="0"/>
                  <a:ea typeface="宋体" panose="02010600030101010101" pitchFamily="2" charset="-122"/>
                </a:rPr>
                <a:t>…</a:t>
              </a:r>
              <a:r>
                <a:rPr lang="zh-CN" altLang="en-US" sz="2000" b="1">
                  <a:solidFill>
                    <a:srgbClr val="000000"/>
                  </a:solidFill>
                  <a:latin typeface="Times New Roman" panose="02020603050405020304" pitchFamily="18" charset="0"/>
                  <a:ea typeface="宋体" panose="02010600030101010101" pitchFamily="2" charset="-122"/>
                </a:rPr>
                <a:t>，如此下去，直到作不出</a:t>
              </a:r>
              <a:r>
                <a:rPr lang="en-US" altLang="zh-CN" sz="2000" b="1">
                  <a:solidFill>
                    <a:srgbClr val="000000"/>
                  </a:solidFill>
                  <a:latin typeface="Times New Roman" panose="02020603050405020304" pitchFamily="18" charset="0"/>
                  <a:ea typeface="宋体" panose="02010600030101010101" pitchFamily="2" charset="-122"/>
                </a:rPr>
                <a:t>P</a:t>
              </a:r>
              <a:r>
                <a:rPr lang="zh-CN" altLang="en-US" sz="2000" b="1">
                  <a:solidFill>
                    <a:srgbClr val="000000"/>
                  </a:solidFill>
                  <a:latin typeface="Times New Roman" panose="02020603050405020304" pitchFamily="18" charset="0"/>
                  <a:ea typeface="宋体" panose="02010600030101010101" pitchFamily="2" charset="-122"/>
                </a:rPr>
                <a:t>为至，</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由于     的特殊性质及</a:t>
              </a:r>
              <a:r>
                <a:rPr lang="en-US" altLang="zh-CN" sz="2000" b="1">
                  <a:solidFill>
                    <a:srgbClr val="000000"/>
                  </a:solidFill>
                  <a:latin typeface="Times New Roman" panose="02020603050405020304" pitchFamily="18" charset="0"/>
                  <a:ea typeface="宋体" panose="02010600030101010101" pitchFamily="2" charset="-122"/>
                </a:rPr>
                <a:t>Birkhoff</a:t>
              </a:r>
              <a:r>
                <a:rPr lang="zh-CN" altLang="en-US" sz="2000" b="1">
                  <a:solidFill>
                    <a:srgbClr val="000000"/>
                  </a:solidFill>
                  <a:latin typeface="Times New Roman" panose="02020603050405020304" pitchFamily="18" charset="0"/>
                  <a:ea typeface="宋体" panose="02010600030101010101" pitchFamily="2" charset="-122"/>
                </a:rPr>
                <a:t>定理，上述分解必能在不超过</a:t>
              </a:r>
              <a:r>
                <a:rPr lang="en-US" altLang="zh-CN" sz="2000" b="1" i="1">
                  <a:solidFill>
                    <a:srgbClr val="000000"/>
                  </a:solidFill>
                  <a:latin typeface="Times New Roman" panose="02020603050405020304" pitchFamily="18" charset="0"/>
                  <a:ea typeface="宋体" panose="02010600030101010101" pitchFamily="2" charset="-122"/>
                </a:rPr>
                <a:t>r</a:t>
              </a:r>
              <a:r>
                <a:rPr lang="en-US" altLang="zh-CN" sz="2000" b="1">
                  <a:solidFill>
                    <a:srgbClr val="000000"/>
                  </a:solidFill>
                  <a:latin typeface="Times New Roman" panose="02020603050405020304" pitchFamily="18" charset="0"/>
                  <a:ea typeface="宋体" panose="02010600030101010101" pitchFamily="2" charset="-122"/>
                </a:rPr>
                <a:t>= (</a:t>
              </a:r>
              <a:r>
                <a:rPr lang="en-US" altLang="zh-CN" sz="2000" b="1" i="1">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1)</a:t>
              </a:r>
              <a:r>
                <a:rPr lang="en-US" altLang="zh-CN" sz="2000" b="1" baseline="30000">
                  <a:solidFill>
                    <a:srgbClr val="000000"/>
                  </a:solidFill>
                  <a:latin typeface="Times New Roman" panose="02020603050405020304" pitchFamily="18" charset="0"/>
                  <a:ea typeface="宋体" panose="02010600030101010101" pitchFamily="2" charset="-122"/>
                </a:rPr>
                <a:t>2</a:t>
              </a:r>
              <a:r>
                <a:rPr lang="en-US" altLang="zh-CN" sz="2000" b="1">
                  <a:solidFill>
                    <a:srgbClr val="000000"/>
                  </a:solidFill>
                  <a:latin typeface="Times New Roman" panose="02020603050405020304" pitchFamily="18" charset="0"/>
                  <a:ea typeface="宋体" panose="02010600030101010101" pitchFamily="2" charset="-122"/>
                </a:rPr>
                <a:t> + 1</a:t>
              </a:r>
              <a:r>
                <a:rPr lang="zh-CN" altLang="en-US" sz="2000" b="1">
                  <a:solidFill>
                    <a:srgbClr val="000000"/>
                  </a:solidFill>
                  <a:latin typeface="Times New Roman" panose="02020603050405020304" pitchFamily="18" charset="0"/>
                  <a:ea typeface="宋体" panose="02010600030101010101" pitchFamily="2" charset="-122"/>
                </a:rPr>
                <a:t>步内终止。</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83979" name="Object 12"/>
            <p:cNvGraphicFramePr>
              <a:graphicFrameLocks noChangeAspect="1"/>
            </p:cNvGraphicFramePr>
            <p:nvPr/>
          </p:nvGraphicFramePr>
          <p:xfrm>
            <a:off x="883" y="1888"/>
            <a:ext cx="1044" cy="753"/>
          </p:xfrm>
          <a:graphic>
            <a:graphicData uri="http://schemas.openxmlformats.org/presentationml/2006/ole">
              <mc:AlternateContent xmlns:mc="http://schemas.openxmlformats.org/markup-compatibility/2006">
                <mc:Choice xmlns:v="urn:schemas-microsoft-com:vml" Requires="v">
                  <p:oleObj spid="_x0000_s3124" name="" r:id="rId5" imgW="989965" imgH="711200" progId="Equation.DSMT4">
                    <p:embed/>
                  </p:oleObj>
                </mc:Choice>
                <mc:Fallback>
                  <p:oleObj name="" r:id="rId5" imgW="989965" imgH="711200" progId="Equation.DSMT4">
                    <p:embed/>
                    <p:pic>
                      <p:nvPicPr>
                        <p:cNvPr id="0" name="图片 3123"/>
                        <p:cNvPicPr/>
                        <p:nvPr/>
                      </p:nvPicPr>
                      <p:blipFill>
                        <a:blip r:embed="rId6"/>
                        <a:stretch>
                          <a:fillRect/>
                        </a:stretch>
                      </p:blipFill>
                      <p:spPr>
                        <a:xfrm>
                          <a:off x="883" y="1888"/>
                          <a:ext cx="1044" cy="753"/>
                        </a:xfrm>
                        <a:prstGeom prst="rect">
                          <a:avLst/>
                        </a:prstGeom>
                        <a:noFill/>
                        <a:ln w="38100">
                          <a:noFill/>
                          <a:miter/>
                        </a:ln>
                      </p:spPr>
                    </p:pic>
                  </p:oleObj>
                </mc:Fallback>
              </mc:AlternateContent>
            </a:graphicData>
          </a:graphic>
        </p:graphicFrame>
        <p:graphicFrame>
          <p:nvGraphicFramePr>
            <p:cNvPr id="83980" name="Object 13"/>
            <p:cNvGraphicFramePr>
              <a:graphicFrameLocks noChangeAspect="1"/>
            </p:cNvGraphicFramePr>
            <p:nvPr/>
          </p:nvGraphicFramePr>
          <p:xfrm>
            <a:off x="703" y="2667"/>
            <a:ext cx="207" cy="256"/>
          </p:xfrm>
          <a:graphic>
            <a:graphicData uri="http://schemas.openxmlformats.org/presentationml/2006/ole">
              <mc:AlternateContent xmlns:mc="http://schemas.openxmlformats.org/markup-compatibility/2006">
                <mc:Choice xmlns:v="urn:schemas-microsoft-com:vml" Requires="v">
                  <p:oleObj spid="_x0000_s3125" name="" r:id="rId7" imgW="139700" imgH="203200" progId="Equation.DSMT4">
                    <p:embed/>
                  </p:oleObj>
                </mc:Choice>
                <mc:Fallback>
                  <p:oleObj name="" r:id="rId7" imgW="139700" imgH="203200" progId="Equation.DSMT4">
                    <p:embed/>
                    <p:pic>
                      <p:nvPicPr>
                        <p:cNvPr id="0" name="图片 3124"/>
                        <p:cNvPicPr/>
                        <p:nvPr/>
                      </p:nvPicPr>
                      <p:blipFill>
                        <a:blip r:embed="rId8"/>
                        <a:stretch>
                          <a:fillRect/>
                        </a:stretch>
                      </p:blipFill>
                      <p:spPr>
                        <a:xfrm>
                          <a:off x="703" y="2667"/>
                          <a:ext cx="207" cy="256"/>
                        </a:xfrm>
                        <a:prstGeom prst="rect">
                          <a:avLst/>
                        </a:prstGeom>
                        <a:noFill/>
                        <a:ln w="38100">
                          <a:noFill/>
                          <a:miter/>
                        </a:ln>
                      </p:spPr>
                    </p:pic>
                  </p:oleObj>
                </mc:Fallback>
              </mc:AlternateContent>
            </a:graphicData>
          </a:graphic>
        </p:graphicFrame>
      </p:grpSp>
      <p:sp>
        <p:nvSpPr>
          <p:cNvPr id="199694" name="Rectangle 14"/>
          <p:cNvSpPr/>
          <p:nvPr/>
        </p:nvSpPr>
        <p:spPr>
          <a:xfrm>
            <a:off x="395288" y="4797425"/>
            <a:ext cx="8208962" cy="13112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上述开关设计方法要求在通讯卫星上设置</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1)</a:t>
            </a:r>
            <a:r>
              <a:rPr lang="en-US" altLang="zh-CN" sz="2000" b="1" baseline="30000">
                <a:latin typeface="Times New Roman" panose="02020603050405020304" pitchFamily="18" charset="0"/>
                <a:ea typeface="宋体" panose="02010600030101010101" pitchFamily="2" charset="-122"/>
              </a:rPr>
              <a:t>2</a:t>
            </a:r>
            <a:r>
              <a:rPr lang="en-US" altLang="zh-CN" sz="2000" b="1">
                <a:latin typeface="Times New Roman" panose="02020603050405020304" pitchFamily="18" charset="0"/>
                <a:ea typeface="宋体" panose="02010600030101010101" pitchFamily="2" charset="-122"/>
              </a:rPr>
              <a:t> + 1</a:t>
            </a:r>
            <a:r>
              <a:rPr lang="zh-CN" altLang="en-US" sz="2000" b="1">
                <a:latin typeface="Times New Roman" panose="02020603050405020304" pitchFamily="18" charset="0"/>
                <a:ea typeface="宋体" panose="02010600030101010101" pitchFamily="2" charset="-122"/>
              </a:rPr>
              <a:t>种不同的开关模式（即</a:t>
            </a:r>
            <a:r>
              <a:rPr lang="en-US" altLang="zh-CN" sz="2000" b="1" i="1">
                <a:latin typeface="Times New Roman" panose="02020603050405020304" pitchFamily="18" charset="0"/>
                <a:ea typeface="宋体" panose="02010600030101010101" pitchFamily="2" charset="-122"/>
              </a:rPr>
              <a:t>P</a:t>
            </a:r>
            <a:r>
              <a:rPr lang="en-US" altLang="zh-CN" sz="2000" b="1" i="1" baseline="-30000">
                <a:latin typeface="Times New Roman" panose="02020603050405020304" pitchFamily="18" charset="0"/>
                <a:ea typeface="宋体" panose="02010600030101010101" pitchFamily="2" charset="-122"/>
              </a:rPr>
              <a:t>k</a:t>
            </a:r>
            <a:r>
              <a:rPr lang="zh-CN" altLang="en-US" sz="2000" b="1">
                <a:latin typeface="Times New Roman" panose="02020603050405020304" pitchFamily="18" charset="0"/>
                <a:ea typeface="宋体" panose="02010600030101010101" pitchFamily="2" charset="-122"/>
              </a:rPr>
              <a:t>），当</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稍大时，</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1)</a:t>
            </a:r>
            <a:r>
              <a:rPr lang="en-US" altLang="zh-CN" sz="2000" b="1" baseline="30000">
                <a:latin typeface="Times New Roman" panose="02020603050405020304" pitchFamily="18" charset="0"/>
                <a:ea typeface="宋体" panose="02010600030101010101" pitchFamily="2" charset="-122"/>
              </a:rPr>
              <a:t>2</a:t>
            </a:r>
            <a:r>
              <a:rPr lang="en-US" altLang="zh-CN" sz="2000" b="1">
                <a:latin typeface="Times New Roman" panose="02020603050405020304" pitchFamily="18" charset="0"/>
                <a:ea typeface="宋体" panose="02010600030101010101" pitchFamily="2" charset="-122"/>
              </a:rPr>
              <a:t> + 1</a:t>
            </a:r>
            <a:r>
              <a:rPr lang="zh-CN" altLang="en-US" sz="2000" b="1">
                <a:latin typeface="Times New Roman" panose="02020603050405020304" pitchFamily="18" charset="0"/>
                <a:ea typeface="宋体" panose="02010600030101010101" pitchFamily="2" charset="-122"/>
              </a:rPr>
              <a:t>仍显得太大而使得使用时不便。例如，当</a:t>
            </a:r>
            <a:r>
              <a:rPr lang="en-US" altLang="zh-CN" sz="2000" b="1" i="1">
                <a:latin typeface="Times New Roman" panose="02020603050405020304" pitchFamily="18" charset="0"/>
                <a:ea typeface="宋体" panose="02010600030101010101" pitchFamily="2" charset="-122"/>
              </a:rPr>
              <a:t>n</a:t>
            </a:r>
            <a:r>
              <a:rPr lang="en-US" altLang="zh-CN" sz="2000" b="1">
                <a:latin typeface="Times New Roman" panose="02020603050405020304" pitchFamily="18" charset="0"/>
                <a:ea typeface="宋体" panose="02010600030101010101" pitchFamily="2" charset="-122"/>
              </a:rPr>
              <a:t>=41</a:t>
            </a:r>
            <a:r>
              <a:rPr lang="zh-CN" altLang="en-US" sz="2000" b="1">
                <a:latin typeface="Times New Roman" panose="02020603050405020304" pitchFamily="18" charset="0"/>
                <a:ea typeface="宋体" panose="02010600030101010101" pitchFamily="2" charset="-122"/>
              </a:rPr>
              <a:t>时，</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1)</a:t>
            </a:r>
            <a:r>
              <a:rPr lang="en-US" altLang="zh-CN" sz="2000" b="1" baseline="30000">
                <a:latin typeface="Times New Roman" panose="02020603050405020304" pitchFamily="18" charset="0"/>
                <a:ea typeface="宋体" panose="02010600030101010101" pitchFamily="2" charset="-122"/>
              </a:rPr>
              <a:t>2</a:t>
            </a:r>
            <a:r>
              <a:rPr lang="en-US" altLang="zh-CN" sz="2000" b="1">
                <a:latin typeface="Times New Roman" panose="02020603050405020304" pitchFamily="18" charset="0"/>
                <a:ea typeface="宋体" panose="02010600030101010101" pitchFamily="2" charset="-122"/>
              </a:rPr>
              <a:t> + 1=1601</a:t>
            </a:r>
            <a:r>
              <a:rPr lang="zh-CN" altLang="en-US" sz="2000" b="1">
                <a:latin typeface="Times New Roman" panose="02020603050405020304" pitchFamily="18" charset="0"/>
                <a:ea typeface="宋体" panose="02010600030101010101" pitchFamily="2" charset="-122"/>
              </a:rPr>
              <a:t>。为实用方便，人们研究了限止开关模式个数的相应问题。</a:t>
            </a:r>
            <a:endParaRPr lang="zh-CN" altLang="en-US" sz="2000" b="1">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99683"/>
                                        </p:tgtEl>
                                        <p:attrNameLst>
                                          <p:attrName>style.visibility</p:attrName>
                                        </p:attrNameLst>
                                      </p:cBhvr>
                                      <p:to>
                                        <p:strVal val="visible"/>
                                      </p:to>
                                    </p:set>
                                    <p:anim calcmode="lin" valueType="num">
                                      <p:cBhvr>
                                        <p:cTn id="7" dur="500" fill="hold"/>
                                        <p:tgtEl>
                                          <p:spTgt spid="199683"/>
                                        </p:tgtEl>
                                        <p:attrNameLst>
                                          <p:attrName>ppt_x</p:attrName>
                                        </p:attrNameLst>
                                      </p:cBhvr>
                                      <p:tavLst>
                                        <p:tav tm="0">
                                          <p:val>
                                            <p:strVal val="0-#ppt_w/2"/>
                                          </p:val>
                                        </p:tav>
                                        <p:tav tm="100000">
                                          <p:val>
                                            <p:strVal val="#ppt_x"/>
                                          </p:val>
                                        </p:tav>
                                      </p:tavLst>
                                    </p:anim>
                                    <p:anim calcmode="lin" valueType="num">
                                      <p:cBhvr>
                                        <p:cTn id="8" dur="500" fill="hold"/>
                                        <p:tgtEl>
                                          <p:spTgt spid="1996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0-#ppt_w/2"/>
                                          </p:val>
                                        </p:tav>
                                        <p:tav tm="100000">
                                          <p:val>
                                            <p:strVal val="#ppt_x"/>
                                          </p:val>
                                        </p:tav>
                                      </p:tavLst>
                                    </p:anim>
                                    <p:anim calcmode="lin" valueType="num">
                                      <p:cBhvr>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9694"/>
                                        </p:tgtEl>
                                        <p:attrNameLst>
                                          <p:attrName>style.visibility</p:attrName>
                                        </p:attrNameLst>
                                      </p:cBhvr>
                                      <p:to>
                                        <p:strVal val="visible"/>
                                      </p:to>
                                    </p:set>
                                    <p:anim calcmode="lin" valueType="num">
                                      <p:cBhvr>
                                        <p:cTn id="19" dur="500" fill="hold"/>
                                        <p:tgtEl>
                                          <p:spTgt spid="199694"/>
                                        </p:tgtEl>
                                        <p:attrNameLst>
                                          <p:attrName>ppt_x</p:attrName>
                                        </p:attrNameLst>
                                      </p:cBhvr>
                                      <p:tavLst>
                                        <p:tav tm="0">
                                          <p:val>
                                            <p:strVal val="0-#ppt_w/2"/>
                                          </p:val>
                                        </p:tav>
                                        <p:tav tm="100000">
                                          <p:val>
                                            <p:strVal val="#ppt_x"/>
                                          </p:val>
                                        </p:tav>
                                      </p:tavLst>
                                    </p:anim>
                                    <p:anim calcmode="lin" valueType="num">
                                      <p:cBhvr>
                                        <p:cTn id="20" dur="500" fill="hold"/>
                                        <p:tgtEl>
                                          <p:spTgt spid="1996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9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p:nvPr/>
        </p:nvSpPr>
        <p:spPr>
          <a:xfrm>
            <a:off x="323850" y="1203325"/>
            <a:ext cx="8280400" cy="7016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若要求</a:t>
            </a:r>
            <a:r>
              <a:rPr lang="en-US" altLang="zh-CN" sz="2000" b="1" i="1">
                <a:latin typeface="Times New Roman" panose="02020603050405020304" pitchFamily="18" charset="0"/>
                <a:ea typeface="宋体" panose="02010600030101010101" pitchFamily="2" charset="-122"/>
              </a:rPr>
              <a:t>r</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，即要求通讯卫星上至多设置</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种开关模式，则问题化为令</a:t>
            </a:r>
            <a:r>
              <a:rPr lang="en-US" altLang="zh-CN" sz="2000" b="1" i="1">
                <a:latin typeface="Times New Roman" panose="02020603050405020304" pitchFamily="18" charset="0"/>
                <a:ea typeface="宋体" panose="02010600030101010101" pitchFamily="2" charset="-122"/>
              </a:rPr>
              <a:t>r</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，求不超过</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个置换矩阵</a:t>
            </a:r>
            <a:r>
              <a:rPr lang="en-US" altLang="zh-CN" sz="2000" b="1" i="1">
                <a:latin typeface="Times New Roman" panose="02020603050405020304" pitchFamily="18" charset="0"/>
                <a:ea typeface="宋体" panose="02010600030101010101" pitchFamily="2" charset="-122"/>
              </a:rPr>
              <a:t>P</a:t>
            </a:r>
            <a:r>
              <a:rPr lang="en-US" altLang="zh-CN" sz="2000" b="1" i="1" baseline="-30000">
                <a:latin typeface="Times New Roman" panose="02020603050405020304" pitchFamily="18" charset="0"/>
                <a:ea typeface="宋体" panose="02010600030101010101" pitchFamily="2" charset="-122"/>
              </a:rPr>
              <a:t>k</a:t>
            </a:r>
            <a:r>
              <a:rPr lang="zh-CN" altLang="en-US" sz="2000" b="1">
                <a:latin typeface="Times New Roman" panose="02020603050405020304" pitchFamily="18" charset="0"/>
                <a:ea typeface="宋体" panose="02010600030101010101" pitchFamily="2" charset="-122"/>
              </a:rPr>
              <a:t>及</a:t>
            </a:r>
            <a:r>
              <a:rPr lang="en-US" altLang="zh-CN" sz="2000" b="1">
                <a:latin typeface="Times New Roman" panose="02020603050405020304" pitchFamily="18" charset="0"/>
                <a:ea typeface="宋体" panose="02010600030101010101" pitchFamily="2" charset="-122"/>
              </a:rPr>
              <a:t>λ</a:t>
            </a:r>
            <a:r>
              <a:rPr lang="en-US" altLang="zh-CN" sz="2000" b="1" i="1" baseline="-30000">
                <a:latin typeface="Times New Roman" panose="02020603050405020304" pitchFamily="18" charset="0"/>
                <a:ea typeface="宋体" panose="02010600030101010101" pitchFamily="2" charset="-122"/>
              </a:rPr>
              <a:t>k</a:t>
            </a:r>
            <a:r>
              <a:rPr lang="zh-CN" altLang="en-US" sz="2000" b="1">
                <a:latin typeface="Times New Roman" panose="02020603050405020304" pitchFamily="18" charset="0"/>
                <a:ea typeface="宋体" panose="02010600030101010101" pitchFamily="2" charset="-122"/>
              </a:rPr>
              <a:t>，使之满足： </a:t>
            </a:r>
            <a:endParaRPr lang="zh-CN" altLang="en-US" sz="2000" b="1">
              <a:latin typeface="Times New Roman" panose="02020603050405020304" pitchFamily="18" charset="0"/>
              <a:ea typeface="宋体" panose="02010600030101010101" pitchFamily="2" charset="-122"/>
            </a:endParaRPr>
          </a:p>
        </p:txBody>
      </p:sp>
      <p:sp>
        <p:nvSpPr>
          <p:cNvPr id="86018" name="Rectangle 3"/>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86019" name="Rectangle 4"/>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5"/>
          <p:cNvGrpSpPr/>
          <p:nvPr/>
        </p:nvGrpSpPr>
        <p:grpSpPr>
          <a:xfrm>
            <a:off x="1311275" y="1773238"/>
            <a:ext cx="2108200" cy="1427162"/>
            <a:chOff x="645" y="709"/>
            <a:chExt cx="1328" cy="899"/>
          </a:xfrm>
        </p:grpSpPr>
        <p:sp>
          <p:nvSpPr>
            <p:cNvPr id="86021" name="Text Box 6"/>
            <p:cNvSpPr txBox="1"/>
            <p:nvPr/>
          </p:nvSpPr>
          <p:spPr>
            <a:xfrm>
              <a:off x="645" y="843"/>
              <a:ext cx="422" cy="634"/>
            </a:xfrm>
            <a:prstGeom prst="rect">
              <a:avLst/>
            </a:prstGeom>
            <a:noFill/>
            <a:ln w="9525">
              <a:noFill/>
            </a:ln>
          </p:spPr>
          <p:txBody>
            <a:bodyPr wrap="none" anchor="t">
              <a:spAutoFit/>
            </a:bodyPr>
            <a:p>
              <a:r>
                <a:rPr lang="en-US" altLang="zh-CN" sz="2000" b="1">
                  <a:solidFill>
                    <a:srgbClr val="000000"/>
                  </a:solidFill>
                  <a:latin typeface="Times New Roman" panose="02020603050405020304" pitchFamily="18" charset="0"/>
                  <a:ea typeface="宋体" panose="02010600030101010101" pitchFamily="2" charset="-122"/>
                </a:rPr>
                <a:t>min </a:t>
              </a:r>
              <a:endParaRPr lang="en-US" altLang="zh-CN" sz="2000" b="1">
                <a:solidFill>
                  <a:srgbClr val="000000"/>
                </a:solidFill>
                <a:latin typeface="Times New Roman" panose="02020603050405020304" pitchFamily="18" charset="0"/>
                <a:ea typeface="宋体" panose="02010600030101010101" pitchFamily="2" charset="-122"/>
              </a:endParaRPr>
            </a:p>
            <a:p>
              <a:endParaRPr lang="en-US" altLang="zh-CN" sz="2000" b="1">
                <a:solidFill>
                  <a:srgbClr val="000000"/>
                </a:solidFill>
                <a:latin typeface="Times New Roman" panose="02020603050405020304" pitchFamily="18" charset="0"/>
                <a:ea typeface="宋体" panose="02010600030101010101" pitchFamily="2" charset="-122"/>
              </a:endParaRPr>
            </a:p>
            <a:p>
              <a:r>
                <a:rPr lang="en-US" altLang="zh-CN" sz="2000" b="1">
                  <a:solidFill>
                    <a:srgbClr val="000000"/>
                  </a:solidFill>
                  <a:latin typeface="Times New Roman" panose="02020603050405020304" pitchFamily="18" charset="0"/>
                  <a:ea typeface="宋体" panose="02010600030101010101" pitchFamily="2" charset="-122"/>
                </a:rPr>
                <a:t> S.t</a:t>
              </a:r>
              <a:r>
                <a:rPr lang="en-US" altLang="zh-CN" sz="2000" b="1">
                  <a:latin typeface="Times New Roman" panose="02020603050405020304" pitchFamily="18" charset="0"/>
                  <a:ea typeface="宋体" panose="02010600030101010101" pitchFamily="2" charset="-122"/>
                </a:rPr>
                <a:t> </a:t>
              </a:r>
              <a:endParaRPr lang="en-US" altLang="zh-CN" sz="2000" b="1">
                <a:latin typeface="Times New Roman" panose="02020603050405020304" pitchFamily="18" charset="0"/>
                <a:ea typeface="宋体" panose="02010600030101010101" pitchFamily="2" charset="-122"/>
              </a:endParaRPr>
            </a:p>
          </p:txBody>
        </p:sp>
        <p:graphicFrame>
          <p:nvGraphicFramePr>
            <p:cNvPr id="86022" name="Object 7"/>
            <p:cNvGraphicFramePr>
              <a:graphicFrameLocks noChangeAspect="1"/>
            </p:cNvGraphicFramePr>
            <p:nvPr/>
          </p:nvGraphicFramePr>
          <p:xfrm>
            <a:off x="1133" y="709"/>
            <a:ext cx="432" cy="499"/>
          </p:xfrm>
          <a:graphic>
            <a:graphicData uri="http://schemas.openxmlformats.org/presentationml/2006/ole">
              <mc:AlternateContent xmlns:mc="http://schemas.openxmlformats.org/markup-compatibility/2006">
                <mc:Choice xmlns:v="urn:schemas-microsoft-com:vml" Requires="v">
                  <p:oleObj spid="_x0000_s3229" name="" r:id="rId1" imgW="368300" imgH="431800" progId="Equation.DSMT4">
                    <p:embed/>
                  </p:oleObj>
                </mc:Choice>
                <mc:Fallback>
                  <p:oleObj name="" r:id="rId1" imgW="368300" imgH="431800" progId="Equation.DSMT4">
                    <p:embed/>
                    <p:pic>
                      <p:nvPicPr>
                        <p:cNvPr id="0" name="图片 3228"/>
                        <p:cNvPicPr/>
                        <p:nvPr/>
                      </p:nvPicPr>
                      <p:blipFill>
                        <a:blip r:embed="rId2"/>
                        <a:stretch>
                          <a:fillRect/>
                        </a:stretch>
                      </p:blipFill>
                      <p:spPr>
                        <a:xfrm>
                          <a:off x="1133" y="709"/>
                          <a:ext cx="432" cy="499"/>
                        </a:xfrm>
                        <a:prstGeom prst="rect">
                          <a:avLst/>
                        </a:prstGeom>
                        <a:noFill/>
                        <a:ln w="38100">
                          <a:noFill/>
                          <a:miter/>
                        </a:ln>
                      </p:spPr>
                    </p:pic>
                  </p:oleObj>
                </mc:Fallback>
              </mc:AlternateContent>
            </a:graphicData>
          </a:graphic>
        </p:graphicFrame>
        <p:graphicFrame>
          <p:nvGraphicFramePr>
            <p:cNvPr id="86023" name="Object 8"/>
            <p:cNvGraphicFramePr>
              <a:graphicFrameLocks noChangeAspect="1"/>
            </p:cNvGraphicFramePr>
            <p:nvPr/>
          </p:nvGraphicFramePr>
          <p:xfrm>
            <a:off x="1111" y="1117"/>
            <a:ext cx="862" cy="491"/>
          </p:xfrm>
          <a:graphic>
            <a:graphicData uri="http://schemas.openxmlformats.org/presentationml/2006/ole">
              <mc:AlternateContent xmlns:mc="http://schemas.openxmlformats.org/markup-compatibility/2006">
                <mc:Choice xmlns:v="urn:schemas-microsoft-com:vml" Requires="v">
                  <p:oleObj spid="_x0000_s3230" name="" r:id="rId3" imgW="748665" imgH="431800" progId="Equation.DSMT4">
                    <p:embed/>
                  </p:oleObj>
                </mc:Choice>
                <mc:Fallback>
                  <p:oleObj name="" r:id="rId3" imgW="748665" imgH="431800" progId="Equation.DSMT4">
                    <p:embed/>
                    <p:pic>
                      <p:nvPicPr>
                        <p:cNvPr id="0" name="图片 3229"/>
                        <p:cNvPicPr/>
                        <p:nvPr/>
                      </p:nvPicPr>
                      <p:blipFill>
                        <a:blip r:embed="rId4"/>
                        <a:stretch>
                          <a:fillRect/>
                        </a:stretch>
                      </p:blipFill>
                      <p:spPr>
                        <a:xfrm>
                          <a:off x="1111" y="1117"/>
                          <a:ext cx="862" cy="491"/>
                        </a:xfrm>
                        <a:prstGeom prst="rect">
                          <a:avLst/>
                        </a:prstGeom>
                        <a:noFill/>
                        <a:ln w="38100">
                          <a:noFill/>
                          <a:miter/>
                        </a:ln>
                      </p:spPr>
                    </p:pic>
                  </p:oleObj>
                </mc:Fallback>
              </mc:AlternateContent>
            </a:graphicData>
          </a:graphic>
        </p:graphicFrame>
      </p:grpSp>
      <p:sp>
        <p:nvSpPr>
          <p:cNvPr id="201737" name="Rectangle 9"/>
          <p:cNvSpPr/>
          <p:nvPr/>
        </p:nvSpPr>
        <p:spPr>
          <a:xfrm>
            <a:off x="288925" y="3108325"/>
            <a:ext cx="8820150" cy="7016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为了使任意一对发射法与接收站之间的传送均为可能实现的，自然应要求</a:t>
            </a:r>
            <a:endParaRPr lang="zh-CN" altLang="en-US" sz="2000" b="1">
              <a:latin typeface="Times New Roman" panose="02020603050405020304" pitchFamily="18" charset="0"/>
              <a:ea typeface="宋体" panose="02010600030101010101" pitchFamily="2" charset="-122"/>
            </a:endParaRPr>
          </a:p>
          <a:p>
            <a:r>
              <a:rPr lang="en-US" altLang="zh-CN" sz="2000" b="1" i="1">
                <a:latin typeface="Times New Roman" panose="02020603050405020304" pitchFamily="18" charset="0"/>
                <a:ea typeface="宋体" panose="02010600030101010101" pitchFamily="2" charset="-122"/>
              </a:rPr>
              <a:t>P</a:t>
            </a:r>
            <a:r>
              <a:rPr lang="en-US" altLang="zh-CN" sz="2000" b="1" i="1" baseline="-30000">
                <a:latin typeface="Times New Roman" panose="02020603050405020304" pitchFamily="18" charset="0"/>
                <a:ea typeface="宋体" panose="02010600030101010101" pitchFamily="2" charset="-122"/>
              </a:rPr>
              <a:t>k</a:t>
            </a:r>
            <a:r>
              <a:rPr lang="zh-CN" altLang="en-US" sz="2000" b="1">
                <a:latin typeface="Times New Roman" panose="02020603050405020304" pitchFamily="18" charset="0"/>
                <a:ea typeface="宋体" panose="02010600030101010101" pitchFamily="2" charset="-122"/>
              </a:rPr>
              <a:t>满足</a:t>
            </a:r>
            <a:endParaRPr lang="zh-CN" altLang="en-US" sz="2000" b="1">
              <a:latin typeface="Times New Roman" panose="02020603050405020304" pitchFamily="18" charset="0"/>
              <a:ea typeface="宋体" panose="02010600030101010101" pitchFamily="2" charset="-122"/>
            </a:endParaRPr>
          </a:p>
        </p:txBody>
      </p:sp>
      <p:sp>
        <p:nvSpPr>
          <p:cNvPr id="201738" name="Rectangle 10"/>
          <p:cNvSpPr/>
          <p:nvPr/>
        </p:nvSpPr>
        <p:spPr>
          <a:xfrm>
            <a:off x="5219700" y="2532063"/>
            <a:ext cx="882650" cy="396875"/>
          </a:xfrm>
          <a:prstGeom prst="rect">
            <a:avLst/>
          </a:prstGeom>
          <a:noFill/>
          <a:ln w="9525">
            <a:noFill/>
          </a:ln>
        </p:spPr>
        <p:txBody>
          <a:bodyPr wrap="none" anchor="ctr">
            <a:spAutoFit/>
          </a:bodyPr>
          <a:p>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1</a:t>
            </a:r>
            <a:r>
              <a:rPr lang="zh-CN" altLang="en-US" sz="2000">
                <a:latin typeface="Times New Roman" panose="02020603050405020304" pitchFamily="18" charset="0"/>
                <a:ea typeface="宋体" panose="02010600030101010101" pitchFamily="2" charset="-122"/>
              </a:rPr>
              <a:t>）</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sp>
        <p:nvSpPr>
          <p:cNvPr id="86026" name="Rectangle 11"/>
          <p:cNvSpPr/>
          <p:nvPr/>
        </p:nvSpPr>
        <p:spPr>
          <a:xfrm>
            <a:off x="0" y="3573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1740" name="Object 12"/>
          <p:cNvGraphicFramePr>
            <a:graphicFrameLocks noChangeAspect="1"/>
          </p:cNvGraphicFramePr>
          <p:nvPr/>
        </p:nvGraphicFramePr>
        <p:xfrm>
          <a:off x="1331913" y="3649663"/>
          <a:ext cx="3311525" cy="1419225"/>
        </p:xfrm>
        <a:graphic>
          <a:graphicData uri="http://schemas.openxmlformats.org/presentationml/2006/ole">
            <mc:AlternateContent xmlns:mc="http://schemas.openxmlformats.org/markup-compatibility/2006">
              <mc:Choice xmlns:v="urn:schemas-microsoft-com:vml" Requires="v">
                <p:oleObj spid="_x0000_s3224" name="" r:id="rId5" imgW="1663700" imgH="711200" progId="Equation.DSMT4">
                  <p:embed/>
                </p:oleObj>
              </mc:Choice>
              <mc:Fallback>
                <p:oleObj name="" r:id="rId5" imgW="1663700" imgH="711200" progId="Equation.DSMT4">
                  <p:embed/>
                  <p:pic>
                    <p:nvPicPr>
                      <p:cNvPr id="0" name="图片 3223"/>
                      <p:cNvPicPr/>
                      <p:nvPr/>
                    </p:nvPicPr>
                    <p:blipFill>
                      <a:blip r:embed="rId6"/>
                      <a:stretch>
                        <a:fillRect/>
                      </a:stretch>
                    </p:blipFill>
                    <p:spPr>
                      <a:xfrm>
                        <a:off x="1331913" y="3649663"/>
                        <a:ext cx="3311525" cy="1419225"/>
                      </a:xfrm>
                      <a:prstGeom prst="rect">
                        <a:avLst/>
                      </a:prstGeom>
                      <a:noFill/>
                      <a:ln w="38100">
                        <a:noFill/>
                        <a:miter/>
                      </a:ln>
                    </p:spPr>
                  </p:pic>
                </p:oleObj>
              </mc:Fallback>
            </mc:AlternateContent>
          </a:graphicData>
        </a:graphic>
      </p:graphicFrame>
      <p:sp>
        <p:nvSpPr>
          <p:cNvPr id="201741" name="Rectangle 13"/>
          <p:cNvSpPr/>
          <p:nvPr/>
        </p:nvSpPr>
        <p:spPr>
          <a:xfrm>
            <a:off x="5227638" y="4187825"/>
            <a:ext cx="882650" cy="396875"/>
          </a:xfrm>
          <a:prstGeom prst="rect">
            <a:avLst/>
          </a:prstGeom>
          <a:noFill/>
          <a:ln w="9525">
            <a:noFill/>
          </a:ln>
        </p:spPr>
        <p:txBody>
          <a:bodyPr wrap="none" anchor="ctr">
            <a:spAutoFit/>
          </a:bodyPr>
          <a:p>
            <a:r>
              <a:rPr lang="zh-CN" altLang="en-US" sz="2000">
                <a:latin typeface="Times New Roman" panose="02020603050405020304" pitchFamily="18" charset="0"/>
                <a:ea typeface="宋体" panose="02010600030101010101" pitchFamily="2" charset="-122"/>
              </a:rPr>
              <a:t>（</a:t>
            </a:r>
            <a:r>
              <a:rPr lang="en-US" altLang="zh-CN" sz="2000">
                <a:latin typeface="Times New Roman" panose="02020603050405020304" pitchFamily="18" charset="0"/>
                <a:ea typeface="宋体" panose="02010600030101010101" pitchFamily="2" charset="-122"/>
              </a:rPr>
              <a:t>2</a:t>
            </a:r>
            <a:r>
              <a:rPr lang="zh-CN" altLang="en-US" sz="2000">
                <a:latin typeface="Times New Roman" panose="02020603050405020304" pitchFamily="18" charset="0"/>
                <a:ea typeface="宋体" panose="02010600030101010101" pitchFamily="2" charset="-122"/>
              </a:rPr>
              <a:t>）</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sp>
        <p:nvSpPr>
          <p:cNvPr id="201742" name="Rectangle 14"/>
          <p:cNvSpPr/>
          <p:nvPr/>
        </p:nvSpPr>
        <p:spPr>
          <a:xfrm>
            <a:off x="117475" y="5089525"/>
            <a:ext cx="7623175"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（右面的矩阵有</a:t>
            </a:r>
            <a:r>
              <a:rPr lang="en-US" altLang="zh-CN" sz="2000" b="1" i="1">
                <a:latin typeface="Times New Roman" panose="02020603050405020304" pitchFamily="18" charset="0"/>
                <a:ea typeface="宋体" panose="02010600030101010101" pitchFamily="2" charset="-122"/>
              </a:rPr>
              <a:t>n</a:t>
            </a:r>
            <a:r>
              <a:rPr lang="en-US" altLang="zh-CN" sz="2000" b="1" baseline="30000">
                <a:latin typeface="Times New Roman" panose="02020603050405020304" pitchFamily="18" charset="0"/>
                <a:ea typeface="宋体" panose="02010600030101010101" pitchFamily="2" charset="-122"/>
              </a:rPr>
              <a:t>2</a:t>
            </a:r>
            <a:r>
              <a:rPr lang="zh-CN" altLang="en-US" sz="2000" b="1">
                <a:latin typeface="Times New Roman" panose="02020603050405020304" pitchFamily="18" charset="0"/>
                <a:ea typeface="宋体" panose="02010600030101010101" pitchFamily="2" charset="-122"/>
              </a:rPr>
              <a:t>个值为</a:t>
            </a: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的分量，每一</a:t>
            </a:r>
            <a:r>
              <a:rPr lang="en-US" altLang="zh-CN" sz="2000" b="1" i="1">
                <a:latin typeface="Times New Roman" panose="02020603050405020304" pitchFamily="18" charset="0"/>
                <a:ea typeface="宋体" panose="02010600030101010101" pitchFamily="2" charset="-122"/>
              </a:rPr>
              <a:t>P</a:t>
            </a:r>
            <a:r>
              <a:rPr lang="en-US" altLang="zh-CN" sz="2000" b="1" i="1" baseline="-30000">
                <a:latin typeface="Times New Roman" panose="02020603050405020304" pitchFamily="18" charset="0"/>
                <a:ea typeface="宋体" panose="02010600030101010101" pitchFamily="2" charset="-122"/>
              </a:rPr>
              <a:t>k</a:t>
            </a:r>
            <a:r>
              <a:rPr lang="en-US" altLang="zh-CN" sz="2000" b="1">
                <a:latin typeface="Times New Roman" panose="02020603050405020304" pitchFamily="18" charset="0"/>
                <a:ea typeface="宋体" panose="02010600030101010101" pitchFamily="2" charset="-122"/>
              </a:rPr>
              <a:t> </a:t>
            </a:r>
            <a:r>
              <a:rPr lang="zh-CN" altLang="en-US" sz="2000" b="1">
                <a:latin typeface="Times New Roman" panose="02020603050405020304" pitchFamily="18" charset="0"/>
                <a:ea typeface="宋体" panose="02010600030101010101" pitchFamily="2" charset="-122"/>
              </a:rPr>
              <a:t>恰有</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个</a:t>
            </a: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分量）故</a:t>
            </a:r>
            <a:r>
              <a:rPr lang="en-US" altLang="zh-CN" sz="2000" b="1" i="1">
                <a:latin typeface="Times New Roman" panose="02020603050405020304" pitchFamily="18" charset="0"/>
                <a:ea typeface="宋体" panose="02010600030101010101" pitchFamily="2" charset="-122"/>
              </a:rPr>
              <a:t>r</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a:t>
            </a:r>
            <a:endParaRPr lang="zh-CN" altLang="en-US" sz="2000" b="1">
              <a:latin typeface="Times New Roman" panose="02020603050405020304" pitchFamily="18" charset="0"/>
              <a:ea typeface="宋体" panose="02010600030101010101" pitchFamily="2" charset="-122"/>
            </a:endParaRPr>
          </a:p>
        </p:txBody>
      </p:sp>
      <p:sp>
        <p:nvSpPr>
          <p:cNvPr id="201743" name="Rectangle 15"/>
          <p:cNvSpPr/>
          <p:nvPr/>
        </p:nvSpPr>
        <p:spPr>
          <a:xfrm>
            <a:off x="250825" y="5546725"/>
            <a:ext cx="8497888" cy="10064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容易看出，（</a:t>
            </a:r>
            <a:r>
              <a:rPr lang="en-US" altLang="zh-CN" sz="2000" b="1">
                <a:latin typeface="Times New Roman" panose="02020603050405020304" pitchFamily="18" charset="0"/>
                <a:ea typeface="宋体" panose="02010600030101010101" pitchFamily="2" charset="-122"/>
              </a:rPr>
              <a:t>1</a:t>
            </a:r>
            <a:r>
              <a:rPr lang="zh-CN" altLang="en-US" sz="2000" b="1">
                <a:latin typeface="Times New Roman" panose="02020603050405020304" pitchFamily="18" charset="0"/>
                <a:ea typeface="宋体" panose="02010600030101010101" pitchFamily="2" charset="-122"/>
              </a:rPr>
              <a:t>）隐含着</a:t>
            </a:r>
            <a:r>
              <a:rPr lang="en-US" altLang="zh-CN" sz="2000" b="1" i="1">
                <a:latin typeface="Times New Roman" panose="02020603050405020304" pitchFamily="18" charset="0"/>
                <a:ea typeface="宋体" panose="02010600030101010101" pitchFamily="2" charset="-122"/>
              </a:rPr>
              <a:t>T</a:t>
            </a:r>
            <a:r>
              <a:rPr lang="zh-CN" altLang="en-US" sz="2000" b="1">
                <a:latin typeface="Times New Roman" panose="02020603050405020304" pitchFamily="18" charset="0"/>
                <a:ea typeface="宋体" panose="02010600030101010101" pitchFamily="2" charset="-122"/>
              </a:rPr>
              <a:t>的每一元素只能被唯一的</a:t>
            </a:r>
            <a:r>
              <a:rPr lang="en-US" altLang="zh-CN" sz="2000" b="1" i="1">
                <a:latin typeface="Times New Roman" panose="02020603050405020304" pitchFamily="18" charset="0"/>
                <a:ea typeface="宋体" panose="02010600030101010101" pitchFamily="2" charset="-122"/>
              </a:rPr>
              <a:t>P</a:t>
            </a:r>
            <a:r>
              <a:rPr lang="zh-CN" altLang="en-US" sz="2000" b="1">
                <a:latin typeface="Times New Roman" panose="02020603050405020304" pitchFamily="18" charset="0"/>
                <a:ea typeface="宋体" panose="02010600030101010101" pitchFamily="2" charset="-122"/>
              </a:rPr>
              <a:t>复盖，即</a:t>
            </a:r>
            <a:r>
              <a:rPr lang="en-US" altLang="zh-CN" sz="2000" b="1" i="1">
                <a:latin typeface="Times New Roman" panose="02020603050405020304" pitchFamily="18" charset="0"/>
                <a:ea typeface="宋体" panose="02010600030101010101" pitchFamily="2" charset="-122"/>
              </a:rPr>
              <a:t>T</a:t>
            </a:r>
            <a:r>
              <a:rPr lang="zh-CN" altLang="en-US" sz="2000" b="1">
                <a:latin typeface="Times New Roman" panose="02020603050405020304" pitchFamily="18" charset="0"/>
                <a:ea typeface="宋体" panose="02010600030101010101" pitchFamily="2" charset="-122"/>
              </a:rPr>
              <a:t>的元素在分解中是不可分割的，这当然是一个好性质，使实际操作时较为方便，但可惜的是对一般的双随机矩阵，分解很可能无解。</a:t>
            </a:r>
            <a:endParaRPr lang="zh-CN" altLang="en-US" sz="2000" b="1">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01730"/>
                                        </p:tgtEl>
                                        <p:attrNameLst>
                                          <p:attrName>style.visibility</p:attrName>
                                        </p:attrNameLst>
                                      </p:cBhvr>
                                      <p:to>
                                        <p:strVal val="visible"/>
                                      </p:to>
                                    </p:set>
                                    <p:anim calcmode="lin" valueType="num">
                                      <p:cBhvr>
                                        <p:cTn id="7" dur="500" fill="hold"/>
                                        <p:tgtEl>
                                          <p:spTgt spid="201730"/>
                                        </p:tgtEl>
                                        <p:attrNameLst>
                                          <p:attrName>ppt_x</p:attrName>
                                        </p:attrNameLst>
                                      </p:cBhvr>
                                      <p:tavLst>
                                        <p:tav tm="0">
                                          <p:val>
                                            <p:strVal val="#ppt_x"/>
                                          </p:val>
                                        </p:tav>
                                        <p:tav tm="100000">
                                          <p:val>
                                            <p:strVal val="#ppt_x"/>
                                          </p:val>
                                        </p:tav>
                                      </p:tavLst>
                                    </p:anim>
                                    <p:anim calcmode="lin" valueType="num">
                                      <p:cBhvr>
                                        <p:cTn id="8" dur="500" fill="hold"/>
                                        <p:tgtEl>
                                          <p:spTgt spid="2017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0-#ppt_w/2"/>
                                          </p:val>
                                        </p:tav>
                                        <p:tav tm="100000">
                                          <p:val>
                                            <p:strVal val="#ppt_x"/>
                                          </p:val>
                                        </p:tav>
                                      </p:tavLst>
                                    </p:anim>
                                    <p:anim calcmode="lin" valueType="num">
                                      <p:cBhvr>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01738"/>
                                        </p:tgtEl>
                                        <p:attrNameLst>
                                          <p:attrName>style.visibility</p:attrName>
                                        </p:attrNameLst>
                                      </p:cBhvr>
                                      <p:to>
                                        <p:strVal val="visible"/>
                                      </p:to>
                                    </p:set>
                                    <p:anim calcmode="lin" valueType="num">
                                      <p:cBhvr>
                                        <p:cTn id="19" dur="500" fill="hold"/>
                                        <p:tgtEl>
                                          <p:spTgt spid="201738"/>
                                        </p:tgtEl>
                                        <p:attrNameLst>
                                          <p:attrName>ppt_x</p:attrName>
                                        </p:attrNameLst>
                                      </p:cBhvr>
                                      <p:tavLst>
                                        <p:tav tm="0">
                                          <p:val>
                                            <p:strVal val="1+#ppt_w/2"/>
                                          </p:val>
                                        </p:tav>
                                        <p:tav tm="100000">
                                          <p:val>
                                            <p:strVal val="#ppt_x"/>
                                          </p:val>
                                        </p:tav>
                                      </p:tavLst>
                                    </p:anim>
                                    <p:anim calcmode="lin" valueType="num">
                                      <p:cBhvr>
                                        <p:cTn id="20" dur="500" fill="hold"/>
                                        <p:tgtEl>
                                          <p:spTgt spid="20173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1737"/>
                                        </p:tgtEl>
                                        <p:attrNameLst>
                                          <p:attrName>style.visibility</p:attrName>
                                        </p:attrNameLst>
                                      </p:cBhvr>
                                      <p:to>
                                        <p:strVal val="visible"/>
                                      </p:to>
                                    </p:set>
                                    <p:anim calcmode="lin" valueType="num">
                                      <p:cBhvr>
                                        <p:cTn id="25" dur="500" fill="hold"/>
                                        <p:tgtEl>
                                          <p:spTgt spid="201737"/>
                                        </p:tgtEl>
                                        <p:attrNameLst>
                                          <p:attrName>ppt_x</p:attrName>
                                        </p:attrNameLst>
                                      </p:cBhvr>
                                      <p:tavLst>
                                        <p:tav tm="0">
                                          <p:val>
                                            <p:strVal val="0-#ppt_w/2"/>
                                          </p:val>
                                        </p:tav>
                                        <p:tav tm="100000">
                                          <p:val>
                                            <p:strVal val="#ppt_x"/>
                                          </p:val>
                                        </p:tav>
                                      </p:tavLst>
                                    </p:anim>
                                    <p:anim calcmode="lin" valueType="num">
                                      <p:cBhvr>
                                        <p:cTn id="26" dur="500" fill="hold"/>
                                        <p:tgtEl>
                                          <p:spTgt spid="20173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01740"/>
                                        </p:tgtEl>
                                        <p:attrNameLst>
                                          <p:attrName>style.visibility</p:attrName>
                                        </p:attrNameLst>
                                      </p:cBhvr>
                                      <p:to>
                                        <p:strVal val="visible"/>
                                      </p:to>
                                    </p:set>
                                    <p:anim calcmode="lin" valueType="num">
                                      <p:cBhvr>
                                        <p:cTn id="31" dur="500" fill="hold"/>
                                        <p:tgtEl>
                                          <p:spTgt spid="201740"/>
                                        </p:tgtEl>
                                        <p:attrNameLst>
                                          <p:attrName>ppt_x</p:attrName>
                                        </p:attrNameLst>
                                      </p:cBhvr>
                                      <p:tavLst>
                                        <p:tav tm="0">
                                          <p:val>
                                            <p:strVal val="0-#ppt_w/2"/>
                                          </p:val>
                                        </p:tav>
                                        <p:tav tm="100000">
                                          <p:val>
                                            <p:strVal val="#ppt_x"/>
                                          </p:val>
                                        </p:tav>
                                      </p:tavLst>
                                    </p:anim>
                                    <p:anim calcmode="lin" valueType="num">
                                      <p:cBhvr>
                                        <p:cTn id="32" dur="500" fill="hold"/>
                                        <p:tgtEl>
                                          <p:spTgt spid="20174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201741"/>
                                        </p:tgtEl>
                                        <p:attrNameLst>
                                          <p:attrName>style.visibility</p:attrName>
                                        </p:attrNameLst>
                                      </p:cBhvr>
                                      <p:to>
                                        <p:strVal val="visible"/>
                                      </p:to>
                                    </p:set>
                                    <p:anim calcmode="lin" valueType="num">
                                      <p:cBhvr>
                                        <p:cTn id="37" dur="500" fill="hold"/>
                                        <p:tgtEl>
                                          <p:spTgt spid="201741"/>
                                        </p:tgtEl>
                                        <p:attrNameLst>
                                          <p:attrName>ppt_x</p:attrName>
                                        </p:attrNameLst>
                                      </p:cBhvr>
                                      <p:tavLst>
                                        <p:tav tm="0">
                                          <p:val>
                                            <p:strVal val="1+#ppt_w/2"/>
                                          </p:val>
                                        </p:tav>
                                        <p:tav tm="100000">
                                          <p:val>
                                            <p:strVal val="#ppt_x"/>
                                          </p:val>
                                        </p:tav>
                                      </p:tavLst>
                                    </p:anim>
                                    <p:anim calcmode="lin" valueType="num">
                                      <p:cBhvr>
                                        <p:cTn id="38" dur="500" fill="hold"/>
                                        <p:tgtEl>
                                          <p:spTgt spid="20174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01742"/>
                                        </p:tgtEl>
                                        <p:attrNameLst>
                                          <p:attrName>style.visibility</p:attrName>
                                        </p:attrNameLst>
                                      </p:cBhvr>
                                      <p:to>
                                        <p:strVal val="visible"/>
                                      </p:to>
                                    </p:set>
                                    <p:anim calcmode="lin" valueType="num">
                                      <p:cBhvr>
                                        <p:cTn id="43" dur="500" fill="hold"/>
                                        <p:tgtEl>
                                          <p:spTgt spid="201742"/>
                                        </p:tgtEl>
                                        <p:attrNameLst>
                                          <p:attrName>ppt_x</p:attrName>
                                        </p:attrNameLst>
                                      </p:cBhvr>
                                      <p:tavLst>
                                        <p:tav tm="0">
                                          <p:val>
                                            <p:strVal val="0-#ppt_w/2"/>
                                          </p:val>
                                        </p:tav>
                                        <p:tav tm="100000">
                                          <p:val>
                                            <p:strVal val="#ppt_x"/>
                                          </p:val>
                                        </p:tav>
                                      </p:tavLst>
                                    </p:anim>
                                    <p:anim calcmode="lin" valueType="num">
                                      <p:cBhvr>
                                        <p:cTn id="44" dur="500" fill="hold"/>
                                        <p:tgtEl>
                                          <p:spTgt spid="20174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01743"/>
                                        </p:tgtEl>
                                        <p:attrNameLst>
                                          <p:attrName>style.visibility</p:attrName>
                                        </p:attrNameLst>
                                      </p:cBhvr>
                                      <p:to>
                                        <p:strVal val="visible"/>
                                      </p:to>
                                    </p:set>
                                    <p:anim calcmode="lin" valueType="num">
                                      <p:cBhvr>
                                        <p:cTn id="49" dur="500" fill="hold"/>
                                        <p:tgtEl>
                                          <p:spTgt spid="201743"/>
                                        </p:tgtEl>
                                        <p:attrNameLst>
                                          <p:attrName>ppt_x</p:attrName>
                                        </p:attrNameLst>
                                      </p:cBhvr>
                                      <p:tavLst>
                                        <p:tav tm="0">
                                          <p:val>
                                            <p:strVal val="0-#ppt_w/2"/>
                                          </p:val>
                                        </p:tav>
                                        <p:tav tm="100000">
                                          <p:val>
                                            <p:strVal val="#ppt_x"/>
                                          </p:val>
                                        </p:tav>
                                      </p:tavLst>
                                    </p:anim>
                                    <p:anim calcmode="lin" valueType="num">
                                      <p:cBhvr>
                                        <p:cTn id="50" dur="500" fill="hold"/>
                                        <p:tgtEl>
                                          <p:spTgt spid="2017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p:bldP spid="201737" grpId="0"/>
      <p:bldP spid="201738" grpId="0"/>
      <p:bldP spid="201741" grpId="0"/>
      <p:bldP spid="201742" grpId="0"/>
      <p:bldP spid="20174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p:nvPr/>
        </p:nvSpPr>
        <p:spPr>
          <a:xfrm>
            <a:off x="381000" y="1371600"/>
            <a:ext cx="1206500" cy="396875"/>
          </a:xfrm>
          <a:prstGeom prst="rect">
            <a:avLst/>
          </a:prstGeom>
          <a:noFill/>
          <a:ln w="9525">
            <a:noFill/>
          </a:ln>
        </p:spPr>
        <p:txBody>
          <a:bodyPr wrap="none" anchor="ctr">
            <a:spAutoFit/>
          </a:bodyPr>
          <a:p>
            <a:r>
              <a:rPr lang="zh-CN" altLang="en-US" sz="2000" b="1">
                <a:solidFill>
                  <a:srgbClr val="009900"/>
                </a:solidFill>
                <a:latin typeface="宋体" panose="02010600030101010101" pitchFamily="2" charset="-122"/>
                <a:ea typeface="宋体" panose="02010600030101010101" pitchFamily="2" charset="-122"/>
              </a:rPr>
              <a:t>例</a:t>
            </a:r>
            <a:r>
              <a:rPr lang="en-US" altLang="zh-CN" sz="2000" b="1">
                <a:solidFill>
                  <a:srgbClr val="009900"/>
                </a:solidFill>
                <a:latin typeface="宋体" panose="02010600030101010101" pitchFamily="2" charset="-122"/>
                <a:ea typeface="宋体" panose="02010600030101010101" pitchFamily="2" charset="-122"/>
              </a:rPr>
              <a:t>3</a:t>
            </a:r>
            <a:r>
              <a:rPr lang="en-US" altLang="zh-CN" sz="2000" b="1">
                <a:latin typeface="Times New Roman" panose="02020603050405020304" pitchFamily="18" charset="0"/>
                <a:ea typeface="宋体" panose="02010600030101010101" pitchFamily="2" charset="-122"/>
              </a:rPr>
              <a:t>  </a:t>
            </a:r>
            <a:r>
              <a:rPr lang="zh-CN" altLang="en-US" sz="2000" b="1">
                <a:latin typeface="Times New Roman" panose="02020603050405020304" pitchFamily="18" charset="0"/>
                <a:ea typeface="宋体" panose="02010600030101010101" pitchFamily="2" charset="-122"/>
              </a:rPr>
              <a:t>若取</a:t>
            </a:r>
            <a:endParaRPr lang="zh-CN" altLang="en-US" sz="2000" b="1">
              <a:latin typeface="Times New Roman" panose="02020603050405020304" pitchFamily="18" charset="0"/>
              <a:ea typeface="宋体" panose="02010600030101010101" pitchFamily="2" charset="-122"/>
            </a:endParaRPr>
          </a:p>
        </p:txBody>
      </p:sp>
      <p:sp>
        <p:nvSpPr>
          <p:cNvPr id="88066" name="Rectangle 3"/>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88067" name="Rectangle 4"/>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88068" name="Rectangle 5"/>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6"/>
          <p:cNvGrpSpPr/>
          <p:nvPr/>
        </p:nvGrpSpPr>
        <p:grpSpPr>
          <a:xfrm>
            <a:off x="1403350" y="1487488"/>
            <a:ext cx="6264275" cy="1441450"/>
            <a:chOff x="476" y="505"/>
            <a:chExt cx="3629" cy="807"/>
          </a:xfrm>
        </p:grpSpPr>
        <p:graphicFrame>
          <p:nvGraphicFramePr>
            <p:cNvPr id="88070" name="Object 7"/>
            <p:cNvGraphicFramePr>
              <a:graphicFrameLocks noChangeAspect="1"/>
            </p:cNvGraphicFramePr>
            <p:nvPr/>
          </p:nvGraphicFramePr>
          <p:xfrm>
            <a:off x="476" y="505"/>
            <a:ext cx="1089" cy="793"/>
          </p:xfrm>
          <a:graphic>
            <a:graphicData uri="http://schemas.openxmlformats.org/presentationml/2006/ole">
              <mc:AlternateContent xmlns:mc="http://schemas.openxmlformats.org/markup-compatibility/2006">
                <mc:Choice xmlns:v="urn:schemas-microsoft-com:vml" Requires="v">
                  <p:oleObj spid="_x0000_s3225" name="" r:id="rId1" imgW="977900" imgH="711200" progId="Equation.DSMT4">
                    <p:embed/>
                  </p:oleObj>
                </mc:Choice>
                <mc:Fallback>
                  <p:oleObj name="" r:id="rId1" imgW="977900" imgH="711200" progId="Equation.DSMT4">
                    <p:embed/>
                    <p:pic>
                      <p:nvPicPr>
                        <p:cNvPr id="0" name="图片 3224"/>
                        <p:cNvPicPr/>
                        <p:nvPr/>
                      </p:nvPicPr>
                      <p:blipFill>
                        <a:blip r:embed="rId2"/>
                        <a:stretch>
                          <a:fillRect/>
                        </a:stretch>
                      </p:blipFill>
                      <p:spPr>
                        <a:xfrm>
                          <a:off x="476" y="505"/>
                          <a:ext cx="1089" cy="793"/>
                        </a:xfrm>
                        <a:prstGeom prst="rect">
                          <a:avLst/>
                        </a:prstGeom>
                        <a:noFill/>
                        <a:ln w="38100">
                          <a:noFill/>
                          <a:miter/>
                        </a:ln>
                      </p:spPr>
                    </p:pic>
                  </p:oleObj>
                </mc:Fallback>
              </mc:AlternateContent>
            </a:graphicData>
          </a:graphic>
        </p:graphicFrame>
        <p:sp>
          <p:nvSpPr>
            <p:cNvPr id="88071" name="Rectangle 8"/>
            <p:cNvSpPr/>
            <p:nvPr/>
          </p:nvSpPr>
          <p:spPr>
            <a:xfrm>
              <a:off x="1519" y="995"/>
              <a:ext cx="291" cy="222"/>
            </a:xfrm>
            <a:prstGeom prst="rect">
              <a:avLst/>
            </a:prstGeom>
            <a:noFill/>
            <a:ln w="9525">
              <a:noFill/>
            </a:ln>
          </p:spPr>
          <p:txBody>
            <a:bodyPr wrap="none" anchor="ctr">
              <a:spAutoFit/>
            </a:bodyPr>
            <a:p>
              <a:r>
                <a:rPr lang="zh-CN" altLang="en-US" sz="2000">
                  <a:latin typeface="Times New Roman" panose="02020603050405020304" pitchFamily="18" charset="0"/>
                  <a:ea typeface="宋体" panose="02010600030101010101" pitchFamily="2" charset="-122"/>
                </a:rPr>
                <a:t>，</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graphicFrame>
          <p:nvGraphicFramePr>
            <p:cNvPr id="88072" name="Object 9"/>
            <p:cNvGraphicFramePr>
              <a:graphicFrameLocks noChangeAspect="1"/>
            </p:cNvGraphicFramePr>
            <p:nvPr/>
          </p:nvGraphicFramePr>
          <p:xfrm>
            <a:off x="1701" y="527"/>
            <a:ext cx="1089" cy="785"/>
          </p:xfrm>
          <a:graphic>
            <a:graphicData uri="http://schemas.openxmlformats.org/presentationml/2006/ole">
              <mc:AlternateContent xmlns:mc="http://schemas.openxmlformats.org/markup-compatibility/2006">
                <mc:Choice xmlns:v="urn:schemas-microsoft-com:vml" Requires="v">
                  <p:oleObj spid="_x0000_s3228" name="" r:id="rId3" imgW="989965" imgH="711200" progId="Equation.DSMT4">
                    <p:embed/>
                  </p:oleObj>
                </mc:Choice>
                <mc:Fallback>
                  <p:oleObj name="" r:id="rId3" imgW="989965" imgH="711200" progId="Equation.DSMT4">
                    <p:embed/>
                    <p:pic>
                      <p:nvPicPr>
                        <p:cNvPr id="0" name="图片 3227"/>
                        <p:cNvPicPr/>
                        <p:nvPr/>
                      </p:nvPicPr>
                      <p:blipFill>
                        <a:blip r:embed="rId4"/>
                        <a:stretch>
                          <a:fillRect/>
                        </a:stretch>
                      </p:blipFill>
                      <p:spPr>
                        <a:xfrm>
                          <a:off x="1701" y="527"/>
                          <a:ext cx="1089" cy="785"/>
                        </a:xfrm>
                        <a:prstGeom prst="rect">
                          <a:avLst/>
                        </a:prstGeom>
                        <a:noFill/>
                        <a:ln w="38100">
                          <a:noFill/>
                          <a:miter/>
                        </a:ln>
                      </p:spPr>
                    </p:pic>
                  </p:oleObj>
                </mc:Fallback>
              </mc:AlternateContent>
            </a:graphicData>
          </a:graphic>
        </p:graphicFrame>
        <p:graphicFrame>
          <p:nvGraphicFramePr>
            <p:cNvPr id="88073" name="Object 10"/>
            <p:cNvGraphicFramePr>
              <a:graphicFrameLocks noChangeAspect="1"/>
            </p:cNvGraphicFramePr>
            <p:nvPr/>
          </p:nvGraphicFramePr>
          <p:xfrm>
            <a:off x="3016" y="513"/>
            <a:ext cx="1089" cy="785"/>
          </p:xfrm>
          <a:graphic>
            <a:graphicData uri="http://schemas.openxmlformats.org/presentationml/2006/ole">
              <mc:AlternateContent xmlns:mc="http://schemas.openxmlformats.org/markup-compatibility/2006">
                <mc:Choice xmlns:v="urn:schemas-microsoft-com:vml" Requires="v">
                  <p:oleObj spid="_x0000_s3226" name="" r:id="rId5" imgW="989965" imgH="711200" progId="Equation.DSMT4">
                    <p:embed/>
                  </p:oleObj>
                </mc:Choice>
                <mc:Fallback>
                  <p:oleObj name="" r:id="rId5" imgW="989965" imgH="711200" progId="Equation.DSMT4">
                    <p:embed/>
                    <p:pic>
                      <p:nvPicPr>
                        <p:cNvPr id="0" name="图片 3225"/>
                        <p:cNvPicPr/>
                        <p:nvPr/>
                      </p:nvPicPr>
                      <p:blipFill>
                        <a:blip r:embed="rId6"/>
                        <a:stretch>
                          <a:fillRect/>
                        </a:stretch>
                      </p:blipFill>
                      <p:spPr>
                        <a:xfrm>
                          <a:off x="3016" y="513"/>
                          <a:ext cx="1089" cy="785"/>
                        </a:xfrm>
                        <a:prstGeom prst="rect">
                          <a:avLst/>
                        </a:prstGeom>
                        <a:noFill/>
                        <a:ln w="38100">
                          <a:noFill/>
                          <a:miter/>
                        </a:ln>
                      </p:spPr>
                    </p:pic>
                  </p:oleObj>
                </mc:Fallback>
              </mc:AlternateContent>
            </a:graphicData>
          </a:graphic>
        </p:graphicFrame>
        <p:sp>
          <p:nvSpPr>
            <p:cNvPr id="88074" name="Rectangle 11"/>
            <p:cNvSpPr/>
            <p:nvPr/>
          </p:nvSpPr>
          <p:spPr>
            <a:xfrm>
              <a:off x="2791" y="1017"/>
              <a:ext cx="290" cy="222"/>
            </a:xfrm>
            <a:prstGeom prst="rect">
              <a:avLst/>
            </a:prstGeom>
            <a:noFill/>
            <a:ln w="9525">
              <a:noFill/>
            </a:ln>
          </p:spPr>
          <p:txBody>
            <a:bodyPr wrap="none" anchor="ctr">
              <a:spAutoFit/>
            </a:bodyPr>
            <a:p>
              <a:r>
                <a:rPr lang="zh-CN" altLang="en-US" sz="2000">
                  <a:latin typeface="Times New Roman" panose="02020603050405020304" pitchFamily="18" charset="0"/>
                  <a:ea typeface="宋体" panose="02010600030101010101" pitchFamily="2" charset="-122"/>
                </a:rPr>
                <a:t>，</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grpSp>
      <p:sp>
        <p:nvSpPr>
          <p:cNvPr id="88075" name="Rectangle 12"/>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3789" name="Object 13"/>
          <p:cNvGraphicFramePr>
            <a:graphicFrameLocks noChangeAspect="1"/>
          </p:cNvGraphicFramePr>
          <p:nvPr/>
        </p:nvGraphicFramePr>
        <p:xfrm>
          <a:off x="900113" y="3000375"/>
          <a:ext cx="1728787" cy="1296988"/>
        </p:xfrm>
        <a:graphic>
          <a:graphicData uri="http://schemas.openxmlformats.org/presentationml/2006/ole">
            <mc:AlternateContent xmlns:mc="http://schemas.openxmlformats.org/markup-compatibility/2006">
              <mc:Choice xmlns:v="urn:schemas-microsoft-com:vml" Requires="v">
                <p:oleObj spid="_x0000_s3227" name="" r:id="rId7" imgW="951865" imgH="711200" progId="Equation.DSMT4">
                  <p:embed/>
                </p:oleObj>
              </mc:Choice>
              <mc:Fallback>
                <p:oleObj name="" r:id="rId7" imgW="951865" imgH="711200" progId="Equation.DSMT4">
                  <p:embed/>
                  <p:pic>
                    <p:nvPicPr>
                      <p:cNvPr id="0" name="图片 3226"/>
                      <p:cNvPicPr/>
                      <p:nvPr/>
                    </p:nvPicPr>
                    <p:blipFill>
                      <a:blip r:embed="rId8"/>
                      <a:stretch>
                        <a:fillRect/>
                      </a:stretch>
                    </p:blipFill>
                    <p:spPr>
                      <a:xfrm>
                        <a:off x="900113" y="3000375"/>
                        <a:ext cx="1728787" cy="1296988"/>
                      </a:xfrm>
                      <a:prstGeom prst="rect">
                        <a:avLst/>
                      </a:prstGeom>
                      <a:noFill/>
                      <a:ln w="38100">
                        <a:noFill/>
                        <a:miter/>
                      </a:ln>
                    </p:spPr>
                  </p:pic>
                </p:oleObj>
              </mc:Fallback>
            </mc:AlternateContent>
          </a:graphicData>
        </a:graphic>
      </p:graphicFrame>
      <p:sp>
        <p:nvSpPr>
          <p:cNvPr id="203790" name="Rectangle 14"/>
          <p:cNvSpPr/>
          <p:nvPr/>
        </p:nvSpPr>
        <p:spPr>
          <a:xfrm>
            <a:off x="2443163" y="3467100"/>
            <a:ext cx="5513387"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（注意：</a:t>
            </a:r>
            <a:r>
              <a:rPr lang="en-US" altLang="zh-CN" sz="2000" b="1" i="1">
                <a:latin typeface="Times New Roman" panose="02020603050405020304" pitchFamily="18" charset="0"/>
                <a:ea typeface="宋体" panose="02010600030101010101" pitchFamily="2" charset="-122"/>
              </a:rPr>
              <a:t>T</a:t>
            </a:r>
            <a:r>
              <a:rPr lang="zh-CN" altLang="en-US" sz="2000" b="1">
                <a:latin typeface="Times New Roman" panose="02020603050405020304" pitchFamily="18" charset="0"/>
                <a:ea typeface="宋体" panose="02010600030101010101" pitchFamily="2" charset="-122"/>
              </a:rPr>
              <a:t>已是双随机矩阵，行和列和均为</a:t>
            </a:r>
            <a:r>
              <a:rPr lang="en-US" altLang="zh-CN" sz="2000" b="1">
                <a:latin typeface="Times New Roman" panose="02020603050405020304" pitchFamily="18" charset="0"/>
                <a:ea typeface="宋体" panose="02010600030101010101" pitchFamily="2" charset="-122"/>
              </a:rPr>
              <a:t>10</a:t>
            </a:r>
            <a:r>
              <a:rPr lang="zh-CN" altLang="en-US" sz="20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sp>
        <p:nvSpPr>
          <p:cNvPr id="88078" name="Rectangle 15"/>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88079" name="Group 16"/>
          <p:cNvGrpSpPr/>
          <p:nvPr/>
        </p:nvGrpSpPr>
        <p:grpSpPr>
          <a:xfrm>
            <a:off x="1908175" y="4584700"/>
            <a:ext cx="2087563" cy="792163"/>
            <a:chOff x="385" y="2386"/>
            <a:chExt cx="847" cy="454"/>
          </a:xfrm>
        </p:grpSpPr>
        <p:sp>
          <p:nvSpPr>
            <p:cNvPr id="88080" name="Rectangle 17"/>
            <p:cNvSpPr/>
            <p:nvPr/>
          </p:nvSpPr>
          <p:spPr>
            <a:xfrm>
              <a:off x="385" y="2465"/>
              <a:ext cx="389" cy="228"/>
            </a:xfrm>
            <a:prstGeom prst="rect">
              <a:avLst/>
            </a:prstGeom>
            <a:noFill/>
            <a:ln w="9525">
              <a:noFill/>
            </a:ln>
          </p:spPr>
          <p:txBody>
            <a:bodyPr wrap="none" anchor="ctr">
              <a:spAutoFit/>
            </a:bodyPr>
            <a:p>
              <a:r>
                <a:rPr lang="zh-CN" altLang="en-US" sz="2000">
                  <a:latin typeface="Times New Roman" panose="02020603050405020304" pitchFamily="18" charset="0"/>
                  <a:ea typeface="宋体" panose="02010600030101010101" pitchFamily="2" charset="-122"/>
                </a:rPr>
                <a:t>则</a:t>
              </a:r>
              <a:r>
                <a:rPr lang="en-US" altLang="zh-CN" sz="2000">
                  <a:latin typeface="Times New Roman" panose="02020603050405020304" pitchFamily="18" charset="0"/>
                  <a:ea typeface="宋体" panose="02010600030101010101" pitchFamily="2" charset="-122"/>
                </a:rPr>
                <a:t>min</a:t>
              </a:r>
              <a:r>
                <a:rPr lang="en-US" altLang="zh-CN" sz="2000" b="1">
                  <a:latin typeface="Times New Roman" panose="02020603050405020304" pitchFamily="18" charset="0"/>
                  <a:ea typeface="宋体" panose="02010600030101010101" pitchFamily="2" charset="-122"/>
                </a:rPr>
                <a:t>  </a:t>
              </a:r>
              <a:endParaRPr lang="en-US" altLang="zh-CN" sz="2000" b="1">
                <a:latin typeface="Times New Roman" panose="02020603050405020304" pitchFamily="18" charset="0"/>
                <a:ea typeface="宋体" panose="02010600030101010101" pitchFamily="2" charset="-122"/>
              </a:endParaRPr>
            </a:p>
          </p:txBody>
        </p:sp>
        <p:graphicFrame>
          <p:nvGraphicFramePr>
            <p:cNvPr id="88081" name="Object 18"/>
            <p:cNvGraphicFramePr>
              <a:graphicFrameLocks noChangeAspect="1"/>
            </p:cNvGraphicFramePr>
            <p:nvPr/>
          </p:nvGraphicFramePr>
          <p:xfrm>
            <a:off x="839" y="2386"/>
            <a:ext cx="393" cy="454"/>
          </p:xfrm>
          <a:graphic>
            <a:graphicData uri="http://schemas.openxmlformats.org/presentationml/2006/ole">
              <mc:AlternateContent xmlns:mc="http://schemas.openxmlformats.org/markup-compatibility/2006">
                <mc:Choice xmlns:v="urn:schemas-microsoft-com:vml" Requires="v">
                  <p:oleObj spid="_x0000_s3231" name="" r:id="rId9" imgW="368300" imgH="431800" progId="Equation.DSMT4">
                    <p:embed/>
                  </p:oleObj>
                </mc:Choice>
                <mc:Fallback>
                  <p:oleObj name="" r:id="rId9" imgW="368300" imgH="431800" progId="Equation.DSMT4">
                    <p:embed/>
                    <p:pic>
                      <p:nvPicPr>
                        <p:cNvPr id="0" name="图片 3230"/>
                        <p:cNvPicPr/>
                        <p:nvPr/>
                      </p:nvPicPr>
                      <p:blipFill>
                        <a:blip r:embed="rId10"/>
                        <a:stretch>
                          <a:fillRect/>
                        </a:stretch>
                      </p:blipFill>
                      <p:spPr>
                        <a:xfrm>
                          <a:off x="839" y="2386"/>
                          <a:ext cx="393" cy="454"/>
                        </a:xfrm>
                        <a:prstGeom prst="rect">
                          <a:avLst/>
                        </a:prstGeom>
                        <a:noFill/>
                        <a:ln w="38100">
                          <a:noFill/>
                          <a:miter/>
                        </a:ln>
                      </p:spPr>
                    </p:pic>
                  </p:oleObj>
                </mc:Fallback>
              </mc:AlternateContent>
            </a:graphicData>
          </a:graphic>
        </p:graphicFrame>
      </p:grpSp>
      <p:sp>
        <p:nvSpPr>
          <p:cNvPr id="88082" name="Rectangle 19"/>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88083" name="Group 20"/>
          <p:cNvGrpSpPr/>
          <p:nvPr/>
        </p:nvGrpSpPr>
        <p:grpSpPr>
          <a:xfrm>
            <a:off x="2268538" y="5448300"/>
            <a:ext cx="2159000" cy="647700"/>
            <a:chOff x="546" y="2976"/>
            <a:chExt cx="1064" cy="439"/>
          </a:xfrm>
        </p:grpSpPr>
        <p:sp>
          <p:nvSpPr>
            <p:cNvPr id="88084" name="Text Box 21"/>
            <p:cNvSpPr txBox="1"/>
            <p:nvPr/>
          </p:nvSpPr>
          <p:spPr>
            <a:xfrm>
              <a:off x="546" y="3066"/>
              <a:ext cx="264" cy="269"/>
            </a:xfrm>
            <a:prstGeom prst="rect">
              <a:avLst/>
            </a:prstGeom>
            <a:noFill/>
            <a:ln w="9525">
              <a:noFill/>
            </a:ln>
          </p:spPr>
          <p:txBody>
            <a:bodyPr wrap="none" anchor="t">
              <a:spAutoFit/>
            </a:bodyPr>
            <a:p>
              <a:r>
                <a:rPr lang="en-US" altLang="zh-CN" sz="2000" b="1">
                  <a:solidFill>
                    <a:srgbClr val="000000"/>
                  </a:solidFill>
                  <a:latin typeface="Times New Roman" panose="02020603050405020304" pitchFamily="18" charset="0"/>
                  <a:ea typeface="宋体" panose="02010600030101010101" pitchFamily="2" charset="-122"/>
                </a:rPr>
                <a:t>S.t</a:t>
              </a:r>
              <a:r>
                <a:rPr lang="en-US" altLang="zh-CN" sz="2000" b="1">
                  <a:latin typeface="Times New Roman" panose="02020603050405020304" pitchFamily="18" charset="0"/>
                  <a:ea typeface="宋体" panose="02010600030101010101" pitchFamily="2" charset="-122"/>
                </a:rPr>
                <a:t> </a:t>
              </a:r>
              <a:endParaRPr lang="en-US" altLang="zh-CN" sz="2000" b="1">
                <a:latin typeface="Times New Roman" panose="02020603050405020304" pitchFamily="18" charset="0"/>
                <a:ea typeface="宋体" panose="02010600030101010101" pitchFamily="2" charset="-122"/>
              </a:endParaRPr>
            </a:p>
          </p:txBody>
        </p:sp>
        <p:graphicFrame>
          <p:nvGraphicFramePr>
            <p:cNvPr id="88085" name="Object 22"/>
            <p:cNvGraphicFramePr>
              <a:graphicFrameLocks noChangeAspect="1"/>
            </p:cNvGraphicFramePr>
            <p:nvPr/>
          </p:nvGraphicFramePr>
          <p:xfrm>
            <a:off x="839" y="2976"/>
            <a:ext cx="771" cy="439"/>
          </p:xfrm>
          <a:graphic>
            <a:graphicData uri="http://schemas.openxmlformats.org/presentationml/2006/ole">
              <mc:AlternateContent xmlns:mc="http://schemas.openxmlformats.org/markup-compatibility/2006">
                <mc:Choice xmlns:v="urn:schemas-microsoft-com:vml" Requires="v">
                  <p:oleObj spid="_x0000_s3241" name="" r:id="rId11" imgW="748665" imgH="431800" progId="Equation.DSMT4">
                    <p:embed/>
                  </p:oleObj>
                </mc:Choice>
                <mc:Fallback>
                  <p:oleObj name="" r:id="rId11" imgW="748665" imgH="431800" progId="Equation.DSMT4">
                    <p:embed/>
                    <p:pic>
                      <p:nvPicPr>
                        <p:cNvPr id="0" name="图片 3240"/>
                        <p:cNvPicPr/>
                        <p:nvPr/>
                      </p:nvPicPr>
                      <p:blipFill>
                        <a:blip r:embed="rId12"/>
                        <a:stretch>
                          <a:fillRect/>
                        </a:stretch>
                      </p:blipFill>
                      <p:spPr>
                        <a:xfrm>
                          <a:off x="839" y="2976"/>
                          <a:ext cx="771" cy="439"/>
                        </a:xfrm>
                        <a:prstGeom prst="rect">
                          <a:avLst/>
                        </a:prstGeom>
                        <a:noFill/>
                        <a:ln w="38100">
                          <a:noFill/>
                          <a:miter/>
                        </a:ln>
                      </p:spPr>
                    </p:pic>
                  </p:oleObj>
                </mc:Fallback>
              </mc:AlternateContent>
            </a:graphicData>
          </a:graphic>
        </p:graphicFrame>
      </p:grpSp>
      <p:sp>
        <p:nvSpPr>
          <p:cNvPr id="203799" name="Rectangle 23"/>
          <p:cNvSpPr/>
          <p:nvPr/>
        </p:nvSpPr>
        <p:spPr>
          <a:xfrm>
            <a:off x="1835150" y="6384925"/>
            <a:ext cx="3546475"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的解为</a:t>
            </a:r>
            <a:r>
              <a:rPr lang="en-US" altLang="zh-CN" sz="2000" b="1">
                <a:latin typeface="Times New Roman" panose="02020603050405020304" pitchFamily="18" charset="0"/>
                <a:ea typeface="宋体" panose="02010600030101010101" pitchFamily="2" charset="-122"/>
              </a:rPr>
              <a:t>λ</a:t>
            </a:r>
            <a:r>
              <a:rPr lang="en-US" altLang="zh-CN" sz="2000" b="1" baseline="-30000">
                <a:latin typeface="Times New Roman" panose="02020603050405020304" pitchFamily="18" charset="0"/>
                <a:ea typeface="宋体" panose="02010600030101010101" pitchFamily="2" charset="-122"/>
              </a:rPr>
              <a:t>1</a:t>
            </a:r>
            <a:r>
              <a:rPr lang="en-US" altLang="zh-CN" sz="2000" b="1">
                <a:latin typeface="Times New Roman" panose="02020603050405020304" pitchFamily="18" charset="0"/>
                <a:ea typeface="宋体" panose="02010600030101010101" pitchFamily="2" charset="-122"/>
              </a:rPr>
              <a:t>=3</a:t>
            </a:r>
            <a:r>
              <a:rPr lang="zh-CN" altLang="en-US" sz="2000" b="1">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λ</a:t>
            </a:r>
            <a:r>
              <a:rPr lang="en-US" altLang="zh-CN" sz="2000" b="1" baseline="-30000">
                <a:latin typeface="Times New Roman" panose="02020603050405020304" pitchFamily="18" charset="0"/>
                <a:ea typeface="宋体" panose="02010600030101010101" pitchFamily="2" charset="-122"/>
              </a:rPr>
              <a:t>2</a:t>
            </a:r>
            <a:r>
              <a:rPr lang="en-US" altLang="zh-CN" sz="2000" b="1">
                <a:latin typeface="Times New Roman" panose="02020603050405020304" pitchFamily="18" charset="0"/>
                <a:ea typeface="宋体" panose="02010600030101010101" pitchFamily="2" charset="-122"/>
              </a:rPr>
              <a:t>=4</a:t>
            </a:r>
            <a:r>
              <a:rPr lang="zh-CN" altLang="en-US" sz="2000" b="1">
                <a:latin typeface="Times New Roman" panose="02020603050405020304" pitchFamily="18" charset="0"/>
                <a:ea typeface="宋体" panose="02010600030101010101" pitchFamily="2" charset="-122"/>
              </a:rPr>
              <a:t>，</a:t>
            </a:r>
            <a:r>
              <a:rPr lang="en-US" altLang="zh-CN" sz="2000" b="1">
                <a:latin typeface="Times New Roman" panose="02020603050405020304" pitchFamily="18" charset="0"/>
                <a:ea typeface="宋体" panose="02010600030101010101" pitchFamily="2" charset="-122"/>
              </a:rPr>
              <a:t>λ</a:t>
            </a:r>
            <a:r>
              <a:rPr lang="en-US" altLang="zh-CN" sz="2000" b="1" baseline="-30000">
                <a:latin typeface="Times New Roman" panose="02020603050405020304" pitchFamily="18" charset="0"/>
                <a:ea typeface="宋体" panose="02010600030101010101" pitchFamily="2" charset="-122"/>
              </a:rPr>
              <a:t>3</a:t>
            </a:r>
            <a:r>
              <a:rPr lang="en-US" altLang="zh-CN" sz="2000" b="1">
                <a:latin typeface="Times New Roman" panose="02020603050405020304" pitchFamily="18" charset="0"/>
                <a:ea typeface="宋体" panose="02010600030101010101" pitchFamily="2" charset="-122"/>
              </a:rPr>
              <a:t>=5</a:t>
            </a:r>
            <a:r>
              <a:rPr lang="zh-CN" altLang="en-US" sz="2000" b="1">
                <a:latin typeface="Times New Roman" panose="02020603050405020304" pitchFamily="18" charset="0"/>
                <a:ea typeface="宋体" panose="02010600030101010101" pitchFamily="2" charset="-122"/>
              </a:rPr>
              <a:t>。</a:t>
            </a:r>
            <a:endParaRPr lang="zh-CN" altLang="en-US" sz="2000" b="1">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03778"/>
                                        </p:tgtEl>
                                        <p:attrNameLst>
                                          <p:attrName>style.visibility</p:attrName>
                                        </p:attrNameLst>
                                      </p:cBhvr>
                                      <p:to>
                                        <p:strVal val="visible"/>
                                      </p:to>
                                    </p:set>
                                    <p:anim calcmode="lin" valueType="num">
                                      <p:cBhvr>
                                        <p:cTn id="7" dur="500" fill="hold"/>
                                        <p:tgtEl>
                                          <p:spTgt spid="203778"/>
                                        </p:tgtEl>
                                        <p:attrNameLst>
                                          <p:attrName>ppt_x</p:attrName>
                                        </p:attrNameLst>
                                      </p:cBhvr>
                                      <p:tavLst>
                                        <p:tav tm="0">
                                          <p:val>
                                            <p:strVal val="0-#ppt_w/2"/>
                                          </p:val>
                                        </p:tav>
                                        <p:tav tm="100000">
                                          <p:val>
                                            <p:strVal val="#ppt_x"/>
                                          </p:val>
                                        </p:tav>
                                      </p:tavLst>
                                    </p:anim>
                                    <p:anim calcmode="lin" valueType="num">
                                      <p:cBhvr>
                                        <p:cTn id="8" dur="500" fill="hold"/>
                                        <p:tgtEl>
                                          <p:spTgt spid="20377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0-#ppt_w/2"/>
                                          </p:val>
                                        </p:tav>
                                        <p:tav tm="100000">
                                          <p:val>
                                            <p:strVal val="#ppt_x"/>
                                          </p:val>
                                        </p:tav>
                                      </p:tavLst>
                                    </p:anim>
                                    <p:anim calcmode="lin" valueType="num">
                                      <p:cBhvr>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03789"/>
                                        </p:tgtEl>
                                        <p:attrNameLst>
                                          <p:attrName>style.visibility</p:attrName>
                                        </p:attrNameLst>
                                      </p:cBhvr>
                                      <p:to>
                                        <p:strVal val="visible"/>
                                      </p:to>
                                    </p:set>
                                    <p:anim calcmode="lin" valueType="num">
                                      <p:cBhvr>
                                        <p:cTn id="19" dur="500" fill="hold"/>
                                        <p:tgtEl>
                                          <p:spTgt spid="203789"/>
                                        </p:tgtEl>
                                        <p:attrNameLst>
                                          <p:attrName>ppt_x</p:attrName>
                                        </p:attrNameLst>
                                      </p:cBhvr>
                                      <p:tavLst>
                                        <p:tav tm="0">
                                          <p:val>
                                            <p:strVal val="0-#ppt_w/2"/>
                                          </p:val>
                                        </p:tav>
                                        <p:tav tm="100000">
                                          <p:val>
                                            <p:strVal val="#ppt_x"/>
                                          </p:val>
                                        </p:tav>
                                      </p:tavLst>
                                    </p:anim>
                                    <p:anim calcmode="lin" valueType="num">
                                      <p:cBhvr>
                                        <p:cTn id="20" dur="500" fill="hold"/>
                                        <p:tgtEl>
                                          <p:spTgt spid="20378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03790"/>
                                        </p:tgtEl>
                                        <p:attrNameLst>
                                          <p:attrName>style.visibility</p:attrName>
                                        </p:attrNameLst>
                                      </p:cBhvr>
                                      <p:to>
                                        <p:strVal val="visible"/>
                                      </p:to>
                                    </p:set>
                                    <p:anim calcmode="lin" valueType="num">
                                      <p:cBhvr>
                                        <p:cTn id="25" dur="500" fill="hold"/>
                                        <p:tgtEl>
                                          <p:spTgt spid="203790"/>
                                        </p:tgtEl>
                                        <p:attrNameLst>
                                          <p:attrName>ppt_x</p:attrName>
                                        </p:attrNameLst>
                                      </p:cBhvr>
                                      <p:tavLst>
                                        <p:tav tm="0">
                                          <p:val>
                                            <p:strVal val="1+#ppt_w/2"/>
                                          </p:val>
                                        </p:tav>
                                        <p:tav tm="100000">
                                          <p:val>
                                            <p:strVal val="#ppt_x"/>
                                          </p:val>
                                        </p:tav>
                                      </p:tavLst>
                                    </p:anim>
                                    <p:anim calcmode="lin" valueType="num">
                                      <p:cBhvr>
                                        <p:cTn id="26" dur="500" fill="hold"/>
                                        <p:tgtEl>
                                          <p:spTgt spid="20379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3799"/>
                                        </p:tgtEl>
                                        <p:attrNameLst>
                                          <p:attrName>style.visibility</p:attrName>
                                        </p:attrNameLst>
                                      </p:cBhvr>
                                      <p:to>
                                        <p:strVal val="visible"/>
                                      </p:to>
                                    </p:set>
                                    <p:anim calcmode="lin" valueType="num">
                                      <p:cBhvr>
                                        <p:cTn id="31" dur="500" fill="hold"/>
                                        <p:tgtEl>
                                          <p:spTgt spid="203799"/>
                                        </p:tgtEl>
                                        <p:attrNameLst>
                                          <p:attrName>ppt_x</p:attrName>
                                        </p:attrNameLst>
                                      </p:cBhvr>
                                      <p:tavLst>
                                        <p:tav tm="0">
                                          <p:val>
                                            <p:strVal val="0-#ppt_w/2"/>
                                          </p:val>
                                        </p:tav>
                                        <p:tav tm="100000">
                                          <p:val>
                                            <p:strVal val="#ppt_x"/>
                                          </p:val>
                                        </p:tav>
                                      </p:tavLst>
                                    </p:anim>
                                    <p:anim calcmode="lin" valueType="num">
                                      <p:cBhvr>
                                        <p:cTn id="32" dur="500" fill="hold"/>
                                        <p:tgtEl>
                                          <p:spTgt spid="2037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p:bldP spid="203790" grpId="0"/>
      <p:bldP spid="20379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90114" name="Rectangle 3"/>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4"/>
          <p:cNvGrpSpPr/>
          <p:nvPr/>
        </p:nvGrpSpPr>
        <p:grpSpPr>
          <a:xfrm>
            <a:off x="1042988" y="841375"/>
            <a:ext cx="5688012" cy="1368425"/>
            <a:chOff x="385" y="255"/>
            <a:chExt cx="3311" cy="726"/>
          </a:xfrm>
        </p:grpSpPr>
        <p:graphicFrame>
          <p:nvGraphicFramePr>
            <p:cNvPr id="90116" name="Object 5"/>
            <p:cNvGraphicFramePr>
              <a:graphicFrameLocks noChangeAspect="1"/>
            </p:cNvGraphicFramePr>
            <p:nvPr/>
          </p:nvGraphicFramePr>
          <p:xfrm>
            <a:off x="385" y="391"/>
            <a:ext cx="726" cy="473"/>
          </p:xfrm>
          <a:graphic>
            <a:graphicData uri="http://schemas.openxmlformats.org/presentationml/2006/ole">
              <mc:AlternateContent xmlns:mc="http://schemas.openxmlformats.org/markup-compatibility/2006">
                <mc:Choice xmlns:v="urn:schemas-microsoft-com:vml" Requires="v">
                  <p:oleObj spid="_x0000_s3236" name="" r:id="rId1" imgW="660400" imgH="431800" progId="Equation.DSMT4">
                    <p:embed/>
                  </p:oleObj>
                </mc:Choice>
                <mc:Fallback>
                  <p:oleObj name="" r:id="rId1" imgW="660400" imgH="431800" progId="Equation.DSMT4">
                    <p:embed/>
                    <p:pic>
                      <p:nvPicPr>
                        <p:cNvPr id="0" name="图片 3235"/>
                        <p:cNvPicPr/>
                        <p:nvPr/>
                      </p:nvPicPr>
                      <p:blipFill>
                        <a:blip r:embed="rId2"/>
                        <a:stretch>
                          <a:fillRect/>
                        </a:stretch>
                      </p:blipFill>
                      <p:spPr>
                        <a:xfrm>
                          <a:off x="385" y="391"/>
                          <a:ext cx="726" cy="473"/>
                        </a:xfrm>
                        <a:prstGeom prst="rect">
                          <a:avLst/>
                        </a:prstGeom>
                        <a:noFill/>
                        <a:ln w="38100">
                          <a:noFill/>
                          <a:miter/>
                        </a:ln>
                      </p:spPr>
                    </p:pic>
                  </p:oleObj>
                </mc:Fallback>
              </mc:AlternateContent>
            </a:graphicData>
          </a:graphic>
        </p:graphicFrame>
        <p:sp>
          <p:nvSpPr>
            <p:cNvPr id="90117" name="Rectangle 6"/>
            <p:cNvSpPr/>
            <p:nvPr/>
          </p:nvSpPr>
          <p:spPr>
            <a:xfrm>
              <a:off x="1020" y="524"/>
              <a:ext cx="1036" cy="210"/>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（大于</a:t>
              </a:r>
              <a:r>
                <a:rPr lang="en-US" altLang="zh-CN" sz="2000" b="1">
                  <a:latin typeface="Times New Roman" panose="02020603050405020304" pitchFamily="18" charset="0"/>
                  <a:ea typeface="宋体" panose="02010600030101010101" pitchFamily="2" charset="-122"/>
                </a:rPr>
                <a:t>10</a:t>
              </a:r>
              <a:r>
                <a:rPr lang="zh-CN" altLang="en-US" sz="2000" b="1">
                  <a:latin typeface="Times New Roman" panose="02020603050405020304" pitchFamily="18" charset="0"/>
                  <a:ea typeface="宋体" panose="02010600030101010101" pitchFamily="2" charset="-122"/>
                </a:rPr>
                <a:t>）而 </a:t>
              </a:r>
              <a:endParaRPr lang="zh-CN" altLang="en-US" sz="2000" b="1">
                <a:latin typeface="Times New Roman" panose="02020603050405020304" pitchFamily="18" charset="0"/>
                <a:ea typeface="宋体" panose="02010600030101010101" pitchFamily="2" charset="-122"/>
              </a:endParaRPr>
            </a:p>
          </p:txBody>
        </p:sp>
        <p:graphicFrame>
          <p:nvGraphicFramePr>
            <p:cNvPr id="90118" name="Object 7"/>
            <p:cNvGraphicFramePr>
              <a:graphicFrameLocks noChangeAspect="1"/>
            </p:cNvGraphicFramePr>
            <p:nvPr/>
          </p:nvGraphicFramePr>
          <p:xfrm>
            <a:off x="2109" y="255"/>
            <a:ext cx="1587" cy="726"/>
          </p:xfrm>
          <a:graphic>
            <a:graphicData uri="http://schemas.openxmlformats.org/presentationml/2006/ole">
              <mc:AlternateContent xmlns:mc="http://schemas.openxmlformats.org/markup-compatibility/2006">
                <mc:Choice xmlns:v="urn:schemas-microsoft-com:vml" Requires="v">
                  <p:oleObj spid="_x0000_s3238" name="" r:id="rId3" imgW="1562100" imgH="711200" progId="Equation.DSMT4">
                    <p:embed/>
                  </p:oleObj>
                </mc:Choice>
                <mc:Fallback>
                  <p:oleObj name="" r:id="rId3" imgW="1562100" imgH="711200" progId="Equation.DSMT4">
                    <p:embed/>
                    <p:pic>
                      <p:nvPicPr>
                        <p:cNvPr id="0" name="图片 3237"/>
                        <p:cNvPicPr/>
                        <p:nvPr/>
                      </p:nvPicPr>
                      <p:blipFill>
                        <a:blip r:embed="rId4"/>
                        <a:stretch>
                          <a:fillRect/>
                        </a:stretch>
                      </p:blipFill>
                      <p:spPr>
                        <a:xfrm>
                          <a:off x="2109" y="255"/>
                          <a:ext cx="1587" cy="726"/>
                        </a:xfrm>
                        <a:prstGeom prst="rect">
                          <a:avLst/>
                        </a:prstGeom>
                        <a:noFill/>
                        <a:ln w="38100">
                          <a:noFill/>
                          <a:miter/>
                        </a:ln>
                      </p:spPr>
                    </p:pic>
                  </p:oleObj>
                </mc:Fallback>
              </mc:AlternateContent>
            </a:graphicData>
          </a:graphic>
        </p:graphicFrame>
      </p:grpSp>
      <p:sp>
        <p:nvSpPr>
          <p:cNvPr id="205832" name="Text Box 8"/>
          <p:cNvSpPr txBox="1"/>
          <p:nvPr/>
        </p:nvSpPr>
        <p:spPr>
          <a:xfrm>
            <a:off x="611188" y="2133600"/>
            <a:ext cx="8156575" cy="1006475"/>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但等号经常并不成立。</a:t>
            </a:r>
            <a:r>
              <a:rPr lang="en-US" altLang="zh-CN" sz="2000" b="1">
                <a:solidFill>
                  <a:srgbClr val="000000"/>
                </a:solidFill>
                <a:latin typeface="Times New Roman" panose="02020603050405020304" pitchFamily="18" charset="0"/>
                <a:ea typeface="宋体" panose="02010600030101010101" pitchFamily="2" charset="-122"/>
              </a:rPr>
              <a:t>1985</a:t>
            </a:r>
            <a:r>
              <a:rPr lang="zh-CN" altLang="en-US" sz="2000" b="1">
                <a:solidFill>
                  <a:srgbClr val="000000"/>
                </a:solidFill>
                <a:latin typeface="Times New Roman" panose="02020603050405020304" pitchFamily="18" charset="0"/>
                <a:ea typeface="宋体" panose="02010600030101010101" pitchFamily="2" charset="-122"/>
              </a:rPr>
              <a:t>年，</a:t>
            </a:r>
            <a:r>
              <a:rPr lang="en-US" altLang="zh-CN" sz="2000" b="1">
                <a:solidFill>
                  <a:srgbClr val="000000"/>
                </a:solidFill>
                <a:latin typeface="Times New Roman" panose="02020603050405020304" pitchFamily="18" charset="0"/>
                <a:ea typeface="宋体" panose="02010600030101010101" pitchFamily="2" charset="-122"/>
              </a:rPr>
              <a:t>F·Rendel</a:t>
            </a:r>
            <a:r>
              <a:rPr lang="zh-CN" altLang="en-US" sz="2000" b="1">
                <a:solidFill>
                  <a:srgbClr val="000000"/>
                </a:solidFill>
                <a:latin typeface="Times New Roman" panose="02020603050405020304" pitchFamily="18" charset="0"/>
                <a:ea typeface="宋体" panose="02010600030101010101" pitchFamily="2" charset="-122"/>
              </a:rPr>
              <a:t>证明，在给定满足（</a:t>
            </a:r>
            <a:r>
              <a:rPr lang="en-US" altLang="zh-CN" sz="2000" b="1">
                <a:solidFill>
                  <a:srgbClr val="000000"/>
                </a:solidFill>
                <a:latin typeface="Times New Roman" panose="02020603050405020304" pitchFamily="18" charset="0"/>
                <a:ea typeface="宋体" panose="02010600030101010101" pitchFamily="2" charset="-122"/>
              </a:rPr>
              <a:t>2</a:t>
            </a:r>
            <a:r>
              <a:rPr lang="zh-CN" altLang="en-US" sz="2000" b="1">
                <a:solidFill>
                  <a:srgbClr val="000000"/>
                </a:solidFill>
                <a:latin typeface="Times New Roman" panose="02020603050405020304" pitchFamily="18" charset="0"/>
                <a:ea typeface="宋体" panose="02010600030101010101" pitchFamily="2" charset="-122"/>
              </a:rPr>
              <a:t>）的置换矩阵</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baseline="-30000">
                <a:solidFill>
                  <a:srgbClr val="000000"/>
                </a:solidFill>
                <a:latin typeface="Times New Roman" panose="02020603050405020304" pitchFamily="18" charset="0"/>
                <a:ea typeface="宋体" panose="02010600030101010101" pitchFamily="2" charset="-122"/>
              </a:rPr>
              <a:t>1</a:t>
            </a:r>
            <a:r>
              <a:rPr lang="en-US" altLang="zh-CN"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后，求解问题（</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）是</a:t>
            </a:r>
            <a:r>
              <a:rPr lang="en-US" altLang="zh-CN" sz="2000" b="1">
                <a:solidFill>
                  <a:srgbClr val="000000"/>
                </a:solidFill>
                <a:latin typeface="Times New Roman" panose="02020603050405020304" pitchFamily="18" charset="0"/>
                <a:ea typeface="宋体" panose="02010600030101010101" pitchFamily="2" charset="-122"/>
              </a:rPr>
              <a:t>NP</a:t>
            </a:r>
            <a:r>
              <a:rPr lang="zh-CN" altLang="en-US" sz="2000" b="1">
                <a:solidFill>
                  <a:srgbClr val="000000"/>
                </a:solidFill>
                <a:latin typeface="Times New Roman" panose="02020603050405020304" pitchFamily="18" charset="0"/>
                <a:ea typeface="宋体" panose="02010600030101010101" pitchFamily="2" charset="-122"/>
              </a:rPr>
              <a:t>难的，从而不可能存在多项式时间算法，除非</a:t>
            </a:r>
            <a:r>
              <a:rPr lang="en-US" altLang="zh-CN" sz="2000" b="1">
                <a:solidFill>
                  <a:srgbClr val="000000"/>
                </a:solidFill>
                <a:latin typeface="Times New Roman" panose="02020603050405020304" pitchFamily="18" charset="0"/>
                <a:ea typeface="宋体" panose="02010600030101010101" pitchFamily="2" charset="-122"/>
              </a:rPr>
              <a:t>P=NP</a:t>
            </a:r>
            <a:r>
              <a:rPr lang="zh-CN" altLang="en-US" sz="2000" b="1">
                <a:solidFill>
                  <a:srgbClr val="000000"/>
                </a:solidFill>
                <a:latin typeface="Times New Roman" panose="02020603050405020304" pitchFamily="18" charset="0"/>
                <a:ea typeface="宋体" panose="02010600030101010101" pitchFamily="2" charset="-122"/>
              </a:rPr>
              <a:t>。</a:t>
            </a:r>
            <a:endParaRPr lang="zh-CN" altLang="en-US" sz="2000" b="1">
              <a:solidFill>
                <a:srgbClr val="000000"/>
              </a:solidFill>
              <a:latin typeface="Times New Roman" panose="02020603050405020304" pitchFamily="18" charset="0"/>
              <a:ea typeface="宋体" panose="02010600030101010101" pitchFamily="2" charset="-122"/>
            </a:endParaRPr>
          </a:p>
        </p:txBody>
      </p:sp>
      <p:sp>
        <p:nvSpPr>
          <p:cNvPr id="205833" name="Rectangle 9"/>
          <p:cNvSpPr/>
          <p:nvPr/>
        </p:nvSpPr>
        <p:spPr>
          <a:xfrm>
            <a:off x="900113" y="3068638"/>
            <a:ext cx="1566862"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现要求</a:t>
            </a:r>
            <a:r>
              <a:rPr lang="en-US" altLang="zh-CN" sz="2000" b="1" i="1">
                <a:latin typeface="Times New Roman" panose="02020603050405020304" pitchFamily="18" charset="0"/>
                <a:ea typeface="宋体" panose="02010600030101010101" pitchFamily="2" charset="-122"/>
              </a:rPr>
              <a:t>r</a:t>
            </a:r>
            <a:r>
              <a:rPr lang="en-US" altLang="zh-CN" sz="2000" b="1">
                <a:latin typeface="Times New Roman" panose="02020603050405020304" pitchFamily="18" charset="0"/>
                <a:ea typeface="宋体" panose="02010600030101010101" pitchFamily="2" charset="-122"/>
              </a:rPr>
              <a:t>≤2</a:t>
            </a:r>
            <a:r>
              <a:rPr lang="en-US" altLang="zh-CN" sz="2000" b="1" i="1">
                <a:latin typeface="Times New Roman" panose="02020603050405020304" pitchFamily="18" charset="0"/>
                <a:ea typeface="宋体" panose="02010600030101010101" pitchFamily="2" charset="-122"/>
              </a:rPr>
              <a:t>n</a:t>
            </a:r>
            <a:endParaRPr lang="en-US" altLang="zh-CN" sz="2000" b="1" i="1">
              <a:latin typeface="Times New Roman" panose="02020603050405020304" pitchFamily="18" charset="0"/>
              <a:ea typeface="宋体" panose="02010600030101010101" pitchFamily="2" charset="-122"/>
            </a:endParaRPr>
          </a:p>
        </p:txBody>
      </p:sp>
      <p:sp>
        <p:nvSpPr>
          <p:cNvPr id="205834" name="Rectangle 10"/>
          <p:cNvSpPr/>
          <p:nvPr/>
        </p:nvSpPr>
        <p:spPr>
          <a:xfrm>
            <a:off x="827088" y="3573463"/>
            <a:ext cx="8316912" cy="7016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一种自然而方便的开关设置为引入两组各有</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个开关模式的置换矩阵</a:t>
            </a:r>
            <a:r>
              <a:rPr lang="en-US" altLang="zh-CN" sz="2000" b="1" i="1">
                <a:latin typeface="Times New Roman" panose="02020603050405020304" pitchFamily="18" charset="0"/>
                <a:ea typeface="宋体" panose="02010600030101010101" pitchFamily="2" charset="-122"/>
              </a:rPr>
              <a:t>P</a:t>
            </a:r>
            <a:r>
              <a:rPr lang="en-US" altLang="zh-CN" sz="2000" b="1" baseline="-30000">
                <a:latin typeface="Times New Roman" panose="02020603050405020304" pitchFamily="18" charset="0"/>
                <a:ea typeface="宋体" panose="02010600030101010101" pitchFamily="2" charset="-122"/>
              </a:rPr>
              <a:t>1</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P</a:t>
            </a:r>
            <a:r>
              <a:rPr lang="en-US" altLang="zh-CN" sz="2000" b="1" i="1" baseline="-30000">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Q</a:t>
            </a:r>
            <a:r>
              <a:rPr lang="en-US" altLang="zh-CN" sz="2000" b="1" baseline="-30000">
                <a:latin typeface="Times New Roman" panose="02020603050405020304" pitchFamily="18" charset="0"/>
                <a:ea typeface="宋体" panose="02010600030101010101" pitchFamily="2" charset="-122"/>
              </a:rPr>
              <a:t>1</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Q</a:t>
            </a:r>
            <a:r>
              <a:rPr lang="en-US" altLang="zh-CN" sz="2000" b="1" i="1" baseline="-30000">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，满足下面的（</a:t>
            </a:r>
            <a:r>
              <a:rPr lang="en-US" altLang="zh-CN" sz="2000" b="1">
                <a:latin typeface="Times New Roman" panose="02020603050405020304" pitchFamily="18" charset="0"/>
                <a:ea typeface="宋体" panose="02010600030101010101" pitchFamily="2" charset="-122"/>
              </a:rPr>
              <a:t>5.3)</a:t>
            </a:r>
            <a:r>
              <a:rPr lang="zh-CN" altLang="en-US" sz="2000" b="1">
                <a:latin typeface="Times New Roman" panose="02020603050405020304" pitchFamily="18" charset="0"/>
                <a:ea typeface="宋体" panose="02010600030101010101" pitchFamily="2" charset="-122"/>
              </a:rPr>
              <a:t>式：</a:t>
            </a:r>
            <a:endParaRPr lang="zh-CN" altLang="en-US" sz="2000" b="1">
              <a:latin typeface="Times New Roman" panose="02020603050405020304" pitchFamily="18" charset="0"/>
              <a:ea typeface="宋体" panose="02010600030101010101" pitchFamily="2" charset="-122"/>
            </a:endParaRPr>
          </a:p>
        </p:txBody>
      </p:sp>
      <p:sp>
        <p:nvSpPr>
          <p:cNvPr id="90122" name="Rectangle 11"/>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5836" name="Object 12"/>
          <p:cNvGraphicFramePr>
            <a:graphicFrameLocks noChangeAspect="1"/>
          </p:cNvGraphicFramePr>
          <p:nvPr/>
        </p:nvGraphicFramePr>
        <p:xfrm>
          <a:off x="1116013" y="4365625"/>
          <a:ext cx="3455987" cy="1517650"/>
        </p:xfrm>
        <a:graphic>
          <a:graphicData uri="http://schemas.openxmlformats.org/presentationml/2006/ole">
            <mc:AlternateContent xmlns:mc="http://schemas.openxmlformats.org/markup-compatibility/2006">
              <mc:Choice xmlns:v="urn:schemas-microsoft-com:vml" Requires="v">
                <p:oleObj spid="_x0000_s3234" name="" r:id="rId5" imgW="1663700" imgH="711200" progId="Equation.DSMT4">
                  <p:embed/>
                </p:oleObj>
              </mc:Choice>
              <mc:Fallback>
                <p:oleObj name="" r:id="rId5" imgW="1663700" imgH="711200" progId="Equation.DSMT4">
                  <p:embed/>
                  <p:pic>
                    <p:nvPicPr>
                      <p:cNvPr id="0" name="图片 3233"/>
                      <p:cNvPicPr/>
                      <p:nvPr/>
                    </p:nvPicPr>
                    <p:blipFill>
                      <a:blip r:embed="rId6"/>
                      <a:stretch>
                        <a:fillRect/>
                      </a:stretch>
                    </p:blipFill>
                    <p:spPr>
                      <a:xfrm>
                        <a:off x="1116013" y="4365625"/>
                        <a:ext cx="3455987" cy="1517650"/>
                      </a:xfrm>
                      <a:prstGeom prst="rect">
                        <a:avLst/>
                      </a:prstGeom>
                      <a:noFill/>
                      <a:ln w="38100">
                        <a:noFill/>
                        <a:miter/>
                      </a:ln>
                    </p:spPr>
                  </p:pic>
                </p:oleObj>
              </mc:Fallback>
            </mc:AlternateContent>
          </a:graphicData>
        </a:graphic>
      </p:graphicFrame>
      <p:sp>
        <p:nvSpPr>
          <p:cNvPr id="205837" name="Rectangle 13"/>
          <p:cNvSpPr/>
          <p:nvPr/>
        </p:nvSpPr>
        <p:spPr>
          <a:xfrm>
            <a:off x="1042988" y="5949950"/>
            <a:ext cx="2897187" cy="3968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例如，当</a:t>
            </a:r>
            <a:r>
              <a:rPr lang="en-US" altLang="zh-CN" sz="2000" b="1" i="1">
                <a:latin typeface="Times New Roman" panose="02020603050405020304" pitchFamily="18" charset="0"/>
                <a:ea typeface="宋体" panose="02010600030101010101" pitchFamily="2" charset="-122"/>
              </a:rPr>
              <a:t>n</a:t>
            </a:r>
            <a:r>
              <a:rPr lang="en-US" altLang="zh-CN" sz="2000" b="1">
                <a:latin typeface="Times New Roman" panose="02020603050405020304" pitchFamily="18" charset="0"/>
                <a:ea typeface="宋体" panose="02010600030101010101" pitchFamily="2" charset="-122"/>
              </a:rPr>
              <a:t>=3</a:t>
            </a:r>
            <a:r>
              <a:rPr lang="zh-CN" altLang="en-US" sz="2000" b="1">
                <a:latin typeface="Times New Roman" panose="02020603050405020304" pitchFamily="18" charset="0"/>
                <a:ea typeface="宋体" panose="02010600030101010101" pitchFamily="2" charset="-122"/>
              </a:rPr>
              <a:t>时，可令：</a:t>
            </a:r>
            <a:endParaRPr lang="zh-CN" altLang="en-US" sz="2000" b="1">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5832"/>
                                        </p:tgtEl>
                                        <p:attrNameLst>
                                          <p:attrName>style.visibility</p:attrName>
                                        </p:attrNameLst>
                                      </p:cBhvr>
                                      <p:to>
                                        <p:strVal val="visible"/>
                                      </p:to>
                                    </p:set>
                                    <p:anim calcmode="lin" valueType="num">
                                      <p:cBhvr>
                                        <p:cTn id="13" dur="500" fill="hold"/>
                                        <p:tgtEl>
                                          <p:spTgt spid="205832"/>
                                        </p:tgtEl>
                                        <p:attrNameLst>
                                          <p:attrName>ppt_x</p:attrName>
                                        </p:attrNameLst>
                                      </p:cBhvr>
                                      <p:tavLst>
                                        <p:tav tm="0">
                                          <p:val>
                                            <p:strVal val="0-#ppt_w/2"/>
                                          </p:val>
                                        </p:tav>
                                        <p:tav tm="100000">
                                          <p:val>
                                            <p:strVal val="#ppt_x"/>
                                          </p:val>
                                        </p:tav>
                                      </p:tavLst>
                                    </p:anim>
                                    <p:anim calcmode="lin" valueType="num">
                                      <p:cBhvr>
                                        <p:cTn id="14" dur="500" fill="hold"/>
                                        <p:tgtEl>
                                          <p:spTgt spid="20583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5833"/>
                                        </p:tgtEl>
                                        <p:attrNameLst>
                                          <p:attrName>style.visibility</p:attrName>
                                        </p:attrNameLst>
                                      </p:cBhvr>
                                      <p:to>
                                        <p:strVal val="visible"/>
                                      </p:to>
                                    </p:set>
                                    <p:anim calcmode="lin" valueType="num">
                                      <p:cBhvr>
                                        <p:cTn id="19" dur="500" fill="hold"/>
                                        <p:tgtEl>
                                          <p:spTgt spid="205833"/>
                                        </p:tgtEl>
                                        <p:attrNameLst>
                                          <p:attrName>ppt_x</p:attrName>
                                        </p:attrNameLst>
                                      </p:cBhvr>
                                      <p:tavLst>
                                        <p:tav tm="0">
                                          <p:val>
                                            <p:strVal val="0-#ppt_w/2"/>
                                          </p:val>
                                        </p:tav>
                                        <p:tav tm="100000">
                                          <p:val>
                                            <p:strVal val="#ppt_x"/>
                                          </p:val>
                                        </p:tav>
                                      </p:tavLst>
                                    </p:anim>
                                    <p:anim calcmode="lin" valueType="num">
                                      <p:cBhvr>
                                        <p:cTn id="20" dur="500" fill="hold"/>
                                        <p:tgtEl>
                                          <p:spTgt spid="20583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5834"/>
                                        </p:tgtEl>
                                        <p:attrNameLst>
                                          <p:attrName>style.visibility</p:attrName>
                                        </p:attrNameLst>
                                      </p:cBhvr>
                                      <p:to>
                                        <p:strVal val="visible"/>
                                      </p:to>
                                    </p:set>
                                    <p:anim calcmode="lin" valueType="num">
                                      <p:cBhvr>
                                        <p:cTn id="25" dur="500" fill="hold"/>
                                        <p:tgtEl>
                                          <p:spTgt spid="205834"/>
                                        </p:tgtEl>
                                        <p:attrNameLst>
                                          <p:attrName>ppt_x</p:attrName>
                                        </p:attrNameLst>
                                      </p:cBhvr>
                                      <p:tavLst>
                                        <p:tav tm="0">
                                          <p:val>
                                            <p:strVal val="0-#ppt_w/2"/>
                                          </p:val>
                                        </p:tav>
                                        <p:tav tm="100000">
                                          <p:val>
                                            <p:strVal val="#ppt_x"/>
                                          </p:val>
                                        </p:tav>
                                      </p:tavLst>
                                    </p:anim>
                                    <p:anim calcmode="lin" valueType="num">
                                      <p:cBhvr>
                                        <p:cTn id="26" dur="500" fill="hold"/>
                                        <p:tgtEl>
                                          <p:spTgt spid="20583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05836"/>
                                        </p:tgtEl>
                                        <p:attrNameLst>
                                          <p:attrName>style.visibility</p:attrName>
                                        </p:attrNameLst>
                                      </p:cBhvr>
                                      <p:to>
                                        <p:strVal val="visible"/>
                                      </p:to>
                                    </p:set>
                                    <p:anim calcmode="lin" valueType="num">
                                      <p:cBhvr>
                                        <p:cTn id="31" dur="500" fill="hold"/>
                                        <p:tgtEl>
                                          <p:spTgt spid="205836"/>
                                        </p:tgtEl>
                                        <p:attrNameLst>
                                          <p:attrName>ppt_x</p:attrName>
                                        </p:attrNameLst>
                                      </p:cBhvr>
                                      <p:tavLst>
                                        <p:tav tm="0">
                                          <p:val>
                                            <p:strVal val="0-#ppt_w/2"/>
                                          </p:val>
                                        </p:tav>
                                        <p:tav tm="100000">
                                          <p:val>
                                            <p:strVal val="#ppt_x"/>
                                          </p:val>
                                        </p:tav>
                                      </p:tavLst>
                                    </p:anim>
                                    <p:anim calcmode="lin" valueType="num">
                                      <p:cBhvr>
                                        <p:cTn id="32" dur="500" fill="hold"/>
                                        <p:tgtEl>
                                          <p:spTgt spid="20583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5837"/>
                                        </p:tgtEl>
                                        <p:attrNameLst>
                                          <p:attrName>style.visibility</p:attrName>
                                        </p:attrNameLst>
                                      </p:cBhvr>
                                      <p:to>
                                        <p:strVal val="visible"/>
                                      </p:to>
                                    </p:set>
                                    <p:anim calcmode="lin" valueType="num">
                                      <p:cBhvr>
                                        <p:cTn id="37" dur="500" fill="hold"/>
                                        <p:tgtEl>
                                          <p:spTgt spid="205837"/>
                                        </p:tgtEl>
                                        <p:attrNameLst>
                                          <p:attrName>ppt_x</p:attrName>
                                        </p:attrNameLst>
                                      </p:cBhvr>
                                      <p:tavLst>
                                        <p:tav tm="0">
                                          <p:val>
                                            <p:strVal val="0-#ppt_w/2"/>
                                          </p:val>
                                        </p:tav>
                                        <p:tav tm="100000">
                                          <p:val>
                                            <p:strVal val="#ppt_x"/>
                                          </p:val>
                                        </p:tav>
                                      </p:tavLst>
                                    </p:anim>
                                    <p:anim calcmode="lin" valueType="num">
                                      <p:cBhvr>
                                        <p:cTn id="38" dur="500" fill="hold"/>
                                        <p:tgtEl>
                                          <p:spTgt spid="2058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32" grpId="0"/>
      <p:bldP spid="205833" grpId="0"/>
      <p:bldP spid="205834" grpId="0"/>
      <p:bldP spid="20583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75" name="Object 3"/>
          <p:cNvGraphicFramePr>
            <a:graphicFrameLocks noChangeAspect="1"/>
          </p:cNvGraphicFramePr>
          <p:nvPr/>
        </p:nvGraphicFramePr>
        <p:xfrm>
          <a:off x="1116013" y="333375"/>
          <a:ext cx="1871662" cy="1389063"/>
        </p:xfrm>
        <a:graphic>
          <a:graphicData uri="http://schemas.openxmlformats.org/presentationml/2006/ole">
            <mc:AlternateContent xmlns:mc="http://schemas.openxmlformats.org/markup-compatibility/2006">
              <mc:Choice xmlns:v="urn:schemas-microsoft-com:vml" Requires="v">
                <p:oleObj spid="_x0000_s3232" name="" r:id="rId1" imgW="965200" imgH="711200" progId="Equation.DSMT4">
                  <p:embed/>
                </p:oleObj>
              </mc:Choice>
              <mc:Fallback>
                <p:oleObj name="" r:id="rId1" imgW="965200" imgH="711200" progId="Equation.DSMT4">
                  <p:embed/>
                  <p:pic>
                    <p:nvPicPr>
                      <p:cNvPr id="0" name="图片 3231"/>
                      <p:cNvPicPr/>
                      <p:nvPr/>
                    </p:nvPicPr>
                    <p:blipFill>
                      <a:blip r:embed="rId2"/>
                      <a:stretch>
                        <a:fillRect/>
                      </a:stretch>
                    </p:blipFill>
                    <p:spPr>
                      <a:xfrm>
                        <a:off x="1116013" y="333375"/>
                        <a:ext cx="1871662" cy="1389063"/>
                      </a:xfrm>
                      <a:prstGeom prst="rect">
                        <a:avLst/>
                      </a:prstGeom>
                      <a:noFill/>
                      <a:ln w="38100">
                        <a:noFill/>
                        <a:miter/>
                      </a:ln>
                    </p:spPr>
                  </p:pic>
                </p:oleObj>
              </mc:Fallback>
            </mc:AlternateContent>
          </a:graphicData>
        </a:graphic>
      </p:graphicFrame>
      <p:sp>
        <p:nvSpPr>
          <p:cNvPr id="92163" name="Rectangle 4"/>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77" name="Object 5"/>
          <p:cNvGraphicFramePr>
            <a:graphicFrameLocks noChangeAspect="1"/>
          </p:cNvGraphicFramePr>
          <p:nvPr/>
        </p:nvGraphicFramePr>
        <p:xfrm>
          <a:off x="3492500" y="260350"/>
          <a:ext cx="2016125" cy="1468438"/>
        </p:xfrm>
        <a:graphic>
          <a:graphicData uri="http://schemas.openxmlformats.org/presentationml/2006/ole">
            <mc:AlternateContent xmlns:mc="http://schemas.openxmlformats.org/markup-compatibility/2006">
              <mc:Choice xmlns:v="urn:schemas-microsoft-com:vml" Requires="v">
                <p:oleObj spid="_x0000_s3237" name="" r:id="rId3" imgW="977900" imgH="711200" progId="Equation.DSMT4">
                  <p:embed/>
                </p:oleObj>
              </mc:Choice>
              <mc:Fallback>
                <p:oleObj name="" r:id="rId3" imgW="977900" imgH="711200" progId="Equation.DSMT4">
                  <p:embed/>
                  <p:pic>
                    <p:nvPicPr>
                      <p:cNvPr id="0" name="图片 3236"/>
                      <p:cNvPicPr/>
                      <p:nvPr/>
                    </p:nvPicPr>
                    <p:blipFill>
                      <a:blip r:embed="rId4"/>
                      <a:stretch>
                        <a:fillRect/>
                      </a:stretch>
                    </p:blipFill>
                    <p:spPr>
                      <a:xfrm>
                        <a:off x="3492500" y="260350"/>
                        <a:ext cx="2016125" cy="1468438"/>
                      </a:xfrm>
                      <a:prstGeom prst="rect">
                        <a:avLst/>
                      </a:prstGeom>
                      <a:noFill/>
                      <a:ln w="38100">
                        <a:noFill/>
                        <a:miter/>
                      </a:ln>
                    </p:spPr>
                  </p:pic>
                </p:oleObj>
              </mc:Fallback>
            </mc:AlternateContent>
          </a:graphicData>
        </a:graphic>
      </p:graphicFrame>
      <p:sp>
        <p:nvSpPr>
          <p:cNvPr id="92165" name="Rectangle 6"/>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79" name="Object 7"/>
          <p:cNvGraphicFramePr>
            <a:graphicFrameLocks noChangeAspect="1"/>
          </p:cNvGraphicFramePr>
          <p:nvPr/>
        </p:nvGraphicFramePr>
        <p:xfrm>
          <a:off x="5867400" y="260350"/>
          <a:ext cx="2016125" cy="1468438"/>
        </p:xfrm>
        <a:graphic>
          <a:graphicData uri="http://schemas.openxmlformats.org/presentationml/2006/ole">
            <mc:AlternateContent xmlns:mc="http://schemas.openxmlformats.org/markup-compatibility/2006">
              <mc:Choice xmlns:v="urn:schemas-microsoft-com:vml" Requires="v">
                <p:oleObj spid="_x0000_s3239" name="" r:id="rId5" imgW="977900" imgH="711200" progId="Equation.DSMT4">
                  <p:embed/>
                </p:oleObj>
              </mc:Choice>
              <mc:Fallback>
                <p:oleObj name="" r:id="rId5" imgW="977900" imgH="711200" progId="Equation.DSMT4">
                  <p:embed/>
                  <p:pic>
                    <p:nvPicPr>
                      <p:cNvPr id="0" name="图片 3238"/>
                      <p:cNvPicPr/>
                      <p:nvPr/>
                    </p:nvPicPr>
                    <p:blipFill>
                      <a:blip r:embed="rId6"/>
                      <a:stretch>
                        <a:fillRect/>
                      </a:stretch>
                    </p:blipFill>
                    <p:spPr>
                      <a:xfrm>
                        <a:off x="5867400" y="260350"/>
                        <a:ext cx="2016125" cy="1468438"/>
                      </a:xfrm>
                      <a:prstGeom prst="rect">
                        <a:avLst/>
                      </a:prstGeom>
                      <a:noFill/>
                      <a:ln w="38100">
                        <a:noFill/>
                        <a:miter/>
                      </a:ln>
                    </p:spPr>
                  </p:pic>
                </p:oleObj>
              </mc:Fallback>
            </mc:AlternateContent>
          </a:graphicData>
        </a:graphic>
      </p:graphicFrame>
      <p:sp>
        <p:nvSpPr>
          <p:cNvPr id="92167" name="Rectangle 8"/>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81" name="Object 9"/>
          <p:cNvGraphicFramePr>
            <a:graphicFrameLocks noChangeAspect="1"/>
          </p:cNvGraphicFramePr>
          <p:nvPr/>
        </p:nvGraphicFramePr>
        <p:xfrm>
          <a:off x="1187450" y="2133600"/>
          <a:ext cx="1944688" cy="1401763"/>
        </p:xfrm>
        <a:graphic>
          <a:graphicData uri="http://schemas.openxmlformats.org/presentationml/2006/ole">
            <mc:AlternateContent xmlns:mc="http://schemas.openxmlformats.org/markup-compatibility/2006">
              <mc:Choice xmlns:v="urn:schemas-microsoft-com:vml" Requires="v">
                <p:oleObj spid="_x0000_s3240" name="" r:id="rId7" imgW="989965" imgH="711200" progId="Equation.DSMT4">
                  <p:embed/>
                </p:oleObj>
              </mc:Choice>
              <mc:Fallback>
                <p:oleObj name="" r:id="rId7" imgW="989965" imgH="711200" progId="Equation.DSMT4">
                  <p:embed/>
                  <p:pic>
                    <p:nvPicPr>
                      <p:cNvPr id="0" name="图片 3239"/>
                      <p:cNvPicPr/>
                      <p:nvPr/>
                    </p:nvPicPr>
                    <p:blipFill>
                      <a:blip r:embed="rId8"/>
                      <a:stretch>
                        <a:fillRect/>
                      </a:stretch>
                    </p:blipFill>
                    <p:spPr>
                      <a:xfrm>
                        <a:off x="1187450" y="2133600"/>
                        <a:ext cx="1944688" cy="1401763"/>
                      </a:xfrm>
                      <a:prstGeom prst="rect">
                        <a:avLst/>
                      </a:prstGeom>
                      <a:noFill/>
                      <a:ln w="38100">
                        <a:noFill/>
                        <a:miter/>
                      </a:ln>
                    </p:spPr>
                  </p:pic>
                </p:oleObj>
              </mc:Fallback>
            </mc:AlternateContent>
          </a:graphicData>
        </a:graphic>
      </p:graphicFrame>
      <p:sp>
        <p:nvSpPr>
          <p:cNvPr id="92169" name="Rectangle 10"/>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83" name="Object 11"/>
          <p:cNvGraphicFramePr>
            <a:graphicFrameLocks noChangeAspect="1"/>
          </p:cNvGraphicFramePr>
          <p:nvPr/>
        </p:nvGraphicFramePr>
        <p:xfrm>
          <a:off x="3492500" y="1989138"/>
          <a:ext cx="2087563" cy="1490662"/>
        </p:xfrm>
        <a:graphic>
          <a:graphicData uri="http://schemas.openxmlformats.org/presentationml/2006/ole">
            <mc:AlternateContent xmlns:mc="http://schemas.openxmlformats.org/markup-compatibility/2006">
              <mc:Choice xmlns:v="urn:schemas-microsoft-com:vml" Requires="v">
                <p:oleObj spid="_x0000_s3233" name="" r:id="rId9" imgW="1002665" imgH="711200" progId="Equation.DSMT4">
                  <p:embed/>
                </p:oleObj>
              </mc:Choice>
              <mc:Fallback>
                <p:oleObj name="" r:id="rId9" imgW="1002665" imgH="711200" progId="Equation.DSMT4">
                  <p:embed/>
                  <p:pic>
                    <p:nvPicPr>
                      <p:cNvPr id="0" name="图片 3232"/>
                      <p:cNvPicPr/>
                      <p:nvPr/>
                    </p:nvPicPr>
                    <p:blipFill>
                      <a:blip r:embed="rId10"/>
                      <a:stretch>
                        <a:fillRect/>
                      </a:stretch>
                    </p:blipFill>
                    <p:spPr>
                      <a:xfrm>
                        <a:off x="3492500" y="1989138"/>
                        <a:ext cx="2087563" cy="1490662"/>
                      </a:xfrm>
                      <a:prstGeom prst="rect">
                        <a:avLst/>
                      </a:prstGeom>
                      <a:noFill/>
                      <a:ln w="38100">
                        <a:noFill/>
                        <a:miter/>
                      </a:ln>
                    </p:spPr>
                  </p:pic>
                </p:oleObj>
              </mc:Fallback>
            </mc:AlternateContent>
          </a:graphicData>
        </a:graphic>
      </p:graphicFrame>
      <p:sp>
        <p:nvSpPr>
          <p:cNvPr id="92171" name="Rectangle 12"/>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85" name="Object 13"/>
          <p:cNvGraphicFramePr>
            <a:graphicFrameLocks noChangeAspect="1"/>
          </p:cNvGraphicFramePr>
          <p:nvPr/>
        </p:nvGraphicFramePr>
        <p:xfrm>
          <a:off x="6011863" y="1989138"/>
          <a:ext cx="2089150" cy="1492250"/>
        </p:xfrm>
        <a:graphic>
          <a:graphicData uri="http://schemas.openxmlformats.org/presentationml/2006/ole">
            <mc:AlternateContent xmlns:mc="http://schemas.openxmlformats.org/markup-compatibility/2006">
              <mc:Choice xmlns:v="urn:schemas-microsoft-com:vml" Requires="v">
                <p:oleObj spid="_x0000_s3235" name="" r:id="rId11" imgW="1002665" imgH="711200" progId="Equation.DSMT4">
                  <p:embed/>
                </p:oleObj>
              </mc:Choice>
              <mc:Fallback>
                <p:oleObj name="" r:id="rId11" imgW="1002665" imgH="711200" progId="Equation.DSMT4">
                  <p:embed/>
                  <p:pic>
                    <p:nvPicPr>
                      <p:cNvPr id="0" name="图片 3234"/>
                      <p:cNvPicPr/>
                      <p:nvPr/>
                    </p:nvPicPr>
                    <p:blipFill>
                      <a:blip r:embed="rId12"/>
                      <a:stretch>
                        <a:fillRect/>
                      </a:stretch>
                    </p:blipFill>
                    <p:spPr>
                      <a:xfrm>
                        <a:off x="6011863" y="1989138"/>
                        <a:ext cx="2089150" cy="1492250"/>
                      </a:xfrm>
                      <a:prstGeom prst="rect">
                        <a:avLst/>
                      </a:prstGeom>
                      <a:noFill/>
                      <a:ln w="38100">
                        <a:noFill/>
                        <a:miter/>
                      </a:ln>
                    </p:spPr>
                  </p:pic>
                </p:oleObj>
              </mc:Fallback>
            </mc:AlternateContent>
          </a:graphicData>
        </a:graphic>
      </p:graphicFrame>
      <p:sp>
        <p:nvSpPr>
          <p:cNvPr id="207886" name="Rectangle 14"/>
          <p:cNvSpPr/>
          <p:nvPr/>
        </p:nvSpPr>
        <p:spPr>
          <a:xfrm>
            <a:off x="107950" y="3716338"/>
            <a:ext cx="8629650"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（注：这种设置方法保持了其内在的对称性，不失为一种明智的做法。）</a:t>
            </a:r>
            <a:endParaRPr lang="zh-CN" altLang="en-US" sz="2000" b="1">
              <a:latin typeface="Times New Roman" panose="02020603050405020304" pitchFamily="18" charset="0"/>
              <a:ea typeface="宋体" panose="02010600030101010101" pitchFamily="2" charset="-122"/>
            </a:endParaRPr>
          </a:p>
        </p:txBody>
      </p:sp>
      <p:sp>
        <p:nvSpPr>
          <p:cNvPr id="92174" name="Rectangle 15"/>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92175" name="Rectangle 16"/>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92176" name="Group 17"/>
          <p:cNvGrpSpPr/>
          <p:nvPr/>
        </p:nvGrpSpPr>
        <p:grpSpPr>
          <a:xfrm>
            <a:off x="519113" y="3860800"/>
            <a:ext cx="8156575" cy="914400"/>
            <a:chOff x="373" y="2523"/>
            <a:chExt cx="5138" cy="576"/>
          </a:xfrm>
        </p:grpSpPr>
        <p:sp>
          <p:nvSpPr>
            <p:cNvPr id="92177" name="Text Box 18"/>
            <p:cNvSpPr txBox="1"/>
            <p:nvPr/>
          </p:nvSpPr>
          <p:spPr>
            <a:xfrm>
              <a:off x="373" y="2657"/>
              <a:ext cx="3825" cy="442"/>
            </a:xfrm>
            <a:prstGeom prst="rect">
              <a:avLst/>
            </a:prstGeom>
            <a:noFill/>
            <a:ln w="9525">
              <a:noFill/>
            </a:ln>
          </p:spPr>
          <p:txBody>
            <a:bodyPr wrap="none" anchor="t">
              <a:spAutoFit/>
            </a:bodyPr>
            <a:p>
              <a:r>
                <a:rPr lang="zh-CN" altLang="en-US" sz="2000" b="1">
                  <a:solidFill>
                    <a:srgbClr val="000000"/>
                  </a:solidFill>
                  <a:latin typeface="Times New Roman" panose="02020603050405020304" pitchFamily="18" charset="0"/>
                  <a:ea typeface="宋体" panose="02010600030101010101" pitchFamily="2" charset="-122"/>
                </a:rPr>
                <a:t>现在，我们来分解例</a:t>
              </a:r>
              <a:r>
                <a:rPr lang="en-US" altLang="zh-CN" sz="2000" b="1">
                  <a:solidFill>
                    <a:srgbClr val="000000"/>
                  </a:solidFill>
                  <a:latin typeface="Times New Roman" panose="02020603050405020304" pitchFamily="18" charset="0"/>
                  <a:ea typeface="宋体" panose="02010600030101010101" pitchFamily="2" charset="-122"/>
                </a:rPr>
                <a:t>9.33</a:t>
              </a:r>
              <a:r>
                <a:rPr lang="zh-CN" altLang="en-US" sz="2000" b="1">
                  <a:solidFill>
                    <a:srgbClr val="000000"/>
                  </a:solidFill>
                  <a:latin typeface="Times New Roman" panose="02020603050405020304" pitchFamily="18" charset="0"/>
                  <a:ea typeface="宋体" panose="02010600030101010101" pitchFamily="2" charset="-122"/>
                </a:rPr>
                <a:t>中的双随机矩阵      ，令     </a:t>
              </a:r>
              <a:r>
                <a:rPr lang="en-US" altLang="zh-CN" sz="2000" b="1">
                  <a:solidFill>
                    <a:srgbClr val="000000"/>
                  </a:solidFill>
                  <a:latin typeface="Times New Roman" panose="02020603050405020304" pitchFamily="18" charset="0"/>
                  <a:ea typeface="宋体" panose="02010600030101010101" pitchFamily="2" charset="-122"/>
                </a:rPr>
                <a:t>=</a:t>
              </a:r>
              <a:endParaRPr lang="en-US" altLang="zh-CN"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，得方程组</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92178" name="Object 19"/>
            <p:cNvGraphicFramePr>
              <a:graphicFrameLocks noChangeAspect="1"/>
            </p:cNvGraphicFramePr>
            <p:nvPr/>
          </p:nvGraphicFramePr>
          <p:xfrm>
            <a:off x="3293" y="2622"/>
            <a:ext cx="177" cy="256"/>
          </p:xfrm>
          <a:graphic>
            <a:graphicData uri="http://schemas.openxmlformats.org/presentationml/2006/ole">
              <mc:AlternateContent xmlns:mc="http://schemas.openxmlformats.org/markup-compatibility/2006">
                <mc:Choice xmlns:v="urn:schemas-microsoft-com:vml" Requires="v">
                  <p:oleObj spid="_x0000_s3251" name="" r:id="rId13" imgW="139700" imgH="203200" progId="Equation.DSMT4">
                    <p:embed/>
                  </p:oleObj>
                </mc:Choice>
                <mc:Fallback>
                  <p:oleObj name="" r:id="rId13" imgW="139700" imgH="203200" progId="Equation.DSMT4">
                    <p:embed/>
                    <p:pic>
                      <p:nvPicPr>
                        <p:cNvPr id="0" name="图片 3250"/>
                        <p:cNvPicPr/>
                        <p:nvPr/>
                      </p:nvPicPr>
                      <p:blipFill>
                        <a:blip r:embed="rId14"/>
                        <a:stretch>
                          <a:fillRect/>
                        </a:stretch>
                      </p:blipFill>
                      <p:spPr>
                        <a:xfrm>
                          <a:off x="3293" y="2622"/>
                          <a:ext cx="177" cy="256"/>
                        </a:xfrm>
                        <a:prstGeom prst="rect">
                          <a:avLst/>
                        </a:prstGeom>
                        <a:noFill/>
                        <a:ln w="38100">
                          <a:noFill/>
                          <a:miter/>
                        </a:ln>
                      </p:spPr>
                    </p:pic>
                  </p:oleObj>
                </mc:Fallback>
              </mc:AlternateContent>
            </a:graphicData>
          </a:graphic>
        </p:graphicFrame>
        <p:graphicFrame>
          <p:nvGraphicFramePr>
            <p:cNvPr id="92179" name="Object 20"/>
            <p:cNvGraphicFramePr>
              <a:graphicFrameLocks noChangeAspect="1"/>
            </p:cNvGraphicFramePr>
            <p:nvPr/>
          </p:nvGraphicFramePr>
          <p:xfrm>
            <a:off x="3878" y="2622"/>
            <a:ext cx="177" cy="256"/>
          </p:xfrm>
          <a:graphic>
            <a:graphicData uri="http://schemas.openxmlformats.org/presentationml/2006/ole">
              <mc:AlternateContent xmlns:mc="http://schemas.openxmlformats.org/markup-compatibility/2006">
                <mc:Choice xmlns:v="urn:schemas-microsoft-com:vml" Requires="v">
                  <p:oleObj spid="_x0000_s3246" name="" r:id="rId15" imgW="139700" imgH="203200" progId="Equation.DSMT4">
                    <p:embed/>
                  </p:oleObj>
                </mc:Choice>
                <mc:Fallback>
                  <p:oleObj name="" r:id="rId15" imgW="139700" imgH="203200" progId="Equation.DSMT4">
                    <p:embed/>
                    <p:pic>
                      <p:nvPicPr>
                        <p:cNvPr id="0" name="图片 3245"/>
                        <p:cNvPicPr/>
                        <p:nvPr/>
                      </p:nvPicPr>
                      <p:blipFill>
                        <a:blip r:embed="rId16"/>
                        <a:stretch>
                          <a:fillRect/>
                        </a:stretch>
                      </p:blipFill>
                      <p:spPr>
                        <a:xfrm>
                          <a:off x="3878" y="2622"/>
                          <a:ext cx="177" cy="256"/>
                        </a:xfrm>
                        <a:prstGeom prst="rect">
                          <a:avLst/>
                        </a:prstGeom>
                        <a:noFill/>
                        <a:ln w="38100">
                          <a:noFill/>
                          <a:miter/>
                        </a:ln>
                      </p:spPr>
                    </p:pic>
                  </p:oleObj>
                </mc:Fallback>
              </mc:AlternateContent>
            </a:graphicData>
          </a:graphic>
        </p:graphicFrame>
        <p:graphicFrame>
          <p:nvGraphicFramePr>
            <p:cNvPr id="92180" name="Object 21"/>
            <p:cNvGraphicFramePr>
              <a:graphicFrameLocks noChangeAspect="1"/>
            </p:cNvGraphicFramePr>
            <p:nvPr/>
          </p:nvGraphicFramePr>
          <p:xfrm>
            <a:off x="4150" y="2523"/>
            <a:ext cx="1361" cy="515"/>
          </p:xfrm>
          <a:graphic>
            <a:graphicData uri="http://schemas.openxmlformats.org/presentationml/2006/ole">
              <mc:AlternateContent xmlns:mc="http://schemas.openxmlformats.org/markup-compatibility/2006">
                <mc:Choice xmlns:v="urn:schemas-microsoft-com:vml" Requires="v">
                  <p:oleObj spid="_x0000_s3248" name="" r:id="rId17" imgW="1129665" imgH="431800" progId="Equation.DSMT4">
                    <p:embed/>
                  </p:oleObj>
                </mc:Choice>
                <mc:Fallback>
                  <p:oleObj name="" r:id="rId17" imgW="1129665" imgH="431800" progId="Equation.DSMT4">
                    <p:embed/>
                    <p:pic>
                      <p:nvPicPr>
                        <p:cNvPr id="0" name="图片 3247"/>
                        <p:cNvPicPr/>
                        <p:nvPr/>
                      </p:nvPicPr>
                      <p:blipFill>
                        <a:blip r:embed="rId18"/>
                        <a:stretch>
                          <a:fillRect/>
                        </a:stretch>
                      </p:blipFill>
                      <p:spPr>
                        <a:xfrm>
                          <a:off x="4150" y="2523"/>
                          <a:ext cx="1361" cy="515"/>
                        </a:xfrm>
                        <a:prstGeom prst="rect">
                          <a:avLst/>
                        </a:prstGeom>
                        <a:noFill/>
                        <a:ln w="38100">
                          <a:noFill/>
                          <a:miter/>
                        </a:ln>
                      </p:spPr>
                    </p:pic>
                  </p:oleObj>
                </mc:Fallback>
              </mc:AlternateContent>
            </a:graphicData>
          </a:graphic>
        </p:graphicFrame>
      </p:grpSp>
      <p:sp>
        <p:nvSpPr>
          <p:cNvPr id="92181" name="Rectangle 22"/>
          <p:cNvSpPr/>
          <p:nvPr/>
        </p:nvSpPr>
        <p:spPr>
          <a:xfrm>
            <a:off x="0" y="30718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95" name="Object 23"/>
          <p:cNvGraphicFramePr>
            <a:graphicFrameLocks noChangeAspect="1"/>
          </p:cNvGraphicFramePr>
          <p:nvPr/>
        </p:nvGraphicFramePr>
        <p:xfrm>
          <a:off x="1619250" y="4868863"/>
          <a:ext cx="5832475" cy="1625600"/>
        </p:xfrm>
        <a:graphic>
          <a:graphicData uri="http://schemas.openxmlformats.org/presentationml/2006/ole">
            <mc:AlternateContent xmlns:mc="http://schemas.openxmlformats.org/markup-compatibility/2006">
              <mc:Choice xmlns:v="urn:schemas-microsoft-com:vml" Requires="v">
                <p:oleObj spid="_x0000_s3242" name="" r:id="rId19" imgW="2565400" imgH="711200" progId="Equation.DSMT4">
                  <p:embed/>
                </p:oleObj>
              </mc:Choice>
              <mc:Fallback>
                <p:oleObj name="" r:id="rId19" imgW="2565400" imgH="711200" progId="Equation.DSMT4">
                  <p:embed/>
                  <p:pic>
                    <p:nvPicPr>
                      <p:cNvPr id="0" name="图片 3241"/>
                      <p:cNvPicPr/>
                      <p:nvPr/>
                    </p:nvPicPr>
                    <p:blipFill>
                      <a:blip r:embed="rId20"/>
                      <a:stretch>
                        <a:fillRect/>
                      </a:stretch>
                    </p:blipFill>
                    <p:spPr>
                      <a:xfrm>
                        <a:off x="1619250" y="4868863"/>
                        <a:ext cx="5832475" cy="16256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07875"/>
                                        </p:tgtEl>
                                        <p:attrNameLst>
                                          <p:attrName>style.visibility</p:attrName>
                                        </p:attrNameLst>
                                      </p:cBhvr>
                                      <p:to>
                                        <p:strVal val="visible"/>
                                      </p:to>
                                    </p:set>
                                    <p:anim calcmode="lin" valueType="num">
                                      <p:cBhvr>
                                        <p:cTn id="7" dur="500" fill="hold"/>
                                        <p:tgtEl>
                                          <p:spTgt spid="207875"/>
                                        </p:tgtEl>
                                        <p:attrNameLst>
                                          <p:attrName>ppt_x</p:attrName>
                                        </p:attrNameLst>
                                      </p:cBhvr>
                                      <p:tavLst>
                                        <p:tav tm="0">
                                          <p:val>
                                            <p:strVal val="0-#ppt_w/2"/>
                                          </p:val>
                                        </p:tav>
                                        <p:tav tm="100000">
                                          <p:val>
                                            <p:strVal val="#ppt_x"/>
                                          </p:val>
                                        </p:tav>
                                      </p:tavLst>
                                    </p:anim>
                                    <p:anim calcmode="lin" valueType="num">
                                      <p:cBhvr>
                                        <p:cTn id="8" dur="500" fill="hold"/>
                                        <p:tgtEl>
                                          <p:spTgt spid="2078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7877"/>
                                        </p:tgtEl>
                                        <p:attrNameLst>
                                          <p:attrName>style.visibility</p:attrName>
                                        </p:attrNameLst>
                                      </p:cBhvr>
                                      <p:to>
                                        <p:strVal val="visible"/>
                                      </p:to>
                                    </p:set>
                                    <p:anim calcmode="lin" valueType="num">
                                      <p:cBhvr>
                                        <p:cTn id="13" dur="500" fill="hold"/>
                                        <p:tgtEl>
                                          <p:spTgt spid="207877"/>
                                        </p:tgtEl>
                                        <p:attrNameLst>
                                          <p:attrName>ppt_x</p:attrName>
                                        </p:attrNameLst>
                                      </p:cBhvr>
                                      <p:tavLst>
                                        <p:tav tm="0">
                                          <p:val>
                                            <p:strVal val="0-#ppt_w/2"/>
                                          </p:val>
                                        </p:tav>
                                        <p:tav tm="100000">
                                          <p:val>
                                            <p:strVal val="#ppt_x"/>
                                          </p:val>
                                        </p:tav>
                                      </p:tavLst>
                                    </p:anim>
                                    <p:anim calcmode="lin" valueType="num">
                                      <p:cBhvr>
                                        <p:cTn id="14" dur="500" fill="hold"/>
                                        <p:tgtEl>
                                          <p:spTgt spid="20787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07879"/>
                                        </p:tgtEl>
                                        <p:attrNameLst>
                                          <p:attrName>style.visibility</p:attrName>
                                        </p:attrNameLst>
                                      </p:cBhvr>
                                      <p:to>
                                        <p:strVal val="visible"/>
                                      </p:to>
                                    </p:set>
                                    <p:anim calcmode="lin" valueType="num">
                                      <p:cBhvr>
                                        <p:cTn id="19" dur="500" fill="hold"/>
                                        <p:tgtEl>
                                          <p:spTgt spid="207879"/>
                                        </p:tgtEl>
                                        <p:attrNameLst>
                                          <p:attrName>ppt_x</p:attrName>
                                        </p:attrNameLst>
                                      </p:cBhvr>
                                      <p:tavLst>
                                        <p:tav tm="0">
                                          <p:val>
                                            <p:strVal val="0-#ppt_w/2"/>
                                          </p:val>
                                        </p:tav>
                                        <p:tav tm="100000">
                                          <p:val>
                                            <p:strVal val="#ppt_x"/>
                                          </p:val>
                                        </p:tav>
                                      </p:tavLst>
                                    </p:anim>
                                    <p:anim calcmode="lin" valueType="num">
                                      <p:cBhvr>
                                        <p:cTn id="20" dur="500" fill="hold"/>
                                        <p:tgtEl>
                                          <p:spTgt spid="20787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07881"/>
                                        </p:tgtEl>
                                        <p:attrNameLst>
                                          <p:attrName>style.visibility</p:attrName>
                                        </p:attrNameLst>
                                      </p:cBhvr>
                                      <p:to>
                                        <p:strVal val="visible"/>
                                      </p:to>
                                    </p:set>
                                    <p:anim calcmode="lin" valueType="num">
                                      <p:cBhvr>
                                        <p:cTn id="25" dur="500" fill="hold"/>
                                        <p:tgtEl>
                                          <p:spTgt spid="207881"/>
                                        </p:tgtEl>
                                        <p:attrNameLst>
                                          <p:attrName>ppt_x</p:attrName>
                                        </p:attrNameLst>
                                      </p:cBhvr>
                                      <p:tavLst>
                                        <p:tav tm="0">
                                          <p:val>
                                            <p:strVal val="0-#ppt_w/2"/>
                                          </p:val>
                                        </p:tav>
                                        <p:tav tm="100000">
                                          <p:val>
                                            <p:strVal val="#ppt_x"/>
                                          </p:val>
                                        </p:tav>
                                      </p:tavLst>
                                    </p:anim>
                                    <p:anim calcmode="lin" valueType="num">
                                      <p:cBhvr>
                                        <p:cTn id="26" dur="500" fill="hold"/>
                                        <p:tgtEl>
                                          <p:spTgt spid="20788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07883"/>
                                        </p:tgtEl>
                                        <p:attrNameLst>
                                          <p:attrName>style.visibility</p:attrName>
                                        </p:attrNameLst>
                                      </p:cBhvr>
                                      <p:to>
                                        <p:strVal val="visible"/>
                                      </p:to>
                                    </p:set>
                                    <p:anim calcmode="lin" valueType="num">
                                      <p:cBhvr>
                                        <p:cTn id="31" dur="500" fill="hold"/>
                                        <p:tgtEl>
                                          <p:spTgt spid="207883"/>
                                        </p:tgtEl>
                                        <p:attrNameLst>
                                          <p:attrName>ppt_x</p:attrName>
                                        </p:attrNameLst>
                                      </p:cBhvr>
                                      <p:tavLst>
                                        <p:tav tm="0">
                                          <p:val>
                                            <p:strVal val="0-#ppt_w/2"/>
                                          </p:val>
                                        </p:tav>
                                        <p:tav tm="100000">
                                          <p:val>
                                            <p:strVal val="#ppt_x"/>
                                          </p:val>
                                        </p:tav>
                                      </p:tavLst>
                                    </p:anim>
                                    <p:anim calcmode="lin" valueType="num">
                                      <p:cBhvr>
                                        <p:cTn id="32" dur="500" fill="hold"/>
                                        <p:tgtEl>
                                          <p:spTgt spid="20788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07885"/>
                                        </p:tgtEl>
                                        <p:attrNameLst>
                                          <p:attrName>style.visibility</p:attrName>
                                        </p:attrNameLst>
                                      </p:cBhvr>
                                      <p:to>
                                        <p:strVal val="visible"/>
                                      </p:to>
                                    </p:set>
                                    <p:anim calcmode="lin" valueType="num">
                                      <p:cBhvr>
                                        <p:cTn id="37" dur="500" fill="hold"/>
                                        <p:tgtEl>
                                          <p:spTgt spid="207885"/>
                                        </p:tgtEl>
                                        <p:attrNameLst>
                                          <p:attrName>ppt_x</p:attrName>
                                        </p:attrNameLst>
                                      </p:cBhvr>
                                      <p:tavLst>
                                        <p:tav tm="0">
                                          <p:val>
                                            <p:strVal val="0-#ppt_w/2"/>
                                          </p:val>
                                        </p:tav>
                                        <p:tav tm="100000">
                                          <p:val>
                                            <p:strVal val="#ppt_x"/>
                                          </p:val>
                                        </p:tav>
                                      </p:tavLst>
                                    </p:anim>
                                    <p:anim calcmode="lin" valueType="num">
                                      <p:cBhvr>
                                        <p:cTn id="38" dur="500" fill="hold"/>
                                        <p:tgtEl>
                                          <p:spTgt spid="20788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07886"/>
                                        </p:tgtEl>
                                        <p:attrNameLst>
                                          <p:attrName>style.visibility</p:attrName>
                                        </p:attrNameLst>
                                      </p:cBhvr>
                                      <p:to>
                                        <p:strVal val="visible"/>
                                      </p:to>
                                    </p:set>
                                    <p:anim calcmode="lin" valueType="num">
                                      <p:cBhvr>
                                        <p:cTn id="43" dur="500" fill="hold"/>
                                        <p:tgtEl>
                                          <p:spTgt spid="207886"/>
                                        </p:tgtEl>
                                        <p:attrNameLst>
                                          <p:attrName>ppt_x</p:attrName>
                                        </p:attrNameLst>
                                      </p:cBhvr>
                                      <p:tavLst>
                                        <p:tav tm="0">
                                          <p:val>
                                            <p:strVal val="0-#ppt_w/2"/>
                                          </p:val>
                                        </p:tav>
                                        <p:tav tm="100000">
                                          <p:val>
                                            <p:strVal val="#ppt_x"/>
                                          </p:val>
                                        </p:tav>
                                      </p:tavLst>
                                    </p:anim>
                                    <p:anim calcmode="lin" valueType="num">
                                      <p:cBhvr>
                                        <p:cTn id="44" dur="500" fill="hold"/>
                                        <p:tgtEl>
                                          <p:spTgt spid="20788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07895"/>
                                        </p:tgtEl>
                                        <p:attrNameLst>
                                          <p:attrName>style.visibility</p:attrName>
                                        </p:attrNameLst>
                                      </p:cBhvr>
                                      <p:to>
                                        <p:strVal val="visible"/>
                                      </p:to>
                                    </p:set>
                                    <p:anim calcmode="lin" valueType="num">
                                      <p:cBhvr>
                                        <p:cTn id="49" dur="500" fill="hold"/>
                                        <p:tgtEl>
                                          <p:spTgt spid="207895"/>
                                        </p:tgtEl>
                                        <p:attrNameLst>
                                          <p:attrName>ppt_x</p:attrName>
                                        </p:attrNameLst>
                                      </p:cBhvr>
                                      <p:tavLst>
                                        <p:tav tm="0">
                                          <p:val>
                                            <p:strVal val="0-#ppt_w/2"/>
                                          </p:val>
                                        </p:tav>
                                        <p:tav tm="100000">
                                          <p:val>
                                            <p:strVal val="#ppt_x"/>
                                          </p:val>
                                        </p:tav>
                                      </p:tavLst>
                                    </p:anim>
                                    <p:anim calcmode="lin" valueType="num">
                                      <p:cBhvr>
                                        <p:cTn id="50" dur="500" fill="hold"/>
                                        <p:tgtEl>
                                          <p:spTgt spid="2078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8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2"/>
          <p:cNvSpPr/>
          <p:nvPr/>
        </p:nvSpPr>
        <p:spPr>
          <a:xfrm>
            <a:off x="107950" y="333375"/>
            <a:ext cx="8640763" cy="701675"/>
          </a:xfrm>
          <a:prstGeom prst="rect">
            <a:avLst/>
          </a:prstGeom>
          <a:noFill/>
          <a:ln w="9525">
            <a:noFill/>
          </a:ln>
        </p:spPr>
        <p:txBody>
          <a:bodyPr anchor="ctr">
            <a:spAutoFit/>
          </a:bodyPr>
          <a:p>
            <a:r>
              <a:rPr lang="zh-CN" altLang="en-US" sz="2000" b="1">
                <a:latin typeface="Times New Roman" panose="02020603050405020304" pitchFamily="18" charset="0"/>
                <a:ea typeface="宋体" panose="02010600030101010101" pitchFamily="2" charset="-122"/>
              </a:rPr>
              <a:t>求出各对角线与反对角线上的三个元素之和，并作一些简单的消去运算；</a:t>
            </a:r>
            <a:endParaRPr lang="zh-CN" altLang="en-US" sz="2000" b="1">
              <a:latin typeface="Times New Roman" panose="02020603050405020304" pitchFamily="18" charset="0"/>
              <a:ea typeface="宋体" panose="02010600030101010101" pitchFamily="2" charset="-122"/>
            </a:endParaRPr>
          </a:p>
          <a:p>
            <a:r>
              <a:rPr lang="zh-CN" altLang="en-US" sz="2000" b="1">
                <a:latin typeface="Times New Roman" panose="02020603050405020304" pitchFamily="18" charset="0"/>
                <a:ea typeface="宋体" panose="02010600030101010101" pitchFamily="2" charset="-122"/>
              </a:rPr>
              <a:t>将矩阵的所有元素相加，可得下面的方程组：</a:t>
            </a:r>
            <a:endParaRPr lang="zh-CN" altLang="en-US" sz="2000" b="1">
              <a:latin typeface="Times New Roman" panose="02020603050405020304" pitchFamily="18" charset="0"/>
              <a:ea typeface="宋体" panose="02010600030101010101" pitchFamily="2" charset="-122"/>
            </a:endParaRPr>
          </a:p>
        </p:txBody>
      </p:sp>
      <p:sp>
        <p:nvSpPr>
          <p:cNvPr id="94210" name="Rectangle 3"/>
          <p:cNvSpPr/>
          <p:nvPr/>
        </p:nvSpPr>
        <p:spPr>
          <a:xfrm>
            <a:off x="0" y="28432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9924" name="Object 4"/>
          <p:cNvGraphicFramePr>
            <a:graphicFrameLocks noChangeAspect="1"/>
          </p:cNvGraphicFramePr>
          <p:nvPr/>
        </p:nvGraphicFramePr>
        <p:xfrm>
          <a:off x="1763713" y="1327150"/>
          <a:ext cx="3455987" cy="1873250"/>
        </p:xfrm>
        <a:graphic>
          <a:graphicData uri="http://schemas.openxmlformats.org/presentationml/2006/ole">
            <mc:AlternateContent xmlns:mc="http://schemas.openxmlformats.org/markup-compatibility/2006">
              <mc:Choice xmlns:v="urn:schemas-microsoft-com:vml" Requires="v">
                <p:oleObj spid="_x0000_s3250" name="" r:id="rId1" imgW="2159000" imgH="1168400" progId="Equation.DSMT4">
                  <p:embed/>
                </p:oleObj>
              </mc:Choice>
              <mc:Fallback>
                <p:oleObj name="" r:id="rId1" imgW="2159000" imgH="1168400" progId="Equation.DSMT4">
                  <p:embed/>
                  <p:pic>
                    <p:nvPicPr>
                      <p:cNvPr id="0" name="图片 3249"/>
                      <p:cNvPicPr/>
                      <p:nvPr/>
                    </p:nvPicPr>
                    <p:blipFill>
                      <a:blip r:embed="rId2"/>
                      <a:stretch>
                        <a:fillRect/>
                      </a:stretch>
                    </p:blipFill>
                    <p:spPr>
                      <a:xfrm>
                        <a:off x="1763713" y="1327150"/>
                        <a:ext cx="3455987" cy="1873250"/>
                      </a:xfrm>
                      <a:prstGeom prst="rect">
                        <a:avLst/>
                      </a:prstGeom>
                      <a:noFill/>
                      <a:ln w="38100">
                        <a:noFill/>
                        <a:miter/>
                      </a:ln>
                    </p:spPr>
                  </p:pic>
                </p:oleObj>
              </mc:Fallback>
            </mc:AlternateContent>
          </a:graphicData>
        </a:graphic>
      </p:graphicFrame>
      <p:sp>
        <p:nvSpPr>
          <p:cNvPr id="94212" name="Rectangle 5"/>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94213" name="Rectangle 6"/>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94214" name="Rectangle 7"/>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8"/>
          <p:cNvGrpSpPr/>
          <p:nvPr/>
        </p:nvGrpSpPr>
        <p:grpSpPr>
          <a:xfrm>
            <a:off x="611188" y="3141663"/>
            <a:ext cx="8012112" cy="1841500"/>
            <a:chOff x="249" y="1771"/>
            <a:chExt cx="5047" cy="1160"/>
          </a:xfrm>
        </p:grpSpPr>
        <p:sp>
          <p:nvSpPr>
            <p:cNvPr id="94216" name="Text Box 9"/>
            <p:cNvSpPr txBox="1"/>
            <p:nvPr/>
          </p:nvSpPr>
          <p:spPr>
            <a:xfrm>
              <a:off x="249" y="1888"/>
              <a:ext cx="5047" cy="1018"/>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注意到（</a:t>
              </a:r>
              <a:r>
                <a:rPr lang="en-US" altLang="zh-CN" sz="2000" b="1">
                  <a:solidFill>
                    <a:srgbClr val="000000"/>
                  </a:solidFill>
                  <a:latin typeface="Times New Roman" panose="02020603050405020304" pitchFamily="18" charset="0"/>
                  <a:ea typeface="宋体" panose="02010600030101010101" pitchFamily="2" charset="-122"/>
                </a:rPr>
                <a:t>5.3</a:t>
              </a:r>
              <a:r>
                <a:rPr lang="zh-CN" altLang="en-US" sz="2000" b="1">
                  <a:solidFill>
                    <a:srgbClr val="000000"/>
                  </a:solidFill>
                  <a:latin typeface="Times New Roman" panose="02020603050405020304" pitchFamily="18" charset="0"/>
                  <a:ea typeface="宋体" panose="02010600030101010101" pitchFamily="2" charset="-122"/>
                </a:rPr>
                <a:t>），易证空间                                  的维数为 </a:t>
              </a:r>
              <a:r>
                <a:rPr lang="en-US" altLang="zh-CN" sz="2000" b="1">
                  <a:solidFill>
                    <a:srgbClr val="000000"/>
                  </a:solidFill>
                  <a:latin typeface="Times New Roman" panose="02020603050405020304" pitchFamily="18" charset="0"/>
                  <a:ea typeface="宋体" panose="02010600030101010101" pitchFamily="2" charset="-122"/>
                </a:rPr>
                <a:t>5</a:t>
              </a:r>
              <a:r>
                <a:rPr lang="zh-CN" altLang="en-US" sz="2000" b="1">
                  <a:solidFill>
                    <a:srgbClr val="000000"/>
                  </a:solidFill>
                  <a:latin typeface="Times New Roman" panose="02020603050405020304" pitchFamily="18" charset="0"/>
                  <a:ea typeface="宋体" panose="02010600030101010101" pitchFamily="2" charset="-122"/>
                </a:rPr>
                <a:t>，</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故              之一可任取，（稍加注意即可保持非负性），</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例如，令</a:t>
              </a:r>
              <a:r>
                <a:rPr lang="en-US" altLang="zh-CN" sz="2000" b="1" i="1">
                  <a:solidFill>
                    <a:srgbClr val="000000"/>
                  </a:solidFill>
                  <a:latin typeface="Times New Roman" panose="02020603050405020304" pitchFamily="18" charset="0"/>
                  <a:ea typeface="宋体" panose="02010600030101010101" pitchFamily="2" charset="-122"/>
                </a:rPr>
                <a:t>μ</a:t>
              </a:r>
              <a:r>
                <a:rPr lang="en-US" altLang="zh-CN" sz="2000" b="1" baseline="-30000">
                  <a:solidFill>
                    <a:srgbClr val="000000"/>
                  </a:solidFill>
                  <a:latin typeface="Times New Roman" panose="02020603050405020304" pitchFamily="18" charset="0"/>
                  <a:ea typeface="宋体" panose="02010600030101010101" pitchFamily="2" charset="-122"/>
                </a:rPr>
                <a:t>3</a:t>
              </a:r>
              <a:r>
                <a:rPr lang="en-US" altLang="zh-CN" sz="2000" b="1">
                  <a:solidFill>
                    <a:srgbClr val="000000"/>
                  </a:solidFill>
                  <a:latin typeface="Times New Roman" panose="02020603050405020304" pitchFamily="18" charset="0"/>
                  <a:ea typeface="宋体" panose="02010600030101010101" pitchFamily="2" charset="-122"/>
                </a:rPr>
                <a:t>=0</a:t>
              </a:r>
              <a:r>
                <a:rPr lang="zh-CN" altLang="en-US" sz="2000" b="1">
                  <a:solidFill>
                    <a:srgbClr val="000000"/>
                  </a:solidFill>
                  <a:latin typeface="Times New Roman" panose="02020603050405020304" pitchFamily="18" charset="0"/>
                  <a:ea typeface="宋体" panose="02010600030101010101" pitchFamily="2" charset="-122"/>
                </a:rPr>
                <a:t>，求得                                                              ，故有</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94217" name="Object 10"/>
            <p:cNvGraphicFramePr>
              <a:graphicFrameLocks noChangeAspect="1"/>
            </p:cNvGraphicFramePr>
            <p:nvPr/>
          </p:nvGraphicFramePr>
          <p:xfrm>
            <a:off x="2154" y="1771"/>
            <a:ext cx="1270" cy="480"/>
          </p:xfrm>
          <a:graphic>
            <a:graphicData uri="http://schemas.openxmlformats.org/presentationml/2006/ole">
              <mc:AlternateContent xmlns:mc="http://schemas.openxmlformats.org/markup-compatibility/2006">
                <mc:Choice xmlns:v="urn:schemas-microsoft-com:vml" Requires="v">
                  <p:oleObj spid="_x0000_s3243" name="" r:id="rId3" imgW="1129665" imgH="431800" progId="Equation.DSMT4">
                    <p:embed/>
                  </p:oleObj>
                </mc:Choice>
                <mc:Fallback>
                  <p:oleObj name="" r:id="rId3" imgW="1129665" imgH="431800" progId="Equation.DSMT4">
                    <p:embed/>
                    <p:pic>
                      <p:nvPicPr>
                        <p:cNvPr id="0" name="图片 3242"/>
                        <p:cNvPicPr/>
                        <p:nvPr/>
                      </p:nvPicPr>
                      <p:blipFill>
                        <a:blip r:embed="rId4"/>
                        <a:stretch>
                          <a:fillRect/>
                        </a:stretch>
                      </p:blipFill>
                      <p:spPr>
                        <a:xfrm>
                          <a:off x="2154" y="1771"/>
                          <a:ext cx="1270" cy="480"/>
                        </a:xfrm>
                        <a:prstGeom prst="rect">
                          <a:avLst/>
                        </a:prstGeom>
                        <a:noFill/>
                        <a:ln w="38100">
                          <a:noFill/>
                          <a:miter/>
                        </a:ln>
                      </p:spPr>
                    </p:pic>
                  </p:oleObj>
                </mc:Fallback>
              </mc:AlternateContent>
            </a:graphicData>
          </a:graphic>
        </p:graphicFrame>
        <p:graphicFrame>
          <p:nvGraphicFramePr>
            <p:cNvPr id="94218" name="Object 11"/>
            <p:cNvGraphicFramePr>
              <a:graphicFrameLocks noChangeAspect="1"/>
            </p:cNvGraphicFramePr>
            <p:nvPr/>
          </p:nvGraphicFramePr>
          <p:xfrm>
            <a:off x="476" y="2251"/>
            <a:ext cx="544" cy="318"/>
          </p:xfrm>
          <a:graphic>
            <a:graphicData uri="http://schemas.openxmlformats.org/presentationml/2006/ole">
              <mc:AlternateContent xmlns:mc="http://schemas.openxmlformats.org/markup-compatibility/2006">
                <mc:Choice xmlns:v="urn:schemas-microsoft-com:vml" Requires="v">
                  <p:oleObj spid="_x0000_s3244" name="" r:id="rId5" imgW="393700" imgH="228600" progId="Equation.DSMT4">
                    <p:embed/>
                  </p:oleObj>
                </mc:Choice>
                <mc:Fallback>
                  <p:oleObj name="" r:id="rId5" imgW="393700" imgH="228600" progId="Equation.DSMT4">
                    <p:embed/>
                    <p:pic>
                      <p:nvPicPr>
                        <p:cNvPr id="0" name="图片 3243"/>
                        <p:cNvPicPr/>
                        <p:nvPr/>
                      </p:nvPicPr>
                      <p:blipFill>
                        <a:blip r:embed="rId6"/>
                        <a:stretch>
                          <a:fillRect/>
                        </a:stretch>
                      </p:blipFill>
                      <p:spPr>
                        <a:xfrm>
                          <a:off x="476" y="2251"/>
                          <a:ext cx="544" cy="318"/>
                        </a:xfrm>
                        <a:prstGeom prst="rect">
                          <a:avLst/>
                        </a:prstGeom>
                        <a:noFill/>
                        <a:ln w="38100">
                          <a:noFill/>
                          <a:miter/>
                        </a:ln>
                      </p:spPr>
                    </p:pic>
                  </p:oleObj>
                </mc:Fallback>
              </mc:AlternateContent>
            </a:graphicData>
          </a:graphic>
        </p:graphicFrame>
        <p:graphicFrame>
          <p:nvGraphicFramePr>
            <p:cNvPr id="94219" name="Object 12"/>
            <p:cNvGraphicFramePr>
              <a:graphicFrameLocks noChangeAspect="1"/>
            </p:cNvGraphicFramePr>
            <p:nvPr/>
          </p:nvGraphicFramePr>
          <p:xfrm>
            <a:off x="1837" y="2643"/>
            <a:ext cx="2449" cy="288"/>
          </p:xfrm>
          <a:graphic>
            <a:graphicData uri="http://schemas.openxmlformats.org/presentationml/2006/ole">
              <mc:AlternateContent xmlns:mc="http://schemas.openxmlformats.org/markup-compatibility/2006">
                <mc:Choice xmlns:v="urn:schemas-microsoft-com:vml" Requires="v">
                  <p:oleObj spid="_x0000_s3245" name="" r:id="rId7" imgW="1943100" imgH="228600" progId="Equation.DSMT4">
                    <p:embed/>
                  </p:oleObj>
                </mc:Choice>
                <mc:Fallback>
                  <p:oleObj name="" r:id="rId7" imgW="1943100" imgH="228600" progId="Equation.DSMT4">
                    <p:embed/>
                    <p:pic>
                      <p:nvPicPr>
                        <p:cNvPr id="0" name="图片 3244"/>
                        <p:cNvPicPr/>
                        <p:nvPr/>
                      </p:nvPicPr>
                      <p:blipFill>
                        <a:blip r:embed="rId8"/>
                        <a:stretch>
                          <a:fillRect/>
                        </a:stretch>
                      </p:blipFill>
                      <p:spPr>
                        <a:xfrm>
                          <a:off x="1837" y="2643"/>
                          <a:ext cx="2449" cy="288"/>
                        </a:xfrm>
                        <a:prstGeom prst="rect">
                          <a:avLst/>
                        </a:prstGeom>
                        <a:noFill/>
                        <a:ln w="38100">
                          <a:noFill/>
                          <a:miter/>
                        </a:ln>
                      </p:spPr>
                    </p:pic>
                  </p:oleObj>
                </mc:Fallback>
              </mc:AlternateContent>
            </a:graphicData>
          </a:graphic>
        </p:graphicFrame>
      </p:grpSp>
      <p:sp>
        <p:nvSpPr>
          <p:cNvPr id="94220" name="Rectangle 13"/>
          <p:cNvSpPr/>
          <p:nvPr/>
        </p:nvSpPr>
        <p:spPr>
          <a:xfrm>
            <a:off x="0" y="32956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9934" name="Object 14"/>
          <p:cNvGraphicFramePr>
            <a:graphicFrameLocks noChangeAspect="1"/>
          </p:cNvGraphicFramePr>
          <p:nvPr/>
        </p:nvGraphicFramePr>
        <p:xfrm>
          <a:off x="2057400" y="5170488"/>
          <a:ext cx="4022725" cy="541337"/>
        </p:xfrm>
        <a:graphic>
          <a:graphicData uri="http://schemas.openxmlformats.org/presentationml/2006/ole">
            <mc:AlternateContent xmlns:mc="http://schemas.openxmlformats.org/markup-compatibility/2006">
              <mc:Choice xmlns:v="urn:schemas-microsoft-com:vml" Requires="v">
                <p:oleObj spid="_x0000_s3249" name="" r:id="rId9" imgW="1879600" imgH="254000" progId="Equation.DSMT4">
                  <p:embed/>
                </p:oleObj>
              </mc:Choice>
              <mc:Fallback>
                <p:oleObj name="" r:id="rId9" imgW="1879600" imgH="254000" progId="Equation.DSMT4">
                  <p:embed/>
                  <p:pic>
                    <p:nvPicPr>
                      <p:cNvPr id="0" name="图片 3248"/>
                      <p:cNvPicPr/>
                      <p:nvPr/>
                    </p:nvPicPr>
                    <p:blipFill>
                      <a:blip r:embed="rId10"/>
                      <a:stretch>
                        <a:fillRect/>
                      </a:stretch>
                    </p:blipFill>
                    <p:spPr>
                      <a:xfrm>
                        <a:off x="2057400" y="5170488"/>
                        <a:ext cx="4022725" cy="541337"/>
                      </a:xfrm>
                      <a:prstGeom prst="rect">
                        <a:avLst/>
                      </a:prstGeom>
                      <a:noFill/>
                      <a:ln w="38100">
                        <a:noFill/>
                        <a:miter/>
                      </a:ln>
                    </p:spPr>
                  </p:pic>
                </p:oleObj>
              </mc:Fallback>
            </mc:AlternateContent>
          </a:graphicData>
        </a:graphic>
      </p:graphicFrame>
      <p:sp>
        <p:nvSpPr>
          <p:cNvPr id="94222" name="Rectangle 15"/>
          <p:cNvSpPr/>
          <p:nvPr/>
        </p:nvSpPr>
        <p:spPr>
          <a:xfrm>
            <a:off x="0" y="32131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9936" name="Object 16"/>
          <p:cNvGraphicFramePr>
            <a:graphicFrameLocks noChangeAspect="1"/>
          </p:cNvGraphicFramePr>
          <p:nvPr/>
        </p:nvGraphicFramePr>
        <p:xfrm>
          <a:off x="1979613" y="5661025"/>
          <a:ext cx="2087562" cy="838200"/>
        </p:xfrm>
        <a:graphic>
          <a:graphicData uri="http://schemas.openxmlformats.org/presentationml/2006/ole">
            <mc:AlternateContent xmlns:mc="http://schemas.openxmlformats.org/markup-compatibility/2006">
              <mc:Choice xmlns:v="urn:schemas-microsoft-com:vml" Requires="v">
                <p:oleObj spid="_x0000_s3247" name="" r:id="rId11" imgW="1066800" imgH="431800" progId="Equation.DSMT4">
                  <p:embed/>
                </p:oleObj>
              </mc:Choice>
              <mc:Fallback>
                <p:oleObj name="" r:id="rId11" imgW="1066800" imgH="431800" progId="Equation.DSMT4">
                  <p:embed/>
                  <p:pic>
                    <p:nvPicPr>
                      <p:cNvPr id="0" name="图片 3246"/>
                      <p:cNvPicPr/>
                      <p:nvPr/>
                    </p:nvPicPr>
                    <p:blipFill>
                      <a:blip r:embed="rId12"/>
                      <a:stretch>
                        <a:fillRect/>
                      </a:stretch>
                    </p:blipFill>
                    <p:spPr>
                      <a:xfrm>
                        <a:off x="1979613" y="5661025"/>
                        <a:ext cx="2087562" cy="838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9922"/>
                                        </p:tgtEl>
                                        <p:attrNameLst>
                                          <p:attrName>style.visibility</p:attrName>
                                        </p:attrNameLst>
                                      </p:cBhvr>
                                      <p:to>
                                        <p:strVal val="visible"/>
                                      </p:to>
                                    </p:set>
                                    <p:anim calcmode="lin" valueType="num">
                                      <p:cBhvr>
                                        <p:cTn id="7" dur="500" fill="hold"/>
                                        <p:tgtEl>
                                          <p:spTgt spid="209922"/>
                                        </p:tgtEl>
                                        <p:attrNameLst>
                                          <p:attrName>ppt_x</p:attrName>
                                        </p:attrNameLst>
                                      </p:cBhvr>
                                      <p:tavLst>
                                        <p:tav tm="0">
                                          <p:val>
                                            <p:strVal val="0-#ppt_w/2"/>
                                          </p:val>
                                        </p:tav>
                                        <p:tav tm="100000">
                                          <p:val>
                                            <p:strVal val="#ppt_x"/>
                                          </p:val>
                                        </p:tav>
                                      </p:tavLst>
                                    </p:anim>
                                    <p:anim calcmode="lin" valueType="num">
                                      <p:cBhvr>
                                        <p:cTn id="8" dur="500" fill="hold"/>
                                        <p:tgtEl>
                                          <p:spTgt spid="2099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9924"/>
                                        </p:tgtEl>
                                        <p:attrNameLst>
                                          <p:attrName>style.visibility</p:attrName>
                                        </p:attrNameLst>
                                      </p:cBhvr>
                                      <p:to>
                                        <p:strVal val="visible"/>
                                      </p:to>
                                    </p:set>
                                    <p:anim calcmode="lin" valueType="num">
                                      <p:cBhvr>
                                        <p:cTn id="13" dur="500" fill="hold"/>
                                        <p:tgtEl>
                                          <p:spTgt spid="209924"/>
                                        </p:tgtEl>
                                        <p:attrNameLst>
                                          <p:attrName>ppt_x</p:attrName>
                                        </p:attrNameLst>
                                      </p:cBhvr>
                                      <p:tavLst>
                                        <p:tav tm="0">
                                          <p:val>
                                            <p:strVal val="0-#ppt_w/2"/>
                                          </p:val>
                                        </p:tav>
                                        <p:tav tm="100000">
                                          <p:val>
                                            <p:strVal val="#ppt_x"/>
                                          </p:val>
                                        </p:tav>
                                      </p:tavLst>
                                    </p:anim>
                                    <p:anim calcmode="lin" valueType="num">
                                      <p:cBhvr>
                                        <p:cTn id="14" dur="500" fill="hold"/>
                                        <p:tgtEl>
                                          <p:spTgt spid="2099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0-#ppt_w/2"/>
                                          </p:val>
                                        </p:tav>
                                        <p:tav tm="100000">
                                          <p:val>
                                            <p:strVal val="#ppt_x"/>
                                          </p:val>
                                        </p:tav>
                                      </p:tavLst>
                                    </p:anim>
                                    <p:anim calcmode="lin" valueType="num">
                                      <p:cBhvr>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09934"/>
                                        </p:tgtEl>
                                        <p:attrNameLst>
                                          <p:attrName>style.visibility</p:attrName>
                                        </p:attrNameLst>
                                      </p:cBhvr>
                                      <p:to>
                                        <p:strVal val="visible"/>
                                      </p:to>
                                    </p:set>
                                    <p:anim calcmode="lin" valueType="num">
                                      <p:cBhvr>
                                        <p:cTn id="25" dur="500" fill="hold"/>
                                        <p:tgtEl>
                                          <p:spTgt spid="209934"/>
                                        </p:tgtEl>
                                        <p:attrNameLst>
                                          <p:attrName>ppt_x</p:attrName>
                                        </p:attrNameLst>
                                      </p:cBhvr>
                                      <p:tavLst>
                                        <p:tav tm="0">
                                          <p:val>
                                            <p:strVal val="0-#ppt_w/2"/>
                                          </p:val>
                                        </p:tav>
                                        <p:tav tm="100000">
                                          <p:val>
                                            <p:strVal val="#ppt_x"/>
                                          </p:val>
                                        </p:tav>
                                      </p:tavLst>
                                    </p:anim>
                                    <p:anim calcmode="lin" valueType="num">
                                      <p:cBhvr>
                                        <p:cTn id="26" dur="500" fill="hold"/>
                                        <p:tgtEl>
                                          <p:spTgt spid="20993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09936"/>
                                        </p:tgtEl>
                                        <p:attrNameLst>
                                          <p:attrName>style.visibility</p:attrName>
                                        </p:attrNameLst>
                                      </p:cBhvr>
                                      <p:to>
                                        <p:strVal val="visible"/>
                                      </p:to>
                                    </p:set>
                                    <p:anim calcmode="lin" valueType="num">
                                      <p:cBhvr>
                                        <p:cTn id="31" dur="500" fill="hold"/>
                                        <p:tgtEl>
                                          <p:spTgt spid="209936"/>
                                        </p:tgtEl>
                                        <p:attrNameLst>
                                          <p:attrName>ppt_x</p:attrName>
                                        </p:attrNameLst>
                                      </p:cBhvr>
                                      <p:tavLst>
                                        <p:tav tm="0">
                                          <p:val>
                                            <p:strVal val="0-#ppt_w/2"/>
                                          </p:val>
                                        </p:tav>
                                        <p:tav tm="100000">
                                          <p:val>
                                            <p:strVal val="#ppt_x"/>
                                          </p:val>
                                        </p:tav>
                                      </p:tavLst>
                                    </p:anim>
                                    <p:anim calcmode="lin" valueType="num">
                                      <p:cBhvr>
                                        <p:cTn id="32" dur="500" fill="hold"/>
                                        <p:tgtEl>
                                          <p:spTgt spid="2099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96258" name="Rectangle 3"/>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96259" name="Rectangle 4"/>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5"/>
          <p:cNvGrpSpPr/>
          <p:nvPr/>
        </p:nvGrpSpPr>
        <p:grpSpPr>
          <a:xfrm>
            <a:off x="250825" y="266700"/>
            <a:ext cx="8496300" cy="2225675"/>
            <a:chOff x="204" y="208"/>
            <a:chExt cx="5352" cy="1402"/>
          </a:xfrm>
        </p:grpSpPr>
        <p:sp>
          <p:nvSpPr>
            <p:cNvPr id="96261" name="Text Box 6"/>
            <p:cNvSpPr txBox="1"/>
            <p:nvPr/>
          </p:nvSpPr>
          <p:spPr>
            <a:xfrm>
              <a:off x="204" y="208"/>
              <a:ext cx="5352" cy="1402"/>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读者不难验证，上述方法可推广到</a:t>
              </a:r>
              <a:r>
                <a:rPr lang="en-US" altLang="zh-CN" sz="2000" b="1" i="1">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是奇数的一般情况。事实，由各对角线元素之和可导出</a:t>
              </a:r>
              <a:r>
                <a:rPr lang="en-US" altLang="zh-CN" sz="2000" b="1" i="1">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个方程，由各反对角线元素之和又可导出</a:t>
              </a:r>
              <a:r>
                <a:rPr lang="en-US" altLang="zh-CN" sz="2000" b="1" i="1">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个方程，加上矩阵所有元素之和导出的等式，共计可导出</a:t>
              </a:r>
              <a:r>
                <a:rPr lang="en-US" altLang="zh-CN" sz="2000" b="1">
                  <a:solidFill>
                    <a:srgbClr val="000000"/>
                  </a:solidFill>
                  <a:latin typeface="Times New Roman" panose="02020603050405020304" pitchFamily="18" charset="0"/>
                  <a:ea typeface="宋体" panose="02010600030101010101" pitchFamily="2" charset="-122"/>
                </a:rPr>
                <a:t>2</a:t>
              </a:r>
              <a:r>
                <a:rPr lang="en-US" altLang="zh-CN" sz="2000" b="1" i="1">
                  <a:solidFill>
                    <a:srgbClr val="000000"/>
                  </a:solidFill>
                  <a:latin typeface="Times New Roman" panose="02020603050405020304" pitchFamily="18" charset="0"/>
                  <a:ea typeface="宋体" panose="02010600030101010101" pitchFamily="2" charset="-122"/>
                </a:rPr>
                <a:t> n</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个方程，并易知它们是独立的。另一方面空间                          </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的维数恰为</a:t>
              </a:r>
              <a:r>
                <a:rPr lang="en-US" altLang="zh-CN" sz="2000" b="1">
                  <a:solidFill>
                    <a:srgbClr val="000000"/>
                  </a:solidFill>
                  <a:latin typeface="Times New Roman" panose="02020603050405020304" pitchFamily="18" charset="0"/>
                  <a:ea typeface="宋体" panose="02010600030101010101" pitchFamily="2" charset="-122"/>
                </a:rPr>
                <a:t>2</a:t>
              </a:r>
              <a:r>
                <a:rPr lang="en-US" altLang="zh-CN" sz="2000" b="1" i="1">
                  <a:solidFill>
                    <a:srgbClr val="000000"/>
                  </a:solidFill>
                  <a:latin typeface="Times New Roman" panose="02020603050405020304" pitchFamily="18" charset="0"/>
                  <a:ea typeface="宋体" panose="02010600030101010101" pitchFamily="2" charset="-122"/>
                </a:rPr>
                <a:t> n</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，故          之一可任取，而通过方程组解得所有的         ，（只须注意保持其非负性即可）</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96262" name="Object 7"/>
            <p:cNvGraphicFramePr>
              <a:graphicFrameLocks noChangeAspect="1"/>
            </p:cNvGraphicFramePr>
            <p:nvPr/>
          </p:nvGraphicFramePr>
          <p:xfrm>
            <a:off x="2745" y="766"/>
            <a:ext cx="1088" cy="441"/>
          </p:xfrm>
          <a:graphic>
            <a:graphicData uri="http://schemas.openxmlformats.org/presentationml/2006/ole">
              <mc:AlternateContent xmlns:mc="http://schemas.openxmlformats.org/markup-compatibility/2006">
                <mc:Choice xmlns:v="urn:schemas-microsoft-com:vml" Requires="v">
                  <p:oleObj spid="_x0000_s3253" name="" r:id="rId1" imgW="1054100" imgH="431800" progId="Equation.DSMT4">
                    <p:embed/>
                  </p:oleObj>
                </mc:Choice>
                <mc:Fallback>
                  <p:oleObj name="" r:id="rId1" imgW="1054100" imgH="431800" progId="Equation.DSMT4">
                    <p:embed/>
                    <p:pic>
                      <p:nvPicPr>
                        <p:cNvPr id="0" name="图片 3252"/>
                        <p:cNvPicPr/>
                        <p:nvPr/>
                      </p:nvPicPr>
                      <p:blipFill>
                        <a:blip r:embed="rId2"/>
                        <a:stretch>
                          <a:fillRect/>
                        </a:stretch>
                      </p:blipFill>
                      <p:spPr>
                        <a:xfrm>
                          <a:off x="2745" y="766"/>
                          <a:ext cx="1088" cy="441"/>
                        </a:xfrm>
                        <a:prstGeom prst="rect">
                          <a:avLst/>
                        </a:prstGeom>
                        <a:noFill/>
                        <a:ln w="38100">
                          <a:noFill/>
                          <a:miter/>
                        </a:ln>
                      </p:spPr>
                    </p:pic>
                  </p:oleObj>
                </mc:Fallback>
              </mc:AlternateContent>
            </a:graphicData>
          </a:graphic>
        </p:graphicFrame>
        <p:graphicFrame>
          <p:nvGraphicFramePr>
            <p:cNvPr id="96263" name="Object 8"/>
            <p:cNvGraphicFramePr>
              <a:graphicFrameLocks noChangeAspect="1"/>
            </p:cNvGraphicFramePr>
            <p:nvPr/>
          </p:nvGraphicFramePr>
          <p:xfrm>
            <a:off x="1837" y="1195"/>
            <a:ext cx="409" cy="239"/>
          </p:xfrm>
          <a:graphic>
            <a:graphicData uri="http://schemas.openxmlformats.org/presentationml/2006/ole">
              <mc:AlternateContent xmlns:mc="http://schemas.openxmlformats.org/markup-compatibility/2006">
                <mc:Choice xmlns:v="urn:schemas-microsoft-com:vml" Requires="v">
                  <p:oleObj spid="_x0000_s3255" name="" r:id="rId3" imgW="393700" imgH="228600" progId="Equation.DSMT4">
                    <p:embed/>
                  </p:oleObj>
                </mc:Choice>
                <mc:Fallback>
                  <p:oleObj name="" r:id="rId3" imgW="393700" imgH="228600" progId="Equation.DSMT4">
                    <p:embed/>
                    <p:pic>
                      <p:nvPicPr>
                        <p:cNvPr id="0" name="图片 3254"/>
                        <p:cNvPicPr/>
                        <p:nvPr/>
                      </p:nvPicPr>
                      <p:blipFill>
                        <a:blip r:embed="rId4"/>
                        <a:stretch>
                          <a:fillRect/>
                        </a:stretch>
                      </p:blipFill>
                      <p:spPr>
                        <a:xfrm>
                          <a:off x="1837" y="1195"/>
                          <a:ext cx="409" cy="239"/>
                        </a:xfrm>
                        <a:prstGeom prst="rect">
                          <a:avLst/>
                        </a:prstGeom>
                        <a:noFill/>
                        <a:ln w="38100">
                          <a:noFill/>
                          <a:miter/>
                        </a:ln>
                      </p:spPr>
                    </p:pic>
                  </p:oleObj>
                </mc:Fallback>
              </mc:AlternateContent>
            </a:graphicData>
          </a:graphic>
        </p:graphicFrame>
        <p:graphicFrame>
          <p:nvGraphicFramePr>
            <p:cNvPr id="96264" name="Object 9"/>
            <p:cNvGraphicFramePr>
              <a:graphicFrameLocks noChangeAspect="1"/>
            </p:cNvGraphicFramePr>
            <p:nvPr/>
          </p:nvGraphicFramePr>
          <p:xfrm>
            <a:off x="4967" y="1162"/>
            <a:ext cx="409" cy="239"/>
          </p:xfrm>
          <a:graphic>
            <a:graphicData uri="http://schemas.openxmlformats.org/presentationml/2006/ole">
              <mc:AlternateContent xmlns:mc="http://schemas.openxmlformats.org/markup-compatibility/2006">
                <mc:Choice xmlns:v="urn:schemas-microsoft-com:vml" Requires="v">
                  <p:oleObj spid="_x0000_s3262" name="" r:id="rId5" imgW="393700" imgH="228600" progId="Equation.DSMT4">
                    <p:embed/>
                  </p:oleObj>
                </mc:Choice>
                <mc:Fallback>
                  <p:oleObj name="" r:id="rId5" imgW="393700" imgH="228600" progId="Equation.DSMT4">
                    <p:embed/>
                    <p:pic>
                      <p:nvPicPr>
                        <p:cNvPr id="0" name="图片 3261"/>
                        <p:cNvPicPr/>
                        <p:nvPr/>
                      </p:nvPicPr>
                      <p:blipFill>
                        <a:blip r:embed="rId4"/>
                        <a:stretch>
                          <a:fillRect/>
                        </a:stretch>
                      </p:blipFill>
                      <p:spPr>
                        <a:xfrm>
                          <a:off x="4967" y="1162"/>
                          <a:ext cx="409" cy="239"/>
                        </a:xfrm>
                        <a:prstGeom prst="rect">
                          <a:avLst/>
                        </a:prstGeom>
                        <a:noFill/>
                        <a:ln w="38100">
                          <a:noFill/>
                          <a:miter/>
                        </a:ln>
                      </p:spPr>
                    </p:pic>
                  </p:oleObj>
                </mc:Fallback>
              </mc:AlternateContent>
            </a:graphicData>
          </a:graphic>
        </p:graphicFrame>
      </p:grpSp>
      <p:sp>
        <p:nvSpPr>
          <p:cNvPr id="211978" name="Rectangle 10"/>
          <p:cNvSpPr/>
          <p:nvPr/>
        </p:nvSpPr>
        <p:spPr>
          <a:xfrm>
            <a:off x="238125" y="2511425"/>
            <a:ext cx="8150225" cy="7016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但当</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为偶数时，情况就不大相同了。让我们先来观察一下</a:t>
            </a:r>
            <a:r>
              <a:rPr lang="en-US" altLang="zh-CN" sz="2000" b="1" i="1">
                <a:latin typeface="Times New Roman" panose="02020603050405020304" pitchFamily="18" charset="0"/>
                <a:ea typeface="宋体" panose="02010600030101010101" pitchFamily="2" charset="-122"/>
              </a:rPr>
              <a:t>n</a:t>
            </a:r>
            <a:r>
              <a:rPr lang="en-US" altLang="zh-CN" sz="2000" b="1">
                <a:latin typeface="Times New Roman" panose="02020603050405020304" pitchFamily="18" charset="0"/>
                <a:ea typeface="宋体" panose="02010600030101010101" pitchFamily="2" charset="-122"/>
              </a:rPr>
              <a:t>=4</a:t>
            </a:r>
            <a:r>
              <a:rPr lang="zh-CN" altLang="en-US" sz="2000" b="1">
                <a:latin typeface="Times New Roman" panose="02020603050405020304" pitchFamily="18" charset="0"/>
                <a:ea typeface="宋体" panose="02010600030101010101" pitchFamily="2" charset="-122"/>
              </a:rPr>
              <a:t>的情况。</a:t>
            </a:r>
            <a:endParaRPr lang="zh-CN" altLang="en-US" sz="2000" b="1">
              <a:latin typeface="Times New Roman" panose="02020603050405020304" pitchFamily="18" charset="0"/>
              <a:ea typeface="宋体" panose="02010600030101010101" pitchFamily="2" charset="-122"/>
            </a:endParaRPr>
          </a:p>
          <a:p>
            <a:r>
              <a:rPr lang="zh-CN" altLang="en-US" sz="2000" b="1">
                <a:latin typeface="Times New Roman" panose="02020603050405020304" pitchFamily="18" charset="0"/>
                <a:ea typeface="宋体" panose="02010600030101010101" pitchFamily="2" charset="-122"/>
              </a:rPr>
              <a:t>当</a:t>
            </a:r>
            <a:r>
              <a:rPr lang="en-US" altLang="zh-CN" sz="2000" b="1" i="1">
                <a:latin typeface="Times New Roman" panose="02020603050405020304" pitchFamily="18" charset="0"/>
                <a:ea typeface="宋体" panose="02010600030101010101" pitchFamily="2" charset="-122"/>
              </a:rPr>
              <a:t>n</a:t>
            </a:r>
            <a:r>
              <a:rPr lang="en-US" altLang="zh-CN" sz="2000" b="1">
                <a:latin typeface="Times New Roman" panose="02020603050405020304" pitchFamily="18" charset="0"/>
                <a:ea typeface="宋体" panose="02010600030101010101" pitchFamily="2" charset="-122"/>
              </a:rPr>
              <a:t>=4</a:t>
            </a:r>
            <a:r>
              <a:rPr lang="zh-CN" altLang="en-US" sz="2000" b="1">
                <a:latin typeface="Times New Roman" panose="02020603050405020304" pitchFamily="18" charset="0"/>
                <a:ea typeface="宋体" panose="02010600030101010101" pitchFamily="2" charset="-122"/>
              </a:rPr>
              <a:t>时，</a:t>
            </a:r>
            <a:endParaRPr lang="zh-CN" altLang="en-US" sz="2000" b="1">
              <a:latin typeface="Times New Roman" panose="02020603050405020304" pitchFamily="18" charset="0"/>
              <a:ea typeface="宋体" panose="02010600030101010101" pitchFamily="2" charset="-122"/>
            </a:endParaRPr>
          </a:p>
        </p:txBody>
      </p:sp>
      <p:sp>
        <p:nvSpPr>
          <p:cNvPr id="96266" name="Rectangle 11"/>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1980" name="Object 12"/>
          <p:cNvGraphicFramePr>
            <a:graphicFrameLocks noChangeAspect="1"/>
          </p:cNvGraphicFramePr>
          <p:nvPr/>
        </p:nvGraphicFramePr>
        <p:xfrm>
          <a:off x="250825" y="3284538"/>
          <a:ext cx="1728788" cy="1338262"/>
        </p:xfrm>
        <a:graphic>
          <a:graphicData uri="http://schemas.openxmlformats.org/presentationml/2006/ole">
            <mc:AlternateContent xmlns:mc="http://schemas.openxmlformats.org/markup-compatibility/2006">
              <mc:Choice xmlns:v="urn:schemas-microsoft-com:vml" Requires="v">
                <p:oleObj spid="_x0000_s3258" name="" r:id="rId6" imgW="1181100" imgH="914400" progId="Equation.DSMT4">
                  <p:embed/>
                </p:oleObj>
              </mc:Choice>
              <mc:Fallback>
                <p:oleObj name="" r:id="rId6" imgW="1181100" imgH="914400" progId="Equation.DSMT4">
                  <p:embed/>
                  <p:pic>
                    <p:nvPicPr>
                      <p:cNvPr id="0" name="图片 3257"/>
                      <p:cNvPicPr/>
                      <p:nvPr/>
                    </p:nvPicPr>
                    <p:blipFill>
                      <a:blip r:embed="rId7"/>
                      <a:stretch>
                        <a:fillRect/>
                      </a:stretch>
                    </p:blipFill>
                    <p:spPr>
                      <a:xfrm>
                        <a:off x="250825" y="3284538"/>
                        <a:ext cx="1728788" cy="1338262"/>
                      </a:xfrm>
                      <a:prstGeom prst="rect">
                        <a:avLst/>
                      </a:prstGeom>
                      <a:noFill/>
                      <a:ln w="38100">
                        <a:noFill/>
                        <a:miter/>
                      </a:ln>
                    </p:spPr>
                  </p:pic>
                </p:oleObj>
              </mc:Fallback>
            </mc:AlternateContent>
          </a:graphicData>
        </a:graphic>
      </p:graphicFrame>
      <p:sp>
        <p:nvSpPr>
          <p:cNvPr id="96268" name="Rectangle 13"/>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1982" name="Object 14"/>
          <p:cNvGraphicFramePr>
            <a:graphicFrameLocks noChangeAspect="1"/>
          </p:cNvGraphicFramePr>
          <p:nvPr/>
        </p:nvGraphicFramePr>
        <p:xfrm>
          <a:off x="2195513" y="3284538"/>
          <a:ext cx="1800225" cy="1368425"/>
        </p:xfrm>
        <a:graphic>
          <a:graphicData uri="http://schemas.openxmlformats.org/presentationml/2006/ole">
            <mc:AlternateContent xmlns:mc="http://schemas.openxmlformats.org/markup-compatibility/2006">
              <mc:Choice xmlns:v="urn:schemas-microsoft-com:vml" Requires="v">
                <p:oleObj spid="_x0000_s3254" name="" r:id="rId8" imgW="1193800" imgH="914400" progId="Equation.DSMT4">
                  <p:embed/>
                </p:oleObj>
              </mc:Choice>
              <mc:Fallback>
                <p:oleObj name="" r:id="rId8" imgW="1193800" imgH="914400" progId="Equation.DSMT4">
                  <p:embed/>
                  <p:pic>
                    <p:nvPicPr>
                      <p:cNvPr id="0" name="图片 3253"/>
                      <p:cNvPicPr/>
                      <p:nvPr/>
                    </p:nvPicPr>
                    <p:blipFill>
                      <a:blip r:embed="rId9"/>
                      <a:stretch>
                        <a:fillRect/>
                      </a:stretch>
                    </p:blipFill>
                    <p:spPr>
                      <a:xfrm>
                        <a:off x="2195513" y="3284538"/>
                        <a:ext cx="1800225" cy="1368425"/>
                      </a:xfrm>
                      <a:prstGeom prst="rect">
                        <a:avLst/>
                      </a:prstGeom>
                      <a:noFill/>
                      <a:ln w="38100">
                        <a:noFill/>
                        <a:miter/>
                      </a:ln>
                    </p:spPr>
                  </p:pic>
                </p:oleObj>
              </mc:Fallback>
            </mc:AlternateContent>
          </a:graphicData>
        </a:graphic>
      </p:graphicFrame>
      <p:sp>
        <p:nvSpPr>
          <p:cNvPr id="96270" name="Rectangle 15"/>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1984" name="Object 16"/>
          <p:cNvGraphicFramePr>
            <a:graphicFrameLocks noChangeAspect="1"/>
          </p:cNvGraphicFramePr>
          <p:nvPr/>
        </p:nvGraphicFramePr>
        <p:xfrm>
          <a:off x="4284663" y="3270250"/>
          <a:ext cx="1800225" cy="1382713"/>
        </p:xfrm>
        <a:graphic>
          <a:graphicData uri="http://schemas.openxmlformats.org/presentationml/2006/ole">
            <mc:AlternateContent xmlns:mc="http://schemas.openxmlformats.org/markup-compatibility/2006">
              <mc:Choice xmlns:v="urn:schemas-microsoft-com:vml" Requires="v">
                <p:oleObj spid="_x0000_s3256" name="" r:id="rId10" imgW="1193800" imgH="914400" progId="Equation.DSMT4">
                  <p:embed/>
                </p:oleObj>
              </mc:Choice>
              <mc:Fallback>
                <p:oleObj name="" r:id="rId10" imgW="1193800" imgH="914400" progId="Equation.DSMT4">
                  <p:embed/>
                  <p:pic>
                    <p:nvPicPr>
                      <p:cNvPr id="0" name="图片 3255"/>
                      <p:cNvPicPr/>
                      <p:nvPr/>
                    </p:nvPicPr>
                    <p:blipFill>
                      <a:blip r:embed="rId11"/>
                      <a:stretch>
                        <a:fillRect/>
                      </a:stretch>
                    </p:blipFill>
                    <p:spPr>
                      <a:xfrm>
                        <a:off x="4284663" y="3270250"/>
                        <a:ext cx="1800225" cy="1382713"/>
                      </a:xfrm>
                      <a:prstGeom prst="rect">
                        <a:avLst/>
                      </a:prstGeom>
                      <a:noFill/>
                      <a:ln w="38100">
                        <a:noFill/>
                        <a:miter/>
                      </a:ln>
                    </p:spPr>
                  </p:pic>
                </p:oleObj>
              </mc:Fallback>
            </mc:AlternateContent>
          </a:graphicData>
        </a:graphic>
      </p:graphicFrame>
      <p:sp>
        <p:nvSpPr>
          <p:cNvPr id="96272" name="Rectangle 17"/>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1986" name="Object 18"/>
          <p:cNvGraphicFramePr>
            <a:graphicFrameLocks noChangeAspect="1"/>
          </p:cNvGraphicFramePr>
          <p:nvPr/>
        </p:nvGraphicFramePr>
        <p:xfrm>
          <a:off x="6372225" y="3284538"/>
          <a:ext cx="1800225" cy="1382712"/>
        </p:xfrm>
        <a:graphic>
          <a:graphicData uri="http://schemas.openxmlformats.org/presentationml/2006/ole">
            <mc:AlternateContent xmlns:mc="http://schemas.openxmlformats.org/markup-compatibility/2006">
              <mc:Choice xmlns:v="urn:schemas-microsoft-com:vml" Requires="v">
                <p:oleObj spid="_x0000_s3257" name="" r:id="rId12" imgW="1193800" imgH="914400" progId="Equation.DSMT4">
                  <p:embed/>
                </p:oleObj>
              </mc:Choice>
              <mc:Fallback>
                <p:oleObj name="" r:id="rId12" imgW="1193800" imgH="914400" progId="Equation.DSMT4">
                  <p:embed/>
                  <p:pic>
                    <p:nvPicPr>
                      <p:cNvPr id="0" name="图片 3256"/>
                      <p:cNvPicPr/>
                      <p:nvPr/>
                    </p:nvPicPr>
                    <p:blipFill>
                      <a:blip r:embed="rId13"/>
                      <a:stretch>
                        <a:fillRect/>
                      </a:stretch>
                    </p:blipFill>
                    <p:spPr>
                      <a:xfrm>
                        <a:off x="6372225" y="3284538"/>
                        <a:ext cx="1800225" cy="1382712"/>
                      </a:xfrm>
                      <a:prstGeom prst="rect">
                        <a:avLst/>
                      </a:prstGeom>
                      <a:noFill/>
                      <a:ln w="38100">
                        <a:noFill/>
                        <a:miter/>
                      </a:ln>
                    </p:spPr>
                  </p:pic>
                </p:oleObj>
              </mc:Fallback>
            </mc:AlternateContent>
          </a:graphicData>
        </a:graphic>
      </p:graphicFrame>
      <p:sp>
        <p:nvSpPr>
          <p:cNvPr id="96274" name="Rectangle 19"/>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1988" name="Object 20"/>
          <p:cNvGraphicFramePr>
            <a:graphicFrameLocks noChangeAspect="1"/>
          </p:cNvGraphicFramePr>
          <p:nvPr/>
        </p:nvGraphicFramePr>
        <p:xfrm>
          <a:off x="179388" y="4868863"/>
          <a:ext cx="1800225" cy="1360487"/>
        </p:xfrm>
        <a:graphic>
          <a:graphicData uri="http://schemas.openxmlformats.org/presentationml/2006/ole">
            <mc:AlternateContent xmlns:mc="http://schemas.openxmlformats.org/markup-compatibility/2006">
              <mc:Choice xmlns:v="urn:schemas-microsoft-com:vml" Requires="v">
                <p:oleObj spid="_x0000_s3264" name="" r:id="rId14" imgW="1206500" imgH="914400" progId="Equation.DSMT4">
                  <p:embed/>
                </p:oleObj>
              </mc:Choice>
              <mc:Fallback>
                <p:oleObj name="" r:id="rId14" imgW="1206500" imgH="914400" progId="Equation.DSMT4">
                  <p:embed/>
                  <p:pic>
                    <p:nvPicPr>
                      <p:cNvPr id="0" name="图片 3263"/>
                      <p:cNvPicPr/>
                      <p:nvPr/>
                    </p:nvPicPr>
                    <p:blipFill>
                      <a:blip r:embed="rId15"/>
                      <a:stretch>
                        <a:fillRect/>
                      </a:stretch>
                    </p:blipFill>
                    <p:spPr>
                      <a:xfrm>
                        <a:off x="179388" y="4868863"/>
                        <a:ext cx="1800225" cy="1360487"/>
                      </a:xfrm>
                      <a:prstGeom prst="rect">
                        <a:avLst/>
                      </a:prstGeom>
                      <a:noFill/>
                      <a:ln w="38100">
                        <a:noFill/>
                        <a:miter/>
                      </a:ln>
                    </p:spPr>
                  </p:pic>
                </p:oleObj>
              </mc:Fallback>
            </mc:AlternateContent>
          </a:graphicData>
        </a:graphic>
      </p:graphicFrame>
      <p:sp>
        <p:nvSpPr>
          <p:cNvPr id="96276" name="Rectangle 21"/>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1990" name="Object 22"/>
          <p:cNvGraphicFramePr>
            <a:graphicFrameLocks noChangeAspect="1"/>
          </p:cNvGraphicFramePr>
          <p:nvPr/>
        </p:nvGraphicFramePr>
        <p:xfrm>
          <a:off x="2124075" y="4868863"/>
          <a:ext cx="1871663" cy="1403350"/>
        </p:xfrm>
        <a:graphic>
          <a:graphicData uri="http://schemas.openxmlformats.org/presentationml/2006/ole">
            <mc:AlternateContent xmlns:mc="http://schemas.openxmlformats.org/markup-compatibility/2006">
              <mc:Choice xmlns:v="urn:schemas-microsoft-com:vml" Requires="v">
                <p:oleObj spid="_x0000_s3259" name="" r:id="rId16" imgW="1219200" imgH="914400" progId="Equation.DSMT4">
                  <p:embed/>
                </p:oleObj>
              </mc:Choice>
              <mc:Fallback>
                <p:oleObj name="" r:id="rId16" imgW="1219200" imgH="914400" progId="Equation.DSMT4">
                  <p:embed/>
                  <p:pic>
                    <p:nvPicPr>
                      <p:cNvPr id="0" name="图片 3258"/>
                      <p:cNvPicPr/>
                      <p:nvPr/>
                    </p:nvPicPr>
                    <p:blipFill>
                      <a:blip r:embed="rId17"/>
                      <a:stretch>
                        <a:fillRect/>
                      </a:stretch>
                    </p:blipFill>
                    <p:spPr>
                      <a:xfrm>
                        <a:off x="2124075" y="4868863"/>
                        <a:ext cx="1871663" cy="1403350"/>
                      </a:xfrm>
                      <a:prstGeom prst="rect">
                        <a:avLst/>
                      </a:prstGeom>
                      <a:noFill/>
                      <a:ln w="38100">
                        <a:noFill/>
                        <a:miter/>
                      </a:ln>
                    </p:spPr>
                  </p:pic>
                </p:oleObj>
              </mc:Fallback>
            </mc:AlternateContent>
          </a:graphicData>
        </a:graphic>
      </p:graphicFrame>
      <p:sp>
        <p:nvSpPr>
          <p:cNvPr id="96278" name="Rectangle 23"/>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1992" name="Object 24"/>
          <p:cNvGraphicFramePr>
            <a:graphicFrameLocks noChangeAspect="1"/>
          </p:cNvGraphicFramePr>
          <p:nvPr/>
        </p:nvGraphicFramePr>
        <p:xfrm>
          <a:off x="4211638" y="4868863"/>
          <a:ext cx="1873250" cy="1404937"/>
        </p:xfrm>
        <a:graphic>
          <a:graphicData uri="http://schemas.openxmlformats.org/presentationml/2006/ole">
            <mc:AlternateContent xmlns:mc="http://schemas.openxmlformats.org/markup-compatibility/2006">
              <mc:Choice xmlns:v="urn:schemas-microsoft-com:vml" Requires="v">
                <p:oleObj spid="_x0000_s3260" name="" r:id="rId18" imgW="1219200" imgH="914400" progId="Equation.DSMT4">
                  <p:embed/>
                </p:oleObj>
              </mc:Choice>
              <mc:Fallback>
                <p:oleObj name="" r:id="rId18" imgW="1219200" imgH="914400" progId="Equation.DSMT4">
                  <p:embed/>
                  <p:pic>
                    <p:nvPicPr>
                      <p:cNvPr id="0" name="图片 3259"/>
                      <p:cNvPicPr/>
                      <p:nvPr/>
                    </p:nvPicPr>
                    <p:blipFill>
                      <a:blip r:embed="rId19"/>
                      <a:stretch>
                        <a:fillRect/>
                      </a:stretch>
                    </p:blipFill>
                    <p:spPr>
                      <a:xfrm>
                        <a:off x="4211638" y="4868863"/>
                        <a:ext cx="1873250" cy="1404937"/>
                      </a:xfrm>
                      <a:prstGeom prst="rect">
                        <a:avLst/>
                      </a:prstGeom>
                      <a:noFill/>
                      <a:ln w="38100">
                        <a:noFill/>
                        <a:miter/>
                      </a:ln>
                    </p:spPr>
                  </p:pic>
                </p:oleObj>
              </mc:Fallback>
            </mc:AlternateContent>
          </a:graphicData>
        </a:graphic>
      </p:graphicFrame>
      <p:sp>
        <p:nvSpPr>
          <p:cNvPr id="96280" name="Rectangle 25"/>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1994" name="Object 26"/>
          <p:cNvGraphicFramePr>
            <a:graphicFrameLocks noChangeAspect="1"/>
          </p:cNvGraphicFramePr>
          <p:nvPr/>
        </p:nvGraphicFramePr>
        <p:xfrm>
          <a:off x="6300788" y="4868863"/>
          <a:ext cx="1871662" cy="1403350"/>
        </p:xfrm>
        <a:graphic>
          <a:graphicData uri="http://schemas.openxmlformats.org/presentationml/2006/ole">
            <mc:AlternateContent xmlns:mc="http://schemas.openxmlformats.org/markup-compatibility/2006">
              <mc:Choice xmlns:v="urn:schemas-microsoft-com:vml" Requires="v">
                <p:oleObj spid="_x0000_s3261" name="" r:id="rId20" imgW="1219200" imgH="914400" progId="Equation.DSMT4">
                  <p:embed/>
                </p:oleObj>
              </mc:Choice>
              <mc:Fallback>
                <p:oleObj name="" r:id="rId20" imgW="1219200" imgH="914400" progId="Equation.DSMT4">
                  <p:embed/>
                  <p:pic>
                    <p:nvPicPr>
                      <p:cNvPr id="0" name="图片 3260"/>
                      <p:cNvPicPr/>
                      <p:nvPr/>
                    </p:nvPicPr>
                    <p:blipFill>
                      <a:blip r:embed="rId21"/>
                      <a:stretch>
                        <a:fillRect/>
                      </a:stretch>
                    </p:blipFill>
                    <p:spPr>
                      <a:xfrm>
                        <a:off x="6300788" y="4868863"/>
                        <a:ext cx="1871662" cy="14033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1978"/>
                                        </p:tgtEl>
                                        <p:attrNameLst>
                                          <p:attrName>style.visibility</p:attrName>
                                        </p:attrNameLst>
                                      </p:cBhvr>
                                      <p:to>
                                        <p:strVal val="visible"/>
                                      </p:to>
                                    </p:set>
                                    <p:anim calcmode="lin" valueType="num">
                                      <p:cBhvr>
                                        <p:cTn id="13" dur="500" fill="hold"/>
                                        <p:tgtEl>
                                          <p:spTgt spid="211978"/>
                                        </p:tgtEl>
                                        <p:attrNameLst>
                                          <p:attrName>ppt_x</p:attrName>
                                        </p:attrNameLst>
                                      </p:cBhvr>
                                      <p:tavLst>
                                        <p:tav tm="0">
                                          <p:val>
                                            <p:strVal val="0-#ppt_w/2"/>
                                          </p:val>
                                        </p:tav>
                                        <p:tav tm="100000">
                                          <p:val>
                                            <p:strVal val="#ppt_x"/>
                                          </p:val>
                                        </p:tav>
                                      </p:tavLst>
                                    </p:anim>
                                    <p:anim calcmode="lin" valueType="num">
                                      <p:cBhvr>
                                        <p:cTn id="14" dur="500" fill="hold"/>
                                        <p:tgtEl>
                                          <p:spTgt spid="21197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11980"/>
                                        </p:tgtEl>
                                        <p:attrNameLst>
                                          <p:attrName>style.visibility</p:attrName>
                                        </p:attrNameLst>
                                      </p:cBhvr>
                                      <p:to>
                                        <p:strVal val="visible"/>
                                      </p:to>
                                    </p:set>
                                    <p:anim calcmode="lin" valueType="num">
                                      <p:cBhvr>
                                        <p:cTn id="19" dur="500" fill="hold"/>
                                        <p:tgtEl>
                                          <p:spTgt spid="211980"/>
                                        </p:tgtEl>
                                        <p:attrNameLst>
                                          <p:attrName>ppt_x</p:attrName>
                                        </p:attrNameLst>
                                      </p:cBhvr>
                                      <p:tavLst>
                                        <p:tav tm="0">
                                          <p:val>
                                            <p:strVal val="0-#ppt_w/2"/>
                                          </p:val>
                                        </p:tav>
                                        <p:tav tm="100000">
                                          <p:val>
                                            <p:strVal val="#ppt_x"/>
                                          </p:val>
                                        </p:tav>
                                      </p:tavLst>
                                    </p:anim>
                                    <p:anim calcmode="lin" valueType="num">
                                      <p:cBhvr>
                                        <p:cTn id="20" dur="500" fill="hold"/>
                                        <p:tgtEl>
                                          <p:spTgt spid="21198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11982"/>
                                        </p:tgtEl>
                                        <p:attrNameLst>
                                          <p:attrName>style.visibility</p:attrName>
                                        </p:attrNameLst>
                                      </p:cBhvr>
                                      <p:to>
                                        <p:strVal val="visible"/>
                                      </p:to>
                                    </p:set>
                                    <p:anim calcmode="lin" valueType="num">
                                      <p:cBhvr>
                                        <p:cTn id="25" dur="500" fill="hold"/>
                                        <p:tgtEl>
                                          <p:spTgt spid="211982"/>
                                        </p:tgtEl>
                                        <p:attrNameLst>
                                          <p:attrName>ppt_x</p:attrName>
                                        </p:attrNameLst>
                                      </p:cBhvr>
                                      <p:tavLst>
                                        <p:tav tm="0">
                                          <p:val>
                                            <p:strVal val="0-#ppt_w/2"/>
                                          </p:val>
                                        </p:tav>
                                        <p:tav tm="100000">
                                          <p:val>
                                            <p:strVal val="#ppt_x"/>
                                          </p:val>
                                        </p:tav>
                                      </p:tavLst>
                                    </p:anim>
                                    <p:anim calcmode="lin" valueType="num">
                                      <p:cBhvr>
                                        <p:cTn id="26" dur="500" fill="hold"/>
                                        <p:tgtEl>
                                          <p:spTgt spid="21198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211984"/>
                                        </p:tgtEl>
                                        <p:attrNameLst>
                                          <p:attrName>style.visibility</p:attrName>
                                        </p:attrNameLst>
                                      </p:cBhvr>
                                      <p:to>
                                        <p:strVal val="visible"/>
                                      </p:to>
                                    </p:set>
                                    <p:animEffect transition="in" filter="box(in)">
                                      <p:cBhvr>
                                        <p:cTn id="31" dur="500"/>
                                        <p:tgtEl>
                                          <p:spTgt spid="211984"/>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211984"/>
                                        </p:tgtEl>
                                        <p:attrNameLst>
                                          <p:attrName>style.visibility</p:attrName>
                                        </p:attrNameLst>
                                      </p:cBhvr>
                                      <p:to>
                                        <p:strVal val="visible"/>
                                      </p:to>
                                    </p:set>
                                    <p:anim calcmode="lin" valueType="num">
                                      <p:cBhvr>
                                        <p:cTn id="36" dur="500" fill="hold"/>
                                        <p:tgtEl>
                                          <p:spTgt spid="211984"/>
                                        </p:tgtEl>
                                        <p:attrNameLst>
                                          <p:attrName>ppt_x</p:attrName>
                                        </p:attrNameLst>
                                      </p:cBhvr>
                                      <p:tavLst>
                                        <p:tav tm="0">
                                          <p:val>
                                            <p:strVal val="0-#ppt_w/2"/>
                                          </p:val>
                                        </p:tav>
                                        <p:tav tm="100000">
                                          <p:val>
                                            <p:strVal val="#ppt_x"/>
                                          </p:val>
                                        </p:tav>
                                      </p:tavLst>
                                    </p:anim>
                                    <p:anim calcmode="lin" valueType="num">
                                      <p:cBhvr>
                                        <p:cTn id="37" dur="500" fill="hold"/>
                                        <p:tgtEl>
                                          <p:spTgt spid="211984"/>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211986"/>
                                        </p:tgtEl>
                                        <p:attrNameLst>
                                          <p:attrName>style.visibility</p:attrName>
                                        </p:attrNameLst>
                                      </p:cBhvr>
                                      <p:to>
                                        <p:strVal val="visible"/>
                                      </p:to>
                                    </p:set>
                                    <p:anim calcmode="lin" valueType="num">
                                      <p:cBhvr>
                                        <p:cTn id="42" dur="500" fill="hold"/>
                                        <p:tgtEl>
                                          <p:spTgt spid="211986"/>
                                        </p:tgtEl>
                                        <p:attrNameLst>
                                          <p:attrName>ppt_x</p:attrName>
                                        </p:attrNameLst>
                                      </p:cBhvr>
                                      <p:tavLst>
                                        <p:tav tm="0">
                                          <p:val>
                                            <p:strVal val="0-#ppt_w/2"/>
                                          </p:val>
                                        </p:tav>
                                        <p:tav tm="100000">
                                          <p:val>
                                            <p:strVal val="#ppt_x"/>
                                          </p:val>
                                        </p:tav>
                                      </p:tavLst>
                                    </p:anim>
                                    <p:anim calcmode="lin" valueType="num">
                                      <p:cBhvr>
                                        <p:cTn id="43" dur="500" fill="hold"/>
                                        <p:tgtEl>
                                          <p:spTgt spid="211986"/>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211988"/>
                                        </p:tgtEl>
                                        <p:attrNameLst>
                                          <p:attrName>style.visibility</p:attrName>
                                        </p:attrNameLst>
                                      </p:cBhvr>
                                      <p:to>
                                        <p:strVal val="visible"/>
                                      </p:to>
                                    </p:set>
                                    <p:anim calcmode="lin" valueType="num">
                                      <p:cBhvr>
                                        <p:cTn id="48" dur="500" fill="hold"/>
                                        <p:tgtEl>
                                          <p:spTgt spid="211988"/>
                                        </p:tgtEl>
                                        <p:attrNameLst>
                                          <p:attrName>ppt_x</p:attrName>
                                        </p:attrNameLst>
                                      </p:cBhvr>
                                      <p:tavLst>
                                        <p:tav tm="0">
                                          <p:val>
                                            <p:strVal val="0-#ppt_w/2"/>
                                          </p:val>
                                        </p:tav>
                                        <p:tav tm="100000">
                                          <p:val>
                                            <p:strVal val="#ppt_x"/>
                                          </p:val>
                                        </p:tav>
                                      </p:tavLst>
                                    </p:anim>
                                    <p:anim calcmode="lin" valueType="num">
                                      <p:cBhvr>
                                        <p:cTn id="49" dur="500" fill="hold"/>
                                        <p:tgtEl>
                                          <p:spTgt spid="211988"/>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nodeType="clickEffect">
                                  <p:stCondLst>
                                    <p:cond delay="0"/>
                                  </p:stCondLst>
                                  <p:childTnLst>
                                    <p:set>
                                      <p:cBhvr>
                                        <p:cTn id="53" dur="1" fill="hold">
                                          <p:stCondLst>
                                            <p:cond delay="0"/>
                                          </p:stCondLst>
                                        </p:cTn>
                                        <p:tgtEl>
                                          <p:spTgt spid="211990"/>
                                        </p:tgtEl>
                                        <p:attrNameLst>
                                          <p:attrName>style.visibility</p:attrName>
                                        </p:attrNameLst>
                                      </p:cBhvr>
                                      <p:to>
                                        <p:strVal val="visible"/>
                                      </p:to>
                                    </p:set>
                                    <p:anim calcmode="lin" valueType="num">
                                      <p:cBhvr>
                                        <p:cTn id="54" dur="500" fill="hold"/>
                                        <p:tgtEl>
                                          <p:spTgt spid="211990"/>
                                        </p:tgtEl>
                                        <p:attrNameLst>
                                          <p:attrName>ppt_x</p:attrName>
                                        </p:attrNameLst>
                                      </p:cBhvr>
                                      <p:tavLst>
                                        <p:tav tm="0">
                                          <p:val>
                                            <p:strVal val="0-#ppt_w/2"/>
                                          </p:val>
                                        </p:tav>
                                        <p:tav tm="100000">
                                          <p:val>
                                            <p:strVal val="#ppt_x"/>
                                          </p:val>
                                        </p:tav>
                                      </p:tavLst>
                                    </p:anim>
                                    <p:anim calcmode="lin" valueType="num">
                                      <p:cBhvr>
                                        <p:cTn id="55" dur="500" fill="hold"/>
                                        <p:tgtEl>
                                          <p:spTgt spid="211990"/>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211992"/>
                                        </p:tgtEl>
                                        <p:attrNameLst>
                                          <p:attrName>style.visibility</p:attrName>
                                        </p:attrNameLst>
                                      </p:cBhvr>
                                      <p:to>
                                        <p:strVal val="visible"/>
                                      </p:to>
                                    </p:set>
                                    <p:anim calcmode="lin" valueType="num">
                                      <p:cBhvr>
                                        <p:cTn id="60" dur="500" fill="hold"/>
                                        <p:tgtEl>
                                          <p:spTgt spid="211992"/>
                                        </p:tgtEl>
                                        <p:attrNameLst>
                                          <p:attrName>ppt_x</p:attrName>
                                        </p:attrNameLst>
                                      </p:cBhvr>
                                      <p:tavLst>
                                        <p:tav tm="0">
                                          <p:val>
                                            <p:strVal val="0-#ppt_w/2"/>
                                          </p:val>
                                        </p:tav>
                                        <p:tav tm="100000">
                                          <p:val>
                                            <p:strVal val="#ppt_x"/>
                                          </p:val>
                                        </p:tav>
                                      </p:tavLst>
                                    </p:anim>
                                    <p:anim calcmode="lin" valueType="num">
                                      <p:cBhvr>
                                        <p:cTn id="61" dur="500" fill="hold"/>
                                        <p:tgtEl>
                                          <p:spTgt spid="211992"/>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211994"/>
                                        </p:tgtEl>
                                        <p:attrNameLst>
                                          <p:attrName>style.visibility</p:attrName>
                                        </p:attrNameLst>
                                      </p:cBhvr>
                                      <p:to>
                                        <p:strVal val="visible"/>
                                      </p:to>
                                    </p:set>
                                    <p:anim calcmode="lin" valueType="num">
                                      <p:cBhvr>
                                        <p:cTn id="66" dur="500" fill="hold"/>
                                        <p:tgtEl>
                                          <p:spTgt spid="211994"/>
                                        </p:tgtEl>
                                        <p:attrNameLst>
                                          <p:attrName>ppt_x</p:attrName>
                                        </p:attrNameLst>
                                      </p:cBhvr>
                                      <p:tavLst>
                                        <p:tav tm="0">
                                          <p:val>
                                            <p:strVal val="0-#ppt_w/2"/>
                                          </p:val>
                                        </p:tav>
                                        <p:tav tm="100000">
                                          <p:val>
                                            <p:strVal val="#ppt_x"/>
                                          </p:val>
                                        </p:tav>
                                      </p:tavLst>
                                    </p:anim>
                                    <p:anim calcmode="lin" valueType="num">
                                      <p:cBhvr>
                                        <p:cTn id="67" dur="500" fill="hold"/>
                                        <p:tgtEl>
                                          <p:spTgt spid="2119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2"/>
          <p:cNvSpPr/>
          <p:nvPr/>
        </p:nvSpPr>
        <p:spPr>
          <a:xfrm>
            <a:off x="0" y="28432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4019" name="Object 3"/>
          <p:cNvGraphicFramePr>
            <a:graphicFrameLocks noChangeAspect="1"/>
          </p:cNvGraphicFramePr>
          <p:nvPr/>
        </p:nvGraphicFramePr>
        <p:xfrm>
          <a:off x="735013" y="1290638"/>
          <a:ext cx="7818437" cy="1908175"/>
        </p:xfrm>
        <a:graphic>
          <a:graphicData uri="http://schemas.openxmlformats.org/presentationml/2006/ole">
            <mc:AlternateContent xmlns:mc="http://schemas.openxmlformats.org/markup-compatibility/2006">
              <mc:Choice xmlns:v="urn:schemas-microsoft-com:vml" Requires="v">
                <p:oleObj spid="_x0000_s3265" name="" r:id="rId1" imgW="4800600" imgH="1168400" progId="Equation.DSMT4">
                  <p:embed/>
                </p:oleObj>
              </mc:Choice>
              <mc:Fallback>
                <p:oleObj name="" r:id="rId1" imgW="4800600" imgH="1168400" progId="Equation.DSMT4">
                  <p:embed/>
                  <p:pic>
                    <p:nvPicPr>
                      <p:cNvPr id="0" name="图片 3264"/>
                      <p:cNvPicPr/>
                      <p:nvPr/>
                    </p:nvPicPr>
                    <p:blipFill>
                      <a:blip r:embed="rId2"/>
                      <a:stretch>
                        <a:fillRect/>
                      </a:stretch>
                    </p:blipFill>
                    <p:spPr>
                      <a:xfrm>
                        <a:off x="735013" y="1290638"/>
                        <a:ext cx="7818437" cy="1908175"/>
                      </a:xfrm>
                      <a:prstGeom prst="rect">
                        <a:avLst/>
                      </a:prstGeom>
                      <a:noFill/>
                      <a:ln w="38100">
                        <a:noFill/>
                        <a:miter/>
                      </a:ln>
                    </p:spPr>
                  </p:pic>
                </p:oleObj>
              </mc:Fallback>
            </mc:AlternateContent>
          </a:graphicData>
        </a:graphic>
      </p:graphicFrame>
      <p:sp>
        <p:nvSpPr>
          <p:cNvPr id="98307" name="Rectangle 4"/>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3" name="Group 5"/>
          <p:cNvGrpSpPr/>
          <p:nvPr/>
        </p:nvGrpSpPr>
        <p:grpSpPr>
          <a:xfrm>
            <a:off x="468313" y="3379788"/>
            <a:ext cx="7940675" cy="1190625"/>
            <a:chOff x="204" y="1364"/>
            <a:chExt cx="5002" cy="750"/>
          </a:xfrm>
        </p:grpSpPr>
        <p:sp>
          <p:nvSpPr>
            <p:cNvPr id="98309" name="Text Box 6"/>
            <p:cNvSpPr txBox="1"/>
            <p:nvPr/>
          </p:nvSpPr>
          <p:spPr>
            <a:xfrm>
              <a:off x="204" y="1480"/>
              <a:ext cx="5002" cy="634"/>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易见，                             具有非常特殊的结构，一般的偶数阶双随机矩</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阵，即使其元素是非负整数，也无法用</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Q</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来分解。</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98310" name="Object 7"/>
            <p:cNvGraphicFramePr>
              <a:graphicFrameLocks noChangeAspect="1"/>
            </p:cNvGraphicFramePr>
            <p:nvPr/>
          </p:nvGraphicFramePr>
          <p:xfrm>
            <a:off x="703" y="1364"/>
            <a:ext cx="1180" cy="478"/>
          </p:xfrm>
          <a:graphic>
            <a:graphicData uri="http://schemas.openxmlformats.org/presentationml/2006/ole">
              <mc:AlternateContent xmlns:mc="http://schemas.openxmlformats.org/markup-compatibility/2006">
                <mc:Choice xmlns:v="urn:schemas-microsoft-com:vml" Requires="v">
                  <p:oleObj spid="_x0000_s3263" name="" r:id="rId3" imgW="1054100" imgH="431800" progId="Equation.DSMT4">
                    <p:embed/>
                  </p:oleObj>
                </mc:Choice>
                <mc:Fallback>
                  <p:oleObj name="" r:id="rId3" imgW="1054100" imgH="431800" progId="Equation.DSMT4">
                    <p:embed/>
                    <p:pic>
                      <p:nvPicPr>
                        <p:cNvPr id="0" name="图片 3262"/>
                        <p:cNvPicPr/>
                        <p:nvPr/>
                      </p:nvPicPr>
                      <p:blipFill>
                        <a:blip r:embed="rId4"/>
                        <a:stretch>
                          <a:fillRect/>
                        </a:stretch>
                      </p:blipFill>
                      <p:spPr>
                        <a:xfrm>
                          <a:off x="703" y="1364"/>
                          <a:ext cx="1180" cy="478"/>
                        </a:xfrm>
                        <a:prstGeom prst="rect">
                          <a:avLst/>
                        </a:prstGeom>
                        <a:noFill/>
                        <a:ln w="38100">
                          <a:noFill/>
                          <a:miter/>
                        </a:ln>
                      </p:spPr>
                    </p:pic>
                  </p:oleObj>
                </mc:Fallback>
              </mc:AlternateContent>
            </a:graphicData>
          </a:graphic>
        </p:graphicFrame>
      </p:grpSp>
      <p:sp>
        <p:nvSpPr>
          <p:cNvPr id="98311" name="Rectangle 8"/>
          <p:cNvSpPr/>
          <p:nvPr/>
        </p:nvSpPr>
        <p:spPr>
          <a:xfrm>
            <a:off x="0" y="33194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98312" name="Group 9"/>
          <p:cNvGrpSpPr/>
          <p:nvPr/>
        </p:nvGrpSpPr>
        <p:grpSpPr>
          <a:xfrm>
            <a:off x="395288" y="4543425"/>
            <a:ext cx="8372475" cy="758825"/>
            <a:chOff x="237" y="2168"/>
            <a:chExt cx="5274" cy="478"/>
          </a:xfrm>
        </p:grpSpPr>
        <p:sp>
          <p:nvSpPr>
            <p:cNvPr id="98313" name="Text Box 10"/>
            <p:cNvSpPr txBox="1"/>
            <p:nvPr/>
          </p:nvSpPr>
          <p:spPr>
            <a:xfrm>
              <a:off x="237" y="2204"/>
              <a:ext cx="5274" cy="442"/>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当     具有上述结构时，能否用</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和</a:t>
              </a:r>
              <a:r>
                <a:rPr lang="en-US" altLang="zh-CN" sz="2000" b="1" i="1">
                  <a:solidFill>
                    <a:srgbClr val="000000"/>
                  </a:solidFill>
                  <a:latin typeface="Times New Roman" panose="02020603050405020304" pitchFamily="18" charset="0"/>
                  <a:ea typeface="宋体" panose="02010600030101010101" pitchFamily="2" charset="-122"/>
                </a:rPr>
                <a:t>Q</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来分解呢？易见，由各对角线元素之和可导出：</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98314" name="Object 11"/>
            <p:cNvGraphicFramePr>
              <a:graphicFrameLocks noChangeAspect="1"/>
            </p:cNvGraphicFramePr>
            <p:nvPr/>
          </p:nvGraphicFramePr>
          <p:xfrm>
            <a:off x="476" y="2168"/>
            <a:ext cx="178" cy="256"/>
          </p:xfrm>
          <a:graphic>
            <a:graphicData uri="http://schemas.openxmlformats.org/presentationml/2006/ole">
              <mc:AlternateContent xmlns:mc="http://schemas.openxmlformats.org/markup-compatibility/2006">
                <mc:Choice xmlns:v="urn:schemas-microsoft-com:vml" Requires="v">
                  <p:oleObj spid="_x0000_s3252" name="" r:id="rId5" imgW="139700" imgH="203200" progId="Equation.DSMT4">
                    <p:embed/>
                  </p:oleObj>
                </mc:Choice>
                <mc:Fallback>
                  <p:oleObj name="" r:id="rId5" imgW="139700" imgH="203200" progId="Equation.DSMT4">
                    <p:embed/>
                    <p:pic>
                      <p:nvPicPr>
                        <p:cNvPr id="0" name="图片 3251"/>
                        <p:cNvPicPr/>
                        <p:nvPr/>
                      </p:nvPicPr>
                      <p:blipFill>
                        <a:blip r:embed="rId6"/>
                        <a:stretch>
                          <a:fillRect/>
                        </a:stretch>
                      </p:blipFill>
                      <p:spPr>
                        <a:xfrm>
                          <a:off x="476" y="2168"/>
                          <a:ext cx="178" cy="256"/>
                        </a:xfrm>
                        <a:prstGeom prst="rect">
                          <a:avLst/>
                        </a:prstGeom>
                        <a:noFill/>
                        <a:ln w="38100">
                          <a:noFill/>
                          <a:miter/>
                        </a:ln>
                      </p:spPr>
                    </p:pic>
                  </p:oleObj>
                </mc:Fallback>
              </mc:AlternateContent>
            </a:graphicData>
          </a:graphic>
        </p:graphicFrame>
      </p:grpSp>
      <p:sp>
        <p:nvSpPr>
          <p:cNvPr id="98315" name="Rectangle 12"/>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4029" name="Object 13"/>
          <p:cNvGraphicFramePr>
            <a:graphicFrameLocks noChangeAspect="1"/>
          </p:cNvGraphicFramePr>
          <p:nvPr/>
        </p:nvGraphicFramePr>
        <p:xfrm>
          <a:off x="2555875" y="5029200"/>
          <a:ext cx="2447925" cy="1690688"/>
        </p:xfrm>
        <a:graphic>
          <a:graphicData uri="http://schemas.openxmlformats.org/presentationml/2006/ole">
            <mc:AlternateContent xmlns:mc="http://schemas.openxmlformats.org/markup-compatibility/2006">
              <mc:Choice xmlns:v="urn:schemas-microsoft-com:vml" Requires="v">
                <p:oleObj spid="_x0000_s3273" name="" r:id="rId7" imgW="1320800" imgH="914400" progId="Equation.DSMT4">
                  <p:embed/>
                </p:oleObj>
              </mc:Choice>
              <mc:Fallback>
                <p:oleObj name="" r:id="rId7" imgW="1320800" imgH="914400" progId="Equation.DSMT4">
                  <p:embed/>
                  <p:pic>
                    <p:nvPicPr>
                      <p:cNvPr id="0" name="图片 3272"/>
                      <p:cNvPicPr/>
                      <p:nvPr/>
                    </p:nvPicPr>
                    <p:blipFill>
                      <a:blip r:embed="rId8"/>
                      <a:stretch>
                        <a:fillRect/>
                      </a:stretch>
                    </p:blipFill>
                    <p:spPr>
                      <a:xfrm>
                        <a:off x="2555875" y="5029200"/>
                        <a:ext cx="2447925" cy="169068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14019"/>
                                        </p:tgtEl>
                                        <p:attrNameLst>
                                          <p:attrName>style.visibility</p:attrName>
                                        </p:attrNameLst>
                                      </p:cBhvr>
                                      <p:to>
                                        <p:strVal val="visible"/>
                                      </p:to>
                                    </p:set>
                                    <p:anim calcmode="lin" valueType="num">
                                      <p:cBhvr>
                                        <p:cTn id="7" dur="500" fill="hold"/>
                                        <p:tgtEl>
                                          <p:spTgt spid="214019"/>
                                        </p:tgtEl>
                                        <p:attrNameLst>
                                          <p:attrName>ppt_x</p:attrName>
                                        </p:attrNameLst>
                                      </p:cBhvr>
                                      <p:tavLst>
                                        <p:tav tm="0">
                                          <p:val>
                                            <p:strVal val="0-#ppt_w/2"/>
                                          </p:val>
                                        </p:tav>
                                        <p:tav tm="100000">
                                          <p:val>
                                            <p:strVal val="#ppt_x"/>
                                          </p:val>
                                        </p:tav>
                                      </p:tavLst>
                                    </p:anim>
                                    <p:anim calcmode="lin" valueType="num">
                                      <p:cBhvr>
                                        <p:cTn id="8" dur="500" fill="hold"/>
                                        <p:tgtEl>
                                          <p:spTgt spid="2140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0-#ppt_w/2"/>
                                          </p:val>
                                        </p:tav>
                                        <p:tav tm="100000">
                                          <p:val>
                                            <p:strVal val="#ppt_x"/>
                                          </p:val>
                                        </p:tav>
                                      </p:tavLst>
                                    </p:anim>
                                    <p:anim calcmode="lin" valueType="num">
                                      <p:cBhvr>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4029"/>
                                        </p:tgtEl>
                                        <p:attrNameLst>
                                          <p:attrName>style.visibility</p:attrName>
                                        </p:attrNameLst>
                                      </p:cBhvr>
                                      <p:to>
                                        <p:strVal val="visible"/>
                                      </p:to>
                                    </p:set>
                                    <p:anim calcmode="lin" valueType="num">
                                      <p:cBhvr>
                                        <p:cTn id="19" dur="500" fill="hold"/>
                                        <p:tgtEl>
                                          <p:spTgt spid="214029"/>
                                        </p:tgtEl>
                                        <p:attrNameLst>
                                          <p:attrName>ppt_x</p:attrName>
                                        </p:attrNameLst>
                                      </p:cBhvr>
                                      <p:tavLst>
                                        <p:tav tm="0">
                                          <p:val>
                                            <p:strVal val="#ppt_x"/>
                                          </p:val>
                                        </p:tav>
                                        <p:tav tm="100000">
                                          <p:val>
                                            <p:strVal val="#ppt_x"/>
                                          </p:val>
                                        </p:tav>
                                      </p:tavLst>
                                    </p:anim>
                                    <p:anim calcmode="lin" valueType="num">
                                      <p:cBhvr>
                                        <p:cTn id="20" dur="500" fill="hold"/>
                                        <p:tgtEl>
                                          <p:spTgt spid="2140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Rectangle 2"/>
          <p:cNvSpPr/>
          <p:nvPr/>
        </p:nvSpPr>
        <p:spPr>
          <a:xfrm>
            <a:off x="1331913" y="1390650"/>
            <a:ext cx="4273550"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另外，由反对角线元素之和又可导出</a:t>
            </a:r>
            <a:endParaRPr lang="zh-CN" altLang="en-US" sz="2000" b="1">
              <a:latin typeface="Times New Roman" panose="02020603050405020304" pitchFamily="18" charset="0"/>
              <a:ea typeface="宋体" panose="02010600030101010101" pitchFamily="2" charset="-122"/>
            </a:endParaRPr>
          </a:p>
        </p:txBody>
      </p:sp>
      <p:sp>
        <p:nvSpPr>
          <p:cNvPr id="100354" name="Rectangle 3"/>
          <p:cNvSpPr/>
          <p:nvPr/>
        </p:nvSpPr>
        <p:spPr>
          <a:xfrm>
            <a:off x="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16068" name="Object 4"/>
          <p:cNvGraphicFramePr>
            <a:graphicFrameLocks noChangeAspect="1"/>
          </p:cNvGraphicFramePr>
          <p:nvPr/>
        </p:nvGraphicFramePr>
        <p:xfrm>
          <a:off x="2268538" y="1822450"/>
          <a:ext cx="2376487" cy="1665288"/>
        </p:xfrm>
        <a:graphic>
          <a:graphicData uri="http://schemas.openxmlformats.org/presentationml/2006/ole">
            <mc:AlternateContent xmlns:mc="http://schemas.openxmlformats.org/markup-compatibility/2006">
              <mc:Choice xmlns:v="urn:schemas-microsoft-com:vml" Requires="v">
                <p:oleObj spid="_x0000_s3276" name="" r:id="rId1" imgW="1308100" imgH="914400" progId="Equation.DSMT4">
                  <p:embed/>
                </p:oleObj>
              </mc:Choice>
              <mc:Fallback>
                <p:oleObj name="" r:id="rId1" imgW="1308100" imgH="914400" progId="Equation.DSMT4">
                  <p:embed/>
                  <p:pic>
                    <p:nvPicPr>
                      <p:cNvPr id="0" name="图片 3275"/>
                      <p:cNvPicPr/>
                      <p:nvPr/>
                    </p:nvPicPr>
                    <p:blipFill>
                      <a:blip r:embed="rId2"/>
                      <a:stretch>
                        <a:fillRect/>
                      </a:stretch>
                    </p:blipFill>
                    <p:spPr>
                      <a:xfrm>
                        <a:off x="2268538" y="1822450"/>
                        <a:ext cx="2376487" cy="1665288"/>
                      </a:xfrm>
                      <a:prstGeom prst="rect">
                        <a:avLst/>
                      </a:prstGeom>
                      <a:noFill/>
                      <a:ln w="38100">
                        <a:noFill/>
                        <a:miter/>
                      </a:ln>
                    </p:spPr>
                  </p:pic>
                </p:oleObj>
              </mc:Fallback>
            </mc:AlternateContent>
          </a:graphicData>
        </a:graphic>
      </p:graphicFrame>
      <p:sp>
        <p:nvSpPr>
          <p:cNvPr id="100356" name="Rectangle 5"/>
          <p:cNvSpPr/>
          <p:nvPr/>
        </p:nvSpPr>
        <p:spPr>
          <a:xfrm>
            <a:off x="0" y="33480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0357" name="Rectangle 6"/>
          <p:cNvSpPr/>
          <p:nvPr/>
        </p:nvSpPr>
        <p:spPr>
          <a:xfrm>
            <a:off x="0" y="33480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0358" name="Rectangle 7"/>
          <p:cNvSpPr/>
          <p:nvPr/>
        </p:nvSpPr>
        <p:spPr>
          <a:xfrm>
            <a:off x="0" y="33385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0359" name="Rectangle 8"/>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9"/>
          <p:cNvGrpSpPr/>
          <p:nvPr/>
        </p:nvGrpSpPr>
        <p:grpSpPr>
          <a:xfrm>
            <a:off x="376238" y="3451225"/>
            <a:ext cx="8443912" cy="1730375"/>
            <a:chOff x="237" y="1614"/>
            <a:chExt cx="5319" cy="1090"/>
          </a:xfrm>
        </p:grpSpPr>
        <p:sp>
          <p:nvSpPr>
            <p:cNvPr id="100361" name="Text Box 10"/>
            <p:cNvSpPr txBox="1"/>
            <p:nvPr/>
          </p:nvSpPr>
          <p:spPr>
            <a:xfrm>
              <a:off x="237" y="1614"/>
              <a:ext cx="5319" cy="1018"/>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上述方程中只有</a:t>
              </a:r>
              <a:r>
                <a:rPr lang="en-US" altLang="zh-CN" sz="2000" b="1">
                  <a:solidFill>
                    <a:srgbClr val="000000"/>
                  </a:solidFill>
                  <a:latin typeface="Times New Roman" panose="02020603050405020304" pitchFamily="18" charset="0"/>
                  <a:ea typeface="宋体" panose="02010600030101010101" pitchFamily="2" charset="-122"/>
                </a:rPr>
                <a:t>6</a:t>
              </a:r>
              <a:r>
                <a:rPr lang="zh-CN" altLang="en-US" sz="2000" b="1">
                  <a:solidFill>
                    <a:srgbClr val="000000"/>
                  </a:solidFill>
                  <a:latin typeface="Times New Roman" panose="02020603050405020304" pitchFamily="18" charset="0"/>
                  <a:ea typeface="宋体" panose="02010600030101010101" pitchFamily="2" charset="-122"/>
                </a:rPr>
                <a:t>个是独立的，且已不可能再得出新的独立方程，（读者可自行分析之）故可选取其中</a:t>
              </a:r>
              <a:r>
                <a:rPr lang="en-US" altLang="zh-CN" sz="2000" b="1">
                  <a:solidFill>
                    <a:srgbClr val="000000"/>
                  </a:solidFill>
                  <a:latin typeface="Times New Roman" panose="02020603050405020304" pitchFamily="18" charset="0"/>
                  <a:ea typeface="宋体" panose="02010600030101010101" pitchFamily="2" charset="-122"/>
                </a:rPr>
                <a:t>2</a:t>
              </a:r>
              <a:r>
                <a:rPr lang="zh-CN" altLang="en-US" sz="2000" b="1">
                  <a:solidFill>
                    <a:srgbClr val="000000"/>
                  </a:solidFill>
                  <a:latin typeface="Times New Roman" panose="02020603050405020304" pitchFamily="18" charset="0"/>
                  <a:ea typeface="宋体" panose="02010600030101010101" pitchFamily="2" charset="-122"/>
                </a:rPr>
                <a:t>个的值，进而可解出其余。例如，若令</a:t>
              </a:r>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    </a:t>
              </a:r>
              <a:r>
                <a:rPr lang="en-US" altLang="zh-CN" sz="2000" b="1" baseline="-30000">
                  <a:solidFill>
                    <a:srgbClr val="000000"/>
                  </a:solidFill>
                  <a:latin typeface="Times New Roman" panose="02020603050405020304" pitchFamily="18" charset="0"/>
                  <a:ea typeface="宋体" panose="02010600030101010101" pitchFamily="2" charset="-122"/>
                </a:rPr>
                <a:t>4</a:t>
              </a:r>
              <a:r>
                <a:rPr lang="en-US" altLang="zh-CN" sz="2000" b="1">
                  <a:solidFill>
                    <a:srgbClr val="000000"/>
                  </a:solidFill>
                  <a:latin typeface="Times New Roman" panose="02020603050405020304" pitchFamily="18" charset="0"/>
                  <a:ea typeface="宋体" panose="02010600030101010101" pitchFamily="2" charset="-122"/>
                </a:rPr>
                <a:t>=     </a:t>
              </a:r>
              <a:r>
                <a:rPr lang="en-US" altLang="zh-CN" sz="2000" b="1" baseline="-30000">
                  <a:solidFill>
                    <a:srgbClr val="000000"/>
                  </a:solidFill>
                  <a:latin typeface="Times New Roman" panose="02020603050405020304" pitchFamily="18" charset="0"/>
                  <a:ea typeface="宋体" panose="02010600030101010101" pitchFamily="2" charset="-122"/>
                </a:rPr>
                <a:t>3</a:t>
              </a:r>
              <a:r>
                <a:rPr lang="en-US" altLang="zh-CN" sz="2000" b="1">
                  <a:solidFill>
                    <a:srgbClr val="000000"/>
                  </a:solidFill>
                  <a:latin typeface="Times New Roman" panose="02020603050405020304" pitchFamily="18" charset="0"/>
                  <a:ea typeface="宋体" panose="02010600030101010101" pitchFamily="2" charset="-122"/>
                </a:rPr>
                <a:t>=0</a:t>
              </a:r>
              <a:r>
                <a:rPr lang="zh-CN" altLang="en-US" sz="2000" b="1">
                  <a:solidFill>
                    <a:srgbClr val="000000"/>
                  </a:solidFill>
                  <a:latin typeface="Times New Roman" panose="02020603050405020304" pitchFamily="18" charset="0"/>
                  <a:ea typeface="宋体" panose="02010600030101010101" pitchFamily="2" charset="-122"/>
                </a:rPr>
                <a:t>，可得     </a:t>
              </a:r>
              <a:r>
                <a:rPr lang="en-US" altLang="zh-CN" sz="2000" b="1" baseline="-30000">
                  <a:solidFill>
                    <a:srgbClr val="000000"/>
                  </a:solidFill>
                  <a:latin typeface="Times New Roman" panose="02020603050405020304" pitchFamily="18" charset="0"/>
                  <a:ea typeface="宋体" panose="02010600030101010101" pitchFamily="2" charset="-122"/>
                </a:rPr>
                <a:t>2</a:t>
              </a:r>
              <a:r>
                <a:rPr lang="en-US" altLang="zh-CN" sz="2000" b="1">
                  <a:solidFill>
                    <a:srgbClr val="000000"/>
                  </a:solidFill>
                  <a:latin typeface="Times New Roman" panose="02020603050405020304" pitchFamily="18" charset="0"/>
                  <a:ea typeface="宋体" panose="02010600030101010101" pitchFamily="2" charset="-122"/>
                </a:rPr>
                <a:t>=1</a:t>
              </a:r>
              <a:r>
                <a:rPr lang="zh-CN" altLang="en-US" sz="2000" b="1">
                  <a:solidFill>
                    <a:srgbClr val="000000"/>
                  </a:solidFill>
                  <a:latin typeface="Times New Roman" panose="02020603050405020304" pitchFamily="18" charset="0"/>
                  <a:ea typeface="宋体" panose="02010600030101010101" pitchFamily="2" charset="-122"/>
                </a:rPr>
                <a:t>，   </a:t>
              </a:r>
              <a:r>
                <a:rPr lang="en-US" altLang="zh-CN" sz="2000" b="1" baseline="-30000">
                  <a:solidFill>
                    <a:srgbClr val="000000"/>
                  </a:solidFill>
                  <a:latin typeface="Times New Roman" panose="02020603050405020304" pitchFamily="18" charset="0"/>
                  <a:ea typeface="宋体" panose="02010600030101010101" pitchFamily="2" charset="-122"/>
                </a:rPr>
                <a:t>1</a:t>
              </a:r>
              <a:r>
                <a:rPr lang="en-US" altLang="zh-CN" sz="2000" b="1">
                  <a:solidFill>
                    <a:srgbClr val="000000"/>
                  </a:solidFill>
                  <a:latin typeface="Times New Roman" panose="02020603050405020304" pitchFamily="18" charset="0"/>
                  <a:ea typeface="宋体" panose="02010600030101010101" pitchFamily="2" charset="-122"/>
                </a:rPr>
                <a:t>=0</a:t>
              </a:r>
              <a:r>
                <a:rPr lang="zh-CN" altLang="en-US" sz="2000" b="1">
                  <a:solidFill>
                    <a:srgbClr val="000000"/>
                  </a:solidFill>
                  <a:latin typeface="Times New Roman" panose="02020603050405020304" pitchFamily="18" charset="0"/>
                  <a:ea typeface="宋体" panose="02010600030101010101" pitchFamily="2" charset="-122"/>
                </a:rPr>
                <a:t>，进而可求得     </a:t>
              </a:r>
              <a:r>
                <a:rPr lang="en-US" altLang="zh-CN" sz="2000" b="1" baseline="-30000">
                  <a:solidFill>
                    <a:srgbClr val="000000"/>
                  </a:solidFill>
                  <a:latin typeface="Times New Roman" panose="02020603050405020304" pitchFamily="18" charset="0"/>
                  <a:ea typeface="宋体" panose="02010600030101010101" pitchFamily="2" charset="-122"/>
                </a:rPr>
                <a:t>1</a:t>
              </a:r>
              <a:r>
                <a:rPr lang="en-US" altLang="zh-CN" sz="2000" b="1">
                  <a:solidFill>
                    <a:srgbClr val="000000"/>
                  </a:solidFill>
                  <a:latin typeface="Times New Roman" panose="02020603050405020304" pitchFamily="18" charset="0"/>
                  <a:ea typeface="宋体" panose="02010600030101010101" pitchFamily="2" charset="-122"/>
                </a:rPr>
                <a:t>=2</a:t>
              </a:r>
              <a:r>
                <a:rPr lang="zh-CN" altLang="en-US" sz="2000" b="1">
                  <a:solidFill>
                    <a:srgbClr val="000000"/>
                  </a:solidFill>
                  <a:latin typeface="Times New Roman" panose="02020603050405020304" pitchFamily="18" charset="0"/>
                  <a:ea typeface="宋体" panose="02010600030101010101" pitchFamily="2" charset="-122"/>
                </a:rPr>
                <a:t>，   </a:t>
              </a:r>
              <a:r>
                <a:rPr lang="en-US" altLang="zh-CN" sz="2000" b="1" baseline="-30000">
                  <a:solidFill>
                    <a:srgbClr val="000000"/>
                  </a:solidFill>
                  <a:latin typeface="Times New Roman" panose="02020603050405020304" pitchFamily="18" charset="0"/>
                  <a:ea typeface="宋体" panose="02010600030101010101" pitchFamily="2" charset="-122"/>
                </a:rPr>
                <a:t>4</a:t>
              </a:r>
              <a:r>
                <a:rPr lang="en-US" altLang="zh-CN" sz="2000" b="1">
                  <a:solidFill>
                    <a:srgbClr val="000000"/>
                  </a:solidFill>
                  <a:latin typeface="Times New Roman" panose="02020603050405020304" pitchFamily="18" charset="0"/>
                  <a:ea typeface="宋体" panose="02010600030101010101" pitchFamily="2" charset="-122"/>
                </a:rPr>
                <a:t>=3</a:t>
              </a:r>
              <a:r>
                <a:rPr lang="zh-CN" altLang="en-US" sz="2000" b="1">
                  <a:solidFill>
                    <a:srgbClr val="000000"/>
                  </a:solidFill>
                  <a:latin typeface="Times New Roman" panose="02020603050405020304" pitchFamily="18" charset="0"/>
                  <a:ea typeface="宋体" panose="02010600030101010101" pitchFamily="2" charset="-122"/>
                </a:rPr>
                <a:t>，  </a:t>
              </a:r>
              <a:r>
                <a:rPr lang="en-US" altLang="zh-CN" sz="2000" b="1" baseline="-30000">
                  <a:solidFill>
                    <a:srgbClr val="000000"/>
                  </a:solidFill>
                  <a:latin typeface="Times New Roman" panose="02020603050405020304" pitchFamily="18" charset="0"/>
                  <a:ea typeface="宋体" panose="02010600030101010101" pitchFamily="2" charset="-122"/>
                </a:rPr>
                <a:t>3</a:t>
              </a:r>
              <a:r>
                <a:rPr lang="en-US" altLang="zh-CN" sz="2000" b="1">
                  <a:solidFill>
                    <a:srgbClr val="000000"/>
                  </a:solidFill>
                  <a:latin typeface="Times New Roman" panose="02020603050405020304" pitchFamily="18" charset="0"/>
                  <a:ea typeface="宋体" panose="02010600030101010101" pitchFamily="2" charset="-122"/>
                </a:rPr>
                <a:t>=3</a:t>
              </a:r>
              <a:r>
                <a:rPr lang="zh-CN" altLang="en-US" sz="2000" b="1">
                  <a:solidFill>
                    <a:srgbClr val="000000"/>
                  </a:solidFill>
                  <a:latin typeface="Times New Roman" panose="02020603050405020304" pitchFamily="18" charset="0"/>
                  <a:ea typeface="宋体" panose="02010600030101010101" pitchFamily="2" charset="-122"/>
                </a:rPr>
                <a:t>及    </a:t>
              </a:r>
              <a:r>
                <a:rPr lang="en-US" altLang="zh-CN" sz="2000" b="1" baseline="-30000">
                  <a:solidFill>
                    <a:srgbClr val="000000"/>
                  </a:solidFill>
                  <a:latin typeface="Times New Roman" panose="02020603050405020304" pitchFamily="18" charset="0"/>
                  <a:ea typeface="宋体" panose="02010600030101010101" pitchFamily="2" charset="-122"/>
                </a:rPr>
                <a:t>2</a:t>
              </a:r>
              <a:r>
                <a:rPr lang="en-US" altLang="zh-CN" sz="2000" b="1">
                  <a:solidFill>
                    <a:srgbClr val="000000"/>
                  </a:solidFill>
                  <a:latin typeface="Times New Roman" panose="02020603050405020304" pitchFamily="18" charset="0"/>
                  <a:ea typeface="宋体" panose="02010600030101010101" pitchFamily="2" charset="-122"/>
                </a:rPr>
                <a:t>=4</a:t>
              </a:r>
              <a:r>
                <a:rPr lang="zh-CN" altLang="en-US" sz="2000" b="1">
                  <a:solidFill>
                    <a:srgbClr val="000000"/>
                  </a:solidFill>
                  <a:latin typeface="Times New Roman" panose="02020603050405020304" pitchFamily="18" charset="0"/>
                  <a:ea typeface="宋体" panose="02010600030101010101" pitchFamily="2" charset="-122"/>
                </a:rPr>
                <a:t>，</a:t>
              </a:r>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                      </a:t>
              </a:r>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                          已达到下界。</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100362" name="Object 11"/>
            <p:cNvGraphicFramePr>
              <a:graphicFrameLocks noChangeAspect="1"/>
            </p:cNvGraphicFramePr>
            <p:nvPr/>
          </p:nvGraphicFramePr>
          <p:xfrm>
            <a:off x="295" y="2069"/>
            <a:ext cx="171" cy="182"/>
          </p:xfrm>
          <a:graphic>
            <a:graphicData uri="http://schemas.openxmlformats.org/presentationml/2006/ole">
              <mc:AlternateContent xmlns:mc="http://schemas.openxmlformats.org/markup-compatibility/2006">
                <mc:Choice xmlns:v="urn:schemas-microsoft-com:vml" Requires="v">
                  <p:oleObj spid="_x0000_s3270" name="" r:id="rId3" imgW="152400" imgH="165100" progId="Equation.DSMT4">
                    <p:embed/>
                  </p:oleObj>
                </mc:Choice>
                <mc:Fallback>
                  <p:oleObj name="" r:id="rId3" imgW="152400" imgH="165100" progId="Equation.DSMT4">
                    <p:embed/>
                    <p:pic>
                      <p:nvPicPr>
                        <p:cNvPr id="0" name="图片 3269"/>
                        <p:cNvPicPr/>
                        <p:nvPr/>
                      </p:nvPicPr>
                      <p:blipFill>
                        <a:blip r:embed="rId4"/>
                        <a:stretch>
                          <a:fillRect/>
                        </a:stretch>
                      </p:blipFill>
                      <p:spPr>
                        <a:xfrm>
                          <a:off x="295" y="2069"/>
                          <a:ext cx="171" cy="182"/>
                        </a:xfrm>
                        <a:prstGeom prst="rect">
                          <a:avLst/>
                        </a:prstGeom>
                        <a:noFill/>
                        <a:ln w="38100">
                          <a:noFill/>
                          <a:miter/>
                        </a:ln>
                      </p:spPr>
                    </p:pic>
                  </p:oleObj>
                </mc:Fallback>
              </mc:AlternateContent>
            </a:graphicData>
          </a:graphic>
        </p:graphicFrame>
        <p:graphicFrame>
          <p:nvGraphicFramePr>
            <p:cNvPr id="100363" name="Object 12"/>
            <p:cNvGraphicFramePr>
              <a:graphicFrameLocks noChangeAspect="1"/>
            </p:cNvGraphicFramePr>
            <p:nvPr/>
          </p:nvGraphicFramePr>
          <p:xfrm>
            <a:off x="657" y="2069"/>
            <a:ext cx="172" cy="182"/>
          </p:xfrm>
          <a:graphic>
            <a:graphicData uri="http://schemas.openxmlformats.org/presentationml/2006/ole">
              <mc:AlternateContent xmlns:mc="http://schemas.openxmlformats.org/markup-compatibility/2006">
                <mc:Choice xmlns:v="urn:schemas-microsoft-com:vml" Requires="v">
                  <p:oleObj spid="_x0000_s3272" name="" r:id="rId5" imgW="152400" imgH="165100" progId="Equation.DSMT4">
                    <p:embed/>
                  </p:oleObj>
                </mc:Choice>
                <mc:Fallback>
                  <p:oleObj name="" r:id="rId5" imgW="152400" imgH="165100" progId="Equation.DSMT4">
                    <p:embed/>
                    <p:pic>
                      <p:nvPicPr>
                        <p:cNvPr id="0" name="图片 3271"/>
                        <p:cNvPicPr/>
                        <p:nvPr/>
                      </p:nvPicPr>
                      <p:blipFill>
                        <a:blip r:embed="rId4"/>
                        <a:stretch>
                          <a:fillRect/>
                        </a:stretch>
                      </p:blipFill>
                      <p:spPr>
                        <a:xfrm>
                          <a:off x="657" y="2069"/>
                          <a:ext cx="172" cy="182"/>
                        </a:xfrm>
                        <a:prstGeom prst="rect">
                          <a:avLst/>
                        </a:prstGeom>
                        <a:noFill/>
                        <a:ln w="38100">
                          <a:noFill/>
                          <a:miter/>
                        </a:ln>
                      </p:spPr>
                    </p:pic>
                  </p:oleObj>
                </mc:Fallback>
              </mc:AlternateContent>
            </a:graphicData>
          </a:graphic>
        </p:graphicFrame>
        <p:graphicFrame>
          <p:nvGraphicFramePr>
            <p:cNvPr id="100364" name="Object 13"/>
            <p:cNvGraphicFramePr>
              <a:graphicFrameLocks noChangeAspect="1"/>
            </p:cNvGraphicFramePr>
            <p:nvPr/>
          </p:nvGraphicFramePr>
          <p:xfrm>
            <a:off x="1565" y="2069"/>
            <a:ext cx="172" cy="182"/>
          </p:xfrm>
          <a:graphic>
            <a:graphicData uri="http://schemas.openxmlformats.org/presentationml/2006/ole">
              <mc:AlternateContent xmlns:mc="http://schemas.openxmlformats.org/markup-compatibility/2006">
                <mc:Choice xmlns:v="urn:schemas-microsoft-com:vml" Requires="v">
                  <p:oleObj spid="_x0000_s3277" name="" r:id="rId6" imgW="152400" imgH="165100" progId="Equation.DSMT4">
                    <p:embed/>
                  </p:oleObj>
                </mc:Choice>
                <mc:Fallback>
                  <p:oleObj name="" r:id="rId6" imgW="152400" imgH="165100" progId="Equation.DSMT4">
                    <p:embed/>
                    <p:pic>
                      <p:nvPicPr>
                        <p:cNvPr id="0" name="图片 3276"/>
                        <p:cNvPicPr/>
                        <p:nvPr/>
                      </p:nvPicPr>
                      <p:blipFill>
                        <a:blip r:embed="rId4"/>
                        <a:stretch>
                          <a:fillRect/>
                        </a:stretch>
                      </p:blipFill>
                      <p:spPr>
                        <a:xfrm>
                          <a:off x="1565" y="2069"/>
                          <a:ext cx="172" cy="182"/>
                        </a:xfrm>
                        <a:prstGeom prst="rect">
                          <a:avLst/>
                        </a:prstGeom>
                        <a:noFill/>
                        <a:ln w="38100">
                          <a:noFill/>
                          <a:miter/>
                        </a:ln>
                      </p:spPr>
                    </p:pic>
                  </p:oleObj>
                </mc:Fallback>
              </mc:AlternateContent>
            </a:graphicData>
          </a:graphic>
        </p:graphicFrame>
        <p:graphicFrame>
          <p:nvGraphicFramePr>
            <p:cNvPr id="100365" name="Object 14"/>
            <p:cNvGraphicFramePr>
              <a:graphicFrameLocks noChangeAspect="1"/>
            </p:cNvGraphicFramePr>
            <p:nvPr/>
          </p:nvGraphicFramePr>
          <p:xfrm>
            <a:off x="2064" y="2069"/>
            <a:ext cx="172" cy="182"/>
          </p:xfrm>
          <a:graphic>
            <a:graphicData uri="http://schemas.openxmlformats.org/presentationml/2006/ole">
              <mc:AlternateContent xmlns:mc="http://schemas.openxmlformats.org/markup-compatibility/2006">
                <mc:Choice xmlns:v="urn:schemas-microsoft-com:vml" Requires="v">
                  <p:oleObj spid="_x0000_s3275" name="" r:id="rId7" imgW="152400" imgH="165100" progId="Equation.DSMT4">
                    <p:embed/>
                  </p:oleObj>
                </mc:Choice>
                <mc:Fallback>
                  <p:oleObj name="" r:id="rId7" imgW="152400" imgH="165100" progId="Equation.DSMT4">
                    <p:embed/>
                    <p:pic>
                      <p:nvPicPr>
                        <p:cNvPr id="0" name="图片 3274"/>
                        <p:cNvPicPr/>
                        <p:nvPr/>
                      </p:nvPicPr>
                      <p:blipFill>
                        <a:blip r:embed="rId4"/>
                        <a:stretch>
                          <a:fillRect/>
                        </a:stretch>
                      </p:blipFill>
                      <p:spPr>
                        <a:xfrm>
                          <a:off x="2064" y="2069"/>
                          <a:ext cx="172" cy="182"/>
                        </a:xfrm>
                        <a:prstGeom prst="rect">
                          <a:avLst/>
                        </a:prstGeom>
                        <a:noFill/>
                        <a:ln w="38100">
                          <a:noFill/>
                          <a:miter/>
                        </a:ln>
                      </p:spPr>
                    </p:pic>
                  </p:oleObj>
                </mc:Fallback>
              </mc:AlternateContent>
            </a:graphicData>
          </a:graphic>
        </p:graphicFrame>
        <p:graphicFrame>
          <p:nvGraphicFramePr>
            <p:cNvPr id="100366" name="Object 15"/>
            <p:cNvGraphicFramePr>
              <a:graphicFrameLocks noChangeAspect="1"/>
            </p:cNvGraphicFramePr>
            <p:nvPr/>
          </p:nvGraphicFramePr>
          <p:xfrm>
            <a:off x="3470" y="2024"/>
            <a:ext cx="179" cy="227"/>
          </p:xfrm>
          <a:graphic>
            <a:graphicData uri="http://schemas.openxmlformats.org/presentationml/2006/ole">
              <mc:AlternateContent xmlns:mc="http://schemas.openxmlformats.org/markup-compatibility/2006">
                <mc:Choice xmlns:v="urn:schemas-microsoft-com:vml" Requires="v">
                  <p:oleObj spid="_x0000_s3266" name="" r:id="rId8" imgW="139700" imgH="177800" progId="Equation.DSMT4">
                    <p:embed/>
                  </p:oleObj>
                </mc:Choice>
                <mc:Fallback>
                  <p:oleObj name="" r:id="rId8" imgW="139700" imgH="177800" progId="Equation.DSMT4">
                    <p:embed/>
                    <p:pic>
                      <p:nvPicPr>
                        <p:cNvPr id="0" name="图片 3265"/>
                        <p:cNvPicPr/>
                        <p:nvPr/>
                      </p:nvPicPr>
                      <p:blipFill>
                        <a:blip r:embed="rId9"/>
                        <a:stretch>
                          <a:fillRect/>
                        </a:stretch>
                      </p:blipFill>
                      <p:spPr>
                        <a:xfrm>
                          <a:off x="3470" y="2024"/>
                          <a:ext cx="179" cy="227"/>
                        </a:xfrm>
                        <a:prstGeom prst="rect">
                          <a:avLst/>
                        </a:prstGeom>
                        <a:noFill/>
                        <a:ln w="38100">
                          <a:noFill/>
                          <a:miter/>
                        </a:ln>
                      </p:spPr>
                    </p:pic>
                  </p:oleObj>
                </mc:Fallback>
              </mc:AlternateContent>
            </a:graphicData>
          </a:graphic>
        </p:graphicFrame>
        <p:graphicFrame>
          <p:nvGraphicFramePr>
            <p:cNvPr id="100367" name="Object 16"/>
            <p:cNvGraphicFramePr>
              <a:graphicFrameLocks noChangeAspect="1"/>
            </p:cNvGraphicFramePr>
            <p:nvPr/>
          </p:nvGraphicFramePr>
          <p:xfrm>
            <a:off x="3969" y="2024"/>
            <a:ext cx="179" cy="227"/>
          </p:xfrm>
          <a:graphic>
            <a:graphicData uri="http://schemas.openxmlformats.org/presentationml/2006/ole">
              <mc:AlternateContent xmlns:mc="http://schemas.openxmlformats.org/markup-compatibility/2006">
                <mc:Choice xmlns:v="urn:schemas-microsoft-com:vml" Requires="v">
                  <p:oleObj spid="_x0000_s3267" name="" r:id="rId10" imgW="139700" imgH="177800" progId="Equation.DSMT4">
                    <p:embed/>
                  </p:oleObj>
                </mc:Choice>
                <mc:Fallback>
                  <p:oleObj name="" r:id="rId10" imgW="139700" imgH="177800" progId="Equation.DSMT4">
                    <p:embed/>
                    <p:pic>
                      <p:nvPicPr>
                        <p:cNvPr id="0" name="图片 3266"/>
                        <p:cNvPicPr/>
                        <p:nvPr/>
                      </p:nvPicPr>
                      <p:blipFill>
                        <a:blip r:embed="rId9"/>
                        <a:stretch>
                          <a:fillRect/>
                        </a:stretch>
                      </p:blipFill>
                      <p:spPr>
                        <a:xfrm>
                          <a:off x="3969" y="2024"/>
                          <a:ext cx="179" cy="227"/>
                        </a:xfrm>
                        <a:prstGeom prst="rect">
                          <a:avLst/>
                        </a:prstGeom>
                        <a:noFill/>
                        <a:ln w="38100">
                          <a:noFill/>
                          <a:miter/>
                        </a:ln>
                      </p:spPr>
                    </p:pic>
                  </p:oleObj>
                </mc:Fallback>
              </mc:AlternateContent>
            </a:graphicData>
          </a:graphic>
        </p:graphicFrame>
        <p:graphicFrame>
          <p:nvGraphicFramePr>
            <p:cNvPr id="100368" name="Object 17"/>
            <p:cNvGraphicFramePr>
              <a:graphicFrameLocks noChangeAspect="1"/>
            </p:cNvGraphicFramePr>
            <p:nvPr/>
          </p:nvGraphicFramePr>
          <p:xfrm>
            <a:off x="4425" y="2024"/>
            <a:ext cx="179" cy="227"/>
          </p:xfrm>
          <a:graphic>
            <a:graphicData uri="http://schemas.openxmlformats.org/presentationml/2006/ole">
              <mc:AlternateContent xmlns:mc="http://schemas.openxmlformats.org/markup-compatibility/2006">
                <mc:Choice xmlns:v="urn:schemas-microsoft-com:vml" Requires="v">
                  <p:oleObj spid="_x0000_s3268" name="" r:id="rId11" imgW="139700" imgH="177800" progId="Equation.DSMT4">
                    <p:embed/>
                  </p:oleObj>
                </mc:Choice>
                <mc:Fallback>
                  <p:oleObj name="" r:id="rId11" imgW="139700" imgH="177800" progId="Equation.DSMT4">
                    <p:embed/>
                    <p:pic>
                      <p:nvPicPr>
                        <p:cNvPr id="0" name="图片 3267"/>
                        <p:cNvPicPr/>
                        <p:nvPr/>
                      </p:nvPicPr>
                      <p:blipFill>
                        <a:blip r:embed="rId9"/>
                        <a:stretch>
                          <a:fillRect/>
                        </a:stretch>
                      </p:blipFill>
                      <p:spPr>
                        <a:xfrm>
                          <a:off x="4425" y="2024"/>
                          <a:ext cx="179" cy="227"/>
                        </a:xfrm>
                        <a:prstGeom prst="rect">
                          <a:avLst/>
                        </a:prstGeom>
                        <a:noFill/>
                        <a:ln w="38100">
                          <a:noFill/>
                          <a:miter/>
                        </a:ln>
                      </p:spPr>
                    </p:pic>
                  </p:oleObj>
                </mc:Fallback>
              </mc:AlternateContent>
            </a:graphicData>
          </a:graphic>
        </p:graphicFrame>
        <p:graphicFrame>
          <p:nvGraphicFramePr>
            <p:cNvPr id="100369" name="Object 18"/>
            <p:cNvGraphicFramePr>
              <a:graphicFrameLocks noChangeAspect="1"/>
            </p:cNvGraphicFramePr>
            <p:nvPr/>
          </p:nvGraphicFramePr>
          <p:xfrm>
            <a:off x="4967" y="2024"/>
            <a:ext cx="179" cy="227"/>
          </p:xfrm>
          <a:graphic>
            <a:graphicData uri="http://schemas.openxmlformats.org/presentationml/2006/ole">
              <mc:AlternateContent xmlns:mc="http://schemas.openxmlformats.org/markup-compatibility/2006">
                <mc:Choice xmlns:v="urn:schemas-microsoft-com:vml" Requires="v">
                  <p:oleObj spid="_x0000_s3269" name="" r:id="rId12" imgW="139700" imgH="177800" progId="Equation.DSMT4">
                    <p:embed/>
                  </p:oleObj>
                </mc:Choice>
                <mc:Fallback>
                  <p:oleObj name="" r:id="rId12" imgW="139700" imgH="177800" progId="Equation.DSMT4">
                    <p:embed/>
                    <p:pic>
                      <p:nvPicPr>
                        <p:cNvPr id="0" name="图片 3268"/>
                        <p:cNvPicPr/>
                        <p:nvPr/>
                      </p:nvPicPr>
                      <p:blipFill>
                        <a:blip r:embed="rId9"/>
                        <a:stretch>
                          <a:fillRect/>
                        </a:stretch>
                      </p:blipFill>
                      <p:spPr>
                        <a:xfrm>
                          <a:off x="4967" y="2024"/>
                          <a:ext cx="179" cy="227"/>
                        </a:xfrm>
                        <a:prstGeom prst="rect">
                          <a:avLst/>
                        </a:prstGeom>
                        <a:noFill/>
                        <a:ln w="38100">
                          <a:noFill/>
                          <a:miter/>
                        </a:ln>
                      </p:spPr>
                    </p:pic>
                  </p:oleObj>
                </mc:Fallback>
              </mc:AlternateContent>
            </a:graphicData>
          </a:graphic>
        </p:graphicFrame>
        <p:graphicFrame>
          <p:nvGraphicFramePr>
            <p:cNvPr id="100370" name="Object 19"/>
            <p:cNvGraphicFramePr>
              <a:graphicFrameLocks noChangeAspect="1"/>
            </p:cNvGraphicFramePr>
            <p:nvPr/>
          </p:nvGraphicFramePr>
          <p:xfrm>
            <a:off x="340" y="2299"/>
            <a:ext cx="998" cy="405"/>
          </p:xfrm>
          <a:graphic>
            <a:graphicData uri="http://schemas.openxmlformats.org/presentationml/2006/ole">
              <mc:AlternateContent xmlns:mc="http://schemas.openxmlformats.org/markup-compatibility/2006">
                <mc:Choice xmlns:v="urn:schemas-microsoft-com:vml" Requires="v">
                  <p:oleObj spid="_x0000_s3271" name="" r:id="rId13" imgW="1054100" imgH="431800" progId="Equation.DSMT4">
                    <p:embed/>
                  </p:oleObj>
                </mc:Choice>
                <mc:Fallback>
                  <p:oleObj name="" r:id="rId13" imgW="1054100" imgH="431800" progId="Equation.DSMT4">
                    <p:embed/>
                    <p:pic>
                      <p:nvPicPr>
                        <p:cNvPr id="0" name="图片 3270"/>
                        <p:cNvPicPr/>
                        <p:nvPr/>
                      </p:nvPicPr>
                      <p:blipFill>
                        <a:blip r:embed="rId14"/>
                        <a:stretch>
                          <a:fillRect/>
                        </a:stretch>
                      </p:blipFill>
                      <p:spPr>
                        <a:xfrm>
                          <a:off x="340" y="2299"/>
                          <a:ext cx="998" cy="405"/>
                        </a:xfrm>
                        <a:prstGeom prst="rect">
                          <a:avLst/>
                        </a:prstGeom>
                        <a:noFill/>
                        <a:ln w="38100">
                          <a:noFill/>
                          <a:miter/>
                        </a:ln>
                      </p:spPr>
                    </p:pic>
                  </p:oleObj>
                </mc:Fallback>
              </mc:AlternateContent>
            </a:graphicData>
          </a:graphic>
        </p:graphicFrame>
      </p:grpSp>
      <p:sp>
        <p:nvSpPr>
          <p:cNvPr id="100371" name="Rectangle 20"/>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100372" name="Group 21"/>
          <p:cNvGrpSpPr/>
          <p:nvPr/>
        </p:nvGrpSpPr>
        <p:grpSpPr>
          <a:xfrm>
            <a:off x="395288" y="5064125"/>
            <a:ext cx="8353425" cy="863600"/>
            <a:chOff x="249" y="2750"/>
            <a:chExt cx="5262" cy="544"/>
          </a:xfrm>
        </p:grpSpPr>
        <p:sp>
          <p:nvSpPr>
            <p:cNvPr id="100373" name="Text Box 22"/>
            <p:cNvSpPr txBox="1"/>
            <p:nvPr/>
          </p:nvSpPr>
          <p:spPr>
            <a:xfrm>
              <a:off x="249" y="2852"/>
              <a:ext cx="5262" cy="442"/>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易见，</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baseline="-30000">
                  <a:solidFill>
                    <a:srgbClr val="000000"/>
                  </a:solidFill>
                  <a:latin typeface="Times New Roman" panose="02020603050405020304" pitchFamily="18" charset="0"/>
                  <a:ea typeface="宋体" panose="02010600030101010101" pitchFamily="2" charset="-122"/>
                </a:rPr>
                <a:t>1</a:t>
              </a:r>
              <a:r>
                <a:rPr lang="en-US" altLang="zh-CN" sz="2000" b="1">
                  <a:solidFill>
                    <a:srgbClr val="000000"/>
                  </a:solidFill>
                  <a:latin typeface="Times New Roman" panose="02020603050405020304" pitchFamily="18" charset="0"/>
                  <a:ea typeface="宋体" panose="02010600030101010101" pitchFamily="2" charset="-122"/>
                </a:rPr>
                <a:t> +</a:t>
              </a:r>
              <a:r>
                <a:rPr lang="en-US" altLang="zh-CN" sz="2000" b="1" i="1">
                  <a:solidFill>
                    <a:srgbClr val="000000"/>
                  </a:solidFill>
                  <a:latin typeface="Times New Roman" panose="02020603050405020304" pitchFamily="18" charset="0"/>
                  <a:ea typeface="宋体" panose="02010600030101010101" pitchFamily="2" charset="-122"/>
                </a:rPr>
                <a:t> P</a:t>
              </a:r>
              <a:r>
                <a:rPr lang="en-US" altLang="zh-CN" sz="2000" b="1" baseline="-30000">
                  <a:solidFill>
                    <a:srgbClr val="000000"/>
                  </a:solidFill>
                  <a:latin typeface="Times New Roman" panose="02020603050405020304" pitchFamily="18" charset="0"/>
                  <a:ea typeface="宋体" panose="02010600030101010101" pitchFamily="2" charset="-122"/>
                </a:rPr>
                <a:t>3</a:t>
              </a:r>
              <a:r>
                <a:rPr lang="en-US" altLang="zh-CN" sz="2000" b="1">
                  <a:solidFill>
                    <a:srgbClr val="000000"/>
                  </a:solidFill>
                  <a:latin typeface="Times New Roman" panose="02020603050405020304" pitchFamily="18" charset="0"/>
                  <a:ea typeface="宋体" panose="02010600030101010101" pitchFamily="2" charset="-122"/>
                </a:rPr>
                <a:t> = </a:t>
              </a:r>
              <a:r>
                <a:rPr lang="en-US" altLang="zh-CN" sz="2000" b="1" i="1">
                  <a:solidFill>
                    <a:srgbClr val="000000"/>
                  </a:solidFill>
                  <a:latin typeface="Times New Roman" panose="02020603050405020304" pitchFamily="18" charset="0"/>
                  <a:ea typeface="宋体" panose="02010600030101010101" pitchFamily="2" charset="-122"/>
                </a:rPr>
                <a:t>Q</a:t>
              </a:r>
              <a:r>
                <a:rPr lang="en-US" altLang="zh-CN" sz="2000" b="1" baseline="-30000">
                  <a:solidFill>
                    <a:srgbClr val="000000"/>
                  </a:solidFill>
                  <a:latin typeface="Times New Roman" panose="02020603050405020304" pitchFamily="18" charset="0"/>
                  <a:ea typeface="宋体" panose="02010600030101010101" pitchFamily="2" charset="-122"/>
                </a:rPr>
                <a:t>2</a:t>
              </a:r>
              <a:r>
                <a:rPr lang="en-US" altLang="zh-CN" sz="2000" b="1">
                  <a:solidFill>
                    <a:srgbClr val="000000"/>
                  </a:solidFill>
                  <a:latin typeface="Times New Roman" panose="02020603050405020304" pitchFamily="18" charset="0"/>
                  <a:ea typeface="宋体" panose="02010600030101010101" pitchFamily="2" charset="-122"/>
                </a:rPr>
                <a:t> + </a:t>
              </a:r>
              <a:r>
                <a:rPr lang="en-US" altLang="zh-CN" sz="2000" b="1" i="1">
                  <a:solidFill>
                    <a:srgbClr val="000000"/>
                  </a:solidFill>
                  <a:latin typeface="Times New Roman" panose="02020603050405020304" pitchFamily="18" charset="0"/>
                  <a:ea typeface="宋体" panose="02010600030101010101" pitchFamily="2" charset="-122"/>
                </a:rPr>
                <a:t>Q</a:t>
              </a:r>
              <a:r>
                <a:rPr lang="en-US" altLang="zh-CN" sz="2000" b="1" baseline="-30000">
                  <a:solidFill>
                    <a:srgbClr val="000000"/>
                  </a:solidFill>
                  <a:latin typeface="Times New Roman" panose="02020603050405020304" pitchFamily="18" charset="0"/>
                  <a:ea typeface="宋体" panose="02010600030101010101" pitchFamily="2" charset="-122"/>
                </a:rPr>
                <a:t>4</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baseline="-30000">
                  <a:solidFill>
                    <a:srgbClr val="000000"/>
                  </a:solidFill>
                  <a:latin typeface="Times New Roman" panose="02020603050405020304" pitchFamily="18" charset="0"/>
                  <a:ea typeface="宋体" panose="02010600030101010101" pitchFamily="2" charset="-122"/>
                </a:rPr>
                <a:t>2</a:t>
              </a:r>
              <a:r>
                <a:rPr lang="en-US" altLang="zh-CN" sz="2000" b="1">
                  <a:solidFill>
                    <a:srgbClr val="000000"/>
                  </a:solidFill>
                  <a:latin typeface="Times New Roman" panose="02020603050405020304" pitchFamily="18" charset="0"/>
                  <a:ea typeface="宋体" panose="02010600030101010101" pitchFamily="2" charset="-122"/>
                </a:rPr>
                <a:t> +</a:t>
              </a:r>
              <a:r>
                <a:rPr lang="en-US" altLang="zh-CN" sz="2000" b="1" i="1">
                  <a:solidFill>
                    <a:srgbClr val="000000"/>
                  </a:solidFill>
                  <a:latin typeface="Times New Roman" panose="02020603050405020304" pitchFamily="18" charset="0"/>
                  <a:ea typeface="宋体" panose="02010600030101010101" pitchFamily="2" charset="-122"/>
                </a:rPr>
                <a:t> P</a:t>
              </a:r>
              <a:r>
                <a:rPr lang="en-US" altLang="zh-CN" sz="2000" b="1" baseline="-30000">
                  <a:solidFill>
                    <a:srgbClr val="000000"/>
                  </a:solidFill>
                  <a:latin typeface="Times New Roman" panose="02020603050405020304" pitchFamily="18" charset="0"/>
                  <a:ea typeface="宋体" panose="02010600030101010101" pitchFamily="2" charset="-122"/>
                </a:rPr>
                <a:t>4</a:t>
              </a:r>
              <a:r>
                <a:rPr lang="en-US" altLang="zh-CN" sz="2000" b="1">
                  <a:solidFill>
                    <a:srgbClr val="000000"/>
                  </a:solidFill>
                  <a:latin typeface="Times New Roman" panose="02020603050405020304" pitchFamily="18" charset="0"/>
                  <a:ea typeface="宋体" panose="02010600030101010101" pitchFamily="2" charset="-122"/>
                </a:rPr>
                <a:t> = </a:t>
              </a:r>
              <a:r>
                <a:rPr lang="en-US" altLang="zh-CN" sz="2000" b="1" i="1">
                  <a:solidFill>
                    <a:srgbClr val="000000"/>
                  </a:solidFill>
                  <a:latin typeface="Times New Roman" panose="02020603050405020304" pitchFamily="18" charset="0"/>
                  <a:ea typeface="宋体" panose="02010600030101010101" pitchFamily="2" charset="-122"/>
                </a:rPr>
                <a:t>Q</a:t>
              </a:r>
              <a:r>
                <a:rPr lang="en-US" altLang="zh-CN" sz="2000" b="1" baseline="-30000">
                  <a:solidFill>
                    <a:srgbClr val="000000"/>
                  </a:solidFill>
                  <a:latin typeface="Times New Roman" panose="02020603050405020304" pitchFamily="18" charset="0"/>
                  <a:ea typeface="宋体" panose="02010600030101010101" pitchFamily="2" charset="-122"/>
                </a:rPr>
                <a:t>1</a:t>
              </a:r>
              <a:r>
                <a:rPr lang="en-US" altLang="zh-CN" sz="2000" b="1">
                  <a:solidFill>
                    <a:srgbClr val="000000"/>
                  </a:solidFill>
                  <a:latin typeface="Times New Roman" panose="02020603050405020304" pitchFamily="18" charset="0"/>
                  <a:ea typeface="宋体" panose="02010600030101010101" pitchFamily="2" charset="-122"/>
                </a:rPr>
                <a:t> + </a:t>
              </a:r>
              <a:r>
                <a:rPr lang="en-US" altLang="zh-CN" sz="2000" b="1" i="1">
                  <a:solidFill>
                    <a:srgbClr val="000000"/>
                  </a:solidFill>
                  <a:latin typeface="Times New Roman" panose="02020603050405020304" pitchFamily="18" charset="0"/>
                  <a:ea typeface="宋体" panose="02010600030101010101" pitchFamily="2" charset="-122"/>
                </a:rPr>
                <a:t>Q</a:t>
              </a:r>
              <a:r>
                <a:rPr lang="en-US" altLang="zh-CN" sz="2000" b="1" baseline="-30000">
                  <a:solidFill>
                    <a:srgbClr val="000000"/>
                  </a:solidFill>
                  <a:latin typeface="Times New Roman" panose="02020603050405020304" pitchFamily="18" charset="0"/>
                  <a:ea typeface="宋体" panose="02010600030101010101" pitchFamily="2" charset="-122"/>
                </a:rPr>
                <a:t>3</a:t>
              </a:r>
              <a:r>
                <a:rPr lang="zh-CN" altLang="en-US" sz="2000" b="1">
                  <a:solidFill>
                    <a:srgbClr val="000000"/>
                  </a:solidFill>
                  <a:latin typeface="Times New Roman" panose="02020603050405020304" pitchFamily="18" charset="0"/>
                  <a:ea typeface="宋体" panose="02010600030101010101" pitchFamily="2" charset="-122"/>
                </a:rPr>
                <a:t>，故空间                            的维数为</a:t>
              </a:r>
              <a:r>
                <a:rPr lang="en-US" altLang="zh-CN" sz="2000" b="1">
                  <a:solidFill>
                    <a:srgbClr val="000000"/>
                  </a:solidFill>
                  <a:latin typeface="Times New Roman" panose="02020603050405020304" pitchFamily="18" charset="0"/>
                  <a:ea typeface="宋体" panose="02010600030101010101" pitchFamily="2" charset="-122"/>
                </a:rPr>
                <a:t>6</a:t>
              </a:r>
              <a:r>
                <a:rPr lang="zh-CN" altLang="en-US" sz="2000" b="1">
                  <a:solidFill>
                    <a:srgbClr val="000000"/>
                  </a:solidFill>
                  <a:latin typeface="Times New Roman" panose="02020603050405020304" pitchFamily="18" charset="0"/>
                  <a:ea typeface="宋体" panose="02010600030101010101" pitchFamily="2" charset="-122"/>
                </a:rPr>
                <a:t>，与上面的分析是一致的。</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100374" name="Object 23"/>
            <p:cNvGraphicFramePr>
              <a:graphicFrameLocks noChangeAspect="1"/>
            </p:cNvGraphicFramePr>
            <p:nvPr/>
          </p:nvGraphicFramePr>
          <p:xfrm>
            <a:off x="3923" y="2750"/>
            <a:ext cx="1089" cy="442"/>
          </p:xfrm>
          <a:graphic>
            <a:graphicData uri="http://schemas.openxmlformats.org/presentationml/2006/ole">
              <mc:AlternateContent xmlns:mc="http://schemas.openxmlformats.org/markup-compatibility/2006">
                <mc:Choice xmlns:v="urn:schemas-microsoft-com:vml" Requires="v">
                  <p:oleObj spid="_x0000_s3278" name="" r:id="rId15" imgW="1054100" imgH="431800" progId="Equation.DSMT4">
                    <p:embed/>
                  </p:oleObj>
                </mc:Choice>
                <mc:Fallback>
                  <p:oleObj name="" r:id="rId15" imgW="1054100" imgH="431800" progId="Equation.DSMT4">
                    <p:embed/>
                    <p:pic>
                      <p:nvPicPr>
                        <p:cNvPr id="0" name="图片 3277"/>
                        <p:cNvPicPr/>
                        <p:nvPr/>
                      </p:nvPicPr>
                      <p:blipFill>
                        <a:blip r:embed="rId16"/>
                        <a:stretch>
                          <a:fillRect/>
                        </a:stretch>
                      </p:blipFill>
                      <p:spPr>
                        <a:xfrm>
                          <a:off x="3923" y="2750"/>
                          <a:ext cx="1089" cy="442"/>
                        </a:xfrm>
                        <a:prstGeom prst="rect">
                          <a:avLst/>
                        </a:prstGeom>
                        <a:noFill/>
                        <a:ln w="38100">
                          <a:noFill/>
                          <a:miter/>
                        </a:ln>
                      </p:spPr>
                    </p:pic>
                  </p:oleObj>
                </mc:Fallback>
              </mc:AlternateContent>
            </a:graphicData>
          </a:graphic>
        </p:graphicFrame>
      </p:grpSp>
      <p:sp>
        <p:nvSpPr>
          <p:cNvPr id="216088" name="Rectangle 24"/>
          <p:cNvSpPr/>
          <p:nvPr/>
        </p:nvSpPr>
        <p:spPr>
          <a:xfrm>
            <a:off x="107950" y="5927725"/>
            <a:ext cx="8248650" cy="396875"/>
          </a:xfrm>
          <a:prstGeom prst="rect">
            <a:avLst/>
          </a:prstGeom>
          <a:noFill/>
          <a:ln w="9525">
            <a:noFill/>
          </a:ln>
        </p:spPr>
        <p:txBody>
          <a:bodyPr wrap="none" anchor="ctr">
            <a:spAutoFit/>
          </a:bodyPr>
          <a:p>
            <a:r>
              <a:rPr lang="zh-CN" altLang="en-US" sz="2000" b="1">
                <a:latin typeface="Times New Roman" panose="02020603050405020304" pitchFamily="18" charset="0"/>
                <a:ea typeface="宋体" panose="02010600030101010101" pitchFamily="2" charset="-122"/>
              </a:rPr>
              <a:t>读者可将上述讨论推广到</a:t>
            </a:r>
            <a:r>
              <a:rPr lang="en-US" altLang="zh-CN" sz="2000" b="1" i="1">
                <a:latin typeface="Times New Roman" panose="02020603050405020304" pitchFamily="18" charset="0"/>
                <a:ea typeface="宋体" panose="02010600030101010101" pitchFamily="2" charset="-122"/>
              </a:rPr>
              <a:t>n</a:t>
            </a:r>
            <a:r>
              <a:rPr lang="zh-CN" altLang="en-US" sz="2000" b="1">
                <a:latin typeface="Times New Roman" panose="02020603050405020304" pitchFamily="18" charset="0"/>
                <a:ea typeface="宋体" panose="02010600030101010101" pitchFamily="2" charset="-122"/>
              </a:rPr>
              <a:t>为一般偶数的情况，分析方法是完全类似的。</a:t>
            </a:r>
            <a:endParaRPr lang="zh-CN" altLang="en-US" sz="2000" b="1">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16066"/>
                                        </p:tgtEl>
                                        <p:attrNameLst>
                                          <p:attrName>style.visibility</p:attrName>
                                        </p:attrNameLst>
                                      </p:cBhvr>
                                      <p:to>
                                        <p:strVal val="visible"/>
                                      </p:to>
                                    </p:set>
                                    <p:anim calcmode="lin" valueType="num">
                                      <p:cBhvr>
                                        <p:cTn id="7" dur="500" fill="hold"/>
                                        <p:tgtEl>
                                          <p:spTgt spid="216066"/>
                                        </p:tgtEl>
                                        <p:attrNameLst>
                                          <p:attrName>ppt_x</p:attrName>
                                        </p:attrNameLst>
                                      </p:cBhvr>
                                      <p:tavLst>
                                        <p:tav tm="0">
                                          <p:val>
                                            <p:strVal val="0-#ppt_w/2"/>
                                          </p:val>
                                        </p:tav>
                                        <p:tav tm="100000">
                                          <p:val>
                                            <p:strVal val="#ppt_x"/>
                                          </p:val>
                                        </p:tav>
                                      </p:tavLst>
                                    </p:anim>
                                    <p:anim calcmode="lin" valueType="num">
                                      <p:cBhvr>
                                        <p:cTn id="8" dur="500" fill="hold"/>
                                        <p:tgtEl>
                                          <p:spTgt spid="2160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16068"/>
                                        </p:tgtEl>
                                        <p:attrNameLst>
                                          <p:attrName>style.visibility</p:attrName>
                                        </p:attrNameLst>
                                      </p:cBhvr>
                                      <p:to>
                                        <p:strVal val="visible"/>
                                      </p:to>
                                    </p:set>
                                    <p:anim calcmode="lin" valueType="num">
                                      <p:cBhvr>
                                        <p:cTn id="13" dur="500" fill="hold"/>
                                        <p:tgtEl>
                                          <p:spTgt spid="216068"/>
                                        </p:tgtEl>
                                        <p:attrNameLst>
                                          <p:attrName>ppt_x</p:attrName>
                                        </p:attrNameLst>
                                      </p:cBhvr>
                                      <p:tavLst>
                                        <p:tav tm="0">
                                          <p:val>
                                            <p:strVal val="0-#ppt_w/2"/>
                                          </p:val>
                                        </p:tav>
                                        <p:tav tm="100000">
                                          <p:val>
                                            <p:strVal val="#ppt_x"/>
                                          </p:val>
                                        </p:tav>
                                      </p:tavLst>
                                    </p:anim>
                                    <p:anim calcmode="lin" valueType="num">
                                      <p:cBhvr>
                                        <p:cTn id="14" dur="500" fill="hold"/>
                                        <p:tgtEl>
                                          <p:spTgt spid="21606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0-#ppt_w/2"/>
                                          </p:val>
                                        </p:tav>
                                        <p:tav tm="100000">
                                          <p:val>
                                            <p:strVal val="#ppt_x"/>
                                          </p:val>
                                        </p:tav>
                                      </p:tavLst>
                                    </p:anim>
                                    <p:anim calcmode="lin" valueType="num">
                                      <p:cBhvr>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6088"/>
                                        </p:tgtEl>
                                        <p:attrNameLst>
                                          <p:attrName>style.visibility</p:attrName>
                                        </p:attrNameLst>
                                      </p:cBhvr>
                                      <p:to>
                                        <p:strVal val="visible"/>
                                      </p:to>
                                    </p:set>
                                    <p:anim calcmode="lin" valueType="num">
                                      <p:cBhvr>
                                        <p:cTn id="25" dur="500" fill="hold"/>
                                        <p:tgtEl>
                                          <p:spTgt spid="216088"/>
                                        </p:tgtEl>
                                        <p:attrNameLst>
                                          <p:attrName>ppt_x</p:attrName>
                                        </p:attrNameLst>
                                      </p:cBhvr>
                                      <p:tavLst>
                                        <p:tav tm="0">
                                          <p:val>
                                            <p:strVal val="#ppt_x"/>
                                          </p:val>
                                        </p:tav>
                                        <p:tav tm="100000">
                                          <p:val>
                                            <p:strVal val="#ppt_x"/>
                                          </p:val>
                                        </p:tav>
                                      </p:tavLst>
                                    </p:anim>
                                    <p:anim calcmode="lin" valueType="num">
                                      <p:cBhvr>
                                        <p:cTn id="26" dur="500" fill="hold"/>
                                        <p:tgtEl>
                                          <p:spTgt spid="2160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6" grpId="0"/>
      <p:bldP spid="21608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3"/>
          <p:cNvGrpSpPr/>
          <p:nvPr/>
        </p:nvGrpSpPr>
        <p:grpSpPr>
          <a:xfrm>
            <a:off x="395288" y="1584325"/>
            <a:ext cx="8424862" cy="2835275"/>
            <a:chOff x="204" y="164"/>
            <a:chExt cx="5307" cy="1786"/>
          </a:xfrm>
        </p:grpSpPr>
        <p:sp>
          <p:nvSpPr>
            <p:cNvPr id="102403" name="Text Box 4"/>
            <p:cNvSpPr txBox="1"/>
            <p:nvPr/>
          </p:nvSpPr>
          <p:spPr>
            <a:xfrm>
              <a:off x="204" y="164"/>
              <a:ext cx="5307" cy="1786"/>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当</a:t>
              </a:r>
              <a:r>
                <a:rPr lang="en-US" altLang="zh-CN" sz="2000" b="1">
                  <a:solidFill>
                    <a:srgbClr val="000000"/>
                  </a:solidFill>
                  <a:latin typeface="Times New Roman" panose="02020603050405020304" pitchFamily="18" charset="0"/>
                  <a:ea typeface="宋体" panose="02010600030101010101" pitchFamily="2" charset="-122"/>
                </a:rPr>
                <a:t>n</a:t>
              </a:r>
              <a:r>
                <a:rPr lang="zh-CN" altLang="en-US" sz="2000" b="1">
                  <a:solidFill>
                    <a:srgbClr val="000000"/>
                  </a:solidFill>
                  <a:latin typeface="Times New Roman" panose="02020603050405020304" pitchFamily="18" charset="0"/>
                  <a:ea typeface="宋体" panose="02010600030101010101" pitchFamily="2" charset="-122"/>
                </a:rPr>
                <a:t>是偶数时，我们虽无法将一般的双随机矩阵分解为</a:t>
              </a:r>
              <a:r>
                <a:rPr lang="en-US" altLang="zh-CN" sz="2000" b="1" i="1">
                  <a:solidFill>
                    <a:srgbClr val="000000"/>
                  </a:solidFill>
                  <a:latin typeface="Times New Roman" panose="02020603050405020304" pitchFamily="18" charset="0"/>
                  <a:ea typeface="宋体" panose="02010600030101010101" pitchFamily="2" charset="-122"/>
                </a:rPr>
                <a:t>P</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en-US" altLang="zh-CN" sz="2000" b="1">
                  <a:solidFill>
                    <a:srgbClr val="000000"/>
                  </a:solidFill>
                  <a:latin typeface="Times New Roman" panose="02020603050405020304" pitchFamily="18" charset="0"/>
                  <a:ea typeface="宋体" panose="02010600030101010101" pitchFamily="2" charset="-122"/>
                </a:rPr>
                <a:t> </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Q</a:t>
              </a:r>
              <a:r>
                <a:rPr lang="en-US" altLang="zh-CN" sz="2000" b="1" i="1" baseline="-30000">
                  <a:solidFill>
                    <a:srgbClr val="000000"/>
                  </a:solidFill>
                  <a:latin typeface="Times New Roman" panose="02020603050405020304" pitchFamily="18" charset="0"/>
                  <a:ea typeface="宋体" panose="02010600030101010101" pitchFamily="2" charset="-122"/>
                </a:rPr>
                <a:t>k</a:t>
              </a:r>
              <a:r>
                <a:rPr lang="zh-CN" altLang="en-US" sz="2000" b="1">
                  <a:solidFill>
                    <a:srgbClr val="000000"/>
                  </a:solidFill>
                  <a:latin typeface="Times New Roman" panose="02020603050405020304" pitchFamily="18" charset="0"/>
                  <a:ea typeface="宋体" panose="02010600030101010101" pitchFamily="2" charset="-122"/>
                </a:rPr>
                <a:t>的非负组合，但上述讨论仍然是十分有意义的。首先，要求完成的任务矩阵是</a:t>
              </a:r>
              <a:r>
                <a:rPr lang="en-US" altLang="zh-CN" sz="2000" b="1">
                  <a:solidFill>
                    <a:srgbClr val="000000"/>
                  </a:solidFill>
                  <a:latin typeface="Times New Roman" panose="02020603050405020304" pitchFamily="18" charset="0"/>
                  <a:ea typeface="宋体" panose="02010600030101010101" pitchFamily="2" charset="-122"/>
                </a:rPr>
                <a:t>T</a:t>
              </a:r>
              <a:r>
                <a:rPr lang="zh-CN" altLang="en-US" sz="2000" b="1">
                  <a:solidFill>
                    <a:srgbClr val="000000"/>
                  </a:solidFill>
                  <a:latin typeface="Times New Roman" panose="02020603050405020304" pitchFamily="18" charset="0"/>
                  <a:ea typeface="宋体" panose="02010600030101010101" pitchFamily="2" charset="-122"/>
                </a:rPr>
                <a:t>，在将</a:t>
              </a:r>
              <a:r>
                <a:rPr lang="en-US" altLang="zh-CN" sz="2000" b="1">
                  <a:solidFill>
                    <a:srgbClr val="000000"/>
                  </a:solidFill>
                  <a:latin typeface="Times New Roman" panose="02020603050405020304" pitchFamily="18" charset="0"/>
                  <a:ea typeface="宋体" panose="02010600030101010101" pitchFamily="2" charset="-122"/>
                </a:rPr>
                <a:t>T</a:t>
              </a:r>
              <a:r>
                <a:rPr lang="zh-CN" altLang="en-US" sz="2000" b="1">
                  <a:solidFill>
                    <a:srgbClr val="000000"/>
                  </a:solidFill>
                  <a:latin typeface="Times New Roman" panose="02020603050405020304" pitchFamily="18" charset="0"/>
                  <a:ea typeface="宋体" panose="02010600030101010101" pitchFamily="2" charset="-122"/>
                </a:rPr>
                <a:t>转换成不小于它的双随机矩阵时我们可尽量使其具有上述的特殊结构（有兴趣的读者可自行研究这一问题），只要能做到这一点，即可给出一个达到下界的开关模式的指派方式。其次，即使这样的努力没有成功，也容易给出一个具有上述特殊结构 矩阵，</a:t>
              </a:r>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并使                        尽可能地小，即给出一种开关指派的近似最佳方</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zh-CN" altLang="en-US" sz="2000" b="1">
                  <a:solidFill>
                    <a:srgbClr val="000000"/>
                  </a:solidFill>
                  <a:latin typeface="Times New Roman" panose="02020603050405020304" pitchFamily="18" charset="0"/>
                  <a:ea typeface="宋体" panose="02010600030101010101" pitchFamily="2" charset="-122"/>
                </a:rPr>
                <a:t>法，由此可设计出效果较好的近似算法。</a:t>
              </a:r>
              <a:endParaRPr lang="zh-CN" altLang="en-US" sz="2000" b="1">
                <a:solidFill>
                  <a:srgbClr val="000000"/>
                </a:solidFill>
                <a:latin typeface="Times New Roman" panose="02020603050405020304" pitchFamily="18" charset="0"/>
                <a:ea typeface="宋体" panose="02010600030101010101" pitchFamily="2" charset="-122"/>
              </a:endParaRPr>
            </a:p>
          </p:txBody>
        </p:sp>
        <p:graphicFrame>
          <p:nvGraphicFramePr>
            <p:cNvPr id="102404" name="Object 5"/>
            <p:cNvGraphicFramePr>
              <a:graphicFrameLocks noChangeAspect="1"/>
            </p:cNvGraphicFramePr>
            <p:nvPr/>
          </p:nvGraphicFramePr>
          <p:xfrm>
            <a:off x="657" y="1278"/>
            <a:ext cx="862" cy="428"/>
          </p:xfrm>
          <a:graphic>
            <a:graphicData uri="http://schemas.openxmlformats.org/presentationml/2006/ole">
              <mc:AlternateContent xmlns:mc="http://schemas.openxmlformats.org/markup-compatibility/2006">
                <mc:Choice xmlns:v="urn:schemas-microsoft-com:vml" Requires="v">
                  <p:oleObj spid="_x0000_s3274" name="" r:id="rId1" imgW="774065" imgH="431800" progId="Equation.DSMT4">
                    <p:embed/>
                  </p:oleObj>
                </mc:Choice>
                <mc:Fallback>
                  <p:oleObj name="" r:id="rId1" imgW="774065" imgH="431800" progId="Equation.DSMT4">
                    <p:embed/>
                    <p:pic>
                      <p:nvPicPr>
                        <p:cNvPr id="0" name="图片 3273"/>
                        <p:cNvPicPr/>
                        <p:nvPr/>
                      </p:nvPicPr>
                      <p:blipFill>
                        <a:blip r:embed="rId2"/>
                        <a:stretch>
                          <a:fillRect/>
                        </a:stretch>
                      </p:blipFill>
                      <p:spPr>
                        <a:xfrm>
                          <a:off x="657" y="1278"/>
                          <a:ext cx="862" cy="428"/>
                        </a:xfrm>
                        <a:prstGeom prst="rect">
                          <a:avLst/>
                        </a:prstGeom>
                        <a:noFill/>
                        <a:ln w="38100">
                          <a:noFill/>
                          <a:miter/>
                        </a:ln>
                      </p:spPr>
                    </p:pic>
                  </p:oleObj>
                </mc:Fallback>
              </mc:AlternateContent>
            </a:graphicData>
          </a:graphic>
        </p:graphicFrame>
      </p:grpSp>
      <p:sp>
        <p:nvSpPr>
          <p:cNvPr id="218118" name="Text Box 6"/>
          <p:cNvSpPr txBox="1"/>
          <p:nvPr/>
        </p:nvSpPr>
        <p:spPr>
          <a:xfrm>
            <a:off x="323850" y="4724400"/>
            <a:ext cx="8496300" cy="1006475"/>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由于技术水平的提高，目前通讯卫星传送信息已允许一个发射站同时向多个接收站发送信息，当然，同时发送的信息条数具有某一上限，例如上限为</a:t>
            </a:r>
            <a:r>
              <a:rPr lang="en-US" altLang="zh-CN" sz="2000" b="1" i="1">
                <a:solidFill>
                  <a:srgbClr val="000000"/>
                </a:solidFill>
                <a:latin typeface="Times New Roman" panose="02020603050405020304" pitchFamily="18" charset="0"/>
                <a:ea typeface="宋体" panose="02010600030101010101" pitchFamily="2" charset="-122"/>
              </a:rPr>
              <a:t>v</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1987</a:t>
            </a:r>
            <a:r>
              <a:rPr lang="zh-CN" altLang="en-US" sz="2000" b="1">
                <a:solidFill>
                  <a:srgbClr val="000000"/>
                </a:solidFill>
                <a:latin typeface="Times New Roman" panose="02020603050405020304" pitchFamily="18" charset="0"/>
                <a:ea typeface="宋体" panose="02010600030101010101" pitchFamily="2" charset="-122"/>
              </a:rPr>
              <a:t>年，</a:t>
            </a:r>
            <a:r>
              <a:rPr lang="en-US" altLang="zh-CN" sz="2000" b="1">
                <a:solidFill>
                  <a:srgbClr val="000000"/>
                </a:solidFill>
                <a:latin typeface="Times New Roman" panose="02020603050405020304" pitchFamily="18" charset="0"/>
                <a:ea typeface="宋体" panose="02010600030101010101" pitchFamily="2" charset="-122"/>
              </a:rPr>
              <a:t>J.L.Lewandowski</a:t>
            </a:r>
            <a:r>
              <a:rPr lang="zh-CN" altLang="en-US" sz="2000" b="1">
                <a:solidFill>
                  <a:srgbClr val="000000"/>
                </a:solidFill>
                <a:latin typeface="Times New Roman" panose="02020603050405020304" pitchFamily="18" charset="0"/>
                <a:ea typeface="宋体" panose="02010600030101010101" pitchFamily="2" charset="-122"/>
              </a:rPr>
              <a:t>和</a:t>
            </a:r>
            <a:r>
              <a:rPr lang="en-US" altLang="zh-CN" sz="2000" b="1">
                <a:solidFill>
                  <a:srgbClr val="000000"/>
                </a:solidFill>
                <a:latin typeface="Times New Roman" panose="02020603050405020304" pitchFamily="18" charset="0"/>
                <a:ea typeface="宋体" panose="02010600030101010101" pitchFamily="2" charset="-122"/>
              </a:rPr>
              <a:t>C.L.Liu</a:t>
            </a:r>
            <a:r>
              <a:rPr lang="zh-CN" altLang="en-US" sz="2000" b="1">
                <a:solidFill>
                  <a:srgbClr val="000000"/>
                </a:solidFill>
                <a:latin typeface="Times New Roman" panose="02020603050405020304" pitchFamily="18" charset="0"/>
                <a:ea typeface="宋体" panose="02010600030101010101" pitchFamily="2" charset="-122"/>
              </a:rPr>
              <a:t>研究了如下更一般的问题： </a:t>
            </a:r>
            <a:endParaRPr lang="zh-CN" altLang="en-US" sz="2000" b="1">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8118"/>
                                        </p:tgtEl>
                                        <p:attrNameLst>
                                          <p:attrName>style.visibility</p:attrName>
                                        </p:attrNameLst>
                                      </p:cBhvr>
                                      <p:to>
                                        <p:strVal val="visible"/>
                                      </p:to>
                                    </p:set>
                                    <p:anim calcmode="lin" valueType="num">
                                      <p:cBhvr>
                                        <p:cTn id="13" dur="500" fill="hold"/>
                                        <p:tgtEl>
                                          <p:spTgt spid="218118"/>
                                        </p:tgtEl>
                                        <p:attrNameLst>
                                          <p:attrName>ppt_x</p:attrName>
                                        </p:attrNameLst>
                                      </p:cBhvr>
                                      <p:tavLst>
                                        <p:tav tm="0">
                                          <p:val>
                                            <p:strVal val="0-#ppt_w/2"/>
                                          </p:val>
                                        </p:tav>
                                        <p:tav tm="100000">
                                          <p:val>
                                            <p:strVal val="#ppt_x"/>
                                          </p:val>
                                        </p:tav>
                                      </p:tavLst>
                                    </p:anim>
                                    <p:anim calcmode="lin" valueType="num">
                                      <p:cBhvr>
                                        <p:cTn id="14" dur="500" fill="hold"/>
                                        <p:tgtEl>
                                          <p:spTgt spid="2181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p:nvPr/>
        </p:nvSpPr>
        <p:spPr>
          <a:xfrm>
            <a:off x="0" y="33289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4450" name="Rectangle 3"/>
          <p:cNvSpPr/>
          <p:nvPr/>
        </p:nvSpPr>
        <p:spPr>
          <a:xfrm>
            <a:off x="0" y="33289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4451" name="Rectangle 4"/>
          <p:cNvSpPr/>
          <p:nvPr/>
        </p:nvSpPr>
        <p:spPr>
          <a:xfrm>
            <a:off x="0" y="320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4452" name="Rectangle 5"/>
          <p:cNvSpPr/>
          <p:nvPr/>
        </p:nvSpPr>
        <p:spPr>
          <a:xfrm>
            <a:off x="0" y="320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pSp>
        <p:nvGrpSpPr>
          <p:cNvPr id="2" name="Group 6"/>
          <p:cNvGrpSpPr/>
          <p:nvPr/>
        </p:nvGrpSpPr>
        <p:grpSpPr>
          <a:xfrm>
            <a:off x="468313" y="1447800"/>
            <a:ext cx="8085137" cy="2530475"/>
            <a:chOff x="282" y="299"/>
            <a:chExt cx="5093" cy="1594"/>
          </a:xfrm>
        </p:grpSpPr>
        <p:sp>
          <p:nvSpPr>
            <p:cNvPr id="104454" name="Text Box 7"/>
            <p:cNvSpPr txBox="1"/>
            <p:nvPr/>
          </p:nvSpPr>
          <p:spPr>
            <a:xfrm>
              <a:off x="282" y="299"/>
              <a:ext cx="5093" cy="1594"/>
            </a:xfrm>
            <a:prstGeom prst="rect">
              <a:avLst/>
            </a:prstGeom>
            <a:noFill/>
            <a:ln w="9525">
              <a:noFill/>
            </a:ln>
          </p:spPr>
          <p:txBody>
            <a:bodyPr anchor="t">
              <a:spAutoFit/>
            </a:bodyPr>
            <a:p>
              <a:r>
                <a:rPr lang="zh-CN" altLang="en-US" sz="2000" b="1">
                  <a:solidFill>
                    <a:srgbClr val="000000"/>
                  </a:solidFill>
                  <a:latin typeface="Times New Roman" panose="02020603050405020304" pitchFamily="18" charset="0"/>
                  <a:ea typeface="宋体" panose="02010600030101010101" pitchFamily="2" charset="-122"/>
                </a:rPr>
                <a:t>给定一正整数</a:t>
              </a:r>
              <a:r>
                <a:rPr lang="en-US" altLang="zh-CN" sz="2000" b="1" i="1">
                  <a:solidFill>
                    <a:srgbClr val="000000"/>
                  </a:solidFill>
                  <a:latin typeface="Times New Roman" panose="02020603050405020304" pitchFamily="18" charset="0"/>
                  <a:ea typeface="宋体" panose="02010600030101010101" pitchFamily="2" charset="-122"/>
                </a:rPr>
                <a:t>v</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i="1">
                  <a:solidFill>
                    <a:srgbClr val="000000"/>
                  </a:solidFill>
                  <a:latin typeface="Times New Roman" panose="02020603050405020304" pitchFamily="18" charset="0"/>
                  <a:ea typeface="宋体" panose="02010600030101010101" pitchFamily="2" charset="-122"/>
                </a:rPr>
                <a:t>v</a:t>
              </a:r>
              <a:r>
                <a:rPr lang="zh-CN" altLang="en-US" sz="2000" b="1">
                  <a:solidFill>
                    <a:srgbClr val="000000"/>
                  </a:solidFill>
                  <a:latin typeface="Times New Roman" panose="02020603050405020304" pitchFamily="18" charset="0"/>
                  <a:ea typeface="宋体" panose="02010600030101010101" pitchFamily="2" charset="-122"/>
                </a:rPr>
                <a:t>为通讯卫星传送容量的总限止），求开关模式</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en-US" altLang="zh-CN" sz="2000" b="1">
                  <a:solidFill>
                    <a:srgbClr val="000000"/>
                  </a:solidFill>
                  <a:latin typeface="Times New Roman" panose="02020603050405020304" pitchFamily="18" charset="0"/>
                  <a:ea typeface="宋体" panose="02010600030101010101" pitchFamily="2" charset="-122"/>
                </a:rPr>
                <a:t>M</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                   </a:t>
              </a:r>
              <a:r>
                <a:rPr lang="zh-CN" altLang="en-US" sz="2000" b="1">
                  <a:solidFill>
                    <a:srgbClr val="000000"/>
                  </a:solidFill>
                  <a:latin typeface="Times New Roman" panose="02020603050405020304" pitchFamily="18" charset="0"/>
                  <a:ea typeface="宋体" panose="02010600030101010101" pitchFamily="2" charset="-122"/>
                </a:rPr>
                <a:t>：</a:t>
              </a:r>
              <a:r>
                <a:rPr lang="en-US" altLang="zh-CN" sz="2000" b="1">
                  <a:solidFill>
                    <a:srgbClr val="000000"/>
                  </a:solidFill>
                  <a:latin typeface="Times New Roman" panose="02020603050405020304" pitchFamily="18" charset="0"/>
                  <a:ea typeface="宋体" panose="02010600030101010101" pitchFamily="2" charset="-122"/>
                </a:rPr>
                <a:t>={                                   ; (0, 1) |                     , </a:t>
              </a:r>
              <a:r>
                <a:rPr lang="en-US" altLang="zh-CN" sz="2000" b="1" i="1">
                  <a:solidFill>
                    <a:srgbClr val="000000"/>
                  </a:solidFill>
                  <a:latin typeface="Times New Roman" panose="02020603050405020304" pitchFamily="18" charset="0"/>
                  <a:ea typeface="宋体" panose="02010600030101010101" pitchFamily="2" charset="-122"/>
                </a:rPr>
                <a:t>i</a:t>
              </a:r>
              <a:r>
                <a:rPr lang="en-US" altLang="zh-CN" sz="2000" b="1">
                  <a:solidFill>
                    <a:srgbClr val="000000"/>
                  </a:solidFill>
                  <a:latin typeface="Times New Roman" panose="02020603050405020304" pitchFamily="18" charset="0"/>
                  <a:ea typeface="宋体" panose="02010600030101010101" pitchFamily="2" charset="-122"/>
                </a:rPr>
                <a:t>= 1, …, </a:t>
              </a:r>
              <a:endParaRPr lang="en-US" altLang="zh-CN" sz="2000" b="1">
                <a:solidFill>
                  <a:srgbClr val="000000"/>
                </a:solidFill>
                <a:latin typeface="Times New Roman" panose="02020603050405020304" pitchFamily="18" charset="0"/>
                <a:ea typeface="宋体" panose="02010600030101010101" pitchFamily="2" charset="-122"/>
              </a:endParaRPr>
            </a:p>
            <a:p>
              <a:endParaRPr lang="en-US" altLang="zh-CN" sz="2000" b="1">
                <a:solidFill>
                  <a:srgbClr val="000000"/>
                </a:solidFill>
                <a:latin typeface="Times New Roman" panose="02020603050405020304" pitchFamily="18" charset="0"/>
                <a:ea typeface="宋体" panose="02010600030101010101" pitchFamily="2" charset="-122"/>
              </a:endParaRPr>
            </a:p>
            <a:p>
              <a:r>
                <a:rPr lang="en-US" altLang="zh-CN" sz="2000" b="1" i="1">
                  <a:solidFill>
                    <a:srgbClr val="000000"/>
                  </a:solidFill>
                  <a:latin typeface="Times New Roman" panose="02020603050405020304" pitchFamily="18" charset="0"/>
                  <a:ea typeface="宋体" panose="02010600030101010101" pitchFamily="2" charset="-122"/>
                </a:rPr>
                <a:t>m</a:t>
              </a:r>
              <a:r>
                <a:rPr lang="en-US" altLang="zh-CN" sz="2000" b="1">
                  <a:solidFill>
                    <a:srgbClr val="000000"/>
                  </a:solidFill>
                  <a:latin typeface="Times New Roman" panose="02020603050405020304" pitchFamily="18" charset="0"/>
                  <a:ea typeface="宋体" panose="02010600030101010101" pitchFamily="2" charset="-122"/>
                </a:rPr>
                <a:t>; ,</a:t>
              </a:r>
              <a:r>
                <a:rPr lang="en-US" altLang="zh-CN" sz="2000" b="1" i="1">
                  <a:solidFill>
                    <a:srgbClr val="000000"/>
                  </a:solidFill>
                  <a:latin typeface="Times New Roman" panose="02020603050405020304" pitchFamily="18" charset="0"/>
                  <a:ea typeface="宋体" panose="02010600030101010101" pitchFamily="2" charset="-122"/>
                </a:rPr>
                <a:t>i</a:t>
              </a:r>
              <a:r>
                <a:rPr lang="en-US" altLang="zh-CN" sz="2000" b="1">
                  <a:solidFill>
                    <a:srgbClr val="000000"/>
                  </a:solidFill>
                  <a:latin typeface="Times New Roman" panose="02020603050405020304" pitchFamily="18" charset="0"/>
                  <a:ea typeface="宋体" panose="02010600030101010101" pitchFamily="2" charset="-122"/>
                </a:rPr>
                <a:t>= 1, …, </a:t>
              </a:r>
              <a:r>
                <a:rPr lang="en-US" altLang="zh-CN" sz="2000" b="1" i="1">
                  <a:solidFill>
                    <a:srgbClr val="000000"/>
                  </a:solidFill>
                  <a:latin typeface="Times New Roman" panose="02020603050405020304" pitchFamily="18" charset="0"/>
                  <a:ea typeface="宋体" panose="02010600030101010101" pitchFamily="2" charset="-122"/>
                </a:rPr>
                <a:t>n</a:t>
              </a:r>
              <a:r>
                <a:rPr lang="en-US" altLang="zh-CN" sz="2000" b="1">
                  <a:solidFill>
                    <a:srgbClr val="000000"/>
                  </a:solidFill>
                  <a:latin typeface="Times New Roman" panose="02020603050405020304" pitchFamily="18" charset="0"/>
                  <a:ea typeface="宋体" panose="02010600030101010101" pitchFamily="2" charset="-122"/>
                </a:rPr>
                <a:t>,                                }</a:t>
              </a:r>
              <a:r>
                <a:rPr lang="zh-CN" altLang="en-US" sz="2000" b="1">
                  <a:solidFill>
                    <a:srgbClr val="000000"/>
                  </a:solidFill>
                  <a:latin typeface="Times New Roman" panose="02020603050405020304" pitchFamily="18" charset="0"/>
                  <a:ea typeface="宋体" panose="02010600030101010101" pitchFamily="2" charset="-122"/>
                </a:rPr>
                <a:t>的设计，要求所用的开关模式总数量</a:t>
              </a:r>
              <a:endParaRPr lang="zh-CN" altLang="en-US" sz="2000" b="1">
                <a:solidFill>
                  <a:srgbClr val="000000"/>
                </a:solidFill>
                <a:latin typeface="Times New Roman" panose="02020603050405020304" pitchFamily="18" charset="0"/>
                <a:ea typeface="宋体" panose="02010600030101010101" pitchFamily="2" charset="-122"/>
              </a:endParaRPr>
            </a:p>
            <a:p>
              <a:endParaRPr lang="zh-CN" altLang="en-US" sz="2000" b="1">
                <a:solidFill>
                  <a:srgbClr val="000000"/>
                </a:solidFill>
                <a:latin typeface="Times New Roman" panose="02020603050405020304" pitchFamily="18" charset="0"/>
                <a:ea typeface="宋体" panose="02010600030101010101" pitchFamily="2" charset="-122"/>
              </a:endParaRPr>
            </a:p>
            <a:p>
              <a:r>
                <a:rPr lang="en-US" altLang="zh-CN" sz="2000" b="1" i="1">
                  <a:solidFill>
                    <a:srgbClr val="000000"/>
                  </a:solidFill>
                  <a:latin typeface="Times New Roman" panose="02020603050405020304" pitchFamily="18" charset="0"/>
                  <a:ea typeface="宋体" panose="02010600030101010101" pitchFamily="2" charset="-122"/>
                </a:rPr>
                <a:t>r</a:t>
              </a:r>
              <a:r>
                <a:rPr lang="zh-CN" altLang="en-US" sz="2000" b="1">
                  <a:solidFill>
                    <a:srgbClr val="000000"/>
                  </a:solidFill>
                  <a:latin typeface="Times New Roman" panose="02020603050405020304" pitchFamily="18" charset="0"/>
                  <a:ea typeface="宋体" panose="02010600030101010101" pitchFamily="2" charset="-122"/>
                </a:rPr>
                <a:t>尽可能小，且</a:t>
              </a:r>
              <a:endParaRPr lang="zh-CN" altLang="en-US" sz="2000" b="1">
                <a:solidFill>
                  <a:srgbClr val="000000"/>
                </a:solidFill>
                <a:latin typeface="Times New Roman" panose="02020603050405020304" pitchFamily="18" charset="0"/>
                <a:ea typeface="宋体" panose="02010600030101010101" pitchFamily="2" charset="-122"/>
              </a:endParaRPr>
            </a:p>
            <a:p>
              <a:endParaRPr lang="en-US" altLang="zh-CN" sz="2000" b="1">
                <a:solidFill>
                  <a:srgbClr val="000000"/>
                </a:solidFill>
                <a:latin typeface="Times New Roman" panose="02020603050405020304" pitchFamily="18" charset="0"/>
                <a:ea typeface="宋体" panose="02010600030101010101" pitchFamily="2" charset="-122"/>
              </a:endParaRPr>
            </a:p>
          </p:txBody>
        </p:sp>
        <p:graphicFrame>
          <p:nvGraphicFramePr>
            <p:cNvPr id="104455" name="Object 8"/>
            <p:cNvGraphicFramePr>
              <a:graphicFrameLocks noChangeAspect="1"/>
            </p:cNvGraphicFramePr>
            <p:nvPr/>
          </p:nvGraphicFramePr>
          <p:xfrm>
            <a:off x="793" y="711"/>
            <a:ext cx="726" cy="224"/>
          </p:xfrm>
          <a:graphic>
            <a:graphicData uri="http://schemas.openxmlformats.org/presentationml/2006/ole">
              <mc:AlternateContent xmlns:mc="http://schemas.openxmlformats.org/markup-compatibility/2006">
                <mc:Choice xmlns:v="urn:schemas-microsoft-com:vml" Requires="v">
                  <p:oleObj spid="_x0000_s3282" name="" r:id="rId1" imgW="647700" imgH="203200" progId="Equation.DSMT4">
                    <p:embed/>
                  </p:oleObj>
                </mc:Choice>
                <mc:Fallback>
                  <p:oleObj name="" r:id="rId1" imgW="647700" imgH="203200" progId="Equation.DSMT4">
                    <p:embed/>
                    <p:pic>
                      <p:nvPicPr>
                        <p:cNvPr id="0" name="图片 3281"/>
                        <p:cNvPicPr/>
                        <p:nvPr/>
                      </p:nvPicPr>
                      <p:blipFill>
                        <a:blip r:embed="rId2"/>
                        <a:stretch>
                          <a:fillRect/>
                        </a:stretch>
                      </p:blipFill>
                      <p:spPr>
                        <a:xfrm>
                          <a:off x="793" y="711"/>
                          <a:ext cx="726" cy="224"/>
                        </a:xfrm>
                        <a:prstGeom prst="rect">
                          <a:avLst/>
                        </a:prstGeom>
                        <a:noFill/>
                        <a:ln w="38100">
                          <a:noFill/>
                          <a:miter/>
                        </a:ln>
                      </p:spPr>
                    </p:pic>
                  </p:oleObj>
                </mc:Fallback>
              </mc:AlternateContent>
            </a:graphicData>
          </a:graphic>
        </p:graphicFrame>
        <p:graphicFrame>
          <p:nvGraphicFramePr>
            <p:cNvPr id="104456" name="Object 9"/>
            <p:cNvGraphicFramePr>
              <a:graphicFrameLocks noChangeAspect="1"/>
            </p:cNvGraphicFramePr>
            <p:nvPr/>
          </p:nvGraphicFramePr>
          <p:xfrm>
            <a:off x="1837" y="709"/>
            <a:ext cx="1361" cy="240"/>
          </p:xfrm>
          <a:graphic>
            <a:graphicData uri="http://schemas.openxmlformats.org/presentationml/2006/ole">
              <mc:AlternateContent xmlns:mc="http://schemas.openxmlformats.org/markup-compatibility/2006">
                <mc:Choice xmlns:v="urn:schemas-microsoft-com:vml" Requires="v">
                  <p:oleObj spid="_x0000_s3283" name="" r:id="rId3" imgW="1129665" imgH="203200" progId="Equation.DSMT4">
                    <p:embed/>
                  </p:oleObj>
                </mc:Choice>
                <mc:Fallback>
                  <p:oleObj name="" r:id="rId3" imgW="1129665" imgH="203200" progId="Equation.DSMT4">
                    <p:embed/>
                    <p:pic>
                      <p:nvPicPr>
                        <p:cNvPr id="0" name="图片 3282"/>
                        <p:cNvPicPr/>
                        <p:nvPr/>
                      </p:nvPicPr>
                      <p:blipFill>
                        <a:blip r:embed="rId4"/>
                        <a:stretch>
                          <a:fillRect/>
                        </a:stretch>
                      </p:blipFill>
                      <p:spPr>
                        <a:xfrm>
                          <a:off x="1837" y="709"/>
                          <a:ext cx="1361" cy="240"/>
                        </a:xfrm>
                        <a:prstGeom prst="rect">
                          <a:avLst/>
                        </a:prstGeom>
                        <a:noFill/>
                        <a:ln w="38100">
                          <a:noFill/>
                          <a:miter/>
                        </a:ln>
                      </p:spPr>
                    </p:pic>
                  </p:oleObj>
                </mc:Fallback>
              </mc:AlternateContent>
            </a:graphicData>
          </a:graphic>
        </p:graphicFrame>
        <p:graphicFrame>
          <p:nvGraphicFramePr>
            <p:cNvPr id="104457" name="Object 10"/>
            <p:cNvGraphicFramePr>
              <a:graphicFrameLocks noChangeAspect="1"/>
            </p:cNvGraphicFramePr>
            <p:nvPr/>
          </p:nvGraphicFramePr>
          <p:xfrm>
            <a:off x="3743" y="618"/>
            <a:ext cx="725" cy="448"/>
          </p:xfrm>
          <a:graphic>
            <a:graphicData uri="http://schemas.openxmlformats.org/presentationml/2006/ole">
              <mc:AlternateContent xmlns:mc="http://schemas.openxmlformats.org/markup-compatibility/2006">
                <mc:Choice xmlns:v="urn:schemas-microsoft-com:vml" Requires="v">
                  <p:oleObj spid="_x0000_s3279" name="" r:id="rId5" imgW="723900" imgH="444500" progId="Equation.DSMT4">
                    <p:embed/>
                  </p:oleObj>
                </mc:Choice>
                <mc:Fallback>
                  <p:oleObj name="" r:id="rId5" imgW="723900" imgH="444500" progId="Equation.DSMT4">
                    <p:embed/>
                    <p:pic>
                      <p:nvPicPr>
                        <p:cNvPr id="0" name="图片 3278"/>
                        <p:cNvPicPr/>
                        <p:nvPr/>
                      </p:nvPicPr>
                      <p:blipFill>
                        <a:blip r:embed="rId6"/>
                        <a:stretch>
                          <a:fillRect/>
                        </a:stretch>
                      </p:blipFill>
                      <p:spPr>
                        <a:xfrm>
                          <a:off x="3743" y="618"/>
                          <a:ext cx="725" cy="448"/>
                        </a:xfrm>
                        <a:prstGeom prst="rect">
                          <a:avLst/>
                        </a:prstGeom>
                        <a:noFill/>
                        <a:ln w="38100">
                          <a:noFill/>
                          <a:miter/>
                        </a:ln>
                      </p:spPr>
                    </p:pic>
                  </p:oleObj>
                </mc:Fallback>
              </mc:AlternateContent>
            </a:graphicData>
          </a:graphic>
        </p:graphicFrame>
        <p:graphicFrame>
          <p:nvGraphicFramePr>
            <p:cNvPr id="104458" name="Object 11"/>
            <p:cNvGraphicFramePr>
              <a:graphicFrameLocks noChangeAspect="1"/>
            </p:cNvGraphicFramePr>
            <p:nvPr/>
          </p:nvGraphicFramePr>
          <p:xfrm>
            <a:off x="1383" y="981"/>
            <a:ext cx="1134" cy="471"/>
          </p:xfrm>
          <a:graphic>
            <a:graphicData uri="http://schemas.openxmlformats.org/presentationml/2006/ole">
              <mc:AlternateContent xmlns:mc="http://schemas.openxmlformats.org/markup-compatibility/2006">
                <mc:Choice xmlns:v="urn:schemas-microsoft-com:vml" Requires="v">
                  <p:oleObj spid="_x0000_s3280" name="" r:id="rId7" imgW="1078865" imgH="444500" progId="Equation.DSMT4">
                    <p:embed/>
                  </p:oleObj>
                </mc:Choice>
                <mc:Fallback>
                  <p:oleObj name="" r:id="rId7" imgW="1078865" imgH="444500" progId="Equation.DSMT4">
                    <p:embed/>
                    <p:pic>
                      <p:nvPicPr>
                        <p:cNvPr id="0" name="图片 3279"/>
                        <p:cNvPicPr/>
                        <p:nvPr/>
                      </p:nvPicPr>
                      <p:blipFill>
                        <a:blip r:embed="rId8"/>
                        <a:stretch>
                          <a:fillRect/>
                        </a:stretch>
                      </p:blipFill>
                      <p:spPr>
                        <a:xfrm>
                          <a:off x="1383" y="981"/>
                          <a:ext cx="1134" cy="471"/>
                        </a:xfrm>
                        <a:prstGeom prst="rect">
                          <a:avLst/>
                        </a:prstGeom>
                        <a:noFill/>
                        <a:ln w="38100">
                          <a:noFill/>
                          <a:miter/>
                        </a:ln>
                      </p:spPr>
                    </p:pic>
                  </p:oleObj>
                </mc:Fallback>
              </mc:AlternateContent>
            </a:graphicData>
          </a:graphic>
        </p:graphicFrame>
      </p:grpSp>
      <p:sp>
        <p:nvSpPr>
          <p:cNvPr id="104459" name="Rectangle 12"/>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20173" name="Object 13"/>
          <p:cNvGraphicFramePr>
            <a:graphicFrameLocks noChangeAspect="1"/>
          </p:cNvGraphicFramePr>
          <p:nvPr/>
        </p:nvGraphicFramePr>
        <p:xfrm>
          <a:off x="3216275" y="3810000"/>
          <a:ext cx="1584325" cy="838200"/>
        </p:xfrm>
        <a:graphic>
          <a:graphicData uri="http://schemas.openxmlformats.org/presentationml/2006/ole">
            <mc:AlternateContent xmlns:mc="http://schemas.openxmlformats.org/markup-compatibility/2006">
              <mc:Choice xmlns:v="urn:schemas-microsoft-com:vml" Requires="v">
                <p:oleObj spid="_x0000_s3281" name="" r:id="rId9" imgW="812165" imgH="431800" progId="Equation.DSMT4">
                  <p:embed/>
                </p:oleObj>
              </mc:Choice>
              <mc:Fallback>
                <p:oleObj name="" r:id="rId9" imgW="812165" imgH="431800" progId="Equation.DSMT4">
                  <p:embed/>
                  <p:pic>
                    <p:nvPicPr>
                      <p:cNvPr id="0" name="图片 3280"/>
                      <p:cNvPicPr/>
                      <p:nvPr/>
                    </p:nvPicPr>
                    <p:blipFill>
                      <a:blip r:embed="rId10"/>
                      <a:stretch>
                        <a:fillRect/>
                      </a:stretch>
                    </p:blipFill>
                    <p:spPr>
                      <a:xfrm>
                        <a:off x="3216275" y="3810000"/>
                        <a:ext cx="1584325" cy="838200"/>
                      </a:xfrm>
                      <a:prstGeom prst="rect">
                        <a:avLst/>
                      </a:prstGeom>
                      <a:noFill/>
                      <a:ln w="38100">
                        <a:noFill/>
                        <a:miter/>
                      </a:ln>
                    </p:spPr>
                  </p:pic>
                </p:oleObj>
              </mc:Fallback>
            </mc:AlternateContent>
          </a:graphicData>
        </a:graphic>
      </p:graphicFrame>
      <p:sp>
        <p:nvSpPr>
          <p:cNvPr id="220174" name="Rectangle 14"/>
          <p:cNvSpPr/>
          <p:nvPr/>
        </p:nvSpPr>
        <p:spPr>
          <a:xfrm>
            <a:off x="323850" y="4114800"/>
            <a:ext cx="8496300" cy="2103438"/>
          </a:xfrm>
          <a:prstGeom prst="rect">
            <a:avLst/>
          </a:prstGeom>
          <a:noFill/>
          <a:ln w="9525">
            <a:noFill/>
          </a:ln>
        </p:spPr>
        <p:txBody>
          <a:bodyPr anchor="ctr">
            <a:spAutoFit/>
          </a:bodyPr>
          <a:p>
            <a:endParaRPr lang="en-US" altLang="zh-CN" sz="2000" b="1">
              <a:latin typeface="Times New Roman" panose="02020603050405020304" pitchFamily="18" charset="0"/>
              <a:ea typeface="宋体" panose="02010600030101010101" pitchFamily="2" charset="-122"/>
            </a:endParaRPr>
          </a:p>
          <a:p>
            <a:endParaRPr lang="en-US" altLang="zh-CN" sz="2000" b="1">
              <a:latin typeface="Times New Roman" panose="02020603050405020304" pitchFamily="18" charset="0"/>
              <a:ea typeface="宋体" panose="02010600030101010101" pitchFamily="2" charset="-122"/>
            </a:endParaRPr>
          </a:p>
          <a:p>
            <a:r>
              <a:rPr lang="zh-CN" altLang="en-US" sz="2000" b="1">
                <a:latin typeface="Times New Roman" panose="02020603050405020304" pitchFamily="18" charset="0"/>
                <a:ea typeface="宋体" panose="02010600030101010101" pitchFamily="2" charset="-122"/>
              </a:rPr>
              <a:t>有解，其中</a:t>
            </a:r>
            <a:r>
              <a:rPr lang="en-US" altLang="zh-CN" sz="2000" b="1" i="1">
                <a:latin typeface="Times New Roman" panose="02020603050405020304" pitchFamily="18" charset="0"/>
                <a:ea typeface="宋体" panose="02010600030101010101" pitchFamily="2" charset="-122"/>
              </a:rPr>
              <a:t>T</a:t>
            </a:r>
            <a:r>
              <a:rPr lang="zh-CN" altLang="en-US" sz="2000" b="1">
                <a:latin typeface="Times New Roman" panose="02020603050405020304" pitchFamily="18" charset="0"/>
                <a:ea typeface="宋体" panose="02010600030101010101" pitchFamily="2" charset="-122"/>
              </a:rPr>
              <a:t>为信息传送量矩阵（需满足一定要求），</a:t>
            </a:r>
            <a:r>
              <a:rPr lang="en-US" altLang="zh-CN" sz="2000" b="1" i="1">
                <a:latin typeface="Times New Roman" panose="02020603050405020304" pitchFamily="18" charset="0"/>
                <a:ea typeface="宋体" panose="02010600030101010101" pitchFamily="2" charset="-122"/>
              </a:rPr>
              <a:t>a</a:t>
            </a:r>
            <a:r>
              <a:rPr lang="en-US" altLang="zh-CN" sz="2000" b="1" i="1" baseline="-30000">
                <a:latin typeface="Times New Roman" panose="02020603050405020304" pitchFamily="18" charset="0"/>
                <a:ea typeface="宋体" panose="02010600030101010101" pitchFamily="2" charset="-122"/>
              </a:rPr>
              <a:t>k</a:t>
            </a:r>
            <a:r>
              <a:rPr lang="zh-CN" altLang="en-US" sz="2000" b="1">
                <a:latin typeface="Times New Roman" panose="02020603050405020304" pitchFamily="18" charset="0"/>
                <a:ea typeface="宋体" panose="02010600030101010101" pitchFamily="2" charset="-122"/>
              </a:rPr>
              <a:t>为开关模式</a:t>
            </a:r>
            <a:r>
              <a:rPr lang="en-US" altLang="zh-CN" sz="2000" b="1" i="1">
                <a:latin typeface="Times New Roman" panose="02020603050405020304" pitchFamily="18" charset="0"/>
                <a:ea typeface="宋体" panose="02010600030101010101" pitchFamily="2" charset="-122"/>
              </a:rPr>
              <a:t>M</a:t>
            </a:r>
            <a:r>
              <a:rPr lang="en-US" altLang="zh-CN" sz="2000" b="1" i="1" baseline="-30000">
                <a:latin typeface="Times New Roman" panose="02020603050405020304" pitchFamily="18" charset="0"/>
                <a:ea typeface="宋体" panose="02010600030101010101" pitchFamily="2" charset="-122"/>
              </a:rPr>
              <a:t>k</a:t>
            </a:r>
            <a:r>
              <a:rPr lang="zh-CN" altLang="en-US" sz="2000" b="1">
                <a:latin typeface="Times New Roman" panose="02020603050405020304" pitchFamily="18" charset="0"/>
                <a:ea typeface="宋体" panose="02010600030101010101" pitchFamily="2" charset="-122"/>
              </a:rPr>
              <a:t>的使用时间。他们设计了一个求解此问题的</a:t>
            </a:r>
            <a:r>
              <a:rPr lang="en-US" altLang="zh-CN" sz="2000" b="1" i="1">
                <a:latin typeface="Times New Roman" panose="02020603050405020304" pitchFamily="18" charset="0"/>
                <a:ea typeface="宋体" panose="02010600030101010101" pitchFamily="2" charset="-122"/>
              </a:rPr>
              <a:t>O</a:t>
            </a:r>
            <a:r>
              <a:rPr lang="en-US" altLang="zh-CN" sz="2000" b="1">
                <a:latin typeface="Times New Roman" panose="02020603050405020304" pitchFamily="18" charset="0"/>
                <a:ea typeface="宋体" panose="02010600030101010101" pitchFamily="2" charset="-122"/>
              </a:rPr>
              <a:t>(</a:t>
            </a:r>
            <a:r>
              <a:rPr lang="en-US" altLang="zh-CN" sz="2000" b="1" i="1">
                <a:latin typeface="Times New Roman" panose="02020603050405020304" pitchFamily="18" charset="0"/>
                <a:ea typeface="宋体" panose="02010600030101010101" pitchFamily="2" charset="-122"/>
              </a:rPr>
              <a:t>n</a:t>
            </a:r>
            <a:r>
              <a:rPr lang="en-US" altLang="zh-CN" sz="2000" b="1" baseline="30000">
                <a:latin typeface="Times New Roman" panose="02020603050405020304" pitchFamily="18" charset="0"/>
                <a:ea typeface="宋体" panose="02010600030101010101" pitchFamily="2" charset="-122"/>
              </a:rPr>
              <a:t>5</a:t>
            </a:r>
            <a:r>
              <a:rPr lang="en-US" altLang="zh-CN" sz="2000" b="1">
                <a:latin typeface="Times New Roman" panose="02020603050405020304" pitchFamily="18" charset="0"/>
                <a:ea typeface="宋体" panose="02010600030101010101" pitchFamily="2" charset="-122"/>
              </a:rPr>
              <a:t>)</a:t>
            </a:r>
            <a:r>
              <a:rPr lang="zh-CN" altLang="en-US" sz="2000" b="1">
                <a:latin typeface="Times New Roman" panose="02020603050405020304" pitchFamily="18" charset="0"/>
                <a:ea typeface="宋体" panose="02010600030101010101" pitchFamily="2" charset="-122"/>
              </a:rPr>
              <a:t>算法，有兴趣的读者可直接阅读他们的论文。</a:t>
            </a:r>
            <a:endParaRPr lang="zh-CN" altLang="en-US" sz="2000" b="1">
              <a:latin typeface="Times New Roman" panose="02020603050405020304" pitchFamily="18" charset="0"/>
              <a:ea typeface="宋体" panose="02010600030101010101" pitchFamily="2" charset="-122"/>
            </a:endParaRPr>
          </a:p>
          <a:p>
            <a:r>
              <a:rPr lang="zh-CN" altLang="en-US" sz="3200" b="1">
                <a:latin typeface="Times New Roman" panose="02020603050405020304" pitchFamily="18" charset="0"/>
                <a:ea typeface="宋体" panose="02010600030101010101" pitchFamily="2" charset="-122"/>
              </a:rPr>
              <a:t>                                </a:t>
            </a:r>
            <a:endParaRPr lang="zh-CN" altLang="en-US" sz="2000" b="1">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0-#ppt_w/2"/>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20173"/>
                                        </p:tgtEl>
                                        <p:attrNameLst>
                                          <p:attrName>style.visibility</p:attrName>
                                        </p:attrNameLst>
                                      </p:cBhvr>
                                      <p:to>
                                        <p:strVal val="visible"/>
                                      </p:to>
                                    </p:set>
                                    <p:anim calcmode="lin" valueType="num">
                                      <p:cBhvr>
                                        <p:cTn id="13" dur="500" fill="hold"/>
                                        <p:tgtEl>
                                          <p:spTgt spid="220173"/>
                                        </p:tgtEl>
                                        <p:attrNameLst>
                                          <p:attrName>ppt_x</p:attrName>
                                        </p:attrNameLst>
                                      </p:cBhvr>
                                      <p:tavLst>
                                        <p:tav tm="0">
                                          <p:val>
                                            <p:strVal val="0-#ppt_w/2"/>
                                          </p:val>
                                        </p:tav>
                                        <p:tav tm="100000">
                                          <p:val>
                                            <p:strVal val="#ppt_x"/>
                                          </p:val>
                                        </p:tav>
                                      </p:tavLst>
                                    </p:anim>
                                    <p:anim calcmode="lin" valueType="num">
                                      <p:cBhvr>
                                        <p:cTn id="14" dur="500" fill="hold"/>
                                        <p:tgtEl>
                                          <p:spTgt spid="22017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0174"/>
                                        </p:tgtEl>
                                        <p:attrNameLst>
                                          <p:attrName>style.visibility</p:attrName>
                                        </p:attrNameLst>
                                      </p:cBhvr>
                                      <p:to>
                                        <p:strVal val="visible"/>
                                      </p:to>
                                    </p:set>
                                    <p:anim calcmode="lin" valueType="num">
                                      <p:cBhvr>
                                        <p:cTn id="19" dur="500" fill="hold"/>
                                        <p:tgtEl>
                                          <p:spTgt spid="220174"/>
                                        </p:tgtEl>
                                        <p:attrNameLst>
                                          <p:attrName>ppt_x</p:attrName>
                                        </p:attrNameLst>
                                      </p:cBhvr>
                                      <p:tavLst>
                                        <p:tav tm="0">
                                          <p:val>
                                            <p:strVal val="0-#ppt_w/2"/>
                                          </p:val>
                                        </p:tav>
                                        <p:tav tm="100000">
                                          <p:val>
                                            <p:strVal val="#ppt_x"/>
                                          </p:val>
                                        </p:tav>
                                      </p:tavLst>
                                    </p:anim>
                                    <p:anim calcmode="lin" valueType="num">
                                      <p:cBhvr>
                                        <p:cTn id="20" dur="500" fill="hold"/>
                                        <p:tgtEl>
                                          <p:spTgt spid="2201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7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2"/>
          <p:cNvSpPr>
            <a:spLocks noGrp="1"/>
          </p:cNvSpPr>
          <p:nvPr>
            <p:ph idx="1"/>
          </p:nvPr>
        </p:nvSpPr>
        <p:spPr>
          <a:xfrm>
            <a:off x="301625" y="1371600"/>
            <a:ext cx="8591550" cy="4727575"/>
          </a:xfrm>
          <a:ln/>
        </p:spPr>
        <p:txBody>
          <a:bodyPr vert="horz" wrap="square" lIns="91440" tIns="45720" rIns="91440" bIns="45720" anchor="t"/>
          <a:p>
            <a:pPr eaLnBrk="1" hangingPunct="1">
              <a:lnSpc>
                <a:spcPct val="90000"/>
              </a:lnSpc>
              <a:buNone/>
            </a:pPr>
            <a:r>
              <a:rPr lang="zh-CN" altLang="en-US" b="1"/>
              <a:t>本题有许多问题值得研究，例如：</a:t>
            </a:r>
            <a:endParaRPr lang="zh-CN" altLang="en-US" b="1"/>
          </a:p>
          <a:p>
            <a:pPr eaLnBrk="1" hangingPunct="1">
              <a:lnSpc>
                <a:spcPct val="90000"/>
              </a:lnSpc>
              <a:buNone/>
            </a:pPr>
            <a:r>
              <a:rPr lang="zh-CN" altLang="en-US" b="1"/>
              <a:t>问题</a:t>
            </a:r>
            <a:r>
              <a:rPr lang="en-US" altLang="zh-CN" b="1"/>
              <a:t>1</a:t>
            </a:r>
            <a:r>
              <a:rPr lang="zh-CN" altLang="en-US" b="1"/>
              <a:t>：开关数最小（至少多少只？）</a:t>
            </a:r>
            <a:endParaRPr lang="zh-CN" altLang="en-US" b="1"/>
          </a:p>
          <a:p>
            <a:pPr eaLnBrk="1" hangingPunct="1">
              <a:lnSpc>
                <a:spcPct val="90000"/>
              </a:lnSpc>
              <a:buNone/>
            </a:pPr>
            <a:r>
              <a:rPr lang="zh-CN" altLang="en-US" b="1"/>
              <a:t>问题</a:t>
            </a:r>
            <a:r>
              <a:rPr lang="en-US" altLang="zh-CN" b="1"/>
              <a:t>2</a:t>
            </a:r>
            <a:r>
              <a:rPr lang="zh-CN" altLang="en-US" b="1"/>
              <a:t>：化双随机矩阵的方法</a:t>
            </a:r>
            <a:endParaRPr lang="zh-CN" altLang="en-US" b="1"/>
          </a:p>
          <a:p>
            <a:pPr eaLnBrk="1" hangingPunct="1">
              <a:lnSpc>
                <a:spcPct val="90000"/>
              </a:lnSpc>
              <a:buNone/>
            </a:pPr>
            <a:r>
              <a:rPr lang="zh-CN" altLang="en-US" b="1"/>
              <a:t>问题</a:t>
            </a:r>
            <a:r>
              <a:rPr lang="en-US" altLang="zh-CN" b="1"/>
              <a:t>3</a:t>
            </a:r>
            <a:r>
              <a:rPr lang="zh-CN" altLang="en-US" b="1"/>
              <a:t>：双随机矩阵空间的维数</a:t>
            </a:r>
            <a:endParaRPr lang="zh-CN" altLang="en-US" b="1"/>
          </a:p>
          <a:p>
            <a:pPr eaLnBrk="1" hangingPunct="1">
              <a:lnSpc>
                <a:spcPct val="90000"/>
              </a:lnSpc>
              <a:buNone/>
            </a:pPr>
            <a:r>
              <a:rPr lang="zh-CN" altLang="en-US" b="1"/>
              <a:t>问题</a:t>
            </a:r>
            <a:r>
              <a:rPr lang="en-US" altLang="zh-CN" b="1"/>
              <a:t>4</a:t>
            </a:r>
            <a:r>
              <a:rPr lang="zh-CN" altLang="en-US" b="1"/>
              <a:t>：怎样减少开关数量（限制开关数）</a:t>
            </a:r>
            <a:endParaRPr lang="zh-CN" altLang="en-US" b="1"/>
          </a:p>
          <a:p>
            <a:pPr eaLnBrk="1" hangingPunct="1">
              <a:lnSpc>
                <a:spcPct val="90000"/>
              </a:lnSpc>
              <a:buNone/>
            </a:pPr>
            <a:r>
              <a:rPr lang="zh-CN" altLang="en-US" b="1"/>
              <a:t>              </a:t>
            </a:r>
            <a:r>
              <a:rPr lang="en-US" altLang="zh-CN" b="1" i="1"/>
              <a:t>n</a:t>
            </a:r>
            <a:r>
              <a:rPr lang="zh-CN" altLang="en-US" b="1"/>
              <a:t>只、</a:t>
            </a:r>
            <a:r>
              <a:rPr lang="en-US" altLang="zh-CN" b="1"/>
              <a:t>2</a:t>
            </a:r>
            <a:r>
              <a:rPr lang="en-US" altLang="zh-CN" b="1" i="1"/>
              <a:t>n</a:t>
            </a:r>
            <a:r>
              <a:rPr lang="zh-CN" altLang="en-US" b="1"/>
              <a:t>只，</a:t>
            </a:r>
            <a:r>
              <a:rPr lang="en-US" altLang="zh-CN" b="1">
                <a:latin typeface="Arial" panose="020B0604020202020204" pitchFamily="34" charset="0"/>
              </a:rPr>
              <a:t>……</a:t>
            </a:r>
            <a:r>
              <a:rPr lang="en-US" altLang="zh-CN" b="1"/>
              <a:t>..</a:t>
            </a:r>
            <a:endParaRPr lang="en-US" altLang="zh-CN" b="1"/>
          </a:p>
          <a:p>
            <a:pPr eaLnBrk="1" hangingPunct="1">
              <a:lnSpc>
                <a:spcPct val="90000"/>
              </a:lnSpc>
              <a:buNone/>
            </a:pPr>
            <a:r>
              <a:rPr lang="zh-CN" altLang="en-US" b="1"/>
              <a:t>问题</a:t>
            </a:r>
            <a:r>
              <a:rPr lang="en-US" altLang="zh-CN" b="1"/>
              <a:t>5</a:t>
            </a:r>
            <a:r>
              <a:rPr lang="zh-CN" altLang="en-US" b="1"/>
              <a:t>：分解方法（开关数少、使用时间短）    </a:t>
            </a:r>
            <a:endParaRPr lang="zh-CN" altLang="en-US" b="1"/>
          </a:p>
          <a:p>
            <a:pPr eaLnBrk="1" hangingPunct="1">
              <a:lnSpc>
                <a:spcPct val="90000"/>
              </a:lnSpc>
              <a:buNone/>
            </a:pPr>
            <a:r>
              <a:rPr lang="zh-CN" altLang="en-US" b="1"/>
              <a:t>   （</a:t>
            </a:r>
            <a:r>
              <a:rPr lang="en-US" altLang="zh-CN" b="1"/>
              <a:t>1</a:t>
            </a:r>
            <a:r>
              <a:rPr lang="zh-CN" altLang="en-US" b="1"/>
              <a:t>）开关确定后的分解方法            </a:t>
            </a:r>
            <a:endParaRPr lang="zh-CN" altLang="en-US" b="1"/>
          </a:p>
          <a:p>
            <a:pPr eaLnBrk="1" hangingPunct="1">
              <a:lnSpc>
                <a:spcPct val="90000"/>
              </a:lnSpc>
              <a:buNone/>
            </a:pPr>
            <a:r>
              <a:rPr lang="zh-CN" altLang="en-US" b="1"/>
              <a:t>   （</a:t>
            </a:r>
            <a:r>
              <a:rPr lang="en-US" altLang="zh-CN" b="1"/>
              <a:t>2</a:t>
            </a:r>
            <a:r>
              <a:rPr lang="zh-CN" altLang="en-US" b="1"/>
              <a:t>）使卫星利用率最高</a:t>
            </a:r>
            <a:r>
              <a:rPr lang="en-US" altLang="zh-CN" b="1"/>
              <a:t>-NP</a:t>
            </a:r>
            <a:r>
              <a:rPr lang="zh-CN" altLang="en-US" b="1"/>
              <a:t>难</a:t>
            </a:r>
            <a:r>
              <a:rPr lang="en-US" altLang="zh-CN" b="1">
                <a:latin typeface="Arial" panose="020B0604020202020204" pitchFamily="34" charset="0"/>
              </a:rPr>
              <a:t>—</a:t>
            </a:r>
            <a:r>
              <a:rPr lang="zh-CN" altLang="en-US" b="1"/>
              <a:t>近似方法</a:t>
            </a:r>
            <a:endParaRPr lang="zh-CN" altLang="en-US" b="1"/>
          </a:p>
          <a:p>
            <a:pPr eaLnBrk="1" hangingPunct="1">
              <a:lnSpc>
                <a:spcPct val="90000"/>
              </a:lnSpc>
              <a:buNone/>
            </a:pPr>
            <a:r>
              <a:rPr lang="zh-CN" altLang="en-US" b="1"/>
              <a:t>问题</a:t>
            </a:r>
            <a:r>
              <a:rPr lang="en-US" altLang="zh-CN" b="1"/>
              <a:t>6</a:t>
            </a:r>
            <a:r>
              <a:rPr lang="zh-CN" altLang="en-US" b="1"/>
              <a:t>：推广问题的研究 </a:t>
            </a:r>
            <a:endParaRPr lang="zh-CN" altLang="en-US" b="1"/>
          </a:p>
        </p:txBody>
      </p:sp>
      <p:sp>
        <p:nvSpPr>
          <p:cNvPr id="106498" name="Text Box 3"/>
          <p:cNvSpPr txBox="1"/>
          <p:nvPr/>
        </p:nvSpPr>
        <p:spPr>
          <a:xfrm>
            <a:off x="609600" y="609600"/>
            <a:ext cx="2286000" cy="366713"/>
          </a:xfrm>
          <a:prstGeom prst="rect">
            <a:avLst/>
          </a:prstGeom>
          <a:noFill/>
          <a:ln w="9525">
            <a:noFill/>
          </a:ln>
        </p:spPr>
        <p:txBody>
          <a:bodyPr anchor="t">
            <a:spAutoFit/>
          </a:bodyPr>
          <a:p>
            <a:pPr>
              <a:spcBef>
                <a:spcPct val="50000"/>
              </a:spcBef>
            </a:pPr>
            <a:endParaRPr lang="zh-CN" altLang="zh-CN">
              <a:latin typeface="Arial" panose="020B0604020202020204" pitchFamily="34" charset="0"/>
              <a:ea typeface="宋体" panose="02010600030101010101" pitchFamily="2" charset="-122"/>
            </a:endParaRPr>
          </a:p>
        </p:txBody>
      </p:sp>
      <p:sp>
        <p:nvSpPr>
          <p:cNvPr id="106499" name="Text Box 4"/>
          <p:cNvSpPr txBox="1"/>
          <p:nvPr/>
        </p:nvSpPr>
        <p:spPr>
          <a:xfrm>
            <a:off x="762000" y="533400"/>
            <a:ext cx="2057400" cy="519113"/>
          </a:xfrm>
          <a:prstGeom prst="rect">
            <a:avLst/>
          </a:prstGeom>
          <a:noFill/>
          <a:ln w="9525">
            <a:noFill/>
          </a:ln>
        </p:spPr>
        <p:txBody>
          <a:bodyPr anchor="t">
            <a:spAutoFit/>
          </a:bodyPr>
          <a:p>
            <a:pPr>
              <a:spcBef>
                <a:spcPct val="50000"/>
              </a:spcBef>
            </a:pPr>
            <a:r>
              <a:rPr lang="zh-CN" altLang="en-US" sz="2800" b="1">
                <a:solidFill>
                  <a:schemeClr val="accent2"/>
                </a:solidFill>
                <a:latin typeface="黑体" panose="02010609060101010101" pitchFamily="2" charset="-122"/>
                <a:ea typeface="黑体" panose="02010609060101010101" pitchFamily="2" charset="-122"/>
              </a:rPr>
              <a:t>小  结：</a:t>
            </a:r>
            <a:endParaRPr lang="zh-CN" altLang="en-US" sz="2800" b="1">
              <a:solidFill>
                <a:schemeClr val="accent2"/>
              </a:solidFill>
              <a:latin typeface="黑体" panose="02010609060101010101" pitchFamily="2" charset="-122"/>
              <a:ea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2210">
                                            <p:txEl>
                                              <p:charRg st="0" end="16"/>
                                            </p:txEl>
                                          </p:spTgt>
                                        </p:tgtEl>
                                        <p:attrNameLst>
                                          <p:attrName>style.visibility</p:attrName>
                                        </p:attrNameLst>
                                      </p:cBhvr>
                                      <p:to>
                                        <p:strVal val="visible"/>
                                      </p:to>
                                    </p:set>
                                    <p:animEffect transition="in" filter="fade">
                                      <p:cBhvr>
                                        <p:cTn id="7" dur="1000"/>
                                        <p:tgtEl>
                                          <p:spTgt spid="222210">
                                            <p:txEl>
                                              <p:charRg st="0" end="16"/>
                                            </p:txEl>
                                          </p:spTgt>
                                        </p:tgtEl>
                                      </p:cBhvr>
                                    </p:animEffect>
                                    <p:anim calcmode="lin" valueType="num">
                                      <p:cBhvr>
                                        <p:cTn id="8" dur="1000" fill="hold"/>
                                        <p:tgtEl>
                                          <p:spTgt spid="222210">
                                            <p:txEl>
                                              <p:charRg st="0" end="16"/>
                                            </p:txEl>
                                          </p:spTgt>
                                        </p:tgtEl>
                                        <p:attrNameLst>
                                          <p:attrName>ppt_x</p:attrName>
                                        </p:attrNameLst>
                                      </p:cBhvr>
                                      <p:tavLst>
                                        <p:tav tm="0">
                                          <p:val>
                                            <p:strVal val="#ppt_x"/>
                                          </p:val>
                                        </p:tav>
                                        <p:tav tm="100000">
                                          <p:val>
                                            <p:strVal val="#ppt_x"/>
                                          </p:val>
                                        </p:tav>
                                      </p:tavLst>
                                    </p:anim>
                                    <p:anim calcmode="lin" valueType="num">
                                      <p:cBhvr>
                                        <p:cTn id="9" dur="1000" fill="hold"/>
                                        <p:tgtEl>
                                          <p:spTgt spid="222210">
                                            <p:txEl>
                                              <p:charRg st="0" end="1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22210">
                                            <p:txEl>
                                              <p:charRg st="16" end="34"/>
                                            </p:txEl>
                                          </p:spTgt>
                                        </p:tgtEl>
                                        <p:attrNameLst>
                                          <p:attrName>style.visibility</p:attrName>
                                        </p:attrNameLst>
                                      </p:cBhvr>
                                      <p:to>
                                        <p:strVal val="visible"/>
                                      </p:to>
                                    </p:set>
                                    <p:animEffect transition="in" filter="fade">
                                      <p:cBhvr>
                                        <p:cTn id="14" dur="1000"/>
                                        <p:tgtEl>
                                          <p:spTgt spid="222210">
                                            <p:txEl>
                                              <p:charRg st="16" end="34"/>
                                            </p:txEl>
                                          </p:spTgt>
                                        </p:tgtEl>
                                      </p:cBhvr>
                                    </p:animEffect>
                                    <p:anim calcmode="lin" valueType="num">
                                      <p:cBhvr>
                                        <p:cTn id="15" dur="1000" fill="hold"/>
                                        <p:tgtEl>
                                          <p:spTgt spid="222210">
                                            <p:txEl>
                                              <p:charRg st="16" end="34"/>
                                            </p:txEl>
                                          </p:spTgt>
                                        </p:tgtEl>
                                        <p:attrNameLst>
                                          <p:attrName>ppt_x</p:attrName>
                                        </p:attrNameLst>
                                      </p:cBhvr>
                                      <p:tavLst>
                                        <p:tav tm="0">
                                          <p:val>
                                            <p:strVal val="#ppt_x"/>
                                          </p:val>
                                        </p:tav>
                                        <p:tav tm="100000">
                                          <p:val>
                                            <p:strVal val="#ppt_x"/>
                                          </p:val>
                                        </p:tav>
                                      </p:tavLst>
                                    </p:anim>
                                    <p:anim calcmode="lin" valueType="num">
                                      <p:cBhvr>
                                        <p:cTn id="16" dur="1000" fill="hold"/>
                                        <p:tgtEl>
                                          <p:spTgt spid="222210">
                                            <p:txEl>
                                              <p:charRg st="16" end="3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22210">
                                            <p:txEl>
                                              <p:charRg st="34" end="48"/>
                                            </p:txEl>
                                          </p:spTgt>
                                        </p:tgtEl>
                                        <p:attrNameLst>
                                          <p:attrName>style.visibility</p:attrName>
                                        </p:attrNameLst>
                                      </p:cBhvr>
                                      <p:to>
                                        <p:strVal val="visible"/>
                                      </p:to>
                                    </p:set>
                                    <p:animEffect transition="in" filter="fade">
                                      <p:cBhvr>
                                        <p:cTn id="21" dur="1000"/>
                                        <p:tgtEl>
                                          <p:spTgt spid="222210">
                                            <p:txEl>
                                              <p:charRg st="34" end="48"/>
                                            </p:txEl>
                                          </p:spTgt>
                                        </p:tgtEl>
                                      </p:cBhvr>
                                    </p:animEffect>
                                    <p:anim calcmode="lin" valueType="num">
                                      <p:cBhvr>
                                        <p:cTn id="22" dur="1000" fill="hold"/>
                                        <p:tgtEl>
                                          <p:spTgt spid="222210">
                                            <p:txEl>
                                              <p:charRg st="34" end="48"/>
                                            </p:txEl>
                                          </p:spTgt>
                                        </p:tgtEl>
                                        <p:attrNameLst>
                                          <p:attrName>ppt_x</p:attrName>
                                        </p:attrNameLst>
                                      </p:cBhvr>
                                      <p:tavLst>
                                        <p:tav tm="0">
                                          <p:val>
                                            <p:strVal val="#ppt_x"/>
                                          </p:val>
                                        </p:tav>
                                        <p:tav tm="100000">
                                          <p:val>
                                            <p:strVal val="#ppt_x"/>
                                          </p:val>
                                        </p:tav>
                                      </p:tavLst>
                                    </p:anim>
                                    <p:anim calcmode="lin" valueType="num">
                                      <p:cBhvr>
                                        <p:cTn id="23" dur="1000" fill="hold"/>
                                        <p:tgtEl>
                                          <p:spTgt spid="222210">
                                            <p:txEl>
                                              <p:charRg st="34" end="48"/>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22210">
                                            <p:txEl>
                                              <p:charRg st="48" end="63"/>
                                            </p:txEl>
                                          </p:spTgt>
                                        </p:tgtEl>
                                        <p:attrNameLst>
                                          <p:attrName>style.visibility</p:attrName>
                                        </p:attrNameLst>
                                      </p:cBhvr>
                                      <p:to>
                                        <p:strVal val="visible"/>
                                      </p:to>
                                    </p:set>
                                    <p:animEffect transition="in" filter="fade">
                                      <p:cBhvr>
                                        <p:cTn id="28" dur="1000"/>
                                        <p:tgtEl>
                                          <p:spTgt spid="222210">
                                            <p:txEl>
                                              <p:charRg st="48" end="63"/>
                                            </p:txEl>
                                          </p:spTgt>
                                        </p:tgtEl>
                                      </p:cBhvr>
                                    </p:animEffect>
                                    <p:anim calcmode="lin" valueType="num">
                                      <p:cBhvr>
                                        <p:cTn id="29" dur="1000" fill="hold"/>
                                        <p:tgtEl>
                                          <p:spTgt spid="222210">
                                            <p:txEl>
                                              <p:charRg st="48" end="63"/>
                                            </p:txEl>
                                          </p:spTgt>
                                        </p:tgtEl>
                                        <p:attrNameLst>
                                          <p:attrName>ppt_x</p:attrName>
                                        </p:attrNameLst>
                                      </p:cBhvr>
                                      <p:tavLst>
                                        <p:tav tm="0">
                                          <p:val>
                                            <p:strVal val="#ppt_x"/>
                                          </p:val>
                                        </p:tav>
                                        <p:tav tm="100000">
                                          <p:val>
                                            <p:strVal val="#ppt_x"/>
                                          </p:val>
                                        </p:tav>
                                      </p:tavLst>
                                    </p:anim>
                                    <p:anim calcmode="lin" valueType="num">
                                      <p:cBhvr>
                                        <p:cTn id="30" dur="1000" fill="hold"/>
                                        <p:tgtEl>
                                          <p:spTgt spid="222210">
                                            <p:txEl>
                                              <p:charRg st="48" end="6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22210">
                                            <p:txEl>
                                              <p:charRg st="63" end="83"/>
                                            </p:txEl>
                                          </p:spTgt>
                                        </p:tgtEl>
                                        <p:attrNameLst>
                                          <p:attrName>style.visibility</p:attrName>
                                        </p:attrNameLst>
                                      </p:cBhvr>
                                      <p:to>
                                        <p:strVal val="visible"/>
                                      </p:to>
                                    </p:set>
                                    <p:animEffect transition="in" filter="fade">
                                      <p:cBhvr>
                                        <p:cTn id="35" dur="1000"/>
                                        <p:tgtEl>
                                          <p:spTgt spid="222210">
                                            <p:txEl>
                                              <p:charRg st="63" end="83"/>
                                            </p:txEl>
                                          </p:spTgt>
                                        </p:tgtEl>
                                      </p:cBhvr>
                                    </p:animEffect>
                                    <p:anim calcmode="lin" valueType="num">
                                      <p:cBhvr>
                                        <p:cTn id="36" dur="1000" fill="hold"/>
                                        <p:tgtEl>
                                          <p:spTgt spid="222210">
                                            <p:txEl>
                                              <p:charRg st="63" end="83"/>
                                            </p:txEl>
                                          </p:spTgt>
                                        </p:tgtEl>
                                        <p:attrNameLst>
                                          <p:attrName>ppt_x</p:attrName>
                                        </p:attrNameLst>
                                      </p:cBhvr>
                                      <p:tavLst>
                                        <p:tav tm="0">
                                          <p:val>
                                            <p:strVal val="#ppt_x"/>
                                          </p:val>
                                        </p:tav>
                                        <p:tav tm="100000">
                                          <p:val>
                                            <p:strVal val="#ppt_x"/>
                                          </p:val>
                                        </p:tav>
                                      </p:tavLst>
                                    </p:anim>
                                    <p:anim calcmode="lin" valueType="num">
                                      <p:cBhvr>
                                        <p:cTn id="37" dur="1000" fill="hold"/>
                                        <p:tgtEl>
                                          <p:spTgt spid="222210">
                                            <p:txEl>
                                              <p:charRg st="63" end="8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22210">
                                            <p:txEl>
                                              <p:charRg st="83" end="109"/>
                                            </p:txEl>
                                          </p:spTgt>
                                        </p:tgtEl>
                                        <p:attrNameLst>
                                          <p:attrName>style.visibility</p:attrName>
                                        </p:attrNameLst>
                                      </p:cBhvr>
                                      <p:to>
                                        <p:strVal val="visible"/>
                                      </p:to>
                                    </p:set>
                                    <p:animEffect transition="in" filter="fade">
                                      <p:cBhvr>
                                        <p:cTn id="42" dur="1000"/>
                                        <p:tgtEl>
                                          <p:spTgt spid="222210">
                                            <p:txEl>
                                              <p:charRg st="83" end="109"/>
                                            </p:txEl>
                                          </p:spTgt>
                                        </p:tgtEl>
                                      </p:cBhvr>
                                    </p:animEffect>
                                    <p:anim calcmode="lin" valueType="num">
                                      <p:cBhvr>
                                        <p:cTn id="43" dur="1000" fill="hold"/>
                                        <p:tgtEl>
                                          <p:spTgt spid="222210">
                                            <p:txEl>
                                              <p:charRg st="83" end="109"/>
                                            </p:txEl>
                                          </p:spTgt>
                                        </p:tgtEl>
                                        <p:attrNameLst>
                                          <p:attrName>ppt_x</p:attrName>
                                        </p:attrNameLst>
                                      </p:cBhvr>
                                      <p:tavLst>
                                        <p:tav tm="0">
                                          <p:val>
                                            <p:strVal val="#ppt_x"/>
                                          </p:val>
                                        </p:tav>
                                        <p:tav tm="100000">
                                          <p:val>
                                            <p:strVal val="#ppt_x"/>
                                          </p:val>
                                        </p:tav>
                                      </p:tavLst>
                                    </p:anim>
                                    <p:anim calcmode="lin" valueType="num">
                                      <p:cBhvr>
                                        <p:cTn id="44" dur="1000" fill="hold"/>
                                        <p:tgtEl>
                                          <p:spTgt spid="222210">
                                            <p:txEl>
                                              <p:charRg st="83" end="109"/>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22210">
                                            <p:txEl>
                                              <p:charRg st="109" end="134"/>
                                            </p:txEl>
                                          </p:spTgt>
                                        </p:tgtEl>
                                        <p:attrNameLst>
                                          <p:attrName>style.visibility</p:attrName>
                                        </p:attrNameLst>
                                      </p:cBhvr>
                                      <p:to>
                                        <p:strVal val="visible"/>
                                      </p:to>
                                    </p:set>
                                    <p:animEffect transition="in" filter="fade">
                                      <p:cBhvr>
                                        <p:cTn id="49" dur="1000"/>
                                        <p:tgtEl>
                                          <p:spTgt spid="222210">
                                            <p:txEl>
                                              <p:charRg st="109" end="134"/>
                                            </p:txEl>
                                          </p:spTgt>
                                        </p:tgtEl>
                                      </p:cBhvr>
                                    </p:animEffect>
                                    <p:anim calcmode="lin" valueType="num">
                                      <p:cBhvr>
                                        <p:cTn id="50" dur="1000" fill="hold"/>
                                        <p:tgtEl>
                                          <p:spTgt spid="222210">
                                            <p:txEl>
                                              <p:charRg st="109" end="134"/>
                                            </p:txEl>
                                          </p:spTgt>
                                        </p:tgtEl>
                                        <p:attrNameLst>
                                          <p:attrName>ppt_x</p:attrName>
                                        </p:attrNameLst>
                                      </p:cBhvr>
                                      <p:tavLst>
                                        <p:tav tm="0">
                                          <p:val>
                                            <p:strVal val="#ppt_x"/>
                                          </p:val>
                                        </p:tav>
                                        <p:tav tm="100000">
                                          <p:val>
                                            <p:strVal val="#ppt_x"/>
                                          </p:val>
                                        </p:tav>
                                      </p:tavLst>
                                    </p:anim>
                                    <p:anim calcmode="lin" valueType="num">
                                      <p:cBhvr>
                                        <p:cTn id="51" dur="1000" fill="hold"/>
                                        <p:tgtEl>
                                          <p:spTgt spid="222210">
                                            <p:txEl>
                                              <p:charRg st="109" end="13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22210">
                                            <p:txEl>
                                              <p:charRg st="134" end="163"/>
                                            </p:txEl>
                                          </p:spTgt>
                                        </p:tgtEl>
                                        <p:attrNameLst>
                                          <p:attrName>style.visibility</p:attrName>
                                        </p:attrNameLst>
                                      </p:cBhvr>
                                      <p:to>
                                        <p:strVal val="visible"/>
                                      </p:to>
                                    </p:set>
                                    <p:animEffect transition="in" filter="fade">
                                      <p:cBhvr>
                                        <p:cTn id="56" dur="1000"/>
                                        <p:tgtEl>
                                          <p:spTgt spid="222210">
                                            <p:txEl>
                                              <p:charRg st="134" end="163"/>
                                            </p:txEl>
                                          </p:spTgt>
                                        </p:tgtEl>
                                      </p:cBhvr>
                                    </p:animEffect>
                                    <p:anim calcmode="lin" valueType="num">
                                      <p:cBhvr>
                                        <p:cTn id="57" dur="1000" fill="hold"/>
                                        <p:tgtEl>
                                          <p:spTgt spid="222210">
                                            <p:txEl>
                                              <p:charRg st="134" end="163"/>
                                            </p:txEl>
                                          </p:spTgt>
                                        </p:tgtEl>
                                        <p:attrNameLst>
                                          <p:attrName>ppt_x</p:attrName>
                                        </p:attrNameLst>
                                      </p:cBhvr>
                                      <p:tavLst>
                                        <p:tav tm="0">
                                          <p:val>
                                            <p:strVal val="#ppt_x"/>
                                          </p:val>
                                        </p:tav>
                                        <p:tav tm="100000">
                                          <p:val>
                                            <p:strVal val="#ppt_x"/>
                                          </p:val>
                                        </p:tav>
                                      </p:tavLst>
                                    </p:anim>
                                    <p:anim calcmode="lin" valueType="num">
                                      <p:cBhvr>
                                        <p:cTn id="58" dur="1000" fill="hold"/>
                                        <p:tgtEl>
                                          <p:spTgt spid="222210">
                                            <p:txEl>
                                              <p:charRg st="134" end="163"/>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22210">
                                            <p:txEl>
                                              <p:charRg st="163" end="187"/>
                                            </p:txEl>
                                          </p:spTgt>
                                        </p:tgtEl>
                                        <p:attrNameLst>
                                          <p:attrName>style.visibility</p:attrName>
                                        </p:attrNameLst>
                                      </p:cBhvr>
                                      <p:to>
                                        <p:strVal val="visible"/>
                                      </p:to>
                                    </p:set>
                                    <p:animEffect transition="in" filter="fade">
                                      <p:cBhvr>
                                        <p:cTn id="63" dur="1000"/>
                                        <p:tgtEl>
                                          <p:spTgt spid="222210">
                                            <p:txEl>
                                              <p:charRg st="163" end="187"/>
                                            </p:txEl>
                                          </p:spTgt>
                                        </p:tgtEl>
                                      </p:cBhvr>
                                    </p:animEffect>
                                    <p:anim calcmode="lin" valueType="num">
                                      <p:cBhvr>
                                        <p:cTn id="64" dur="1000" fill="hold"/>
                                        <p:tgtEl>
                                          <p:spTgt spid="222210">
                                            <p:txEl>
                                              <p:charRg st="163" end="187"/>
                                            </p:txEl>
                                          </p:spTgt>
                                        </p:tgtEl>
                                        <p:attrNameLst>
                                          <p:attrName>ppt_x</p:attrName>
                                        </p:attrNameLst>
                                      </p:cBhvr>
                                      <p:tavLst>
                                        <p:tav tm="0">
                                          <p:val>
                                            <p:strVal val="#ppt_x"/>
                                          </p:val>
                                        </p:tav>
                                        <p:tav tm="100000">
                                          <p:val>
                                            <p:strVal val="#ppt_x"/>
                                          </p:val>
                                        </p:tav>
                                      </p:tavLst>
                                    </p:anim>
                                    <p:anim calcmode="lin" valueType="num">
                                      <p:cBhvr>
                                        <p:cTn id="65" dur="1000" fill="hold"/>
                                        <p:tgtEl>
                                          <p:spTgt spid="222210">
                                            <p:txEl>
                                              <p:charRg st="163" end="18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22210">
                                            <p:txEl>
                                              <p:charRg st="187" end="200"/>
                                            </p:txEl>
                                          </p:spTgt>
                                        </p:tgtEl>
                                        <p:attrNameLst>
                                          <p:attrName>style.visibility</p:attrName>
                                        </p:attrNameLst>
                                      </p:cBhvr>
                                      <p:to>
                                        <p:strVal val="visible"/>
                                      </p:to>
                                    </p:set>
                                    <p:animEffect transition="in" filter="fade">
                                      <p:cBhvr>
                                        <p:cTn id="70" dur="1000"/>
                                        <p:tgtEl>
                                          <p:spTgt spid="222210">
                                            <p:txEl>
                                              <p:charRg st="187" end="200"/>
                                            </p:txEl>
                                          </p:spTgt>
                                        </p:tgtEl>
                                      </p:cBhvr>
                                    </p:animEffect>
                                    <p:anim calcmode="lin" valueType="num">
                                      <p:cBhvr>
                                        <p:cTn id="71" dur="1000" fill="hold"/>
                                        <p:tgtEl>
                                          <p:spTgt spid="222210">
                                            <p:txEl>
                                              <p:charRg st="187" end="200"/>
                                            </p:txEl>
                                          </p:spTgt>
                                        </p:tgtEl>
                                        <p:attrNameLst>
                                          <p:attrName>ppt_x</p:attrName>
                                        </p:attrNameLst>
                                      </p:cBhvr>
                                      <p:tavLst>
                                        <p:tav tm="0">
                                          <p:val>
                                            <p:strVal val="#ppt_x"/>
                                          </p:val>
                                        </p:tav>
                                        <p:tav tm="100000">
                                          <p:val>
                                            <p:strVal val="#ppt_x"/>
                                          </p:val>
                                        </p:tav>
                                      </p:tavLst>
                                    </p:anim>
                                    <p:anim calcmode="lin" valueType="num">
                                      <p:cBhvr>
                                        <p:cTn id="72" dur="1000" fill="hold"/>
                                        <p:tgtEl>
                                          <p:spTgt spid="222210">
                                            <p:txEl>
                                              <p:charRg st="187" end="20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0"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8545" name="Group 2"/>
          <p:cNvGrpSpPr/>
          <p:nvPr/>
        </p:nvGrpSpPr>
        <p:grpSpPr>
          <a:xfrm>
            <a:off x="1981200" y="1676400"/>
            <a:ext cx="5311775" cy="3295650"/>
            <a:chOff x="1262" y="1323"/>
            <a:chExt cx="3346" cy="2076"/>
          </a:xfrm>
        </p:grpSpPr>
        <p:grpSp>
          <p:nvGrpSpPr>
            <p:cNvPr id="108546" name="Group 3"/>
            <p:cNvGrpSpPr/>
            <p:nvPr/>
          </p:nvGrpSpPr>
          <p:grpSpPr>
            <a:xfrm>
              <a:off x="1263" y="1881"/>
              <a:ext cx="384" cy="384"/>
              <a:chOff x="816" y="1872"/>
              <a:chExt cx="384" cy="384"/>
            </a:xfrm>
          </p:grpSpPr>
          <p:sp>
            <p:nvSpPr>
              <p:cNvPr id="108547" name="Oval 4"/>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8548" name="Oval 5"/>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8549" name="Oval 6"/>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50" name="Oval 7"/>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51" name="Oval 8"/>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52" name="Oval 9"/>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53" name="Oval 10"/>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54" name="Oval 11"/>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55" name="Oval 12"/>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108556" name="Line 13"/>
            <p:cNvSpPr/>
            <p:nvPr/>
          </p:nvSpPr>
          <p:spPr>
            <a:xfrm>
              <a:off x="1584" y="2235"/>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08557" name="Text Box 14"/>
            <p:cNvSpPr txBox="1"/>
            <p:nvPr/>
          </p:nvSpPr>
          <p:spPr>
            <a:xfrm>
              <a:off x="1728" y="1899"/>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建模一般步骤及范例</a:t>
              </a:r>
              <a:endParaRPr lang="zh-CN" altLang="en-US" sz="2800" b="1">
                <a:solidFill>
                  <a:srgbClr val="3333FF"/>
                </a:solidFill>
                <a:latin typeface="Arial" panose="020B0604020202020204" pitchFamily="34" charset="0"/>
                <a:ea typeface="黑体" panose="02010609060101010101" pitchFamily="2" charset="-122"/>
              </a:endParaRPr>
            </a:p>
          </p:txBody>
        </p:sp>
        <p:sp>
          <p:nvSpPr>
            <p:cNvPr id="108558" name="Text Box 15"/>
            <p:cNvSpPr txBox="1"/>
            <p:nvPr/>
          </p:nvSpPr>
          <p:spPr>
            <a:xfrm>
              <a:off x="1344" y="1934"/>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2</a:t>
              </a:r>
              <a:endParaRPr lang="en-US" altLang="zh-CN" sz="2400" b="1">
                <a:solidFill>
                  <a:srgbClr val="000000"/>
                </a:solidFill>
                <a:latin typeface="Arial" panose="020B0604020202020204" pitchFamily="34" charset="0"/>
                <a:ea typeface="宋体" panose="02010600030101010101" pitchFamily="2" charset="-122"/>
              </a:endParaRPr>
            </a:p>
          </p:txBody>
        </p:sp>
        <p:grpSp>
          <p:nvGrpSpPr>
            <p:cNvPr id="108559" name="Group 16"/>
            <p:cNvGrpSpPr/>
            <p:nvPr/>
          </p:nvGrpSpPr>
          <p:grpSpPr>
            <a:xfrm>
              <a:off x="1275" y="3015"/>
              <a:ext cx="384" cy="384"/>
              <a:chOff x="816" y="1872"/>
              <a:chExt cx="384" cy="384"/>
            </a:xfrm>
          </p:grpSpPr>
          <p:sp>
            <p:nvSpPr>
              <p:cNvPr id="108560" name="Oval 17"/>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8561" name="Oval 18"/>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8562" name="Oval 19"/>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63" name="Oval 20"/>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64" name="Oval 21"/>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65" name="Oval 22"/>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66" name="Oval 23"/>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67" name="Oval 24"/>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68" name="Oval 25"/>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108569" name="Line 26"/>
            <p:cNvSpPr/>
            <p:nvPr/>
          </p:nvSpPr>
          <p:spPr>
            <a:xfrm>
              <a:off x="1584" y="3373"/>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08570" name="Text Box 27"/>
            <p:cNvSpPr txBox="1"/>
            <p:nvPr/>
          </p:nvSpPr>
          <p:spPr>
            <a:xfrm>
              <a:off x="1728" y="3037"/>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评阅标准及论文写作</a:t>
              </a:r>
              <a:endParaRPr lang="zh-CN" altLang="en-US" sz="2800" b="1">
                <a:solidFill>
                  <a:srgbClr val="3333FF"/>
                </a:solidFill>
                <a:latin typeface="Arial" panose="020B0604020202020204" pitchFamily="34" charset="0"/>
                <a:ea typeface="黑体" panose="02010609060101010101" pitchFamily="2" charset="-122"/>
              </a:endParaRPr>
            </a:p>
          </p:txBody>
        </p:sp>
        <p:sp>
          <p:nvSpPr>
            <p:cNvPr id="108571" name="Text Box 28"/>
            <p:cNvSpPr txBox="1"/>
            <p:nvPr/>
          </p:nvSpPr>
          <p:spPr>
            <a:xfrm>
              <a:off x="1362" y="3058"/>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4</a:t>
              </a:r>
              <a:endParaRPr lang="en-US" altLang="zh-CN" sz="2400" b="1">
                <a:solidFill>
                  <a:srgbClr val="000000"/>
                </a:solidFill>
                <a:latin typeface="Arial" panose="020B0604020202020204" pitchFamily="34" charset="0"/>
                <a:ea typeface="宋体" panose="02010600030101010101" pitchFamily="2" charset="-122"/>
              </a:endParaRPr>
            </a:p>
          </p:txBody>
        </p:sp>
        <p:sp>
          <p:nvSpPr>
            <p:cNvPr id="108572" name="Line 29"/>
            <p:cNvSpPr/>
            <p:nvPr/>
          </p:nvSpPr>
          <p:spPr>
            <a:xfrm>
              <a:off x="1584" y="2797"/>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08573" name="Text Box 30"/>
            <p:cNvSpPr txBox="1"/>
            <p:nvPr/>
          </p:nvSpPr>
          <p:spPr>
            <a:xfrm>
              <a:off x="1728" y="2461"/>
              <a:ext cx="2736" cy="365"/>
            </a:xfrm>
            <a:prstGeom prst="rect">
              <a:avLst/>
            </a:prstGeom>
            <a:noFill/>
            <a:ln w="9525">
              <a:noFill/>
            </a:ln>
          </p:spPr>
          <p:txBody>
            <a:bodyPr anchor="t">
              <a:spAutoFit/>
            </a:bodyPr>
            <a:p>
              <a:pPr algn="ctr" eaLnBrk="0" hangingPunct="0"/>
              <a:r>
                <a:rPr lang="zh-CN" altLang="en-US" sz="3200" b="1">
                  <a:solidFill>
                    <a:schemeClr val="accent2"/>
                  </a:solidFill>
                  <a:latin typeface="Arial" panose="020B0604020202020204" pitchFamily="34" charset="0"/>
                  <a:ea typeface="黑体" panose="02010609060101010101" pitchFamily="2" charset="-122"/>
                </a:rPr>
                <a:t>试题分析及论文导读</a:t>
              </a:r>
              <a:endParaRPr lang="zh-CN" altLang="en-US" sz="3200" b="1">
                <a:solidFill>
                  <a:schemeClr val="accent2"/>
                </a:solidFill>
                <a:latin typeface="Arial" panose="020B0604020202020204" pitchFamily="34" charset="0"/>
                <a:ea typeface="黑体" panose="02010609060101010101" pitchFamily="2" charset="-122"/>
              </a:endParaRPr>
            </a:p>
          </p:txBody>
        </p:sp>
        <p:grpSp>
          <p:nvGrpSpPr>
            <p:cNvPr id="108574" name="Group 31"/>
            <p:cNvGrpSpPr/>
            <p:nvPr/>
          </p:nvGrpSpPr>
          <p:grpSpPr>
            <a:xfrm>
              <a:off x="1274" y="2437"/>
              <a:ext cx="384" cy="384"/>
              <a:chOff x="1274" y="2437"/>
              <a:chExt cx="384" cy="384"/>
            </a:xfrm>
          </p:grpSpPr>
          <p:sp>
            <p:nvSpPr>
              <p:cNvPr id="108575" name="Text Box 32"/>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108576" name="Oval 33"/>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8577" name="Oval 34"/>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8578" name="Oval 35"/>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79" name="Oval 36"/>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80" name="Oval 37"/>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81" name="Oval 38"/>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82" name="Oval 39"/>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83" name="Oval 40"/>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84" name="Oval 41"/>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108585" name="Text Box 42"/>
            <p:cNvSpPr txBox="1"/>
            <p:nvPr/>
          </p:nvSpPr>
          <p:spPr>
            <a:xfrm>
              <a:off x="1353" y="2496"/>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108586" name="Line 43"/>
            <p:cNvSpPr/>
            <p:nvPr/>
          </p:nvSpPr>
          <p:spPr>
            <a:xfrm>
              <a:off x="1584" y="1659"/>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08587" name="Text Box 44"/>
            <p:cNvSpPr txBox="1"/>
            <p:nvPr/>
          </p:nvSpPr>
          <p:spPr>
            <a:xfrm>
              <a:off x="1728" y="1323"/>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建模一般思维方法</a:t>
              </a:r>
              <a:endParaRPr lang="zh-CN" altLang="en-US" sz="2800" b="1">
                <a:solidFill>
                  <a:srgbClr val="3333FF"/>
                </a:solidFill>
                <a:latin typeface="Arial" panose="020B0604020202020204" pitchFamily="34" charset="0"/>
                <a:ea typeface="黑体" panose="02010609060101010101" pitchFamily="2" charset="-122"/>
              </a:endParaRPr>
            </a:p>
          </p:txBody>
        </p:sp>
        <p:grpSp>
          <p:nvGrpSpPr>
            <p:cNvPr id="108588" name="Group 45"/>
            <p:cNvGrpSpPr/>
            <p:nvPr/>
          </p:nvGrpSpPr>
          <p:grpSpPr>
            <a:xfrm>
              <a:off x="1262" y="1344"/>
              <a:ext cx="384" cy="384"/>
              <a:chOff x="1274" y="2437"/>
              <a:chExt cx="384" cy="384"/>
            </a:xfrm>
          </p:grpSpPr>
          <p:sp>
            <p:nvSpPr>
              <p:cNvPr id="108589" name="Text Box 46"/>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108590" name="Oval 47"/>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8591" name="Oval 48"/>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08592" name="Oval 49"/>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93" name="Oval 50"/>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94" name="Oval 51"/>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108595" name="Oval 52"/>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96" name="Oval 53"/>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97" name="Oval 54"/>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108598" name="Oval 55"/>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108599" name="Text Box 56"/>
            <p:cNvSpPr txBox="1"/>
            <p:nvPr/>
          </p:nvSpPr>
          <p:spPr>
            <a:xfrm>
              <a:off x="1341" y="1403"/>
              <a:ext cx="223" cy="288"/>
            </a:xfrm>
            <a:prstGeom prst="rect">
              <a:avLst/>
            </a:prstGeom>
            <a:noFill/>
            <a:ln w="9525">
              <a:noFill/>
            </a:ln>
          </p:spPr>
          <p:txBody>
            <a:bodyPr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1</a:t>
              </a:r>
              <a:endParaRPr lang="en-US" altLang="zh-CN" sz="2400" b="1">
                <a:solidFill>
                  <a:srgbClr val="000000"/>
                </a:solidFill>
                <a:latin typeface="Arial" panose="020B0604020202020204" pitchFamily="34" charset="0"/>
                <a:ea typeface="宋体" panose="02010600030101010101" pitchFamily="2" charset="-122"/>
              </a:endParaRPr>
            </a:p>
          </p:txBody>
        </p:sp>
      </p:gr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2"/>
          <p:cNvSpPr txBox="1"/>
          <p:nvPr/>
        </p:nvSpPr>
        <p:spPr>
          <a:xfrm>
            <a:off x="381000" y="1066800"/>
            <a:ext cx="1066800" cy="588963"/>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a:spcBef>
                <a:spcPct val="50000"/>
              </a:spcBef>
            </a:pPr>
            <a:r>
              <a:rPr lang="zh-CN" altLang="en-US" sz="3200" b="1">
                <a:latin typeface="Times New Roman" panose="02020603050405020304" pitchFamily="18" charset="0"/>
                <a:ea typeface="隶书" panose="02010509060101010101" pitchFamily="49" charset="-122"/>
              </a:rPr>
              <a:t>内容</a:t>
            </a:r>
            <a:endParaRPr lang="zh-CN" altLang="en-US" sz="3200" b="1">
              <a:latin typeface="Times New Roman" panose="02020603050405020304" pitchFamily="18" charset="0"/>
              <a:ea typeface="隶书" panose="02010509060101010101" pitchFamily="49" charset="-122"/>
            </a:endParaRPr>
          </a:p>
        </p:txBody>
      </p:sp>
      <p:sp>
        <p:nvSpPr>
          <p:cNvPr id="23555" name="Text Box 3"/>
          <p:cNvSpPr txBox="1"/>
          <p:nvPr/>
        </p:nvSpPr>
        <p:spPr>
          <a:xfrm>
            <a:off x="1600200" y="1143000"/>
            <a:ext cx="7381875" cy="519113"/>
          </a:xfrm>
          <a:prstGeom prst="rect">
            <a:avLst/>
          </a:prstGeom>
          <a:noFill/>
          <a:ln w="9525">
            <a:noFill/>
          </a:ln>
        </p:spPr>
        <p:txBody>
          <a:bodyPr anchor="t">
            <a:spAutoFit/>
          </a:bodyPr>
          <a:p>
            <a:pPr>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赛题：工程、管理中经过简化的实际问题</a:t>
            </a:r>
            <a:endParaRPr lang="zh-CN" altLang="en-US" sz="2800" b="1">
              <a:latin typeface="Times New Roman" panose="02020603050405020304" pitchFamily="18" charset="0"/>
              <a:ea typeface="宋体" panose="02010600030101010101" pitchFamily="2" charset="-122"/>
            </a:endParaRPr>
          </a:p>
        </p:txBody>
      </p:sp>
      <p:sp>
        <p:nvSpPr>
          <p:cNvPr id="23556" name="Text Box 4"/>
          <p:cNvSpPr txBox="1"/>
          <p:nvPr/>
        </p:nvSpPr>
        <p:spPr>
          <a:xfrm>
            <a:off x="762000" y="1719263"/>
            <a:ext cx="8131175" cy="1117600"/>
          </a:xfrm>
          <a:prstGeom prst="rect">
            <a:avLst/>
          </a:prstGeom>
          <a:noFill/>
          <a:ln w="9525">
            <a:noFill/>
          </a:ln>
        </p:spPr>
        <p:txBody>
          <a:bodyPr anchor="t">
            <a:spAutoFit/>
          </a:bodyPr>
          <a:p>
            <a:pPr>
              <a:lnSpc>
                <a:spcPct val="120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答卷：一篇包含问题分析、模型假设、建立、求解</a:t>
            </a: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通常用计算机</a:t>
            </a: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、结果分析和检验等的论文</a:t>
            </a:r>
            <a:endParaRPr lang="zh-CN" altLang="en-US" sz="2800" b="1">
              <a:latin typeface="Times New Roman" panose="02020603050405020304" pitchFamily="18" charset="0"/>
              <a:ea typeface="宋体" panose="02010600030101010101" pitchFamily="2" charset="-122"/>
            </a:endParaRPr>
          </a:p>
        </p:txBody>
      </p:sp>
      <p:sp>
        <p:nvSpPr>
          <p:cNvPr id="23557" name="Text Box 5"/>
          <p:cNvSpPr txBox="1"/>
          <p:nvPr/>
        </p:nvSpPr>
        <p:spPr>
          <a:xfrm>
            <a:off x="381000" y="2971800"/>
            <a:ext cx="1066800" cy="588963"/>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a:spcBef>
                <a:spcPct val="50000"/>
              </a:spcBef>
            </a:pPr>
            <a:r>
              <a:rPr lang="zh-CN" altLang="en-US" sz="3200" b="1">
                <a:latin typeface="Times New Roman" panose="02020603050405020304" pitchFamily="18" charset="0"/>
                <a:ea typeface="隶书" panose="02010509060101010101" pitchFamily="49" charset="-122"/>
              </a:rPr>
              <a:t>形式</a:t>
            </a:r>
            <a:endParaRPr lang="zh-CN" altLang="en-US" sz="3200" b="1">
              <a:latin typeface="Times New Roman" panose="02020603050405020304" pitchFamily="18" charset="0"/>
              <a:ea typeface="隶书" panose="02010509060101010101" pitchFamily="49" charset="-122"/>
            </a:endParaRPr>
          </a:p>
        </p:txBody>
      </p:sp>
      <p:sp>
        <p:nvSpPr>
          <p:cNvPr id="23558" name="Text Box 6"/>
          <p:cNvSpPr txBox="1"/>
          <p:nvPr/>
        </p:nvSpPr>
        <p:spPr>
          <a:xfrm>
            <a:off x="1600200" y="2971800"/>
            <a:ext cx="7246938" cy="519113"/>
          </a:xfrm>
          <a:prstGeom prst="rect">
            <a:avLst/>
          </a:prstGeom>
          <a:noFill/>
          <a:ln w="9525">
            <a:noFill/>
          </a:ln>
        </p:spPr>
        <p:txBody>
          <a:bodyPr anchor="t">
            <a:spAutoFit/>
          </a:bodyPr>
          <a:p>
            <a:pPr>
              <a:spcBef>
                <a:spcPct val="50000"/>
              </a:spcBef>
              <a:buChar char="•"/>
            </a:pPr>
            <a:r>
              <a:rPr lang="en-US" altLang="zh-CN" sz="2800" b="1">
                <a:latin typeface="Times New Roman" panose="02020603050405020304" pitchFamily="18" charset="0"/>
                <a:ea typeface="宋体" panose="02010600030101010101" pitchFamily="2" charset="-122"/>
              </a:rPr>
              <a:t> 3</a:t>
            </a:r>
            <a:r>
              <a:rPr lang="zh-CN" altLang="en-US" sz="2800" b="1">
                <a:latin typeface="Times New Roman" panose="02020603050405020304" pitchFamily="18" charset="0"/>
                <a:ea typeface="宋体" panose="02010600030101010101" pitchFamily="2" charset="-122"/>
              </a:rPr>
              <a:t>名大学生组队，在</a:t>
            </a:r>
            <a:r>
              <a:rPr lang="en-US" altLang="zh-CN" sz="2800" b="1">
                <a:latin typeface="Times New Roman" panose="02020603050405020304" pitchFamily="18" charset="0"/>
                <a:ea typeface="宋体" panose="02010600030101010101" pitchFamily="2" charset="-122"/>
              </a:rPr>
              <a:t>3</a:t>
            </a:r>
            <a:r>
              <a:rPr lang="zh-CN" altLang="en-US" sz="2800" b="1">
                <a:latin typeface="Times New Roman" panose="02020603050405020304" pitchFamily="18" charset="0"/>
                <a:ea typeface="宋体" panose="02010600030101010101" pitchFamily="2" charset="-122"/>
              </a:rPr>
              <a:t>天内完成比赛</a:t>
            </a:r>
            <a:endParaRPr lang="zh-CN" altLang="en-US" sz="2800" b="1">
              <a:latin typeface="Times New Roman" panose="02020603050405020304" pitchFamily="18" charset="0"/>
              <a:ea typeface="宋体" panose="02010600030101010101" pitchFamily="2" charset="-122"/>
            </a:endParaRPr>
          </a:p>
        </p:txBody>
      </p:sp>
      <p:sp>
        <p:nvSpPr>
          <p:cNvPr id="23559" name="Text Box 7"/>
          <p:cNvSpPr txBox="1"/>
          <p:nvPr/>
        </p:nvSpPr>
        <p:spPr>
          <a:xfrm>
            <a:off x="1476375" y="3581400"/>
            <a:ext cx="7439025" cy="1117600"/>
          </a:xfrm>
          <a:prstGeom prst="rect">
            <a:avLst/>
          </a:prstGeom>
          <a:noFill/>
          <a:ln w="9525">
            <a:noFill/>
          </a:ln>
        </p:spPr>
        <p:txBody>
          <a:bodyPr anchor="t">
            <a:spAutoFit/>
          </a:bodyPr>
          <a:p>
            <a:pPr>
              <a:lnSpc>
                <a:spcPct val="120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可使用任何“死”材料</a:t>
            </a: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图书</a:t>
            </a: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互联网</a:t>
            </a: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软件等</a:t>
            </a: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但不得与队外任何人讨论（包括上网讨论）</a:t>
            </a:r>
            <a:endParaRPr lang="zh-CN" altLang="en-US" sz="2800" b="1">
              <a:latin typeface="Times New Roman" panose="02020603050405020304" pitchFamily="18" charset="0"/>
              <a:ea typeface="宋体" panose="02010600030101010101" pitchFamily="2" charset="-122"/>
            </a:endParaRPr>
          </a:p>
        </p:txBody>
      </p:sp>
      <p:sp>
        <p:nvSpPr>
          <p:cNvPr id="23560" name="Text Box 8"/>
          <p:cNvSpPr txBox="1"/>
          <p:nvPr/>
        </p:nvSpPr>
        <p:spPr>
          <a:xfrm>
            <a:off x="381000" y="5821363"/>
            <a:ext cx="1066800" cy="588962"/>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a:spcBef>
                <a:spcPct val="50000"/>
              </a:spcBef>
            </a:pPr>
            <a:r>
              <a:rPr lang="zh-CN" altLang="en-US" sz="3200" b="1">
                <a:latin typeface="Times New Roman" panose="02020603050405020304" pitchFamily="18" charset="0"/>
                <a:ea typeface="隶书" panose="02010509060101010101" pitchFamily="49" charset="-122"/>
              </a:rPr>
              <a:t>宗旨</a:t>
            </a:r>
            <a:endParaRPr lang="zh-CN" altLang="en-US" sz="3200" b="1">
              <a:latin typeface="Times New Roman" panose="02020603050405020304" pitchFamily="18" charset="0"/>
              <a:ea typeface="隶书" panose="02010509060101010101" pitchFamily="49" charset="-122"/>
            </a:endParaRPr>
          </a:p>
        </p:txBody>
      </p:sp>
      <p:sp>
        <p:nvSpPr>
          <p:cNvPr id="23561" name="Text Box 9"/>
          <p:cNvSpPr txBox="1"/>
          <p:nvPr/>
        </p:nvSpPr>
        <p:spPr>
          <a:xfrm>
            <a:off x="1752600" y="5915025"/>
            <a:ext cx="7094538" cy="519113"/>
          </a:xfrm>
          <a:prstGeom prst="rect">
            <a:avLst/>
          </a:prstGeom>
          <a:noFill/>
          <a:ln w="9525">
            <a:noFill/>
          </a:ln>
        </p:spPr>
        <p:txBody>
          <a:bodyPr anchor="t">
            <a:spAutoFit/>
          </a:bodyPr>
          <a:p>
            <a:pPr>
              <a:spcBef>
                <a:spcPct val="50000"/>
              </a:spcBef>
            </a:pPr>
            <a:r>
              <a:rPr lang="zh-CN" altLang="en-US" sz="2800" b="1">
                <a:solidFill>
                  <a:srgbClr val="FF3300"/>
                </a:solidFill>
                <a:latin typeface="楷体_GB2312" pitchFamily="49" charset="-122"/>
                <a:ea typeface="楷体_GB2312" pitchFamily="49" charset="-122"/>
              </a:rPr>
              <a:t>创新意识  团队精神  重在参与  公平竞争</a:t>
            </a:r>
            <a:endParaRPr lang="zh-CN" altLang="en-US" sz="2800" b="1">
              <a:solidFill>
                <a:srgbClr val="FF3300"/>
              </a:solidFill>
              <a:latin typeface="楷体_GB2312" pitchFamily="49" charset="-122"/>
              <a:ea typeface="楷体_GB2312" pitchFamily="49" charset="-122"/>
            </a:endParaRPr>
          </a:p>
        </p:txBody>
      </p:sp>
      <p:sp>
        <p:nvSpPr>
          <p:cNvPr id="23562" name="Text Box 10"/>
          <p:cNvSpPr txBox="1"/>
          <p:nvPr/>
        </p:nvSpPr>
        <p:spPr>
          <a:xfrm>
            <a:off x="381000" y="4724400"/>
            <a:ext cx="1066800" cy="588963"/>
          </a:xfrm>
          <a:prstGeom prst="rect">
            <a:avLst/>
          </a:prstGeom>
          <a:solidFill>
            <a:srgbClr val="FFCCFF"/>
          </a:solidFill>
          <a:ln w="9525" cap="flat" cmpd="sng">
            <a:solidFill>
              <a:schemeClr val="tx1"/>
            </a:solidFill>
            <a:prstDash val="solid"/>
            <a:miter/>
            <a:headEnd type="none" w="med" len="med"/>
            <a:tailEnd type="none" w="med" len="med"/>
          </a:ln>
        </p:spPr>
        <p:txBody>
          <a:bodyPr anchor="t">
            <a:spAutoFit/>
          </a:bodyPr>
          <a:p>
            <a:pPr>
              <a:spcBef>
                <a:spcPct val="50000"/>
              </a:spcBef>
            </a:pPr>
            <a:r>
              <a:rPr lang="zh-CN" altLang="en-US" sz="3200" b="1">
                <a:latin typeface="Times New Roman" panose="02020603050405020304" pitchFamily="18" charset="0"/>
                <a:ea typeface="隶书" panose="02010509060101010101" pitchFamily="49" charset="-122"/>
              </a:rPr>
              <a:t>标准</a:t>
            </a:r>
            <a:endParaRPr lang="zh-CN" altLang="en-US" sz="3200" b="1">
              <a:latin typeface="Times New Roman" panose="02020603050405020304" pitchFamily="18" charset="0"/>
              <a:ea typeface="隶书" panose="02010509060101010101" pitchFamily="49" charset="-122"/>
            </a:endParaRPr>
          </a:p>
        </p:txBody>
      </p:sp>
      <p:sp>
        <p:nvSpPr>
          <p:cNvPr id="23563" name="Text Box 11"/>
          <p:cNvSpPr txBox="1"/>
          <p:nvPr/>
        </p:nvSpPr>
        <p:spPr>
          <a:xfrm>
            <a:off x="1600200" y="4643438"/>
            <a:ext cx="5402263" cy="1117600"/>
          </a:xfrm>
          <a:prstGeom prst="rect">
            <a:avLst/>
          </a:prstGeom>
          <a:noFill/>
          <a:ln w="9525">
            <a:noFill/>
          </a:ln>
        </p:spPr>
        <p:txBody>
          <a:bodyPr anchor="t">
            <a:spAutoFit/>
          </a:bodyPr>
          <a:p>
            <a:pPr>
              <a:lnSpc>
                <a:spcPct val="120000"/>
              </a:lnSpc>
              <a:spcBef>
                <a:spcPct val="50000"/>
              </a:spcBef>
            </a:pPr>
            <a:r>
              <a:rPr lang="zh-CN" altLang="en-US" sz="2800" b="1">
                <a:latin typeface="Times New Roman" panose="02020603050405020304" pitchFamily="18" charset="0"/>
                <a:ea typeface="宋体" panose="02010600030101010101" pitchFamily="2" charset="-122"/>
              </a:rPr>
              <a:t>假设的合理性，建模的创造性，结果的正确性，表述的清晰性。</a:t>
            </a:r>
            <a:endParaRPr lang="zh-CN" altLang="en-US" sz="2800" b="1">
              <a:latin typeface="Times New Roman" panose="02020603050405020304" pitchFamily="18" charset="0"/>
              <a:ea typeface="宋体" panose="02010600030101010101" pitchFamily="2" charset="-122"/>
            </a:endParaRPr>
          </a:p>
        </p:txBody>
      </p:sp>
      <p:sp>
        <p:nvSpPr>
          <p:cNvPr id="109579" name="Text Box 12"/>
          <p:cNvSpPr txBox="1"/>
          <p:nvPr/>
        </p:nvSpPr>
        <p:spPr>
          <a:xfrm>
            <a:off x="539750" y="476250"/>
            <a:ext cx="7993063" cy="579438"/>
          </a:xfrm>
          <a:prstGeom prst="rect">
            <a:avLst/>
          </a:prstGeom>
          <a:noFill/>
          <a:ln w="9525">
            <a:noFill/>
          </a:ln>
        </p:spPr>
        <p:txBody>
          <a:bodyPr anchor="t">
            <a:spAutoFit/>
          </a:bodyPr>
          <a:p>
            <a:pPr algn="ctr"/>
            <a:r>
              <a:rPr lang="zh-CN" altLang="en-US" sz="3200" b="1">
                <a:solidFill>
                  <a:srgbClr val="FF3300"/>
                </a:solidFill>
                <a:latin typeface="Times New Roman" panose="02020603050405020304" pitchFamily="18" charset="0"/>
                <a:ea typeface="楷体_GB2312" pitchFamily="49" charset="-122"/>
              </a:rPr>
              <a:t>数学建模竞赛内容与形式</a:t>
            </a:r>
            <a:endParaRPr lang="zh-CN" altLang="en-US" sz="3200" b="1">
              <a:solidFill>
                <a:srgbClr val="FF33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p:cTn id="7" dur="500" fill="hold"/>
                                        <p:tgtEl>
                                          <p:spTgt spid="23554"/>
                                        </p:tgtEl>
                                        <p:attrNameLst>
                                          <p:attrName>ppt_x</p:attrName>
                                        </p:attrNameLst>
                                      </p:cBhvr>
                                      <p:tavLst>
                                        <p:tav tm="0">
                                          <p:val>
                                            <p:strVal val="0-#ppt_w/2"/>
                                          </p:val>
                                        </p:tav>
                                        <p:tav tm="100000">
                                          <p:val>
                                            <p:strVal val="#ppt_x"/>
                                          </p:val>
                                        </p:tav>
                                      </p:tavLst>
                                    </p:anim>
                                    <p:anim calcmode="lin" valueType="num">
                                      <p:cBhvr>
                                        <p:cTn id="8" dur="500" fill="hold"/>
                                        <p:tgtEl>
                                          <p:spTgt spid="2355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3555"/>
                                        </p:tgtEl>
                                        <p:attrNameLst>
                                          <p:attrName>style.visibility</p:attrName>
                                        </p:attrNameLst>
                                      </p:cBhvr>
                                      <p:to>
                                        <p:strVal val="visible"/>
                                      </p:to>
                                    </p:set>
                                    <p:animEffect transition="in" filter="blinds(horizontal)">
                                      <p:cBhvr>
                                        <p:cTn id="13" dur="500"/>
                                        <p:tgtEl>
                                          <p:spTgt spid="2355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23556"/>
                                        </p:tgtEl>
                                        <p:attrNameLst>
                                          <p:attrName>style.visibility</p:attrName>
                                        </p:attrNameLst>
                                      </p:cBhvr>
                                      <p:to>
                                        <p:strVal val="visible"/>
                                      </p:to>
                                    </p:set>
                                    <p:animEffect transition="in" filter="blinds(vertical)">
                                      <p:cBhvr>
                                        <p:cTn id="18" dur="500"/>
                                        <p:tgtEl>
                                          <p:spTgt spid="2355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3557"/>
                                        </p:tgtEl>
                                        <p:attrNameLst>
                                          <p:attrName>style.visibility</p:attrName>
                                        </p:attrNameLst>
                                      </p:cBhvr>
                                      <p:to>
                                        <p:strVal val="visible"/>
                                      </p:to>
                                    </p:set>
                                    <p:anim calcmode="lin" valueType="num">
                                      <p:cBhvr>
                                        <p:cTn id="23" dur="500" fill="hold"/>
                                        <p:tgtEl>
                                          <p:spTgt spid="23557"/>
                                        </p:tgtEl>
                                        <p:attrNameLst>
                                          <p:attrName>ppt_x</p:attrName>
                                        </p:attrNameLst>
                                      </p:cBhvr>
                                      <p:tavLst>
                                        <p:tav tm="0">
                                          <p:val>
                                            <p:strVal val="0-#ppt_w/2"/>
                                          </p:val>
                                        </p:tav>
                                        <p:tav tm="100000">
                                          <p:val>
                                            <p:strVal val="#ppt_x"/>
                                          </p:val>
                                        </p:tav>
                                      </p:tavLst>
                                    </p:anim>
                                    <p:anim calcmode="lin" valueType="num">
                                      <p:cBhvr>
                                        <p:cTn id="24" dur="500" fill="hold"/>
                                        <p:tgtEl>
                                          <p:spTgt spid="2355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3558"/>
                                        </p:tgtEl>
                                        <p:attrNameLst>
                                          <p:attrName>style.visibility</p:attrName>
                                        </p:attrNameLst>
                                      </p:cBhvr>
                                      <p:to>
                                        <p:strVal val="visible"/>
                                      </p:to>
                                    </p:set>
                                    <p:animEffect transition="in" filter="wipe(left)">
                                      <p:cBhvr>
                                        <p:cTn id="29" dur="500"/>
                                        <p:tgtEl>
                                          <p:spTgt spid="23558"/>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2" fill="hold" grpId="0" nodeType="clickEffect">
                                  <p:stCondLst>
                                    <p:cond delay="0"/>
                                  </p:stCondLst>
                                  <p:childTnLst>
                                    <p:set>
                                      <p:cBhvr>
                                        <p:cTn id="33" dur="1" fill="hold">
                                          <p:stCondLst>
                                            <p:cond delay="0"/>
                                          </p:stCondLst>
                                        </p:cTn>
                                        <p:tgtEl>
                                          <p:spTgt spid="23559"/>
                                        </p:tgtEl>
                                        <p:attrNameLst>
                                          <p:attrName>style.visibility</p:attrName>
                                        </p:attrNameLst>
                                      </p:cBhvr>
                                      <p:to>
                                        <p:strVal val="visible"/>
                                      </p:to>
                                    </p:set>
                                    <p:animEffect transition="in" filter="slide(fromRight)">
                                      <p:cBhvr>
                                        <p:cTn id="34" dur="500"/>
                                        <p:tgtEl>
                                          <p:spTgt spid="2355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3562"/>
                                        </p:tgtEl>
                                        <p:attrNameLst>
                                          <p:attrName>style.visibility</p:attrName>
                                        </p:attrNameLst>
                                      </p:cBhvr>
                                      <p:to>
                                        <p:strVal val="visible"/>
                                      </p:to>
                                    </p:set>
                                    <p:anim calcmode="lin" valueType="num">
                                      <p:cBhvr>
                                        <p:cTn id="39" dur="500" fill="hold"/>
                                        <p:tgtEl>
                                          <p:spTgt spid="23562"/>
                                        </p:tgtEl>
                                        <p:attrNameLst>
                                          <p:attrName>ppt_x</p:attrName>
                                        </p:attrNameLst>
                                      </p:cBhvr>
                                      <p:tavLst>
                                        <p:tav tm="0">
                                          <p:val>
                                            <p:strVal val="0-#ppt_w/2"/>
                                          </p:val>
                                        </p:tav>
                                        <p:tav tm="100000">
                                          <p:val>
                                            <p:strVal val="#ppt_x"/>
                                          </p:val>
                                        </p:tav>
                                      </p:tavLst>
                                    </p:anim>
                                    <p:anim calcmode="lin" valueType="num">
                                      <p:cBhvr>
                                        <p:cTn id="40" dur="500" fill="hold"/>
                                        <p:tgtEl>
                                          <p:spTgt spid="2356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23563"/>
                                        </p:tgtEl>
                                        <p:attrNameLst>
                                          <p:attrName>style.visibility</p:attrName>
                                        </p:attrNameLst>
                                      </p:cBhvr>
                                      <p:to>
                                        <p:strVal val="visible"/>
                                      </p:to>
                                    </p:set>
                                    <p:animEffect transition="in" filter="box(in)">
                                      <p:cBhvr>
                                        <p:cTn id="45" dur="500"/>
                                        <p:tgtEl>
                                          <p:spTgt spid="23563"/>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23560"/>
                                        </p:tgtEl>
                                        <p:attrNameLst>
                                          <p:attrName>style.visibility</p:attrName>
                                        </p:attrNameLst>
                                      </p:cBhvr>
                                      <p:to>
                                        <p:strVal val="visible"/>
                                      </p:to>
                                    </p:set>
                                    <p:anim calcmode="lin" valueType="num">
                                      <p:cBhvr>
                                        <p:cTn id="50" dur="500" fill="hold"/>
                                        <p:tgtEl>
                                          <p:spTgt spid="23560"/>
                                        </p:tgtEl>
                                        <p:attrNameLst>
                                          <p:attrName>ppt_x</p:attrName>
                                        </p:attrNameLst>
                                      </p:cBhvr>
                                      <p:tavLst>
                                        <p:tav tm="0">
                                          <p:val>
                                            <p:strVal val="0-#ppt_w/2"/>
                                          </p:val>
                                        </p:tav>
                                        <p:tav tm="100000">
                                          <p:val>
                                            <p:strVal val="#ppt_x"/>
                                          </p:val>
                                        </p:tav>
                                      </p:tavLst>
                                    </p:anim>
                                    <p:anim calcmode="lin" valueType="num">
                                      <p:cBhvr>
                                        <p:cTn id="51" dur="500" fill="hold"/>
                                        <p:tgtEl>
                                          <p:spTgt spid="23560"/>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 presetClass="entr" presetSubtype="32" fill="hold" grpId="0" nodeType="clickEffect">
                                  <p:stCondLst>
                                    <p:cond delay="0"/>
                                  </p:stCondLst>
                                  <p:childTnLst>
                                    <p:set>
                                      <p:cBhvr>
                                        <p:cTn id="55" dur="1" fill="hold">
                                          <p:stCondLst>
                                            <p:cond delay="0"/>
                                          </p:stCondLst>
                                        </p:cTn>
                                        <p:tgtEl>
                                          <p:spTgt spid="23561"/>
                                        </p:tgtEl>
                                        <p:attrNameLst>
                                          <p:attrName>style.visibility</p:attrName>
                                        </p:attrNameLst>
                                      </p:cBhvr>
                                      <p:to>
                                        <p:strVal val="visible"/>
                                      </p:to>
                                    </p:set>
                                    <p:animEffect transition="in" filter="box(out)">
                                      <p:cBhvr>
                                        <p:cTn id="56" dur="500"/>
                                        <p:tgtEl>
                                          <p:spTgt spid="23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nimBg="1"/>
      <p:bldP spid="23555" grpId="0"/>
      <p:bldP spid="23556" grpId="0"/>
      <p:bldP spid="23557" grpId="0" animBg="1"/>
      <p:bldP spid="23558" grpId="0"/>
      <p:bldP spid="23559" grpId="0"/>
      <p:bldP spid="23560" grpId="0" animBg="1"/>
      <p:bldP spid="23561" grpId="0"/>
      <p:bldP spid="23562" grpId="0" animBg="1"/>
      <p:bldP spid="2356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p:nvPr/>
        </p:nvSpPr>
        <p:spPr>
          <a:xfrm>
            <a:off x="1403350" y="476250"/>
            <a:ext cx="6119813" cy="579438"/>
          </a:xfrm>
          <a:prstGeom prst="rect">
            <a:avLst/>
          </a:prstGeom>
          <a:noFill/>
          <a:ln w="9525">
            <a:noFill/>
          </a:ln>
        </p:spPr>
        <p:txBody>
          <a:bodyPr anchor="t">
            <a:spAutoFit/>
          </a:bodyPr>
          <a:p>
            <a:pPr algn="ctr"/>
            <a:r>
              <a:rPr lang="en-US" altLang="zh-CN" sz="3200" b="1">
                <a:solidFill>
                  <a:srgbClr val="FF3300"/>
                </a:solidFill>
                <a:latin typeface="Times New Roman" panose="02020603050405020304" pitchFamily="18" charset="0"/>
                <a:ea typeface="楷体_GB2312" pitchFamily="49" charset="-122"/>
              </a:rPr>
              <a:t>CUMCM</a:t>
            </a:r>
            <a:r>
              <a:rPr lang="zh-CN" altLang="en-US" sz="3200" b="1">
                <a:solidFill>
                  <a:srgbClr val="FF3300"/>
                </a:solidFill>
                <a:latin typeface="Times New Roman" panose="02020603050405020304" pitchFamily="18" charset="0"/>
                <a:ea typeface="楷体_GB2312" pitchFamily="49" charset="-122"/>
              </a:rPr>
              <a:t>题目特点</a:t>
            </a:r>
            <a:endParaRPr lang="zh-CN" altLang="en-US" sz="3200" b="1">
              <a:solidFill>
                <a:srgbClr val="FF3300"/>
              </a:solidFill>
              <a:latin typeface="Times New Roman" panose="02020603050405020304" pitchFamily="18" charset="0"/>
              <a:ea typeface="楷体_GB2312" pitchFamily="49" charset="-122"/>
            </a:endParaRPr>
          </a:p>
        </p:txBody>
      </p:sp>
      <p:sp>
        <p:nvSpPr>
          <p:cNvPr id="25603" name="Text Box 3"/>
          <p:cNvSpPr txBox="1"/>
          <p:nvPr/>
        </p:nvSpPr>
        <p:spPr>
          <a:xfrm>
            <a:off x="323850" y="1125538"/>
            <a:ext cx="8315325" cy="1073150"/>
          </a:xfrm>
          <a:prstGeom prst="rect">
            <a:avLst/>
          </a:prstGeom>
          <a:noFill/>
          <a:ln w="9525">
            <a:noFill/>
          </a:ln>
        </p:spPr>
        <p:txBody>
          <a:bodyPr anchor="t">
            <a:spAutoFit/>
          </a:bodyPr>
          <a:p>
            <a:pPr>
              <a:lnSpc>
                <a:spcPct val="115000"/>
              </a:lnSpc>
              <a:spcBef>
                <a:spcPct val="50000"/>
              </a:spcBef>
              <a:buChar char="•"/>
            </a:pPr>
            <a:r>
              <a:rPr lang="zh-CN" altLang="en-US" sz="2800" b="1">
                <a:latin typeface="宋体" panose="02010600030101010101" pitchFamily="2" charset="-122"/>
                <a:ea typeface="宋体" panose="02010600030101010101" pitchFamily="2" charset="-122"/>
              </a:rPr>
              <a:t>题目来源</a:t>
            </a:r>
            <a:r>
              <a:rPr lang="en-US" altLang="zh-CN" sz="2800" b="1">
                <a:latin typeface="宋体" panose="02010600030101010101" pitchFamily="2" charset="-122"/>
                <a:ea typeface="宋体" panose="02010600030101010101" pitchFamily="2" charset="-122"/>
              </a:rPr>
              <a:t>: </a:t>
            </a:r>
            <a:r>
              <a:rPr lang="zh-CN" altLang="en-US" sz="2800" b="1">
                <a:latin typeface="宋体" panose="02010600030101010101" pitchFamily="2" charset="-122"/>
                <a:ea typeface="宋体" panose="02010600030101010101" pitchFamily="2" charset="-122"/>
              </a:rPr>
              <a:t>实际研究课题的简化、改编；有实际背景问题的编撰；合适的社会热点（或兴趣）问题</a:t>
            </a:r>
            <a:endParaRPr lang="zh-CN" altLang="en-US" sz="2800" b="1">
              <a:latin typeface="宋体" panose="02010600030101010101" pitchFamily="2" charset="-122"/>
              <a:ea typeface="宋体" panose="02010600030101010101" pitchFamily="2" charset="-122"/>
            </a:endParaRPr>
          </a:p>
        </p:txBody>
      </p:sp>
      <p:sp>
        <p:nvSpPr>
          <p:cNvPr id="25604" name="Text Box 4"/>
          <p:cNvSpPr txBox="1"/>
          <p:nvPr/>
        </p:nvSpPr>
        <p:spPr>
          <a:xfrm>
            <a:off x="323850" y="2205038"/>
            <a:ext cx="7704138" cy="582612"/>
          </a:xfrm>
          <a:prstGeom prst="rect">
            <a:avLst/>
          </a:prstGeom>
          <a:solidFill>
            <a:srgbClr val="CCFFCC"/>
          </a:solidFill>
          <a:ln w="9525">
            <a:noFill/>
          </a:ln>
        </p:spPr>
        <p:txBody>
          <a:bodyPr anchor="t">
            <a:spAutoFit/>
          </a:bodyPr>
          <a:p>
            <a:pPr>
              <a:lnSpc>
                <a:spcPct val="115000"/>
              </a:lnSpc>
              <a:spcBef>
                <a:spcPct val="50000"/>
              </a:spcBef>
              <a:buChar char="•"/>
            </a:pPr>
            <a:r>
              <a:rPr lang="zh-CN" altLang="en-US" sz="2800" b="1">
                <a:latin typeface="宋体" panose="02010600030101010101" pitchFamily="2" charset="-122"/>
                <a:ea typeface="宋体" panose="02010600030101010101" pitchFamily="2" charset="-122"/>
              </a:rPr>
              <a:t>题目背景尽量通俗易懂，涉及的专业知识不深</a:t>
            </a:r>
            <a:endParaRPr lang="zh-CN" altLang="en-US" sz="2800" b="1">
              <a:latin typeface="宋体" panose="02010600030101010101" pitchFamily="2" charset="-122"/>
              <a:ea typeface="宋体" panose="02010600030101010101" pitchFamily="2" charset="-122"/>
            </a:endParaRPr>
          </a:p>
        </p:txBody>
      </p:sp>
      <p:sp>
        <p:nvSpPr>
          <p:cNvPr id="25605" name="Text Box 5"/>
          <p:cNvSpPr txBox="1"/>
          <p:nvPr/>
        </p:nvSpPr>
        <p:spPr>
          <a:xfrm>
            <a:off x="322263" y="2852738"/>
            <a:ext cx="8137525" cy="1563687"/>
          </a:xfrm>
          <a:prstGeom prst="rect">
            <a:avLst/>
          </a:prstGeom>
          <a:noFill/>
          <a:ln w="9525">
            <a:noFill/>
          </a:ln>
        </p:spPr>
        <p:txBody>
          <a:bodyPr anchor="t">
            <a:spAutoFit/>
          </a:bodyPr>
          <a:p>
            <a:pPr>
              <a:lnSpc>
                <a:spcPct val="115000"/>
              </a:lnSpc>
              <a:spcBef>
                <a:spcPct val="50000"/>
              </a:spcBef>
              <a:buChar char="•"/>
            </a:pPr>
            <a:r>
              <a:rPr lang="zh-CN" altLang="en-US" sz="2800" b="1">
                <a:latin typeface="宋体" panose="02010600030101010101" pitchFamily="2" charset="-122"/>
                <a:ea typeface="宋体" panose="02010600030101010101" pitchFamily="2" charset="-122"/>
              </a:rPr>
              <a:t>题目需要的数学知识一般不超过本科的三门主干课（非数学专业）内容及统计、优化、计算等基本方法；专科题目力求少用大学数学内容</a:t>
            </a:r>
            <a:endParaRPr lang="zh-CN" altLang="en-US" sz="2800" b="1">
              <a:latin typeface="宋体" panose="02010600030101010101" pitchFamily="2" charset="-122"/>
              <a:ea typeface="宋体" panose="02010600030101010101" pitchFamily="2" charset="-122"/>
            </a:endParaRPr>
          </a:p>
        </p:txBody>
      </p:sp>
      <p:sp>
        <p:nvSpPr>
          <p:cNvPr id="25606" name="Text Box 6"/>
          <p:cNvSpPr txBox="1"/>
          <p:nvPr/>
        </p:nvSpPr>
        <p:spPr>
          <a:xfrm>
            <a:off x="323850" y="4508500"/>
            <a:ext cx="7848600" cy="519113"/>
          </a:xfrm>
          <a:prstGeom prst="rect">
            <a:avLst/>
          </a:prstGeom>
          <a:solidFill>
            <a:srgbClr val="FFCCFF"/>
          </a:solidFill>
          <a:ln w="9525">
            <a:noFill/>
          </a:ln>
        </p:spPr>
        <p:txBody>
          <a:bodyPr anchor="t">
            <a:spAutoFit/>
          </a:bodyPr>
          <a:p>
            <a:pPr>
              <a:spcBef>
                <a:spcPct val="50000"/>
              </a:spcBef>
              <a:buChar char="•"/>
            </a:pPr>
            <a:r>
              <a:rPr lang="zh-CN" altLang="en-US" sz="2800" b="1">
                <a:latin typeface="宋体" panose="02010600030101010101" pitchFamily="2" charset="-122"/>
                <a:ea typeface="宋体" panose="02010600030101010101" pitchFamily="2" charset="-122"/>
              </a:rPr>
              <a:t>解题所用的数学方法尽量多元化、综合化</a:t>
            </a:r>
            <a:endParaRPr lang="zh-CN" altLang="en-US" sz="2800" b="1">
              <a:latin typeface="宋体" panose="02010600030101010101" pitchFamily="2" charset="-122"/>
              <a:ea typeface="宋体" panose="02010600030101010101" pitchFamily="2" charset="-122"/>
            </a:endParaRPr>
          </a:p>
        </p:txBody>
      </p:sp>
      <p:sp>
        <p:nvSpPr>
          <p:cNvPr id="25607" name="Text Box 7"/>
          <p:cNvSpPr txBox="1"/>
          <p:nvPr/>
        </p:nvSpPr>
        <p:spPr>
          <a:xfrm>
            <a:off x="323850" y="5084763"/>
            <a:ext cx="8424863" cy="519112"/>
          </a:xfrm>
          <a:prstGeom prst="rect">
            <a:avLst/>
          </a:prstGeom>
          <a:noFill/>
          <a:ln w="9525">
            <a:noFill/>
          </a:ln>
        </p:spPr>
        <p:txBody>
          <a:bodyPr anchor="t">
            <a:spAutoFit/>
          </a:bodyPr>
          <a:p>
            <a:pPr>
              <a:spcBef>
                <a:spcPct val="50000"/>
              </a:spcBef>
              <a:buChar char="•"/>
            </a:pPr>
            <a:r>
              <a:rPr lang="zh-CN" altLang="en-US" sz="2800" b="1">
                <a:latin typeface="宋体" panose="02010600030101010101" pitchFamily="2" charset="-122"/>
                <a:ea typeface="宋体" panose="02010600030101010101" pitchFamily="2" charset="-122"/>
              </a:rPr>
              <a:t>可以查阅到一些参考材料，但是无法照搬现成文献</a:t>
            </a:r>
            <a:endParaRPr lang="zh-CN" altLang="en-US" sz="2800" b="1">
              <a:latin typeface="宋体" panose="02010600030101010101" pitchFamily="2" charset="-122"/>
              <a:ea typeface="宋体" panose="02010600030101010101" pitchFamily="2" charset="-122"/>
            </a:endParaRPr>
          </a:p>
        </p:txBody>
      </p:sp>
      <p:sp>
        <p:nvSpPr>
          <p:cNvPr id="25608" name="Text Box 8"/>
          <p:cNvSpPr txBox="1"/>
          <p:nvPr/>
        </p:nvSpPr>
        <p:spPr>
          <a:xfrm>
            <a:off x="323850" y="5734050"/>
            <a:ext cx="5976938" cy="519113"/>
          </a:xfrm>
          <a:prstGeom prst="rect">
            <a:avLst/>
          </a:prstGeom>
          <a:solidFill>
            <a:srgbClr val="FFCC99"/>
          </a:solidFill>
          <a:ln w="9525">
            <a:noFill/>
          </a:ln>
        </p:spPr>
        <p:txBody>
          <a:bodyPr anchor="t">
            <a:spAutoFit/>
          </a:bodyPr>
          <a:p>
            <a:pPr>
              <a:spcBef>
                <a:spcPct val="50000"/>
              </a:spcBef>
              <a:buChar char="•"/>
            </a:pPr>
            <a:r>
              <a:rPr lang="zh-CN" altLang="en-US" sz="2800" b="1">
                <a:latin typeface="宋体" panose="02010600030101010101" pitchFamily="2" charset="-122"/>
                <a:ea typeface="宋体" panose="02010600030101010101" pitchFamily="2" charset="-122"/>
              </a:rPr>
              <a:t>兼顾数据的处理与数据的收集</a:t>
            </a:r>
            <a:endParaRPr lang="zh-CN" altLang="en-US" sz="2800" b="1">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dissolve">
                                      <p:cBhvr>
                                        <p:cTn id="7" dur="500"/>
                                        <p:tgtEl>
                                          <p:spTgt spid="2560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604"/>
                                        </p:tgtEl>
                                        <p:attrNameLst>
                                          <p:attrName>style.visibility</p:attrName>
                                        </p:attrNameLst>
                                      </p:cBhvr>
                                      <p:to>
                                        <p:strVal val="visible"/>
                                      </p:to>
                                    </p:set>
                                    <p:animEffect transition="in" filter="dissolve">
                                      <p:cBhvr>
                                        <p:cTn id="12" dur="500"/>
                                        <p:tgtEl>
                                          <p:spTgt spid="2560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605"/>
                                        </p:tgtEl>
                                        <p:attrNameLst>
                                          <p:attrName>style.visibility</p:attrName>
                                        </p:attrNameLst>
                                      </p:cBhvr>
                                      <p:to>
                                        <p:strVal val="visible"/>
                                      </p:to>
                                    </p:set>
                                    <p:animEffect transition="in" filter="dissolve">
                                      <p:cBhvr>
                                        <p:cTn id="17" dur="500"/>
                                        <p:tgtEl>
                                          <p:spTgt spid="25605"/>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5606"/>
                                        </p:tgtEl>
                                        <p:attrNameLst>
                                          <p:attrName>style.visibility</p:attrName>
                                        </p:attrNameLst>
                                      </p:cBhvr>
                                      <p:to>
                                        <p:strVal val="visible"/>
                                      </p:to>
                                    </p:set>
                                    <p:animEffect transition="in" filter="checkerboard(across)">
                                      <p:cBhvr>
                                        <p:cTn id="22" dur="500"/>
                                        <p:tgtEl>
                                          <p:spTgt spid="2560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5607">
                                            <p:txEl>
                                              <p:charRg st="0" end="23"/>
                                            </p:txEl>
                                          </p:spTgt>
                                        </p:tgtEl>
                                        <p:attrNameLst>
                                          <p:attrName>style.visibility</p:attrName>
                                        </p:attrNameLst>
                                      </p:cBhvr>
                                      <p:to>
                                        <p:strVal val="visible"/>
                                      </p:to>
                                    </p:set>
                                    <p:animEffect transition="in" filter="dissolve">
                                      <p:cBhvr>
                                        <p:cTn id="27" dur="500"/>
                                        <p:tgtEl>
                                          <p:spTgt spid="25607">
                                            <p:txEl>
                                              <p:charRg st="0" end="2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5608"/>
                                        </p:tgtEl>
                                        <p:attrNameLst>
                                          <p:attrName>style.visibility</p:attrName>
                                        </p:attrNameLst>
                                      </p:cBhvr>
                                      <p:to>
                                        <p:strVal val="visible"/>
                                      </p:to>
                                    </p:set>
                                    <p:animEffect transition="in" filter="checkerboard(across)">
                                      <p:cBhvr>
                                        <p:cTn id="32" dur="500"/>
                                        <p:tgtEl>
                                          <p:spTgt spid="25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25604" grpId="0" animBg="1"/>
      <p:bldP spid="25605" grpId="0"/>
      <p:bldP spid="25606" grpId="0" animBg="1"/>
      <p:bldP spid="2560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Text Box 2"/>
          <p:cNvSpPr txBox="1"/>
          <p:nvPr/>
        </p:nvSpPr>
        <p:spPr>
          <a:xfrm>
            <a:off x="539750" y="476250"/>
            <a:ext cx="7993063" cy="579438"/>
          </a:xfrm>
          <a:prstGeom prst="rect">
            <a:avLst/>
          </a:prstGeom>
          <a:noFill/>
          <a:ln w="9525">
            <a:noFill/>
          </a:ln>
        </p:spPr>
        <p:txBody>
          <a:bodyPr anchor="t">
            <a:spAutoFit/>
          </a:bodyPr>
          <a:p>
            <a:pPr algn="ctr"/>
            <a:r>
              <a:rPr lang="zh-CN" altLang="en-US" sz="3200" b="1">
                <a:solidFill>
                  <a:srgbClr val="FF3300"/>
                </a:solidFill>
                <a:latin typeface="楷体_GB2312" pitchFamily="49" charset="-122"/>
                <a:ea typeface="楷体_GB2312" pitchFamily="49" charset="-122"/>
              </a:rPr>
              <a:t>竞赛培养创新精神和综合素质 </a:t>
            </a:r>
            <a:endParaRPr lang="zh-CN" altLang="en-US" sz="3200" b="1">
              <a:solidFill>
                <a:srgbClr val="FF3300"/>
              </a:solidFill>
              <a:latin typeface="楷体_GB2312" pitchFamily="49" charset="-122"/>
              <a:ea typeface="楷体_GB2312" pitchFamily="49" charset="-122"/>
            </a:endParaRPr>
          </a:p>
        </p:txBody>
      </p:sp>
      <p:sp>
        <p:nvSpPr>
          <p:cNvPr id="26627" name="Text Box 3"/>
          <p:cNvSpPr txBox="1"/>
          <p:nvPr/>
        </p:nvSpPr>
        <p:spPr>
          <a:xfrm>
            <a:off x="250825" y="1341438"/>
            <a:ext cx="8713788" cy="1073150"/>
          </a:xfrm>
          <a:prstGeom prst="rect">
            <a:avLst/>
          </a:prstGeom>
          <a:no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赛题紧密结合科技和社会热点问题，培养理论联系实际的学风和实践能力 </a:t>
            </a:r>
            <a:endParaRPr lang="zh-CN" altLang="en-US" sz="2800" b="1">
              <a:latin typeface="Times New Roman" panose="02020603050405020304" pitchFamily="18" charset="0"/>
              <a:ea typeface="宋体" panose="02010600030101010101" pitchFamily="2" charset="-122"/>
            </a:endParaRPr>
          </a:p>
        </p:txBody>
      </p:sp>
      <p:sp>
        <p:nvSpPr>
          <p:cNvPr id="26628" name="Text Box 4"/>
          <p:cNvSpPr txBox="1"/>
          <p:nvPr/>
        </p:nvSpPr>
        <p:spPr>
          <a:xfrm>
            <a:off x="250825" y="3789363"/>
            <a:ext cx="8642350" cy="1073150"/>
          </a:xfrm>
          <a:prstGeom prst="rect">
            <a:avLst/>
          </a:prstGeom>
          <a:no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解决方法没有任何限制，培养主动学习、独立研究的能力</a:t>
            </a:r>
            <a:r>
              <a:rPr lang="zh-CN" altLang="en-US" sz="2800">
                <a:latin typeface="Times New Roman" panose="02020603050405020304" pitchFamily="18" charset="0"/>
                <a:ea typeface="宋体" panose="02010600030101010101" pitchFamily="2" charset="-122"/>
              </a:rPr>
              <a:t> </a:t>
            </a:r>
            <a:endParaRPr lang="zh-CN" altLang="en-US" sz="2800">
              <a:latin typeface="Times New Roman" panose="02020603050405020304" pitchFamily="18" charset="0"/>
              <a:ea typeface="宋体" panose="02010600030101010101" pitchFamily="2" charset="-122"/>
            </a:endParaRPr>
          </a:p>
        </p:txBody>
      </p:sp>
      <p:sp>
        <p:nvSpPr>
          <p:cNvPr id="26629" name="Text Box 5"/>
          <p:cNvSpPr txBox="1"/>
          <p:nvPr/>
        </p:nvSpPr>
        <p:spPr>
          <a:xfrm>
            <a:off x="250825" y="5013325"/>
            <a:ext cx="8713788" cy="1073150"/>
          </a:xfrm>
          <a:prstGeom prst="rect">
            <a:avLst/>
          </a:prstGeom>
          <a:solidFill>
            <a:srgbClr val="FFCC99"/>
          </a:solid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没有事先设定的标准答案，留有充分余地供同学们发挥聪明才智和创造精神 </a:t>
            </a:r>
            <a:endParaRPr lang="zh-CN" altLang="en-US" sz="2800" b="1">
              <a:latin typeface="Times New Roman" panose="02020603050405020304" pitchFamily="18" charset="0"/>
              <a:ea typeface="宋体" panose="02010600030101010101" pitchFamily="2" charset="-122"/>
            </a:endParaRPr>
          </a:p>
        </p:txBody>
      </p:sp>
      <p:sp>
        <p:nvSpPr>
          <p:cNvPr id="26630" name="Text Box 6"/>
          <p:cNvSpPr txBox="1"/>
          <p:nvPr/>
        </p:nvSpPr>
        <p:spPr>
          <a:xfrm>
            <a:off x="323850" y="2420938"/>
            <a:ext cx="8451850" cy="1117600"/>
          </a:xfrm>
          <a:prstGeom prst="rect">
            <a:avLst/>
          </a:prstGeom>
          <a:solidFill>
            <a:srgbClr val="FFCC99"/>
          </a:solidFill>
          <a:ln w="9525">
            <a:noFill/>
          </a:ln>
        </p:spPr>
        <p:txBody>
          <a:bodyPr anchor="t">
            <a:spAutoFit/>
          </a:bodyPr>
          <a:p>
            <a:pPr>
              <a:lnSpc>
                <a:spcPct val="120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综合运用学过的数学知识和计算机技术</a:t>
            </a: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选择合适的数学软件</a:t>
            </a: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通过数学建模分析、解决实际问题的能力</a:t>
            </a:r>
            <a:r>
              <a:rPr lang="zh-CN" altLang="en-US" sz="2800">
                <a:latin typeface="Times New Roman" panose="02020603050405020304" pitchFamily="18" charset="0"/>
                <a:ea typeface="宋体" panose="02010600030101010101" pitchFamily="2" charset="-122"/>
              </a:rPr>
              <a:t> </a:t>
            </a:r>
            <a:endParaRPr lang="zh-CN" altLang="en-US" sz="280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gtEl>
                                        <p:attrNameLst>
                                          <p:attrName>style.visibility</p:attrName>
                                        </p:attrNameLst>
                                      </p:cBhvr>
                                      <p:to>
                                        <p:strVal val="visible"/>
                                      </p:to>
                                    </p:set>
                                    <p:animEffect transition="in" filter="blinds(horizontal)">
                                      <p:cBhvr>
                                        <p:cTn id="7" dur="500"/>
                                        <p:tgtEl>
                                          <p:spTgt spid="2662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6630"/>
                                        </p:tgtEl>
                                        <p:attrNameLst>
                                          <p:attrName>style.visibility</p:attrName>
                                        </p:attrNameLst>
                                      </p:cBhvr>
                                      <p:to>
                                        <p:strVal val="visible"/>
                                      </p:to>
                                    </p:set>
                                    <p:animEffect transition="in" filter="box(in)">
                                      <p:cBhvr>
                                        <p:cTn id="12" dur="500"/>
                                        <p:tgtEl>
                                          <p:spTgt spid="2663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28"/>
                                        </p:tgtEl>
                                        <p:attrNameLst>
                                          <p:attrName>style.visibility</p:attrName>
                                        </p:attrNameLst>
                                      </p:cBhvr>
                                      <p:to>
                                        <p:strVal val="visible"/>
                                      </p:to>
                                    </p:set>
                                    <p:animEffect transition="in" filter="blinds(horizontal)">
                                      <p:cBhvr>
                                        <p:cTn id="17" dur="500"/>
                                        <p:tgtEl>
                                          <p:spTgt spid="2662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29"/>
                                        </p:tgtEl>
                                        <p:attrNameLst>
                                          <p:attrName>style.visibility</p:attrName>
                                        </p:attrNameLst>
                                      </p:cBhvr>
                                      <p:to>
                                        <p:strVal val="visible"/>
                                      </p:to>
                                    </p:set>
                                    <p:animEffect transition="in" filter="blinds(horizontal)">
                                      <p:cBhvr>
                                        <p:cTn id="22"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p:bldP spid="26628" grpId="0"/>
      <p:bldP spid="26629" grpId="0" animBg="1"/>
      <p:bldP spid="2663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Text Box 2"/>
          <p:cNvSpPr txBox="1"/>
          <p:nvPr/>
        </p:nvSpPr>
        <p:spPr>
          <a:xfrm>
            <a:off x="539750" y="476250"/>
            <a:ext cx="7993063" cy="579438"/>
          </a:xfrm>
          <a:prstGeom prst="rect">
            <a:avLst/>
          </a:prstGeom>
          <a:noFill/>
          <a:ln w="9525">
            <a:noFill/>
          </a:ln>
        </p:spPr>
        <p:txBody>
          <a:bodyPr anchor="t">
            <a:spAutoFit/>
          </a:bodyPr>
          <a:p>
            <a:pPr algn="ctr"/>
            <a:r>
              <a:rPr lang="zh-CN" altLang="en-US" sz="3200" b="1">
                <a:solidFill>
                  <a:srgbClr val="FF3300"/>
                </a:solidFill>
                <a:latin typeface="楷体_GB2312" pitchFamily="49" charset="-122"/>
                <a:ea typeface="楷体_GB2312" pitchFamily="49" charset="-122"/>
              </a:rPr>
              <a:t>数学建模竞赛三阶段</a:t>
            </a:r>
            <a:endParaRPr lang="zh-CN" altLang="en-US" sz="3200" b="1">
              <a:solidFill>
                <a:srgbClr val="FF3300"/>
              </a:solidFill>
              <a:latin typeface="楷体_GB2312" pitchFamily="49" charset="-122"/>
              <a:ea typeface="楷体_GB2312" pitchFamily="49" charset="-122"/>
            </a:endParaRPr>
          </a:p>
        </p:txBody>
      </p:sp>
      <p:sp>
        <p:nvSpPr>
          <p:cNvPr id="27651" name="Text Box 3"/>
          <p:cNvSpPr txBox="1"/>
          <p:nvPr/>
        </p:nvSpPr>
        <p:spPr>
          <a:xfrm>
            <a:off x="468313" y="1196975"/>
            <a:ext cx="8351837" cy="519113"/>
          </a:xfrm>
          <a:prstGeom prst="rect">
            <a:avLst/>
          </a:prstGeom>
          <a:noFill/>
          <a:ln w="9525">
            <a:noFill/>
          </a:ln>
        </p:spPr>
        <p:txBody>
          <a:bodyPr anchor="t">
            <a:spAutoFit/>
          </a:bodyPr>
          <a:p>
            <a:pPr>
              <a:spcBef>
                <a:spcPct val="50000"/>
              </a:spcBef>
            </a:pPr>
            <a:r>
              <a:rPr lang="zh-CN" altLang="en-US" sz="2800" b="1">
                <a:latin typeface="Times New Roman" panose="02020603050405020304" pitchFamily="18" charset="0"/>
                <a:ea typeface="宋体" panose="02010600030101010101" pitchFamily="2" charset="-122"/>
              </a:rPr>
              <a:t>竞赛三阶段</a:t>
            </a: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赛前培训、三天竞赛、赛后继续</a:t>
            </a:r>
            <a:endParaRPr lang="zh-CN" altLang="en-US" sz="2800" b="1">
              <a:latin typeface="Times New Roman" panose="02020603050405020304" pitchFamily="18" charset="0"/>
              <a:ea typeface="宋体" panose="02010600030101010101" pitchFamily="2" charset="-122"/>
            </a:endParaRPr>
          </a:p>
        </p:txBody>
      </p:sp>
      <p:sp>
        <p:nvSpPr>
          <p:cNvPr id="27652" name="Text Box 4"/>
          <p:cNvSpPr txBox="1"/>
          <p:nvPr/>
        </p:nvSpPr>
        <p:spPr>
          <a:xfrm>
            <a:off x="468313" y="1916113"/>
            <a:ext cx="8351837" cy="1073150"/>
          </a:xfrm>
          <a:prstGeom prst="rect">
            <a:avLst/>
          </a:prstGeom>
          <a:no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2004</a:t>
            </a:r>
            <a:r>
              <a:rPr lang="zh-CN" altLang="en-US" sz="2800" b="1">
                <a:latin typeface="Times New Roman" panose="02020603050405020304" pitchFamily="18" charset="0"/>
                <a:ea typeface="宋体" panose="02010600030101010101" pitchFamily="2" charset="-122"/>
              </a:rPr>
              <a:t>年的“饮酒驾车”赛题是让学生分析、估计司机饮用少量酒后多长时间驾车才符合交通规则</a:t>
            </a:r>
            <a:endParaRPr lang="zh-CN" altLang="en-US" sz="2800">
              <a:latin typeface="Times New Roman" panose="02020603050405020304" pitchFamily="18" charset="0"/>
              <a:ea typeface="宋体" panose="02010600030101010101" pitchFamily="2" charset="-122"/>
            </a:endParaRPr>
          </a:p>
        </p:txBody>
      </p:sp>
      <p:sp>
        <p:nvSpPr>
          <p:cNvPr id="27653" name="Text Box 5"/>
          <p:cNvSpPr txBox="1"/>
          <p:nvPr/>
        </p:nvSpPr>
        <p:spPr>
          <a:xfrm>
            <a:off x="468313" y="3103563"/>
            <a:ext cx="8207375" cy="2054225"/>
          </a:xfrm>
          <a:prstGeom prst="rect">
            <a:avLst/>
          </a:prstGeom>
          <a:no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重庆某校师生与当地交警大队联系，由交警大队安排司机做试验，由师生分析：根据司机肇事时的血液酒精浓度推测他饮用了多少酒；根据司机肇事若干时间后的血液酒精浓度推测他肇事时的浓度</a:t>
            </a:r>
            <a:endParaRPr lang="zh-CN" altLang="en-US" sz="2800" b="1">
              <a:latin typeface="Times New Roman" panose="02020603050405020304" pitchFamily="18" charset="0"/>
              <a:ea typeface="宋体" panose="02010600030101010101" pitchFamily="2" charset="-122"/>
            </a:endParaRPr>
          </a:p>
        </p:txBody>
      </p:sp>
      <p:sp>
        <p:nvSpPr>
          <p:cNvPr id="27654" name="Text Box 6"/>
          <p:cNvSpPr txBox="1"/>
          <p:nvPr/>
        </p:nvSpPr>
        <p:spPr>
          <a:xfrm>
            <a:off x="395288" y="5235575"/>
            <a:ext cx="8208962" cy="1073150"/>
          </a:xfrm>
          <a:prstGeom prst="rect">
            <a:avLst/>
          </a:prstGeom>
          <a:no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该成果参加第九届“挑战杯”全国大学生课外学术科技作品竞赛并获奖</a:t>
            </a:r>
            <a:endParaRPr lang="zh-CN" altLang="en-US" sz="280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blinds(horizontal)">
                                      <p:cBhvr>
                                        <p:cTn id="7" dur="500"/>
                                        <p:tgtEl>
                                          <p:spTgt spid="276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52"/>
                                        </p:tgtEl>
                                        <p:attrNameLst>
                                          <p:attrName>style.visibility</p:attrName>
                                        </p:attrNameLst>
                                      </p:cBhvr>
                                      <p:to>
                                        <p:strVal val="visible"/>
                                      </p:to>
                                    </p:set>
                                    <p:animEffect transition="in" filter="blinds(horizontal)">
                                      <p:cBhvr>
                                        <p:cTn id="12" dur="500"/>
                                        <p:tgtEl>
                                          <p:spTgt spid="2765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653"/>
                                        </p:tgtEl>
                                        <p:attrNameLst>
                                          <p:attrName>style.visibility</p:attrName>
                                        </p:attrNameLst>
                                      </p:cBhvr>
                                      <p:to>
                                        <p:strVal val="visible"/>
                                      </p:to>
                                    </p:set>
                                    <p:animEffect transition="in" filter="blinds(horizontal)">
                                      <p:cBhvr>
                                        <p:cTn id="17" dur="500"/>
                                        <p:tgtEl>
                                          <p:spTgt spid="2765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54"/>
                                        </p:tgtEl>
                                        <p:attrNameLst>
                                          <p:attrName>style.visibility</p:attrName>
                                        </p:attrNameLst>
                                      </p:cBhvr>
                                      <p:to>
                                        <p:strVal val="visible"/>
                                      </p:to>
                                    </p:set>
                                    <p:animEffect transition="in" filter="blinds(horizontal)">
                                      <p:cBhvr>
                                        <p:cTn id="22" dur="500"/>
                                        <p:tgtEl>
                                          <p:spTgt spid="27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27652" grpId="0"/>
      <p:bldP spid="27653" grpId="0"/>
      <p:bldP spid="2765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 Box 2"/>
          <p:cNvSpPr txBox="1"/>
          <p:nvPr/>
        </p:nvSpPr>
        <p:spPr>
          <a:xfrm>
            <a:off x="468313" y="1136650"/>
            <a:ext cx="8351837" cy="1073150"/>
          </a:xfrm>
          <a:prstGeom prst="rect">
            <a:avLst/>
          </a:prstGeom>
          <a:no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2006</a:t>
            </a:r>
            <a:r>
              <a:rPr lang="zh-CN" altLang="en-US" sz="2800" b="1">
                <a:latin typeface="Times New Roman" panose="02020603050405020304" pitchFamily="18" charset="0"/>
                <a:ea typeface="宋体" panose="02010600030101010101" pitchFamily="2" charset="-122"/>
              </a:rPr>
              <a:t>年赛题“出版社的资源配置”由高教社提供的素材形成</a:t>
            </a:r>
            <a:endParaRPr lang="zh-CN" altLang="en-US" sz="2800" b="1">
              <a:latin typeface="Times New Roman" panose="02020603050405020304" pitchFamily="18" charset="0"/>
              <a:ea typeface="宋体" panose="02010600030101010101" pitchFamily="2" charset="-122"/>
            </a:endParaRPr>
          </a:p>
        </p:txBody>
      </p:sp>
      <p:sp>
        <p:nvSpPr>
          <p:cNvPr id="28675" name="Text Box 3"/>
          <p:cNvSpPr txBox="1"/>
          <p:nvPr/>
        </p:nvSpPr>
        <p:spPr>
          <a:xfrm>
            <a:off x="457200" y="2209800"/>
            <a:ext cx="8569325" cy="1073150"/>
          </a:xfrm>
          <a:prstGeom prst="rect">
            <a:avLst/>
          </a:prstGeom>
          <a:no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赛后高教社批准了与该题相关的研究项目，吸取竞赛优秀论文的创意和一些大学生参加，进行实用研究</a:t>
            </a:r>
            <a:r>
              <a:rPr lang="zh-CN" altLang="en-US" sz="2800">
                <a:latin typeface="Times New Roman" panose="02020603050405020304" pitchFamily="18" charset="0"/>
                <a:ea typeface="宋体" panose="02010600030101010101" pitchFamily="2" charset="-122"/>
              </a:rPr>
              <a:t> </a:t>
            </a:r>
            <a:endParaRPr lang="zh-CN" altLang="en-US" sz="2800">
              <a:latin typeface="Times New Roman" panose="02020603050405020304" pitchFamily="18" charset="0"/>
              <a:ea typeface="宋体" panose="02010600030101010101" pitchFamily="2" charset="-122"/>
            </a:endParaRPr>
          </a:p>
        </p:txBody>
      </p:sp>
      <p:sp>
        <p:nvSpPr>
          <p:cNvPr id="28676" name="Text Box 4"/>
          <p:cNvSpPr txBox="1"/>
          <p:nvPr/>
        </p:nvSpPr>
        <p:spPr>
          <a:xfrm>
            <a:off x="2195513" y="3284538"/>
            <a:ext cx="4752975" cy="519112"/>
          </a:xfrm>
          <a:prstGeom prst="rect">
            <a:avLst/>
          </a:prstGeom>
          <a:noFill/>
          <a:ln w="9525">
            <a:noFill/>
          </a:ln>
        </p:spPr>
        <p:txBody>
          <a:bodyPr anchor="t">
            <a:spAutoFit/>
          </a:bodyPr>
          <a:p>
            <a:pPr>
              <a:spcBef>
                <a:spcPct val="50000"/>
              </a:spcBef>
            </a:pPr>
            <a:r>
              <a:rPr lang="en-US" altLang="zh-CN" sz="2800" b="1">
                <a:solidFill>
                  <a:srgbClr val="FF3300"/>
                </a:solidFill>
                <a:latin typeface="Times New Roman" panose="02020603050405020304" pitchFamily="18" charset="0"/>
                <a:ea typeface="宋体" panose="02010600030101010101" pitchFamily="2" charset="-122"/>
              </a:rPr>
              <a:t> “</a:t>
            </a:r>
            <a:r>
              <a:rPr lang="zh-CN" altLang="en-US" sz="2800" b="1">
                <a:solidFill>
                  <a:srgbClr val="FF3300"/>
                </a:solidFill>
                <a:latin typeface="Times New Roman" panose="02020603050405020304" pitchFamily="18" charset="0"/>
                <a:ea typeface="宋体" panose="02010600030101010101" pitchFamily="2" charset="-122"/>
              </a:rPr>
              <a:t>一次参赛，终生受益”</a:t>
            </a:r>
            <a:r>
              <a:rPr lang="zh-CN" altLang="en-US" sz="2800">
                <a:solidFill>
                  <a:srgbClr val="FF3300"/>
                </a:solidFill>
                <a:latin typeface="Times New Roman" panose="02020603050405020304" pitchFamily="18" charset="0"/>
                <a:ea typeface="宋体" panose="02010600030101010101" pitchFamily="2" charset="-122"/>
              </a:rPr>
              <a:t> </a:t>
            </a:r>
            <a:endParaRPr lang="zh-CN" altLang="en-US" sz="2800">
              <a:solidFill>
                <a:srgbClr val="FF3300"/>
              </a:solidFill>
              <a:latin typeface="Times New Roman" panose="02020603050405020304" pitchFamily="18" charset="0"/>
              <a:ea typeface="宋体" panose="02010600030101010101" pitchFamily="2" charset="-122"/>
            </a:endParaRPr>
          </a:p>
        </p:txBody>
      </p:sp>
      <p:sp>
        <p:nvSpPr>
          <p:cNvPr id="28677" name="Text Box 5"/>
          <p:cNvSpPr txBox="1"/>
          <p:nvPr/>
        </p:nvSpPr>
        <p:spPr>
          <a:xfrm>
            <a:off x="468313" y="3789363"/>
            <a:ext cx="8351837" cy="1563687"/>
          </a:xfrm>
          <a:prstGeom prst="rect">
            <a:avLst/>
          </a:prstGeom>
          <a:noFill/>
          <a:ln w="9525">
            <a:noFill/>
          </a:ln>
        </p:spPr>
        <p:txBody>
          <a:bodyPr anchor="t">
            <a:spAutoFit/>
          </a:bodyPr>
          <a:p>
            <a:pPr>
              <a:lnSpc>
                <a:spcPct val="115000"/>
              </a:lnSpc>
              <a:spcBef>
                <a:spcPct val="50000"/>
              </a:spcBef>
              <a:buChar char="•"/>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学生在学习专业课、毕业设计阶段及进入社会后的发展中表现出明显的优势，不少人免试读研，得到用人单位和研究生导师的普遍欢迎</a:t>
            </a:r>
            <a:endParaRPr lang="zh-CN" altLang="en-US" sz="2800">
              <a:latin typeface="Times New Roman" panose="02020603050405020304" pitchFamily="18" charset="0"/>
              <a:ea typeface="宋体" panose="02010600030101010101" pitchFamily="2" charset="-122"/>
            </a:endParaRPr>
          </a:p>
        </p:txBody>
      </p:sp>
      <p:sp>
        <p:nvSpPr>
          <p:cNvPr id="113669" name="Text Box 6"/>
          <p:cNvSpPr txBox="1"/>
          <p:nvPr/>
        </p:nvSpPr>
        <p:spPr>
          <a:xfrm>
            <a:off x="468313" y="404813"/>
            <a:ext cx="7993062" cy="579437"/>
          </a:xfrm>
          <a:prstGeom prst="rect">
            <a:avLst/>
          </a:prstGeom>
          <a:noFill/>
          <a:ln w="9525">
            <a:noFill/>
          </a:ln>
        </p:spPr>
        <p:txBody>
          <a:bodyPr anchor="t">
            <a:spAutoFit/>
          </a:bodyPr>
          <a:p>
            <a:pPr algn="ctr"/>
            <a:r>
              <a:rPr lang="zh-CN" altLang="en-US" sz="3200" b="1">
                <a:solidFill>
                  <a:srgbClr val="FF3300"/>
                </a:solidFill>
                <a:latin typeface="楷体_GB2312" pitchFamily="49" charset="-122"/>
                <a:ea typeface="楷体_GB2312" pitchFamily="49" charset="-122"/>
              </a:rPr>
              <a:t>数学建模竞赛的赛后效果</a:t>
            </a:r>
            <a:endParaRPr lang="zh-CN" altLang="en-US" sz="3200" b="1">
              <a:solidFill>
                <a:srgbClr val="FF3300"/>
              </a:solidFill>
              <a:latin typeface="楷体_GB2312" pitchFamily="49" charset="-122"/>
              <a:ea typeface="楷体_GB2312" pitchFamily="49" charset="-122"/>
            </a:endParaRPr>
          </a:p>
        </p:txBody>
      </p:sp>
      <p:sp>
        <p:nvSpPr>
          <p:cNvPr id="28679" name="Rectangle 7"/>
          <p:cNvSpPr/>
          <p:nvPr/>
        </p:nvSpPr>
        <p:spPr>
          <a:xfrm>
            <a:off x="179388" y="5516563"/>
            <a:ext cx="8893175" cy="946150"/>
          </a:xfrm>
          <a:prstGeom prst="rect">
            <a:avLst/>
          </a:prstGeom>
          <a:noFill/>
          <a:ln w="9525">
            <a:noFill/>
          </a:ln>
        </p:spPr>
        <p:txBody>
          <a:bodyPr anchor="t">
            <a:spAutoFit/>
          </a:bodyPr>
          <a:p>
            <a:r>
              <a:rPr lang="zh-CN" altLang="en-US" sz="2800" b="1">
                <a:solidFill>
                  <a:schemeClr val="accent2"/>
                </a:solidFill>
                <a:latin typeface="Times New Roman" panose="02020603050405020304" pitchFamily="18" charset="0"/>
                <a:ea typeface="楷体_GB2312" pitchFamily="49" charset="-122"/>
              </a:rPr>
              <a:t>竞赛反响一例：</a:t>
            </a:r>
            <a:r>
              <a:rPr lang="en-US" altLang="zh-CN" sz="2800" b="1">
                <a:solidFill>
                  <a:schemeClr val="accent2"/>
                </a:solidFill>
                <a:latin typeface="Times New Roman" panose="02020603050405020304" pitchFamily="18" charset="0"/>
                <a:ea typeface="楷体_GB2312" pitchFamily="49" charset="-122"/>
              </a:rPr>
              <a:t>IBM </a:t>
            </a:r>
            <a:r>
              <a:rPr lang="zh-CN" altLang="en-US" sz="2800" b="1">
                <a:solidFill>
                  <a:schemeClr val="accent2"/>
                </a:solidFill>
                <a:latin typeface="Times New Roman" panose="02020603050405020304" pitchFamily="18" charset="0"/>
                <a:ea typeface="楷体_GB2312" pitchFamily="49" charset="-122"/>
              </a:rPr>
              <a:t>中国研究中心</a:t>
            </a:r>
            <a:r>
              <a:rPr lang="en-US" altLang="zh-CN" sz="2800" b="1">
                <a:solidFill>
                  <a:schemeClr val="accent2"/>
                </a:solidFill>
                <a:latin typeface="Times New Roman" panose="02020603050405020304" pitchFamily="18" charset="0"/>
                <a:ea typeface="楷体_GB2312" pitchFamily="49" charset="-122"/>
              </a:rPr>
              <a:t>- </a:t>
            </a:r>
            <a:r>
              <a:rPr lang="zh-CN" altLang="en-US" sz="2800" b="1">
                <a:solidFill>
                  <a:schemeClr val="accent2"/>
                </a:solidFill>
                <a:latin typeface="Times New Roman" panose="02020603050405020304" pitchFamily="18" charset="0"/>
                <a:ea typeface="楷体_GB2312" pitchFamily="49" charset="-122"/>
              </a:rPr>
              <a:t>招聘条件</a:t>
            </a:r>
            <a:endParaRPr lang="zh-CN" altLang="en-US" sz="2800" b="1">
              <a:solidFill>
                <a:schemeClr val="accent2"/>
              </a:solidFill>
              <a:latin typeface="Times New Roman" panose="02020603050405020304" pitchFamily="18" charset="0"/>
              <a:ea typeface="楷体_GB2312" pitchFamily="49" charset="-122"/>
            </a:endParaRPr>
          </a:p>
          <a:p>
            <a:r>
              <a:rPr lang="zh-CN" altLang="en-US" sz="2800" b="1">
                <a:solidFill>
                  <a:srgbClr val="FF0000"/>
                </a:solidFill>
                <a:latin typeface="Times New Roman" panose="02020603050405020304" pitchFamily="18" charset="0"/>
                <a:ea typeface="楷体_GB2312" pitchFamily="49" charset="-122"/>
              </a:rPr>
              <a:t>     </a:t>
            </a:r>
            <a:r>
              <a:rPr lang="en-US" altLang="zh-CN" sz="2800" b="1">
                <a:solidFill>
                  <a:srgbClr val="FF0000"/>
                </a:solidFill>
                <a:latin typeface="Times New Roman" panose="02020603050405020304" pitchFamily="18" charset="0"/>
                <a:ea typeface="楷体_GB2312" pitchFamily="49" charset="-122"/>
              </a:rPr>
              <a:t>Award in mathematical contest in modeling is a plus</a:t>
            </a:r>
            <a:r>
              <a:rPr lang="en-US" altLang="zh-CN" sz="2800" b="1">
                <a:latin typeface="Times New Roman" panose="02020603050405020304" pitchFamily="18" charset="0"/>
                <a:ea typeface="楷体_GB2312" pitchFamily="49" charset="-122"/>
              </a:rPr>
              <a:t> </a:t>
            </a:r>
            <a:endParaRPr lang="en-US" altLang="zh-CN" sz="2800" b="1">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blinds(horizontal)">
                                      <p:cBhvr>
                                        <p:cTn id="7" dur="5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75"/>
                                        </p:tgtEl>
                                        <p:attrNameLst>
                                          <p:attrName>style.visibility</p:attrName>
                                        </p:attrNameLst>
                                      </p:cBhvr>
                                      <p:to>
                                        <p:strVal val="visible"/>
                                      </p:to>
                                    </p:set>
                                    <p:animEffect transition="in" filter="blinds(horizontal)">
                                      <p:cBhvr>
                                        <p:cTn id="12" dur="500"/>
                                        <p:tgtEl>
                                          <p:spTgt spid="2867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676"/>
                                        </p:tgtEl>
                                        <p:attrNameLst>
                                          <p:attrName>style.visibility</p:attrName>
                                        </p:attrNameLst>
                                      </p:cBhvr>
                                      <p:to>
                                        <p:strVal val="visible"/>
                                      </p:to>
                                    </p:set>
                                    <p:animEffect transition="in" filter="blinds(horizontal)">
                                      <p:cBhvr>
                                        <p:cTn id="17" dur="500"/>
                                        <p:tgtEl>
                                          <p:spTgt spid="2867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677"/>
                                        </p:tgtEl>
                                        <p:attrNameLst>
                                          <p:attrName>style.visibility</p:attrName>
                                        </p:attrNameLst>
                                      </p:cBhvr>
                                      <p:to>
                                        <p:strVal val="visible"/>
                                      </p:to>
                                    </p:set>
                                    <p:animEffect transition="in" filter="blinds(horizontal)">
                                      <p:cBhvr>
                                        <p:cTn id="22" dur="500"/>
                                        <p:tgtEl>
                                          <p:spTgt spid="2867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8679"/>
                                        </p:tgtEl>
                                        <p:attrNameLst>
                                          <p:attrName>style.visibility</p:attrName>
                                        </p:attrNameLst>
                                      </p:cBhvr>
                                      <p:to>
                                        <p:strVal val="visible"/>
                                      </p:to>
                                    </p:set>
                                    <p:animEffect transition="in" filter="dissolve">
                                      <p:cBhvr>
                                        <p:cTn id="27" dur="500"/>
                                        <p:tgtEl>
                                          <p:spTgt spid="28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5" grpId="0"/>
      <p:bldP spid="28676" grpId="0"/>
      <p:bldP spid="28677" grpId="0"/>
      <p:bldP spid="28679"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Rectangle 2"/>
          <p:cNvSpPr>
            <a:spLocks noGrp="1"/>
          </p:cNvSpPr>
          <p:nvPr>
            <p:ph type="title"/>
          </p:nvPr>
        </p:nvSpPr>
        <p:spPr>
          <a:xfrm>
            <a:off x="609600" y="609600"/>
            <a:ext cx="8001000" cy="323850"/>
          </a:xfrm>
          <a:ln/>
        </p:spPr>
        <p:txBody>
          <a:bodyPr vert="horz" wrap="square" lIns="91440" tIns="45720" rIns="91440" bIns="45720" anchor="b"/>
          <a:p>
            <a:pPr eaLnBrk="1" hangingPunct="1"/>
            <a:r>
              <a:rPr lang="zh-CN" altLang="en-US"/>
              <a:t>历届竞赛赛题基本解法</a:t>
            </a:r>
            <a:endParaRPr lang="zh-CN" altLang="en-US"/>
          </a:p>
        </p:txBody>
      </p:sp>
      <p:grpSp>
        <p:nvGrpSpPr>
          <p:cNvPr id="114690" name="Group 3"/>
          <p:cNvGrpSpPr/>
          <p:nvPr/>
        </p:nvGrpSpPr>
        <p:grpSpPr>
          <a:xfrm>
            <a:off x="457200" y="1600200"/>
            <a:ext cx="8458200" cy="4419600"/>
            <a:chOff x="-3" y="-3"/>
            <a:chExt cx="2966" cy="3462"/>
          </a:xfrm>
        </p:grpSpPr>
        <p:grpSp>
          <p:nvGrpSpPr>
            <p:cNvPr id="114691" name="Group 4"/>
            <p:cNvGrpSpPr/>
            <p:nvPr/>
          </p:nvGrpSpPr>
          <p:grpSpPr>
            <a:xfrm>
              <a:off x="0" y="0"/>
              <a:ext cx="2960" cy="3456"/>
              <a:chOff x="0" y="0"/>
              <a:chExt cx="2960" cy="3456"/>
            </a:xfrm>
          </p:grpSpPr>
          <p:grpSp>
            <p:nvGrpSpPr>
              <p:cNvPr id="114692" name="Group 5"/>
              <p:cNvGrpSpPr/>
              <p:nvPr/>
            </p:nvGrpSpPr>
            <p:grpSpPr>
              <a:xfrm>
                <a:off x="0" y="0"/>
                <a:ext cx="1281" cy="384"/>
                <a:chOff x="0" y="0"/>
                <a:chExt cx="1281" cy="384"/>
              </a:xfrm>
            </p:grpSpPr>
            <p:sp>
              <p:nvSpPr>
                <p:cNvPr id="114693" name="Rectangle 6"/>
                <p:cNvSpPr/>
                <p:nvPr/>
              </p:nvSpPr>
              <p:spPr>
                <a:xfrm>
                  <a:off x="43" y="0"/>
                  <a:ext cx="1195" cy="384"/>
                </a:xfrm>
                <a:prstGeom prst="rect">
                  <a:avLst/>
                </a:prstGeom>
                <a:noFill/>
                <a:ln w="9525">
                  <a:noFill/>
                </a:ln>
              </p:spPr>
              <p:txBody>
                <a:bodyPr anchor="t"/>
                <a:p>
                  <a:pPr algn="ctr"/>
                  <a:r>
                    <a:rPr lang="zh-CN" altLang="en-US" sz="2000">
                      <a:latin typeface="Times New Roman" panose="02020603050405020304" pitchFamily="18" charset="0"/>
                      <a:ea typeface="宋体" panose="02010600030101010101" pitchFamily="2" charset="-122"/>
                    </a:rPr>
                    <a:t>赛题</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694" name="Rectangle 7"/>
                <p:cNvSpPr/>
                <p:nvPr/>
              </p:nvSpPr>
              <p:spPr>
                <a:xfrm>
                  <a:off x="0" y="0"/>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695" name="Group 8"/>
              <p:cNvGrpSpPr/>
              <p:nvPr/>
            </p:nvGrpSpPr>
            <p:grpSpPr>
              <a:xfrm>
                <a:off x="1281" y="0"/>
                <a:ext cx="1679" cy="384"/>
                <a:chOff x="1281" y="0"/>
                <a:chExt cx="1679" cy="384"/>
              </a:xfrm>
            </p:grpSpPr>
            <p:sp>
              <p:nvSpPr>
                <p:cNvPr id="114696" name="Rectangle 9"/>
                <p:cNvSpPr/>
                <p:nvPr/>
              </p:nvSpPr>
              <p:spPr>
                <a:xfrm>
                  <a:off x="1324" y="0"/>
                  <a:ext cx="1593" cy="384"/>
                </a:xfrm>
                <a:prstGeom prst="rect">
                  <a:avLst/>
                </a:prstGeom>
                <a:noFill/>
                <a:ln w="9525">
                  <a:noFill/>
                </a:ln>
              </p:spPr>
              <p:txBody>
                <a:bodyPr anchor="t"/>
                <a:p>
                  <a:pPr algn="ctr"/>
                  <a:r>
                    <a:rPr lang="zh-CN" altLang="en-US" sz="2000">
                      <a:latin typeface="Times New Roman" panose="02020603050405020304" pitchFamily="18" charset="0"/>
                      <a:ea typeface="宋体" panose="02010600030101010101" pitchFamily="2" charset="-122"/>
                    </a:rPr>
                    <a:t>解法</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697" name="Rectangle 10"/>
                <p:cNvSpPr/>
                <p:nvPr/>
              </p:nvSpPr>
              <p:spPr>
                <a:xfrm>
                  <a:off x="1281" y="0"/>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698" name="Group 11"/>
              <p:cNvGrpSpPr/>
              <p:nvPr/>
            </p:nvGrpSpPr>
            <p:grpSpPr>
              <a:xfrm>
                <a:off x="0" y="384"/>
                <a:ext cx="1281" cy="384"/>
                <a:chOff x="0" y="384"/>
                <a:chExt cx="1281" cy="384"/>
              </a:xfrm>
            </p:grpSpPr>
            <p:sp>
              <p:nvSpPr>
                <p:cNvPr id="114699" name="Rectangle 12"/>
                <p:cNvSpPr/>
                <p:nvPr/>
              </p:nvSpPr>
              <p:spPr>
                <a:xfrm>
                  <a:off x="43" y="384"/>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93A</a:t>
                  </a:r>
                  <a:r>
                    <a:rPr lang="zh-CN" altLang="en-US" sz="2000">
                      <a:latin typeface="Times New Roman" panose="02020603050405020304" pitchFamily="18" charset="0"/>
                      <a:ea typeface="宋体" panose="02010600030101010101" pitchFamily="2" charset="-122"/>
                    </a:rPr>
                    <a:t>非线性交调的频率设计</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00" name="Rectangle 13"/>
                <p:cNvSpPr/>
                <p:nvPr/>
              </p:nvSpPr>
              <p:spPr>
                <a:xfrm>
                  <a:off x="0" y="384"/>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01" name="Group 14"/>
              <p:cNvGrpSpPr/>
              <p:nvPr/>
            </p:nvGrpSpPr>
            <p:grpSpPr>
              <a:xfrm>
                <a:off x="1281" y="384"/>
                <a:ext cx="1679" cy="384"/>
                <a:chOff x="1281" y="384"/>
                <a:chExt cx="1679" cy="384"/>
              </a:xfrm>
            </p:grpSpPr>
            <p:sp>
              <p:nvSpPr>
                <p:cNvPr id="114702" name="Rectangle 15"/>
                <p:cNvSpPr/>
                <p:nvPr/>
              </p:nvSpPr>
              <p:spPr>
                <a:xfrm>
                  <a:off x="1324" y="384"/>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拟合、规划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03" name="Rectangle 16"/>
                <p:cNvSpPr/>
                <p:nvPr/>
              </p:nvSpPr>
              <p:spPr>
                <a:xfrm>
                  <a:off x="1281" y="384"/>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04" name="Group 17"/>
              <p:cNvGrpSpPr/>
              <p:nvPr/>
            </p:nvGrpSpPr>
            <p:grpSpPr>
              <a:xfrm>
                <a:off x="0" y="768"/>
                <a:ext cx="1281" cy="384"/>
                <a:chOff x="0" y="768"/>
                <a:chExt cx="1281" cy="384"/>
              </a:xfrm>
            </p:grpSpPr>
            <p:sp>
              <p:nvSpPr>
                <p:cNvPr id="114705" name="Rectangle 18"/>
                <p:cNvSpPr/>
                <p:nvPr/>
              </p:nvSpPr>
              <p:spPr>
                <a:xfrm>
                  <a:off x="43" y="768"/>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93B</a:t>
                  </a:r>
                  <a:r>
                    <a:rPr lang="zh-CN" altLang="en-US" sz="2000">
                      <a:latin typeface="Times New Roman" panose="02020603050405020304" pitchFamily="18" charset="0"/>
                      <a:ea typeface="宋体" panose="02010600030101010101" pitchFamily="2" charset="-122"/>
                    </a:rPr>
                    <a:t>足球队排名</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06" name="Rectangle 19"/>
                <p:cNvSpPr/>
                <p:nvPr/>
              </p:nvSpPr>
              <p:spPr>
                <a:xfrm>
                  <a:off x="0" y="768"/>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07" name="Group 20"/>
              <p:cNvGrpSpPr/>
              <p:nvPr/>
            </p:nvGrpSpPr>
            <p:grpSpPr>
              <a:xfrm>
                <a:off x="1281" y="768"/>
                <a:ext cx="1679" cy="384"/>
                <a:chOff x="1281" y="768"/>
                <a:chExt cx="1679" cy="384"/>
              </a:xfrm>
            </p:grpSpPr>
            <p:sp>
              <p:nvSpPr>
                <p:cNvPr id="114708" name="Rectangle 21"/>
                <p:cNvSpPr/>
                <p:nvPr/>
              </p:nvSpPr>
              <p:spPr>
                <a:xfrm>
                  <a:off x="1324" y="768"/>
                  <a:ext cx="1593" cy="384"/>
                </a:xfrm>
                <a:prstGeom prst="rect">
                  <a:avLst/>
                </a:prstGeom>
                <a:noFill/>
                <a:ln w="9525">
                  <a:noFill/>
                </a:ln>
              </p:spPr>
              <p:txBody>
                <a:bodyPr anchor="t"/>
                <a:p>
                  <a:pPr algn="just"/>
                  <a:r>
                    <a:rPr lang="zh-CN" altLang="en-US" sz="2000" dirty="0">
                      <a:latin typeface="Times New Roman" panose="02020603050405020304" pitchFamily="18" charset="0"/>
                      <a:ea typeface="宋体" panose="02010600030101010101" pitchFamily="2" charset="-122"/>
                    </a:rPr>
                    <a:t>图论、层次分析、整数规划</a:t>
                  </a:r>
                  <a:endParaRPr lang="zh-CN" altLang="en-US" sz="2000" dirty="0">
                    <a:latin typeface="Tahoma" panose="020B0604030504040204" pitchFamily="34" charset="0"/>
                    <a:ea typeface="宋体" panose="02010600030101010101" pitchFamily="2" charset="-122"/>
                  </a:endParaRPr>
                </a:p>
                <a:p>
                  <a:pPr algn="just" eaLnBrk="0" hangingPunct="0"/>
                  <a:endParaRPr lang="en-US" altLang="zh-CN" sz="2000" dirty="0">
                    <a:latin typeface="Times New Roman" panose="02020603050405020304" pitchFamily="18" charset="0"/>
                    <a:ea typeface="宋体" panose="02010600030101010101" pitchFamily="2" charset="-122"/>
                  </a:endParaRPr>
                </a:p>
              </p:txBody>
            </p:sp>
            <p:sp>
              <p:nvSpPr>
                <p:cNvPr id="114709" name="Rectangle 22"/>
                <p:cNvSpPr/>
                <p:nvPr/>
              </p:nvSpPr>
              <p:spPr>
                <a:xfrm>
                  <a:off x="1281" y="768"/>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10" name="Group 23"/>
              <p:cNvGrpSpPr/>
              <p:nvPr/>
            </p:nvGrpSpPr>
            <p:grpSpPr>
              <a:xfrm>
                <a:off x="0" y="1152"/>
                <a:ext cx="1281" cy="384"/>
                <a:chOff x="0" y="1152"/>
                <a:chExt cx="1281" cy="384"/>
              </a:xfrm>
            </p:grpSpPr>
            <p:sp>
              <p:nvSpPr>
                <p:cNvPr id="114711" name="Rectangle 24"/>
                <p:cNvSpPr/>
                <p:nvPr/>
              </p:nvSpPr>
              <p:spPr>
                <a:xfrm>
                  <a:off x="43" y="1152"/>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94A</a:t>
                  </a:r>
                  <a:r>
                    <a:rPr lang="zh-CN" altLang="en-US" sz="2000">
                      <a:latin typeface="Times New Roman" panose="02020603050405020304" pitchFamily="18" charset="0"/>
                      <a:ea typeface="宋体" panose="02010600030101010101" pitchFamily="2" charset="-122"/>
                    </a:rPr>
                    <a:t>逢山开路</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12" name="Rectangle 25"/>
                <p:cNvSpPr/>
                <p:nvPr/>
              </p:nvSpPr>
              <p:spPr>
                <a:xfrm>
                  <a:off x="0" y="1152"/>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13" name="Group 26"/>
              <p:cNvGrpSpPr/>
              <p:nvPr/>
            </p:nvGrpSpPr>
            <p:grpSpPr>
              <a:xfrm>
                <a:off x="1281" y="1152"/>
                <a:ext cx="1679" cy="384"/>
                <a:chOff x="1281" y="1152"/>
                <a:chExt cx="1679" cy="384"/>
              </a:xfrm>
            </p:grpSpPr>
            <p:sp>
              <p:nvSpPr>
                <p:cNvPr id="114714" name="Rectangle 27"/>
                <p:cNvSpPr/>
                <p:nvPr/>
              </p:nvSpPr>
              <p:spPr>
                <a:xfrm>
                  <a:off x="1324" y="1152"/>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图论、插值、动态规划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15" name="Rectangle 28"/>
                <p:cNvSpPr/>
                <p:nvPr/>
              </p:nvSpPr>
              <p:spPr>
                <a:xfrm>
                  <a:off x="1281" y="1152"/>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16" name="Group 29"/>
              <p:cNvGrpSpPr/>
              <p:nvPr/>
            </p:nvGrpSpPr>
            <p:grpSpPr>
              <a:xfrm>
                <a:off x="0" y="1536"/>
                <a:ext cx="1281" cy="384"/>
                <a:chOff x="0" y="1536"/>
                <a:chExt cx="1281" cy="384"/>
              </a:xfrm>
            </p:grpSpPr>
            <p:sp>
              <p:nvSpPr>
                <p:cNvPr id="114717" name="Rectangle 30"/>
                <p:cNvSpPr/>
                <p:nvPr/>
              </p:nvSpPr>
              <p:spPr>
                <a:xfrm>
                  <a:off x="43" y="1536"/>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94B</a:t>
                  </a:r>
                  <a:r>
                    <a:rPr lang="zh-CN" altLang="en-US" sz="2000">
                      <a:latin typeface="Times New Roman" panose="02020603050405020304" pitchFamily="18" charset="0"/>
                      <a:ea typeface="宋体" panose="02010600030101010101" pitchFamily="2" charset="-122"/>
                    </a:rPr>
                    <a:t>锁具装箱问题</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18" name="Rectangle 31"/>
                <p:cNvSpPr/>
                <p:nvPr/>
              </p:nvSpPr>
              <p:spPr>
                <a:xfrm>
                  <a:off x="0" y="1536"/>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19" name="Group 32"/>
              <p:cNvGrpSpPr/>
              <p:nvPr/>
            </p:nvGrpSpPr>
            <p:grpSpPr>
              <a:xfrm>
                <a:off x="1281" y="1536"/>
                <a:ext cx="1679" cy="384"/>
                <a:chOff x="1281" y="1536"/>
                <a:chExt cx="1679" cy="384"/>
              </a:xfrm>
            </p:grpSpPr>
            <p:sp>
              <p:nvSpPr>
                <p:cNvPr id="114720" name="Rectangle 33"/>
                <p:cNvSpPr/>
                <p:nvPr/>
              </p:nvSpPr>
              <p:spPr>
                <a:xfrm>
                  <a:off x="1324" y="1536"/>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图论、组合数学</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21" name="Rectangle 34"/>
                <p:cNvSpPr/>
                <p:nvPr/>
              </p:nvSpPr>
              <p:spPr>
                <a:xfrm>
                  <a:off x="1281" y="1536"/>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22" name="Group 35"/>
              <p:cNvGrpSpPr/>
              <p:nvPr/>
            </p:nvGrpSpPr>
            <p:grpSpPr>
              <a:xfrm>
                <a:off x="0" y="1920"/>
                <a:ext cx="1281" cy="384"/>
                <a:chOff x="0" y="1920"/>
                <a:chExt cx="1281" cy="384"/>
              </a:xfrm>
            </p:grpSpPr>
            <p:sp>
              <p:nvSpPr>
                <p:cNvPr id="114723" name="Rectangle 36"/>
                <p:cNvSpPr/>
                <p:nvPr/>
              </p:nvSpPr>
              <p:spPr>
                <a:xfrm>
                  <a:off x="43" y="1920"/>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95A</a:t>
                  </a:r>
                  <a:r>
                    <a:rPr lang="zh-CN" altLang="en-US" sz="2000">
                      <a:latin typeface="Times New Roman" panose="02020603050405020304" pitchFamily="18" charset="0"/>
                      <a:ea typeface="宋体" panose="02010600030101010101" pitchFamily="2" charset="-122"/>
                    </a:rPr>
                    <a:t>飞行管理问题</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24" name="Rectangle 37"/>
                <p:cNvSpPr/>
                <p:nvPr/>
              </p:nvSpPr>
              <p:spPr>
                <a:xfrm>
                  <a:off x="0" y="1920"/>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25" name="Group 38"/>
              <p:cNvGrpSpPr/>
              <p:nvPr/>
            </p:nvGrpSpPr>
            <p:grpSpPr>
              <a:xfrm>
                <a:off x="1281" y="1920"/>
                <a:ext cx="1679" cy="384"/>
                <a:chOff x="1281" y="1920"/>
                <a:chExt cx="1679" cy="384"/>
              </a:xfrm>
            </p:grpSpPr>
            <p:sp>
              <p:nvSpPr>
                <p:cNvPr id="114726" name="Rectangle 39"/>
                <p:cNvSpPr/>
                <p:nvPr/>
              </p:nvSpPr>
              <p:spPr>
                <a:xfrm>
                  <a:off x="1324" y="1920"/>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非线性规划、线性规划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27" name="Rectangle 40"/>
                <p:cNvSpPr/>
                <p:nvPr/>
              </p:nvSpPr>
              <p:spPr>
                <a:xfrm>
                  <a:off x="1281" y="1920"/>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28" name="Group 41"/>
              <p:cNvGrpSpPr/>
              <p:nvPr/>
            </p:nvGrpSpPr>
            <p:grpSpPr>
              <a:xfrm>
                <a:off x="0" y="2304"/>
                <a:ext cx="1281" cy="384"/>
                <a:chOff x="0" y="2304"/>
                <a:chExt cx="1281" cy="384"/>
              </a:xfrm>
            </p:grpSpPr>
            <p:sp>
              <p:nvSpPr>
                <p:cNvPr id="114729" name="Rectangle 42"/>
                <p:cNvSpPr/>
                <p:nvPr/>
              </p:nvSpPr>
              <p:spPr>
                <a:xfrm>
                  <a:off x="43" y="2304"/>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95B</a:t>
                  </a:r>
                  <a:r>
                    <a:rPr lang="zh-CN" altLang="en-US" sz="2000">
                      <a:latin typeface="Times New Roman" panose="02020603050405020304" pitchFamily="18" charset="0"/>
                      <a:ea typeface="宋体" panose="02010600030101010101" pitchFamily="2" charset="-122"/>
                    </a:rPr>
                    <a:t>天车与冶炼炉的作业调度</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30" name="Rectangle 43"/>
                <p:cNvSpPr/>
                <p:nvPr/>
              </p:nvSpPr>
              <p:spPr>
                <a:xfrm>
                  <a:off x="0" y="2304"/>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31" name="Group 44"/>
              <p:cNvGrpSpPr/>
              <p:nvPr/>
            </p:nvGrpSpPr>
            <p:grpSpPr>
              <a:xfrm>
                <a:off x="1281" y="2304"/>
                <a:ext cx="1679" cy="384"/>
                <a:chOff x="1281" y="2304"/>
                <a:chExt cx="1679" cy="384"/>
              </a:xfrm>
            </p:grpSpPr>
            <p:sp>
              <p:nvSpPr>
                <p:cNvPr id="114732" name="Rectangle 45"/>
                <p:cNvSpPr/>
                <p:nvPr/>
              </p:nvSpPr>
              <p:spPr>
                <a:xfrm>
                  <a:off x="1324" y="2304"/>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动态规划、排队论、图论</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33" name="Rectangle 46"/>
                <p:cNvSpPr/>
                <p:nvPr/>
              </p:nvSpPr>
              <p:spPr>
                <a:xfrm>
                  <a:off x="1281" y="2304"/>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34" name="Group 47"/>
              <p:cNvGrpSpPr/>
              <p:nvPr/>
            </p:nvGrpSpPr>
            <p:grpSpPr>
              <a:xfrm>
                <a:off x="0" y="2688"/>
                <a:ext cx="1281" cy="384"/>
                <a:chOff x="0" y="2688"/>
                <a:chExt cx="1281" cy="384"/>
              </a:xfrm>
            </p:grpSpPr>
            <p:sp>
              <p:nvSpPr>
                <p:cNvPr id="114735" name="Rectangle 48"/>
                <p:cNvSpPr/>
                <p:nvPr/>
              </p:nvSpPr>
              <p:spPr>
                <a:xfrm>
                  <a:off x="43" y="2688"/>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96A</a:t>
                  </a:r>
                  <a:r>
                    <a:rPr lang="zh-CN" altLang="en-US" sz="2000">
                      <a:latin typeface="Times New Roman" panose="02020603050405020304" pitchFamily="18" charset="0"/>
                      <a:ea typeface="宋体" panose="02010600030101010101" pitchFamily="2" charset="-122"/>
                    </a:rPr>
                    <a:t>最优捕鱼策略</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36" name="Rectangle 49"/>
                <p:cNvSpPr/>
                <p:nvPr/>
              </p:nvSpPr>
              <p:spPr>
                <a:xfrm>
                  <a:off x="0" y="2688"/>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37" name="Group 50"/>
              <p:cNvGrpSpPr/>
              <p:nvPr/>
            </p:nvGrpSpPr>
            <p:grpSpPr>
              <a:xfrm>
                <a:off x="1281" y="2688"/>
                <a:ext cx="1679" cy="384"/>
                <a:chOff x="1281" y="2688"/>
                <a:chExt cx="1679" cy="384"/>
              </a:xfrm>
            </p:grpSpPr>
            <p:sp>
              <p:nvSpPr>
                <p:cNvPr id="114738" name="Rectangle 51"/>
                <p:cNvSpPr/>
                <p:nvPr/>
              </p:nvSpPr>
              <p:spPr>
                <a:xfrm>
                  <a:off x="1324" y="2688"/>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微分方程、优化</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39" name="Rectangle 52"/>
                <p:cNvSpPr/>
                <p:nvPr/>
              </p:nvSpPr>
              <p:spPr>
                <a:xfrm>
                  <a:off x="1281" y="2688"/>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40" name="Group 53"/>
              <p:cNvGrpSpPr/>
              <p:nvPr/>
            </p:nvGrpSpPr>
            <p:grpSpPr>
              <a:xfrm>
                <a:off x="0" y="3072"/>
                <a:ext cx="1281" cy="384"/>
                <a:chOff x="0" y="3072"/>
                <a:chExt cx="1281" cy="384"/>
              </a:xfrm>
            </p:grpSpPr>
            <p:sp>
              <p:nvSpPr>
                <p:cNvPr id="114741" name="Rectangle 54"/>
                <p:cNvSpPr/>
                <p:nvPr/>
              </p:nvSpPr>
              <p:spPr>
                <a:xfrm>
                  <a:off x="43" y="3072"/>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96B</a:t>
                  </a:r>
                  <a:r>
                    <a:rPr lang="zh-CN" altLang="en-US" sz="2000">
                      <a:latin typeface="Times New Roman" panose="02020603050405020304" pitchFamily="18" charset="0"/>
                      <a:ea typeface="宋体" panose="02010600030101010101" pitchFamily="2" charset="-122"/>
                    </a:rPr>
                    <a:t>节水洗衣机</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42" name="Rectangle 55"/>
                <p:cNvSpPr/>
                <p:nvPr/>
              </p:nvSpPr>
              <p:spPr>
                <a:xfrm>
                  <a:off x="0" y="3072"/>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4743" name="Group 56"/>
              <p:cNvGrpSpPr/>
              <p:nvPr/>
            </p:nvGrpSpPr>
            <p:grpSpPr>
              <a:xfrm>
                <a:off x="1281" y="3072"/>
                <a:ext cx="1679" cy="384"/>
                <a:chOff x="1281" y="3072"/>
                <a:chExt cx="1679" cy="384"/>
              </a:xfrm>
            </p:grpSpPr>
            <p:sp>
              <p:nvSpPr>
                <p:cNvPr id="114744" name="Rectangle 57"/>
                <p:cNvSpPr/>
                <p:nvPr/>
              </p:nvSpPr>
              <p:spPr>
                <a:xfrm>
                  <a:off x="1324" y="3072"/>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非线性规划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4745" name="Rectangle 58"/>
                <p:cNvSpPr/>
                <p:nvPr/>
              </p:nvSpPr>
              <p:spPr>
                <a:xfrm>
                  <a:off x="1281" y="3072"/>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sp>
          <p:nvSpPr>
            <p:cNvPr id="114746" name="Rectangle 59"/>
            <p:cNvSpPr/>
            <p:nvPr/>
          </p:nvSpPr>
          <p:spPr>
            <a:xfrm>
              <a:off x="-3" y="-3"/>
              <a:ext cx="2966" cy="3462"/>
            </a:xfrm>
            <a:prstGeom prst="rect">
              <a:avLst/>
            </a:prstGeom>
            <a:noFill/>
            <a:ln w="9525"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5713" name="Group 3"/>
          <p:cNvGrpSpPr/>
          <p:nvPr/>
        </p:nvGrpSpPr>
        <p:grpSpPr>
          <a:xfrm>
            <a:off x="457200" y="1676400"/>
            <a:ext cx="8382000" cy="4191000"/>
            <a:chOff x="-3" y="-3"/>
            <a:chExt cx="2966" cy="3078"/>
          </a:xfrm>
        </p:grpSpPr>
        <p:grpSp>
          <p:nvGrpSpPr>
            <p:cNvPr id="115714" name="Group 4"/>
            <p:cNvGrpSpPr/>
            <p:nvPr/>
          </p:nvGrpSpPr>
          <p:grpSpPr>
            <a:xfrm>
              <a:off x="0" y="0"/>
              <a:ext cx="2960" cy="3072"/>
              <a:chOff x="0" y="0"/>
              <a:chExt cx="2960" cy="3072"/>
            </a:xfrm>
          </p:grpSpPr>
          <p:grpSp>
            <p:nvGrpSpPr>
              <p:cNvPr id="115715" name="Group 5"/>
              <p:cNvGrpSpPr/>
              <p:nvPr/>
            </p:nvGrpSpPr>
            <p:grpSpPr>
              <a:xfrm>
                <a:off x="0" y="0"/>
                <a:ext cx="1281" cy="384"/>
                <a:chOff x="0" y="0"/>
                <a:chExt cx="1281" cy="384"/>
              </a:xfrm>
            </p:grpSpPr>
            <p:sp>
              <p:nvSpPr>
                <p:cNvPr id="115716" name="Rectangle 6"/>
                <p:cNvSpPr/>
                <p:nvPr/>
              </p:nvSpPr>
              <p:spPr>
                <a:xfrm>
                  <a:off x="43" y="0"/>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97A</a:t>
                  </a:r>
                  <a:r>
                    <a:rPr lang="zh-CN" altLang="en-US" sz="2000">
                      <a:latin typeface="Times New Roman" panose="02020603050405020304" pitchFamily="18" charset="0"/>
                      <a:ea typeface="宋体" panose="02010600030101010101" pitchFamily="2" charset="-122"/>
                    </a:rPr>
                    <a:t>零件的参数设计</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17" name="Rectangle 7"/>
                <p:cNvSpPr/>
                <p:nvPr/>
              </p:nvSpPr>
              <p:spPr>
                <a:xfrm>
                  <a:off x="0" y="0"/>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18" name="Group 8"/>
              <p:cNvGrpSpPr/>
              <p:nvPr/>
            </p:nvGrpSpPr>
            <p:grpSpPr>
              <a:xfrm>
                <a:off x="1281" y="0"/>
                <a:ext cx="1679" cy="384"/>
                <a:chOff x="1281" y="0"/>
                <a:chExt cx="1679" cy="384"/>
              </a:xfrm>
            </p:grpSpPr>
            <p:sp>
              <p:nvSpPr>
                <p:cNvPr id="115719" name="Rectangle 9"/>
                <p:cNvSpPr/>
                <p:nvPr/>
              </p:nvSpPr>
              <p:spPr>
                <a:xfrm>
                  <a:off x="1324" y="0"/>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非线性规划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20" name="Rectangle 10"/>
                <p:cNvSpPr/>
                <p:nvPr/>
              </p:nvSpPr>
              <p:spPr>
                <a:xfrm>
                  <a:off x="1281" y="0"/>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21" name="Group 11"/>
              <p:cNvGrpSpPr/>
              <p:nvPr/>
            </p:nvGrpSpPr>
            <p:grpSpPr>
              <a:xfrm>
                <a:off x="0" y="384"/>
                <a:ext cx="1281" cy="384"/>
                <a:chOff x="0" y="384"/>
                <a:chExt cx="1281" cy="384"/>
              </a:xfrm>
            </p:grpSpPr>
            <p:sp>
              <p:nvSpPr>
                <p:cNvPr id="115722" name="Rectangle 12"/>
                <p:cNvSpPr/>
                <p:nvPr/>
              </p:nvSpPr>
              <p:spPr>
                <a:xfrm>
                  <a:off x="43" y="384"/>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97B</a:t>
                  </a:r>
                  <a:r>
                    <a:rPr lang="zh-CN" altLang="en-US" sz="2000">
                      <a:latin typeface="Times New Roman" panose="02020603050405020304" pitchFamily="18" charset="0"/>
                      <a:ea typeface="宋体" panose="02010600030101010101" pitchFamily="2" charset="-122"/>
                    </a:rPr>
                    <a:t>截断切割的最优排列</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23" name="Rectangle 13"/>
                <p:cNvSpPr/>
                <p:nvPr/>
              </p:nvSpPr>
              <p:spPr>
                <a:xfrm>
                  <a:off x="0" y="384"/>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24" name="Group 14"/>
              <p:cNvGrpSpPr/>
              <p:nvPr/>
            </p:nvGrpSpPr>
            <p:grpSpPr>
              <a:xfrm>
                <a:off x="1281" y="384"/>
                <a:ext cx="1679" cy="384"/>
                <a:chOff x="1281" y="384"/>
                <a:chExt cx="1679" cy="384"/>
              </a:xfrm>
            </p:grpSpPr>
            <p:sp>
              <p:nvSpPr>
                <p:cNvPr id="115725" name="Rectangle 15"/>
                <p:cNvSpPr/>
                <p:nvPr/>
              </p:nvSpPr>
              <p:spPr>
                <a:xfrm>
                  <a:off x="1324" y="384"/>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随机模拟、图论</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26" name="Rectangle 16"/>
                <p:cNvSpPr/>
                <p:nvPr/>
              </p:nvSpPr>
              <p:spPr>
                <a:xfrm>
                  <a:off x="1281" y="384"/>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27" name="Group 17"/>
              <p:cNvGrpSpPr/>
              <p:nvPr/>
            </p:nvGrpSpPr>
            <p:grpSpPr>
              <a:xfrm>
                <a:off x="0" y="768"/>
                <a:ext cx="1281" cy="384"/>
                <a:chOff x="0" y="768"/>
                <a:chExt cx="1281" cy="384"/>
              </a:xfrm>
            </p:grpSpPr>
            <p:sp>
              <p:nvSpPr>
                <p:cNvPr id="115728" name="Rectangle 18"/>
                <p:cNvSpPr/>
                <p:nvPr/>
              </p:nvSpPr>
              <p:spPr>
                <a:xfrm>
                  <a:off x="43" y="768"/>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98A</a:t>
                  </a:r>
                  <a:r>
                    <a:rPr lang="zh-CN" altLang="en-US" sz="2000">
                      <a:latin typeface="Times New Roman" panose="02020603050405020304" pitchFamily="18" charset="0"/>
                      <a:ea typeface="宋体" panose="02010600030101010101" pitchFamily="2" charset="-122"/>
                    </a:rPr>
                    <a:t>一类投资组合问题</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29" name="Rectangle 19"/>
                <p:cNvSpPr/>
                <p:nvPr/>
              </p:nvSpPr>
              <p:spPr>
                <a:xfrm>
                  <a:off x="0" y="768"/>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30" name="Group 20"/>
              <p:cNvGrpSpPr/>
              <p:nvPr/>
            </p:nvGrpSpPr>
            <p:grpSpPr>
              <a:xfrm>
                <a:off x="1281" y="768"/>
                <a:ext cx="1679" cy="384"/>
                <a:chOff x="1281" y="768"/>
                <a:chExt cx="1679" cy="384"/>
              </a:xfrm>
            </p:grpSpPr>
            <p:sp>
              <p:nvSpPr>
                <p:cNvPr id="115731" name="Rectangle 21"/>
                <p:cNvSpPr/>
                <p:nvPr/>
              </p:nvSpPr>
              <p:spPr>
                <a:xfrm>
                  <a:off x="1324" y="768"/>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多目标优化、非线性规划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32" name="Rectangle 22"/>
                <p:cNvSpPr/>
                <p:nvPr/>
              </p:nvSpPr>
              <p:spPr>
                <a:xfrm>
                  <a:off x="1281" y="768"/>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33" name="Group 23"/>
              <p:cNvGrpSpPr/>
              <p:nvPr/>
            </p:nvGrpSpPr>
            <p:grpSpPr>
              <a:xfrm>
                <a:off x="0" y="1152"/>
                <a:ext cx="1281" cy="384"/>
                <a:chOff x="0" y="1152"/>
                <a:chExt cx="1281" cy="384"/>
              </a:xfrm>
            </p:grpSpPr>
            <p:sp>
              <p:nvSpPr>
                <p:cNvPr id="115734" name="Rectangle 24"/>
                <p:cNvSpPr/>
                <p:nvPr/>
              </p:nvSpPr>
              <p:spPr>
                <a:xfrm>
                  <a:off x="43" y="1152"/>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98B</a:t>
                  </a:r>
                  <a:r>
                    <a:rPr lang="zh-CN" altLang="en-US" sz="2000">
                      <a:latin typeface="Times New Roman" panose="02020603050405020304" pitchFamily="18" charset="0"/>
                      <a:ea typeface="宋体" panose="02010600030101010101" pitchFamily="2" charset="-122"/>
                    </a:rPr>
                    <a:t>灾情巡视的最佳路线</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35" name="Rectangle 25"/>
                <p:cNvSpPr/>
                <p:nvPr/>
              </p:nvSpPr>
              <p:spPr>
                <a:xfrm>
                  <a:off x="0" y="1152"/>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36" name="Group 26"/>
              <p:cNvGrpSpPr/>
              <p:nvPr/>
            </p:nvGrpSpPr>
            <p:grpSpPr>
              <a:xfrm>
                <a:off x="1281" y="1152"/>
                <a:ext cx="1679" cy="384"/>
                <a:chOff x="1281" y="1152"/>
                <a:chExt cx="1679" cy="384"/>
              </a:xfrm>
            </p:grpSpPr>
            <p:sp>
              <p:nvSpPr>
                <p:cNvPr id="115737" name="Rectangle 27"/>
                <p:cNvSpPr/>
                <p:nvPr/>
              </p:nvSpPr>
              <p:spPr>
                <a:xfrm>
                  <a:off x="1324" y="1152"/>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图论、组合优化</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38" name="Rectangle 28"/>
                <p:cNvSpPr/>
                <p:nvPr/>
              </p:nvSpPr>
              <p:spPr>
                <a:xfrm>
                  <a:off x="1281" y="1152"/>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39" name="Group 29"/>
              <p:cNvGrpSpPr/>
              <p:nvPr/>
            </p:nvGrpSpPr>
            <p:grpSpPr>
              <a:xfrm>
                <a:off x="0" y="1536"/>
                <a:ext cx="1281" cy="384"/>
                <a:chOff x="0" y="1536"/>
                <a:chExt cx="1281" cy="384"/>
              </a:xfrm>
            </p:grpSpPr>
            <p:sp>
              <p:nvSpPr>
                <p:cNvPr id="115740" name="Rectangle 30"/>
                <p:cNvSpPr/>
                <p:nvPr/>
              </p:nvSpPr>
              <p:spPr>
                <a:xfrm>
                  <a:off x="43" y="1536"/>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99A</a:t>
                  </a:r>
                  <a:r>
                    <a:rPr lang="zh-CN" altLang="en-US" sz="2000">
                      <a:latin typeface="Times New Roman" panose="02020603050405020304" pitchFamily="18" charset="0"/>
                      <a:ea typeface="宋体" panose="02010600030101010101" pitchFamily="2" charset="-122"/>
                    </a:rPr>
                    <a:t>自动化车床管理</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41" name="Rectangle 31"/>
                <p:cNvSpPr/>
                <p:nvPr/>
              </p:nvSpPr>
              <p:spPr>
                <a:xfrm>
                  <a:off x="0" y="1536"/>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42" name="Group 32"/>
              <p:cNvGrpSpPr/>
              <p:nvPr/>
            </p:nvGrpSpPr>
            <p:grpSpPr>
              <a:xfrm>
                <a:off x="1281" y="1536"/>
                <a:ext cx="1679" cy="384"/>
                <a:chOff x="1281" y="1536"/>
                <a:chExt cx="1679" cy="384"/>
              </a:xfrm>
            </p:grpSpPr>
            <p:sp>
              <p:nvSpPr>
                <p:cNvPr id="115743" name="Rectangle 33"/>
                <p:cNvSpPr/>
                <p:nvPr/>
              </p:nvSpPr>
              <p:spPr>
                <a:xfrm>
                  <a:off x="1324" y="1536"/>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随机优化、计算机模拟</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44" name="Rectangle 34"/>
                <p:cNvSpPr/>
                <p:nvPr/>
              </p:nvSpPr>
              <p:spPr>
                <a:xfrm>
                  <a:off x="1281" y="1536"/>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45" name="Group 35"/>
              <p:cNvGrpSpPr/>
              <p:nvPr/>
            </p:nvGrpSpPr>
            <p:grpSpPr>
              <a:xfrm>
                <a:off x="0" y="1920"/>
                <a:ext cx="1281" cy="384"/>
                <a:chOff x="0" y="1920"/>
                <a:chExt cx="1281" cy="384"/>
              </a:xfrm>
            </p:grpSpPr>
            <p:sp>
              <p:nvSpPr>
                <p:cNvPr id="115746" name="Rectangle 36"/>
                <p:cNvSpPr/>
                <p:nvPr/>
              </p:nvSpPr>
              <p:spPr>
                <a:xfrm>
                  <a:off x="43" y="1920"/>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99B</a:t>
                  </a:r>
                  <a:r>
                    <a:rPr lang="zh-CN" altLang="en-US" sz="2000">
                      <a:latin typeface="Times New Roman" panose="02020603050405020304" pitchFamily="18" charset="0"/>
                      <a:ea typeface="宋体" panose="02010600030101010101" pitchFamily="2" charset="-122"/>
                    </a:rPr>
                    <a:t>钻井布局</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47" name="Rectangle 37"/>
                <p:cNvSpPr/>
                <p:nvPr/>
              </p:nvSpPr>
              <p:spPr>
                <a:xfrm>
                  <a:off x="0" y="1920"/>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48" name="Group 38"/>
              <p:cNvGrpSpPr/>
              <p:nvPr/>
            </p:nvGrpSpPr>
            <p:grpSpPr>
              <a:xfrm>
                <a:off x="1281" y="1920"/>
                <a:ext cx="1679" cy="384"/>
                <a:chOff x="1281" y="1920"/>
                <a:chExt cx="1679" cy="384"/>
              </a:xfrm>
            </p:grpSpPr>
            <p:sp>
              <p:nvSpPr>
                <p:cNvPr id="115749" name="Rectangle 39"/>
                <p:cNvSpPr/>
                <p:nvPr/>
              </p:nvSpPr>
              <p:spPr>
                <a:xfrm>
                  <a:off x="1324" y="1920"/>
                  <a:ext cx="1593"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0-1</a:t>
                  </a:r>
                  <a:r>
                    <a:rPr lang="zh-CN" altLang="en-US" sz="2000">
                      <a:latin typeface="Times New Roman" panose="02020603050405020304" pitchFamily="18" charset="0"/>
                      <a:ea typeface="宋体" panose="02010600030101010101" pitchFamily="2" charset="-122"/>
                    </a:rPr>
                    <a:t>规划、图论</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50" name="Rectangle 40"/>
                <p:cNvSpPr/>
                <p:nvPr/>
              </p:nvSpPr>
              <p:spPr>
                <a:xfrm>
                  <a:off x="1281" y="1920"/>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51" name="Group 41"/>
              <p:cNvGrpSpPr/>
              <p:nvPr/>
            </p:nvGrpSpPr>
            <p:grpSpPr>
              <a:xfrm>
                <a:off x="0" y="2304"/>
                <a:ext cx="1281" cy="384"/>
                <a:chOff x="0" y="2304"/>
                <a:chExt cx="1281" cy="384"/>
              </a:xfrm>
            </p:grpSpPr>
            <p:sp>
              <p:nvSpPr>
                <p:cNvPr id="115752" name="Rectangle 42"/>
                <p:cNvSpPr/>
                <p:nvPr/>
              </p:nvSpPr>
              <p:spPr>
                <a:xfrm>
                  <a:off x="43" y="2304"/>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00A DNA</a:t>
                  </a:r>
                  <a:r>
                    <a:rPr lang="zh-CN" altLang="en-US" sz="2000">
                      <a:latin typeface="Times New Roman" panose="02020603050405020304" pitchFamily="18" charset="0"/>
                      <a:ea typeface="宋体" panose="02010600030101010101" pitchFamily="2" charset="-122"/>
                    </a:rPr>
                    <a:t>序列分类</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53" name="Rectangle 43"/>
                <p:cNvSpPr/>
                <p:nvPr/>
              </p:nvSpPr>
              <p:spPr>
                <a:xfrm>
                  <a:off x="0" y="2304"/>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54" name="Group 44"/>
              <p:cNvGrpSpPr/>
              <p:nvPr/>
            </p:nvGrpSpPr>
            <p:grpSpPr>
              <a:xfrm>
                <a:off x="1281" y="2304"/>
                <a:ext cx="1679" cy="384"/>
                <a:chOff x="1281" y="2304"/>
                <a:chExt cx="1679" cy="384"/>
              </a:xfrm>
            </p:grpSpPr>
            <p:sp>
              <p:nvSpPr>
                <p:cNvPr id="115755" name="Rectangle 45"/>
                <p:cNvSpPr/>
                <p:nvPr/>
              </p:nvSpPr>
              <p:spPr>
                <a:xfrm>
                  <a:off x="1324" y="2304"/>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模式识别、</a:t>
                  </a:r>
                  <a:r>
                    <a:rPr lang="en-US" altLang="zh-CN" sz="2000">
                      <a:latin typeface="Tahoma" panose="020B0604030504040204" pitchFamily="34" charset="0"/>
                      <a:ea typeface="宋体" panose="02010600030101010101" pitchFamily="2" charset="-122"/>
                    </a:rPr>
                    <a:t>Fisher</a:t>
                  </a:r>
                  <a:r>
                    <a:rPr lang="zh-CN" altLang="en-US" sz="2000">
                      <a:latin typeface="Times New Roman" panose="02020603050405020304" pitchFamily="18" charset="0"/>
                      <a:ea typeface="宋体" panose="02010600030101010101" pitchFamily="2" charset="-122"/>
                    </a:rPr>
                    <a:t>判别、人工神经网络</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56" name="Rectangle 46"/>
                <p:cNvSpPr/>
                <p:nvPr/>
              </p:nvSpPr>
              <p:spPr>
                <a:xfrm>
                  <a:off x="1281" y="2304"/>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57" name="Group 47"/>
              <p:cNvGrpSpPr/>
              <p:nvPr/>
            </p:nvGrpSpPr>
            <p:grpSpPr>
              <a:xfrm>
                <a:off x="0" y="2688"/>
                <a:ext cx="1281" cy="384"/>
                <a:chOff x="0" y="2688"/>
                <a:chExt cx="1281" cy="384"/>
              </a:xfrm>
            </p:grpSpPr>
            <p:sp>
              <p:nvSpPr>
                <p:cNvPr id="115758" name="Rectangle 48"/>
                <p:cNvSpPr/>
                <p:nvPr/>
              </p:nvSpPr>
              <p:spPr>
                <a:xfrm>
                  <a:off x="43" y="2688"/>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00B</a:t>
                  </a:r>
                  <a:r>
                    <a:rPr lang="zh-CN" altLang="en-US" sz="2000">
                      <a:latin typeface="Times New Roman" panose="02020603050405020304" pitchFamily="18" charset="0"/>
                      <a:ea typeface="宋体" panose="02010600030101010101" pitchFamily="2" charset="-122"/>
                    </a:rPr>
                    <a:t>钢管订购和运输</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59" name="Rectangle 49"/>
                <p:cNvSpPr/>
                <p:nvPr/>
              </p:nvSpPr>
              <p:spPr>
                <a:xfrm>
                  <a:off x="0" y="2688"/>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5760" name="Group 50"/>
              <p:cNvGrpSpPr/>
              <p:nvPr/>
            </p:nvGrpSpPr>
            <p:grpSpPr>
              <a:xfrm>
                <a:off x="1281" y="2688"/>
                <a:ext cx="1679" cy="384"/>
                <a:chOff x="1281" y="2688"/>
                <a:chExt cx="1679" cy="384"/>
              </a:xfrm>
            </p:grpSpPr>
            <p:sp>
              <p:nvSpPr>
                <p:cNvPr id="115761" name="Rectangle 51"/>
                <p:cNvSpPr/>
                <p:nvPr/>
              </p:nvSpPr>
              <p:spPr>
                <a:xfrm>
                  <a:off x="1324" y="2688"/>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组合优化、运输问题</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5762" name="Rectangle 52"/>
                <p:cNvSpPr/>
                <p:nvPr/>
              </p:nvSpPr>
              <p:spPr>
                <a:xfrm>
                  <a:off x="1281" y="2688"/>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sp>
          <p:nvSpPr>
            <p:cNvPr id="115763" name="Rectangle 53"/>
            <p:cNvSpPr/>
            <p:nvPr/>
          </p:nvSpPr>
          <p:spPr>
            <a:xfrm>
              <a:off x="-3" y="-3"/>
              <a:ext cx="2966" cy="3078"/>
            </a:xfrm>
            <a:prstGeom prst="rect">
              <a:avLst/>
            </a:prstGeom>
            <a:noFill/>
            <a:ln w="9525"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6737" name="Group 3"/>
          <p:cNvGrpSpPr/>
          <p:nvPr/>
        </p:nvGrpSpPr>
        <p:grpSpPr>
          <a:xfrm>
            <a:off x="304800" y="1676400"/>
            <a:ext cx="8610600" cy="4038600"/>
            <a:chOff x="-3" y="-3"/>
            <a:chExt cx="2966" cy="3078"/>
          </a:xfrm>
        </p:grpSpPr>
        <p:grpSp>
          <p:nvGrpSpPr>
            <p:cNvPr id="116738" name="Group 4"/>
            <p:cNvGrpSpPr/>
            <p:nvPr/>
          </p:nvGrpSpPr>
          <p:grpSpPr>
            <a:xfrm>
              <a:off x="0" y="0"/>
              <a:ext cx="2960" cy="3072"/>
              <a:chOff x="0" y="0"/>
              <a:chExt cx="2960" cy="3072"/>
            </a:xfrm>
          </p:grpSpPr>
          <p:grpSp>
            <p:nvGrpSpPr>
              <p:cNvPr id="116739" name="Group 5"/>
              <p:cNvGrpSpPr/>
              <p:nvPr/>
            </p:nvGrpSpPr>
            <p:grpSpPr>
              <a:xfrm>
                <a:off x="0" y="0"/>
                <a:ext cx="1281" cy="384"/>
                <a:chOff x="0" y="0"/>
                <a:chExt cx="1281" cy="384"/>
              </a:xfrm>
            </p:grpSpPr>
            <p:sp>
              <p:nvSpPr>
                <p:cNvPr id="116740" name="Rectangle 6"/>
                <p:cNvSpPr/>
                <p:nvPr/>
              </p:nvSpPr>
              <p:spPr>
                <a:xfrm>
                  <a:off x="43" y="0"/>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01A</a:t>
                  </a:r>
                  <a:r>
                    <a:rPr lang="zh-CN" altLang="en-US" sz="2000">
                      <a:latin typeface="Times New Roman" panose="02020603050405020304" pitchFamily="18" charset="0"/>
                      <a:ea typeface="宋体" panose="02010600030101010101" pitchFamily="2" charset="-122"/>
                    </a:rPr>
                    <a:t>血管三维重建</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41" name="Rectangle 7"/>
                <p:cNvSpPr/>
                <p:nvPr/>
              </p:nvSpPr>
              <p:spPr>
                <a:xfrm>
                  <a:off x="0" y="0"/>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42" name="Group 8"/>
              <p:cNvGrpSpPr/>
              <p:nvPr/>
            </p:nvGrpSpPr>
            <p:grpSpPr>
              <a:xfrm>
                <a:off x="1281" y="0"/>
                <a:ext cx="1679" cy="384"/>
                <a:chOff x="1281" y="0"/>
                <a:chExt cx="1679" cy="384"/>
              </a:xfrm>
            </p:grpSpPr>
            <p:sp>
              <p:nvSpPr>
                <p:cNvPr id="116743" name="Rectangle 9"/>
                <p:cNvSpPr/>
                <p:nvPr/>
              </p:nvSpPr>
              <p:spPr>
                <a:xfrm>
                  <a:off x="1324" y="0"/>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曲线拟合、曲面重建</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44" name="Rectangle 10"/>
                <p:cNvSpPr/>
                <p:nvPr/>
              </p:nvSpPr>
              <p:spPr>
                <a:xfrm>
                  <a:off x="1281" y="0"/>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45" name="Group 11"/>
              <p:cNvGrpSpPr/>
              <p:nvPr/>
            </p:nvGrpSpPr>
            <p:grpSpPr>
              <a:xfrm>
                <a:off x="0" y="384"/>
                <a:ext cx="1281" cy="384"/>
                <a:chOff x="0" y="384"/>
                <a:chExt cx="1281" cy="384"/>
              </a:xfrm>
            </p:grpSpPr>
            <p:sp>
              <p:nvSpPr>
                <p:cNvPr id="116746" name="Rectangle 12"/>
                <p:cNvSpPr/>
                <p:nvPr/>
              </p:nvSpPr>
              <p:spPr>
                <a:xfrm>
                  <a:off x="43" y="384"/>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01B </a:t>
                  </a:r>
                  <a:r>
                    <a:rPr lang="zh-CN" altLang="en-US" sz="2000">
                      <a:latin typeface="Times New Roman" panose="02020603050405020304" pitchFamily="18" charset="0"/>
                      <a:ea typeface="宋体" panose="02010600030101010101" pitchFamily="2" charset="-122"/>
                    </a:rPr>
                    <a:t>工交车调度问题</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47" name="Rectangle 13"/>
                <p:cNvSpPr/>
                <p:nvPr/>
              </p:nvSpPr>
              <p:spPr>
                <a:xfrm>
                  <a:off x="0" y="384"/>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48" name="Group 14"/>
              <p:cNvGrpSpPr/>
              <p:nvPr/>
            </p:nvGrpSpPr>
            <p:grpSpPr>
              <a:xfrm>
                <a:off x="1281" y="384"/>
                <a:ext cx="1679" cy="384"/>
                <a:chOff x="1281" y="384"/>
                <a:chExt cx="1679" cy="384"/>
              </a:xfrm>
            </p:grpSpPr>
            <p:sp>
              <p:nvSpPr>
                <p:cNvPr id="116749" name="Rectangle 15"/>
                <p:cNvSpPr/>
                <p:nvPr/>
              </p:nvSpPr>
              <p:spPr>
                <a:xfrm>
                  <a:off x="1324" y="384"/>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多目标规划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50" name="Rectangle 16"/>
                <p:cNvSpPr/>
                <p:nvPr/>
              </p:nvSpPr>
              <p:spPr>
                <a:xfrm>
                  <a:off x="1281" y="384"/>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51" name="Group 17"/>
              <p:cNvGrpSpPr/>
              <p:nvPr/>
            </p:nvGrpSpPr>
            <p:grpSpPr>
              <a:xfrm>
                <a:off x="0" y="768"/>
                <a:ext cx="1281" cy="384"/>
                <a:chOff x="0" y="768"/>
                <a:chExt cx="1281" cy="384"/>
              </a:xfrm>
            </p:grpSpPr>
            <p:sp>
              <p:nvSpPr>
                <p:cNvPr id="116752" name="Rectangle 18"/>
                <p:cNvSpPr/>
                <p:nvPr/>
              </p:nvSpPr>
              <p:spPr>
                <a:xfrm>
                  <a:off x="43" y="768"/>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02A</a:t>
                  </a:r>
                  <a:r>
                    <a:rPr lang="zh-CN" altLang="en-US" sz="2000">
                      <a:latin typeface="Times New Roman" panose="02020603050405020304" pitchFamily="18" charset="0"/>
                      <a:ea typeface="宋体" panose="02010600030101010101" pitchFamily="2" charset="-122"/>
                    </a:rPr>
                    <a:t>车灯线光源的优化</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53" name="Rectangle 19"/>
                <p:cNvSpPr/>
                <p:nvPr/>
              </p:nvSpPr>
              <p:spPr>
                <a:xfrm>
                  <a:off x="0" y="768"/>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54" name="Group 20"/>
              <p:cNvGrpSpPr/>
              <p:nvPr/>
            </p:nvGrpSpPr>
            <p:grpSpPr>
              <a:xfrm>
                <a:off x="1281" y="768"/>
                <a:ext cx="1679" cy="384"/>
                <a:chOff x="1281" y="768"/>
                <a:chExt cx="1679" cy="384"/>
              </a:xfrm>
            </p:grpSpPr>
            <p:sp>
              <p:nvSpPr>
                <p:cNvPr id="116755" name="Rectangle 21"/>
                <p:cNvSpPr/>
                <p:nvPr/>
              </p:nvSpPr>
              <p:spPr>
                <a:xfrm>
                  <a:off x="1324" y="768"/>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非线性规划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56" name="Rectangle 22"/>
                <p:cNvSpPr/>
                <p:nvPr/>
              </p:nvSpPr>
              <p:spPr>
                <a:xfrm>
                  <a:off x="1281" y="768"/>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57" name="Group 23"/>
              <p:cNvGrpSpPr/>
              <p:nvPr/>
            </p:nvGrpSpPr>
            <p:grpSpPr>
              <a:xfrm>
                <a:off x="0" y="1152"/>
                <a:ext cx="1281" cy="384"/>
                <a:chOff x="0" y="1152"/>
                <a:chExt cx="1281" cy="384"/>
              </a:xfrm>
            </p:grpSpPr>
            <p:sp>
              <p:nvSpPr>
                <p:cNvPr id="116758" name="Rectangle 24"/>
                <p:cNvSpPr/>
                <p:nvPr/>
              </p:nvSpPr>
              <p:spPr>
                <a:xfrm>
                  <a:off x="43" y="1152"/>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02B</a:t>
                  </a:r>
                  <a:r>
                    <a:rPr lang="zh-CN" altLang="en-US" sz="2000">
                      <a:latin typeface="Times New Roman" panose="02020603050405020304" pitchFamily="18" charset="0"/>
                      <a:ea typeface="宋体" panose="02010600030101010101" pitchFamily="2" charset="-122"/>
                    </a:rPr>
                    <a:t>彩票问题</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59" name="Rectangle 25"/>
                <p:cNvSpPr/>
                <p:nvPr/>
              </p:nvSpPr>
              <p:spPr>
                <a:xfrm>
                  <a:off x="0" y="1152"/>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60" name="Group 26"/>
              <p:cNvGrpSpPr/>
              <p:nvPr/>
            </p:nvGrpSpPr>
            <p:grpSpPr>
              <a:xfrm>
                <a:off x="1281" y="1152"/>
                <a:ext cx="1679" cy="384"/>
                <a:chOff x="1281" y="1152"/>
                <a:chExt cx="1679" cy="384"/>
              </a:xfrm>
            </p:grpSpPr>
            <p:sp>
              <p:nvSpPr>
                <p:cNvPr id="116761" name="Rectangle 27"/>
                <p:cNvSpPr/>
                <p:nvPr/>
              </p:nvSpPr>
              <p:spPr>
                <a:xfrm>
                  <a:off x="1324" y="1152"/>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单目标决策</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62" name="Rectangle 28"/>
                <p:cNvSpPr/>
                <p:nvPr/>
              </p:nvSpPr>
              <p:spPr>
                <a:xfrm>
                  <a:off x="1281" y="1152"/>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63" name="Group 29"/>
              <p:cNvGrpSpPr/>
              <p:nvPr/>
            </p:nvGrpSpPr>
            <p:grpSpPr>
              <a:xfrm>
                <a:off x="0" y="1536"/>
                <a:ext cx="1281" cy="384"/>
                <a:chOff x="0" y="1536"/>
                <a:chExt cx="1281" cy="384"/>
              </a:xfrm>
            </p:grpSpPr>
            <p:sp>
              <p:nvSpPr>
                <p:cNvPr id="116764" name="Rectangle 30"/>
                <p:cNvSpPr/>
                <p:nvPr/>
              </p:nvSpPr>
              <p:spPr>
                <a:xfrm>
                  <a:off x="43" y="1536"/>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03A SARS</a:t>
                  </a:r>
                  <a:r>
                    <a:rPr lang="zh-CN" altLang="en-US" sz="2000">
                      <a:latin typeface="Times New Roman" panose="02020603050405020304" pitchFamily="18" charset="0"/>
                      <a:ea typeface="宋体" panose="02010600030101010101" pitchFamily="2" charset="-122"/>
                    </a:rPr>
                    <a:t>的传播</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65" name="Rectangle 31"/>
                <p:cNvSpPr/>
                <p:nvPr/>
              </p:nvSpPr>
              <p:spPr>
                <a:xfrm>
                  <a:off x="0" y="1536"/>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66" name="Group 32"/>
              <p:cNvGrpSpPr/>
              <p:nvPr/>
            </p:nvGrpSpPr>
            <p:grpSpPr>
              <a:xfrm>
                <a:off x="1281" y="1536"/>
                <a:ext cx="1679" cy="384"/>
                <a:chOff x="1281" y="1536"/>
                <a:chExt cx="1679" cy="384"/>
              </a:xfrm>
            </p:grpSpPr>
            <p:sp>
              <p:nvSpPr>
                <p:cNvPr id="116767" name="Rectangle 33"/>
                <p:cNvSpPr/>
                <p:nvPr/>
              </p:nvSpPr>
              <p:spPr>
                <a:xfrm>
                  <a:off x="1324" y="1536"/>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微分方程、差分方程</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68" name="Rectangle 34"/>
                <p:cNvSpPr/>
                <p:nvPr/>
              </p:nvSpPr>
              <p:spPr>
                <a:xfrm>
                  <a:off x="1281" y="1536"/>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69" name="Group 35"/>
              <p:cNvGrpSpPr/>
              <p:nvPr/>
            </p:nvGrpSpPr>
            <p:grpSpPr>
              <a:xfrm>
                <a:off x="0" y="1920"/>
                <a:ext cx="1281" cy="384"/>
                <a:chOff x="0" y="1920"/>
                <a:chExt cx="1281" cy="384"/>
              </a:xfrm>
            </p:grpSpPr>
            <p:sp>
              <p:nvSpPr>
                <p:cNvPr id="116770" name="Rectangle 36"/>
                <p:cNvSpPr/>
                <p:nvPr/>
              </p:nvSpPr>
              <p:spPr>
                <a:xfrm>
                  <a:off x="43" y="1920"/>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03B </a:t>
                  </a:r>
                  <a:r>
                    <a:rPr lang="zh-CN" altLang="en-US" sz="2000">
                      <a:latin typeface="Times New Roman" panose="02020603050405020304" pitchFamily="18" charset="0"/>
                      <a:ea typeface="宋体" panose="02010600030101010101" pitchFamily="2" charset="-122"/>
                    </a:rPr>
                    <a:t>露天矿生产的车辆安排</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71" name="Rectangle 37"/>
                <p:cNvSpPr/>
                <p:nvPr/>
              </p:nvSpPr>
              <p:spPr>
                <a:xfrm>
                  <a:off x="0" y="1920"/>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72" name="Group 38"/>
              <p:cNvGrpSpPr/>
              <p:nvPr/>
            </p:nvGrpSpPr>
            <p:grpSpPr>
              <a:xfrm>
                <a:off x="1281" y="1920"/>
                <a:ext cx="1679" cy="384"/>
                <a:chOff x="1281" y="1920"/>
                <a:chExt cx="1679" cy="384"/>
              </a:xfrm>
            </p:grpSpPr>
            <p:sp>
              <p:nvSpPr>
                <p:cNvPr id="116773" name="Rectangle 39"/>
                <p:cNvSpPr/>
                <p:nvPr/>
              </p:nvSpPr>
              <p:spPr>
                <a:xfrm>
                  <a:off x="1324" y="1920"/>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整数规划、运输问题</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74" name="Rectangle 40"/>
                <p:cNvSpPr/>
                <p:nvPr/>
              </p:nvSpPr>
              <p:spPr>
                <a:xfrm>
                  <a:off x="1281" y="1920"/>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75" name="Group 41"/>
              <p:cNvGrpSpPr/>
              <p:nvPr/>
            </p:nvGrpSpPr>
            <p:grpSpPr>
              <a:xfrm>
                <a:off x="0" y="2304"/>
                <a:ext cx="1281" cy="384"/>
                <a:chOff x="0" y="2304"/>
                <a:chExt cx="1281" cy="384"/>
              </a:xfrm>
            </p:grpSpPr>
            <p:sp>
              <p:nvSpPr>
                <p:cNvPr id="116776" name="Rectangle 42"/>
                <p:cNvSpPr/>
                <p:nvPr/>
              </p:nvSpPr>
              <p:spPr>
                <a:xfrm>
                  <a:off x="43" y="2304"/>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04A</a:t>
                  </a:r>
                  <a:r>
                    <a:rPr lang="zh-CN" altLang="en-US" sz="2000">
                      <a:latin typeface="宋体" panose="02010600030101010101" pitchFamily="2" charset="-122"/>
                      <a:ea typeface="宋体" panose="02010600030101010101" pitchFamily="2" charset="-122"/>
                    </a:rPr>
                    <a:t>奥运会临时超市网点设计</a:t>
                  </a:r>
                  <a:endParaRPr lang="zh-CN" altLang="en-US" sz="2000">
                    <a:latin typeface="宋体" panose="02010600030101010101" pitchFamily="2" charset="-122"/>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77" name="Rectangle 43"/>
                <p:cNvSpPr/>
                <p:nvPr/>
              </p:nvSpPr>
              <p:spPr>
                <a:xfrm>
                  <a:off x="0" y="2304"/>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78" name="Group 44"/>
              <p:cNvGrpSpPr/>
              <p:nvPr/>
            </p:nvGrpSpPr>
            <p:grpSpPr>
              <a:xfrm>
                <a:off x="1281" y="2304"/>
                <a:ext cx="1679" cy="384"/>
                <a:chOff x="1281" y="2304"/>
                <a:chExt cx="1679" cy="384"/>
              </a:xfrm>
            </p:grpSpPr>
            <p:sp>
              <p:nvSpPr>
                <p:cNvPr id="116779" name="Rectangle 45"/>
                <p:cNvSpPr/>
                <p:nvPr/>
              </p:nvSpPr>
              <p:spPr>
                <a:xfrm>
                  <a:off x="1324" y="2304"/>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统计分析、数据处理、优化</a:t>
                  </a:r>
                  <a:endParaRPr lang="zh-CN" altLang="en-US" sz="2000">
                    <a:latin typeface="Tahoma" panose="020B0604030504040204" pitchFamily="34" charset="0"/>
                    <a:ea typeface="宋体" panose="02010600030101010101" pitchFamily="2" charset="-122"/>
                  </a:endParaRPr>
                </a:p>
                <a:p>
                  <a:pPr algn="just" eaLnBrk="0" hangingPunct="0"/>
                  <a:endParaRPr lang="en-US" altLang="zh-CN" sz="2000">
                    <a:latin typeface="Times New Roman" panose="02020603050405020304" pitchFamily="18" charset="0"/>
                    <a:ea typeface="宋体" panose="02010600030101010101" pitchFamily="2" charset="-122"/>
                  </a:endParaRPr>
                </a:p>
              </p:txBody>
            </p:sp>
            <p:sp>
              <p:nvSpPr>
                <p:cNvPr id="116780" name="Rectangle 46"/>
                <p:cNvSpPr/>
                <p:nvPr/>
              </p:nvSpPr>
              <p:spPr>
                <a:xfrm>
                  <a:off x="1281" y="2304"/>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81" name="Group 47"/>
              <p:cNvGrpSpPr/>
              <p:nvPr/>
            </p:nvGrpSpPr>
            <p:grpSpPr>
              <a:xfrm>
                <a:off x="0" y="2688"/>
                <a:ext cx="1281" cy="384"/>
                <a:chOff x="0" y="2688"/>
                <a:chExt cx="1281" cy="384"/>
              </a:xfrm>
            </p:grpSpPr>
            <p:sp>
              <p:nvSpPr>
                <p:cNvPr id="116782" name="Rectangle 48"/>
                <p:cNvSpPr/>
                <p:nvPr/>
              </p:nvSpPr>
              <p:spPr>
                <a:xfrm>
                  <a:off x="43" y="2688"/>
                  <a:ext cx="1195" cy="384"/>
                </a:xfrm>
                <a:prstGeom prst="rect">
                  <a:avLst/>
                </a:prstGeom>
                <a:noFill/>
                <a:ln w="9525">
                  <a:noFill/>
                </a:ln>
              </p:spPr>
              <p:txBody>
                <a:bodyPr anchor="t"/>
                <a:p>
                  <a:pPr algn="just"/>
                  <a:r>
                    <a:rPr lang="en-US" altLang="zh-CN" sz="2000">
                      <a:latin typeface="Times New Roman" panose="02020603050405020304" pitchFamily="18" charset="0"/>
                      <a:ea typeface="宋体" panose="02010600030101010101" pitchFamily="2" charset="-122"/>
                    </a:rPr>
                    <a:t>04B</a:t>
                  </a:r>
                  <a:r>
                    <a:rPr lang="zh-CN" altLang="en-US" sz="2000">
                      <a:latin typeface="宋体" panose="02010600030101010101" pitchFamily="2" charset="-122"/>
                      <a:ea typeface="宋体" panose="02010600030101010101" pitchFamily="2" charset="-122"/>
                    </a:rPr>
                    <a:t>电力市场的输电阻塞管理</a:t>
                  </a:r>
                  <a:endParaRPr lang="zh-CN" altLang="en-US" sz="2000">
                    <a:latin typeface="宋体" panose="02010600030101010101" pitchFamily="2" charset="-122"/>
                    <a:ea typeface="宋体" panose="02010600030101010101" pitchFamily="2" charset="-122"/>
                  </a:endParaRPr>
                </a:p>
              </p:txBody>
            </p:sp>
            <p:sp>
              <p:nvSpPr>
                <p:cNvPr id="116783" name="Rectangle 49"/>
                <p:cNvSpPr/>
                <p:nvPr/>
              </p:nvSpPr>
              <p:spPr>
                <a:xfrm>
                  <a:off x="0" y="2688"/>
                  <a:ext cx="1281"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nvGrpSpPr>
              <p:cNvPr id="116784" name="Group 50"/>
              <p:cNvGrpSpPr/>
              <p:nvPr/>
            </p:nvGrpSpPr>
            <p:grpSpPr>
              <a:xfrm>
                <a:off x="1281" y="2688"/>
                <a:ext cx="1679" cy="384"/>
                <a:chOff x="1281" y="2688"/>
                <a:chExt cx="1679" cy="384"/>
              </a:xfrm>
            </p:grpSpPr>
            <p:sp>
              <p:nvSpPr>
                <p:cNvPr id="116785" name="Rectangle 51"/>
                <p:cNvSpPr/>
                <p:nvPr/>
              </p:nvSpPr>
              <p:spPr>
                <a:xfrm>
                  <a:off x="1324" y="2688"/>
                  <a:ext cx="1593" cy="384"/>
                </a:xfrm>
                <a:prstGeom prst="rect">
                  <a:avLst/>
                </a:prstGeom>
                <a:noFill/>
                <a:ln w="9525">
                  <a:noFill/>
                </a:ln>
              </p:spPr>
              <p:txBody>
                <a:bodyPr anchor="t"/>
                <a:p>
                  <a:pPr algn="just"/>
                  <a:r>
                    <a:rPr lang="zh-CN" altLang="en-US" sz="2000">
                      <a:latin typeface="Times New Roman" panose="02020603050405020304" pitchFamily="18" charset="0"/>
                      <a:ea typeface="宋体" panose="02010600030101010101" pitchFamily="2" charset="-122"/>
                    </a:rPr>
                    <a:t>数据拟合、优化</a:t>
                  </a:r>
                  <a:endParaRPr lang="zh-CN" altLang="en-US" sz="2000">
                    <a:latin typeface="Times New Roman" panose="02020603050405020304" pitchFamily="18" charset="0"/>
                    <a:ea typeface="宋体" panose="02010600030101010101" pitchFamily="2" charset="-122"/>
                  </a:endParaRPr>
                </a:p>
              </p:txBody>
            </p:sp>
            <p:sp>
              <p:nvSpPr>
                <p:cNvPr id="116786" name="Rectangle 52"/>
                <p:cNvSpPr/>
                <p:nvPr/>
              </p:nvSpPr>
              <p:spPr>
                <a:xfrm>
                  <a:off x="1281" y="2688"/>
                  <a:ext cx="1679" cy="384"/>
                </a:xfrm>
                <a:prstGeom prst="rect">
                  <a:avLst/>
                </a:prstGeom>
                <a:noFill/>
                <a:ln w="7"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grpSp>
        <p:sp>
          <p:nvSpPr>
            <p:cNvPr id="116787" name="Rectangle 53"/>
            <p:cNvSpPr/>
            <p:nvPr/>
          </p:nvSpPr>
          <p:spPr>
            <a:xfrm>
              <a:off x="-3" y="-3"/>
              <a:ext cx="2966" cy="3078"/>
            </a:xfrm>
            <a:prstGeom prst="rect">
              <a:avLst/>
            </a:prstGeom>
            <a:noFill/>
            <a:ln w="9525" cap="flat" cmpd="sng">
              <a:solidFill>
                <a:srgbClr val="A0A0A0"/>
              </a:solidFill>
              <a:prstDash val="solid"/>
              <a:miter/>
              <a:headEnd type="none" w="med" len="med"/>
              <a:tailEnd type="none" w="med" len="med"/>
            </a:ln>
          </p:spPr>
          <p:txBody>
            <a:bodyPr wrap="none" anchor="t"/>
            <a:p>
              <a:endParaRPr lang="zh-CN" altLang="en-US">
                <a:latin typeface="Arial" panose="020B0604020202020204" pitchFamily="34" charset="0"/>
                <a:ea typeface="宋体" panose="02010600030101010101" pitchFamily="2" charset="-122"/>
              </a:endParaRPr>
            </a:p>
          </p:txBody>
        </p:sp>
      </p:gr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0037" name="Group 53"/>
          <p:cNvGraphicFramePr>
            <a:graphicFrameLocks noGrp="1"/>
          </p:cNvGraphicFramePr>
          <p:nvPr/>
        </p:nvGraphicFramePr>
        <p:xfrm>
          <a:off x="76200" y="1793875"/>
          <a:ext cx="8893175" cy="4073525"/>
        </p:xfrm>
        <a:graphic>
          <a:graphicData uri="http://schemas.openxmlformats.org/drawingml/2006/table">
            <a:tbl>
              <a:tblPr/>
              <a:tblGrid>
                <a:gridCol w="1019175"/>
                <a:gridCol w="2170113"/>
                <a:gridCol w="2085975"/>
                <a:gridCol w="1809750"/>
                <a:gridCol w="1808162"/>
              </a:tblGrid>
              <a:tr h="45561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年份</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A</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题</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B</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题</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C</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题</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D</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题</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0738">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2005</a:t>
                      </a:r>
                      <a:endParaRPr kumimoji="0" lang="en-US" altLang="zh-CN"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长江水质的评价和预测</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DVD</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在线租赁</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雨量预报方法的评价</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DVD</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在线租赁</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85863">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2006</a:t>
                      </a:r>
                      <a:endParaRPr kumimoji="0" lang="en-US" altLang="zh-CN"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出版社的资源配置</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艾滋病疗法的评价和疗效的预测</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易拉罐形状和尺寸的最优设计</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煤矿瓦斯和煤尘的监测与控制</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0738">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2007</a:t>
                      </a:r>
                      <a:endParaRPr kumimoji="0" lang="en-US" altLang="zh-CN"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中国人口增长预测</a:t>
                      </a:r>
                      <a:r>
                        <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乘公交，看奥运</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手机</a:t>
                      </a:r>
                      <a:r>
                        <a:rPr kumimoji="0" lang="zh-CN" altLang="en-US" sz="2000" b="1" i="0" u="none" strike="noStrike" cap="none" normalizeH="0" baseline="0" smtClean="0">
                          <a:ln>
                            <a:noFill/>
                          </a:ln>
                          <a:solidFill>
                            <a:srgbClr val="0000FF"/>
                          </a:solidFill>
                          <a:effectLst/>
                          <a:latin typeface="Arial" panose="020B0604020202020204"/>
                          <a:ea typeface="黑体" panose="02010609060101010101" pitchFamily="2" charset="-122"/>
                        </a:rPr>
                        <a:t>“</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套餐</a:t>
                      </a:r>
                      <a:r>
                        <a:rPr kumimoji="0" lang="zh-CN" altLang="en-US" sz="2000" b="1" i="0" u="none" strike="noStrike" cap="none" normalizeH="0" baseline="0" smtClean="0">
                          <a:ln>
                            <a:noFill/>
                          </a:ln>
                          <a:solidFill>
                            <a:srgbClr val="0000FF"/>
                          </a:solidFill>
                          <a:effectLst/>
                          <a:latin typeface="Arial" panose="020B0604020202020204"/>
                          <a:ea typeface="黑体" panose="02010609060101010101" pitchFamily="2" charset="-122"/>
                        </a:rPr>
                        <a:t>”</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优惠几何</a:t>
                      </a:r>
                      <a:r>
                        <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体能测试时间安排</a:t>
                      </a:r>
                      <a:r>
                        <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0575">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2008</a:t>
                      </a:r>
                      <a:endParaRPr kumimoji="0" lang="en-US" altLang="zh-CN"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数码相机定位</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高等教育收费标准探讨</a:t>
                      </a:r>
                      <a:endPar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地面搜索</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NBA</a:t>
                      </a:r>
                      <a:r>
                        <a:rPr kumimoji="0" lang="zh-CN" altLang="en-US" sz="20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赛程的分析与评价</a:t>
                      </a:r>
                      <a:endParaRPr kumimoji="0" lang="zh-CN" altLang="en-US" sz="2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17799" name="Rectangle 52"/>
          <p:cNvSpPr/>
          <p:nvPr/>
        </p:nvSpPr>
        <p:spPr>
          <a:xfrm>
            <a:off x="1908175" y="328613"/>
            <a:ext cx="6119813" cy="579437"/>
          </a:xfrm>
          <a:prstGeom prst="rect">
            <a:avLst/>
          </a:prstGeom>
          <a:noFill/>
          <a:ln w="9525">
            <a:noFill/>
          </a:ln>
        </p:spPr>
        <p:txBody>
          <a:bodyPr anchor="t">
            <a:spAutoFit/>
          </a:bodyPr>
          <a:p>
            <a:pPr algn="ctr"/>
            <a:r>
              <a:rPr lang="zh-CN" altLang="en-US" sz="3200" b="1">
                <a:solidFill>
                  <a:srgbClr val="FF3300"/>
                </a:solidFill>
                <a:latin typeface="Times New Roman" panose="02020603050405020304" pitchFamily="18" charset="0"/>
                <a:ea typeface="楷体_GB2312" pitchFamily="49" charset="-122"/>
              </a:rPr>
              <a:t>近年题目</a:t>
            </a:r>
            <a:endParaRPr lang="zh-CN" altLang="en-US" sz="3200" b="1">
              <a:solidFill>
                <a:srgbClr val="FF3300"/>
              </a:solidFill>
              <a:latin typeface="Times New Roman" panose="02020603050405020304" pitchFamily="18"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0037"/>
                                        </p:tgtEl>
                                        <p:attrNameLst>
                                          <p:attrName>style.visibility</p:attrName>
                                        </p:attrNameLst>
                                      </p:cBhvr>
                                      <p:to>
                                        <p:strVal val="visible"/>
                                      </p:to>
                                    </p:set>
                                    <p:animEffect transition="in" filter="dissolve">
                                      <p:cBhvr>
                                        <p:cTn id="7" dur="500"/>
                                        <p:tgtEl>
                                          <p:spTgt spid="170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Rectangle 4"/>
          <p:cNvSpPr/>
          <p:nvPr/>
        </p:nvSpPr>
        <p:spPr>
          <a:xfrm>
            <a:off x="685800" y="1447800"/>
            <a:ext cx="7924800" cy="3749675"/>
          </a:xfrm>
          <a:prstGeom prst="rect">
            <a:avLst/>
          </a:prstGeom>
          <a:noFill/>
          <a:ln w="9525">
            <a:noFill/>
          </a:ln>
        </p:spPr>
        <p:txBody>
          <a:bodyPr anchor="t">
            <a:spAutoFit/>
          </a:bodyPr>
          <a:p>
            <a:r>
              <a:rPr lang="en-US" altLang="zh-CN" sz="2000" b="1">
                <a:solidFill>
                  <a:srgbClr val="692AA2"/>
                </a:solidFill>
                <a:latin typeface="仿宋_GB2312" pitchFamily="49" charset="-122"/>
                <a:ea typeface="仿宋_GB2312" pitchFamily="49" charset="-122"/>
              </a:rPr>
              <a:t>1</a:t>
            </a:r>
            <a:r>
              <a:rPr lang="zh-CN" altLang="zh-CN" sz="2000" b="1">
                <a:solidFill>
                  <a:srgbClr val="692AA2"/>
                </a:solidFill>
                <a:latin typeface="仿宋_GB2312" pitchFamily="49" charset="-122"/>
                <a:ea typeface="仿宋_GB2312" pitchFamily="49" charset="-122"/>
              </a:rPr>
              <a:t>.1　</a:t>
            </a:r>
            <a:r>
              <a:rPr lang="zh-CN" altLang="en-US" sz="2000" b="1">
                <a:solidFill>
                  <a:srgbClr val="692AA2"/>
                </a:solidFill>
                <a:latin typeface="仿宋_GB2312" pitchFamily="49" charset="-122"/>
                <a:ea typeface="仿宋_GB2312" pitchFamily="49" charset="-122"/>
              </a:rPr>
              <a:t>问题提出（出版社的资源配置）</a:t>
            </a:r>
            <a:endParaRPr lang="zh-CN" altLang="zh-CN" sz="2000" b="1">
              <a:solidFill>
                <a:srgbClr val="692AA2"/>
              </a:solidFill>
              <a:latin typeface="仿宋_GB2312" pitchFamily="49" charset="-122"/>
              <a:ea typeface="仿宋_GB2312" pitchFamily="49" charset="-122"/>
            </a:endParaRPr>
          </a:p>
          <a:p>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出版社的资源主要包括人力资源、生产资源、资金和管理资源等，它们都捆绑在书号上，经过各个部门的运作，形成成本（策划成本、编辑成本、生产成本、库存成本、销售成本、财务与管理成本等）和利润。</a:t>
            </a:r>
            <a:endParaRPr lang="zh-CN" altLang="zh-CN" sz="2000" b="1">
              <a:solidFill>
                <a:srgbClr val="692AA2"/>
              </a:solidFill>
              <a:latin typeface="仿宋_GB2312" pitchFamily="49" charset="-122"/>
              <a:ea typeface="仿宋_GB2312" pitchFamily="49" charset="-122"/>
            </a:endParaRPr>
          </a:p>
          <a:p>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某个以教材类出版物为主的出版社，总社领导每年需要针对分社提交的生产计划申请书、人力资源情况以及市场信息分析，将总量一定的书号数合理地分配给各个分社，使出版的教材产生最好的经济效益。事实上，由于各个分社提交的需求书号总量远大于总社的书号总量，因此总社一般以增加强势产品支持力度的原则优化资源配置。资源配置完成后，各个分社（分社以学科划分）根据分配到的书号数量，再重新对学科所属每个课程作出出版计划，付诸实施。</a:t>
            </a:r>
            <a:endParaRPr lang="zh-CN" altLang="en-US" sz="2000" b="1">
              <a:solidFill>
                <a:srgbClr val="692AA2"/>
              </a:solidFill>
              <a:latin typeface="仿宋_GB2312" pitchFamily="49" charset="-122"/>
              <a:ea typeface="仿宋_GB2312" pitchFamily="49" charset="-122"/>
            </a:endParaRPr>
          </a:p>
        </p:txBody>
      </p:sp>
      <p:sp>
        <p:nvSpPr>
          <p:cNvPr id="415749" name="Rectangle 5"/>
          <p:cNvSpPr>
            <a:spLocks noGrp="1"/>
          </p:cNvSpPr>
          <p:nvPr>
            <p:ph type="title"/>
          </p:nvPr>
        </p:nvSpPr>
        <p:spPr>
          <a:xfrm>
            <a:off x="457200" y="457200"/>
            <a:ext cx="8305800" cy="563563"/>
          </a:xfrm>
          <a:ln/>
        </p:spPr>
        <p:txBody>
          <a:bodyPr vert="horz" wrap="square" lIns="91440" tIns="45720" rIns="91440" bIns="45720" anchor="b"/>
          <a:p>
            <a:pPr eaLnBrk="1" hangingPunct="1"/>
            <a:r>
              <a:rPr lang="en-US" altLang="zh-CN"/>
              <a:t> </a:t>
            </a:r>
            <a:r>
              <a:rPr lang="zh-CN" altLang="en-US">
                <a:solidFill>
                  <a:schemeClr val="accent2"/>
                </a:solidFill>
              </a:rPr>
              <a:t>选讲一：出版社的资源配置</a:t>
            </a:r>
            <a:endParaRPr lang="zh-CN" altLang="en-US">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15749"/>
                                        </p:tgtEl>
                                        <p:attrNameLst>
                                          <p:attrName>style.visibility</p:attrName>
                                        </p:attrNameLst>
                                      </p:cBhvr>
                                      <p:to>
                                        <p:strVal val="visible"/>
                                      </p:to>
                                    </p:set>
                                    <p:anim calcmode="lin" valueType="num">
                                      <p:cBhvr>
                                        <p:cTn id="7" dur="1000" fill="hold"/>
                                        <p:tgtEl>
                                          <p:spTgt spid="415749"/>
                                        </p:tgtEl>
                                        <p:attrNameLst>
                                          <p:attrName>ppt_w</p:attrName>
                                        </p:attrNameLst>
                                      </p:cBhvr>
                                      <p:tavLst>
                                        <p:tav tm="0">
                                          <p:val>
                                            <p:strVal val="#ppt_w*0.70"/>
                                          </p:val>
                                        </p:tav>
                                        <p:tav tm="100000">
                                          <p:val>
                                            <p:strVal val="#ppt_w"/>
                                          </p:val>
                                        </p:tav>
                                      </p:tavLst>
                                    </p:anim>
                                    <p:anim calcmode="lin" valueType="num">
                                      <p:cBhvr>
                                        <p:cTn id="8" dur="1000" fill="hold"/>
                                        <p:tgtEl>
                                          <p:spTgt spid="415749"/>
                                        </p:tgtEl>
                                        <p:attrNameLst>
                                          <p:attrName>ppt_h</p:attrName>
                                        </p:attrNameLst>
                                      </p:cBhvr>
                                      <p:tavLst>
                                        <p:tav tm="0">
                                          <p:val>
                                            <p:strVal val="#ppt_h"/>
                                          </p:val>
                                        </p:tav>
                                        <p:tav tm="100000">
                                          <p:val>
                                            <p:strVal val="#ppt_h"/>
                                          </p:val>
                                        </p:tav>
                                      </p:tavLst>
                                    </p:anim>
                                    <p:animEffect transition="in" filter="fade">
                                      <p:cBhvr>
                                        <p:cTn id="9" dur="1000"/>
                                        <p:tgtEl>
                                          <p:spTgt spid="415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49"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0" name="Rectangle 2"/>
          <p:cNvSpPr>
            <a:spLocks noGrp="1"/>
          </p:cNvSpPr>
          <p:nvPr>
            <p:ph idx="1"/>
          </p:nvPr>
        </p:nvSpPr>
        <p:spPr>
          <a:xfrm>
            <a:off x="304800" y="1295400"/>
            <a:ext cx="8229600" cy="5791200"/>
          </a:xfrm>
          <a:ln/>
        </p:spPr>
        <p:txBody>
          <a:bodyPr vert="horz" wrap="square" lIns="0" tIns="0" rIns="0" bIns="0" anchor="t"/>
          <a:p>
            <a:pPr eaLnBrk="1" hangingPunct="1">
              <a:lnSpc>
                <a:spcPct val="120000"/>
              </a:lnSpc>
              <a:buNone/>
            </a:pPr>
            <a:r>
              <a:rPr lang="en-US" altLang="zh-CN" sz="1600" b="1">
                <a:solidFill>
                  <a:srgbClr val="692AA2"/>
                </a:solidFill>
                <a:latin typeface="仿宋_GB2312" pitchFamily="49" charset="-122"/>
                <a:ea typeface="仿宋_GB2312" pitchFamily="49" charset="-122"/>
              </a:rPr>
              <a:t>      </a:t>
            </a:r>
            <a:r>
              <a:rPr lang="zh-CN" altLang="zh-CN" sz="1800" b="1">
                <a:solidFill>
                  <a:srgbClr val="692AA2"/>
                </a:solidFill>
                <a:latin typeface="仿宋_GB2312" pitchFamily="49" charset="-122"/>
                <a:ea typeface="仿宋_GB2312" pitchFamily="49" charset="-122"/>
              </a:rPr>
              <a:t>资源配置是总社每年进行的重要决策，直接关系到出版社的当年经济效益和长远发展战略。由于市场信息（主要是需求与竞争力）通常是不完全的，企业自身的数据收集和积累也不足，这种情况下的决策问题在我国企业中是普遍存在的。</a:t>
            </a:r>
            <a:r>
              <a:rPr lang="en-US" altLang="zh-CN" sz="1800" b="1">
                <a:solidFill>
                  <a:srgbClr val="692AA2"/>
                </a:solidFill>
                <a:latin typeface="仿宋_GB2312" pitchFamily="49" charset="-122"/>
                <a:ea typeface="仿宋_GB2312" pitchFamily="49" charset="-122"/>
              </a:rPr>
              <a:t>(</a:t>
            </a:r>
            <a:r>
              <a:rPr lang="en-US" altLang="zh-CN" sz="1600">
                <a:solidFill>
                  <a:srgbClr val="333399"/>
                </a:solidFill>
                <a:latin typeface="宋体" panose="02010600030101010101" pitchFamily="2" charset="-122"/>
                <a:ea typeface="宋体" panose="02010600030101010101" pitchFamily="2" charset="-122"/>
              </a:rPr>
              <a:t>2006</a:t>
            </a:r>
            <a:r>
              <a:rPr lang="zh-CN" altLang="en-US" sz="1600">
                <a:solidFill>
                  <a:srgbClr val="333399"/>
                </a:solidFill>
                <a:latin typeface="宋体" panose="02010600030101010101" pitchFamily="2" charset="-122"/>
                <a:ea typeface="宋体" panose="02010600030101010101" pitchFamily="2" charset="-122"/>
              </a:rPr>
              <a:t>高教社杯全国大学生数学建模竞赛题目</a:t>
            </a:r>
            <a:r>
              <a:rPr lang="en-US" altLang="zh-CN" sz="1600">
                <a:solidFill>
                  <a:srgbClr val="333399"/>
                </a:solidFill>
                <a:latin typeface="宋体" panose="02010600030101010101" pitchFamily="2" charset="-122"/>
                <a:ea typeface="宋体" panose="02010600030101010101" pitchFamily="2" charset="-122"/>
              </a:rPr>
              <a:t>A</a:t>
            </a:r>
            <a:r>
              <a:rPr lang="zh-CN" altLang="en-US" sz="1600">
                <a:solidFill>
                  <a:srgbClr val="333399"/>
                </a:solidFill>
                <a:latin typeface="宋体" panose="02010600030101010101" pitchFamily="2" charset="-122"/>
                <a:ea typeface="宋体" panose="02010600030101010101" pitchFamily="2" charset="-122"/>
              </a:rPr>
              <a:t>题</a:t>
            </a:r>
            <a:r>
              <a:rPr lang="en-US" altLang="zh-CN" sz="1800" b="1">
                <a:solidFill>
                  <a:srgbClr val="692AA2"/>
                </a:solidFill>
                <a:latin typeface="仿宋_GB2312" pitchFamily="49" charset="-122"/>
                <a:ea typeface="仿宋_GB2312" pitchFamily="49" charset="-122"/>
              </a:rPr>
              <a:t>)</a:t>
            </a:r>
            <a:endParaRPr lang="zh-CN" altLang="zh-CN" sz="1800" b="1">
              <a:solidFill>
                <a:srgbClr val="692AA2"/>
              </a:solidFill>
              <a:latin typeface="仿宋_GB2312" pitchFamily="49" charset="-122"/>
              <a:ea typeface="仿宋_GB2312" pitchFamily="49" charset="-122"/>
            </a:endParaRPr>
          </a:p>
          <a:p>
            <a:pPr eaLnBrk="1" hangingPunct="1">
              <a:lnSpc>
                <a:spcPct val="120000"/>
              </a:lnSpc>
              <a:buNone/>
            </a:pPr>
            <a:r>
              <a:rPr lang="en-US" altLang="zh-CN" sz="1800" b="1">
                <a:solidFill>
                  <a:srgbClr val="692AA2"/>
                </a:solidFill>
                <a:latin typeface="仿宋_GB2312" pitchFamily="49" charset="-122"/>
                <a:ea typeface="仿宋_GB2312" pitchFamily="49" charset="-122"/>
              </a:rPr>
              <a:t>      </a:t>
            </a:r>
            <a:r>
              <a:rPr lang="zh-CN" altLang="zh-CN" sz="1800" b="1">
                <a:solidFill>
                  <a:srgbClr val="692AA2"/>
                </a:solidFill>
                <a:latin typeface="仿宋_GB2312" pitchFamily="49" charset="-122"/>
                <a:ea typeface="仿宋_GB2312" pitchFamily="49" charset="-122"/>
              </a:rPr>
              <a:t>本题附录中给出了该出版社所掌握的一些数据资料，请你们根据这些数据资料，利用数学建模的方法，在信息不足的条件下，提出以量化分析为基础的资源（书号）配置方法，给出一个明确的分配方案，向出版社提供有益的建议。</a:t>
            </a:r>
            <a:endParaRPr lang="zh-CN" altLang="zh-CN" sz="1800" b="1">
              <a:solidFill>
                <a:srgbClr val="692AA2"/>
              </a:solidFill>
              <a:latin typeface="仿宋_GB2312" pitchFamily="49" charset="-122"/>
              <a:ea typeface="仿宋_GB2312" pitchFamily="49" charset="-122"/>
            </a:endParaRPr>
          </a:p>
          <a:p>
            <a:pPr eaLnBrk="1" hangingPunct="1">
              <a:lnSpc>
                <a:spcPct val="120000"/>
              </a:lnSpc>
              <a:buNone/>
            </a:pPr>
            <a:r>
              <a:rPr lang="zh-CN" altLang="en-US" sz="1800" b="1">
                <a:solidFill>
                  <a:srgbClr val="692AA2"/>
                </a:solidFill>
                <a:latin typeface="仿宋_GB2312" pitchFamily="49" charset="-122"/>
                <a:ea typeface="仿宋_GB2312" pitchFamily="49" charset="-122"/>
              </a:rPr>
              <a:t>   </a:t>
            </a:r>
            <a:r>
              <a:rPr lang="zh-CN" altLang="zh-CN" sz="1800" b="1">
                <a:solidFill>
                  <a:srgbClr val="692AA2"/>
                </a:solidFill>
                <a:latin typeface="仿宋_GB2312" pitchFamily="49" charset="-122"/>
                <a:ea typeface="仿宋_GB2312" pitchFamily="49" charset="-122"/>
              </a:rPr>
              <a:t>[附录]</a:t>
            </a:r>
            <a:endParaRPr lang="zh-CN" altLang="zh-CN" sz="1800" b="1">
              <a:solidFill>
                <a:srgbClr val="692AA2"/>
              </a:solidFill>
              <a:latin typeface="仿宋_GB2312" pitchFamily="49" charset="-122"/>
              <a:ea typeface="仿宋_GB2312" pitchFamily="49" charset="-122"/>
            </a:endParaRPr>
          </a:p>
          <a:p>
            <a:pPr eaLnBrk="1" hangingPunct="1">
              <a:lnSpc>
                <a:spcPct val="120000"/>
              </a:lnSpc>
              <a:buNone/>
            </a:pPr>
            <a:r>
              <a:rPr lang="en-US" altLang="zh-CN" sz="1800" b="1">
                <a:solidFill>
                  <a:srgbClr val="692AA2"/>
                </a:solidFill>
                <a:latin typeface="仿宋_GB2312" pitchFamily="49" charset="-122"/>
                <a:ea typeface="仿宋_GB2312" pitchFamily="49" charset="-122"/>
              </a:rPr>
              <a:t>     </a:t>
            </a:r>
            <a:r>
              <a:rPr lang="zh-CN" altLang="zh-CN" sz="1800" b="1">
                <a:solidFill>
                  <a:srgbClr val="692AA2"/>
                </a:solidFill>
                <a:latin typeface="仿宋_GB2312" pitchFamily="49" charset="-122"/>
                <a:ea typeface="仿宋_GB2312" pitchFamily="49" charset="-122"/>
              </a:rPr>
              <a:t>附件1：问卷调查表；</a:t>
            </a:r>
            <a:endParaRPr lang="zh-CN" altLang="zh-CN" sz="1800" b="1">
              <a:solidFill>
                <a:srgbClr val="692AA2"/>
              </a:solidFill>
              <a:latin typeface="仿宋_GB2312" pitchFamily="49" charset="-122"/>
              <a:ea typeface="仿宋_GB2312" pitchFamily="49" charset="-122"/>
            </a:endParaRPr>
          </a:p>
          <a:p>
            <a:pPr eaLnBrk="1" hangingPunct="1">
              <a:lnSpc>
                <a:spcPct val="120000"/>
              </a:lnSpc>
              <a:buNone/>
            </a:pPr>
            <a:r>
              <a:rPr lang="zh-CN" altLang="en-US" sz="1800" b="1">
                <a:solidFill>
                  <a:srgbClr val="692AA2"/>
                </a:solidFill>
                <a:latin typeface="仿宋_GB2312" pitchFamily="49" charset="-122"/>
                <a:ea typeface="仿宋_GB2312" pitchFamily="49" charset="-122"/>
              </a:rPr>
              <a:t>     </a:t>
            </a:r>
            <a:r>
              <a:rPr lang="zh-CN" altLang="zh-CN" sz="1800" b="1">
                <a:solidFill>
                  <a:srgbClr val="692AA2"/>
                </a:solidFill>
                <a:latin typeface="仿宋_GB2312" pitchFamily="49" charset="-122"/>
                <a:ea typeface="仿宋_GB2312" pitchFamily="49" charset="-122"/>
              </a:rPr>
              <a:t>附件2：问卷调查数据（五年）；</a:t>
            </a:r>
            <a:endParaRPr lang="zh-CN" altLang="en-US" sz="1800" b="1">
              <a:solidFill>
                <a:srgbClr val="692AA2"/>
              </a:solidFill>
              <a:latin typeface="仿宋_GB2312" pitchFamily="49" charset="-122"/>
              <a:ea typeface="仿宋_GB2312" pitchFamily="49" charset="-122"/>
            </a:endParaRPr>
          </a:p>
          <a:p>
            <a:pPr eaLnBrk="1" hangingPunct="1">
              <a:lnSpc>
                <a:spcPct val="120000"/>
              </a:lnSpc>
              <a:buNone/>
            </a:pPr>
            <a:r>
              <a:rPr lang="zh-CN" altLang="en-US" sz="1800" b="1">
                <a:solidFill>
                  <a:srgbClr val="692AA2"/>
                </a:solidFill>
                <a:latin typeface="仿宋_GB2312" pitchFamily="49" charset="-122"/>
                <a:ea typeface="仿宋_GB2312" pitchFamily="49" charset="-122"/>
              </a:rPr>
              <a:t>     </a:t>
            </a:r>
            <a:r>
              <a:rPr lang="zh-CN" altLang="zh-CN" sz="1800" b="1">
                <a:solidFill>
                  <a:srgbClr val="692AA2"/>
                </a:solidFill>
                <a:latin typeface="仿宋_GB2312" pitchFamily="49" charset="-122"/>
                <a:ea typeface="仿宋_GB2312" pitchFamily="49" charset="-122"/>
              </a:rPr>
              <a:t>附件3：各课程计划及实际销售数据表（5年）；</a:t>
            </a:r>
            <a:endParaRPr lang="zh-CN" altLang="zh-CN" sz="1800" b="1">
              <a:solidFill>
                <a:srgbClr val="692AA2"/>
              </a:solidFill>
              <a:latin typeface="仿宋_GB2312" pitchFamily="49" charset="-122"/>
              <a:ea typeface="仿宋_GB2312" pitchFamily="49" charset="-122"/>
            </a:endParaRPr>
          </a:p>
          <a:p>
            <a:pPr eaLnBrk="1" hangingPunct="1">
              <a:lnSpc>
                <a:spcPct val="120000"/>
              </a:lnSpc>
              <a:buNone/>
            </a:pPr>
            <a:r>
              <a:rPr lang="zh-CN" altLang="en-US" sz="1800" b="1">
                <a:solidFill>
                  <a:srgbClr val="692AA2"/>
                </a:solidFill>
                <a:latin typeface="仿宋_GB2312" pitchFamily="49" charset="-122"/>
                <a:ea typeface="仿宋_GB2312" pitchFamily="49" charset="-122"/>
              </a:rPr>
              <a:t>     </a:t>
            </a:r>
            <a:r>
              <a:rPr lang="zh-CN" altLang="zh-CN" sz="1800" b="1">
                <a:solidFill>
                  <a:srgbClr val="692AA2"/>
                </a:solidFill>
                <a:latin typeface="仿宋_GB2312" pitchFamily="49" charset="-122"/>
                <a:ea typeface="仿宋_GB2312" pitchFamily="49" charset="-122"/>
              </a:rPr>
              <a:t>附件4：各课程计划申请或实际获得的书号数列表（6年）；</a:t>
            </a:r>
            <a:endParaRPr lang="zh-CN" altLang="zh-CN" sz="1800" b="1">
              <a:solidFill>
                <a:srgbClr val="692AA2"/>
              </a:solidFill>
              <a:latin typeface="仿宋_GB2312" pitchFamily="49" charset="-122"/>
              <a:ea typeface="仿宋_GB2312" pitchFamily="49" charset="-122"/>
            </a:endParaRPr>
          </a:p>
          <a:p>
            <a:pPr eaLnBrk="1" hangingPunct="1">
              <a:lnSpc>
                <a:spcPct val="120000"/>
              </a:lnSpc>
              <a:buNone/>
            </a:pPr>
            <a:r>
              <a:rPr lang="zh-CN" altLang="en-US" sz="1800" b="1">
                <a:solidFill>
                  <a:srgbClr val="692AA2"/>
                </a:solidFill>
                <a:latin typeface="仿宋_GB2312" pitchFamily="49" charset="-122"/>
                <a:ea typeface="仿宋_GB2312" pitchFamily="49" charset="-122"/>
              </a:rPr>
              <a:t>     </a:t>
            </a:r>
            <a:r>
              <a:rPr lang="zh-CN" altLang="zh-CN" sz="1800" b="1">
                <a:solidFill>
                  <a:srgbClr val="692AA2"/>
                </a:solidFill>
                <a:latin typeface="仿宋_GB2312" pitchFamily="49" charset="-122"/>
                <a:ea typeface="仿宋_GB2312" pitchFamily="49" charset="-122"/>
              </a:rPr>
              <a:t>附件5：9个分社人力资源细目。</a:t>
            </a:r>
            <a:endParaRPr lang="zh-CN" altLang="zh-CN" sz="1800" b="1">
              <a:solidFill>
                <a:srgbClr val="692AA2"/>
              </a:solidFill>
              <a:latin typeface="仿宋_GB2312" pitchFamily="49" charset="-122"/>
              <a:ea typeface="仿宋_GB2312" pitchFamily="49" charset="-122"/>
            </a:endParaRPr>
          </a:p>
          <a:p>
            <a:pPr eaLnBrk="1" hangingPunct="1">
              <a:lnSpc>
                <a:spcPct val="120000"/>
              </a:lnSpc>
              <a:buNone/>
            </a:pPr>
            <a:r>
              <a:rPr lang="zh-CN" altLang="zh-CN" sz="1800" b="1">
                <a:solidFill>
                  <a:srgbClr val="692AA2"/>
                </a:solidFill>
                <a:latin typeface="仿宋_GB2312" pitchFamily="49" charset="-122"/>
                <a:ea typeface="仿宋_GB2312" pitchFamily="49" charset="-122"/>
              </a:rPr>
              <a:t> </a:t>
            </a:r>
            <a:endParaRPr lang="zh-CN" altLang="zh-CN" sz="18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55330">
                                            <p:txEl>
                                              <p:charRg st="0" end="136"/>
                                            </p:txEl>
                                          </p:spTgt>
                                        </p:tgtEl>
                                        <p:attrNameLst>
                                          <p:attrName>style.visibility</p:attrName>
                                        </p:attrNameLst>
                                      </p:cBhvr>
                                      <p:to>
                                        <p:strVal val="visible"/>
                                      </p:to>
                                    </p:set>
                                    <p:animEffect transition="in" filter="diamond(in)">
                                      <p:cBhvr>
                                        <p:cTn id="7" dur="2000"/>
                                        <p:tgtEl>
                                          <p:spTgt spid="355330">
                                            <p:txEl>
                                              <p:charRg st="0" end="1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55330">
                                            <p:txEl>
                                              <p:charRg st="136" end="244"/>
                                            </p:txEl>
                                          </p:spTgt>
                                        </p:tgtEl>
                                        <p:attrNameLst>
                                          <p:attrName>style.visibility</p:attrName>
                                        </p:attrNameLst>
                                      </p:cBhvr>
                                      <p:to>
                                        <p:strVal val="visible"/>
                                      </p:to>
                                    </p:set>
                                    <p:animEffect transition="in" filter="diamond(in)">
                                      <p:cBhvr>
                                        <p:cTn id="12" dur="2000"/>
                                        <p:tgtEl>
                                          <p:spTgt spid="355330">
                                            <p:txEl>
                                              <p:charRg st="136" end="2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355330">
                                            <p:txEl>
                                              <p:charRg st="244" end="252"/>
                                            </p:txEl>
                                          </p:spTgt>
                                        </p:tgtEl>
                                        <p:attrNameLst>
                                          <p:attrName>style.visibility</p:attrName>
                                        </p:attrNameLst>
                                      </p:cBhvr>
                                      <p:to>
                                        <p:strVal val="visible"/>
                                      </p:to>
                                    </p:set>
                                    <p:animEffect transition="in" filter="diamond(in)">
                                      <p:cBhvr>
                                        <p:cTn id="17" dur="2000"/>
                                        <p:tgtEl>
                                          <p:spTgt spid="355330">
                                            <p:txEl>
                                              <p:charRg st="244" end="252"/>
                                            </p:txEl>
                                          </p:spTgt>
                                        </p:tgtEl>
                                      </p:cBhvr>
                                    </p:animEffect>
                                  </p:childTnLst>
                                </p:cTn>
                              </p:par>
                              <p:par>
                                <p:cTn id="18" presetID="8" presetClass="entr" presetSubtype="16" fill="hold" nodeType="withEffect">
                                  <p:stCondLst>
                                    <p:cond delay="0"/>
                                  </p:stCondLst>
                                  <p:childTnLst>
                                    <p:set>
                                      <p:cBhvr>
                                        <p:cTn id="19" dur="1" fill="hold">
                                          <p:stCondLst>
                                            <p:cond delay="0"/>
                                          </p:stCondLst>
                                        </p:cTn>
                                        <p:tgtEl>
                                          <p:spTgt spid="355330">
                                            <p:txEl>
                                              <p:charRg st="252" end="268"/>
                                            </p:txEl>
                                          </p:spTgt>
                                        </p:tgtEl>
                                        <p:attrNameLst>
                                          <p:attrName>style.visibility</p:attrName>
                                        </p:attrNameLst>
                                      </p:cBhvr>
                                      <p:to>
                                        <p:strVal val="visible"/>
                                      </p:to>
                                    </p:set>
                                    <p:animEffect transition="in" filter="diamond(in)">
                                      <p:cBhvr>
                                        <p:cTn id="20" dur="2000"/>
                                        <p:tgtEl>
                                          <p:spTgt spid="355330">
                                            <p:txEl>
                                              <p:charRg st="252" end="268"/>
                                            </p:txEl>
                                          </p:spTgt>
                                        </p:tgtEl>
                                      </p:cBhvr>
                                    </p:animEffect>
                                  </p:childTnLst>
                                </p:cTn>
                              </p:par>
                              <p:par>
                                <p:cTn id="21" presetID="8" presetClass="entr" presetSubtype="16" fill="hold" nodeType="withEffect">
                                  <p:stCondLst>
                                    <p:cond delay="0"/>
                                  </p:stCondLst>
                                  <p:childTnLst>
                                    <p:set>
                                      <p:cBhvr>
                                        <p:cTn id="22" dur="1" fill="hold">
                                          <p:stCondLst>
                                            <p:cond delay="0"/>
                                          </p:stCondLst>
                                        </p:cTn>
                                        <p:tgtEl>
                                          <p:spTgt spid="355330">
                                            <p:txEl>
                                              <p:charRg st="268" end="289"/>
                                            </p:txEl>
                                          </p:spTgt>
                                        </p:tgtEl>
                                        <p:attrNameLst>
                                          <p:attrName>style.visibility</p:attrName>
                                        </p:attrNameLst>
                                      </p:cBhvr>
                                      <p:to>
                                        <p:strVal val="visible"/>
                                      </p:to>
                                    </p:set>
                                    <p:animEffect transition="in" filter="diamond(in)">
                                      <p:cBhvr>
                                        <p:cTn id="23" dur="2000"/>
                                        <p:tgtEl>
                                          <p:spTgt spid="355330">
                                            <p:txEl>
                                              <p:charRg st="268" end="289"/>
                                            </p:txEl>
                                          </p:spTgt>
                                        </p:tgtEl>
                                      </p:cBhvr>
                                    </p:animEffect>
                                  </p:childTnLst>
                                </p:cTn>
                              </p:par>
                              <p:par>
                                <p:cTn id="24" presetID="8" presetClass="entr" presetSubtype="16" fill="hold" nodeType="withEffect">
                                  <p:stCondLst>
                                    <p:cond delay="0"/>
                                  </p:stCondLst>
                                  <p:childTnLst>
                                    <p:set>
                                      <p:cBhvr>
                                        <p:cTn id="25" dur="1" fill="hold">
                                          <p:stCondLst>
                                            <p:cond delay="0"/>
                                          </p:stCondLst>
                                        </p:cTn>
                                        <p:tgtEl>
                                          <p:spTgt spid="355330">
                                            <p:txEl>
                                              <p:charRg st="289" end="317"/>
                                            </p:txEl>
                                          </p:spTgt>
                                        </p:tgtEl>
                                        <p:attrNameLst>
                                          <p:attrName>style.visibility</p:attrName>
                                        </p:attrNameLst>
                                      </p:cBhvr>
                                      <p:to>
                                        <p:strVal val="visible"/>
                                      </p:to>
                                    </p:set>
                                    <p:animEffect transition="in" filter="diamond(in)">
                                      <p:cBhvr>
                                        <p:cTn id="26" dur="2000"/>
                                        <p:tgtEl>
                                          <p:spTgt spid="355330">
                                            <p:txEl>
                                              <p:charRg st="289" end="317"/>
                                            </p:txEl>
                                          </p:spTgt>
                                        </p:tgtEl>
                                      </p:cBhvr>
                                    </p:animEffect>
                                  </p:childTnLst>
                                </p:cTn>
                              </p:par>
                              <p:par>
                                <p:cTn id="27" presetID="8" presetClass="entr" presetSubtype="16" fill="hold" nodeType="withEffect">
                                  <p:stCondLst>
                                    <p:cond delay="0"/>
                                  </p:stCondLst>
                                  <p:childTnLst>
                                    <p:set>
                                      <p:cBhvr>
                                        <p:cTn id="28" dur="1" fill="hold">
                                          <p:stCondLst>
                                            <p:cond delay="0"/>
                                          </p:stCondLst>
                                        </p:cTn>
                                        <p:tgtEl>
                                          <p:spTgt spid="355330">
                                            <p:txEl>
                                              <p:charRg st="317" end="350"/>
                                            </p:txEl>
                                          </p:spTgt>
                                        </p:tgtEl>
                                        <p:attrNameLst>
                                          <p:attrName>style.visibility</p:attrName>
                                        </p:attrNameLst>
                                      </p:cBhvr>
                                      <p:to>
                                        <p:strVal val="visible"/>
                                      </p:to>
                                    </p:set>
                                    <p:animEffect transition="in" filter="diamond(in)">
                                      <p:cBhvr>
                                        <p:cTn id="29" dur="2000"/>
                                        <p:tgtEl>
                                          <p:spTgt spid="355330">
                                            <p:txEl>
                                              <p:charRg st="317" end="350"/>
                                            </p:txEl>
                                          </p:spTgt>
                                        </p:tgtEl>
                                      </p:cBhvr>
                                    </p:animEffect>
                                  </p:childTnLst>
                                </p:cTn>
                              </p:par>
                              <p:par>
                                <p:cTn id="30" presetID="8" presetClass="entr" presetSubtype="16" fill="hold" nodeType="withEffect">
                                  <p:stCondLst>
                                    <p:cond delay="0"/>
                                  </p:stCondLst>
                                  <p:childTnLst>
                                    <p:set>
                                      <p:cBhvr>
                                        <p:cTn id="31" dur="1" fill="hold">
                                          <p:stCondLst>
                                            <p:cond delay="0"/>
                                          </p:stCondLst>
                                        </p:cTn>
                                        <p:tgtEl>
                                          <p:spTgt spid="355330">
                                            <p:txEl>
                                              <p:charRg st="350" end="371"/>
                                            </p:txEl>
                                          </p:spTgt>
                                        </p:tgtEl>
                                        <p:attrNameLst>
                                          <p:attrName>style.visibility</p:attrName>
                                        </p:attrNameLst>
                                      </p:cBhvr>
                                      <p:to>
                                        <p:strVal val="visible"/>
                                      </p:to>
                                    </p:set>
                                    <p:animEffect transition="in" filter="diamond(in)">
                                      <p:cBhvr>
                                        <p:cTn id="32" dur="2000"/>
                                        <p:tgtEl>
                                          <p:spTgt spid="355330">
                                            <p:txEl>
                                              <p:charRg st="350" end="371"/>
                                            </p:txEl>
                                          </p:spTgt>
                                        </p:tgtEl>
                                      </p:cBhvr>
                                    </p:animEffect>
                                  </p:childTnLst>
                                </p:cTn>
                              </p:par>
                              <p:par>
                                <p:cTn id="33" presetID="8" presetClass="entr" presetSubtype="16" fill="hold" nodeType="withEffect">
                                  <p:stCondLst>
                                    <p:cond delay="0"/>
                                  </p:stCondLst>
                                  <p:childTnLst>
                                    <p:set>
                                      <p:cBhvr>
                                        <p:cTn id="34" dur="1" fill="hold">
                                          <p:stCondLst>
                                            <p:cond delay="0"/>
                                          </p:stCondLst>
                                        </p:cTn>
                                        <p:tgtEl>
                                          <p:spTgt spid="355330">
                                            <p:txEl>
                                              <p:charRg st="371" end="373"/>
                                            </p:txEl>
                                          </p:spTgt>
                                        </p:tgtEl>
                                        <p:attrNameLst>
                                          <p:attrName>style.visibility</p:attrName>
                                        </p:attrNameLst>
                                      </p:cBhvr>
                                      <p:to>
                                        <p:strVal val="visible"/>
                                      </p:to>
                                    </p:set>
                                    <p:animEffect transition="in" filter="diamond(in)">
                                      <p:cBhvr>
                                        <p:cTn id="35" dur="2000"/>
                                        <p:tgtEl>
                                          <p:spTgt spid="355330">
                                            <p:txEl>
                                              <p:charRg st="371" end="3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6354" name="Rectangle 2"/>
          <p:cNvSpPr>
            <a:spLocks noGrp="1"/>
          </p:cNvSpPr>
          <p:nvPr>
            <p:ph idx="1"/>
          </p:nvPr>
        </p:nvSpPr>
        <p:spPr>
          <a:xfrm>
            <a:off x="457200" y="1219200"/>
            <a:ext cx="8229600" cy="51054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2.</a:t>
            </a:r>
            <a:r>
              <a:rPr lang="zh-CN" altLang="zh-CN" sz="2000" b="1">
                <a:solidFill>
                  <a:srgbClr val="692AA2"/>
                </a:solidFill>
                <a:latin typeface="仿宋_GB2312" pitchFamily="49" charset="-122"/>
                <a:ea typeface="仿宋_GB2312" pitchFamily="49" charset="-122"/>
              </a:rPr>
              <a:t>1基本情况</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出版社的资源主要包括人力资源、生产资源、资金和管理资源等，它们都捆绑在书号上，经过各个部门的运作，形成成本（策划成本、编辑成本、生产成本、库存成本、销售成本、财务与管理成本等）和利润。</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某个以教材类出版物为主的出版社，总社领导每年需要针对分社提交的生产计划申请书、人力资源情况以及市场信息分析，将总量一定的书号数合理地分配给各个分社，使出版的教材产生最好的经济效益。事实上，由于各个分社提交的需求书号总量远大于总社的书号总量，因此总社一般以增加强势产品支持力度的原则优化资源配置。资源配置完成后，各个分社（分社以学科划分）根据分配到的书号数量，再重新对学科所属每个课程做出出版计划，付诸实施</a:t>
            </a:r>
            <a:r>
              <a:rPr lang="zh-CN" altLang="en-US" sz="2000" b="1">
                <a:solidFill>
                  <a:srgbClr val="692AA2"/>
                </a:solidFill>
                <a:latin typeface="仿宋_GB2312" pitchFamily="49" charset="-122"/>
                <a:ea typeface="仿宋_GB2312" pitchFamily="49" charset="-122"/>
              </a:rPr>
              <a:t>。</a:t>
            </a:r>
            <a:endParaRPr lang="zh-CN" altLang="en-US" sz="2000">
              <a:latin typeface="仿宋_GB2312" pitchFamily="49" charset="-122"/>
              <a:ea typeface="仿宋_GB2312" pitchFamily="49" charset="-122"/>
            </a:endParaRPr>
          </a:p>
        </p:txBody>
      </p:sp>
      <p:sp>
        <p:nvSpPr>
          <p:cNvPr id="120834" name="Rectangle 3"/>
          <p:cNvSpPr/>
          <p:nvPr/>
        </p:nvSpPr>
        <p:spPr>
          <a:xfrm>
            <a:off x="533400" y="533400"/>
            <a:ext cx="3124200" cy="487363"/>
          </a:xfrm>
          <a:prstGeom prst="rect">
            <a:avLst/>
          </a:prstGeom>
          <a:noFill/>
          <a:ln w="9525">
            <a:noFill/>
          </a:ln>
        </p:spPr>
        <p:txBody>
          <a:bodyPr lIns="0" tIns="0" rIns="0" bIns="0" anchor="t">
            <a:spAutoFit/>
          </a:bodyPr>
          <a:p>
            <a:pPr marL="342900" indent="-342900">
              <a:spcBef>
                <a:spcPct val="20000"/>
              </a:spcBef>
              <a:buClr>
                <a:schemeClr val="hlink"/>
              </a:buClr>
              <a:buFont typeface="Wingdings" panose="05000000000000000000" pitchFamily="2" charset="2"/>
              <a:buNone/>
            </a:pPr>
            <a:r>
              <a:rPr lang="zh-CN" altLang="zh-CN" sz="3200" b="1">
                <a:solidFill>
                  <a:srgbClr val="333399"/>
                </a:solidFill>
                <a:latin typeface="宋体" panose="02010600030101010101" pitchFamily="2" charset="-122"/>
                <a:ea typeface="宋体" panose="02010600030101010101" pitchFamily="2" charset="-122"/>
              </a:rPr>
              <a:t>2　问题重述</a:t>
            </a:r>
            <a:endParaRPr lang="zh-CN" altLang="en-US" sz="3200" b="1">
              <a:solidFill>
                <a:srgbClr val="3333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6354">
                                            <p:txEl>
                                              <p:charRg st="0" end="8"/>
                                            </p:txEl>
                                          </p:spTgt>
                                        </p:tgtEl>
                                        <p:attrNameLst>
                                          <p:attrName>style.visibility</p:attrName>
                                        </p:attrNameLst>
                                      </p:cBhvr>
                                      <p:to>
                                        <p:strVal val="visible"/>
                                      </p:to>
                                    </p:set>
                                    <p:animEffect transition="in" filter="blinds(horizontal)">
                                      <p:cBhvr>
                                        <p:cTn id="7" dur="500"/>
                                        <p:tgtEl>
                                          <p:spTgt spid="356354">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6354">
                                            <p:txEl>
                                              <p:charRg st="8" end="108"/>
                                            </p:txEl>
                                          </p:spTgt>
                                        </p:tgtEl>
                                        <p:attrNameLst>
                                          <p:attrName>style.visibility</p:attrName>
                                        </p:attrNameLst>
                                      </p:cBhvr>
                                      <p:to>
                                        <p:strVal val="visible"/>
                                      </p:to>
                                    </p:set>
                                    <p:animEffect transition="in" filter="blinds(horizontal)">
                                      <p:cBhvr>
                                        <p:cTn id="12" dur="500"/>
                                        <p:tgtEl>
                                          <p:spTgt spid="356354">
                                            <p:txEl>
                                              <p:charRg st="8" end="10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6354">
                                            <p:txEl>
                                              <p:charRg st="108" end="319"/>
                                            </p:txEl>
                                          </p:spTgt>
                                        </p:tgtEl>
                                        <p:attrNameLst>
                                          <p:attrName>style.visibility</p:attrName>
                                        </p:attrNameLst>
                                      </p:cBhvr>
                                      <p:to>
                                        <p:strVal val="visible"/>
                                      </p:to>
                                    </p:set>
                                    <p:animEffect transition="in" filter="blinds(horizontal)">
                                      <p:cBhvr>
                                        <p:cTn id="17" dur="500"/>
                                        <p:tgtEl>
                                          <p:spTgt spid="356354">
                                            <p:txEl>
                                              <p:charRg st="108" end="3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4"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7378" name="Rectangle 2"/>
          <p:cNvSpPr>
            <a:spLocks noGrp="1"/>
          </p:cNvSpPr>
          <p:nvPr>
            <p:ph idx="1"/>
          </p:nvPr>
        </p:nvSpPr>
        <p:spPr>
          <a:xfrm>
            <a:off x="533400" y="1295400"/>
            <a:ext cx="8229600" cy="4724400"/>
          </a:xfrm>
          <a:ln/>
        </p:spPr>
        <p:txBody>
          <a:bodyPr vert="horz" wrap="square" lIns="91440" tIns="45720" rIns="91440" bIns="45720" anchor="t"/>
          <a:p>
            <a:pPr eaLnBrk="1" hangingPunct="1">
              <a:lnSpc>
                <a:spcPct val="120000"/>
              </a:lnSpc>
              <a:buNone/>
            </a:pPr>
            <a:r>
              <a:rPr lang="en-US" altLang="zh-CN" sz="2000" b="1">
                <a:solidFill>
                  <a:srgbClr val="692AA2"/>
                </a:solidFill>
                <a:latin typeface="宋体" panose="02010600030101010101" pitchFamily="2" charset="-122"/>
                <a:ea typeface="宋体" panose="02010600030101010101" pitchFamily="2" charset="-122"/>
              </a:rPr>
              <a:t>      </a:t>
            </a:r>
            <a:r>
              <a:rPr lang="zh-CN" altLang="zh-CN" sz="2000" b="1">
                <a:solidFill>
                  <a:srgbClr val="692AA2"/>
                </a:solidFill>
                <a:latin typeface="仿宋_GB2312" pitchFamily="49" charset="-122"/>
                <a:ea typeface="仿宋_GB2312" pitchFamily="49" charset="-122"/>
              </a:rPr>
              <a:t>资源配置是总社每年进行的重要决策，直接关系到出版社的当年经济效益和长远发展战略。由于市场信息（主要是需求与竞争力）通常是不完全的，企业自身的数据收集和积累也不足，这种情况下的决策问题在我国企业中是普遍存在的。</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en-US" altLang="zh-CN" sz="2000" b="1">
                <a:solidFill>
                  <a:srgbClr val="692AA2"/>
                </a:solidFill>
                <a:latin typeface="仿宋_GB2312" pitchFamily="49" charset="-122"/>
                <a:ea typeface="仿宋_GB2312" pitchFamily="49" charset="-122"/>
              </a:rPr>
              <a:t>2.</a:t>
            </a:r>
            <a:r>
              <a:rPr lang="zh-CN" altLang="zh-CN" sz="2000" b="1">
                <a:solidFill>
                  <a:srgbClr val="692AA2"/>
                </a:solidFill>
                <a:latin typeface="仿宋_GB2312" pitchFamily="49" charset="-122"/>
                <a:ea typeface="仿宋_GB2312" pitchFamily="49" charset="-122"/>
              </a:rPr>
              <a:t>2</a:t>
            </a:r>
            <a:r>
              <a:rPr lang="en-US" altLang="zh-CN"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有关信息</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附录中给出了该出版社所掌握的一些数据资料：</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附件1：问卷调查表；</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附件2：问卷调查数据（五年）；</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附件3：各课程计划及实际销售数据表（5年）；</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附件4：各课程计划申请或实际获得的书号数列表（6年）；</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附件5：9个分社人力资源细目。</a:t>
            </a:r>
            <a:endParaRPr lang="zh-CN" altLang="zh-CN" sz="2000" b="1">
              <a:solidFill>
                <a:srgbClr val="692AA2"/>
              </a:solidFill>
              <a:latin typeface="仿宋_GB2312" pitchFamily="49" charset="-122"/>
              <a:ea typeface="仿宋_GB2312" pitchFamily="49" charset="-122"/>
            </a:endParaRPr>
          </a:p>
          <a:p>
            <a:pPr eaLnBrk="1" hangingPunct="1">
              <a:lnSpc>
                <a:spcPct val="90000"/>
              </a:lnSpc>
            </a:pPr>
            <a:endParaRPr lang="zh-CN" altLang="zh-CN"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57378">
                                            <p:txEl>
                                              <p:charRg st="0" end="111"/>
                                            </p:txEl>
                                          </p:spTgt>
                                        </p:tgtEl>
                                        <p:attrNameLst>
                                          <p:attrName>style.visibility</p:attrName>
                                        </p:attrNameLst>
                                      </p:cBhvr>
                                      <p:to>
                                        <p:strVal val="visible"/>
                                      </p:to>
                                    </p:set>
                                    <p:animEffect transition="in" filter="box(in)">
                                      <p:cBhvr>
                                        <p:cTn id="7" dur="500"/>
                                        <p:tgtEl>
                                          <p:spTgt spid="357378">
                                            <p:txEl>
                                              <p:charRg st="0" end="1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57378">
                                            <p:txEl>
                                              <p:charRg st="111" end="120"/>
                                            </p:txEl>
                                          </p:spTgt>
                                        </p:tgtEl>
                                        <p:attrNameLst>
                                          <p:attrName>style.visibility</p:attrName>
                                        </p:attrNameLst>
                                      </p:cBhvr>
                                      <p:to>
                                        <p:strVal val="visible"/>
                                      </p:to>
                                    </p:set>
                                    <p:animEffect transition="in" filter="box(in)">
                                      <p:cBhvr>
                                        <p:cTn id="12" dur="500"/>
                                        <p:tgtEl>
                                          <p:spTgt spid="357378">
                                            <p:txEl>
                                              <p:charRg st="111" end="120"/>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357378">
                                            <p:txEl>
                                              <p:charRg st="120" end="145"/>
                                            </p:txEl>
                                          </p:spTgt>
                                        </p:tgtEl>
                                        <p:attrNameLst>
                                          <p:attrName>style.visibility</p:attrName>
                                        </p:attrNameLst>
                                      </p:cBhvr>
                                      <p:to>
                                        <p:strVal val="visible"/>
                                      </p:to>
                                    </p:set>
                                    <p:animEffect transition="in" filter="box(in)">
                                      <p:cBhvr>
                                        <p:cTn id="15" dur="500"/>
                                        <p:tgtEl>
                                          <p:spTgt spid="357378">
                                            <p:txEl>
                                              <p:charRg st="120" end="145"/>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57378">
                                            <p:txEl>
                                              <p:charRg st="145" end="161"/>
                                            </p:txEl>
                                          </p:spTgt>
                                        </p:tgtEl>
                                        <p:attrNameLst>
                                          <p:attrName>style.visibility</p:attrName>
                                        </p:attrNameLst>
                                      </p:cBhvr>
                                      <p:to>
                                        <p:strVal val="visible"/>
                                      </p:to>
                                    </p:set>
                                    <p:animEffect transition="in" filter="box(in)">
                                      <p:cBhvr>
                                        <p:cTn id="18" dur="500"/>
                                        <p:tgtEl>
                                          <p:spTgt spid="357378">
                                            <p:txEl>
                                              <p:charRg st="145" end="161"/>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357378">
                                            <p:txEl>
                                              <p:charRg st="161" end="182"/>
                                            </p:txEl>
                                          </p:spTgt>
                                        </p:tgtEl>
                                        <p:attrNameLst>
                                          <p:attrName>style.visibility</p:attrName>
                                        </p:attrNameLst>
                                      </p:cBhvr>
                                      <p:to>
                                        <p:strVal val="visible"/>
                                      </p:to>
                                    </p:set>
                                    <p:animEffect transition="in" filter="box(in)">
                                      <p:cBhvr>
                                        <p:cTn id="21" dur="500"/>
                                        <p:tgtEl>
                                          <p:spTgt spid="357378">
                                            <p:txEl>
                                              <p:charRg st="161" end="182"/>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357378">
                                            <p:txEl>
                                              <p:charRg st="182" end="210"/>
                                            </p:txEl>
                                          </p:spTgt>
                                        </p:tgtEl>
                                        <p:attrNameLst>
                                          <p:attrName>style.visibility</p:attrName>
                                        </p:attrNameLst>
                                      </p:cBhvr>
                                      <p:to>
                                        <p:strVal val="visible"/>
                                      </p:to>
                                    </p:set>
                                    <p:animEffect transition="in" filter="box(in)">
                                      <p:cBhvr>
                                        <p:cTn id="24" dur="500"/>
                                        <p:tgtEl>
                                          <p:spTgt spid="357378">
                                            <p:txEl>
                                              <p:charRg st="182" end="210"/>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357378">
                                            <p:txEl>
                                              <p:charRg st="243" end="264"/>
                                            </p:txEl>
                                          </p:spTgt>
                                        </p:tgtEl>
                                        <p:attrNameLst>
                                          <p:attrName>style.visibility</p:attrName>
                                        </p:attrNameLst>
                                      </p:cBhvr>
                                      <p:to>
                                        <p:strVal val="visible"/>
                                      </p:to>
                                    </p:set>
                                    <p:animEffect transition="in" filter="box(in)">
                                      <p:cBhvr>
                                        <p:cTn id="27" dur="500"/>
                                        <p:tgtEl>
                                          <p:spTgt spid="357378">
                                            <p:txEl>
                                              <p:charRg st="243" end="264"/>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357378">
                                            <p:txEl>
                                              <p:charRg st="210" end="243"/>
                                            </p:txEl>
                                          </p:spTgt>
                                        </p:tgtEl>
                                        <p:attrNameLst>
                                          <p:attrName>style.visibility</p:attrName>
                                        </p:attrNameLst>
                                      </p:cBhvr>
                                      <p:to>
                                        <p:strVal val="visible"/>
                                      </p:to>
                                    </p:set>
                                    <p:animEffect transition="in" filter="box(in)">
                                      <p:cBhvr>
                                        <p:cTn id="30" dur="500"/>
                                        <p:tgtEl>
                                          <p:spTgt spid="357378">
                                            <p:txEl>
                                              <p:charRg st="210" end="2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Rectangle 2"/>
          <p:cNvSpPr>
            <a:spLocks noGrp="1"/>
          </p:cNvSpPr>
          <p:nvPr>
            <p:ph idx="1"/>
          </p:nvPr>
        </p:nvSpPr>
        <p:spPr>
          <a:xfrm>
            <a:off x="533400" y="1371600"/>
            <a:ext cx="8229600" cy="3124200"/>
          </a:xfrm>
          <a:ln/>
        </p:spPr>
        <p:txBody>
          <a:bodyPr vert="horz" wrap="square" lIns="91440" tIns="45720" rIns="91440" bIns="45720" anchor="t"/>
          <a:p>
            <a:pPr eaLnBrk="1" hangingPunct="1">
              <a:lnSpc>
                <a:spcPct val="120000"/>
              </a:lnSpc>
            </a:pPr>
            <a:endParaRPr lang="zh-CN" altLang="zh-CN" sz="2000" b="1">
              <a:solidFill>
                <a:srgbClr val="692AA2"/>
              </a:solidFill>
              <a:latin typeface="宋体" panose="02010600030101010101" pitchFamily="2" charset="-122"/>
              <a:ea typeface="宋体" panose="02010600030101010101" pitchFamily="2" charset="-122"/>
            </a:endParaRPr>
          </a:p>
          <a:p>
            <a:pPr eaLnBrk="1" hangingPunct="1">
              <a:lnSpc>
                <a:spcPct val="120000"/>
              </a:lnSpc>
              <a:buNone/>
            </a:pPr>
            <a:r>
              <a:rPr lang="en-US" altLang="zh-CN" sz="2000" b="1">
                <a:solidFill>
                  <a:srgbClr val="692AA2"/>
                </a:solidFill>
                <a:latin typeface="仿宋_GB2312" pitchFamily="49" charset="-122"/>
                <a:ea typeface="仿宋_GB2312" pitchFamily="49" charset="-122"/>
              </a:rPr>
              <a:t>2.</a:t>
            </a:r>
            <a:r>
              <a:rPr lang="zh-CN" altLang="zh-CN" sz="2000" b="1">
                <a:solidFill>
                  <a:srgbClr val="692AA2"/>
                </a:solidFill>
                <a:latin typeface="仿宋_GB2312" pitchFamily="49" charset="-122"/>
                <a:ea typeface="仿宋_GB2312" pitchFamily="49" charset="-122"/>
              </a:rPr>
              <a:t>3</a:t>
            </a:r>
            <a:r>
              <a:rPr lang="en-US" altLang="zh-CN"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问题提出</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请根据这些数据资料，利用数学建模的方法，解决如下问题：</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（1）在信息不足的条件下，提出以量化分析为基础的资源（书号）配</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置方法，并给出一个明确的分配方案；</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（2）向出版社提出有益的建议。</a:t>
            </a:r>
            <a:endParaRPr lang="zh-CN" altLang="zh-CN"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58402">
                                            <p:txEl>
                                              <p:charRg st="1" end="10"/>
                                            </p:txEl>
                                          </p:spTgt>
                                        </p:tgtEl>
                                        <p:attrNameLst>
                                          <p:attrName>style.visibility</p:attrName>
                                        </p:attrNameLst>
                                      </p:cBhvr>
                                      <p:to>
                                        <p:strVal val="visible"/>
                                      </p:to>
                                    </p:set>
                                    <p:animEffect transition="in" filter="checkerboard(across)">
                                      <p:cBhvr>
                                        <p:cTn id="7" dur="500"/>
                                        <p:tgtEl>
                                          <p:spTgt spid="358402">
                                            <p:txEl>
                                              <p:charRg st="1" end="1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58402">
                                            <p:txEl>
                                              <p:charRg st="10" end="44"/>
                                            </p:txEl>
                                          </p:spTgt>
                                        </p:tgtEl>
                                        <p:attrNameLst>
                                          <p:attrName>style.visibility</p:attrName>
                                        </p:attrNameLst>
                                      </p:cBhvr>
                                      <p:to>
                                        <p:strVal val="visible"/>
                                      </p:to>
                                    </p:set>
                                    <p:animEffect transition="in" filter="checkerboard(across)">
                                      <p:cBhvr>
                                        <p:cTn id="10" dur="500"/>
                                        <p:tgtEl>
                                          <p:spTgt spid="358402">
                                            <p:txEl>
                                              <p:charRg st="10" end="44"/>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58402">
                                            <p:txEl>
                                              <p:charRg st="44" end="95"/>
                                            </p:txEl>
                                          </p:spTgt>
                                        </p:tgtEl>
                                        <p:attrNameLst>
                                          <p:attrName>style.visibility</p:attrName>
                                        </p:attrNameLst>
                                      </p:cBhvr>
                                      <p:to>
                                        <p:strVal val="visible"/>
                                      </p:to>
                                    </p:set>
                                    <p:animEffect transition="in" filter="checkerboard(across)">
                                      <p:cBhvr>
                                        <p:cTn id="13" dur="500"/>
                                        <p:tgtEl>
                                          <p:spTgt spid="358402">
                                            <p:txEl>
                                              <p:charRg st="44" end="95"/>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58402">
                                            <p:txEl>
                                              <p:charRg st="95" end="111"/>
                                            </p:txEl>
                                          </p:spTgt>
                                        </p:tgtEl>
                                        <p:attrNameLst>
                                          <p:attrName>style.visibility</p:attrName>
                                        </p:attrNameLst>
                                      </p:cBhvr>
                                      <p:to>
                                        <p:strVal val="visible"/>
                                      </p:to>
                                    </p:set>
                                    <p:animEffect transition="in" filter="checkerboard(across)">
                                      <p:cBhvr>
                                        <p:cTn id="16" dur="500"/>
                                        <p:tgtEl>
                                          <p:spTgt spid="358402">
                                            <p:txEl>
                                              <p:charRg st="95" end="1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6" name="Rectangle 2"/>
          <p:cNvSpPr>
            <a:spLocks noGrp="1"/>
          </p:cNvSpPr>
          <p:nvPr>
            <p:ph idx="1"/>
          </p:nvPr>
        </p:nvSpPr>
        <p:spPr>
          <a:xfrm>
            <a:off x="304800" y="990600"/>
            <a:ext cx="8534400" cy="54864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出版社的资源配置直接关系到出版社的当年经济效益和长远发展战略。为此需要对出版社现有资源（书号）建立一个合理的配置方法，从而制订出明确的最优分配方案，不仅使出版社获得较大的经济效益，而且有利于出版社的长远发展。 </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A</a:t>
            </a:r>
            <a:r>
              <a:rPr lang="zh-CN" altLang="en-US" sz="2000" b="1">
                <a:solidFill>
                  <a:srgbClr val="692AA2"/>
                </a:solidFill>
                <a:latin typeface="仿宋_GB2312" pitchFamily="49" charset="-122"/>
                <a:ea typeface="仿宋_GB2312" pitchFamily="49" charset="-122"/>
              </a:rPr>
              <a:t>出版社目前</a:t>
            </a:r>
            <a:r>
              <a:rPr lang="zh-CN" altLang="zh-CN" sz="2000" b="1">
                <a:solidFill>
                  <a:srgbClr val="692AA2"/>
                </a:solidFill>
                <a:latin typeface="仿宋_GB2312" pitchFamily="49" charset="-122"/>
                <a:ea typeface="仿宋_GB2312" pitchFamily="49" charset="-122"/>
              </a:rPr>
              <a:t>的资源分配步骤为</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总社－分社－课程</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的二次分配。</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第一步分配</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总社－分社</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，以分社为单位，遵循增加强势产品支持力度的原则优化资源配置。因此需要对强势产品进行合理的定义和量化。在此基础上，以强势产品的最大化为原则，制订</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总社－分社</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资源分配方案。</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第二步分配</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分社－课程</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各个分社对所辖课程进行书号分配时，分社间是相互独立的，各个分社根据自己的实际情况，重新对所辖的每个课程分配书号，做出出版计划。这时，分社给所辖课程分配书号，不仅要考虑强势课程，更要考虑经济效益。这就需要我们对课程经济效益、强势课程进行定义和量化。在此基础上，以这几个目标最大化的原则，制定</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分社－课程</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资源分配方案。</a:t>
            </a:r>
            <a:endParaRPr lang="zh-CN" altLang="zh-CN" sz="2000" b="1">
              <a:solidFill>
                <a:srgbClr val="692AA2"/>
              </a:solidFill>
              <a:latin typeface="仿宋_GB2312" pitchFamily="49" charset="-122"/>
              <a:ea typeface="仿宋_GB2312" pitchFamily="49" charset="-122"/>
            </a:endParaRPr>
          </a:p>
        </p:txBody>
      </p:sp>
      <p:sp>
        <p:nvSpPr>
          <p:cNvPr id="123906" name="Rectangle 3"/>
          <p:cNvSpPr/>
          <p:nvPr/>
        </p:nvSpPr>
        <p:spPr>
          <a:xfrm>
            <a:off x="533400" y="381000"/>
            <a:ext cx="2398713" cy="584200"/>
          </a:xfrm>
          <a:prstGeom prst="rect">
            <a:avLst/>
          </a:prstGeom>
          <a:noFill/>
          <a:ln w="9525">
            <a:noFill/>
          </a:ln>
        </p:spPr>
        <p:txBody>
          <a:bodyPr wrap="none" lIns="0" tIns="0" rIns="0" bIns="0" anchor="t">
            <a:spAutoFit/>
          </a:bodyPr>
          <a:p>
            <a:pPr marL="342900" indent="-342900">
              <a:lnSpc>
                <a:spcPct val="120000"/>
              </a:lnSpc>
              <a:spcBef>
                <a:spcPct val="20000"/>
              </a:spcBef>
              <a:buClr>
                <a:schemeClr val="hlink"/>
              </a:buClr>
              <a:buFont typeface="Wingdings" panose="05000000000000000000" pitchFamily="2" charset="2"/>
              <a:buNone/>
            </a:pPr>
            <a:r>
              <a:rPr lang="zh-CN" altLang="zh-CN" sz="3200" b="1">
                <a:solidFill>
                  <a:srgbClr val="333399"/>
                </a:solidFill>
                <a:latin typeface="宋体" panose="02010600030101010101" pitchFamily="2" charset="-122"/>
                <a:ea typeface="宋体" panose="02010600030101010101" pitchFamily="2" charset="-122"/>
              </a:rPr>
              <a:t>3　问题分析</a:t>
            </a:r>
            <a:r>
              <a:rPr lang="zh-CN" altLang="zh-CN" sz="2400" b="1">
                <a:solidFill>
                  <a:srgbClr val="692AA2"/>
                </a:solidFill>
                <a:latin typeface="宋体" panose="02010600030101010101" pitchFamily="2" charset="-122"/>
                <a:ea typeface="宋体" panose="02010600030101010101" pitchFamily="2" charset="-122"/>
              </a:rPr>
              <a:t> </a:t>
            </a:r>
            <a:endParaRPr lang="zh-CN" altLang="zh-CN" sz="2400" b="1">
              <a:solidFill>
                <a:srgbClr val="692AA2"/>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59426">
                                            <p:txEl>
                                              <p:charRg st="0" end="112"/>
                                            </p:txEl>
                                          </p:spTgt>
                                        </p:tgtEl>
                                        <p:attrNameLst>
                                          <p:attrName>style.visibility</p:attrName>
                                        </p:attrNameLst>
                                      </p:cBhvr>
                                      <p:to>
                                        <p:strVal val="visible"/>
                                      </p:to>
                                    </p:set>
                                    <p:animEffect transition="in" filter="slide(fromBottom)">
                                      <p:cBhvr>
                                        <p:cTn id="7" dur="500"/>
                                        <p:tgtEl>
                                          <p:spTgt spid="359426">
                                            <p:txEl>
                                              <p:charRg st="0" end="1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59426">
                                            <p:txEl>
                                              <p:charRg st="112" end="149"/>
                                            </p:txEl>
                                          </p:spTgt>
                                        </p:tgtEl>
                                        <p:attrNameLst>
                                          <p:attrName>style.visibility</p:attrName>
                                        </p:attrNameLst>
                                      </p:cBhvr>
                                      <p:to>
                                        <p:strVal val="visible"/>
                                      </p:to>
                                    </p:set>
                                    <p:animEffect transition="in" filter="slide(fromBottom)">
                                      <p:cBhvr>
                                        <p:cTn id="12" dur="500"/>
                                        <p:tgtEl>
                                          <p:spTgt spid="359426">
                                            <p:txEl>
                                              <p:charRg st="112" end="149"/>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359426">
                                            <p:txEl>
                                              <p:charRg st="149" end="253"/>
                                            </p:txEl>
                                          </p:spTgt>
                                        </p:tgtEl>
                                        <p:attrNameLst>
                                          <p:attrName>style.visibility</p:attrName>
                                        </p:attrNameLst>
                                      </p:cBhvr>
                                      <p:to>
                                        <p:strVal val="visible"/>
                                      </p:to>
                                    </p:set>
                                    <p:animEffect transition="in" filter="slide(fromBottom)">
                                      <p:cBhvr>
                                        <p:cTn id="15" dur="500"/>
                                        <p:tgtEl>
                                          <p:spTgt spid="359426">
                                            <p:txEl>
                                              <p:charRg st="149" end="25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359426">
                                            <p:txEl>
                                              <p:charRg st="253" end="431"/>
                                            </p:txEl>
                                          </p:spTgt>
                                        </p:tgtEl>
                                        <p:attrNameLst>
                                          <p:attrName>style.visibility</p:attrName>
                                        </p:attrNameLst>
                                      </p:cBhvr>
                                      <p:to>
                                        <p:strVal val="visible"/>
                                      </p:to>
                                    </p:set>
                                    <p:animEffect transition="in" filter="slide(fromBottom)">
                                      <p:cBhvr>
                                        <p:cTn id="20" dur="500"/>
                                        <p:tgtEl>
                                          <p:spTgt spid="359426">
                                            <p:txEl>
                                              <p:charRg st="253" end="4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0450" name="Rectangle 2"/>
          <p:cNvSpPr>
            <a:spLocks noGrp="1"/>
          </p:cNvSpPr>
          <p:nvPr>
            <p:ph idx="1"/>
          </p:nvPr>
        </p:nvSpPr>
        <p:spPr>
          <a:xfrm>
            <a:off x="76200" y="1447800"/>
            <a:ext cx="8686800" cy="44958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综合上述两步分配，即得到资源（书号）配置的明确分配方案。但是在实际分配过程中，总社只能根据各分社的整体情况而确定书号分配数，不能较好的顾及所有课程，特别是强势课程，因而造成一定的不确定性。       </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而各个分社对所辖课程进行书号分配时，由于分社间是相互独立的，各个分社实际情况不尽相同，势必会与总社的预期效果存在一定的差异，同时也会影响总社的经济效益。显然</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总社－课程</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的一次分配方法可以避免上述缺陷。因此需要对A出版社目前的分配方案进行改进，制订</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总社－课程</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一次分配的分配方案，从而使出版社获得最好的经济效益，并且有利于其长远发展。</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400" b="1">
                <a:solidFill>
                  <a:srgbClr val="692AA2"/>
                </a:solidFill>
                <a:latin typeface="仿宋_GB2312" pitchFamily="49" charset="-122"/>
                <a:ea typeface="仿宋_GB2312" pitchFamily="49" charset="-122"/>
              </a:rPr>
              <a:t>  </a:t>
            </a:r>
            <a:endParaRPr lang="zh-CN" altLang="zh-CN" sz="24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60450">
                                            <p:txEl>
                                              <p:charRg st="0" end="108"/>
                                            </p:txEl>
                                          </p:spTgt>
                                        </p:tgtEl>
                                        <p:attrNameLst>
                                          <p:attrName>style.visibility</p:attrName>
                                        </p:attrNameLst>
                                      </p:cBhvr>
                                      <p:to>
                                        <p:strVal val="visible"/>
                                      </p:to>
                                    </p:set>
                                    <p:animEffect transition="in" filter="wheel(4)">
                                      <p:cBhvr>
                                        <p:cTn id="7" dur="500"/>
                                        <p:tgtEl>
                                          <p:spTgt spid="360450">
                                            <p:txEl>
                                              <p:charRg st="0" end="10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360450">
                                            <p:txEl>
                                              <p:charRg st="108" end="283"/>
                                            </p:txEl>
                                          </p:spTgt>
                                        </p:tgtEl>
                                        <p:attrNameLst>
                                          <p:attrName>style.visibility</p:attrName>
                                        </p:attrNameLst>
                                      </p:cBhvr>
                                      <p:to>
                                        <p:strVal val="visible"/>
                                      </p:to>
                                    </p:set>
                                    <p:animEffect transition="in" filter="wheel(4)">
                                      <p:cBhvr>
                                        <p:cTn id="12" dur="500"/>
                                        <p:tgtEl>
                                          <p:spTgt spid="360450">
                                            <p:txEl>
                                              <p:charRg st="108" end="283"/>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60450">
                                            <p:txEl>
                                              <p:charRg st="283" end="286"/>
                                            </p:txEl>
                                          </p:spTgt>
                                        </p:tgtEl>
                                        <p:attrNameLst>
                                          <p:attrName>style.visibility</p:attrName>
                                        </p:attrNameLst>
                                      </p:cBhvr>
                                      <p:to>
                                        <p:strVal val="visible"/>
                                      </p:to>
                                    </p:set>
                                    <p:animEffect transition="in" filter="wheel(4)">
                                      <p:cBhvr>
                                        <p:cTn id="15" dur="500"/>
                                        <p:tgtEl>
                                          <p:spTgt spid="360450">
                                            <p:txEl>
                                              <p:charRg st="283" end="2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Rectangle 2"/>
          <p:cNvSpPr>
            <a:spLocks noGrp="1"/>
          </p:cNvSpPr>
          <p:nvPr>
            <p:ph type="title"/>
          </p:nvPr>
        </p:nvSpPr>
        <p:spPr>
          <a:xfrm>
            <a:off x="533400" y="381000"/>
            <a:ext cx="7391400" cy="563563"/>
          </a:xfrm>
          <a:ln/>
        </p:spPr>
        <p:txBody>
          <a:bodyPr vert="horz" wrap="square" lIns="91440" tIns="45720" rIns="91440" bIns="45720" anchor="b"/>
          <a:p>
            <a:pPr eaLnBrk="1" hangingPunct="1"/>
            <a:r>
              <a:rPr lang="zh-CN" altLang="zh-CN" sz="2800">
                <a:solidFill>
                  <a:srgbClr val="333399"/>
                </a:solidFill>
                <a:latin typeface="宋体" panose="02010600030101010101" pitchFamily="2" charset="-122"/>
                <a:ea typeface="宋体" panose="02010600030101010101" pitchFamily="2" charset="-122"/>
              </a:rPr>
              <a:t>4　模型假设</a:t>
            </a:r>
            <a:endParaRPr lang="zh-CN" altLang="en-US" sz="2800">
              <a:solidFill>
                <a:srgbClr val="333399"/>
              </a:solidFill>
              <a:latin typeface="宋体" panose="02010600030101010101" pitchFamily="2" charset="-122"/>
              <a:ea typeface="宋体" panose="02010600030101010101" pitchFamily="2" charset="-122"/>
            </a:endParaRPr>
          </a:p>
        </p:txBody>
      </p:sp>
      <p:sp>
        <p:nvSpPr>
          <p:cNvPr id="361475" name="Rectangle 3"/>
          <p:cNvSpPr>
            <a:spLocks noGrp="1"/>
          </p:cNvSpPr>
          <p:nvPr>
            <p:ph idx="1"/>
          </p:nvPr>
        </p:nvSpPr>
        <p:spPr>
          <a:xfrm>
            <a:off x="457200" y="1219200"/>
            <a:ext cx="8229600" cy="4495800"/>
          </a:xfrm>
          <a:ln/>
        </p:spPr>
        <p:txBody>
          <a:bodyPr vert="horz" wrap="square" lIns="91440" tIns="45720" rIns="91440" bIns="45720" anchor="t"/>
          <a:p>
            <a:pPr eaLnBrk="1" hangingPunct="1">
              <a:lnSpc>
                <a:spcPct val="120000"/>
              </a:lnSpc>
              <a:buNone/>
            </a:pPr>
            <a:endParaRPr lang="zh-CN" altLang="zh-CN" sz="2000" b="1">
              <a:solidFill>
                <a:srgbClr val="692AA2"/>
              </a:solidFill>
              <a:latin typeface="宋体" panose="02010600030101010101" pitchFamily="2" charset="-122"/>
              <a:ea typeface="宋体" panose="02010600030101010101" pitchFamily="2"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（1）各分社获得的书号数不超过申请数，且不少于申请数的一半。</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（2）A出版社出版一本教材获得的利润率相等。</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（3）通过统计分析，发现2001～2005年A出版社每年分配的书号总数均</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为500个，考虑到政策的连贯性，2006年不会发生变化，仍为500个。</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a:t>
            </a:r>
            <a:r>
              <a:rPr lang="zh-CN" altLang="zh-CN" sz="2000" b="1">
                <a:solidFill>
                  <a:srgbClr val="692AA2"/>
                </a:solidFill>
                <a:latin typeface="仿宋_GB2312" pitchFamily="49" charset="-122"/>
                <a:ea typeface="仿宋_GB2312" pitchFamily="49" charset="-122"/>
              </a:rPr>
              <a:t>4）问卷调查结果均有效，无效的评价样本数可忽略。</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（5）人力资源无变动，没有新人力资源的加入，各分社人力资源不互用。</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（6）调查问卷数据量较大，足以准确反映总体的情况，包括各产品市场地位等信息。</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endParaRPr lang="en-US" altLang="zh-CN"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61475">
                                            <p:txEl>
                                              <p:charRg st="1" end="32"/>
                                            </p:txEl>
                                          </p:spTgt>
                                        </p:tgtEl>
                                        <p:attrNameLst>
                                          <p:attrName>style.visibility</p:attrName>
                                        </p:attrNameLst>
                                      </p:cBhvr>
                                      <p:to>
                                        <p:strVal val="visible"/>
                                      </p:to>
                                    </p:set>
                                    <p:animEffect transition="in" filter="diamond(in)">
                                      <p:cBhvr>
                                        <p:cTn id="7" dur="500"/>
                                        <p:tgtEl>
                                          <p:spTgt spid="361475">
                                            <p:txEl>
                                              <p:charRg st="1" end="32"/>
                                            </p:txEl>
                                          </p:spTgt>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61475">
                                            <p:txEl>
                                              <p:charRg st="32" end="55"/>
                                            </p:txEl>
                                          </p:spTgt>
                                        </p:tgtEl>
                                        <p:attrNameLst>
                                          <p:attrName>style.visibility</p:attrName>
                                        </p:attrNameLst>
                                      </p:cBhvr>
                                      <p:to>
                                        <p:strVal val="visible"/>
                                      </p:to>
                                    </p:set>
                                    <p:animEffect transition="in" filter="diamond(in)">
                                      <p:cBhvr>
                                        <p:cTn id="10" dur="500"/>
                                        <p:tgtEl>
                                          <p:spTgt spid="361475">
                                            <p:txEl>
                                              <p:charRg st="32" end="55"/>
                                            </p:txEl>
                                          </p:spTgt>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361475">
                                            <p:txEl>
                                              <p:charRg st="55" end="130"/>
                                            </p:txEl>
                                          </p:spTgt>
                                        </p:tgtEl>
                                        <p:attrNameLst>
                                          <p:attrName>style.visibility</p:attrName>
                                        </p:attrNameLst>
                                      </p:cBhvr>
                                      <p:to>
                                        <p:strVal val="visible"/>
                                      </p:to>
                                    </p:set>
                                    <p:animEffect transition="in" filter="diamond(in)">
                                      <p:cBhvr>
                                        <p:cTn id="13" dur="500"/>
                                        <p:tgtEl>
                                          <p:spTgt spid="361475">
                                            <p:txEl>
                                              <p:charRg st="55" end="130"/>
                                            </p:txEl>
                                          </p:spTgt>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361475">
                                            <p:txEl>
                                              <p:charRg st="130" end="156"/>
                                            </p:txEl>
                                          </p:spTgt>
                                        </p:tgtEl>
                                        <p:attrNameLst>
                                          <p:attrName>style.visibility</p:attrName>
                                        </p:attrNameLst>
                                      </p:cBhvr>
                                      <p:to>
                                        <p:strVal val="visible"/>
                                      </p:to>
                                    </p:set>
                                    <p:animEffect transition="in" filter="diamond(in)">
                                      <p:cBhvr>
                                        <p:cTn id="16" dur="500"/>
                                        <p:tgtEl>
                                          <p:spTgt spid="361475">
                                            <p:txEl>
                                              <p:charRg st="130" end="156"/>
                                            </p:txEl>
                                          </p:spTgt>
                                        </p:tgtEl>
                                      </p:cBhvr>
                                    </p:animEffect>
                                  </p:childTnLst>
                                </p:cTn>
                              </p:par>
                              <p:par>
                                <p:cTn id="17" presetID="8" presetClass="entr" presetSubtype="16" fill="hold" grpId="0" nodeType="withEffect">
                                  <p:stCondLst>
                                    <p:cond delay="0"/>
                                  </p:stCondLst>
                                  <p:childTnLst>
                                    <p:set>
                                      <p:cBhvr>
                                        <p:cTn id="18" dur="1" fill="hold">
                                          <p:stCondLst>
                                            <p:cond delay="0"/>
                                          </p:stCondLst>
                                        </p:cTn>
                                        <p:tgtEl>
                                          <p:spTgt spid="361475">
                                            <p:txEl>
                                              <p:charRg st="156" end="190"/>
                                            </p:txEl>
                                          </p:spTgt>
                                        </p:tgtEl>
                                        <p:attrNameLst>
                                          <p:attrName>style.visibility</p:attrName>
                                        </p:attrNameLst>
                                      </p:cBhvr>
                                      <p:to>
                                        <p:strVal val="visible"/>
                                      </p:to>
                                    </p:set>
                                    <p:animEffect transition="in" filter="diamond(in)">
                                      <p:cBhvr>
                                        <p:cTn id="19" dur="500"/>
                                        <p:tgtEl>
                                          <p:spTgt spid="361475">
                                            <p:txEl>
                                              <p:charRg st="156" end="190"/>
                                            </p:txEl>
                                          </p:spTgt>
                                        </p:tgtEl>
                                      </p:cBhvr>
                                    </p:animEffect>
                                  </p:childTnLst>
                                </p:cTn>
                              </p:par>
                              <p:par>
                                <p:cTn id="20" presetID="8" presetClass="entr" presetSubtype="16" fill="hold" grpId="0" nodeType="withEffect">
                                  <p:stCondLst>
                                    <p:cond delay="0"/>
                                  </p:stCondLst>
                                  <p:childTnLst>
                                    <p:set>
                                      <p:cBhvr>
                                        <p:cTn id="21" dur="1" fill="hold">
                                          <p:stCondLst>
                                            <p:cond delay="0"/>
                                          </p:stCondLst>
                                        </p:cTn>
                                        <p:tgtEl>
                                          <p:spTgt spid="361475">
                                            <p:txEl>
                                              <p:charRg st="190" end="229"/>
                                            </p:txEl>
                                          </p:spTgt>
                                        </p:tgtEl>
                                        <p:attrNameLst>
                                          <p:attrName>style.visibility</p:attrName>
                                        </p:attrNameLst>
                                      </p:cBhvr>
                                      <p:to>
                                        <p:strVal val="visible"/>
                                      </p:to>
                                    </p:set>
                                    <p:animEffect transition="in" filter="diamond(in)">
                                      <p:cBhvr>
                                        <p:cTn id="22" dur="500"/>
                                        <p:tgtEl>
                                          <p:spTgt spid="361475">
                                            <p:txEl>
                                              <p:charRg st="190" end="2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498" name="Rectangle 2"/>
          <p:cNvSpPr/>
          <p:nvPr/>
        </p:nvSpPr>
        <p:spPr>
          <a:xfrm>
            <a:off x="838200" y="1447800"/>
            <a:ext cx="8991600" cy="4495800"/>
          </a:xfrm>
          <a:prstGeom prst="rect">
            <a:avLst/>
          </a:prstGeom>
          <a:noFill/>
          <a:ln w="9525">
            <a:noFill/>
          </a:ln>
        </p:spPr>
        <p:txBody>
          <a:bodyPr anchor="t"/>
          <a:p>
            <a:pPr marL="469900" indent="-469900">
              <a:lnSpc>
                <a:spcPct val="120000"/>
              </a:lnSpc>
              <a:spcBef>
                <a:spcPct val="10000"/>
              </a:spcBef>
              <a:buClr>
                <a:schemeClr val="accent2"/>
              </a:buClr>
              <a:buFont typeface="Wingdings" panose="05000000000000000000" pitchFamily="2" charset="2"/>
              <a:buChar char="o"/>
            </a:pPr>
            <a:endParaRPr lang="zh-CN" altLang="zh-CN" sz="2000" b="1">
              <a:solidFill>
                <a:srgbClr val="692AA2"/>
              </a:solidFill>
              <a:latin typeface="宋体" panose="02010600030101010101" pitchFamily="2" charset="-122"/>
              <a:ea typeface="宋体" panose="02010600030101010101" pitchFamily="2" charset="-122"/>
            </a:endParaRPr>
          </a:p>
          <a:p>
            <a:pPr marL="469900" indent="-469900">
              <a:lnSpc>
                <a:spcPct val="120000"/>
              </a:lnSpc>
              <a:spcBef>
                <a:spcPct val="10000"/>
              </a:spcBef>
              <a:buClr>
                <a:schemeClr val="accent2"/>
              </a:buClr>
              <a:buFont typeface="Wingdings" panose="05000000000000000000" pitchFamily="2" charset="2"/>
              <a:buChar char="o"/>
            </a:pPr>
            <a:r>
              <a:rPr lang="zh-CN" altLang="zh-CN" sz="2000" b="1">
                <a:solidFill>
                  <a:srgbClr val="692AA2"/>
                </a:solidFill>
                <a:latin typeface="宋体" panose="02010600030101010101" pitchFamily="2" charset="-122"/>
                <a:ea typeface="宋体" panose="02010600030101010101" pitchFamily="2" charset="-122"/>
              </a:rPr>
              <a:t>    </a:t>
            </a:r>
            <a:r>
              <a:rPr lang="zh-CN" altLang="zh-CN" sz="2000" b="1">
                <a:solidFill>
                  <a:srgbClr val="692AA2"/>
                </a:solidFill>
                <a:latin typeface="仿宋_GB2312" pitchFamily="49" charset="-122"/>
                <a:ea typeface="仿宋_GB2312" pitchFamily="49" charset="-122"/>
              </a:rPr>
              <a:t>：  2006年第</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门课程申请的书号个数。</a:t>
            </a:r>
            <a:endParaRPr lang="zh-CN" altLang="zh-CN" sz="2000" b="1">
              <a:solidFill>
                <a:srgbClr val="692AA2"/>
              </a:solidFill>
              <a:latin typeface="仿宋_GB2312" pitchFamily="49" charset="-122"/>
              <a:ea typeface="仿宋_GB2312" pitchFamily="49" charset="-122"/>
            </a:endParaRPr>
          </a:p>
          <a:p>
            <a:pPr marL="469900" indent="-469900">
              <a:lnSpc>
                <a:spcPct val="120000"/>
              </a:lnSpc>
              <a:spcBef>
                <a:spcPct val="10000"/>
              </a:spcBef>
              <a:buClr>
                <a:schemeClr val="accent2"/>
              </a:buClr>
              <a:buFont typeface="Wingdings" panose="05000000000000000000" pitchFamily="2" charset="2"/>
              <a:buChar char="o"/>
            </a:pPr>
            <a:r>
              <a:rPr lang="zh-CN" altLang="zh-CN" sz="2000" b="1">
                <a:solidFill>
                  <a:srgbClr val="692AA2"/>
                </a:solidFill>
                <a:latin typeface="仿宋_GB2312" pitchFamily="49" charset="-122"/>
                <a:ea typeface="仿宋_GB2312" pitchFamily="49" charset="-122"/>
              </a:rPr>
              <a:t>    ：  2006年第</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门课程获得的书号个数。</a:t>
            </a:r>
            <a:endParaRPr lang="zh-CN" altLang="zh-CN" sz="2000" b="1">
              <a:solidFill>
                <a:srgbClr val="692AA2"/>
              </a:solidFill>
              <a:latin typeface="仿宋_GB2312" pitchFamily="49" charset="-122"/>
              <a:ea typeface="仿宋_GB2312" pitchFamily="49" charset="-122"/>
            </a:endParaRPr>
          </a:p>
          <a:p>
            <a:pPr marL="469900" indent="-469900">
              <a:lnSpc>
                <a:spcPct val="120000"/>
              </a:lnSpc>
              <a:spcBef>
                <a:spcPct val="10000"/>
              </a:spcBef>
              <a:buClr>
                <a:schemeClr val="accent2"/>
              </a:buClr>
              <a:buFont typeface="Wingdings" panose="05000000000000000000" pitchFamily="2" charset="2"/>
              <a:buChar char="o"/>
            </a:pPr>
            <a:r>
              <a:rPr lang="zh-CN" altLang="zh-CN" sz="2000" b="1">
                <a:solidFill>
                  <a:srgbClr val="692AA2"/>
                </a:solidFill>
                <a:latin typeface="仿宋_GB2312" pitchFamily="49" charset="-122"/>
                <a:ea typeface="仿宋_GB2312" pitchFamily="49" charset="-122"/>
              </a:rPr>
              <a:t>    ：  2006年第</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个分社申请的书号个数。</a:t>
            </a:r>
            <a:endParaRPr lang="zh-CN" altLang="zh-CN" sz="2000" b="1">
              <a:solidFill>
                <a:srgbClr val="692AA2"/>
              </a:solidFill>
              <a:latin typeface="仿宋_GB2312" pitchFamily="49" charset="-122"/>
              <a:ea typeface="仿宋_GB2312" pitchFamily="49" charset="-122"/>
            </a:endParaRPr>
          </a:p>
          <a:p>
            <a:pPr marL="469900" indent="-469900">
              <a:lnSpc>
                <a:spcPct val="120000"/>
              </a:lnSpc>
              <a:spcBef>
                <a:spcPct val="10000"/>
              </a:spcBef>
              <a:buClr>
                <a:schemeClr val="accent2"/>
              </a:buClr>
              <a:buFont typeface="Wingdings" panose="05000000000000000000" pitchFamily="2" charset="2"/>
              <a:buChar char="o"/>
            </a:pPr>
            <a:r>
              <a:rPr lang="zh-CN" altLang="zh-CN" sz="2000" b="1">
                <a:solidFill>
                  <a:srgbClr val="692AA2"/>
                </a:solidFill>
                <a:latin typeface="仿宋_GB2312" pitchFamily="49" charset="-122"/>
                <a:ea typeface="仿宋_GB2312" pitchFamily="49" charset="-122"/>
              </a:rPr>
              <a:t>    ：  2006年第</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个分社获得的书号个数。</a:t>
            </a:r>
            <a:endParaRPr lang="zh-CN" altLang="zh-CN" sz="2000" b="1">
              <a:solidFill>
                <a:srgbClr val="692AA2"/>
              </a:solidFill>
              <a:latin typeface="仿宋_GB2312" pitchFamily="49" charset="-122"/>
              <a:ea typeface="仿宋_GB2312" pitchFamily="49" charset="-122"/>
            </a:endParaRPr>
          </a:p>
          <a:p>
            <a:pPr marL="469900" indent="-469900">
              <a:lnSpc>
                <a:spcPct val="120000"/>
              </a:lnSpc>
              <a:spcBef>
                <a:spcPct val="10000"/>
              </a:spcBef>
              <a:buClr>
                <a:schemeClr val="accent2"/>
              </a:buClr>
              <a:buFont typeface="Wingdings" panose="05000000000000000000" pitchFamily="2" charset="2"/>
              <a:buChar char="o"/>
            </a:pPr>
            <a:r>
              <a:rPr lang="zh-CN" altLang="zh-CN" sz="2000" b="1">
                <a:solidFill>
                  <a:srgbClr val="692AA2"/>
                </a:solidFill>
                <a:latin typeface="仿宋_GB2312" pitchFamily="49" charset="-122"/>
                <a:ea typeface="仿宋_GB2312" pitchFamily="49" charset="-122"/>
              </a:rPr>
              <a:t>    ：  第</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个分社所辖课程代码的最小值。</a:t>
            </a:r>
            <a:endParaRPr lang="zh-CN" altLang="zh-CN" sz="2000" b="1">
              <a:solidFill>
                <a:srgbClr val="692AA2"/>
              </a:solidFill>
              <a:latin typeface="仿宋_GB2312" pitchFamily="49" charset="-122"/>
              <a:ea typeface="仿宋_GB2312" pitchFamily="49" charset="-122"/>
            </a:endParaRPr>
          </a:p>
          <a:p>
            <a:pPr marL="469900" indent="-469900">
              <a:lnSpc>
                <a:spcPct val="120000"/>
              </a:lnSpc>
              <a:spcBef>
                <a:spcPct val="10000"/>
              </a:spcBef>
              <a:buClr>
                <a:schemeClr val="accent2"/>
              </a:buClr>
              <a:buFont typeface="Wingdings" panose="05000000000000000000" pitchFamily="2" charset="2"/>
              <a:buChar char="o"/>
            </a:pPr>
            <a:r>
              <a:rPr lang="zh-CN" altLang="zh-CN" sz="2000" b="1">
                <a:solidFill>
                  <a:srgbClr val="692AA2"/>
                </a:solidFill>
                <a:latin typeface="仿宋_GB2312" pitchFamily="49" charset="-122"/>
                <a:ea typeface="仿宋_GB2312" pitchFamily="49" charset="-122"/>
              </a:rPr>
              <a:t>    ：  某个分社所辖课程代码的最大值，不同的分社有不同的值 </a:t>
            </a:r>
            <a:endParaRPr lang="zh-CN" altLang="en-US" sz="2000" b="1">
              <a:solidFill>
                <a:srgbClr val="692AA2"/>
              </a:solidFill>
              <a:latin typeface="仿宋_GB2312" pitchFamily="49" charset="-122"/>
              <a:ea typeface="仿宋_GB2312" pitchFamily="49" charset="-122"/>
            </a:endParaRPr>
          </a:p>
          <a:p>
            <a:pPr marL="469900" indent="-469900">
              <a:lnSpc>
                <a:spcPct val="120000"/>
              </a:lnSpc>
              <a:spcBef>
                <a:spcPct val="10000"/>
              </a:spcBef>
              <a:buClr>
                <a:schemeClr val="accent2"/>
              </a:buClr>
              <a:buFont typeface="Wingdings" panose="05000000000000000000" pitchFamily="2" charset="2"/>
              <a:buChar char="o"/>
            </a:pPr>
            <a:r>
              <a:rPr lang="zh-CN"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  第</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个课程教材的课程均价。</a:t>
            </a:r>
            <a:endParaRPr lang="zh-CN" altLang="zh-CN" sz="2000" b="1">
              <a:solidFill>
                <a:srgbClr val="692AA2"/>
              </a:solidFill>
              <a:latin typeface="仿宋_GB2312" pitchFamily="49" charset="-122"/>
              <a:ea typeface="仿宋_GB2312" pitchFamily="49" charset="-122"/>
            </a:endParaRPr>
          </a:p>
          <a:p>
            <a:pPr marL="469900" indent="-469900">
              <a:lnSpc>
                <a:spcPct val="120000"/>
              </a:lnSpc>
              <a:spcBef>
                <a:spcPct val="10000"/>
              </a:spcBef>
              <a:buClr>
                <a:schemeClr val="accent2"/>
              </a:buClr>
              <a:buFont typeface="Wingdings" panose="05000000000000000000" pitchFamily="2" charset="2"/>
              <a:buNone/>
            </a:pPr>
            <a:r>
              <a:rPr lang="zh-CN" altLang="zh-CN" sz="2000" b="1">
                <a:solidFill>
                  <a:srgbClr val="692AA2"/>
                </a:solidFill>
                <a:latin typeface="仿宋_GB2312" pitchFamily="49" charset="-122"/>
                <a:ea typeface="仿宋_GB2312" pitchFamily="49" charset="-122"/>
              </a:rPr>
              <a:t>      </a:t>
            </a:r>
            <a:endParaRPr lang="zh-CN" altLang="zh-CN" sz="2000" b="1">
              <a:solidFill>
                <a:srgbClr val="692AA2"/>
              </a:solidFill>
              <a:latin typeface="仿宋_GB2312" pitchFamily="49" charset="-122"/>
              <a:ea typeface="仿宋_GB2312" pitchFamily="49" charset="-122"/>
            </a:endParaRPr>
          </a:p>
        </p:txBody>
      </p:sp>
      <p:sp>
        <p:nvSpPr>
          <p:cNvPr id="126978" name="Rectangle 3"/>
          <p:cNvSpPr/>
          <p:nvPr/>
        </p:nvSpPr>
        <p:spPr>
          <a:xfrm>
            <a:off x="0" y="685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2500" name="Object 4"/>
          <p:cNvGraphicFramePr>
            <a:graphicFrameLocks noChangeAspect="1"/>
          </p:cNvGraphicFramePr>
          <p:nvPr/>
        </p:nvGraphicFramePr>
        <p:xfrm>
          <a:off x="1371600" y="1905000"/>
          <a:ext cx="355600" cy="533400"/>
        </p:xfrm>
        <a:graphic>
          <a:graphicData uri="http://schemas.openxmlformats.org/presentationml/2006/ole">
            <mc:AlternateContent xmlns:mc="http://schemas.openxmlformats.org/markup-compatibility/2006">
              <mc:Choice xmlns:v="urn:schemas-microsoft-com:vml" Requires="v">
                <p:oleObj spid="_x0000_s3292" name="" r:id="rId1" imgW="152400" imgH="228600" progId="Equation.DSMT4">
                  <p:embed/>
                </p:oleObj>
              </mc:Choice>
              <mc:Fallback>
                <p:oleObj name="" r:id="rId1" imgW="152400" imgH="228600" progId="Equation.DSMT4">
                  <p:embed/>
                  <p:pic>
                    <p:nvPicPr>
                      <p:cNvPr id="0" name="图片 3291"/>
                      <p:cNvPicPr/>
                      <p:nvPr/>
                    </p:nvPicPr>
                    <p:blipFill>
                      <a:blip r:embed="rId2"/>
                      <a:stretch>
                        <a:fillRect/>
                      </a:stretch>
                    </p:blipFill>
                    <p:spPr>
                      <a:xfrm>
                        <a:off x="1371600" y="1905000"/>
                        <a:ext cx="355600" cy="533400"/>
                      </a:xfrm>
                      <a:prstGeom prst="rect">
                        <a:avLst/>
                      </a:prstGeom>
                      <a:noFill/>
                      <a:ln w="38100">
                        <a:noFill/>
                        <a:miter/>
                      </a:ln>
                    </p:spPr>
                  </p:pic>
                </p:oleObj>
              </mc:Fallback>
            </mc:AlternateContent>
          </a:graphicData>
        </a:graphic>
      </p:graphicFrame>
      <p:sp>
        <p:nvSpPr>
          <p:cNvPr id="126980" name="Rectangle 5"/>
          <p:cNvSpPr/>
          <p:nvPr/>
        </p:nvSpPr>
        <p:spPr>
          <a:xfrm>
            <a:off x="0" y="685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2502" name="Object 6"/>
          <p:cNvGraphicFramePr>
            <a:graphicFrameLocks noChangeAspect="1"/>
          </p:cNvGraphicFramePr>
          <p:nvPr/>
        </p:nvGraphicFramePr>
        <p:xfrm>
          <a:off x="1371600" y="2362200"/>
          <a:ext cx="304800" cy="457200"/>
        </p:xfrm>
        <a:graphic>
          <a:graphicData uri="http://schemas.openxmlformats.org/presentationml/2006/ole">
            <mc:AlternateContent xmlns:mc="http://schemas.openxmlformats.org/markup-compatibility/2006">
              <mc:Choice xmlns:v="urn:schemas-microsoft-com:vml" Requires="v">
                <p:oleObj spid="_x0000_s3286" name="" r:id="rId3" imgW="152400" imgH="228600" progId="Equation.DSMT4">
                  <p:embed/>
                </p:oleObj>
              </mc:Choice>
              <mc:Fallback>
                <p:oleObj name="" r:id="rId3" imgW="152400" imgH="228600" progId="Equation.DSMT4">
                  <p:embed/>
                  <p:pic>
                    <p:nvPicPr>
                      <p:cNvPr id="0" name="图片 3285"/>
                      <p:cNvPicPr/>
                      <p:nvPr/>
                    </p:nvPicPr>
                    <p:blipFill>
                      <a:blip r:embed="rId4"/>
                      <a:stretch>
                        <a:fillRect/>
                      </a:stretch>
                    </p:blipFill>
                    <p:spPr>
                      <a:xfrm>
                        <a:off x="1371600" y="2362200"/>
                        <a:ext cx="304800" cy="457200"/>
                      </a:xfrm>
                      <a:prstGeom prst="rect">
                        <a:avLst/>
                      </a:prstGeom>
                      <a:noFill/>
                      <a:ln w="38100">
                        <a:noFill/>
                        <a:miter/>
                      </a:ln>
                    </p:spPr>
                  </p:pic>
                </p:oleObj>
              </mc:Fallback>
            </mc:AlternateContent>
          </a:graphicData>
        </a:graphic>
      </p:graphicFrame>
      <p:sp>
        <p:nvSpPr>
          <p:cNvPr id="126982" name="Rectangle 7"/>
          <p:cNvSpPr/>
          <p:nvPr/>
        </p:nvSpPr>
        <p:spPr>
          <a:xfrm>
            <a:off x="0" y="685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2504" name="Object 8"/>
          <p:cNvGraphicFramePr>
            <a:graphicFrameLocks noChangeAspect="1"/>
          </p:cNvGraphicFramePr>
          <p:nvPr/>
        </p:nvGraphicFramePr>
        <p:xfrm>
          <a:off x="1371600" y="2667000"/>
          <a:ext cx="323850" cy="457200"/>
        </p:xfrm>
        <a:graphic>
          <a:graphicData uri="http://schemas.openxmlformats.org/presentationml/2006/ole">
            <mc:AlternateContent xmlns:mc="http://schemas.openxmlformats.org/markup-compatibility/2006">
              <mc:Choice xmlns:v="urn:schemas-microsoft-com:vml" Requires="v">
                <p:oleObj spid="_x0000_s3291" name="" r:id="rId5" imgW="165100" imgH="228600" progId="Equation.DSMT4">
                  <p:embed/>
                </p:oleObj>
              </mc:Choice>
              <mc:Fallback>
                <p:oleObj name="" r:id="rId5" imgW="165100" imgH="228600" progId="Equation.DSMT4">
                  <p:embed/>
                  <p:pic>
                    <p:nvPicPr>
                      <p:cNvPr id="0" name="图片 3290"/>
                      <p:cNvPicPr/>
                      <p:nvPr/>
                    </p:nvPicPr>
                    <p:blipFill>
                      <a:blip r:embed="rId6"/>
                      <a:stretch>
                        <a:fillRect/>
                      </a:stretch>
                    </p:blipFill>
                    <p:spPr>
                      <a:xfrm>
                        <a:off x="1371600" y="2667000"/>
                        <a:ext cx="323850" cy="457200"/>
                      </a:xfrm>
                      <a:prstGeom prst="rect">
                        <a:avLst/>
                      </a:prstGeom>
                      <a:noFill/>
                      <a:ln w="38100">
                        <a:noFill/>
                        <a:miter/>
                      </a:ln>
                    </p:spPr>
                  </p:pic>
                </p:oleObj>
              </mc:Fallback>
            </mc:AlternateContent>
          </a:graphicData>
        </a:graphic>
      </p:graphicFrame>
      <p:sp>
        <p:nvSpPr>
          <p:cNvPr id="126984" name="Rectangle 9"/>
          <p:cNvSpPr/>
          <p:nvPr/>
        </p:nvSpPr>
        <p:spPr>
          <a:xfrm>
            <a:off x="0" y="40005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2506" name="Object 10"/>
          <p:cNvGraphicFramePr>
            <a:graphicFrameLocks noChangeAspect="1"/>
          </p:cNvGraphicFramePr>
          <p:nvPr/>
        </p:nvGraphicFramePr>
        <p:xfrm>
          <a:off x="1371600" y="3124200"/>
          <a:ext cx="323850" cy="457200"/>
        </p:xfrm>
        <a:graphic>
          <a:graphicData uri="http://schemas.openxmlformats.org/presentationml/2006/ole">
            <mc:AlternateContent xmlns:mc="http://schemas.openxmlformats.org/markup-compatibility/2006">
              <mc:Choice xmlns:v="urn:schemas-microsoft-com:vml" Requires="v">
                <p:oleObj spid="_x0000_s3287" name="" r:id="rId7" imgW="165100" imgH="228600" progId="Equation.DSMT4">
                  <p:embed/>
                </p:oleObj>
              </mc:Choice>
              <mc:Fallback>
                <p:oleObj name="" r:id="rId7" imgW="165100" imgH="228600" progId="Equation.DSMT4">
                  <p:embed/>
                  <p:pic>
                    <p:nvPicPr>
                      <p:cNvPr id="0" name="图片 3286"/>
                      <p:cNvPicPr/>
                      <p:nvPr/>
                    </p:nvPicPr>
                    <p:blipFill>
                      <a:blip r:embed="rId8"/>
                      <a:stretch>
                        <a:fillRect/>
                      </a:stretch>
                    </p:blipFill>
                    <p:spPr>
                      <a:xfrm>
                        <a:off x="1371600" y="3124200"/>
                        <a:ext cx="323850" cy="457200"/>
                      </a:xfrm>
                      <a:prstGeom prst="rect">
                        <a:avLst/>
                      </a:prstGeom>
                      <a:noFill/>
                      <a:ln w="38100">
                        <a:noFill/>
                        <a:miter/>
                      </a:ln>
                    </p:spPr>
                  </p:pic>
                </p:oleObj>
              </mc:Fallback>
            </mc:AlternateContent>
          </a:graphicData>
        </a:graphic>
      </p:graphicFrame>
      <p:sp>
        <p:nvSpPr>
          <p:cNvPr id="126986" name="Rectangle 11"/>
          <p:cNvSpPr/>
          <p:nvPr/>
        </p:nvSpPr>
        <p:spPr>
          <a:xfrm>
            <a:off x="0" y="685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2508" name="Object 12"/>
          <p:cNvGraphicFramePr>
            <a:graphicFrameLocks noChangeAspect="1"/>
          </p:cNvGraphicFramePr>
          <p:nvPr/>
        </p:nvGraphicFramePr>
        <p:xfrm>
          <a:off x="1447800" y="3429000"/>
          <a:ext cx="360363" cy="457200"/>
        </p:xfrm>
        <a:graphic>
          <a:graphicData uri="http://schemas.openxmlformats.org/presentationml/2006/ole">
            <mc:AlternateContent xmlns:mc="http://schemas.openxmlformats.org/markup-compatibility/2006">
              <mc:Choice xmlns:v="urn:schemas-microsoft-com:vml" Requires="v">
                <p:oleObj spid="_x0000_s3293" name="" r:id="rId9" imgW="139700" imgH="228600" progId="Equation.DSMT4">
                  <p:embed/>
                </p:oleObj>
              </mc:Choice>
              <mc:Fallback>
                <p:oleObj name="" r:id="rId9" imgW="139700" imgH="228600" progId="Equation.DSMT4">
                  <p:embed/>
                  <p:pic>
                    <p:nvPicPr>
                      <p:cNvPr id="0" name="图片 3292"/>
                      <p:cNvPicPr/>
                      <p:nvPr/>
                    </p:nvPicPr>
                    <p:blipFill>
                      <a:blip r:embed="rId10"/>
                      <a:stretch>
                        <a:fillRect/>
                      </a:stretch>
                    </p:blipFill>
                    <p:spPr>
                      <a:xfrm>
                        <a:off x="1447800" y="3429000"/>
                        <a:ext cx="360363" cy="457200"/>
                      </a:xfrm>
                      <a:prstGeom prst="rect">
                        <a:avLst/>
                      </a:prstGeom>
                      <a:noFill/>
                      <a:ln w="38100">
                        <a:noFill/>
                        <a:miter/>
                      </a:ln>
                    </p:spPr>
                  </p:pic>
                </p:oleObj>
              </mc:Fallback>
            </mc:AlternateContent>
          </a:graphicData>
        </a:graphic>
      </p:graphicFrame>
      <p:sp>
        <p:nvSpPr>
          <p:cNvPr id="126988" name="Rectangle 13"/>
          <p:cNvSpPr/>
          <p:nvPr/>
        </p:nvSpPr>
        <p:spPr>
          <a:xfrm>
            <a:off x="0" y="685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2510" name="Object 14"/>
          <p:cNvGraphicFramePr>
            <a:graphicFrameLocks noChangeAspect="1"/>
          </p:cNvGraphicFramePr>
          <p:nvPr/>
        </p:nvGraphicFramePr>
        <p:xfrm>
          <a:off x="1447800" y="3810000"/>
          <a:ext cx="304800" cy="457200"/>
        </p:xfrm>
        <a:graphic>
          <a:graphicData uri="http://schemas.openxmlformats.org/presentationml/2006/ole">
            <mc:AlternateContent xmlns:mc="http://schemas.openxmlformats.org/markup-compatibility/2006">
              <mc:Choice xmlns:v="urn:schemas-microsoft-com:vml" Requires="v">
                <p:oleObj spid="_x0000_s3288" name="" r:id="rId11" imgW="152400" imgH="228600" progId="Equation.DSMT4">
                  <p:embed/>
                </p:oleObj>
              </mc:Choice>
              <mc:Fallback>
                <p:oleObj name="" r:id="rId11" imgW="152400" imgH="228600" progId="Equation.DSMT4">
                  <p:embed/>
                  <p:pic>
                    <p:nvPicPr>
                      <p:cNvPr id="0" name="图片 3287"/>
                      <p:cNvPicPr/>
                      <p:nvPr/>
                    </p:nvPicPr>
                    <p:blipFill>
                      <a:blip r:embed="rId12"/>
                      <a:stretch>
                        <a:fillRect/>
                      </a:stretch>
                    </p:blipFill>
                    <p:spPr>
                      <a:xfrm>
                        <a:off x="1447800" y="3810000"/>
                        <a:ext cx="304800" cy="457200"/>
                      </a:xfrm>
                      <a:prstGeom prst="rect">
                        <a:avLst/>
                      </a:prstGeom>
                      <a:noFill/>
                      <a:ln w="38100">
                        <a:noFill/>
                        <a:miter/>
                      </a:ln>
                    </p:spPr>
                  </p:pic>
                </p:oleObj>
              </mc:Fallback>
            </mc:AlternateContent>
          </a:graphicData>
        </a:graphic>
      </p:graphicFrame>
      <p:sp>
        <p:nvSpPr>
          <p:cNvPr id="126990" name="Rectangle 15"/>
          <p:cNvSpPr/>
          <p:nvPr/>
        </p:nvSpPr>
        <p:spPr>
          <a:xfrm>
            <a:off x="457200" y="457200"/>
            <a:ext cx="3124200" cy="487363"/>
          </a:xfrm>
          <a:prstGeom prst="rect">
            <a:avLst/>
          </a:prstGeom>
          <a:noFill/>
          <a:ln w="9525">
            <a:noFill/>
          </a:ln>
        </p:spPr>
        <p:txBody>
          <a:bodyPr lIns="0" tIns="0" rIns="0" bIns="0" anchor="t">
            <a:spAutoFit/>
          </a:bodyPr>
          <a:p>
            <a:pPr marL="342900" indent="-342900">
              <a:spcBef>
                <a:spcPct val="20000"/>
              </a:spcBef>
              <a:buClr>
                <a:schemeClr val="hlink"/>
              </a:buClr>
              <a:buFont typeface="Wingdings" panose="05000000000000000000" pitchFamily="2" charset="2"/>
              <a:buNone/>
            </a:pPr>
            <a:r>
              <a:rPr lang="zh-CN" altLang="zh-CN" sz="3200" b="1">
                <a:solidFill>
                  <a:srgbClr val="333399"/>
                </a:solidFill>
                <a:latin typeface="宋体" panose="02010600030101010101" pitchFamily="2" charset="-122"/>
                <a:ea typeface="宋体" panose="02010600030101010101" pitchFamily="2" charset="-122"/>
              </a:rPr>
              <a:t>5　符号说明</a:t>
            </a:r>
            <a:endParaRPr lang="zh-CN" altLang="en-US" sz="3200" b="1">
              <a:solidFill>
                <a:srgbClr val="333399"/>
              </a:solidFill>
              <a:latin typeface="宋体" panose="02010600030101010101" pitchFamily="2" charset="-122"/>
              <a:ea typeface="宋体" panose="02010600030101010101" pitchFamily="2" charset="-122"/>
            </a:endParaRPr>
          </a:p>
        </p:txBody>
      </p:sp>
      <p:graphicFrame>
        <p:nvGraphicFramePr>
          <p:cNvPr id="362512" name="Object 16"/>
          <p:cNvGraphicFramePr>
            <a:graphicFrameLocks noChangeAspect="1"/>
          </p:cNvGraphicFramePr>
          <p:nvPr/>
        </p:nvGraphicFramePr>
        <p:xfrm>
          <a:off x="1447800" y="4267200"/>
          <a:ext cx="323850" cy="457200"/>
        </p:xfrm>
        <a:graphic>
          <a:graphicData uri="http://schemas.openxmlformats.org/presentationml/2006/ole">
            <mc:AlternateContent xmlns:mc="http://schemas.openxmlformats.org/markup-compatibility/2006">
              <mc:Choice xmlns:v="urn:schemas-microsoft-com:vml" Requires="v">
                <p:oleObj spid="_x0000_s3285" name="" r:id="rId13" imgW="165100" imgH="228600" progId="Equation.DSMT4">
                  <p:embed/>
                </p:oleObj>
              </mc:Choice>
              <mc:Fallback>
                <p:oleObj name="" r:id="rId13" imgW="165100" imgH="228600" progId="Equation.DSMT4">
                  <p:embed/>
                  <p:pic>
                    <p:nvPicPr>
                      <p:cNvPr id="0" name="图片 3284"/>
                      <p:cNvPicPr/>
                      <p:nvPr/>
                    </p:nvPicPr>
                    <p:blipFill>
                      <a:blip r:embed="rId14"/>
                      <a:stretch>
                        <a:fillRect/>
                      </a:stretch>
                    </p:blipFill>
                    <p:spPr>
                      <a:xfrm>
                        <a:off x="1447800" y="4267200"/>
                        <a:ext cx="323850" cy="457200"/>
                      </a:xfrm>
                      <a:prstGeom prst="rect">
                        <a:avLst/>
                      </a:prstGeom>
                      <a:noFill/>
                      <a:ln w="38100">
                        <a:noFill/>
                        <a:miter/>
                      </a:ln>
                    </p:spPr>
                  </p:pic>
                </p:oleObj>
              </mc:Fallback>
            </mc:AlternateContent>
          </a:graphicData>
        </a:graphic>
      </p:graphicFrame>
      <p:graphicFrame>
        <p:nvGraphicFramePr>
          <p:cNvPr id="362513" name="Object 17"/>
          <p:cNvGraphicFramePr>
            <a:graphicFrameLocks noChangeAspect="1"/>
          </p:cNvGraphicFramePr>
          <p:nvPr/>
        </p:nvGraphicFramePr>
        <p:xfrm>
          <a:off x="2730500" y="4267200"/>
          <a:ext cx="241300" cy="457200"/>
        </p:xfrm>
        <a:graphic>
          <a:graphicData uri="http://schemas.openxmlformats.org/presentationml/2006/ole">
            <mc:AlternateContent xmlns:mc="http://schemas.openxmlformats.org/markup-compatibility/2006">
              <mc:Choice xmlns:v="urn:schemas-microsoft-com:vml" Requires="v">
                <p:oleObj spid="_x0000_s3289" name="" r:id="rId15" imgW="88900" imgH="165100" progId="Equation.DSMT4">
                  <p:embed/>
                </p:oleObj>
              </mc:Choice>
              <mc:Fallback>
                <p:oleObj name="" r:id="rId15" imgW="88900" imgH="165100" progId="Equation.DSMT4">
                  <p:embed/>
                  <p:pic>
                    <p:nvPicPr>
                      <p:cNvPr id="0" name="图片 3288"/>
                      <p:cNvPicPr/>
                      <p:nvPr/>
                    </p:nvPicPr>
                    <p:blipFill>
                      <a:blip r:embed="rId16"/>
                      <a:stretch>
                        <a:fillRect/>
                      </a:stretch>
                    </p:blipFill>
                    <p:spPr>
                      <a:xfrm>
                        <a:off x="2730500" y="4267200"/>
                        <a:ext cx="241300" cy="457200"/>
                      </a:xfrm>
                      <a:prstGeom prst="rect">
                        <a:avLst/>
                      </a:prstGeom>
                      <a:noFill/>
                      <a:ln w="38100">
                        <a:noFill/>
                        <a:miter/>
                      </a:ln>
                    </p:spPr>
                  </p:pic>
                </p:oleObj>
              </mc:Fallback>
            </mc:AlternateContent>
          </a:graphicData>
        </a:graphic>
      </p:graphicFrame>
      <p:graphicFrame>
        <p:nvGraphicFramePr>
          <p:cNvPr id="362514" name="Object 18"/>
          <p:cNvGraphicFramePr>
            <a:graphicFrameLocks noChangeAspect="1"/>
          </p:cNvGraphicFramePr>
          <p:nvPr/>
        </p:nvGraphicFramePr>
        <p:xfrm>
          <a:off x="2770188" y="3505200"/>
          <a:ext cx="201612" cy="381000"/>
        </p:xfrm>
        <a:graphic>
          <a:graphicData uri="http://schemas.openxmlformats.org/presentationml/2006/ole">
            <mc:AlternateContent xmlns:mc="http://schemas.openxmlformats.org/markup-compatibility/2006">
              <mc:Choice xmlns:v="urn:schemas-microsoft-com:vml" Requires="v">
                <p:oleObj spid="_x0000_s3294" name="" r:id="rId17" imgW="88900" imgH="165100" progId="Equation.DSMT4">
                  <p:embed/>
                </p:oleObj>
              </mc:Choice>
              <mc:Fallback>
                <p:oleObj name="" r:id="rId17" imgW="88900" imgH="165100" progId="Equation.DSMT4">
                  <p:embed/>
                  <p:pic>
                    <p:nvPicPr>
                      <p:cNvPr id="0" name="图片 3293"/>
                      <p:cNvPicPr/>
                      <p:nvPr/>
                    </p:nvPicPr>
                    <p:blipFill>
                      <a:blip r:embed="rId16"/>
                      <a:stretch>
                        <a:fillRect/>
                      </a:stretch>
                    </p:blipFill>
                    <p:spPr>
                      <a:xfrm>
                        <a:off x="2770188" y="3505200"/>
                        <a:ext cx="201612" cy="381000"/>
                      </a:xfrm>
                      <a:prstGeom prst="rect">
                        <a:avLst/>
                      </a:prstGeom>
                      <a:noFill/>
                      <a:ln w="38100">
                        <a:noFill/>
                        <a:miter/>
                      </a:ln>
                    </p:spPr>
                  </p:pic>
                </p:oleObj>
              </mc:Fallback>
            </mc:AlternateContent>
          </a:graphicData>
        </a:graphic>
      </p:graphicFrame>
      <p:graphicFrame>
        <p:nvGraphicFramePr>
          <p:cNvPr id="362515" name="Object 19"/>
          <p:cNvGraphicFramePr>
            <a:graphicFrameLocks noChangeAspect="1"/>
          </p:cNvGraphicFramePr>
          <p:nvPr/>
        </p:nvGraphicFramePr>
        <p:xfrm>
          <a:off x="3454400" y="2743200"/>
          <a:ext cx="203200" cy="381000"/>
        </p:xfrm>
        <a:graphic>
          <a:graphicData uri="http://schemas.openxmlformats.org/presentationml/2006/ole">
            <mc:AlternateContent xmlns:mc="http://schemas.openxmlformats.org/markup-compatibility/2006">
              <mc:Choice xmlns:v="urn:schemas-microsoft-com:vml" Requires="v">
                <p:oleObj spid="_x0000_s3284" name="" r:id="rId18" imgW="88900" imgH="165100" progId="Equation.DSMT4">
                  <p:embed/>
                </p:oleObj>
              </mc:Choice>
              <mc:Fallback>
                <p:oleObj name="" r:id="rId18" imgW="88900" imgH="165100" progId="Equation.DSMT4">
                  <p:embed/>
                  <p:pic>
                    <p:nvPicPr>
                      <p:cNvPr id="0" name="图片 3283"/>
                      <p:cNvPicPr/>
                      <p:nvPr/>
                    </p:nvPicPr>
                    <p:blipFill>
                      <a:blip r:embed="rId16"/>
                      <a:stretch>
                        <a:fillRect/>
                      </a:stretch>
                    </p:blipFill>
                    <p:spPr>
                      <a:xfrm>
                        <a:off x="3454400" y="2743200"/>
                        <a:ext cx="203200" cy="381000"/>
                      </a:xfrm>
                      <a:prstGeom prst="rect">
                        <a:avLst/>
                      </a:prstGeom>
                      <a:noFill/>
                      <a:ln w="38100">
                        <a:noFill/>
                        <a:miter/>
                      </a:ln>
                    </p:spPr>
                  </p:pic>
                </p:oleObj>
              </mc:Fallback>
            </mc:AlternateContent>
          </a:graphicData>
        </a:graphic>
      </p:graphicFrame>
      <p:graphicFrame>
        <p:nvGraphicFramePr>
          <p:cNvPr id="362516" name="Object 20"/>
          <p:cNvGraphicFramePr>
            <a:graphicFrameLocks noChangeAspect="1"/>
          </p:cNvGraphicFramePr>
          <p:nvPr/>
        </p:nvGraphicFramePr>
        <p:xfrm>
          <a:off x="3416300" y="3048000"/>
          <a:ext cx="241300" cy="457200"/>
        </p:xfrm>
        <a:graphic>
          <a:graphicData uri="http://schemas.openxmlformats.org/presentationml/2006/ole">
            <mc:AlternateContent xmlns:mc="http://schemas.openxmlformats.org/markup-compatibility/2006">
              <mc:Choice xmlns:v="urn:schemas-microsoft-com:vml" Requires="v">
                <p:oleObj spid="_x0000_s3290" name="" r:id="rId19" imgW="88900" imgH="165100" progId="Equation.DSMT4">
                  <p:embed/>
                </p:oleObj>
              </mc:Choice>
              <mc:Fallback>
                <p:oleObj name="" r:id="rId19" imgW="88900" imgH="165100" progId="Equation.DSMT4">
                  <p:embed/>
                  <p:pic>
                    <p:nvPicPr>
                      <p:cNvPr id="0" name="图片 3289"/>
                      <p:cNvPicPr/>
                      <p:nvPr/>
                    </p:nvPicPr>
                    <p:blipFill>
                      <a:blip r:embed="rId16"/>
                      <a:stretch>
                        <a:fillRect/>
                      </a:stretch>
                    </p:blipFill>
                    <p:spPr>
                      <a:xfrm>
                        <a:off x="3416300" y="3048000"/>
                        <a:ext cx="241300" cy="457200"/>
                      </a:xfrm>
                      <a:prstGeom prst="rect">
                        <a:avLst/>
                      </a:prstGeom>
                      <a:noFill/>
                      <a:ln w="38100">
                        <a:noFill/>
                        <a:miter/>
                      </a:ln>
                    </p:spPr>
                  </p:pic>
                </p:oleObj>
              </mc:Fallback>
            </mc:AlternateContent>
          </a:graphicData>
        </a:graphic>
      </p:graphicFrame>
      <p:graphicFrame>
        <p:nvGraphicFramePr>
          <p:cNvPr id="362517" name="Object 21"/>
          <p:cNvGraphicFramePr>
            <a:graphicFrameLocks noChangeAspect="1"/>
          </p:cNvGraphicFramePr>
          <p:nvPr/>
        </p:nvGraphicFramePr>
        <p:xfrm>
          <a:off x="3352800" y="1981200"/>
          <a:ext cx="201613" cy="381000"/>
        </p:xfrm>
        <a:graphic>
          <a:graphicData uri="http://schemas.openxmlformats.org/presentationml/2006/ole">
            <mc:AlternateContent xmlns:mc="http://schemas.openxmlformats.org/markup-compatibility/2006">
              <mc:Choice xmlns:v="urn:schemas-microsoft-com:vml" Requires="v">
                <p:oleObj spid="_x0000_s3299" name="" r:id="rId20" imgW="88900" imgH="165100" progId="Equation.DSMT4">
                  <p:embed/>
                </p:oleObj>
              </mc:Choice>
              <mc:Fallback>
                <p:oleObj name="" r:id="rId20" imgW="88900" imgH="165100" progId="Equation.DSMT4">
                  <p:embed/>
                  <p:pic>
                    <p:nvPicPr>
                      <p:cNvPr id="0" name="图片 3298"/>
                      <p:cNvPicPr/>
                      <p:nvPr/>
                    </p:nvPicPr>
                    <p:blipFill>
                      <a:blip r:embed="rId16"/>
                      <a:stretch>
                        <a:fillRect/>
                      </a:stretch>
                    </p:blipFill>
                    <p:spPr>
                      <a:xfrm>
                        <a:off x="3352800" y="1981200"/>
                        <a:ext cx="201613" cy="381000"/>
                      </a:xfrm>
                      <a:prstGeom prst="rect">
                        <a:avLst/>
                      </a:prstGeom>
                      <a:noFill/>
                      <a:ln w="38100">
                        <a:noFill/>
                        <a:miter/>
                      </a:ln>
                    </p:spPr>
                  </p:pic>
                </p:oleObj>
              </mc:Fallback>
            </mc:AlternateContent>
          </a:graphicData>
        </a:graphic>
      </p:graphicFrame>
      <p:graphicFrame>
        <p:nvGraphicFramePr>
          <p:cNvPr id="362518" name="Object 22"/>
          <p:cNvGraphicFramePr>
            <a:graphicFrameLocks noGrp="1" noChangeAspect="1"/>
          </p:cNvGraphicFramePr>
          <p:nvPr>
            <p:ph sz="quarter" idx="1"/>
          </p:nvPr>
        </p:nvGraphicFramePr>
        <p:xfrm>
          <a:off x="3494088" y="2238375"/>
          <a:ext cx="239712" cy="504825"/>
        </p:xfrm>
        <a:graphic>
          <a:graphicData uri="http://schemas.openxmlformats.org/presentationml/2006/ole">
            <mc:AlternateContent xmlns:mc="http://schemas.openxmlformats.org/markup-compatibility/2006">
              <mc:Choice xmlns:v="urn:schemas-microsoft-com:vml" Requires="v">
                <p:oleObj spid="_x0000_s3307" name="" r:id="rId21" imgW="88900" imgH="165100" progId="Equation.DSMT4">
                  <p:embed/>
                </p:oleObj>
              </mc:Choice>
              <mc:Fallback>
                <p:oleObj name="" r:id="rId21" imgW="88900" imgH="165100" progId="Equation.DSMT4">
                  <p:embed/>
                  <p:pic>
                    <p:nvPicPr>
                      <p:cNvPr id="0" name="图片 3306"/>
                      <p:cNvPicPr/>
                      <p:nvPr/>
                    </p:nvPicPr>
                    <p:blipFill>
                      <a:blip r:embed="rId16"/>
                      <a:stretch>
                        <a:fillRect/>
                      </a:stretch>
                    </p:blipFill>
                    <p:spPr>
                      <a:xfrm>
                        <a:off x="3494088" y="2238375"/>
                        <a:ext cx="239712" cy="504825"/>
                      </a:xfrm>
                      <a:prstGeom prst="rect">
                        <a:avLst/>
                      </a:prstGeom>
                      <a:noFill/>
                      <a:ln w="38100">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62498">
                                            <p:txEl>
                                              <p:charRg st="1" end="28"/>
                                            </p:txEl>
                                          </p:spTgt>
                                        </p:tgtEl>
                                        <p:attrNameLst>
                                          <p:attrName>style.visibility</p:attrName>
                                        </p:attrNameLst>
                                      </p:cBhvr>
                                      <p:to>
                                        <p:strVal val="visible"/>
                                      </p:to>
                                    </p:set>
                                    <p:animEffect transition="in" filter="checkerboard(across)">
                                      <p:cBhvr>
                                        <p:cTn id="7" dur="500"/>
                                        <p:tgtEl>
                                          <p:spTgt spid="362498">
                                            <p:txEl>
                                              <p:charRg st="1" end="28"/>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62498">
                                            <p:txEl>
                                              <p:charRg st="28" end="55"/>
                                            </p:txEl>
                                          </p:spTgt>
                                        </p:tgtEl>
                                        <p:attrNameLst>
                                          <p:attrName>style.visibility</p:attrName>
                                        </p:attrNameLst>
                                      </p:cBhvr>
                                      <p:to>
                                        <p:strVal val="visible"/>
                                      </p:to>
                                    </p:set>
                                    <p:animEffect transition="in" filter="checkerboard(across)">
                                      <p:cBhvr>
                                        <p:cTn id="10" dur="500"/>
                                        <p:tgtEl>
                                          <p:spTgt spid="362498">
                                            <p:txEl>
                                              <p:charRg st="28" end="55"/>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62498">
                                            <p:txEl>
                                              <p:charRg st="55" end="82"/>
                                            </p:txEl>
                                          </p:spTgt>
                                        </p:tgtEl>
                                        <p:attrNameLst>
                                          <p:attrName>style.visibility</p:attrName>
                                        </p:attrNameLst>
                                      </p:cBhvr>
                                      <p:to>
                                        <p:strVal val="visible"/>
                                      </p:to>
                                    </p:set>
                                    <p:animEffect transition="in" filter="checkerboard(across)">
                                      <p:cBhvr>
                                        <p:cTn id="13" dur="500"/>
                                        <p:tgtEl>
                                          <p:spTgt spid="362498">
                                            <p:txEl>
                                              <p:charRg st="55" end="8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62498">
                                            <p:txEl>
                                              <p:charRg st="82" end="109"/>
                                            </p:txEl>
                                          </p:spTgt>
                                        </p:tgtEl>
                                        <p:attrNameLst>
                                          <p:attrName>style.visibility</p:attrName>
                                        </p:attrNameLst>
                                      </p:cBhvr>
                                      <p:to>
                                        <p:strVal val="visible"/>
                                      </p:to>
                                    </p:set>
                                    <p:animEffect transition="in" filter="checkerboard(across)">
                                      <p:cBhvr>
                                        <p:cTn id="16" dur="500"/>
                                        <p:tgtEl>
                                          <p:spTgt spid="362498">
                                            <p:txEl>
                                              <p:charRg st="82" end="109"/>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362498">
                                            <p:txEl>
                                              <p:charRg st="109" end="134"/>
                                            </p:txEl>
                                          </p:spTgt>
                                        </p:tgtEl>
                                        <p:attrNameLst>
                                          <p:attrName>style.visibility</p:attrName>
                                        </p:attrNameLst>
                                      </p:cBhvr>
                                      <p:to>
                                        <p:strVal val="visible"/>
                                      </p:to>
                                    </p:set>
                                    <p:animEffect transition="in" filter="checkerboard(across)">
                                      <p:cBhvr>
                                        <p:cTn id="19" dur="500"/>
                                        <p:tgtEl>
                                          <p:spTgt spid="362498">
                                            <p:txEl>
                                              <p:charRg st="109" end="134"/>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362498">
                                            <p:txEl>
                                              <p:charRg st="134" end="168"/>
                                            </p:txEl>
                                          </p:spTgt>
                                        </p:tgtEl>
                                        <p:attrNameLst>
                                          <p:attrName>style.visibility</p:attrName>
                                        </p:attrNameLst>
                                      </p:cBhvr>
                                      <p:to>
                                        <p:strVal val="visible"/>
                                      </p:to>
                                    </p:set>
                                    <p:animEffect transition="in" filter="checkerboard(across)">
                                      <p:cBhvr>
                                        <p:cTn id="22" dur="500"/>
                                        <p:tgtEl>
                                          <p:spTgt spid="362498">
                                            <p:txEl>
                                              <p:charRg st="134" end="168"/>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362498">
                                            <p:txEl>
                                              <p:charRg st="168" end="190"/>
                                            </p:txEl>
                                          </p:spTgt>
                                        </p:tgtEl>
                                        <p:attrNameLst>
                                          <p:attrName>style.visibility</p:attrName>
                                        </p:attrNameLst>
                                      </p:cBhvr>
                                      <p:to>
                                        <p:strVal val="visible"/>
                                      </p:to>
                                    </p:set>
                                    <p:animEffect transition="in" filter="checkerboard(across)">
                                      <p:cBhvr>
                                        <p:cTn id="25" dur="500"/>
                                        <p:tgtEl>
                                          <p:spTgt spid="362498">
                                            <p:txEl>
                                              <p:charRg st="168" end="190"/>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362498">
                                            <p:txEl>
                                              <p:charRg st="190" end="197"/>
                                            </p:txEl>
                                          </p:spTgt>
                                        </p:tgtEl>
                                        <p:attrNameLst>
                                          <p:attrName>style.visibility</p:attrName>
                                        </p:attrNameLst>
                                      </p:cBhvr>
                                      <p:to>
                                        <p:strVal val="visible"/>
                                      </p:to>
                                    </p:set>
                                    <p:animEffect transition="in" filter="checkerboard(across)">
                                      <p:cBhvr>
                                        <p:cTn id="28" dur="500"/>
                                        <p:tgtEl>
                                          <p:spTgt spid="362498">
                                            <p:txEl>
                                              <p:charRg st="190" end="197"/>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362502"/>
                                        </p:tgtEl>
                                        <p:attrNameLst>
                                          <p:attrName>style.visibility</p:attrName>
                                        </p:attrNameLst>
                                      </p:cBhvr>
                                      <p:to>
                                        <p:strVal val="visible"/>
                                      </p:to>
                                    </p:set>
                                    <p:animEffect transition="in" filter="checkerboard(across)">
                                      <p:cBhvr>
                                        <p:cTn id="31" dur="500"/>
                                        <p:tgtEl>
                                          <p:spTgt spid="362502"/>
                                        </p:tgtEl>
                                      </p:cBhvr>
                                    </p:animEffect>
                                  </p:childTnLst>
                                </p:cTn>
                              </p:par>
                              <p:par>
                                <p:cTn id="32" presetID="5" presetClass="entr" presetSubtype="10" fill="hold" nodeType="withEffect">
                                  <p:stCondLst>
                                    <p:cond delay="0"/>
                                  </p:stCondLst>
                                  <p:childTnLst>
                                    <p:set>
                                      <p:cBhvr>
                                        <p:cTn id="33" dur="1" fill="hold">
                                          <p:stCondLst>
                                            <p:cond delay="0"/>
                                          </p:stCondLst>
                                        </p:cTn>
                                        <p:tgtEl>
                                          <p:spTgt spid="362500"/>
                                        </p:tgtEl>
                                        <p:attrNameLst>
                                          <p:attrName>style.visibility</p:attrName>
                                        </p:attrNameLst>
                                      </p:cBhvr>
                                      <p:to>
                                        <p:strVal val="visible"/>
                                      </p:to>
                                    </p:set>
                                    <p:animEffect transition="in" filter="checkerboard(across)">
                                      <p:cBhvr>
                                        <p:cTn id="34" dur="500"/>
                                        <p:tgtEl>
                                          <p:spTgt spid="362500"/>
                                        </p:tgtEl>
                                      </p:cBhvr>
                                    </p:animEffect>
                                  </p:childTnLst>
                                </p:cTn>
                              </p:par>
                              <p:par>
                                <p:cTn id="35" presetID="5" presetClass="entr" presetSubtype="10" fill="hold" nodeType="withEffect">
                                  <p:stCondLst>
                                    <p:cond delay="0"/>
                                  </p:stCondLst>
                                  <p:childTnLst>
                                    <p:set>
                                      <p:cBhvr>
                                        <p:cTn id="36" dur="1" fill="hold">
                                          <p:stCondLst>
                                            <p:cond delay="0"/>
                                          </p:stCondLst>
                                        </p:cTn>
                                        <p:tgtEl>
                                          <p:spTgt spid="362504"/>
                                        </p:tgtEl>
                                        <p:attrNameLst>
                                          <p:attrName>style.visibility</p:attrName>
                                        </p:attrNameLst>
                                      </p:cBhvr>
                                      <p:to>
                                        <p:strVal val="visible"/>
                                      </p:to>
                                    </p:set>
                                    <p:animEffect transition="in" filter="checkerboard(across)">
                                      <p:cBhvr>
                                        <p:cTn id="37" dur="500"/>
                                        <p:tgtEl>
                                          <p:spTgt spid="362504"/>
                                        </p:tgtEl>
                                      </p:cBhvr>
                                    </p:animEffect>
                                  </p:childTnLst>
                                </p:cTn>
                              </p:par>
                              <p:par>
                                <p:cTn id="38" presetID="5" presetClass="entr" presetSubtype="10" fill="hold" nodeType="withEffect">
                                  <p:stCondLst>
                                    <p:cond delay="0"/>
                                  </p:stCondLst>
                                  <p:childTnLst>
                                    <p:set>
                                      <p:cBhvr>
                                        <p:cTn id="39" dur="1" fill="hold">
                                          <p:stCondLst>
                                            <p:cond delay="0"/>
                                          </p:stCondLst>
                                        </p:cTn>
                                        <p:tgtEl>
                                          <p:spTgt spid="362508"/>
                                        </p:tgtEl>
                                        <p:attrNameLst>
                                          <p:attrName>style.visibility</p:attrName>
                                        </p:attrNameLst>
                                      </p:cBhvr>
                                      <p:to>
                                        <p:strVal val="visible"/>
                                      </p:to>
                                    </p:set>
                                    <p:animEffect transition="in" filter="checkerboard(across)">
                                      <p:cBhvr>
                                        <p:cTn id="40" dur="500"/>
                                        <p:tgtEl>
                                          <p:spTgt spid="362508"/>
                                        </p:tgtEl>
                                      </p:cBhvr>
                                    </p:animEffect>
                                  </p:childTnLst>
                                </p:cTn>
                              </p:par>
                              <p:par>
                                <p:cTn id="41" presetID="5" presetClass="entr" presetSubtype="10" fill="hold" nodeType="withEffect">
                                  <p:stCondLst>
                                    <p:cond delay="0"/>
                                  </p:stCondLst>
                                  <p:childTnLst>
                                    <p:set>
                                      <p:cBhvr>
                                        <p:cTn id="42" dur="1" fill="hold">
                                          <p:stCondLst>
                                            <p:cond delay="0"/>
                                          </p:stCondLst>
                                        </p:cTn>
                                        <p:tgtEl>
                                          <p:spTgt spid="362506"/>
                                        </p:tgtEl>
                                        <p:attrNameLst>
                                          <p:attrName>style.visibility</p:attrName>
                                        </p:attrNameLst>
                                      </p:cBhvr>
                                      <p:to>
                                        <p:strVal val="visible"/>
                                      </p:to>
                                    </p:set>
                                    <p:animEffect transition="in" filter="checkerboard(across)">
                                      <p:cBhvr>
                                        <p:cTn id="43" dur="500"/>
                                        <p:tgtEl>
                                          <p:spTgt spid="362506"/>
                                        </p:tgtEl>
                                      </p:cBhvr>
                                    </p:animEffect>
                                  </p:childTnLst>
                                </p:cTn>
                              </p:par>
                              <p:par>
                                <p:cTn id="44" presetID="5" presetClass="entr" presetSubtype="10" fill="hold" nodeType="withEffect">
                                  <p:stCondLst>
                                    <p:cond delay="0"/>
                                  </p:stCondLst>
                                  <p:childTnLst>
                                    <p:set>
                                      <p:cBhvr>
                                        <p:cTn id="45" dur="1" fill="hold">
                                          <p:stCondLst>
                                            <p:cond delay="0"/>
                                          </p:stCondLst>
                                        </p:cTn>
                                        <p:tgtEl>
                                          <p:spTgt spid="362510"/>
                                        </p:tgtEl>
                                        <p:attrNameLst>
                                          <p:attrName>style.visibility</p:attrName>
                                        </p:attrNameLst>
                                      </p:cBhvr>
                                      <p:to>
                                        <p:strVal val="visible"/>
                                      </p:to>
                                    </p:set>
                                    <p:animEffect transition="in" filter="checkerboard(across)">
                                      <p:cBhvr>
                                        <p:cTn id="46" dur="500"/>
                                        <p:tgtEl>
                                          <p:spTgt spid="362510"/>
                                        </p:tgtEl>
                                      </p:cBhvr>
                                    </p:animEffect>
                                  </p:childTnLst>
                                </p:cTn>
                              </p:par>
                              <p:par>
                                <p:cTn id="47" presetID="5" presetClass="entr" presetSubtype="10" fill="hold" nodeType="withEffect">
                                  <p:stCondLst>
                                    <p:cond delay="0"/>
                                  </p:stCondLst>
                                  <p:childTnLst>
                                    <p:set>
                                      <p:cBhvr>
                                        <p:cTn id="48" dur="1" fill="hold">
                                          <p:stCondLst>
                                            <p:cond delay="0"/>
                                          </p:stCondLst>
                                        </p:cTn>
                                        <p:tgtEl>
                                          <p:spTgt spid="362512"/>
                                        </p:tgtEl>
                                        <p:attrNameLst>
                                          <p:attrName>style.visibility</p:attrName>
                                        </p:attrNameLst>
                                      </p:cBhvr>
                                      <p:to>
                                        <p:strVal val="visible"/>
                                      </p:to>
                                    </p:set>
                                    <p:animEffect transition="in" filter="checkerboard(across)">
                                      <p:cBhvr>
                                        <p:cTn id="49" dur="500"/>
                                        <p:tgtEl>
                                          <p:spTgt spid="362512"/>
                                        </p:tgtEl>
                                      </p:cBhvr>
                                    </p:animEffect>
                                  </p:childTnLst>
                                </p:cTn>
                              </p:par>
                              <p:par>
                                <p:cTn id="50" presetID="5" presetClass="entr" presetSubtype="10" fill="hold" nodeType="withEffect">
                                  <p:stCondLst>
                                    <p:cond delay="0"/>
                                  </p:stCondLst>
                                  <p:childTnLst>
                                    <p:set>
                                      <p:cBhvr>
                                        <p:cTn id="51" dur="1" fill="hold">
                                          <p:stCondLst>
                                            <p:cond delay="0"/>
                                          </p:stCondLst>
                                        </p:cTn>
                                        <p:tgtEl>
                                          <p:spTgt spid="362513"/>
                                        </p:tgtEl>
                                        <p:attrNameLst>
                                          <p:attrName>style.visibility</p:attrName>
                                        </p:attrNameLst>
                                      </p:cBhvr>
                                      <p:to>
                                        <p:strVal val="visible"/>
                                      </p:to>
                                    </p:set>
                                    <p:animEffect transition="in" filter="checkerboard(across)">
                                      <p:cBhvr>
                                        <p:cTn id="52" dur="500"/>
                                        <p:tgtEl>
                                          <p:spTgt spid="362513"/>
                                        </p:tgtEl>
                                      </p:cBhvr>
                                    </p:animEffect>
                                  </p:childTnLst>
                                </p:cTn>
                              </p:par>
                              <p:par>
                                <p:cTn id="53" presetID="5" presetClass="entr" presetSubtype="10" fill="hold" nodeType="withEffect">
                                  <p:stCondLst>
                                    <p:cond delay="0"/>
                                  </p:stCondLst>
                                  <p:childTnLst>
                                    <p:set>
                                      <p:cBhvr>
                                        <p:cTn id="54" dur="1" fill="hold">
                                          <p:stCondLst>
                                            <p:cond delay="0"/>
                                          </p:stCondLst>
                                        </p:cTn>
                                        <p:tgtEl>
                                          <p:spTgt spid="362514"/>
                                        </p:tgtEl>
                                        <p:attrNameLst>
                                          <p:attrName>style.visibility</p:attrName>
                                        </p:attrNameLst>
                                      </p:cBhvr>
                                      <p:to>
                                        <p:strVal val="visible"/>
                                      </p:to>
                                    </p:set>
                                    <p:animEffect transition="in" filter="checkerboard(across)">
                                      <p:cBhvr>
                                        <p:cTn id="55" dur="500"/>
                                        <p:tgtEl>
                                          <p:spTgt spid="362514"/>
                                        </p:tgtEl>
                                      </p:cBhvr>
                                    </p:animEffect>
                                  </p:childTnLst>
                                </p:cTn>
                              </p:par>
                              <p:par>
                                <p:cTn id="56" presetID="5" presetClass="entr" presetSubtype="10" fill="hold" nodeType="withEffect">
                                  <p:stCondLst>
                                    <p:cond delay="0"/>
                                  </p:stCondLst>
                                  <p:childTnLst>
                                    <p:set>
                                      <p:cBhvr>
                                        <p:cTn id="57" dur="1" fill="hold">
                                          <p:stCondLst>
                                            <p:cond delay="0"/>
                                          </p:stCondLst>
                                        </p:cTn>
                                        <p:tgtEl>
                                          <p:spTgt spid="362515"/>
                                        </p:tgtEl>
                                        <p:attrNameLst>
                                          <p:attrName>style.visibility</p:attrName>
                                        </p:attrNameLst>
                                      </p:cBhvr>
                                      <p:to>
                                        <p:strVal val="visible"/>
                                      </p:to>
                                    </p:set>
                                    <p:animEffect transition="in" filter="checkerboard(across)">
                                      <p:cBhvr>
                                        <p:cTn id="58" dur="500"/>
                                        <p:tgtEl>
                                          <p:spTgt spid="362515"/>
                                        </p:tgtEl>
                                      </p:cBhvr>
                                    </p:animEffect>
                                  </p:childTnLst>
                                </p:cTn>
                              </p:par>
                              <p:par>
                                <p:cTn id="59" presetID="5" presetClass="entr" presetSubtype="10" fill="hold" nodeType="withEffect">
                                  <p:stCondLst>
                                    <p:cond delay="0"/>
                                  </p:stCondLst>
                                  <p:childTnLst>
                                    <p:set>
                                      <p:cBhvr>
                                        <p:cTn id="60" dur="1" fill="hold">
                                          <p:stCondLst>
                                            <p:cond delay="0"/>
                                          </p:stCondLst>
                                        </p:cTn>
                                        <p:tgtEl>
                                          <p:spTgt spid="362516"/>
                                        </p:tgtEl>
                                        <p:attrNameLst>
                                          <p:attrName>style.visibility</p:attrName>
                                        </p:attrNameLst>
                                      </p:cBhvr>
                                      <p:to>
                                        <p:strVal val="visible"/>
                                      </p:to>
                                    </p:set>
                                    <p:animEffect transition="in" filter="checkerboard(across)">
                                      <p:cBhvr>
                                        <p:cTn id="61" dur="500"/>
                                        <p:tgtEl>
                                          <p:spTgt spid="362516"/>
                                        </p:tgtEl>
                                      </p:cBhvr>
                                    </p:animEffect>
                                  </p:childTnLst>
                                </p:cTn>
                              </p:par>
                              <p:par>
                                <p:cTn id="62" presetID="5" presetClass="entr" presetSubtype="10" fill="hold" nodeType="withEffect">
                                  <p:stCondLst>
                                    <p:cond delay="0"/>
                                  </p:stCondLst>
                                  <p:childTnLst>
                                    <p:set>
                                      <p:cBhvr>
                                        <p:cTn id="63" dur="1" fill="hold">
                                          <p:stCondLst>
                                            <p:cond delay="0"/>
                                          </p:stCondLst>
                                        </p:cTn>
                                        <p:tgtEl>
                                          <p:spTgt spid="362517"/>
                                        </p:tgtEl>
                                        <p:attrNameLst>
                                          <p:attrName>style.visibility</p:attrName>
                                        </p:attrNameLst>
                                      </p:cBhvr>
                                      <p:to>
                                        <p:strVal val="visible"/>
                                      </p:to>
                                    </p:set>
                                    <p:animEffect transition="in" filter="checkerboard(across)">
                                      <p:cBhvr>
                                        <p:cTn id="64" dur="500"/>
                                        <p:tgtEl>
                                          <p:spTgt spid="362517"/>
                                        </p:tgtEl>
                                      </p:cBhvr>
                                    </p:animEffect>
                                  </p:childTnLst>
                                </p:cTn>
                              </p:par>
                              <p:par>
                                <p:cTn id="65" presetID="5" presetClass="entr" presetSubtype="10" fill="hold" nodeType="withEffect">
                                  <p:stCondLst>
                                    <p:cond delay="0"/>
                                  </p:stCondLst>
                                  <p:childTnLst>
                                    <p:set>
                                      <p:cBhvr>
                                        <p:cTn id="66" dur="1" fill="hold">
                                          <p:stCondLst>
                                            <p:cond delay="0"/>
                                          </p:stCondLst>
                                        </p:cTn>
                                        <p:tgtEl>
                                          <p:spTgt spid="362518"/>
                                        </p:tgtEl>
                                        <p:attrNameLst>
                                          <p:attrName>style.visibility</p:attrName>
                                        </p:attrNameLst>
                                      </p:cBhvr>
                                      <p:to>
                                        <p:strVal val="visible"/>
                                      </p:to>
                                    </p:set>
                                    <p:animEffect transition="in" filter="checkerboard(across)">
                                      <p:cBhvr>
                                        <p:cTn id="67" dur="500"/>
                                        <p:tgtEl>
                                          <p:spTgt spid="362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3522" name="Rectangle 2"/>
          <p:cNvSpPr>
            <a:spLocks noGrp="1"/>
          </p:cNvSpPr>
          <p:nvPr>
            <p:ph type="body" sz="half" idx="1"/>
          </p:nvPr>
        </p:nvSpPr>
        <p:spPr>
          <a:xfrm>
            <a:off x="762000" y="1828800"/>
            <a:ext cx="7924800" cy="4724400"/>
          </a:xfrm>
          <a:ln/>
        </p:spPr>
        <p:txBody>
          <a:bodyPr vert="horz" wrap="square" lIns="91440" tIns="45720" rIns="91440" bIns="45720" anchor="t"/>
          <a:p>
            <a:pPr eaLnBrk="1" hangingPunct="1">
              <a:lnSpc>
                <a:spcPct val="120000"/>
              </a:lnSpc>
            </a:pPr>
            <a:r>
              <a:rPr lang="en-US" altLang="zh-CN" sz="2000" b="1">
                <a:solidFill>
                  <a:srgbClr val="692AA2"/>
                </a:solidFill>
                <a:latin typeface="楷体_GB2312" pitchFamily="49" charset="-122"/>
                <a:ea typeface="楷体_GB2312" pitchFamily="49" charset="-122"/>
              </a:rPr>
              <a:t>      </a:t>
            </a:r>
            <a:r>
              <a:rPr lang="zh-CN" altLang="zh-CN" sz="2000" b="1">
                <a:solidFill>
                  <a:srgbClr val="692AA2"/>
                </a:solidFill>
                <a:latin typeface="楷体_GB2312" pitchFamily="49" charset="-122"/>
                <a:ea typeface="楷体_GB2312" pitchFamily="49" charset="-122"/>
              </a:rPr>
              <a:t>：A出版社出版一本教材获得的利润率。</a:t>
            </a:r>
            <a:endParaRPr lang="zh-CN" altLang="zh-CN" sz="2000" b="1">
              <a:solidFill>
                <a:srgbClr val="692AA2"/>
              </a:solidFill>
              <a:latin typeface="楷体_GB2312" pitchFamily="49" charset="-122"/>
              <a:ea typeface="楷体_GB2312" pitchFamily="49" charset="-122"/>
            </a:endParaRPr>
          </a:p>
          <a:p>
            <a:pPr eaLnBrk="1" hangingPunct="1">
              <a:lnSpc>
                <a:spcPct val="120000"/>
              </a:lnSpc>
            </a:pPr>
            <a:r>
              <a:rPr lang="zh-CN" altLang="zh-CN" sz="2000" b="1">
                <a:solidFill>
                  <a:srgbClr val="692AA2"/>
                </a:solidFill>
                <a:latin typeface="楷体_GB2312" pitchFamily="49" charset="-122"/>
                <a:ea typeface="楷体_GB2312" pitchFamily="49" charset="-122"/>
              </a:rPr>
              <a:t>      ：第</a:t>
            </a:r>
            <a:r>
              <a:rPr lang="zh-CN" altLang="en-US" sz="2000" b="1">
                <a:solidFill>
                  <a:srgbClr val="692AA2"/>
                </a:solidFill>
                <a:latin typeface="楷体_GB2312" pitchFamily="49" charset="-122"/>
                <a:ea typeface="楷体_GB2312" pitchFamily="49" charset="-122"/>
              </a:rPr>
              <a:t>  </a:t>
            </a:r>
            <a:r>
              <a:rPr lang="zh-CN" altLang="zh-CN" sz="2000" b="1">
                <a:solidFill>
                  <a:srgbClr val="692AA2"/>
                </a:solidFill>
                <a:latin typeface="楷体_GB2312" pitchFamily="49" charset="-122"/>
                <a:ea typeface="楷体_GB2312" pitchFamily="49" charset="-122"/>
              </a:rPr>
              <a:t>个分社获得的经济效益（即利润）。</a:t>
            </a:r>
            <a:endParaRPr lang="zh-CN" altLang="zh-CN" sz="2000" b="1">
              <a:solidFill>
                <a:srgbClr val="692AA2"/>
              </a:solidFill>
              <a:latin typeface="楷体_GB2312" pitchFamily="49" charset="-122"/>
              <a:ea typeface="楷体_GB2312" pitchFamily="49" charset="-122"/>
            </a:endParaRPr>
          </a:p>
          <a:p>
            <a:pPr eaLnBrk="1" hangingPunct="1">
              <a:lnSpc>
                <a:spcPct val="120000"/>
              </a:lnSpc>
            </a:pPr>
            <a:r>
              <a:rPr lang="zh-CN" altLang="zh-CN" sz="2000" b="1">
                <a:solidFill>
                  <a:srgbClr val="692AA2"/>
                </a:solidFill>
                <a:latin typeface="楷体_GB2312" pitchFamily="49" charset="-122"/>
                <a:ea typeface="楷体_GB2312" pitchFamily="49" charset="-122"/>
              </a:rPr>
              <a:t>      ：第  个课程或分社的满意度向量。</a:t>
            </a:r>
            <a:endParaRPr lang="zh-CN" altLang="zh-CN" sz="2000" b="1">
              <a:solidFill>
                <a:srgbClr val="692AA2"/>
              </a:solidFill>
              <a:latin typeface="楷体_GB2312" pitchFamily="49" charset="-122"/>
              <a:ea typeface="楷体_GB2312" pitchFamily="49" charset="-122"/>
            </a:endParaRPr>
          </a:p>
          <a:p>
            <a:pPr eaLnBrk="1" hangingPunct="1">
              <a:lnSpc>
                <a:spcPct val="120000"/>
              </a:lnSpc>
            </a:pPr>
            <a:r>
              <a:rPr lang="zh-CN" altLang="zh-CN" sz="2000" b="1">
                <a:solidFill>
                  <a:srgbClr val="692AA2"/>
                </a:solidFill>
                <a:latin typeface="楷体_GB2312" pitchFamily="49" charset="-122"/>
                <a:ea typeface="楷体_GB2312" pitchFamily="49" charset="-122"/>
              </a:rPr>
              <a:t>      ：第  个课程或分社的市场占有率。</a:t>
            </a:r>
            <a:endParaRPr lang="zh-CN" altLang="zh-CN" sz="2000" b="1">
              <a:solidFill>
                <a:srgbClr val="692AA2"/>
              </a:solidFill>
              <a:latin typeface="楷体_GB2312" pitchFamily="49" charset="-122"/>
              <a:ea typeface="楷体_GB2312" pitchFamily="49" charset="-122"/>
            </a:endParaRPr>
          </a:p>
          <a:p>
            <a:pPr eaLnBrk="1" hangingPunct="1">
              <a:lnSpc>
                <a:spcPct val="120000"/>
              </a:lnSpc>
            </a:pPr>
            <a:r>
              <a:rPr lang="zh-CN" altLang="zh-CN" sz="2000" b="1">
                <a:solidFill>
                  <a:srgbClr val="692AA2"/>
                </a:solidFill>
                <a:latin typeface="楷体_GB2312" pitchFamily="49" charset="-122"/>
                <a:ea typeface="楷体_GB2312" pitchFamily="49" charset="-122"/>
              </a:rPr>
              <a:t>      ：第  个分社  类人员数量。</a:t>
            </a:r>
            <a:endParaRPr lang="zh-CN" altLang="zh-CN" sz="2000" b="1">
              <a:solidFill>
                <a:srgbClr val="692AA2"/>
              </a:solidFill>
              <a:latin typeface="楷体_GB2312" pitchFamily="49" charset="-122"/>
              <a:ea typeface="楷体_GB2312" pitchFamily="49" charset="-122"/>
            </a:endParaRPr>
          </a:p>
          <a:p>
            <a:pPr eaLnBrk="1" hangingPunct="1">
              <a:lnSpc>
                <a:spcPct val="120000"/>
              </a:lnSpc>
            </a:pPr>
            <a:r>
              <a:rPr lang="zh-CN" altLang="zh-CN" sz="2000" b="1">
                <a:solidFill>
                  <a:srgbClr val="692AA2"/>
                </a:solidFill>
                <a:latin typeface="楷体_GB2312" pitchFamily="49" charset="-122"/>
                <a:ea typeface="楷体_GB2312" pitchFamily="49" charset="-122"/>
              </a:rPr>
              <a:t>      ：第  个分社  类人员平均工作能力。</a:t>
            </a:r>
            <a:endParaRPr lang="zh-CN" altLang="zh-CN" sz="2000" b="1">
              <a:solidFill>
                <a:srgbClr val="692AA2"/>
              </a:solidFill>
              <a:latin typeface="楷体_GB2312" pitchFamily="49" charset="-122"/>
              <a:ea typeface="楷体_GB2312" pitchFamily="49" charset="-122"/>
            </a:endParaRPr>
          </a:p>
          <a:p>
            <a:pPr eaLnBrk="1" hangingPunct="1">
              <a:lnSpc>
                <a:spcPct val="120000"/>
              </a:lnSpc>
            </a:pPr>
            <a:r>
              <a:rPr lang="zh-CN" altLang="zh-CN" sz="2000" b="1">
                <a:solidFill>
                  <a:srgbClr val="692AA2"/>
                </a:solidFill>
                <a:latin typeface="楷体_GB2312" pitchFamily="49" charset="-122"/>
                <a:ea typeface="楷体_GB2312" pitchFamily="49" charset="-122"/>
              </a:rPr>
              <a:t>      ：第</a:t>
            </a:r>
            <a:r>
              <a:rPr lang="zh-CN" altLang="en-US" sz="2000" b="1">
                <a:solidFill>
                  <a:srgbClr val="692AA2"/>
                </a:solidFill>
                <a:latin typeface="楷体_GB2312" pitchFamily="49" charset="-122"/>
                <a:ea typeface="楷体_GB2312" pitchFamily="49" charset="-122"/>
              </a:rPr>
              <a:t>  </a:t>
            </a:r>
            <a:r>
              <a:rPr lang="zh-CN" altLang="zh-CN" sz="2000" b="1">
                <a:solidFill>
                  <a:srgbClr val="692AA2"/>
                </a:solidFill>
                <a:latin typeface="楷体_GB2312" pitchFamily="49" charset="-122"/>
                <a:ea typeface="楷体_GB2312" pitchFamily="49" charset="-122"/>
              </a:rPr>
              <a:t>门课程在第年的实际销售量，其中   </a:t>
            </a:r>
            <a:r>
              <a:rPr lang="zh-CN" altLang="en-US" sz="2000" b="1">
                <a:solidFill>
                  <a:srgbClr val="692AA2"/>
                </a:solidFill>
                <a:latin typeface="楷体_GB2312" pitchFamily="49" charset="-122"/>
                <a:ea typeface="楷体_GB2312" pitchFamily="49" charset="-122"/>
              </a:rPr>
              <a:t>  </a:t>
            </a:r>
            <a:r>
              <a:rPr lang="zh-CN" altLang="zh-CN" sz="2000" b="1">
                <a:solidFill>
                  <a:srgbClr val="692AA2"/>
                </a:solidFill>
                <a:latin typeface="楷体_GB2312" pitchFamily="49" charset="-122"/>
                <a:ea typeface="楷体_GB2312" pitchFamily="49" charset="-122"/>
              </a:rPr>
              <a:t>为2006年销售量的预测值。</a:t>
            </a:r>
            <a:endParaRPr lang="zh-CN" altLang="zh-CN" sz="2000" b="1">
              <a:solidFill>
                <a:srgbClr val="692AA2"/>
              </a:solidFill>
              <a:latin typeface="楷体_GB2312" pitchFamily="49" charset="-122"/>
              <a:ea typeface="楷体_GB2312" pitchFamily="49" charset="-122"/>
            </a:endParaRPr>
          </a:p>
          <a:p>
            <a:pPr eaLnBrk="1" hangingPunct="1">
              <a:lnSpc>
                <a:spcPct val="120000"/>
              </a:lnSpc>
            </a:pPr>
            <a:endParaRPr lang="zh-CN" altLang="zh-CN" sz="2000" b="1">
              <a:solidFill>
                <a:srgbClr val="692AA2"/>
              </a:solidFill>
              <a:latin typeface="楷体_GB2312" pitchFamily="49" charset="-122"/>
              <a:ea typeface="楷体_GB2312" pitchFamily="49" charset="-122"/>
            </a:endParaRPr>
          </a:p>
          <a:p>
            <a:pPr eaLnBrk="1" hangingPunct="1">
              <a:buNone/>
            </a:pPr>
            <a:endParaRPr lang="en-US" altLang="zh-CN" sz="2000">
              <a:latin typeface="楷体_GB2312" pitchFamily="49" charset="-122"/>
              <a:ea typeface="楷体_GB2312" pitchFamily="49" charset="-122"/>
            </a:endParaRPr>
          </a:p>
        </p:txBody>
      </p:sp>
      <p:graphicFrame>
        <p:nvGraphicFramePr>
          <p:cNvPr id="363523" name="Object 3"/>
          <p:cNvGraphicFramePr>
            <a:graphicFrameLocks noChangeAspect="1"/>
          </p:cNvGraphicFramePr>
          <p:nvPr/>
        </p:nvGraphicFramePr>
        <p:xfrm>
          <a:off x="1447800" y="1905000"/>
          <a:ext cx="280988" cy="304800"/>
        </p:xfrm>
        <a:graphic>
          <a:graphicData uri="http://schemas.openxmlformats.org/presentationml/2006/ole">
            <mc:AlternateContent xmlns:mc="http://schemas.openxmlformats.org/markup-compatibility/2006">
              <mc:Choice xmlns:v="urn:schemas-microsoft-com:vml" Requires="v">
                <p:oleObj spid="_x0000_s3295" name="" r:id="rId1" imgW="114300" imgH="127000" progId="Equation.DSMT4">
                  <p:embed/>
                </p:oleObj>
              </mc:Choice>
              <mc:Fallback>
                <p:oleObj name="" r:id="rId1" imgW="114300" imgH="127000" progId="Equation.DSMT4">
                  <p:embed/>
                  <p:pic>
                    <p:nvPicPr>
                      <p:cNvPr id="0" name="图片 3294"/>
                      <p:cNvPicPr/>
                      <p:nvPr/>
                    </p:nvPicPr>
                    <p:blipFill>
                      <a:blip r:embed="rId2"/>
                      <a:stretch>
                        <a:fillRect/>
                      </a:stretch>
                    </p:blipFill>
                    <p:spPr>
                      <a:xfrm>
                        <a:off x="1447800" y="1905000"/>
                        <a:ext cx="280988" cy="304800"/>
                      </a:xfrm>
                      <a:prstGeom prst="rect">
                        <a:avLst/>
                      </a:prstGeom>
                      <a:noFill/>
                      <a:ln w="38100">
                        <a:noFill/>
                        <a:miter/>
                      </a:ln>
                    </p:spPr>
                  </p:pic>
                </p:oleObj>
              </mc:Fallback>
            </mc:AlternateContent>
          </a:graphicData>
        </a:graphic>
      </p:graphicFrame>
      <p:graphicFrame>
        <p:nvGraphicFramePr>
          <p:cNvPr id="363524" name="Object 4"/>
          <p:cNvGraphicFramePr>
            <a:graphicFrameLocks noChangeAspect="1"/>
          </p:cNvGraphicFramePr>
          <p:nvPr/>
        </p:nvGraphicFramePr>
        <p:xfrm>
          <a:off x="1447800" y="2286000"/>
          <a:ext cx="331788" cy="419100"/>
        </p:xfrm>
        <a:graphic>
          <a:graphicData uri="http://schemas.openxmlformats.org/presentationml/2006/ole">
            <mc:AlternateContent xmlns:mc="http://schemas.openxmlformats.org/markup-compatibility/2006">
              <mc:Choice xmlns:v="urn:schemas-microsoft-com:vml" Requires="v">
                <p:oleObj spid="_x0000_s3311" name="" r:id="rId3" imgW="177800" imgH="228600" progId="Equation.DSMT4">
                  <p:embed/>
                </p:oleObj>
              </mc:Choice>
              <mc:Fallback>
                <p:oleObj name="" r:id="rId3" imgW="177800" imgH="228600" progId="Equation.DSMT4">
                  <p:embed/>
                  <p:pic>
                    <p:nvPicPr>
                      <p:cNvPr id="0" name="图片 3310"/>
                      <p:cNvPicPr/>
                      <p:nvPr/>
                    </p:nvPicPr>
                    <p:blipFill>
                      <a:blip r:embed="rId4"/>
                      <a:stretch>
                        <a:fillRect/>
                      </a:stretch>
                    </p:blipFill>
                    <p:spPr>
                      <a:xfrm>
                        <a:off x="1447800" y="2286000"/>
                        <a:ext cx="331788" cy="419100"/>
                      </a:xfrm>
                      <a:prstGeom prst="rect">
                        <a:avLst/>
                      </a:prstGeom>
                      <a:noFill/>
                      <a:ln w="38100">
                        <a:noFill/>
                        <a:miter/>
                      </a:ln>
                    </p:spPr>
                  </p:pic>
                </p:oleObj>
              </mc:Fallback>
            </mc:AlternateContent>
          </a:graphicData>
        </a:graphic>
      </p:graphicFrame>
      <p:graphicFrame>
        <p:nvGraphicFramePr>
          <p:cNvPr id="363525" name="Object 5"/>
          <p:cNvGraphicFramePr>
            <a:graphicFrameLocks noChangeAspect="1"/>
          </p:cNvGraphicFramePr>
          <p:nvPr/>
        </p:nvGraphicFramePr>
        <p:xfrm>
          <a:off x="1447800" y="2667000"/>
          <a:ext cx="304800" cy="457200"/>
        </p:xfrm>
        <a:graphic>
          <a:graphicData uri="http://schemas.openxmlformats.org/presentationml/2006/ole">
            <mc:AlternateContent xmlns:mc="http://schemas.openxmlformats.org/markup-compatibility/2006">
              <mc:Choice xmlns:v="urn:schemas-microsoft-com:vml" Requires="v">
                <p:oleObj spid="_x0000_s3309" name="" r:id="rId5" imgW="152400" imgH="228600" progId="Equation.DSMT4">
                  <p:embed/>
                </p:oleObj>
              </mc:Choice>
              <mc:Fallback>
                <p:oleObj name="" r:id="rId5" imgW="152400" imgH="228600" progId="Equation.DSMT4">
                  <p:embed/>
                  <p:pic>
                    <p:nvPicPr>
                      <p:cNvPr id="0" name="图片 3308"/>
                      <p:cNvPicPr/>
                      <p:nvPr/>
                    </p:nvPicPr>
                    <p:blipFill>
                      <a:blip r:embed="rId6"/>
                      <a:stretch>
                        <a:fillRect/>
                      </a:stretch>
                    </p:blipFill>
                    <p:spPr>
                      <a:xfrm>
                        <a:off x="1447800" y="2667000"/>
                        <a:ext cx="304800" cy="457200"/>
                      </a:xfrm>
                      <a:prstGeom prst="rect">
                        <a:avLst/>
                      </a:prstGeom>
                      <a:noFill/>
                      <a:ln w="38100">
                        <a:noFill/>
                        <a:miter/>
                      </a:ln>
                    </p:spPr>
                  </p:pic>
                </p:oleObj>
              </mc:Fallback>
            </mc:AlternateContent>
          </a:graphicData>
        </a:graphic>
      </p:graphicFrame>
      <p:graphicFrame>
        <p:nvGraphicFramePr>
          <p:cNvPr id="363526" name="Object 6"/>
          <p:cNvGraphicFramePr>
            <a:graphicFrameLocks noChangeAspect="1"/>
          </p:cNvGraphicFramePr>
          <p:nvPr/>
        </p:nvGraphicFramePr>
        <p:xfrm>
          <a:off x="1447800" y="3124200"/>
          <a:ext cx="323850" cy="457200"/>
        </p:xfrm>
        <a:graphic>
          <a:graphicData uri="http://schemas.openxmlformats.org/presentationml/2006/ole">
            <mc:AlternateContent xmlns:mc="http://schemas.openxmlformats.org/markup-compatibility/2006">
              <mc:Choice xmlns:v="urn:schemas-microsoft-com:vml" Requires="v">
                <p:oleObj spid="_x0000_s3300" name="" r:id="rId7" imgW="165100" imgH="228600" progId="Equation.DSMT4">
                  <p:embed/>
                </p:oleObj>
              </mc:Choice>
              <mc:Fallback>
                <p:oleObj name="" r:id="rId7" imgW="165100" imgH="228600" progId="Equation.DSMT4">
                  <p:embed/>
                  <p:pic>
                    <p:nvPicPr>
                      <p:cNvPr id="0" name="图片 3299"/>
                      <p:cNvPicPr/>
                      <p:nvPr/>
                    </p:nvPicPr>
                    <p:blipFill>
                      <a:blip r:embed="rId8"/>
                      <a:stretch>
                        <a:fillRect/>
                      </a:stretch>
                    </p:blipFill>
                    <p:spPr>
                      <a:xfrm>
                        <a:off x="1447800" y="3124200"/>
                        <a:ext cx="323850" cy="457200"/>
                      </a:xfrm>
                      <a:prstGeom prst="rect">
                        <a:avLst/>
                      </a:prstGeom>
                      <a:noFill/>
                      <a:ln w="38100">
                        <a:noFill/>
                        <a:miter/>
                      </a:ln>
                    </p:spPr>
                  </p:pic>
                </p:oleObj>
              </mc:Fallback>
            </mc:AlternateContent>
          </a:graphicData>
        </a:graphic>
      </p:graphicFrame>
      <p:graphicFrame>
        <p:nvGraphicFramePr>
          <p:cNvPr id="363527" name="Object 7"/>
          <p:cNvGraphicFramePr>
            <a:graphicFrameLocks noChangeAspect="1"/>
          </p:cNvGraphicFramePr>
          <p:nvPr/>
        </p:nvGraphicFramePr>
        <p:xfrm>
          <a:off x="1447800" y="3581400"/>
          <a:ext cx="384175" cy="457200"/>
        </p:xfrm>
        <a:graphic>
          <a:graphicData uri="http://schemas.openxmlformats.org/presentationml/2006/ole">
            <mc:AlternateContent xmlns:mc="http://schemas.openxmlformats.org/markup-compatibility/2006">
              <mc:Choice xmlns:v="urn:schemas-microsoft-com:vml" Requires="v">
                <p:oleObj spid="_x0000_s3301" name="" r:id="rId9" imgW="203200" imgH="241300" progId="Equation.DSMT4">
                  <p:embed/>
                </p:oleObj>
              </mc:Choice>
              <mc:Fallback>
                <p:oleObj name="" r:id="rId9" imgW="203200" imgH="241300" progId="Equation.DSMT4">
                  <p:embed/>
                  <p:pic>
                    <p:nvPicPr>
                      <p:cNvPr id="0" name="图片 3300"/>
                      <p:cNvPicPr/>
                      <p:nvPr/>
                    </p:nvPicPr>
                    <p:blipFill>
                      <a:blip r:embed="rId10"/>
                      <a:stretch>
                        <a:fillRect/>
                      </a:stretch>
                    </p:blipFill>
                    <p:spPr>
                      <a:xfrm>
                        <a:off x="1447800" y="3581400"/>
                        <a:ext cx="384175" cy="457200"/>
                      </a:xfrm>
                      <a:prstGeom prst="rect">
                        <a:avLst/>
                      </a:prstGeom>
                      <a:noFill/>
                      <a:ln w="38100">
                        <a:noFill/>
                        <a:miter/>
                      </a:ln>
                    </p:spPr>
                  </p:pic>
                </p:oleObj>
              </mc:Fallback>
            </mc:AlternateContent>
          </a:graphicData>
        </a:graphic>
      </p:graphicFrame>
      <p:graphicFrame>
        <p:nvGraphicFramePr>
          <p:cNvPr id="363528" name="Object 8"/>
          <p:cNvGraphicFramePr>
            <a:graphicFrameLocks noChangeAspect="1"/>
          </p:cNvGraphicFramePr>
          <p:nvPr/>
        </p:nvGraphicFramePr>
        <p:xfrm>
          <a:off x="1447800" y="3886200"/>
          <a:ext cx="404813" cy="533400"/>
        </p:xfrm>
        <a:graphic>
          <a:graphicData uri="http://schemas.openxmlformats.org/presentationml/2006/ole">
            <mc:AlternateContent xmlns:mc="http://schemas.openxmlformats.org/markup-compatibility/2006">
              <mc:Choice xmlns:v="urn:schemas-microsoft-com:vml" Requires="v">
                <p:oleObj spid="_x0000_s3304" name="" r:id="rId11" imgW="177800" imgH="241300" progId="Equation.DSMT4">
                  <p:embed/>
                </p:oleObj>
              </mc:Choice>
              <mc:Fallback>
                <p:oleObj name="" r:id="rId11" imgW="177800" imgH="241300" progId="Equation.DSMT4">
                  <p:embed/>
                  <p:pic>
                    <p:nvPicPr>
                      <p:cNvPr id="0" name="图片 3303"/>
                      <p:cNvPicPr/>
                      <p:nvPr/>
                    </p:nvPicPr>
                    <p:blipFill>
                      <a:blip r:embed="rId12"/>
                      <a:stretch>
                        <a:fillRect/>
                      </a:stretch>
                    </p:blipFill>
                    <p:spPr>
                      <a:xfrm>
                        <a:off x="1447800" y="3886200"/>
                        <a:ext cx="404813" cy="533400"/>
                      </a:xfrm>
                      <a:prstGeom prst="rect">
                        <a:avLst/>
                      </a:prstGeom>
                      <a:noFill/>
                      <a:ln w="38100">
                        <a:noFill/>
                        <a:miter/>
                      </a:ln>
                    </p:spPr>
                  </p:pic>
                </p:oleObj>
              </mc:Fallback>
            </mc:AlternateContent>
          </a:graphicData>
        </a:graphic>
      </p:graphicFrame>
      <p:graphicFrame>
        <p:nvGraphicFramePr>
          <p:cNvPr id="363529" name="Object 9"/>
          <p:cNvGraphicFramePr>
            <a:graphicFrameLocks noChangeAspect="1"/>
          </p:cNvGraphicFramePr>
          <p:nvPr/>
        </p:nvGraphicFramePr>
        <p:xfrm>
          <a:off x="1371600" y="4343400"/>
          <a:ext cx="609600" cy="395288"/>
        </p:xfrm>
        <a:graphic>
          <a:graphicData uri="http://schemas.openxmlformats.org/presentationml/2006/ole">
            <mc:AlternateContent xmlns:mc="http://schemas.openxmlformats.org/markup-compatibility/2006">
              <mc:Choice xmlns:v="urn:schemas-microsoft-com:vml" Requires="v">
                <p:oleObj spid="_x0000_s3308" name="" r:id="rId13" imgW="355600" imgH="228600" progId="Equation.DSMT4">
                  <p:embed/>
                </p:oleObj>
              </mc:Choice>
              <mc:Fallback>
                <p:oleObj name="" r:id="rId13" imgW="355600" imgH="228600" progId="Equation.DSMT4">
                  <p:embed/>
                  <p:pic>
                    <p:nvPicPr>
                      <p:cNvPr id="0" name="图片 3307"/>
                      <p:cNvPicPr/>
                      <p:nvPr/>
                    </p:nvPicPr>
                    <p:blipFill>
                      <a:blip r:embed="rId14"/>
                      <a:stretch>
                        <a:fillRect/>
                      </a:stretch>
                    </p:blipFill>
                    <p:spPr>
                      <a:xfrm>
                        <a:off x="1371600" y="4343400"/>
                        <a:ext cx="609600" cy="395288"/>
                      </a:xfrm>
                      <a:prstGeom prst="rect">
                        <a:avLst/>
                      </a:prstGeom>
                      <a:noFill/>
                      <a:ln w="38100">
                        <a:noFill/>
                        <a:miter/>
                      </a:ln>
                    </p:spPr>
                  </p:pic>
                </p:oleObj>
              </mc:Fallback>
            </mc:AlternateContent>
          </a:graphicData>
        </a:graphic>
      </p:graphicFrame>
      <p:graphicFrame>
        <p:nvGraphicFramePr>
          <p:cNvPr id="363530" name="Object 10"/>
          <p:cNvGraphicFramePr>
            <a:graphicFrameLocks noChangeAspect="1"/>
          </p:cNvGraphicFramePr>
          <p:nvPr/>
        </p:nvGraphicFramePr>
        <p:xfrm>
          <a:off x="3505200" y="3581400"/>
          <a:ext cx="247650" cy="381000"/>
        </p:xfrm>
        <a:graphic>
          <a:graphicData uri="http://schemas.openxmlformats.org/presentationml/2006/ole">
            <mc:AlternateContent xmlns:mc="http://schemas.openxmlformats.org/markup-compatibility/2006">
              <mc:Choice xmlns:v="urn:schemas-microsoft-com:vml" Requires="v">
                <p:oleObj spid="_x0000_s3298" name="" r:id="rId15" imgW="127000" imgH="190500" progId="Equation.DSMT4">
                  <p:embed/>
                </p:oleObj>
              </mc:Choice>
              <mc:Fallback>
                <p:oleObj name="" r:id="rId15" imgW="127000" imgH="190500" progId="Equation.DSMT4">
                  <p:embed/>
                  <p:pic>
                    <p:nvPicPr>
                      <p:cNvPr id="0" name="图片 3297"/>
                      <p:cNvPicPr/>
                      <p:nvPr/>
                    </p:nvPicPr>
                    <p:blipFill>
                      <a:blip r:embed="rId16"/>
                      <a:stretch>
                        <a:fillRect/>
                      </a:stretch>
                    </p:blipFill>
                    <p:spPr>
                      <a:xfrm>
                        <a:off x="3505200" y="3581400"/>
                        <a:ext cx="247650" cy="381000"/>
                      </a:xfrm>
                      <a:prstGeom prst="rect">
                        <a:avLst/>
                      </a:prstGeom>
                      <a:noFill/>
                      <a:ln w="38100">
                        <a:noFill/>
                        <a:miter/>
                      </a:ln>
                    </p:spPr>
                  </p:pic>
                </p:oleObj>
              </mc:Fallback>
            </mc:AlternateContent>
          </a:graphicData>
        </a:graphic>
      </p:graphicFrame>
      <p:graphicFrame>
        <p:nvGraphicFramePr>
          <p:cNvPr id="363531" name="Object 11"/>
          <p:cNvGraphicFramePr>
            <a:graphicFrameLocks noChangeAspect="1"/>
          </p:cNvGraphicFramePr>
          <p:nvPr/>
        </p:nvGraphicFramePr>
        <p:xfrm>
          <a:off x="3505200" y="4038600"/>
          <a:ext cx="247650" cy="381000"/>
        </p:xfrm>
        <a:graphic>
          <a:graphicData uri="http://schemas.openxmlformats.org/presentationml/2006/ole">
            <mc:AlternateContent xmlns:mc="http://schemas.openxmlformats.org/markup-compatibility/2006">
              <mc:Choice xmlns:v="urn:schemas-microsoft-com:vml" Requires="v">
                <p:oleObj spid="_x0000_s3305" name="" r:id="rId17" imgW="127000" imgH="190500" progId="Equation.DSMT4">
                  <p:embed/>
                </p:oleObj>
              </mc:Choice>
              <mc:Fallback>
                <p:oleObj name="" r:id="rId17" imgW="127000" imgH="190500" progId="Equation.DSMT4">
                  <p:embed/>
                  <p:pic>
                    <p:nvPicPr>
                      <p:cNvPr id="0" name="图片 3304"/>
                      <p:cNvPicPr/>
                      <p:nvPr/>
                    </p:nvPicPr>
                    <p:blipFill>
                      <a:blip r:embed="rId16"/>
                      <a:stretch>
                        <a:fillRect/>
                      </a:stretch>
                    </p:blipFill>
                    <p:spPr>
                      <a:xfrm>
                        <a:off x="3505200" y="4038600"/>
                        <a:ext cx="247650" cy="381000"/>
                      </a:xfrm>
                      <a:prstGeom prst="rect">
                        <a:avLst/>
                      </a:prstGeom>
                      <a:noFill/>
                      <a:ln w="38100">
                        <a:noFill/>
                        <a:miter/>
                      </a:ln>
                    </p:spPr>
                  </p:pic>
                </p:oleObj>
              </mc:Fallback>
            </mc:AlternateContent>
          </a:graphicData>
        </a:graphic>
      </p:graphicFrame>
      <p:graphicFrame>
        <p:nvGraphicFramePr>
          <p:cNvPr id="363532" name="Object 12"/>
          <p:cNvGraphicFramePr>
            <a:graphicFrameLocks noChangeAspect="1"/>
          </p:cNvGraphicFramePr>
          <p:nvPr/>
        </p:nvGraphicFramePr>
        <p:xfrm>
          <a:off x="6705600" y="4267200"/>
          <a:ext cx="609600" cy="406400"/>
        </p:xfrm>
        <a:graphic>
          <a:graphicData uri="http://schemas.openxmlformats.org/presentationml/2006/ole">
            <mc:AlternateContent xmlns:mc="http://schemas.openxmlformats.org/markup-compatibility/2006">
              <mc:Choice xmlns:v="urn:schemas-microsoft-com:vml" Requires="v">
                <p:oleObj spid="_x0000_s3296" name="" r:id="rId18" imgW="342900" imgH="228600" progId="Equation.DSMT4">
                  <p:embed/>
                </p:oleObj>
              </mc:Choice>
              <mc:Fallback>
                <p:oleObj name="" r:id="rId18" imgW="342900" imgH="228600" progId="Equation.DSMT4">
                  <p:embed/>
                  <p:pic>
                    <p:nvPicPr>
                      <p:cNvPr id="0" name="图片 3295"/>
                      <p:cNvPicPr/>
                      <p:nvPr/>
                    </p:nvPicPr>
                    <p:blipFill>
                      <a:blip r:embed="rId19"/>
                      <a:stretch>
                        <a:fillRect/>
                      </a:stretch>
                    </p:blipFill>
                    <p:spPr>
                      <a:xfrm>
                        <a:off x="6705600" y="4267200"/>
                        <a:ext cx="609600" cy="406400"/>
                      </a:xfrm>
                      <a:prstGeom prst="rect">
                        <a:avLst/>
                      </a:prstGeom>
                      <a:noFill/>
                      <a:ln w="38100">
                        <a:noFill/>
                        <a:miter/>
                      </a:ln>
                    </p:spPr>
                  </p:pic>
                </p:oleObj>
              </mc:Fallback>
            </mc:AlternateContent>
          </a:graphicData>
        </a:graphic>
      </p:graphicFrame>
      <p:graphicFrame>
        <p:nvGraphicFramePr>
          <p:cNvPr id="363533" name="Object 13"/>
          <p:cNvGraphicFramePr>
            <a:graphicFrameLocks noChangeAspect="1"/>
          </p:cNvGraphicFramePr>
          <p:nvPr/>
        </p:nvGraphicFramePr>
        <p:xfrm>
          <a:off x="2667000" y="2667000"/>
          <a:ext cx="304800" cy="457200"/>
        </p:xfrm>
        <a:graphic>
          <a:graphicData uri="http://schemas.openxmlformats.org/presentationml/2006/ole">
            <mc:AlternateContent xmlns:mc="http://schemas.openxmlformats.org/markup-compatibility/2006">
              <mc:Choice xmlns:v="urn:schemas-microsoft-com:vml" Requires="v">
                <p:oleObj spid="_x0000_s3310" name="" r:id="rId20" imgW="88900" imgH="165100" progId="Equation.DSMT4">
                  <p:embed/>
                </p:oleObj>
              </mc:Choice>
              <mc:Fallback>
                <p:oleObj name="" r:id="rId20" imgW="88900" imgH="165100" progId="Equation.DSMT4">
                  <p:embed/>
                  <p:pic>
                    <p:nvPicPr>
                      <p:cNvPr id="0" name="图片 3309"/>
                      <p:cNvPicPr/>
                      <p:nvPr/>
                    </p:nvPicPr>
                    <p:blipFill>
                      <a:blip r:embed="rId21"/>
                      <a:stretch>
                        <a:fillRect/>
                      </a:stretch>
                    </p:blipFill>
                    <p:spPr>
                      <a:xfrm>
                        <a:off x="2667000" y="2667000"/>
                        <a:ext cx="304800" cy="457200"/>
                      </a:xfrm>
                      <a:prstGeom prst="rect">
                        <a:avLst/>
                      </a:prstGeom>
                      <a:noFill/>
                      <a:ln w="38100">
                        <a:noFill/>
                        <a:miter/>
                      </a:ln>
                    </p:spPr>
                  </p:pic>
                </p:oleObj>
              </mc:Fallback>
            </mc:AlternateContent>
          </a:graphicData>
        </a:graphic>
      </p:graphicFrame>
      <p:graphicFrame>
        <p:nvGraphicFramePr>
          <p:cNvPr id="363534" name="Object 14"/>
          <p:cNvGraphicFramePr>
            <a:graphicFrameLocks noChangeAspect="1"/>
          </p:cNvGraphicFramePr>
          <p:nvPr/>
        </p:nvGraphicFramePr>
        <p:xfrm>
          <a:off x="2667000" y="2286000"/>
          <a:ext cx="152400" cy="381000"/>
        </p:xfrm>
        <a:graphic>
          <a:graphicData uri="http://schemas.openxmlformats.org/presentationml/2006/ole">
            <mc:AlternateContent xmlns:mc="http://schemas.openxmlformats.org/markup-compatibility/2006">
              <mc:Choice xmlns:v="urn:schemas-microsoft-com:vml" Requires="v">
                <p:oleObj spid="_x0000_s3312" name="" r:id="rId22" imgW="88900" imgH="165100" progId="Equation.DSMT4">
                  <p:embed/>
                </p:oleObj>
              </mc:Choice>
              <mc:Fallback>
                <p:oleObj name="" r:id="rId22" imgW="88900" imgH="165100" progId="Equation.DSMT4">
                  <p:embed/>
                  <p:pic>
                    <p:nvPicPr>
                      <p:cNvPr id="0" name="图片 3311"/>
                      <p:cNvPicPr/>
                      <p:nvPr/>
                    </p:nvPicPr>
                    <p:blipFill>
                      <a:blip r:embed="rId21"/>
                      <a:stretch>
                        <a:fillRect/>
                      </a:stretch>
                    </p:blipFill>
                    <p:spPr>
                      <a:xfrm>
                        <a:off x="2667000" y="2286000"/>
                        <a:ext cx="152400" cy="381000"/>
                      </a:xfrm>
                      <a:prstGeom prst="rect">
                        <a:avLst/>
                      </a:prstGeom>
                      <a:noFill/>
                      <a:ln w="38100">
                        <a:noFill/>
                        <a:miter/>
                      </a:ln>
                    </p:spPr>
                  </p:pic>
                </p:oleObj>
              </mc:Fallback>
            </mc:AlternateContent>
          </a:graphicData>
        </a:graphic>
      </p:graphicFrame>
      <p:graphicFrame>
        <p:nvGraphicFramePr>
          <p:cNvPr id="363535" name="Object 15"/>
          <p:cNvGraphicFramePr>
            <a:graphicFrameLocks noChangeAspect="1"/>
          </p:cNvGraphicFramePr>
          <p:nvPr/>
        </p:nvGraphicFramePr>
        <p:xfrm>
          <a:off x="2667000" y="3505200"/>
          <a:ext cx="246063" cy="457200"/>
        </p:xfrm>
        <a:graphic>
          <a:graphicData uri="http://schemas.openxmlformats.org/presentationml/2006/ole">
            <mc:AlternateContent xmlns:mc="http://schemas.openxmlformats.org/markup-compatibility/2006">
              <mc:Choice xmlns:v="urn:schemas-microsoft-com:vml" Requires="v">
                <p:oleObj spid="_x0000_s3297" name="" r:id="rId23" imgW="88900" imgH="165100" progId="Equation.DSMT4">
                  <p:embed/>
                </p:oleObj>
              </mc:Choice>
              <mc:Fallback>
                <p:oleObj name="" r:id="rId23" imgW="88900" imgH="165100" progId="Equation.DSMT4">
                  <p:embed/>
                  <p:pic>
                    <p:nvPicPr>
                      <p:cNvPr id="0" name="图片 3296"/>
                      <p:cNvPicPr/>
                      <p:nvPr/>
                    </p:nvPicPr>
                    <p:blipFill>
                      <a:blip r:embed="rId21"/>
                      <a:stretch>
                        <a:fillRect/>
                      </a:stretch>
                    </p:blipFill>
                    <p:spPr>
                      <a:xfrm>
                        <a:off x="2667000" y="3505200"/>
                        <a:ext cx="246063" cy="457200"/>
                      </a:xfrm>
                      <a:prstGeom prst="rect">
                        <a:avLst/>
                      </a:prstGeom>
                      <a:noFill/>
                      <a:ln w="38100">
                        <a:noFill/>
                        <a:miter/>
                      </a:ln>
                    </p:spPr>
                  </p:pic>
                </p:oleObj>
              </mc:Fallback>
            </mc:AlternateContent>
          </a:graphicData>
        </a:graphic>
      </p:graphicFrame>
      <p:graphicFrame>
        <p:nvGraphicFramePr>
          <p:cNvPr id="363536" name="Object 16"/>
          <p:cNvGraphicFramePr>
            <a:graphicFrameLocks noChangeAspect="1"/>
          </p:cNvGraphicFramePr>
          <p:nvPr/>
        </p:nvGraphicFramePr>
        <p:xfrm>
          <a:off x="2667000" y="3124200"/>
          <a:ext cx="246063" cy="457200"/>
        </p:xfrm>
        <a:graphic>
          <a:graphicData uri="http://schemas.openxmlformats.org/presentationml/2006/ole">
            <mc:AlternateContent xmlns:mc="http://schemas.openxmlformats.org/markup-compatibility/2006">
              <mc:Choice xmlns:v="urn:schemas-microsoft-com:vml" Requires="v">
                <p:oleObj spid="_x0000_s3306" name="" r:id="rId24" imgW="88900" imgH="165100" progId="Equation.DSMT4">
                  <p:embed/>
                </p:oleObj>
              </mc:Choice>
              <mc:Fallback>
                <p:oleObj name="" r:id="rId24" imgW="88900" imgH="165100" progId="Equation.DSMT4">
                  <p:embed/>
                  <p:pic>
                    <p:nvPicPr>
                      <p:cNvPr id="0" name="图片 3305"/>
                      <p:cNvPicPr/>
                      <p:nvPr/>
                    </p:nvPicPr>
                    <p:blipFill>
                      <a:blip r:embed="rId21"/>
                      <a:stretch>
                        <a:fillRect/>
                      </a:stretch>
                    </p:blipFill>
                    <p:spPr>
                      <a:xfrm>
                        <a:off x="2667000" y="3124200"/>
                        <a:ext cx="246063" cy="457200"/>
                      </a:xfrm>
                      <a:prstGeom prst="rect">
                        <a:avLst/>
                      </a:prstGeom>
                      <a:noFill/>
                      <a:ln w="38100">
                        <a:noFill/>
                        <a:miter/>
                      </a:ln>
                    </p:spPr>
                  </p:pic>
                </p:oleObj>
              </mc:Fallback>
            </mc:AlternateContent>
          </a:graphicData>
        </a:graphic>
      </p:graphicFrame>
      <p:graphicFrame>
        <p:nvGraphicFramePr>
          <p:cNvPr id="363537" name="Object 17"/>
          <p:cNvGraphicFramePr>
            <a:graphicFrameLocks noChangeAspect="1"/>
          </p:cNvGraphicFramePr>
          <p:nvPr/>
        </p:nvGraphicFramePr>
        <p:xfrm>
          <a:off x="2590800" y="4267200"/>
          <a:ext cx="246063" cy="457200"/>
        </p:xfrm>
        <a:graphic>
          <a:graphicData uri="http://schemas.openxmlformats.org/presentationml/2006/ole">
            <mc:AlternateContent xmlns:mc="http://schemas.openxmlformats.org/markup-compatibility/2006">
              <mc:Choice xmlns:v="urn:schemas-microsoft-com:vml" Requires="v">
                <p:oleObj spid="_x0000_s3303" name="" r:id="rId25" imgW="88900" imgH="165100" progId="Equation.DSMT4">
                  <p:embed/>
                </p:oleObj>
              </mc:Choice>
              <mc:Fallback>
                <p:oleObj name="" r:id="rId25" imgW="88900" imgH="165100" progId="Equation.DSMT4">
                  <p:embed/>
                  <p:pic>
                    <p:nvPicPr>
                      <p:cNvPr id="0" name="图片 3302"/>
                      <p:cNvPicPr/>
                      <p:nvPr/>
                    </p:nvPicPr>
                    <p:blipFill>
                      <a:blip r:embed="rId21"/>
                      <a:stretch>
                        <a:fillRect/>
                      </a:stretch>
                    </p:blipFill>
                    <p:spPr>
                      <a:xfrm>
                        <a:off x="2590800" y="4267200"/>
                        <a:ext cx="246063" cy="457200"/>
                      </a:xfrm>
                      <a:prstGeom prst="rect">
                        <a:avLst/>
                      </a:prstGeom>
                      <a:noFill/>
                      <a:ln w="38100">
                        <a:noFill/>
                        <a:miter/>
                      </a:ln>
                    </p:spPr>
                  </p:pic>
                </p:oleObj>
              </mc:Fallback>
            </mc:AlternateContent>
          </a:graphicData>
        </a:graphic>
      </p:graphicFrame>
      <p:graphicFrame>
        <p:nvGraphicFramePr>
          <p:cNvPr id="363538" name="Object 18"/>
          <p:cNvGraphicFramePr>
            <a:graphicFrameLocks noChangeAspect="1"/>
          </p:cNvGraphicFramePr>
          <p:nvPr/>
        </p:nvGraphicFramePr>
        <p:xfrm>
          <a:off x="2667000" y="3886200"/>
          <a:ext cx="246063" cy="457200"/>
        </p:xfrm>
        <a:graphic>
          <a:graphicData uri="http://schemas.openxmlformats.org/presentationml/2006/ole">
            <mc:AlternateContent xmlns:mc="http://schemas.openxmlformats.org/markup-compatibility/2006">
              <mc:Choice xmlns:v="urn:schemas-microsoft-com:vml" Requires="v">
                <p:oleObj spid="_x0000_s3302" name="" r:id="rId26" imgW="88900" imgH="165100" progId="Equation.DSMT4">
                  <p:embed/>
                </p:oleObj>
              </mc:Choice>
              <mc:Fallback>
                <p:oleObj name="" r:id="rId26" imgW="88900" imgH="165100" progId="Equation.DSMT4">
                  <p:embed/>
                  <p:pic>
                    <p:nvPicPr>
                      <p:cNvPr id="0" name="图片 3301"/>
                      <p:cNvPicPr/>
                      <p:nvPr/>
                    </p:nvPicPr>
                    <p:blipFill>
                      <a:blip r:embed="rId21"/>
                      <a:stretch>
                        <a:fillRect/>
                      </a:stretch>
                    </p:blipFill>
                    <p:spPr>
                      <a:xfrm>
                        <a:off x="2667000" y="3886200"/>
                        <a:ext cx="246063" cy="457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3523"/>
                                        </p:tgtEl>
                                        <p:attrNameLst>
                                          <p:attrName>style.visibility</p:attrName>
                                        </p:attrNameLst>
                                      </p:cBhvr>
                                      <p:to>
                                        <p:strVal val="visible"/>
                                      </p:to>
                                    </p:set>
                                    <p:animEffect transition="in" filter="blinds(horizontal)">
                                      <p:cBhvr>
                                        <p:cTn id="7" dur="500"/>
                                        <p:tgtEl>
                                          <p:spTgt spid="363523"/>
                                        </p:tgtEl>
                                      </p:cBhvr>
                                    </p:animEffect>
                                  </p:childTnLst>
                                </p:cTn>
                              </p:par>
                              <p:par>
                                <p:cTn id="8" presetID="3" presetClass="entr" presetSubtype="10" fill="hold" nodeType="withEffect">
                                  <p:stCondLst>
                                    <p:cond delay="0"/>
                                  </p:stCondLst>
                                  <p:childTnLst>
                                    <p:set>
                                      <p:cBhvr>
                                        <p:cTn id="9" dur="1" fill="hold">
                                          <p:stCondLst>
                                            <p:cond delay="0"/>
                                          </p:stCondLst>
                                        </p:cTn>
                                        <p:tgtEl>
                                          <p:spTgt spid="363525"/>
                                        </p:tgtEl>
                                        <p:attrNameLst>
                                          <p:attrName>style.visibility</p:attrName>
                                        </p:attrNameLst>
                                      </p:cBhvr>
                                      <p:to>
                                        <p:strVal val="visible"/>
                                      </p:to>
                                    </p:set>
                                    <p:animEffect transition="in" filter="blinds(horizontal)">
                                      <p:cBhvr>
                                        <p:cTn id="10" dur="500"/>
                                        <p:tgtEl>
                                          <p:spTgt spid="363525"/>
                                        </p:tgtEl>
                                      </p:cBhvr>
                                    </p:animEffect>
                                  </p:childTnLst>
                                </p:cTn>
                              </p:par>
                              <p:par>
                                <p:cTn id="11" presetID="3" presetClass="entr" presetSubtype="10" fill="hold" nodeType="withEffect">
                                  <p:stCondLst>
                                    <p:cond delay="0"/>
                                  </p:stCondLst>
                                  <p:childTnLst>
                                    <p:set>
                                      <p:cBhvr>
                                        <p:cTn id="12" dur="1" fill="hold">
                                          <p:stCondLst>
                                            <p:cond delay="0"/>
                                          </p:stCondLst>
                                        </p:cTn>
                                        <p:tgtEl>
                                          <p:spTgt spid="363524"/>
                                        </p:tgtEl>
                                        <p:attrNameLst>
                                          <p:attrName>style.visibility</p:attrName>
                                        </p:attrNameLst>
                                      </p:cBhvr>
                                      <p:to>
                                        <p:strVal val="visible"/>
                                      </p:to>
                                    </p:set>
                                    <p:animEffect transition="in" filter="blinds(horizontal)">
                                      <p:cBhvr>
                                        <p:cTn id="13" dur="500"/>
                                        <p:tgtEl>
                                          <p:spTgt spid="363524"/>
                                        </p:tgtEl>
                                      </p:cBhvr>
                                    </p:animEffect>
                                  </p:childTnLst>
                                </p:cTn>
                              </p:par>
                              <p:par>
                                <p:cTn id="14" presetID="3" presetClass="entr" presetSubtype="10" fill="hold" nodeType="withEffect">
                                  <p:stCondLst>
                                    <p:cond delay="0"/>
                                  </p:stCondLst>
                                  <p:childTnLst>
                                    <p:set>
                                      <p:cBhvr>
                                        <p:cTn id="15" dur="1" fill="hold">
                                          <p:stCondLst>
                                            <p:cond delay="0"/>
                                          </p:stCondLst>
                                        </p:cTn>
                                        <p:tgtEl>
                                          <p:spTgt spid="363526"/>
                                        </p:tgtEl>
                                        <p:attrNameLst>
                                          <p:attrName>style.visibility</p:attrName>
                                        </p:attrNameLst>
                                      </p:cBhvr>
                                      <p:to>
                                        <p:strVal val="visible"/>
                                      </p:to>
                                    </p:set>
                                    <p:animEffect transition="in" filter="blinds(horizontal)">
                                      <p:cBhvr>
                                        <p:cTn id="16" dur="500"/>
                                        <p:tgtEl>
                                          <p:spTgt spid="363526"/>
                                        </p:tgtEl>
                                      </p:cBhvr>
                                    </p:animEffect>
                                  </p:childTnLst>
                                </p:cTn>
                              </p:par>
                              <p:par>
                                <p:cTn id="17" presetID="3" presetClass="entr" presetSubtype="10" fill="hold" nodeType="withEffect">
                                  <p:stCondLst>
                                    <p:cond delay="0"/>
                                  </p:stCondLst>
                                  <p:childTnLst>
                                    <p:set>
                                      <p:cBhvr>
                                        <p:cTn id="18" dur="1" fill="hold">
                                          <p:stCondLst>
                                            <p:cond delay="0"/>
                                          </p:stCondLst>
                                        </p:cTn>
                                        <p:tgtEl>
                                          <p:spTgt spid="363527"/>
                                        </p:tgtEl>
                                        <p:attrNameLst>
                                          <p:attrName>style.visibility</p:attrName>
                                        </p:attrNameLst>
                                      </p:cBhvr>
                                      <p:to>
                                        <p:strVal val="visible"/>
                                      </p:to>
                                    </p:set>
                                    <p:animEffect transition="in" filter="blinds(horizontal)">
                                      <p:cBhvr>
                                        <p:cTn id="19" dur="500"/>
                                        <p:tgtEl>
                                          <p:spTgt spid="363527"/>
                                        </p:tgtEl>
                                      </p:cBhvr>
                                    </p:animEffect>
                                  </p:childTnLst>
                                </p:cTn>
                              </p:par>
                              <p:par>
                                <p:cTn id="20" presetID="3" presetClass="entr" presetSubtype="10" fill="hold" nodeType="withEffect">
                                  <p:stCondLst>
                                    <p:cond delay="0"/>
                                  </p:stCondLst>
                                  <p:childTnLst>
                                    <p:set>
                                      <p:cBhvr>
                                        <p:cTn id="21" dur="1" fill="hold">
                                          <p:stCondLst>
                                            <p:cond delay="0"/>
                                          </p:stCondLst>
                                        </p:cTn>
                                        <p:tgtEl>
                                          <p:spTgt spid="363528"/>
                                        </p:tgtEl>
                                        <p:attrNameLst>
                                          <p:attrName>style.visibility</p:attrName>
                                        </p:attrNameLst>
                                      </p:cBhvr>
                                      <p:to>
                                        <p:strVal val="visible"/>
                                      </p:to>
                                    </p:set>
                                    <p:animEffect transition="in" filter="blinds(horizontal)">
                                      <p:cBhvr>
                                        <p:cTn id="22" dur="500"/>
                                        <p:tgtEl>
                                          <p:spTgt spid="363528"/>
                                        </p:tgtEl>
                                      </p:cBhvr>
                                    </p:animEffect>
                                  </p:childTnLst>
                                </p:cTn>
                              </p:par>
                              <p:par>
                                <p:cTn id="23" presetID="3" presetClass="entr" presetSubtype="10" fill="hold" nodeType="withEffect">
                                  <p:stCondLst>
                                    <p:cond delay="0"/>
                                  </p:stCondLst>
                                  <p:childTnLst>
                                    <p:set>
                                      <p:cBhvr>
                                        <p:cTn id="24" dur="1" fill="hold">
                                          <p:stCondLst>
                                            <p:cond delay="0"/>
                                          </p:stCondLst>
                                        </p:cTn>
                                        <p:tgtEl>
                                          <p:spTgt spid="363529"/>
                                        </p:tgtEl>
                                        <p:attrNameLst>
                                          <p:attrName>style.visibility</p:attrName>
                                        </p:attrNameLst>
                                      </p:cBhvr>
                                      <p:to>
                                        <p:strVal val="visible"/>
                                      </p:to>
                                    </p:set>
                                    <p:animEffect transition="in" filter="blinds(horizontal)">
                                      <p:cBhvr>
                                        <p:cTn id="25" dur="500"/>
                                        <p:tgtEl>
                                          <p:spTgt spid="363529"/>
                                        </p:tgtEl>
                                      </p:cBhvr>
                                    </p:animEffect>
                                  </p:childTnLst>
                                </p:cTn>
                              </p:par>
                              <p:par>
                                <p:cTn id="26" presetID="3" presetClass="entr" presetSubtype="10" fill="hold" nodeType="withEffect">
                                  <p:stCondLst>
                                    <p:cond delay="0"/>
                                  </p:stCondLst>
                                  <p:childTnLst>
                                    <p:set>
                                      <p:cBhvr>
                                        <p:cTn id="27" dur="1" fill="hold">
                                          <p:stCondLst>
                                            <p:cond delay="0"/>
                                          </p:stCondLst>
                                        </p:cTn>
                                        <p:tgtEl>
                                          <p:spTgt spid="363530"/>
                                        </p:tgtEl>
                                        <p:attrNameLst>
                                          <p:attrName>style.visibility</p:attrName>
                                        </p:attrNameLst>
                                      </p:cBhvr>
                                      <p:to>
                                        <p:strVal val="visible"/>
                                      </p:to>
                                    </p:set>
                                    <p:animEffect transition="in" filter="blinds(horizontal)">
                                      <p:cBhvr>
                                        <p:cTn id="28" dur="500"/>
                                        <p:tgtEl>
                                          <p:spTgt spid="363530"/>
                                        </p:tgtEl>
                                      </p:cBhvr>
                                    </p:animEffect>
                                  </p:childTnLst>
                                </p:cTn>
                              </p:par>
                              <p:par>
                                <p:cTn id="29" presetID="3" presetClass="entr" presetSubtype="10" fill="hold" nodeType="withEffect">
                                  <p:stCondLst>
                                    <p:cond delay="0"/>
                                  </p:stCondLst>
                                  <p:childTnLst>
                                    <p:set>
                                      <p:cBhvr>
                                        <p:cTn id="30" dur="1" fill="hold">
                                          <p:stCondLst>
                                            <p:cond delay="0"/>
                                          </p:stCondLst>
                                        </p:cTn>
                                        <p:tgtEl>
                                          <p:spTgt spid="363531"/>
                                        </p:tgtEl>
                                        <p:attrNameLst>
                                          <p:attrName>style.visibility</p:attrName>
                                        </p:attrNameLst>
                                      </p:cBhvr>
                                      <p:to>
                                        <p:strVal val="visible"/>
                                      </p:to>
                                    </p:set>
                                    <p:animEffect transition="in" filter="blinds(horizontal)">
                                      <p:cBhvr>
                                        <p:cTn id="31" dur="500"/>
                                        <p:tgtEl>
                                          <p:spTgt spid="363531"/>
                                        </p:tgtEl>
                                      </p:cBhvr>
                                    </p:animEffect>
                                  </p:childTnLst>
                                </p:cTn>
                              </p:par>
                              <p:par>
                                <p:cTn id="32" presetID="3" presetClass="entr" presetSubtype="10" fill="hold" nodeType="withEffect">
                                  <p:stCondLst>
                                    <p:cond delay="0"/>
                                  </p:stCondLst>
                                  <p:childTnLst>
                                    <p:set>
                                      <p:cBhvr>
                                        <p:cTn id="33" dur="1" fill="hold">
                                          <p:stCondLst>
                                            <p:cond delay="0"/>
                                          </p:stCondLst>
                                        </p:cTn>
                                        <p:tgtEl>
                                          <p:spTgt spid="363532"/>
                                        </p:tgtEl>
                                        <p:attrNameLst>
                                          <p:attrName>style.visibility</p:attrName>
                                        </p:attrNameLst>
                                      </p:cBhvr>
                                      <p:to>
                                        <p:strVal val="visible"/>
                                      </p:to>
                                    </p:set>
                                    <p:animEffect transition="in" filter="blinds(horizontal)">
                                      <p:cBhvr>
                                        <p:cTn id="34" dur="500"/>
                                        <p:tgtEl>
                                          <p:spTgt spid="363532"/>
                                        </p:tgtEl>
                                      </p:cBhvr>
                                    </p:animEffect>
                                  </p:childTnLst>
                                </p:cTn>
                              </p:par>
                              <p:par>
                                <p:cTn id="35" presetID="3" presetClass="entr" presetSubtype="10" fill="hold" nodeType="withEffect">
                                  <p:stCondLst>
                                    <p:cond delay="0"/>
                                  </p:stCondLst>
                                  <p:childTnLst>
                                    <p:set>
                                      <p:cBhvr>
                                        <p:cTn id="36" dur="1" fill="hold">
                                          <p:stCondLst>
                                            <p:cond delay="0"/>
                                          </p:stCondLst>
                                        </p:cTn>
                                        <p:tgtEl>
                                          <p:spTgt spid="363533"/>
                                        </p:tgtEl>
                                        <p:attrNameLst>
                                          <p:attrName>style.visibility</p:attrName>
                                        </p:attrNameLst>
                                      </p:cBhvr>
                                      <p:to>
                                        <p:strVal val="visible"/>
                                      </p:to>
                                    </p:set>
                                    <p:animEffect transition="in" filter="blinds(horizontal)">
                                      <p:cBhvr>
                                        <p:cTn id="37" dur="500"/>
                                        <p:tgtEl>
                                          <p:spTgt spid="363533"/>
                                        </p:tgtEl>
                                      </p:cBhvr>
                                    </p:animEffect>
                                  </p:childTnLst>
                                </p:cTn>
                              </p:par>
                              <p:par>
                                <p:cTn id="38" presetID="3" presetClass="entr" presetSubtype="10" fill="hold" nodeType="withEffect">
                                  <p:stCondLst>
                                    <p:cond delay="0"/>
                                  </p:stCondLst>
                                  <p:childTnLst>
                                    <p:set>
                                      <p:cBhvr>
                                        <p:cTn id="39" dur="1" fill="hold">
                                          <p:stCondLst>
                                            <p:cond delay="0"/>
                                          </p:stCondLst>
                                        </p:cTn>
                                        <p:tgtEl>
                                          <p:spTgt spid="363534"/>
                                        </p:tgtEl>
                                        <p:attrNameLst>
                                          <p:attrName>style.visibility</p:attrName>
                                        </p:attrNameLst>
                                      </p:cBhvr>
                                      <p:to>
                                        <p:strVal val="visible"/>
                                      </p:to>
                                    </p:set>
                                    <p:animEffect transition="in" filter="blinds(horizontal)">
                                      <p:cBhvr>
                                        <p:cTn id="40" dur="500"/>
                                        <p:tgtEl>
                                          <p:spTgt spid="363534"/>
                                        </p:tgtEl>
                                      </p:cBhvr>
                                    </p:animEffect>
                                  </p:childTnLst>
                                </p:cTn>
                              </p:par>
                              <p:par>
                                <p:cTn id="41" presetID="3" presetClass="entr" presetSubtype="10" fill="hold" nodeType="withEffect">
                                  <p:stCondLst>
                                    <p:cond delay="0"/>
                                  </p:stCondLst>
                                  <p:childTnLst>
                                    <p:set>
                                      <p:cBhvr>
                                        <p:cTn id="42" dur="1" fill="hold">
                                          <p:stCondLst>
                                            <p:cond delay="0"/>
                                          </p:stCondLst>
                                        </p:cTn>
                                        <p:tgtEl>
                                          <p:spTgt spid="363535"/>
                                        </p:tgtEl>
                                        <p:attrNameLst>
                                          <p:attrName>style.visibility</p:attrName>
                                        </p:attrNameLst>
                                      </p:cBhvr>
                                      <p:to>
                                        <p:strVal val="visible"/>
                                      </p:to>
                                    </p:set>
                                    <p:animEffect transition="in" filter="blinds(horizontal)">
                                      <p:cBhvr>
                                        <p:cTn id="43" dur="500"/>
                                        <p:tgtEl>
                                          <p:spTgt spid="363535"/>
                                        </p:tgtEl>
                                      </p:cBhvr>
                                    </p:animEffect>
                                  </p:childTnLst>
                                </p:cTn>
                              </p:par>
                              <p:par>
                                <p:cTn id="44" presetID="3" presetClass="entr" presetSubtype="10" fill="hold" nodeType="withEffect">
                                  <p:stCondLst>
                                    <p:cond delay="0"/>
                                  </p:stCondLst>
                                  <p:childTnLst>
                                    <p:set>
                                      <p:cBhvr>
                                        <p:cTn id="45" dur="1" fill="hold">
                                          <p:stCondLst>
                                            <p:cond delay="0"/>
                                          </p:stCondLst>
                                        </p:cTn>
                                        <p:tgtEl>
                                          <p:spTgt spid="363536"/>
                                        </p:tgtEl>
                                        <p:attrNameLst>
                                          <p:attrName>style.visibility</p:attrName>
                                        </p:attrNameLst>
                                      </p:cBhvr>
                                      <p:to>
                                        <p:strVal val="visible"/>
                                      </p:to>
                                    </p:set>
                                    <p:animEffect transition="in" filter="blinds(horizontal)">
                                      <p:cBhvr>
                                        <p:cTn id="46" dur="500"/>
                                        <p:tgtEl>
                                          <p:spTgt spid="363536"/>
                                        </p:tgtEl>
                                      </p:cBhvr>
                                    </p:animEffect>
                                  </p:childTnLst>
                                </p:cTn>
                              </p:par>
                              <p:par>
                                <p:cTn id="47" presetID="3" presetClass="entr" presetSubtype="10" fill="hold" nodeType="withEffect">
                                  <p:stCondLst>
                                    <p:cond delay="0"/>
                                  </p:stCondLst>
                                  <p:childTnLst>
                                    <p:set>
                                      <p:cBhvr>
                                        <p:cTn id="48" dur="1" fill="hold">
                                          <p:stCondLst>
                                            <p:cond delay="0"/>
                                          </p:stCondLst>
                                        </p:cTn>
                                        <p:tgtEl>
                                          <p:spTgt spid="363537"/>
                                        </p:tgtEl>
                                        <p:attrNameLst>
                                          <p:attrName>style.visibility</p:attrName>
                                        </p:attrNameLst>
                                      </p:cBhvr>
                                      <p:to>
                                        <p:strVal val="visible"/>
                                      </p:to>
                                    </p:set>
                                    <p:animEffect transition="in" filter="blinds(horizontal)">
                                      <p:cBhvr>
                                        <p:cTn id="49" dur="500"/>
                                        <p:tgtEl>
                                          <p:spTgt spid="363537"/>
                                        </p:tgtEl>
                                      </p:cBhvr>
                                    </p:animEffect>
                                  </p:childTnLst>
                                </p:cTn>
                              </p:par>
                              <p:par>
                                <p:cTn id="50" presetID="3" presetClass="entr" presetSubtype="10" fill="hold" nodeType="withEffect">
                                  <p:stCondLst>
                                    <p:cond delay="0"/>
                                  </p:stCondLst>
                                  <p:childTnLst>
                                    <p:set>
                                      <p:cBhvr>
                                        <p:cTn id="51" dur="1" fill="hold">
                                          <p:stCondLst>
                                            <p:cond delay="0"/>
                                          </p:stCondLst>
                                        </p:cTn>
                                        <p:tgtEl>
                                          <p:spTgt spid="363538"/>
                                        </p:tgtEl>
                                        <p:attrNameLst>
                                          <p:attrName>style.visibility</p:attrName>
                                        </p:attrNameLst>
                                      </p:cBhvr>
                                      <p:to>
                                        <p:strVal val="visible"/>
                                      </p:to>
                                    </p:set>
                                    <p:animEffect transition="in" filter="blinds(horizontal)">
                                      <p:cBhvr>
                                        <p:cTn id="52" dur="500"/>
                                        <p:tgtEl>
                                          <p:spTgt spid="363538"/>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363522">
                                            <p:txEl>
                                              <p:charRg st="0" end="25"/>
                                            </p:txEl>
                                          </p:spTgt>
                                        </p:tgtEl>
                                        <p:attrNameLst>
                                          <p:attrName>style.visibility</p:attrName>
                                        </p:attrNameLst>
                                      </p:cBhvr>
                                      <p:to>
                                        <p:strVal val="visible"/>
                                      </p:to>
                                    </p:set>
                                    <p:animEffect transition="in" filter="blinds(horizontal)">
                                      <p:cBhvr>
                                        <p:cTn id="55" dur="500"/>
                                        <p:tgtEl>
                                          <p:spTgt spid="363522">
                                            <p:txEl>
                                              <p:charRg st="0" end="25"/>
                                            </p:txEl>
                                          </p:spTgt>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363522">
                                            <p:txEl>
                                              <p:charRg st="25" end="52"/>
                                            </p:txEl>
                                          </p:spTgt>
                                        </p:tgtEl>
                                        <p:attrNameLst>
                                          <p:attrName>style.visibility</p:attrName>
                                        </p:attrNameLst>
                                      </p:cBhvr>
                                      <p:to>
                                        <p:strVal val="visible"/>
                                      </p:to>
                                    </p:set>
                                    <p:animEffect transition="in" filter="blinds(horizontal)">
                                      <p:cBhvr>
                                        <p:cTn id="58" dur="500"/>
                                        <p:tgtEl>
                                          <p:spTgt spid="363522">
                                            <p:txEl>
                                              <p:charRg st="25" end="52"/>
                                            </p:txEl>
                                          </p:spTgt>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363522">
                                            <p:txEl>
                                              <p:charRg st="52" end="76"/>
                                            </p:txEl>
                                          </p:spTgt>
                                        </p:tgtEl>
                                        <p:attrNameLst>
                                          <p:attrName>style.visibility</p:attrName>
                                        </p:attrNameLst>
                                      </p:cBhvr>
                                      <p:to>
                                        <p:strVal val="visible"/>
                                      </p:to>
                                    </p:set>
                                    <p:animEffect transition="in" filter="blinds(horizontal)">
                                      <p:cBhvr>
                                        <p:cTn id="61" dur="500"/>
                                        <p:tgtEl>
                                          <p:spTgt spid="363522">
                                            <p:txEl>
                                              <p:charRg st="52" end="76"/>
                                            </p:txEl>
                                          </p:spTgt>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363522">
                                            <p:txEl>
                                              <p:charRg st="76" end="100"/>
                                            </p:txEl>
                                          </p:spTgt>
                                        </p:tgtEl>
                                        <p:attrNameLst>
                                          <p:attrName>style.visibility</p:attrName>
                                        </p:attrNameLst>
                                      </p:cBhvr>
                                      <p:to>
                                        <p:strVal val="visible"/>
                                      </p:to>
                                    </p:set>
                                    <p:animEffect transition="in" filter="blinds(horizontal)">
                                      <p:cBhvr>
                                        <p:cTn id="64" dur="500"/>
                                        <p:tgtEl>
                                          <p:spTgt spid="363522">
                                            <p:txEl>
                                              <p:charRg st="76" end="100"/>
                                            </p:txEl>
                                          </p:spTgt>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363522">
                                            <p:txEl>
                                              <p:charRg st="100" end="122"/>
                                            </p:txEl>
                                          </p:spTgt>
                                        </p:tgtEl>
                                        <p:attrNameLst>
                                          <p:attrName>style.visibility</p:attrName>
                                        </p:attrNameLst>
                                      </p:cBhvr>
                                      <p:to>
                                        <p:strVal val="visible"/>
                                      </p:to>
                                    </p:set>
                                    <p:animEffect transition="in" filter="blinds(horizontal)">
                                      <p:cBhvr>
                                        <p:cTn id="67" dur="500"/>
                                        <p:tgtEl>
                                          <p:spTgt spid="363522">
                                            <p:txEl>
                                              <p:charRg st="100" end="122"/>
                                            </p:txEl>
                                          </p:spTgt>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363522">
                                            <p:txEl>
                                              <p:charRg st="122" end="148"/>
                                            </p:txEl>
                                          </p:spTgt>
                                        </p:tgtEl>
                                        <p:attrNameLst>
                                          <p:attrName>style.visibility</p:attrName>
                                        </p:attrNameLst>
                                      </p:cBhvr>
                                      <p:to>
                                        <p:strVal val="visible"/>
                                      </p:to>
                                    </p:set>
                                    <p:animEffect transition="in" filter="blinds(horizontal)">
                                      <p:cBhvr>
                                        <p:cTn id="70" dur="500"/>
                                        <p:tgtEl>
                                          <p:spTgt spid="363522">
                                            <p:txEl>
                                              <p:charRg st="122" end="148"/>
                                            </p:txEl>
                                          </p:spTgt>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363522">
                                            <p:txEl>
                                              <p:charRg st="148" end="193"/>
                                            </p:txEl>
                                          </p:spTgt>
                                        </p:tgtEl>
                                        <p:attrNameLst>
                                          <p:attrName>style.visibility</p:attrName>
                                        </p:attrNameLst>
                                      </p:cBhvr>
                                      <p:to>
                                        <p:strVal val="visible"/>
                                      </p:to>
                                    </p:set>
                                    <p:animEffect transition="in" filter="blinds(horizontal)">
                                      <p:cBhvr>
                                        <p:cTn id="73" dur="500"/>
                                        <p:tgtEl>
                                          <p:spTgt spid="363522">
                                            <p:txEl>
                                              <p:charRg st="148" end="19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2"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4546" name="Rectangle 2"/>
          <p:cNvSpPr>
            <a:spLocks noGrp="1"/>
          </p:cNvSpPr>
          <p:nvPr>
            <p:ph idx="1"/>
          </p:nvPr>
        </p:nvSpPr>
        <p:spPr>
          <a:xfrm>
            <a:off x="457200" y="1066800"/>
            <a:ext cx="8229600" cy="5105400"/>
          </a:xfrm>
          <a:ln/>
        </p:spPr>
        <p:txBody>
          <a:bodyPr vert="horz" wrap="square" lIns="91440" tIns="45720" rIns="91440" bIns="45720" anchor="t"/>
          <a:p>
            <a:pPr eaLnBrk="1" hangingPunct="1">
              <a:lnSpc>
                <a:spcPct val="120000"/>
              </a:lnSpc>
              <a:buNone/>
            </a:pPr>
            <a:r>
              <a:rPr lang="en-US" altLang="zh-CN" sz="2000" b="1">
                <a:solidFill>
                  <a:srgbClr val="692AA2"/>
                </a:solidFill>
                <a:latin typeface="宋体" panose="02010600030101010101" pitchFamily="2" charset="-122"/>
                <a:ea typeface="宋体" panose="02010600030101010101" pitchFamily="2" charset="-122"/>
              </a:rPr>
              <a:t>       </a:t>
            </a:r>
            <a:r>
              <a:rPr lang="zh-CN" altLang="zh-CN" sz="2000" b="1">
                <a:solidFill>
                  <a:srgbClr val="692AA2"/>
                </a:solidFill>
                <a:latin typeface="仿宋_GB2312" pitchFamily="49" charset="-122"/>
                <a:ea typeface="仿宋_GB2312" pitchFamily="49" charset="-122"/>
              </a:rPr>
              <a:t>强势产品的定义：产品的强势与否，由其市场地位决定。调查问卷反映产品市场地位的因素是学生的满意度和市场占有率。因此定义强势产品为学生的满意度和市场占有率均高的课程，并定义满意度和市场占有率的加权值为产品强势程度的量化值。</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A出版社目前对资源（书号）分配步骤为：</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总社－分社－课程</a:t>
            </a:r>
            <a:r>
              <a:rPr lang="zh-CN" altLang="zh-CN" sz="2000" b="1">
                <a:solidFill>
                  <a:srgbClr val="692AA2"/>
                </a:solidFill>
                <a:latin typeface="宋体" panose="02010600030101010101" pitchFamily="2" charset="-122"/>
                <a:ea typeface="仿宋_GB2312" pitchFamily="49" charset="-122"/>
              </a:rPr>
              <a:t>”</a:t>
            </a:r>
            <a:r>
              <a:rPr lang="zh-CN" altLang="zh-CN" sz="2000" b="1">
                <a:solidFill>
                  <a:srgbClr val="692AA2"/>
                </a:solidFill>
                <a:latin typeface="仿宋_GB2312" pitchFamily="49" charset="-122"/>
                <a:ea typeface="仿宋_GB2312" pitchFamily="49" charset="-122"/>
              </a:rPr>
              <a:t>的二次分配，如下图5.1所示：</a:t>
            </a:r>
            <a:endParaRPr lang="zh-CN" altLang="zh-CN" sz="2000" b="1">
              <a:solidFill>
                <a:srgbClr val="692AA2"/>
              </a:solidFill>
              <a:latin typeface="仿宋_GB2312" pitchFamily="49" charset="-122"/>
              <a:ea typeface="仿宋_GB2312" pitchFamily="49" charset="-122"/>
            </a:endParaRPr>
          </a:p>
        </p:txBody>
      </p:sp>
      <p:sp>
        <p:nvSpPr>
          <p:cNvPr id="129026" name="Rectangle 3"/>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27" name="Rectangle 4"/>
          <p:cNvSpPr/>
          <p:nvPr/>
        </p:nvSpPr>
        <p:spPr>
          <a:xfrm>
            <a:off x="0" y="33670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28" name="Rectangle 5"/>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29" name="Rectangle 6"/>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30" name="Rectangle 7"/>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31" name="Rectangle 8"/>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32" name="Rectangle 9"/>
          <p:cNvSpPr/>
          <p:nvPr/>
        </p:nvSpPr>
        <p:spPr>
          <a:xfrm>
            <a:off x="0" y="33480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33" name="Rectangle 10"/>
          <p:cNvSpPr/>
          <p:nvPr/>
        </p:nvSpPr>
        <p:spPr>
          <a:xfrm>
            <a:off x="0" y="33480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34" name="Rectangle 11"/>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35" name="Rectangle 12"/>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36" name="Rectangle 13"/>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29037" name="Rectangle 14"/>
          <p:cNvSpPr/>
          <p:nvPr/>
        </p:nvSpPr>
        <p:spPr>
          <a:xfrm>
            <a:off x="609600" y="457200"/>
            <a:ext cx="4800600" cy="487363"/>
          </a:xfrm>
          <a:prstGeom prst="rect">
            <a:avLst/>
          </a:prstGeom>
          <a:noFill/>
          <a:ln w="9525">
            <a:noFill/>
          </a:ln>
        </p:spPr>
        <p:txBody>
          <a:bodyPr lIns="0" tIns="0" rIns="0" bIns="0" anchor="t">
            <a:spAutoFit/>
          </a:bodyPr>
          <a:p>
            <a:pPr marL="342900" indent="-342900">
              <a:spcBef>
                <a:spcPct val="20000"/>
              </a:spcBef>
              <a:buClr>
                <a:schemeClr val="hlink"/>
              </a:buClr>
              <a:buFont typeface="Wingdings" panose="05000000000000000000" pitchFamily="2" charset="2"/>
              <a:buNone/>
            </a:pPr>
            <a:r>
              <a:rPr lang="zh-CN" altLang="zh-CN" sz="3200" b="1">
                <a:solidFill>
                  <a:srgbClr val="333399"/>
                </a:solidFill>
                <a:latin typeface="宋体" panose="02010600030101010101" pitchFamily="2" charset="-122"/>
                <a:ea typeface="宋体" panose="02010600030101010101" pitchFamily="2" charset="-122"/>
              </a:rPr>
              <a:t>6　模型的建立与求解</a:t>
            </a:r>
            <a:endParaRPr lang="zh-CN" altLang="en-US" sz="3200" b="1">
              <a:solidFill>
                <a:srgbClr val="333399"/>
              </a:solidFill>
              <a:latin typeface="宋体" panose="02010600030101010101" pitchFamily="2" charset="-122"/>
              <a:ea typeface="宋体" panose="02010600030101010101" pitchFamily="2" charset="-122"/>
            </a:endParaRPr>
          </a:p>
        </p:txBody>
      </p:sp>
      <p:grpSp>
        <p:nvGrpSpPr>
          <p:cNvPr id="2" name="Group 15"/>
          <p:cNvGrpSpPr/>
          <p:nvPr/>
        </p:nvGrpSpPr>
        <p:grpSpPr>
          <a:xfrm>
            <a:off x="2057400" y="3200400"/>
            <a:ext cx="5029200" cy="3170238"/>
            <a:chOff x="0" y="0"/>
            <a:chExt cx="7920" cy="4992"/>
          </a:xfrm>
        </p:grpSpPr>
        <p:sp>
          <p:nvSpPr>
            <p:cNvPr id="129039" name="AutoShape 16"/>
            <p:cNvSpPr>
              <a:spLocks noChangeAspect="1"/>
            </p:cNvSpPr>
            <p:nvPr/>
          </p:nvSpPr>
          <p:spPr>
            <a:xfrm>
              <a:off x="0" y="0"/>
              <a:ext cx="7920" cy="4992"/>
            </a:xfrm>
            <a:prstGeom prst="rect">
              <a:avLst/>
            </a:prstGeom>
            <a:no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129040" name="Rectangle 17"/>
            <p:cNvSpPr/>
            <p:nvPr/>
          </p:nvSpPr>
          <p:spPr>
            <a:xfrm>
              <a:off x="3240" y="2028"/>
              <a:ext cx="1980" cy="546"/>
            </a:xfrm>
            <a:prstGeom prst="rect">
              <a:avLst/>
            </a:prstGeom>
            <a:solidFill>
              <a:srgbClr val="FFFFFF"/>
            </a:solidFill>
            <a:ln w="9525">
              <a:noFill/>
            </a:ln>
          </p:spPr>
          <p:txBody>
            <a:bodyPr anchor="t"/>
            <a:p>
              <a:pPr algn="just"/>
              <a:r>
                <a:rPr lang="en-US" altLang="zh-CN" sz="1000">
                  <a:latin typeface="Times New Roman" panose="02020603050405020304" pitchFamily="18"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sp>
          <p:nvSpPr>
            <p:cNvPr id="129041" name="AutoShape 18"/>
            <p:cNvSpPr/>
            <p:nvPr/>
          </p:nvSpPr>
          <p:spPr>
            <a:xfrm rot="-2700000">
              <a:off x="2700" y="1248"/>
              <a:ext cx="845" cy="312"/>
            </a:xfrm>
            <a:prstGeom prst="leftArrow">
              <a:avLst>
                <a:gd name="adj1" fmla="val 50000"/>
                <a:gd name="adj2" fmla="val 67695"/>
              </a:avLst>
            </a:prstGeom>
            <a:solidFill>
              <a:srgbClr val="808080"/>
            </a:solidFill>
            <a:ln w="9525" cap="flat" cmpd="sng">
              <a:solidFill>
                <a:srgbClr val="000000"/>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29042" name="Oval 19"/>
            <p:cNvSpPr/>
            <p:nvPr/>
          </p:nvSpPr>
          <p:spPr>
            <a:xfrm>
              <a:off x="1440" y="1560"/>
              <a:ext cx="1440" cy="936"/>
            </a:xfrm>
            <a:prstGeom prst="ellipse">
              <a:avLst/>
            </a:prstGeom>
            <a:solidFill>
              <a:srgbClr val="FFFFFF"/>
            </a:solidFill>
            <a:ln w="9525" cap="flat" cmpd="sng">
              <a:solidFill>
                <a:srgbClr val="000000"/>
              </a:solidFill>
              <a:prstDash val="solid"/>
              <a:round/>
              <a:headEnd type="none" w="med" len="med"/>
              <a:tailEnd type="none" w="med" len="med"/>
            </a:ln>
          </p:spPr>
          <p:txBody>
            <a:bodyPr lIns="0" tIns="0" rIns="0" bIns="0" anchor="t"/>
            <a:p>
              <a:pPr algn="just"/>
              <a:r>
                <a:rPr lang="zh-CN" altLang="zh-CN" sz="1200" b="1">
                  <a:latin typeface="Times New Roman" panose="02020603050405020304" pitchFamily="18" charset="0"/>
                  <a:ea typeface="宋体" panose="02010600030101010101" pitchFamily="2" charset="-122"/>
                </a:rPr>
                <a:t>分社</a:t>
              </a:r>
              <a:r>
                <a:rPr lang="en-US" altLang="zh-CN" sz="1200" b="1">
                  <a:latin typeface="Times New Roman" panose="02020603050405020304" pitchFamily="18" charset="0"/>
                  <a:ea typeface="宋体" panose="02010600030101010101" pitchFamily="2" charset="-122"/>
                </a:rPr>
                <a:t>1</a:t>
              </a:r>
              <a:endParaRPr lang="en-US" altLang="zh-CN" sz="1200" b="1">
                <a:latin typeface="Times New Roman" panose="02020603050405020304" pitchFamily="18" charset="0"/>
                <a:ea typeface="宋体" panose="02010600030101010101" pitchFamily="2" charset="-122"/>
              </a:endParaRPr>
            </a:p>
            <a:p>
              <a:pPr algn="ctr"/>
              <a:r>
                <a:rPr lang="zh-CN" altLang="zh-CN" sz="1000">
                  <a:latin typeface="宋体" panose="02010600030101010101" pitchFamily="2" charset="-122"/>
                  <a:ea typeface="宋体" panose="02010600030101010101" pitchFamily="2" charset="-122"/>
                </a:rPr>
                <a:t>计算机类</a:t>
              </a:r>
              <a:endParaRPr lang="zh-CN" altLang="zh-CN" sz="2000">
                <a:latin typeface="Arial" panose="020B0604020202020204" pitchFamily="34" charset="0"/>
                <a:ea typeface="宋体" panose="02010600030101010101" pitchFamily="2" charset="-122"/>
              </a:endParaRPr>
            </a:p>
          </p:txBody>
        </p:sp>
        <p:sp>
          <p:nvSpPr>
            <p:cNvPr id="129043" name="Oval 20"/>
            <p:cNvSpPr/>
            <p:nvPr/>
          </p:nvSpPr>
          <p:spPr>
            <a:xfrm>
              <a:off x="180" y="3120"/>
              <a:ext cx="1800" cy="1092"/>
            </a:xfrm>
            <a:prstGeom prst="ellipse">
              <a:avLst/>
            </a:prstGeom>
            <a:solidFill>
              <a:srgbClr val="FFFFFF"/>
            </a:solidFill>
            <a:ln w="9525" cap="flat" cmpd="sng">
              <a:solidFill>
                <a:srgbClr val="000000"/>
              </a:solidFill>
              <a:prstDash val="solid"/>
              <a:round/>
              <a:headEnd type="none" w="med" len="med"/>
              <a:tailEnd type="none" w="med" len="med"/>
            </a:ln>
          </p:spPr>
          <p:txBody>
            <a:bodyPr lIns="0" tIns="0" rIns="0" bIns="0" anchor="t"/>
            <a:p>
              <a:pPr algn="ctr"/>
              <a:r>
                <a:rPr lang="zh-CN" altLang="zh-CN" sz="1200" b="1">
                  <a:latin typeface="Times New Roman" panose="02020603050405020304" pitchFamily="18" charset="0"/>
                  <a:ea typeface="宋体" panose="02010600030101010101" pitchFamily="2" charset="-122"/>
                </a:rPr>
                <a:t>课程</a:t>
              </a:r>
              <a:r>
                <a:rPr lang="en-US" altLang="zh-CN" sz="1200" b="1">
                  <a:latin typeface="Times New Roman" panose="02020603050405020304" pitchFamily="18" charset="0"/>
                  <a:ea typeface="宋体" panose="02010600030101010101" pitchFamily="2" charset="-122"/>
                </a:rPr>
                <a:t>1</a:t>
              </a:r>
              <a:endParaRPr lang="en-US" altLang="zh-CN" sz="1200" b="1">
                <a:latin typeface="Times New Roman" panose="02020603050405020304" pitchFamily="18" charset="0"/>
                <a:ea typeface="宋体" panose="02010600030101010101" pitchFamily="2" charset="-122"/>
              </a:endParaRPr>
            </a:p>
            <a:p>
              <a:pPr algn="ctr"/>
              <a:r>
                <a:rPr lang="en-US" altLang="zh-CN" sz="1000">
                  <a:latin typeface="Times New Roman" panose="02020603050405020304" pitchFamily="18" charset="0"/>
                  <a:ea typeface="宋体" panose="02010600030101010101" pitchFamily="2" charset="-122"/>
                </a:rPr>
                <a:t>C++</a:t>
              </a:r>
              <a:r>
                <a:rPr lang="zh-CN" altLang="zh-CN" sz="1000">
                  <a:latin typeface="Times New Roman" panose="02020603050405020304" pitchFamily="18" charset="0"/>
                  <a:ea typeface="宋体" panose="02010600030101010101" pitchFamily="2" charset="-122"/>
                </a:rPr>
                <a:t>程序设计</a:t>
              </a:r>
              <a:endParaRPr lang="zh-CN" altLang="zh-CN" sz="2000">
                <a:latin typeface="Arial" panose="020B0604020202020204" pitchFamily="34" charset="0"/>
                <a:ea typeface="宋体" panose="02010600030101010101" pitchFamily="2" charset="-122"/>
              </a:endParaRPr>
            </a:p>
          </p:txBody>
        </p:sp>
        <p:sp>
          <p:nvSpPr>
            <p:cNvPr id="129044" name="AutoShape 21"/>
            <p:cNvSpPr/>
            <p:nvPr/>
          </p:nvSpPr>
          <p:spPr>
            <a:xfrm rot="-3519794">
              <a:off x="991" y="2605"/>
              <a:ext cx="845" cy="312"/>
            </a:xfrm>
            <a:prstGeom prst="leftArrow">
              <a:avLst>
                <a:gd name="adj1" fmla="val 50000"/>
                <a:gd name="adj2" fmla="val 67695"/>
              </a:avLst>
            </a:prstGeom>
            <a:solidFill>
              <a:srgbClr val="808080"/>
            </a:solidFill>
            <a:ln w="9525" cap="flat" cmpd="sng">
              <a:solidFill>
                <a:srgbClr val="000000"/>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29045" name="AutoShape 22"/>
            <p:cNvSpPr/>
            <p:nvPr/>
          </p:nvSpPr>
          <p:spPr>
            <a:xfrm rot="-8100000">
              <a:off x="4591" y="1201"/>
              <a:ext cx="845" cy="312"/>
            </a:xfrm>
            <a:prstGeom prst="leftArrow">
              <a:avLst>
                <a:gd name="adj1" fmla="val 50000"/>
                <a:gd name="adj2" fmla="val 67695"/>
              </a:avLst>
            </a:prstGeom>
            <a:solidFill>
              <a:srgbClr val="808080"/>
            </a:solidFill>
            <a:ln w="9525" cap="flat" cmpd="sng">
              <a:solidFill>
                <a:srgbClr val="000000"/>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29046" name="Oval 23"/>
            <p:cNvSpPr/>
            <p:nvPr/>
          </p:nvSpPr>
          <p:spPr>
            <a:xfrm>
              <a:off x="3240" y="312"/>
              <a:ext cx="1620" cy="937"/>
            </a:xfrm>
            <a:prstGeom prst="ellipse">
              <a:avLst/>
            </a:prstGeom>
            <a:solidFill>
              <a:srgbClr val="FFFFFF"/>
            </a:solidFill>
            <a:ln w="9525" cap="flat" cmpd="sng">
              <a:solidFill>
                <a:srgbClr val="000000"/>
              </a:solidFill>
              <a:prstDash val="solid"/>
              <a:round/>
              <a:headEnd type="none" w="med" len="med"/>
              <a:tailEnd type="none" w="med" len="med"/>
            </a:ln>
          </p:spPr>
          <p:txBody>
            <a:bodyPr lIns="0" tIns="108000" rIns="0" bIns="0" anchor="t"/>
            <a:p>
              <a:pPr algn="ctr"/>
              <a:r>
                <a:rPr lang="zh-CN" altLang="zh-CN" sz="1200" b="1">
                  <a:latin typeface="Times New Roman" panose="02020603050405020304" pitchFamily="18" charset="0"/>
                  <a:ea typeface="宋体" panose="02010600030101010101" pitchFamily="2" charset="-122"/>
                </a:rPr>
                <a:t>总社</a:t>
              </a:r>
              <a:endParaRPr lang="zh-CN" altLang="zh-CN" sz="2000">
                <a:latin typeface="Arial" panose="020B0604020202020204" pitchFamily="34" charset="0"/>
                <a:ea typeface="宋体" panose="02010600030101010101" pitchFamily="2" charset="-122"/>
              </a:endParaRPr>
            </a:p>
          </p:txBody>
        </p:sp>
        <p:sp>
          <p:nvSpPr>
            <p:cNvPr id="129047" name="Oval 24"/>
            <p:cNvSpPr/>
            <p:nvPr/>
          </p:nvSpPr>
          <p:spPr>
            <a:xfrm>
              <a:off x="5040" y="1560"/>
              <a:ext cx="1440" cy="936"/>
            </a:xfrm>
            <a:prstGeom prst="ellipse">
              <a:avLst/>
            </a:prstGeom>
            <a:solidFill>
              <a:srgbClr val="FFFFFF"/>
            </a:solidFill>
            <a:ln w="9525" cap="flat" cmpd="sng">
              <a:solidFill>
                <a:srgbClr val="000000"/>
              </a:solidFill>
              <a:prstDash val="solid"/>
              <a:round/>
              <a:headEnd type="none" w="med" len="med"/>
              <a:tailEnd type="none" w="med" len="med"/>
            </a:ln>
          </p:spPr>
          <p:txBody>
            <a:bodyPr lIns="0" tIns="0" rIns="0" bIns="0" anchor="t"/>
            <a:p>
              <a:pPr algn="just"/>
              <a:r>
                <a:rPr lang="zh-CN" altLang="zh-CN" sz="1200" b="1">
                  <a:latin typeface="Times New Roman" panose="02020603050405020304" pitchFamily="18" charset="0"/>
                  <a:ea typeface="宋体" panose="02010600030101010101" pitchFamily="2" charset="-122"/>
                </a:rPr>
                <a:t>分社</a:t>
              </a:r>
              <a:r>
                <a:rPr lang="en-US" altLang="zh-CN" sz="1200" b="1">
                  <a:latin typeface="Times New Roman" panose="02020603050405020304" pitchFamily="18" charset="0"/>
                  <a:ea typeface="宋体" panose="02010600030101010101" pitchFamily="2" charset="-122"/>
                </a:rPr>
                <a:t>9</a:t>
              </a:r>
              <a:endParaRPr lang="en-US" altLang="zh-CN" sz="1200" b="1">
                <a:latin typeface="Times New Roman" panose="02020603050405020304" pitchFamily="18" charset="0"/>
                <a:ea typeface="宋体" panose="02010600030101010101" pitchFamily="2" charset="-122"/>
              </a:endParaRPr>
            </a:p>
            <a:p>
              <a:pPr algn="ctr"/>
              <a:r>
                <a:rPr lang="zh-CN" altLang="zh-CN" sz="1000">
                  <a:latin typeface="宋体" panose="02010600030101010101" pitchFamily="2" charset="-122"/>
                  <a:ea typeface="宋体" panose="02010600030101010101" pitchFamily="2" charset="-122"/>
                </a:rPr>
                <a:t>环境类</a:t>
              </a:r>
              <a:endParaRPr lang="zh-CN" altLang="zh-CN" sz="2000">
                <a:latin typeface="Arial" panose="020B0604020202020204" pitchFamily="34" charset="0"/>
                <a:ea typeface="宋体" panose="02010600030101010101" pitchFamily="2" charset="-122"/>
              </a:endParaRPr>
            </a:p>
          </p:txBody>
        </p:sp>
        <p:sp>
          <p:nvSpPr>
            <p:cNvPr id="129048" name="Oval 25"/>
            <p:cNvSpPr/>
            <p:nvPr/>
          </p:nvSpPr>
          <p:spPr>
            <a:xfrm>
              <a:off x="1980" y="3276"/>
              <a:ext cx="1620" cy="936"/>
            </a:xfrm>
            <a:prstGeom prst="ellipse">
              <a:avLst/>
            </a:prstGeom>
            <a:solidFill>
              <a:srgbClr val="FFFFFF"/>
            </a:solidFill>
            <a:ln w="9525">
              <a:noFill/>
            </a:ln>
          </p:spPr>
          <p:txBody>
            <a:bodyPr lIns="0" tIns="0" rIns="0" bIns="0" anchor="t"/>
            <a:p>
              <a:pPr algn="just"/>
              <a:r>
                <a:rPr lang="en-US" altLang="zh-CN" sz="1000">
                  <a:latin typeface="Times New Roman" panose="02020603050405020304" pitchFamily="18"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sp>
          <p:nvSpPr>
            <p:cNvPr id="129049" name="Oval 26"/>
            <p:cNvSpPr/>
            <p:nvPr/>
          </p:nvSpPr>
          <p:spPr>
            <a:xfrm>
              <a:off x="6120" y="3120"/>
              <a:ext cx="1620" cy="1092"/>
            </a:xfrm>
            <a:prstGeom prst="ellipse">
              <a:avLst/>
            </a:prstGeom>
            <a:solidFill>
              <a:srgbClr val="FFFFFF"/>
            </a:solidFill>
            <a:ln w="9525" cap="flat" cmpd="sng">
              <a:solidFill>
                <a:srgbClr val="000000"/>
              </a:solidFill>
              <a:prstDash val="solid"/>
              <a:round/>
              <a:headEnd type="none" w="med" len="med"/>
              <a:tailEnd type="none" w="med" len="med"/>
            </a:ln>
          </p:spPr>
          <p:txBody>
            <a:bodyPr lIns="0" tIns="0" rIns="0" bIns="0" anchor="t"/>
            <a:p>
              <a:pPr algn="ctr"/>
              <a:r>
                <a:rPr lang="zh-CN" altLang="zh-CN" sz="1200" b="1">
                  <a:latin typeface="Times New Roman" panose="02020603050405020304" pitchFamily="18" charset="0"/>
                  <a:ea typeface="宋体" panose="02010600030101010101" pitchFamily="2" charset="-122"/>
                </a:rPr>
                <a:t>课程</a:t>
              </a:r>
              <a:r>
                <a:rPr lang="en-US" altLang="zh-CN" sz="1200" b="1">
                  <a:latin typeface="Times New Roman" panose="02020603050405020304" pitchFamily="18" charset="0"/>
                  <a:ea typeface="宋体" panose="02010600030101010101" pitchFamily="2" charset="-122"/>
                </a:rPr>
                <a:t>72</a:t>
              </a:r>
              <a:endParaRPr lang="en-US" altLang="zh-CN" sz="1200" b="1">
                <a:latin typeface="Times New Roman" panose="02020603050405020304" pitchFamily="18" charset="0"/>
                <a:ea typeface="宋体" panose="02010600030101010101" pitchFamily="2" charset="-122"/>
              </a:endParaRPr>
            </a:p>
            <a:p>
              <a:pPr algn="ctr"/>
              <a:r>
                <a:rPr lang="zh-CN" altLang="zh-CN" sz="1000">
                  <a:latin typeface="Times New Roman" panose="02020603050405020304" pitchFamily="18" charset="0"/>
                  <a:ea typeface="宋体" panose="02010600030101010101" pitchFamily="2" charset="-122"/>
                </a:rPr>
                <a:t>环境管理</a:t>
              </a:r>
              <a:endParaRPr lang="zh-CN" altLang="zh-CN" sz="2000">
                <a:latin typeface="Arial" panose="020B0604020202020204" pitchFamily="34" charset="0"/>
                <a:ea typeface="宋体" panose="02010600030101010101" pitchFamily="2" charset="-122"/>
              </a:endParaRPr>
            </a:p>
          </p:txBody>
        </p:sp>
        <p:sp>
          <p:nvSpPr>
            <p:cNvPr id="129050" name="AutoShape 27"/>
            <p:cNvSpPr/>
            <p:nvPr/>
          </p:nvSpPr>
          <p:spPr>
            <a:xfrm rot="-8100000">
              <a:off x="6031" y="2605"/>
              <a:ext cx="845" cy="312"/>
            </a:xfrm>
            <a:prstGeom prst="leftArrow">
              <a:avLst>
                <a:gd name="adj1" fmla="val 50000"/>
                <a:gd name="adj2" fmla="val 67695"/>
              </a:avLst>
            </a:prstGeom>
            <a:solidFill>
              <a:srgbClr val="808080"/>
            </a:solidFill>
            <a:ln w="9525" cap="flat" cmpd="sng">
              <a:solidFill>
                <a:srgbClr val="000000"/>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29051" name="Oval 28"/>
            <p:cNvSpPr/>
            <p:nvPr/>
          </p:nvSpPr>
          <p:spPr>
            <a:xfrm>
              <a:off x="3240" y="3120"/>
              <a:ext cx="1620" cy="1092"/>
            </a:xfrm>
            <a:prstGeom prst="ellipse">
              <a:avLst/>
            </a:prstGeom>
            <a:solidFill>
              <a:srgbClr val="FFFFFF"/>
            </a:solidFill>
            <a:ln w="12700" cap="flat" cmpd="sng">
              <a:solidFill>
                <a:srgbClr val="000000"/>
              </a:solidFill>
              <a:prstDash val="dash"/>
              <a:round/>
              <a:headEnd type="none" w="med" len="med"/>
              <a:tailEnd type="none" w="med" len="med"/>
            </a:ln>
          </p:spPr>
          <p:txBody>
            <a:bodyPr lIns="0" tIns="0" rIns="0" bIns="0" anchor="t"/>
            <a:p>
              <a:pPr algn="ctr"/>
              <a:endParaRPr lang="zh-CN" altLang="zh-CN" sz="1000" b="1">
                <a:latin typeface="Times New Roman" panose="02020603050405020304" pitchFamily="18" charset="0"/>
                <a:ea typeface="宋体" panose="02010600030101010101" pitchFamily="2" charset="-122"/>
              </a:endParaRPr>
            </a:p>
            <a:p>
              <a:pPr algn="ctr"/>
              <a:r>
                <a:rPr lang="zh-CN" altLang="zh-CN" sz="1200" b="1">
                  <a:latin typeface="Times New Roman" panose="02020603050405020304" pitchFamily="18" charset="0"/>
                  <a:ea typeface="宋体" panose="02010600030101010101" pitchFamily="2" charset="-122"/>
                </a:rPr>
                <a:t>课程</a:t>
              </a:r>
              <a:r>
                <a:rPr lang="en-US" altLang="zh-CN" sz="1200" b="1" i="1">
                  <a:latin typeface="宋体" panose="02010600030101010101" pitchFamily="2" charset="-122"/>
                  <a:ea typeface="宋体" panose="02010600030101010101" pitchFamily="2" charset="-122"/>
                </a:rPr>
                <a:t>i</a:t>
              </a:r>
              <a:endParaRPr lang="en-US" altLang="zh-CN" sz="2000">
                <a:latin typeface="Arial" panose="020B0604020202020204" pitchFamily="34" charset="0"/>
                <a:ea typeface="宋体" panose="02010600030101010101" pitchFamily="2" charset="-122"/>
              </a:endParaRPr>
            </a:p>
          </p:txBody>
        </p:sp>
        <p:sp>
          <p:nvSpPr>
            <p:cNvPr id="129052" name="Oval 29"/>
            <p:cNvSpPr/>
            <p:nvPr/>
          </p:nvSpPr>
          <p:spPr>
            <a:xfrm>
              <a:off x="4860" y="3276"/>
              <a:ext cx="1260" cy="936"/>
            </a:xfrm>
            <a:prstGeom prst="ellipse">
              <a:avLst/>
            </a:prstGeom>
            <a:solidFill>
              <a:srgbClr val="FFFFFF"/>
            </a:solidFill>
            <a:ln w="9525">
              <a:noFill/>
            </a:ln>
          </p:spPr>
          <p:txBody>
            <a:bodyPr lIns="0" tIns="0" rIns="0" bIns="0" anchor="t"/>
            <a:p>
              <a:pPr algn="just"/>
              <a:r>
                <a:rPr lang="en-US" altLang="zh-CN" sz="1000">
                  <a:latin typeface="Times New Roman" panose="02020603050405020304" pitchFamily="18"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sp>
          <p:nvSpPr>
            <p:cNvPr id="129053" name="AutoShape 30"/>
            <p:cNvSpPr/>
            <p:nvPr/>
          </p:nvSpPr>
          <p:spPr>
            <a:xfrm>
              <a:off x="3780" y="1404"/>
              <a:ext cx="360" cy="780"/>
            </a:xfrm>
            <a:prstGeom prst="downArrow">
              <a:avLst>
                <a:gd name="adj1" fmla="val 50000"/>
                <a:gd name="adj2" fmla="val 54166"/>
              </a:avLst>
            </a:prstGeom>
            <a:solidFill>
              <a:srgbClr val="EAEAEA"/>
            </a:solidFill>
            <a:ln w="9525" cap="flat" cmpd="sng">
              <a:solidFill>
                <a:srgbClr val="000000"/>
              </a:solidFill>
              <a:prstDash val="dash"/>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29054" name="AutoShape 31"/>
            <p:cNvSpPr/>
            <p:nvPr/>
          </p:nvSpPr>
          <p:spPr>
            <a:xfrm rot="-1200000">
              <a:off x="2520" y="2496"/>
              <a:ext cx="360" cy="780"/>
            </a:xfrm>
            <a:prstGeom prst="downArrow">
              <a:avLst>
                <a:gd name="adj1" fmla="val 50000"/>
                <a:gd name="adj2" fmla="val 54166"/>
              </a:avLst>
            </a:prstGeom>
            <a:solidFill>
              <a:srgbClr val="EAEAEA"/>
            </a:solidFill>
            <a:ln w="9525" cap="flat" cmpd="sng">
              <a:solidFill>
                <a:srgbClr val="000000"/>
              </a:solidFill>
              <a:prstDash val="dash"/>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29055" name="AutoShape 32"/>
            <p:cNvSpPr/>
            <p:nvPr/>
          </p:nvSpPr>
          <p:spPr>
            <a:xfrm rot="1030658">
              <a:off x="5040" y="2496"/>
              <a:ext cx="360" cy="780"/>
            </a:xfrm>
            <a:prstGeom prst="downArrow">
              <a:avLst>
                <a:gd name="adj1" fmla="val 50000"/>
                <a:gd name="adj2" fmla="val 54166"/>
              </a:avLst>
            </a:prstGeom>
            <a:solidFill>
              <a:srgbClr val="EAEAEA"/>
            </a:solidFill>
            <a:ln w="9525" cap="flat" cmpd="sng">
              <a:solidFill>
                <a:srgbClr val="000000"/>
              </a:solidFill>
              <a:prstDash val="dash"/>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29056" name="AutoShape 33"/>
            <p:cNvSpPr/>
            <p:nvPr/>
          </p:nvSpPr>
          <p:spPr>
            <a:xfrm>
              <a:off x="3780" y="2340"/>
              <a:ext cx="360" cy="624"/>
            </a:xfrm>
            <a:prstGeom prst="downArrow">
              <a:avLst>
                <a:gd name="adj1" fmla="val 50000"/>
                <a:gd name="adj2" fmla="val 43325"/>
              </a:avLst>
            </a:prstGeom>
            <a:solidFill>
              <a:srgbClr val="EAEAEA"/>
            </a:solidFill>
            <a:ln w="9525" cap="flat" cmpd="sng">
              <a:solidFill>
                <a:srgbClr val="000000"/>
              </a:solidFill>
              <a:prstDash val="dash"/>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29057" name="AutoShape 34"/>
            <p:cNvSpPr/>
            <p:nvPr/>
          </p:nvSpPr>
          <p:spPr>
            <a:xfrm>
              <a:off x="900" y="4524"/>
              <a:ext cx="5940" cy="468"/>
            </a:xfrm>
            <a:prstGeom prst="flowChartProcess">
              <a:avLst/>
            </a:prstGeom>
            <a:solidFill>
              <a:srgbClr val="FFFFFF"/>
            </a:solidFill>
            <a:ln w="9525">
              <a:noFill/>
            </a:ln>
          </p:spPr>
          <p:txBody>
            <a:bodyPr anchor="t"/>
            <a:p>
              <a:pPr algn="ctr"/>
              <a:r>
                <a:rPr lang="zh-CN" altLang="zh-CN" sz="1600" b="1">
                  <a:solidFill>
                    <a:srgbClr val="692AA2"/>
                  </a:solidFill>
                  <a:latin typeface="仿宋_GB2312" pitchFamily="49" charset="-122"/>
                  <a:ea typeface="仿宋_GB2312" pitchFamily="49" charset="-122"/>
                </a:rPr>
                <a:t>图</a:t>
              </a:r>
              <a:r>
                <a:rPr lang="en-US" altLang="zh-CN" sz="1600" b="1">
                  <a:solidFill>
                    <a:srgbClr val="692AA2"/>
                  </a:solidFill>
                  <a:latin typeface="仿宋_GB2312" pitchFamily="49" charset="-122"/>
                  <a:ea typeface="仿宋_GB2312" pitchFamily="49" charset="-122"/>
                </a:rPr>
                <a:t>7.1 </a:t>
              </a:r>
              <a:r>
                <a:rPr lang="en-US" altLang="zh-CN" sz="1600" b="1">
                  <a:solidFill>
                    <a:srgbClr val="692AA2"/>
                  </a:solidFill>
                  <a:latin typeface="宋体" panose="02010600030101010101" pitchFamily="2" charset="-122"/>
                  <a:ea typeface="仿宋_GB2312" pitchFamily="49" charset="-122"/>
                </a:rPr>
                <a:t>“</a:t>
              </a:r>
              <a:r>
                <a:rPr lang="zh-CN" altLang="zh-CN" sz="1600" b="1">
                  <a:solidFill>
                    <a:srgbClr val="692AA2"/>
                  </a:solidFill>
                  <a:latin typeface="仿宋_GB2312" pitchFamily="49" charset="-122"/>
                  <a:ea typeface="仿宋_GB2312" pitchFamily="49" charset="-122"/>
                </a:rPr>
                <a:t>总社－分社－课程</a:t>
              </a:r>
              <a:r>
                <a:rPr lang="zh-CN" altLang="zh-CN" sz="1600" b="1">
                  <a:solidFill>
                    <a:srgbClr val="692AA2"/>
                  </a:solidFill>
                  <a:latin typeface="宋体" panose="02010600030101010101" pitchFamily="2" charset="-122"/>
                  <a:ea typeface="仿宋_GB2312" pitchFamily="49" charset="-122"/>
                </a:rPr>
                <a:t>”</a:t>
              </a:r>
              <a:r>
                <a:rPr lang="zh-CN" altLang="zh-CN" sz="1600" b="1">
                  <a:solidFill>
                    <a:srgbClr val="692AA2"/>
                  </a:solidFill>
                  <a:latin typeface="仿宋_GB2312" pitchFamily="49" charset="-122"/>
                  <a:ea typeface="仿宋_GB2312" pitchFamily="49" charset="-122"/>
                </a:rPr>
                <a:t>的二次分配示意图</a:t>
              </a:r>
              <a:endParaRPr lang="zh-CN" altLang="zh-CN" sz="1600" b="1">
                <a:solidFill>
                  <a:srgbClr val="692AA2"/>
                </a:solidFill>
                <a:latin typeface="仿宋_GB2312" pitchFamily="49" charset="-122"/>
                <a:ea typeface="仿宋_GB2312" pitchFamily="49" charset="-122"/>
              </a:endParaRPr>
            </a:p>
            <a:p>
              <a:endParaRPr lang="zh-CN" altLang="zh-CN" sz="2000">
                <a:latin typeface="仿宋_GB2312" pitchFamily="49" charset="-122"/>
                <a:ea typeface="仿宋_GB2312"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64546">
                                            <p:txEl>
                                              <p:charRg st="0" end="117"/>
                                            </p:txEl>
                                          </p:spTgt>
                                        </p:tgtEl>
                                        <p:attrNameLst>
                                          <p:attrName>style.visibility</p:attrName>
                                        </p:attrNameLst>
                                      </p:cBhvr>
                                      <p:to>
                                        <p:strVal val="visible"/>
                                      </p:to>
                                    </p:set>
                                    <p:animEffect transition="in" filter="checkerboard(across)">
                                      <p:cBhvr>
                                        <p:cTn id="7" dur="500"/>
                                        <p:tgtEl>
                                          <p:spTgt spid="364546">
                                            <p:txEl>
                                              <p:charRg st="0" end="1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64546">
                                            <p:txEl>
                                              <p:charRg st="117" end="169"/>
                                            </p:txEl>
                                          </p:spTgt>
                                        </p:tgtEl>
                                        <p:attrNameLst>
                                          <p:attrName>style.visibility</p:attrName>
                                        </p:attrNameLst>
                                      </p:cBhvr>
                                      <p:to>
                                        <p:strVal val="visible"/>
                                      </p:to>
                                    </p:set>
                                    <p:animEffect transition="in" filter="checkerboard(across)">
                                      <p:cBhvr>
                                        <p:cTn id="12" dur="500"/>
                                        <p:tgtEl>
                                          <p:spTgt spid="364546">
                                            <p:txEl>
                                              <p:charRg st="117" end="169"/>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heckerboard(across)">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5570" name="Rectangle 2"/>
          <p:cNvSpPr>
            <a:spLocks noGrp="1"/>
          </p:cNvSpPr>
          <p:nvPr>
            <p:ph idx="1"/>
          </p:nvPr>
        </p:nvSpPr>
        <p:spPr>
          <a:xfrm>
            <a:off x="457200" y="1219200"/>
            <a:ext cx="8229600" cy="48768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6.</a:t>
            </a:r>
            <a:r>
              <a:rPr lang="zh-CN" altLang="zh-CN" sz="2000" b="1">
                <a:solidFill>
                  <a:srgbClr val="692AA2"/>
                </a:solidFill>
                <a:latin typeface="仿宋_GB2312" pitchFamily="49" charset="-122"/>
                <a:ea typeface="仿宋_GB2312" pitchFamily="49" charset="-122"/>
              </a:rPr>
              <a:t>1</a:t>
            </a:r>
            <a:r>
              <a:rPr lang="en-US" altLang="zh-CN"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总社－分社的资源配置多目标规划模型</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总社给各分社分配书号时，以分社为单位，遵循增加强势产品支持力度的原则优化资源配置。由前面的定义可知产品强势与否主要体现在学生的满意度、市场占有率两个方面。增加强势产品，即实现学生的总体满意度、市场总体占有率最大化，故我们建立以满意度和市场占有率最大化为目的的资源分配多目标规划模型。</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（1）模型的准备 </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1）学生满意度的量化</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a．四个满意度分量的处理 </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首先利用Excel软件对附件2中的问卷调查数据按课程进行分类。针对每个分社所辖的课程，采用理想点法【1】对其进行量化。第   个学生对他所购买课程教材的4项满意度视为一个评价向量</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  </a:t>
            </a:r>
            <a:endParaRPr lang="zh-CN" altLang="zh-CN" sz="2000" b="1">
              <a:solidFill>
                <a:srgbClr val="692AA2"/>
              </a:solidFill>
              <a:latin typeface="仿宋_GB2312" pitchFamily="49" charset="-122"/>
              <a:ea typeface="仿宋_GB2312" pitchFamily="49" charset="-122"/>
            </a:endParaRPr>
          </a:p>
          <a:p>
            <a:pPr eaLnBrk="1" hangingPunct="1">
              <a:buNone/>
            </a:pPr>
            <a:endParaRPr lang="zh-CN" altLang="zh-CN" sz="2000" b="1">
              <a:solidFill>
                <a:srgbClr val="692AA2"/>
              </a:solidFill>
              <a:latin typeface="仿宋_GB2312" pitchFamily="49" charset="-122"/>
              <a:ea typeface="仿宋_GB2312" pitchFamily="49" charset="-122"/>
            </a:endParaRPr>
          </a:p>
        </p:txBody>
      </p:sp>
      <p:sp>
        <p:nvSpPr>
          <p:cNvPr id="130050" name="Rectangle 3"/>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5572" name="Object 4"/>
          <p:cNvGraphicFramePr>
            <a:graphicFrameLocks noChangeAspect="1"/>
          </p:cNvGraphicFramePr>
          <p:nvPr/>
        </p:nvGraphicFramePr>
        <p:xfrm>
          <a:off x="1371600" y="5486400"/>
          <a:ext cx="228600" cy="304800"/>
        </p:xfrm>
        <a:graphic>
          <a:graphicData uri="http://schemas.openxmlformats.org/presentationml/2006/ole">
            <mc:AlternateContent xmlns:mc="http://schemas.openxmlformats.org/markup-compatibility/2006">
              <mc:Choice xmlns:v="urn:schemas-microsoft-com:vml" Requires="v">
                <p:oleObj spid="_x0000_s3313" name="" r:id="rId1" imgW="139700" imgH="190500" progId="Equation.DSMT4">
                  <p:embed/>
                </p:oleObj>
              </mc:Choice>
              <mc:Fallback>
                <p:oleObj name="" r:id="rId1" imgW="139700" imgH="190500" progId="Equation.DSMT4">
                  <p:embed/>
                  <p:pic>
                    <p:nvPicPr>
                      <p:cNvPr id="0" name="图片 3312"/>
                      <p:cNvPicPr/>
                      <p:nvPr/>
                    </p:nvPicPr>
                    <p:blipFill>
                      <a:blip r:embed="rId2"/>
                      <a:stretch>
                        <a:fillRect/>
                      </a:stretch>
                    </p:blipFill>
                    <p:spPr>
                      <a:xfrm>
                        <a:off x="1371600" y="5486400"/>
                        <a:ext cx="228600" cy="304800"/>
                      </a:xfrm>
                      <a:prstGeom prst="rect">
                        <a:avLst/>
                      </a:prstGeom>
                      <a:noFill/>
                      <a:ln w="38100">
                        <a:noFill/>
                        <a:miter/>
                      </a:ln>
                    </p:spPr>
                  </p:pic>
                </p:oleObj>
              </mc:Fallback>
            </mc:AlternateContent>
          </a:graphicData>
        </a:graphic>
      </p:graphicFrame>
      <p:sp>
        <p:nvSpPr>
          <p:cNvPr id="130052" name="Rectangle 5"/>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5574" name="Object 6"/>
          <p:cNvGraphicFramePr>
            <a:graphicFrameLocks noChangeAspect="1"/>
          </p:cNvGraphicFramePr>
          <p:nvPr/>
        </p:nvGraphicFramePr>
        <p:xfrm>
          <a:off x="990600" y="6019800"/>
          <a:ext cx="2438400" cy="357188"/>
        </p:xfrm>
        <a:graphic>
          <a:graphicData uri="http://schemas.openxmlformats.org/presentationml/2006/ole">
            <mc:AlternateContent xmlns:mc="http://schemas.openxmlformats.org/markup-compatibility/2006">
              <mc:Choice xmlns:v="urn:schemas-microsoft-com:vml" Requires="v">
                <p:oleObj spid="_x0000_s3314" name="" r:id="rId3" imgW="1537335" imgH="241300" progId="Equation.3">
                  <p:embed/>
                </p:oleObj>
              </mc:Choice>
              <mc:Fallback>
                <p:oleObj name="" r:id="rId3" imgW="1537335" imgH="241300" progId="Equation.3">
                  <p:embed/>
                  <p:pic>
                    <p:nvPicPr>
                      <p:cNvPr id="0" name="图片 3313"/>
                      <p:cNvPicPr/>
                      <p:nvPr/>
                    </p:nvPicPr>
                    <p:blipFill>
                      <a:blip r:embed="rId4"/>
                      <a:stretch>
                        <a:fillRect/>
                      </a:stretch>
                    </p:blipFill>
                    <p:spPr>
                      <a:xfrm>
                        <a:off x="990600" y="6019800"/>
                        <a:ext cx="2438400" cy="35718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65570">
                                            <p:txEl>
                                              <p:charRg st="0" end="22"/>
                                            </p:txEl>
                                          </p:spTgt>
                                        </p:tgtEl>
                                        <p:attrNameLst>
                                          <p:attrName>style.visibility</p:attrName>
                                        </p:attrNameLst>
                                      </p:cBhvr>
                                      <p:to>
                                        <p:strVal val="visible"/>
                                      </p:to>
                                    </p:set>
                                    <p:animEffect transition="in" filter="slide(fromBottom)">
                                      <p:cBhvr>
                                        <p:cTn id="7" dur="500"/>
                                        <p:tgtEl>
                                          <p:spTgt spid="365570">
                                            <p:txEl>
                                              <p:charRg st="0" end="22"/>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365570">
                                            <p:txEl>
                                              <p:charRg st="22" end="171"/>
                                            </p:txEl>
                                          </p:spTgt>
                                        </p:tgtEl>
                                        <p:attrNameLst>
                                          <p:attrName>style.visibility</p:attrName>
                                        </p:attrNameLst>
                                      </p:cBhvr>
                                      <p:to>
                                        <p:strVal val="visible"/>
                                      </p:to>
                                    </p:set>
                                    <p:animEffect transition="in" filter="slide(fromBottom)">
                                      <p:cBhvr>
                                        <p:cTn id="10" dur="500"/>
                                        <p:tgtEl>
                                          <p:spTgt spid="365570">
                                            <p:txEl>
                                              <p:charRg st="22" end="17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365570">
                                            <p:txEl>
                                              <p:charRg st="171" end="181"/>
                                            </p:txEl>
                                          </p:spTgt>
                                        </p:tgtEl>
                                        <p:attrNameLst>
                                          <p:attrName>style.visibility</p:attrName>
                                        </p:attrNameLst>
                                      </p:cBhvr>
                                      <p:to>
                                        <p:strVal val="visible"/>
                                      </p:to>
                                    </p:set>
                                    <p:animEffect transition="in" filter="slide(fromBottom)">
                                      <p:cBhvr>
                                        <p:cTn id="15" dur="500"/>
                                        <p:tgtEl>
                                          <p:spTgt spid="365570">
                                            <p:txEl>
                                              <p:charRg st="171" end="181"/>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365570">
                                            <p:txEl>
                                              <p:charRg st="181" end="194"/>
                                            </p:txEl>
                                          </p:spTgt>
                                        </p:tgtEl>
                                        <p:attrNameLst>
                                          <p:attrName>style.visibility</p:attrName>
                                        </p:attrNameLst>
                                      </p:cBhvr>
                                      <p:to>
                                        <p:strVal val="visible"/>
                                      </p:to>
                                    </p:set>
                                    <p:animEffect transition="in" filter="slide(fromBottom)">
                                      <p:cBhvr>
                                        <p:cTn id="18" dur="500"/>
                                        <p:tgtEl>
                                          <p:spTgt spid="365570">
                                            <p:txEl>
                                              <p:charRg st="181" end="19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365570">
                                            <p:txEl>
                                              <p:charRg st="194" end="210"/>
                                            </p:txEl>
                                          </p:spTgt>
                                        </p:tgtEl>
                                        <p:attrNameLst>
                                          <p:attrName>style.visibility</p:attrName>
                                        </p:attrNameLst>
                                      </p:cBhvr>
                                      <p:to>
                                        <p:strVal val="visible"/>
                                      </p:to>
                                    </p:set>
                                    <p:animEffect transition="in" filter="slide(fromBottom)">
                                      <p:cBhvr>
                                        <p:cTn id="23" dur="500"/>
                                        <p:tgtEl>
                                          <p:spTgt spid="365570">
                                            <p:txEl>
                                              <p:charRg st="194" end="210"/>
                                            </p:txEl>
                                          </p:spTgt>
                                        </p:tgtEl>
                                      </p:cBhvr>
                                    </p:animEffect>
                                  </p:childTnLst>
                                </p:cTn>
                              </p:par>
                              <p:par>
                                <p:cTn id="24" presetID="12" presetClass="entr" presetSubtype="4" fill="hold" nodeType="withEffect">
                                  <p:stCondLst>
                                    <p:cond delay="0"/>
                                  </p:stCondLst>
                                  <p:childTnLst>
                                    <p:set>
                                      <p:cBhvr>
                                        <p:cTn id="25" dur="1" fill="hold">
                                          <p:stCondLst>
                                            <p:cond delay="0"/>
                                          </p:stCondLst>
                                        </p:cTn>
                                        <p:tgtEl>
                                          <p:spTgt spid="365570">
                                            <p:txEl>
                                              <p:charRg st="210" end="307"/>
                                            </p:txEl>
                                          </p:spTgt>
                                        </p:tgtEl>
                                        <p:attrNameLst>
                                          <p:attrName>style.visibility</p:attrName>
                                        </p:attrNameLst>
                                      </p:cBhvr>
                                      <p:to>
                                        <p:strVal val="visible"/>
                                      </p:to>
                                    </p:set>
                                    <p:animEffect transition="in" filter="slide(fromBottom)">
                                      <p:cBhvr>
                                        <p:cTn id="26" dur="500"/>
                                        <p:tgtEl>
                                          <p:spTgt spid="365570">
                                            <p:txEl>
                                              <p:charRg st="210" end="307"/>
                                            </p:txEl>
                                          </p:spTgt>
                                        </p:tgtEl>
                                      </p:cBhvr>
                                    </p:animEffect>
                                  </p:childTnLst>
                                </p:cTn>
                              </p:par>
                              <p:par>
                                <p:cTn id="27" presetID="12" presetClass="entr" presetSubtype="4" fill="hold" nodeType="withEffect">
                                  <p:stCondLst>
                                    <p:cond delay="0"/>
                                  </p:stCondLst>
                                  <p:childTnLst>
                                    <p:set>
                                      <p:cBhvr>
                                        <p:cTn id="28" dur="1" fill="hold">
                                          <p:stCondLst>
                                            <p:cond delay="0"/>
                                          </p:stCondLst>
                                        </p:cTn>
                                        <p:tgtEl>
                                          <p:spTgt spid="365570">
                                            <p:txEl>
                                              <p:charRg st="307" end="333"/>
                                            </p:txEl>
                                          </p:spTgt>
                                        </p:tgtEl>
                                        <p:attrNameLst>
                                          <p:attrName>style.visibility</p:attrName>
                                        </p:attrNameLst>
                                      </p:cBhvr>
                                      <p:to>
                                        <p:strVal val="visible"/>
                                      </p:to>
                                    </p:set>
                                    <p:animEffect transition="in" filter="slide(fromBottom)">
                                      <p:cBhvr>
                                        <p:cTn id="29" dur="500"/>
                                        <p:tgtEl>
                                          <p:spTgt spid="365570">
                                            <p:txEl>
                                              <p:charRg st="307" end="333"/>
                                            </p:txEl>
                                          </p:spTgt>
                                        </p:tgtEl>
                                      </p:cBhvr>
                                    </p:animEffect>
                                  </p:childTnLst>
                                </p:cTn>
                              </p:par>
                              <p:par>
                                <p:cTn id="30" presetID="12" presetClass="entr" presetSubtype="4" fill="hold" nodeType="withEffect">
                                  <p:stCondLst>
                                    <p:cond delay="0"/>
                                  </p:stCondLst>
                                  <p:childTnLst>
                                    <p:set>
                                      <p:cBhvr>
                                        <p:cTn id="31" dur="1" fill="hold">
                                          <p:stCondLst>
                                            <p:cond delay="0"/>
                                          </p:stCondLst>
                                        </p:cTn>
                                        <p:tgtEl>
                                          <p:spTgt spid="365572"/>
                                        </p:tgtEl>
                                        <p:attrNameLst>
                                          <p:attrName>style.visibility</p:attrName>
                                        </p:attrNameLst>
                                      </p:cBhvr>
                                      <p:to>
                                        <p:strVal val="visible"/>
                                      </p:to>
                                    </p:set>
                                    <p:animEffect transition="in" filter="slide(fromBottom)">
                                      <p:cBhvr>
                                        <p:cTn id="32" dur="500"/>
                                        <p:tgtEl>
                                          <p:spTgt spid="365572"/>
                                        </p:tgtEl>
                                      </p:cBhvr>
                                    </p:animEffect>
                                  </p:childTnLst>
                                </p:cTn>
                              </p:par>
                              <p:par>
                                <p:cTn id="33" presetID="12" presetClass="entr" presetSubtype="4" fill="hold" nodeType="withEffect">
                                  <p:stCondLst>
                                    <p:cond delay="0"/>
                                  </p:stCondLst>
                                  <p:childTnLst>
                                    <p:set>
                                      <p:cBhvr>
                                        <p:cTn id="34" dur="1" fill="hold">
                                          <p:stCondLst>
                                            <p:cond delay="0"/>
                                          </p:stCondLst>
                                        </p:cTn>
                                        <p:tgtEl>
                                          <p:spTgt spid="365574"/>
                                        </p:tgtEl>
                                        <p:attrNameLst>
                                          <p:attrName>style.visibility</p:attrName>
                                        </p:attrNameLst>
                                      </p:cBhvr>
                                      <p:to>
                                        <p:strVal val="visible"/>
                                      </p:to>
                                    </p:set>
                                    <p:animEffect transition="in" filter="slide(fromBottom)">
                                      <p:cBhvr>
                                        <p:cTn id="35" dur="500"/>
                                        <p:tgtEl>
                                          <p:spTgt spid="365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4" name="Rectangle 2"/>
          <p:cNvSpPr>
            <a:spLocks noGrp="1"/>
          </p:cNvSpPr>
          <p:nvPr>
            <p:ph idx="1"/>
          </p:nvPr>
        </p:nvSpPr>
        <p:spPr>
          <a:xfrm>
            <a:off x="381000" y="976313"/>
            <a:ext cx="8229600" cy="5334000"/>
          </a:xfrm>
          <a:ln/>
        </p:spPr>
        <p:txBody>
          <a:bodyPr vert="horz" wrap="square" lIns="91440" tIns="45720" rIns="91440" bIns="45720" anchor="t"/>
          <a:p>
            <a:pPr eaLnBrk="1" hangingPunct="1">
              <a:lnSpc>
                <a:spcPct val="120000"/>
              </a:lnSpc>
              <a:buNone/>
            </a:pPr>
            <a:r>
              <a:rPr lang="zh-CN" altLang="zh-CN" sz="2400" b="1">
                <a:solidFill>
                  <a:srgbClr val="692AA2"/>
                </a:solidFill>
                <a:latin typeface="宋体" panose="02010600030101010101" pitchFamily="2" charset="-122"/>
                <a:ea typeface="宋体" panose="02010600030101010101" pitchFamily="2" charset="-122"/>
              </a:rPr>
              <a:t>  </a:t>
            </a:r>
            <a:r>
              <a:rPr lang="zh-CN" altLang="zh-CN" sz="2000" b="1">
                <a:solidFill>
                  <a:srgbClr val="692AA2"/>
                </a:solidFill>
                <a:latin typeface="仿宋_GB2312" pitchFamily="49" charset="-122"/>
                <a:ea typeface="仿宋_GB2312" pitchFamily="49" charset="-122"/>
              </a:rPr>
              <a:t>并将其视为评价空间里的散点，为了寻找一个能够准确反映学生对第</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个课程满意程度的评价值，可以用一个与这些三点接近程度最好的向量   来代替。沿用一般的距离范数的概念，问题化为在赋范评价向量空间中寻找与众多评价点    最接近的理想点的问题    。</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即求满足                 时的   值。</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为了计算上的简便，利用各分量差值的最小二乘代替差值2范数的值，利用matlab7.0软件计算（附录1.1），得到第  个分社的满意度评价向量</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b．</a:t>
            </a:r>
            <a:r>
              <a:rPr lang="zh-CN" altLang="en-US" sz="2000" b="1">
                <a:solidFill>
                  <a:srgbClr val="692AA2"/>
                </a:solidFill>
                <a:latin typeface="仿宋_GB2312" pitchFamily="49" charset="-122"/>
                <a:ea typeface="仿宋_GB2312" pitchFamily="49" charset="-122"/>
              </a:rPr>
              <a:t>分社总体满意度的量化</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上面得到9个分社的四项整体满意度向量   。为了能够通过这四项满意度评价分社的强势程度，需要进一步量化。出于处理的方便，考虑取第  个分社四个满意度分量    的均值作为学生对分社     的整体满意度    。则A出版社的总满意度为</a:t>
            </a:r>
            <a:endParaRPr lang="zh-CN" altLang="zh-CN" sz="2000" b="1">
              <a:solidFill>
                <a:srgbClr val="692AA2"/>
              </a:solidFill>
              <a:latin typeface="仿宋_GB2312" pitchFamily="49" charset="-122"/>
              <a:ea typeface="仿宋_GB2312" pitchFamily="49" charset="-122"/>
            </a:endParaRPr>
          </a:p>
        </p:txBody>
      </p:sp>
      <p:sp>
        <p:nvSpPr>
          <p:cNvPr id="131074" name="Rectangle 3"/>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596" name="Object 4"/>
          <p:cNvGraphicFramePr>
            <a:graphicFrameLocks noChangeAspect="1"/>
          </p:cNvGraphicFramePr>
          <p:nvPr/>
        </p:nvGraphicFramePr>
        <p:xfrm>
          <a:off x="838200" y="1600200"/>
          <a:ext cx="214313" cy="228600"/>
        </p:xfrm>
        <a:graphic>
          <a:graphicData uri="http://schemas.openxmlformats.org/presentationml/2006/ole">
            <mc:AlternateContent xmlns:mc="http://schemas.openxmlformats.org/markup-compatibility/2006">
              <mc:Choice xmlns:v="urn:schemas-microsoft-com:vml" Requires="v">
                <p:oleObj spid="_x0000_s3321" name="" r:id="rId1" imgW="139700" imgH="152400" progId="Equation.DSMT4">
                  <p:embed/>
                </p:oleObj>
              </mc:Choice>
              <mc:Fallback>
                <p:oleObj name="" r:id="rId1" imgW="139700" imgH="152400" progId="Equation.DSMT4">
                  <p:embed/>
                  <p:pic>
                    <p:nvPicPr>
                      <p:cNvPr id="0" name="图片 3320"/>
                      <p:cNvPicPr/>
                      <p:nvPr/>
                    </p:nvPicPr>
                    <p:blipFill>
                      <a:blip r:embed="rId2"/>
                      <a:stretch>
                        <a:fillRect/>
                      </a:stretch>
                    </p:blipFill>
                    <p:spPr>
                      <a:xfrm>
                        <a:off x="838200" y="1600200"/>
                        <a:ext cx="214313" cy="228600"/>
                      </a:xfrm>
                      <a:prstGeom prst="rect">
                        <a:avLst/>
                      </a:prstGeom>
                      <a:noFill/>
                      <a:ln w="38100">
                        <a:noFill/>
                        <a:miter/>
                      </a:ln>
                    </p:spPr>
                  </p:pic>
                </p:oleObj>
              </mc:Fallback>
            </mc:AlternateContent>
          </a:graphicData>
        </a:graphic>
      </p:graphicFrame>
      <p:sp>
        <p:nvSpPr>
          <p:cNvPr id="131076" name="Rectangle 5"/>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598" name="Object 6"/>
          <p:cNvGraphicFramePr>
            <a:graphicFrameLocks noChangeAspect="1"/>
          </p:cNvGraphicFramePr>
          <p:nvPr/>
        </p:nvGraphicFramePr>
        <p:xfrm>
          <a:off x="1649413" y="1814513"/>
          <a:ext cx="407987" cy="457200"/>
        </p:xfrm>
        <a:graphic>
          <a:graphicData uri="http://schemas.openxmlformats.org/presentationml/2006/ole">
            <mc:AlternateContent xmlns:mc="http://schemas.openxmlformats.org/markup-compatibility/2006">
              <mc:Choice xmlns:v="urn:schemas-microsoft-com:vml" Requires="v">
                <p:oleObj spid="_x0000_s3318" name="" r:id="rId3" imgW="241300" imgH="266700" progId="Equation.3">
                  <p:embed/>
                </p:oleObj>
              </mc:Choice>
              <mc:Fallback>
                <p:oleObj name="" r:id="rId3" imgW="241300" imgH="266700" progId="Equation.3">
                  <p:embed/>
                  <p:pic>
                    <p:nvPicPr>
                      <p:cNvPr id="0" name="图片 3317"/>
                      <p:cNvPicPr/>
                      <p:nvPr/>
                    </p:nvPicPr>
                    <p:blipFill>
                      <a:blip r:embed="rId4"/>
                      <a:stretch>
                        <a:fillRect/>
                      </a:stretch>
                    </p:blipFill>
                    <p:spPr>
                      <a:xfrm>
                        <a:off x="1649413" y="1814513"/>
                        <a:ext cx="407987" cy="457200"/>
                      </a:xfrm>
                      <a:prstGeom prst="rect">
                        <a:avLst/>
                      </a:prstGeom>
                      <a:noFill/>
                      <a:ln w="38100">
                        <a:noFill/>
                        <a:miter/>
                      </a:ln>
                    </p:spPr>
                  </p:pic>
                </p:oleObj>
              </mc:Fallback>
            </mc:AlternateContent>
          </a:graphicData>
        </a:graphic>
      </p:graphicFrame>
      <p:sp>
        <p:nvSpPr>
          <p:cNvPr id="131078" name="Rectangle 7"/>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00" name="Object 8"/>
          <p:cNvGraphicFramePr>
            <a:graphicFrameLocks noChangeAspect="1"/>
          </p:cNvGraphicFramePr>
          <p:nvPr/>
        </p:nvGraphicFramePr>
        <p:xfrm>
          <a:off x="4495800" y="2209800"/>
          <a:ext cx="304800" cy="381000"/>
        </p:xfrm>
        <a:graphic>
          <a:graphicData uri="http://schemas.openxmlformats.org/presentationml/2006/ole">
            <mc:AlternateContent xmlns:mc="http://schemas.openxmlformats.org/markup-compatibility/2006">
              <mc:Choice xmlns:v="urn:schemas-microsoft-com:vml" Requires="v">
                <p:oleObj spid="_x0000_s3319" name="" r:id="rId5" imgW="190500" imgH="241300" progId="Equation.3">
                  <p:embed/>
                </p:oleObj>
              </mc:Choice>
              <mc:Fallback>
                <p:oleObj name="" r:id="rId5" imgW="190500" imgH="241300" progId="Equation.3">
                  <p:embed/>
                  <p:pic>
                    <p:nvPicPr>
                      <p:cNvPr id="0" name="图片 3318"/>
                      <p:cNvPicPr/>
                      <p:nvPr/>
                    </p:nvPicPr>
                    <p:blipFill>
                      <a:blip r:embed="rId6"/>
                      <a:stretch>
                        <a:fillRect/>
                      </a:stretch>
                    </p:blipFill>
                    <p:spPr>
                      <a:xfrm>
                        <a:off x="4495800" y="2209800"/>
                        <a:ext cx="304800" cy="381000"/>
                      </a:xfrm>
                      <a:prstGeom prst="rect">
                        <a:avLst/>
                      </a:prstGeom>
                      <a:noFill/>
                      <a:ln w="38100">
                        <a:noFill/>
                        <a:miter/>
                      </a:ln>
                    </p:spPr>
                  </p:pic>
                </p:oleObj>
              </mc:Fallback>
            </mc:AlternateContent>
          </a:graphicData>
        </a:graphic>
      </p:graphicFrame>
      <p:sp>
        <p:nvSpPr>
          <p:cNvPr id="131080" name="Rectangle 9"/>
          <p:cNvSpPr/>
          <p:nvPr/>
        </p:nvSpPr>
        <p:spPr>
          <a:xfrm>
            <a:off x="0" y="30527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02" name="Object 10"/>
          <p:cNvGraphicFramePr>
            <a:graphicFrameLocks noChangeAspect="1"/>
          </p:cNvGraphicFramePr>
          <p:nvPr/>
        </p:nvGraphicFramePr>
        <p:xfrm>
          <a:off x="7593013" y="2133600"/>
          <a:ext cx="407987" cy="457200"/>
        </p:xfrm>
        <a:graphic>
          <a:graphicData uri="http://schemas.openxmlformats.org/presentationml/2006/ole">
            <mc:AlternateContent xmlns:mc="http://schemas.openxmlformats.org/markup-compatibility/2006">
              <mc:Choice xmlns:v="urn:schemas-microsoft-com:vml" Requires="v">
                <p:oleObj spid="_x0000_s3315" name="" r:id="rId7" imgW="241300" imgH="266700" progId="Equation.3">
                  <p:embed/>
                </p:oleObj>
              </mc:Choice>
              <mc:Fallback>
                <p:oleObj name="" r:id="rId7" imgW="241300" imgH="266700" progId="Equation.3">
                  <p:embed/>
                  <p:pic>
                    <p:nvPicPr>
                      <p:cNvPr id="0" name="图片 3314"/>
                      <p:cNvPicPr/>
                      <p:nvPr/>
                    </p:nvPicPr>
                    <p:blipFill>
                      <a:blip r:embed="rId4"/>
                      <a:stretch>
                        <a:fillRect/>
                      </a:stretch>
                    </p:blipFill>
                    <p:spPr>
                      <a:xfrm>
                        <a:off x="7593013" y="2133600"/>
                        <a:ext cx="407987" cy="457200"/>
                      </a:xfrm>
                      <a:prstGeom prst="rect">
                        <a:avLst/>
                      </a:prstGeom>
                      <a:noFill/>
                      <a:ln w="38100">
                        <a:noFill/>
                        <a:miter/>
                      </a:ln>
                    </p:spPr>
                  </p:pic>
                </p:oleObj>
              </mc:Fallback>
            </mc:AlternateContent>
          </a:graphicData>
        </a:graphic>
      </p:graphicFrame>
      <p:sp>
        <p:nvSpPr>
          <p:cNvPr id="131082" name="Rectangle 11"/>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31083" name="Rectangle 12"/>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05" name="Object 13"/>
          <p:cNvGraphicFramePr>
            <a:graphicFrameLocks noChangeAspect="1"/>
          </p:cNvGraphicFramePr>
          <p:nvPr/>
        </p:nvGraphicFramePr>
        <p:xfrm>
          <a:off x="1905000" y="2667000"/>
          <a:ext cx="1905000" cy="400050"/>
        </p:xfrm>
        <a:graphic>
          <a:graphicData uri="http://schemas.openxmlformats.org/presentationml/2006/ole">
            <mc:AlternateContent xmlns:mc="http://schemas.openxmlformats.org/markup-compatibility/2006">
              <mc:Choice xmlns:v="urn:schemas-microsoft-com:vml" Requires="v">
                <p:oleObj spid="_x0000_s3325" name="" r:id="rId8" imgW="1409700" imgH="292100" progId="Equation.3">
                  <p:embed/>
                </p:oleObj>
              </mc:Choice>
              <mc:Fallback>
                <p:oleObj name="" r:id="rId8" imgW="1409700" imgH="292100" progId="Equation.3">
                  <p:embed/>
                  <p:pic>
                    <p:nvPicPr>
                      <p:cNvPr id="0" name="图片 3324"/>
                      <p:cNvPicPr/>
                      <p:nvPr/>
                    </p:nvPicPr>
                    <p:blipFill>
                      <a:blip r:embed="rId9"/>
                      <a:stretch>
                        <a:fillRect/>
                      </a:stretch>
                    </p:blipFill>
                    <p:spPr>
                      <a:xfrm>
                        <a:off x="1905000" y="2667000"/>
                        <a:ext cx="1905000" cy="400050"/>
                      </a:xfrm>
                      <a:prstGeom prst="rect">
                        <a:avLst/>
                      </a:prstGeom>
                      <a:noFill/>
                      <a:ln w="38100">
                        <a:noFill/>
                        <a:miter/>
                      </a:ln>
                    </p:spPr>
                  </p:pic>
                </p:oleObj>
              </mc:Fallback>
            </mc:AlternateContent>
          </a:graphicData>
        </a:graphic>
      </p:graphicFrame>
      <p:sp>
        <p:nvSpPr>
          <p:cNvPr id="131085" name="Rectangle 14"/>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07" name="Object 15"/>
          <p:cNvGraphicFramePr>
            <a:graphicFrameLocks noChangeAspect="1"/>
          </p:cNvGraphicFramePr>
          <p:nvPr/>
        </p:nvGraphicFramePr>
        <p:xfrm>
          <a:off x="4572000" y="2590800"/>
          <a:ext cx="407988" cy="457200"/>
        </p:xfrm>
        <a:graphic>
          <a:graphicData uri="http://schemas.openxmlformats.org/presentationml/2006/ole">
            <mc:AlternateContent xmlns:mc="http://schemas.openxmlformats.org/markup-compatibility/2006">
              <mc:Choice xmlns:v="urn:schemas-microsoft-com:vml" Requires="v">
                <p:oleObj spid="_x0000_s3322" name="" r:id="rId10" imgW="241300" imgH="266700" progId="Equation.3">
                  <p:embed/>
                </p:oleObj>
              </mc:Choice>
              <mc:Fallback>
                <p:oleObj name="" r:id="rId10" imgW="241300" imgH="266700" progId="Equation.3">
                  <p:embed/>
                  <p:pic>
                    <p:nvPicPr>
                      <p:cNvPr id="0" name="图片 3321"/>
                      <p:cNvPicPr/>
                      <p:nvPr/>
                    </p:nvPicPr>
                    <p:blipFill>
                      <a:blip r:embed="rId4"/>
                      <a:stretch>
                        <a:fillRect/>
                      </a:stretch>
                    </p:blipFill>
                    <p:spPr>
                      <a:xfrm>
                        <a:off x="4572000" y="2590800"/>
                        <a:ext cx="407988" cy="457200"/>
                      </a:xfrm>
                      <a:prstGeom prst="rect">
                        <a:avLst/>
                      </a:prstGeom>
                      <a:noFill/>
                      <a:ln w="38100">
                        <a:noFill/>
                        <a:miter/>
                      </a:ln>
                    </p:spPr>
                  </p:pic>
                </p:oleObj>
              </mc:Fallback>
            </mc:AlternateContent>
          </a:graphicData>
        </a:graphic>
      </p:graphicFrame>
      <p:sp>
        <p:nvSpPr>
          <p:cNvPr id="131087" name="Rectangle 16"/>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09" name="Object 17"/>
          <p:cNvGraphicFramePr>
            <a:graphicFrameLocks noChangeAspect="1"/>
          </p:cNvGraphicFramePr>
          <p:nvPr/>
        </p:nvGraphicFramePr>
        <p:xfrm>
          <a:off x="6781800" y="3490913"/>
          <a:ext cx="220663" cy="381000"/>
        </p:xfrm>
        <a:graphic>
          <a:graphicData uri="http://schemas.openxmlformats.org/presentationml/2006/ole">
            <mc:AlternateContent xmlns:mc="http://schemas.openxmlformats.org/markup-compatibility/2006">
              <mc:Choice xmlns:v="urn:schemas-microsoft-com:vml" Requires="v">
                <p:oleObj spid="_x0000_s3324" name="" r:id="rId11" imgW="101600" imgH="177800" progId="Equation.DSMT4">
                  <p:embed/>
                </p:oleObj>
              </mc:Choice>
              <mc:Fallback>
                <p:oleObj name="" r:id="rId11" imgW="101600" imgH="177800" progId="Equation.DSMT4">
                  <p:embed/>
                  <p:pic>
                    <p:nvPicPr>
                      <p:cNvPr id="0" name="图片 3323"/>
                      <p:cNvPicPr/>
                      <p:nvPr/>
                    </p:nvPicPr>
                    <p:blipFill>
                      <a:blip r:embed="rId12"/>
                      <a:stretch>
                        <a:fillRect/>
                      </a:stretch>
                    </p:blipFill>
                    <p:spPr>
                      <a:xfrm>
                        <a:off x="6781800" y="3490913"/>
                        <a:ext cx="220663" cy="381000"/>
                      </a:xfrm>
                      <a:prstGeom prst="rect">
                        <a:avLst/>
                      </a:prstGeom>
                      <a:noFill/>
                      <a:ln w="38100">
                        <a:noFill/>
                        <a:miter/>
                      </a:ln>
                    </p:spPr>
                  </p:pic>
                </p:oleObj>
              </mc:Fallback>
            </mc:AlternateContent>
          </a:graphicData>
        </a:graphic>
      </p:graphicFrame>
      <p:sp>
        <p:nvSpPr>
          <p:cNvPr id="131089" name="Rectangle 18"/>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11" name="Object 19"/>
          <p:cNvGraphicFramePr>
            <a:graphicFrameLocks noChangeAspect="1"/>
          </p:cNvGraphicFramePr>
          <p:nvPr/>
        </p:nvGraphicFramePr>
        <p:xfrm>
          <a:off x="2514600" y="3733800"/>
          <a:ext cx="2438400" cy="395288"/>
        </p:xfrm>
        <a:graphic>
          <a:graphicData uri="http://schemas.openxmlformats.org/presentationml/2006/ole">
            <mc:AlternateContent xmlns:mc="http://schemas.openxmlformats.org/markup-compatibility/2006">
              <mc:Choice xmlns:v="urn:schemas-microsoft-com:vml" Requires="v">
                <p:oleObj spid="_x0000_s3316" name="" r:id="rId13" imgW="1638300" imgH="266700" progId="Equation.3">
                  <p:embed/>
                </p:oleObj>
              </mc:Choice>
              <mc:Fallback>
                <p:oleObj name="" r:id="rId13" imgW="1638300" imgH="266700" progId="Equation.3">
                  <p:embed/>
                  <p:pic>
                    <p:nvPicPr>
                      <p:cNvPr id="0" name="图片 3315"/>
                      <p:cNvPicPr/>
                      <p:nvPr/>
                    </p:nvPicPr>
                    <p:blipFill>
                      <a:blip r:embed="rId14"/>
                      <a:stretch>
                        <a:fillRect/>
                      </a:stretch>
                    </p:blipFill>
                    <p:spPr>
                      <a:xfrm>
                        <a:off x="2514600" y="3733800"/>
                        <a:ext cx="2438400" cy="395288"/>
                      </a:xfrm>
                      <a:prstGeom prst="rect">
                        <a:avLst/>
                      </a:prstGeom>
                      <a:noFill/>
                      <a:ln w="38100">
                        <a:noFill/>
                        <a:miter/>
                      </a:ln>
                    </p:spPr>
                  </p:pic>
                </p:oleObj>
              </mc:Fallback>
            </mc:AlternateContent>
          </a:graphicData>
        </a:graphic>
      </p:graphicFrame>
      <p:sp>
        <p:nvSpPr>
          <p:cNvPr id="131091" name="Rectangle 20"/>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13" name="Object 21"/>
          <p:cNvGraphicFramePr>
            <a:graphicFrameLocks noChangeAspect="1"/>
          </p:cNvGraphicFramePr>
          <p:nvPr/>
        </p:nvGraphicFramePr>
        <p:xfrm>
          <a:off x="5791200" y="4419600"/>
          <a:ext cx="374650" cy="457200"/>
        </p:xfrm>
        <a:graphic>
          <a:graphicData uri="http://schemas.openxmlformats.org/presentationml/2006/ole">
            <mc:AlternateContent xmlns:mc="http://schemas.openxmlformats.org/markup-compatibility/2006">
              <mc:Choice xmlns:v="urn:schemas-microsoft-com:vml" Requires="v">
                <p:oleObj spid="_x0000_s3317" name="" r:id="rId15" imgW="215900" imgH="266700" progId="Equation.3">
                  <p:embed/>
                </p:oleObj>
              </mc:Choice>
              <mc:Fallback>
                <p:oleObj name="" r:id="rId15" imgW="215900" imgH="266700" progId="Equation.3">
                  <p:embed/>
                  <p:pic>
                    <p:nvPicPr>
                      <p:cNvPr id="0" name="图片 3316"/>
                      <p:cNvPicPr/>
                      <p:nvPr/>
                    </p:nvPicPr>
                    <p:blipFill>
                      <a:blip r:embed="rId16"/>
                      <a:stretch>
                        <a:fillRect/>
                      </a:stretch>
                    </p:blipFill>
                    <p:spPr>
                      <a:xfrm>
                        <a:off x="5791200" y="4419600"/>
                        <a:ext cx="374650" cy="457200"/>
                      </a:xfrm>
                      <a:prstGeom prst="rect">
                        <a:avLst/>
                      </a:prstGeom>
                      <a:noFill/>
                      <a:ln w="38100">
                        <a:noFill/>
                        <a:miter/>
                      </a:ln>
                    </p:spPr>
                  </p:pic>
                </p:oleObj>
              </mc:Fallback>
            </mc:AlternateContent>
          </a:graphicData>
        </a:graphic>
      </p:graphicFrame>
      <p:sp>
        <p:nvSpPr>
          <p:cNvPr id="131093" name="Rectangle 22"/>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15" name="Object 23"/>
          <p:cNvGraphicFramePr>
            <a:graphicFrameLocks noChangeAspect="1"/>
          </p:cNvGraphicFramePr>
          <p:nvPr/>
        </p:nvGraphicFramePr>
        <p:xfrm>
          <a:off x="2519363" y="5257800"/>
          <a:ext cx="300037" cy="381000"/>
        </p:xfrm>
        <a:graphic>
          <a:graphicData uri="http://schemas.openxmlformats.org/presentationml/2006/ole">
            <mc:AlternateContent xmlns:mc="http://schemas.openxmlformats.org/markup-compatibility/2006">
              <mc:Choice xmlns:v="urn:schemas-microsoft-com:vml" Requires="v">
                <p:oleObj spid="_x0000_s3327" name="" r:id="rId17" imgW="101600" imgH="177800" progId="Equation.3">
                  <p:embed/>
                </p:oleObj>
              </mc:Choice>
              <mc:Fallback>
                <p:oleObj name="" r:id="rId17" imgW="101600" imgH="177800" progId="Equation.3">
                  <p:embed/>
                  <p:pic>
                    <p:nvPicPr>
                      <p:cNvPr id="0" name="图片 3326"/>
                      <p:cNvPicPr/>
                      <p:nvPr/>
                    </p:nvPicPr>
                    <p:blipFill>
                      <a:blip r:embed="rId18"/>
                      <a:stretch>
                        <a:fillRect/>
                      </a:stretch>
                    </p:blipFill>
                    <p:spPr>
                      <a:xfrm>
                        <a:off x="2519363" y="5257800"/>
                        <a:ext cx="300037" cy="381000"/>
                      </a:xfrm>
                      <a:prstGeom prst="rect">
                        <a:avLst/>
                      </a:prstGeom>
                      <a:noFill/>
                      <a:ln w="38100">
                        <a:noFill/>
                        <a:miter/>
                      </a:ln>
                    </p:spPr>
                  </p:pic>
                </p:oleObj>
              </mc:Fallback>
            </mc:AlternateContent>
          </a:graphicData>
        </a:graphic>
      </p:graphicFrame>
      <p:sp>
        <p:nvSpPr>
          <p:cNvPr id="131095" name="Rectangle 24"/>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17" name="Object 25"/>
          <p:cNvGraphicFramePr>
            <a:graphicFrameLocks noChangeAspect="1"/>
          </p:cNvGraphicFramePr>
          <p:nvPr/>
        </p:nvGraphicFramePr>
        <p:xfrm>
          <a:off x="5345113" y="5181600"/>
          <a:ext cx="369887" cy="457200"/>
        </p:xfrm>
        <a:graphic>
          <a:graphicData uri="http://schemas.openxmlformats.org/presentationml/2006/ole">
            <mc:AlternateContent xmlns:mc="http://schemas.openxmlformats.org/markup-compatibility/2006">
              <mc:Choice xmlns:v="urn:schemas-microsoft-com:vml" Requires="v">
                <p:oleObj spid="_x0000_s3320" name="" r:id="rId19" imgW="241300" imgH="292100" progId="Equation.DSMT4">
                  <p:embed/>
                </p:oleObj>
              </mc:Choice>
              <mc:Fallback>
                <p:oleObj name="" r:id="rId19" imgW="241300" imgH="292100" progId="Equation.DSMT4">
                  <p:embed/>
                  <p:pic>
                    <p:nvPicPr>
                      <p:cNvPr id="0" name="图片 3319"/>
                      <p:cNvPicPr/>
                      <p:nvPr/>
                    </p:nvPicPr>
                    <p:blipFill>
                      <a:blip r:embed="rId20"/>
                      <a:stretch>
                        <a:fillRect/>
                      </a:stretch>
                    </p:blipFill>
                    <p:spPr>
                      <a:xfrm>
                        <a:off x="5345113" y="5181600"/>
                        <a:ext cx="369887" cy="457200"/>
                      </a:xfrm>
                      <a:prstGeom prst="rect">
                        <a:avLst/>
                      </a:prstGeom>
                      <a:noFill/>
                      <a:ln w="38100">
                        <a:noFill/>
                        <a:miter/>
                      </a:ln>
                    </p:spPr>
                  </p:pic>
                </p:oleObj>
              </mc:Fallback>
            </mc:AlternateContent>
          </a:graphicData>
        </a:graphic>
      </p:graphicFrame>
      <p:sp>
        <p:nvSpPr>
          <p:cNvPr id="131097" name="Rectangle 26"/>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19" name="Object 27"/>
          <p:cNvGraphicFramePr>
            <a:graphicFrameLocks noChangeAspect="1"/>
          </p:cNvGraphicFramePr>
          <p:nvPr/>
        </p:nvGraphicFramePr>
        <p:xfrm>
          <a:off x="8382000" y="5257800"/>
          <a:ext cx="301625" cy="381000"/>
        </p:xfrm>
        <a:graphic>
          <a:graphicData uri="http://schemas.openxmlformats.org/presentationml/2006/ole">
            <mc:AlternateContent xmlns:mc="http://schemas.openxmlformats.org/markup-compatibility/2006">
              <mc:Choice xmlns:v="urn:schemas-microsoft-com:vml" Requires="v">
                <p:oleObj spid="_x0000_s3326" name="" r:id="rId21" imgW="101600" imgH="177800" progId="Equation.3">
                  <p:embed/>
                </p:oleObj>
              </mc:Choice>
              <mc:Fallback>
                <p:oleObj name="" r:id="rId21" imgW="101600" imgH="177800" progId="Equation.3">
                  <p:embed/>
                  <p:pic>
                    <p:nvPicPr>
                      <p:cNvPr id="0" name="图片 3325"/>
                      <p:cNvPicPr/>
                      <p:nvPr/>
                    </p:nvPicPr>
                    <p:blipFill>
                      <a:blip r:embed="rId18"/>
                      <a:stretch>
                        <a:fillRect/>
                      </a:stretch>
                    </p:blipFill>
                    <p:spPr>
                      <a:xfrm>
                        <a:off x="8382000" y="5257800"/>
                        <a:ext cx="301625" cy="381000"/>
                      </a:xfrm>
                      <a:prstGeom prst="rect">
                        <a:avLst/>
                      </a:prstGeom>
                      <a:noFill/>
                      <a:ln w="38100">
                        <a:noFill/>
                        <a:miter/>
                      </a:ln>
                    </p:spPr>
                  </p:pic>
                </p:oleObj>
              </mc:Fallback>
            </mc:AlternateContent>
          </a:graphicData>
        </a:graphic>
      </p:graphicFrame>
      <p:sp>
        <p:nvSpPr>
          <p:cNvPr id="131099" name="Rectangle 28"/>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21" name="Object 29"/>
          <p:cNvGraphicFramePr>
            <a:graphicFrameLocks noChangeAspect="1"/>
          </p:cNvGraphicFramePr>
          <p:nvPr/>
        </p:nvGraphicFramePr>
        <p:xfrm>
          <a:off x="2514600" y="5638800"/>
          <a:ext cx="304800" cy="381000"/>
        </p:xfrm>
        <a:graphic>
          <a:graphicData uri="http://schemas.openxmlformats.org/presentationml/2006/ole">
            <mc:AlternateContent xmlns:mc="http://schemas.openxmlformats.org/markup-compatibility/2006">
              <mc:Choice xmlns:v="urn:schemas-microsoft-com:vml" Requires="v">
                <p:oleObj spid="_x0000_s3328" name="" r:id="rId22" imgW="190500" imgH="241300" progId="Equation.3">
                  <p:embed/>
                </p:oleObj>
              </mc:Choice>
              <mc:Fallback>
                <p:oleObj name="" r:id="rId22" imgW="190500" imgH="241300" progId="Equation.3">
                  <p:embed/>
                  <p:pic>
                    <p:nvPicPr>
                      <p:cNvPr id="0" name="图片 3327"/>
                      <p:cNvPicPr/>
                      <p:nvPr/>
                    </p:nvPicPr>
                    <p:blipFill>
                      <a:blip r:embed="rId23"/>
                      <a:stretch>
                        <a:fillRect/>
                      </a:stretch>
                    </p:blipFill>
                    <p:spPr>
                      <a:xfrm>
                        <a:off x="2514600" y="5638800"/>
                        <a:ext cx="304800" cy="381000"/>
                      </a:xfrm>
                      <a:prstGeom prst="rect">
                        <a:avLst/>
                      </a:prstGeom>
                      <a:noFill/>
                      <a:ln w="38100">
                        <a:noFill/>
                        <a:miter/>
                      </a:ln>
                    </p:spPr>
                  </p:pic>
                </p:oleObj>
              </mc:Fallback>
            </mc:AlternateContent>
          </a:graphicData>
        </a:graphic>
      </p:graphicFrame>
      <p:sp>
        <p:nvSpPr>
          <p:cNvPr id="131101" name="Rectangle 30"/>
          <p:cNvSpPr/>
          <p:nvPr/>
        </p:nvSpPr>
        <p:spPr>
          <a:xfrm>
            <a:off x="0" y="-2428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6623" name="Object 31"/>
          <p:cNvGraphicFramePr>
            <a:graphicFrameLocks noChangeAspect="1"/>
          </p:cNvGraphicFramePr>
          <p:nvPr/>
        </p:nvGraphicFramePr>
        <p:xfrm>
          <a:off x="5943600" y="5548313"/>
          <a:ext cx="1143000" cy="700087"/>
        </p:xfrm>
        <a:graphic>
          <a:graphicData uri="http://schemas.openxmlformats.org/presentationml/2006/ole">
            <mc:AlternateContent xmlns:mc="http://schemas.openxmlformats.org/markup-compatibility/2006">
              <mc:Choice xmlns:v="urn:schemas-microsoft-com:vml" Requires="v">
                <p:oleObj spid="_x0000_s3323" name="" r:id="rId24" imgW="812800" imgH="495300" progId="Equation.DSMT4">
                  <p:embed/>
                </p:oleObj>
              </mc:Choice>
              <mc:Fallback>
                <p:oleObj name="" r:id="rId24" imgW="812800" imgH="495300" progId="Equation.DSMT4">
                  <p:embed/>
                  <p:pic>
                    <p:nvPicPr>
                      <p:cNvPr id="0" name="图片 3322"/>
                      <p:cNvPicPr/>
                      <p:nvPr/>
                    </p:nvPicPr>
                    <p:blipFill>
                      <a:blip r:embed="rId25"/>
                      <a:stretch>
                        <a:fillRect/>
                      </a:stretch>
                    </p:blipFill>
                    <p:spPr>
                      <a:xfrm>
                        <a:off x="5943600" y="5548313"/>
                        <a:ext cx="1143000" cy="700087"/>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66594">
                                            <p:txEl>
                                              <p:charRg st="0" end="33"/>
                                            </p:txEl>
                                          </p:spTgt>
                                        </p:tgtEl>
                                        <p:attrNameLst>
                                          <p:attrName>style.visibility</p:attrName>
                                        </p:attrNameLst>
                                      </p:cBhvr>
                                      <p:to>
                                        <p:strVal val="visible"/>
                                      </p:to>
                                    </p:set>
                                    <p:animEffect transition="in" filter="wheel(4)">
                                      <p:cBhvr>
                                        <p:cTn id="7" dur="500"/>
                                        <p:tgtEl>
                                          <p:spTgt spid="366594">
                                            <p:txEl>
                                              <p:charRg st="0" end="33"/>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66594">
                                            <p:txEl>
                                              <p:charRg st="33" end="131"/>
                                            </p:txEl>
                                          </p:spTgt>
                                        </p:tgtEl>
                                        <p:attrNameLst>
                                          <p:attrName>style.visibility</p:attrName>
                                        </p:attrNameLst>
                                      </p:cBhvr>
                                      <p:to>
                                        <p:strVal val="visible"/>
                                      </p:to>
                                    </p:set>
                                    <p:animEffect transition="in" filter="wheel(4)">
                                      <p:cBhvr>
                                        <p:cTn id="10" dur="500"/>
                                        <p:tgtEl>
                                          <p:spTgt spid="366594">
                                            <p:txEl>
                                              <p:charRg st="33" end="131"/>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366594">
                                            <p:txEl>
                                              <p:charRg st="131" end="163"/>
                                            </p:txEl>
                                          </p:spTgt>
                                        </p:tgtEl>
                                        <p:attrNameLst>
                                          <p:attrName>style.visibility</p:attrName>
                                        </p:attrNameLst>
                                      </p:cBhvr>
                                      <p:to>
                                        <p:strVal val="visible"/>
                                      </p:to>
                                    </p:set>
                                    <p:animEffect transition="in" filter="wheel(4)">
                                      <p:cBhvr>
                                        <p:cTn id="13" dur="500"/>
                                        <p:tgtEl>
                                          <p:spTgt spid="366594">
                                            <p:txEl>
                                              <p:charRg st="131" end="163"/>
                                            </p:txEl>
                                          </p:spTgt>
                                        </p:tgtEl>
                                      </p:cBhvr>
                                    </p:animEffect>
                                  </p:childTnLst>
                                </p:cTn>
                              </p:par>
                              <p:par>
                                <p:cTn id="14" presetID="21" presetClass="entr" presetSubtype="4" fill="hold" nodeType="withEffect">
                                  <p:stCondLst>
                                    <p:cond delay="0"/>
                                  </p:stCondLst>
                                  <p:childTnLst>
                                    <p:set>
                                      <p:cBhvr>
                                        <p:cTn id="15" dur="1" fill="hold">
                                          <p:stCondLst>
                                            <p:cond delay="0"/>
                                          </p:stCondLst>
                                        </p:cTn>
                                        <p:tgtEl>
                                          <p:spTgt spid="366596"/>
                                        </p:tgtEl>
                                        <p:attrNameLst>
                                          <p:attrName>style.visibility</p:attrName>
                                        </p:attrNameLst>
                                      </p:cBhvr>
                                      <p:to>
                                        <p:strVal val="visible"/>
                                      </p:to>
                                    </p:set>
                                    <p:animEffect transition="in" filter="wheel(4)">
                                      <p:cBhvr>
                                        <p:cTn id="16" dur="500"/>
                                        <p:tgtEl>
                                          <p:spTgt spid="366596"/>
                                        </p:tgtEl>
                                      </p:cBhvr>
                                    </p:animEffect>
                                  </p:childTnLst>
                                </p:cTn>
                              </p:par>
                              <p:par>
                                <p:cTn id="17" presetID="21" presetClass="entr" presetSubtype="4" fill="hold" nodeType="withEffect">
                                  <p:stCondLst>
                                    <p:cond delay="0"/>
                                  </p:stCondLst>
                                  <p:childTnLst>
                                    <p:set>
                                      <p:cBhvr>
                                        <p:cTn id="18" dur="1" fill="hold">
                                          <p:stCondLst>
                                            <p:cond delay="0"/>
                                          </p:stCondLst>
                                        </p:cTn>
                                        <p:tgtEl>
                                          <p:spTgt spid="366598"/>
                                        </p:tgtEl>
                                        <p:attrNameLst>
                                          <p:attrName>style.visibility</p:attrName>
                                        </p:attrNameLst>
                                      </p:cBhvr>
                                      <p:to>
                                        <p:strVal val="visible"/>
                                      </p:to>
                                    </p:set>
                                    <p:animEffect transition="in" filter="wheel(4)">
                                      <p:cBhvr>
                                        <p:cTn id="19" dur="500"/>
                                        <p:tgtEl>
                                          <p:spTgt spid="366598"/>
                                        </p:tgtEl>
                                      </p:cBhvr>
                                    </p:animEffect>
                                  </p:childTnLst>
                                </p:cTn>
                              </p:par>
                              <p:par>
                                <p:cTn id="20" presetID="21" presetClass="entr" presetSubtype="4" fill="hold" nodeType="withEffect">
                                  <p:stCondLst>
                                    <p:cond delay="0"/>
                                  </p:stCondLst>
                                  <p:childTnLst>
                                    <p:set>
                                      <p:cBhvr>
                                        <p:cTn id="21" dur="1" fill="hold">
                                          <p:stCondLst>
                                            <p:cond delay="0"/>
                                          </p:stCondLst>
                                        </p:cTn>
                                        <p:tgtEl>
                                          <p:spTgt spid="366605"/>
                                        </p:tgtEl>
                                        <p:attrNameLst>
                                          <p:attrName>style.visibility</p:attrName>
                                        </p:attrNameLst>
                                      </p:cBhvr>
                                      <p:to>
                                        <p:strVal val="visible"/>
                                      </p:to>
                                    </p:set>
                                    <p:animEffect transition="in" filter="wheel(4)">
                                      <p:cBhvr>
                                        <p:cTn id="22" dur="500"/>
                                        <p:tgtEl>
                                          <p:spTgt spid="366605"/>
                                        </p:tgtEl>
                                      </p:cBhvr>
                                    </p:animEffect>
                                  </p:childTnLst>
                                </p:cTn>
                              </p:par>
                              <p:par>
                                <p:cTn id="23" presetID="21" presetClass="entr" presetSubtype="4" fill="hold" nodeType="withEffect">
                                  <p:stCondLst>
                                    <p:cond delay="0"/>
                                  </p:stCondLst>
                                  <p:childTnLst>
                                    <p:set>
                                      <p:cBhvr>
                                        <p:cTn id="24" dur="1" fill="hold">
                                          <p:stCondLst>
                                            <p:cond delay="0"/>
                                          </p:stCondLst>
                                        </p:cTn>
                                        <p:tgtEl>
                                          <p:spTgt spid="366600"/>
                                        </p:tgtEl>
                                        <p:attrNameLst>
                                          <p:attrName>style.visibility</p:attrName>
                                        </p:attrNameLst>
                                      </p:cBhvr>
                                      <p:to>
                                        <p:strVal val="visible"/>
                                      </p:to>
                                    </p:set>
                                    <p:animEffect transition="in" filter="wheel(4)">
                                      <p:cBhvr>
                                        <p:cTn id="25" dur="500"/>
                                        <p:tgtEl>
                                          <p:spTgt spid="366600"/>
                                        </p:tgtEl>
                                      </p:cBhvr>
                                    </p:animEffect>
                                  </p:childTnLst>
                                </p:cTn>
                              </p:par>
                              <p:par>
                                <p:cTn id="26" presetID="21" presetClass="entr" presetSubtype="4" fill="hold" nodeType="withEffect">
                                  <p:stCondLst>
                                    <p:cond delay="0"/>
                                  </p:stCondLst>
                                  <p:childTnLst>
                                    <p:set>
                                      <p:cBhvr>
                                        <p:cTn id="27" dur="1" fill="hold">
                                          <p:stCondLst>
                                            <p:cond delay="0"/>
                                          </p:stCondLst>
                                        </p:cTn>
                                        <p:tgtEl>
                                          <p:spTgt spid="366607"/>
                                        </p:tgtEl>
                                        <p:attrNameLst>
                                          <p:attrName>style.visibility</p:attrName>
                                        </p:attrNameLst>
                                      </p:cBhvr>
                                      <p:to>
                                        <p:strVal val="visible"/>
                                      </p:to>
                                    </p:set>
                                    <p:animEffect transition="in" filter="wheel(4)">
                                      <p:cBhvr>
                                        <p:cTn id="28" dur="500"/>
                                        <p:tgtEl>
                                          <p:spTgt spid="366607"/>
                                        </p:tgtEl>
                                      </p:cBhvr>
                                    </p:animEffect>
                                  </p:childTnLst>
                                </p:cTn>
                              </p:par>
                              <p:par>
                                <p:cTn id="29" presetID="21" presetClass="entr" presetSubtype="4" fill="hold" nodeType="withEffect">
                                  <p:stCondLst>
                                    <p:cond delay="0"/>
                                  </p:stCondLst>
                                  <p:childTnLst>
                                    <p:set>
                                      <p:cBhvr>
                                        <p:cTn id="30" dur="1" fill="hold">
                                          <p:stCondLst>
                                            <p:cond delay="0"/>
                                          </p:stCondLst>
                                        </p:cTn>
                                        <p:tgtEl>
                                          <p:spTgt spid="366602"/>
                                        </p:tgtEl>
                                        <p:attrNameLst>
                                          <p:attrName>style.visibility</p:attrName>
                                        </p:attrNameLst>
                                      </p:cBhvr>
                                      <p:to>
                                        <p:strVal val="visible"/>
                                      </p:to>
                                    </p:set>
                                    <p:animEffect transition="in" filter="wheel(4)">
                                      <p:cBhvr>
                                        <p:cTn id="31" dur="500"/>
                                        <p:tgtEl>
                                          <p:spTgt spid="366602"/>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4" fill="hold" nodeType="clickEffect">
                                  <p:stCondLst>
                                    <p:cond delay="0"/>
                                  </p:stCondLst>
                                  <p:childTnLst>
                                    <p:set>
                                      <p:cBhvr>
                                        <p:cTn id="35" dur="1" fill="hold">
                                          <p:stCondLst>
                                            <p:cond delay="0"/>
                                          </p:stCondLst>
                                        </p:cTn>
                                        <p:tgtEl>
                                          <p:spTgt spid="366594">
                                            <p:txEl>
                                              <p:charRg st="163" end="240"/>
                                            </p:txEl>
                                          </p:spTgt>
                                        </p:tgtEl>
                                        <p:attrNameLst>
                                          <p:attrName>style.visibility</p:attrName>
                                        </p:attrNameLst>
                                      </p:cBhvr>
                                      <p:to>
                                        <p:strVal val="visible"/>
                                      </p:to>
                                    </p:set>
                                    <p:animEffect transition="in" filter="wheel(4)">
                                      <p:cBhvr>
                                        <p:cTn id="36" dur="500"/>
                                        <p:tgtEl>
                                          <p:spTgt spid="366594">
                                            <p:txEl>
                                              <p:charRg st="163" end="240"/>
                                            </p:txEl>
                                          </p:spTgt>
                                        </p:tgtEl>
                                      </p:cBhvr>
                                    </p:animEffect>
                                  </p:childTnLst>
                                </p:cTn>
                              </p:par>
                              <p:par>
                                <p:cTn id="37" presetID="21" presetClass="entr" presetSubtype="4" fill="hold" nodeType="withEffect">
                                  <p:stCondLst>
                                    <p:cond delay="0"/>
                                  </p:stCondLst>
                                  <p:childTnLst>
                                    <p:set>
                                      <p:cBhvr>
                                        <p:cTn id="38" dur="1" fill="hold">
                                          <p:stCondLst>
                                            <p:cond delay="0"/>
                                          </p:stCondLst>
                                        </p:cTn>
                                        <p:tgtEl>
                                          <p:spTgt spid="366609"/>
                                        </p:tgtEl>
                                        <p:attrNameLst>
                                          <p:attrName>style.visibility</p:attrName>
                                        </p:attrNameLst>
                                      </p:cBhvr>
                                      <p:to>
                                        <p:strVal val="visible"/>
                                      </p:to>
                                    </p:set>
                                    <p:animEffect transition="in" filter="wheel(4)">
                                      <p:cBhvr>
                                        <p:cTn id="39" dur="500"/>
                                        <p:tgtEl>
                                          <p:spTgt spid="366609"/>
                                        </p:tgtEl>
                                      </p:cBhvr>
                                    </p:animEffect>
                                  </p:childTnLst>
                                </p:cTn>
                              </p:par>
                              <p:par>
                                <p:cTn id="40" presetID="21" presetClass="entr" presetSubtype="4" fill="hold" nodeType="withEffect">
                                  <p:stCondLst>
                                    <p:cond delay="0"/>
                                  </p:stCondLst>
                                  <p:childTnLst>
                                    <p:set>
                                      <p:cBhvr>
                                        <p:cTn id="41" dur="1" fill="hold">
                                          <p:stCondLst>
                                            <p:cond delay="0"/>
                                          </p:stCondLst>
                                        </p:cTn>
                                        <p:tgtEl>
                                          <p:spTgt spid="366611"/>
                                        </p:tgtEl>
                                        <p:attrNameLst>
                                          <p:attrName>style.visibility</p:attrName>
                                        </p:attrNameLst>
                                      </p:cBhvr>
                                      <p:to>
                                        <p:strVal val="visible"/>
                                      </p:to>
                                    </p:set>
                                    <p:animEffect transition="in" filter="wheel(4)">
                                      <p:cBhvr>
                                        <p:cTn id="42" dur="500"/>
                                        <p:tgtEl>
                                          <p:spTgt spid="366611"/>
                                        </p:tgtEl>
                                      </p:cBhvr>
                                    </p:animEffect>
                                  </p:childTnLst>
                                </p:cTn>
                              </p:par>
                            </p:childTnLst>
                          </p:cTn>
                        </p:par>
                      </p:childTnLst>
                    </p:cTn>
                  </p:par>
                  <p:par>
                    <p:cTn id="43" fill="hold">
                      <p:stCondLst>
                        <p:cond delay="indefinite"/>
                      </p:stCondLst>
                      <p:childTnLst>
                        <p:par>
                          <p:cTn id="44" fill="hold">
                            <p:stCondLst>
                              <p:cond delay="0"/>
                            </p:stCondLst>
                            <p:childTnLst>
                              <p:par>
                                <p:cTn id="45" presetID="21" presetClass="entr" presetSubtype="4" fill="hold" nodeType="clickEffect">
                                  <p:stCondLst>
                                    <p:cond delay="0"/>
                                  </p:stCondLst>
                                  <p:childTnLst>
                                    <p:set>
                                      <p:cBhvr>
                                        <p:cTn id="46" dur="1" fill="hold">
                                          <p:stCondLst>
                                            <p:cond delay="0"/>
                                          </p:stCondLst>
                                        </p:cTn>
                                        <p:tgtEl>
                                          <p:spTgt spid="366594">
                                            <p:txEl>
                                              <p:charRg st="240" end="256"/>
                                            </p:txEl>
                                          </p:spTgt>
                                        </p:tgtEl>
                                        <p:attrNameLst>
                                          <p:attrName>style.visibility</p:attrName>
                                        </p:attrNameLst>
                                      </p:cBhvr>
                                      <p:to>
                                        <p:strVal val="visible"/>
                                      </p:to>
                                    </p:set>
                                    <p:animEffect transition="in" filter="wheel(4)">
                                      <p:cBhvr>
                                        <p:cTn id="47" dur="500"/>
                                        <p:tgtEl>
                                          <p:spTgt spid="366594">
                                            <p:txEl>
                                              <p:charRg st="240" end="256"/>
                                            </p:txEl>
                                          </p:spTgt>
                                        </p:tgtEl>
                                      </p:cBhvr>
                                    </p:animEffect>
                                  </p:childTnLst>
                                </p:cTn>
                              </p:par>
                              <p:par>
                                <p:cTn id="48" presetID="21" presetClass="entr" presetSubtype="4" fill="hold" nodeType="withEffect">
                                  <p:stCondLst>
                                    <p:cond delay="0"/>
                                  </p:stCondLst>
                                  <p:childTnLst>
                                    <p:set>
                                      <p:cBhvr>
                                        <p:cTn id="49" dur="1" fill="hold">
                                          <p:stCondLst>
                                            <p:cond delay="0"/>
                                          </p:stCondLst>
                                        </p:cTn>
                                        <p:tgtEl>
                                          <p:spTgt spid="366594">
                                            <p:txEl>
                                              <p:charRg st="256" end="380"/>
                                            </p:txEl>
                                          </p:spTgt>
                                        </p:tgtEl>
                                        <p:attrNameLst>
                                          <p:attrName>style.visibility</p:attrName>
                                        </p:attrNameLst>
                                      </p:cBhvr>
                                      <p:to>
                                        <p:strVal val="visible"/>
                                      </p:to>
                                    </p:set>
                                    <p:animEffect transition="in" filter="wheel(4)">
                                      <p:cBhvr>
                                        <p:cTn id="50" dur="500"/>
                                        <p:tgtEl>
                                          <p:spTgt spid="366594">
                                            <p:txEl>
                                              <p:charRg st="256" end="380"/>
                                            </p:txEl>
                                          </p:spTgt>
                                        </p:tgtEl>
                                      </p:cBhvr>
                                    </p:animEffect>
                                  </p:childTnLst>
                                </p:cTn>
                              </p:par>
                              <p:par>
                                <p:cTn id="51" presetID="21" presetClass="entr" presetSubtype="4" fill="hold" nodeType="withEffect">
                                  <p:stCondLst>
                                    <p:cond delay="0"/>
                                  </p:stCondLst>
                                  <p:childTnLst>
                                    <p:set>
                                      <p:cBhvr>
                                        <p:cTn id="52" dur="1" fill="hold">
                                          <p:stCondLst>
                                            <p:cond delay="0"/>
                                          </p:stCondLst>
                                        </p:cTn>
                                        <p:tgtEl>
                                          <p:spTgt spid="366613"/>
                                        </p:tgtEl>
                                        <p:attrNameLst>
                                          <p:attrName>style.visibility</p:attrName>
                                        </p:attrNameLst>
                                      </p:cBhvr>
                                      <p:to>
                                        <p:strVal val="visible"/>
                                      </p:to>
                                    </p:set>
                                    <p:animEffect transition="in" filter="wheel(4)">
                                      <p:cBhvr>
                                        <p:cTn id="53" dur="500"/>
                                        <p:tgtEl>
                                          <p:spTgt spid="366613"/>
                                        </p:tgtEl>
                                      </p:cBhvr>
                                    </p:animEffect>
                                  </p:childTnLst>
                                </p:cTn>
                              </p:par>
                              <p:par>
                                <p:cTn id="54" presetID="21" presetClass="entr" presetSubtype="4" fill="hold" nodeType="withEffect">
                                  <p:stCondLst>
                                    <p:cond delay="0"/>
                                  </p:stCondLst>
                                  <p:childTnLst>
                                    <p:set>
                                      <p:cBhvr>
                                        <p:cTn id="55" dur="1" fill="hold">
                                          <p:stCondLst>
                                            <p:cond delay="0"/>
                                          </p:stCondLst>
                                        </p:cTn>
                                        <p:tgtEl>
                                          <p:spTgt spid="366617"/>
                                        </p:tgtEl>
                                        <p:attrNameLst>
                                          <p:attrName>style.visibility</p:attrName>
                                        </p:attrNameLst>
                                      </p:cBhvr>
                                      <p:to>
                                        <p:strVal val="visible"/>
                                      </p:to>
                                    </p:set>
                                    <p:animEffect transition="in" filter="wheel(4)">
                                      <p:cBhvr>
                                        <p:cTn id="56" dur="500"/>
                                        <p:tgtEl>
                                          <p:spTgt spid="366617"/>
                                        </p:tgtEl>
                                      </p:cBhvr>
                                    </p:animEffect>
                                  </p:childTnLst>
                                </p:cTn>
                              </p:par>
                              <p:par>
                                <p:cTn id="57" presetID="21" presetClass="entr" presetSubtype="4" fill="hold" nodeType="withEffect">
                                  <p:stCondLst>
                                    <p:cond delay="0"/>
                                  </p:stCondLst>
                                  <p:childTnLst>
                                    <p:set>
                                      <p:cBhvr>
                                        <p:cTn id="58" dur="1" fill="hold">
                                          <p:stCondLst>
                                            <p:cond delay="0"/>
                                          </p:stCondLst>
                                        </p:cTn>
                                        <p:tgtEl>
                                          <p:spTgt spid="366621"/>
                                        </p:tgtEl>
                                        <p:attrNameLst>
                                          <p:attrName>style.visibility</p:attrName>
                                        </p:attrNameLst>
                                      </p:cBhvr>
                                      <p:to>
                                        <p:strVal val="visible"/>
                                      </p:to>
                                    </p:set>
                                    <p:animEffect transition="in" filter="wheel(4)">
                                      <p:cBhvr>
                                        <p:cTn id="59" dur="500"/>
                                        <p:tgtEl>
                                          <p:spTgt spid="366621"/>
                                        </p:tgtEl>
                                      </p:cBhvr>
                                    </p:animEffect>
                                  </p:childTnLst>
                                </p:cTn>
                              </p:par>
                              <p:par>
                                <p:cTn id="60" presetID="21" presetClass="entr" presetSubtype="4" fill="hold" nodeType="withEffect">
                                  <p:stCondLst>
                                    <p:cond delay="0"/>
                                  </p:stCondLst>
                                  <p:childTnLst>
                                    <p:set>
                                      <p:cBhvr>
                                        <p:cTn id="61" dur="1" fill="hold">
                                          <p:stCondLst>
                                            <p:cond delay="0"/>
                                          </p:stCondLst>
                                        </p:cTn>
                                        <p:tgtEl>
                                          <p:spTgt spid="366615"/>
                                        </p:tgtEl>
                                        <p:attrNameLst>
                                          <p:attrName>style.visibility</p:attrName>
                                        </p:attrNameLst>
                                      </p:cBhvr>
                                      <p:to>
                                        <p:strVal val="visible"/>
                                      </p:to>
                                    </p:set>
                                    <p:animEffect transition="in" filter="wheel(4)">
                                      <p:cBhvr>
                                        <p:cTn id="62" dur="500"/>
                                        <p:tgtEl>
                                          <p:spTgt spid="366615"/>
                                        </p:tgtEl>
                                      </p:cBhvr>
                                    </p:animEffect>
                                  </p:childTnLst>
                                </p:cTn>
                              </p:par>
                              <p:par>
                                <p:cTn id="63" presetID="21" presetClass="entr" presetSubtype="4" fill="hold" nodeType="withEffect">
                                  <p:stCondLst>
                                    <p:cond delay="0"/>
                                  </p:stCondLst>
                                  <p:childTnLst>
                                    <p:set>
                                      <p:cBhvr>
                                        <p:cTn id="64" dur="1" fill="hold">
                                          <p:stCondLst>
                                            <p:cond delay="0"/>
                                          </p:stCondLst>
                                        </p:cTn>
                                        <p:tgtEl>
                                          <p:spTgt spid="366623"/>
                                        </p:tgtEl>
                                        <p:attrNameLst>
                                          <p:attrName>style.visibility</p:attrName>
                                        </p:attrNameLst>
                                      </p:cBhvr>
                                      <p:to>
                                        <p:strVal val="visible"/>
                                      </p:to>
                                    </p:set>
                                    <p:animEffect transition="in" filter="wheel(4)">
                                      <p:cBhvr>
                                        <p:cTn id="65" dur="500"/>
                                        <p:tgtEl>
                                          <p:spTgt spid="366623"/>
                                        </p:tgtEl>
                                      </p:cBhvr>
                                    </p:animEffect>
                                  </p:childTnLst>
                                </p:cTn>
                              </p:par>
                              <p:par>
                                <p:cTn id="66" presetID="21" presetClass="entr" presetSubtype="4" fill="hold" nodeType="withEffect">
                                  <p:stCondLst>
                                    <p:cond delay="0"/>
                                  </p:stCondLst>
                                  <p:childTnLst>
                                    <p:set>
                                      <p:cBhvr>
                                        <p:cTn id="67" dur="1" fill="hold">
                                          <p:stCondLst>
                                            <p:cond delay="0"/>
                                          </p:stCondLst>
                                        </p:cTn>
                                        <p:tgtEl>
                                          <p:spTgt spid="366619"/>
                                        </p:tgtEl>
                                        <p:attrNameLst>
                                          <p:attrName>style.visibility</p:attrName>
                                        </p:attrNameLst>
                                      </p:cBhvr>
                                      <p:to>
                                        <p:strVal val="visible"/>
                                      </p:to>
                                    </p:set>
                                    <p:animEffect transition="in" filter="wheel(4)">
                                      <p:cBhvr>
                                        <p:cTn id="68" dur="500"/>
                                        <p:tgtEl>
                                          <p:spTgt spid="366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7618" name="Rectangle 2"/>
          <p:cNvSpPr>
            <a:spLocks noGrp="1"/>
          </p:cNvSpPr>
          <p:nvPr>
            <p:ph idx="1"/>
          </p:nvPr>
        </p:nvSpPr>
        <p:spPr>
          <a:xfrm>
            <a:off x="457200" y="1524000"/>
            <a:ext cx="8229600" cy="4495800"/>
          </a:xfrm>
          <a:ln/>
        </p:spPr>
        <p:txBody>
          <a:bodyPr vert="horz" wrap="square" lIns="91440" tIns="45720" rIns="91440" bIns="45720" anchor="t"/>
          <a:p>
            <a:pPr eaLnBrk="1" hangingPunct="1">
              <a:buNone/>
            </a:pPr>
            <a:r>
              <a:rPr lang="en-US" altLang="zh-CN"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2）分社市场占有率的量化</a:t>
            </a: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对于同一门课程，不同的学生可能会选择不同出版社的教材。由假设6，我们可以把A出版社某分社的教材在同类产品中被选中的概率作为其市场占有率。我们通过Excel软件对附件2中的问卷调查数据按出版社进行分类，然后利用matlab7.0软件(附录1.2)求得各个分社的教材被学生选中的次数和该类教材的市场总量。从而得到9个分社在同类产品中的市场占有率    。则A出版社的总市场占有率为</a:t>
            </a:r>
            <a:endParaRPr lang="zh-CN" altLang="zh-CN" sz="2000" b="1">
              <a:solidFill>
                <a:srgbClr val="692AA2"/>
              </a:solidFill>
              <a:latin typeface="仿宋_GB2312" pitchFamily="49" charset="-122"/>
              <a:ea typeface="仿宋_GB2312" pitchFamily="49" charset="-122"/>
            </a:endParaRPr>
          </a:p>
          <a:p>
            <a:pPr eaLnBrk="1" hangingPunct="1">
              <a:buNone/>
            </a:pPr>
            <a:endParaRPr lang="zh-CN" altLang="zh-CN" sz="2000" b="1">
              <a:solidFill>
                <a:srgbClr val="692AA2"/>
              </a:solidFill>
              <a:latin typeface="仿宋_GB2312" pitchFamily="49" charset="-122"/>
              <a:ea typeface="仿宋_GB2312" pitchFamily="49" charset="-122"/>
            </a:endParaRPr>
          </a:p>
          <a:p>
            <a:pPr eaLnBrk="1" hangingPunct="1">
              <a:buNone/>
            </a:pP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（2）模型的建立 </a:t>
            </a:r>
            <a:endParaRPr lang="zh-CN" altLang="zh-CN"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各分社申请的书号数分别为 </a:t>
            </a:r>
            <a:endParaRPr lang="zh-CN" altLang="zh-CN" sz="2000" b="1">
              <a:solidFill>
                <a:srgbClr val="692AA2"/>
              </a:solidFill>
              <a:latin typeface="仿宋_GB2312" pitchFamily="49" charset="-122"/>
              <a:ea typeface="仿宋_GB2312" pitchFamily="49" charset="-122"/>
            </a:endParaRPr>
          </a:p>
          <a:p>
            <a:pPr eaLnBrk="1" hangingPunct="1">
              <a:buNone/>
            </a:pPr>
            <a:endParaRPr lang="zh-CN" altLang="zh-CN" sz="2000" b="1">
              <a:solidFill>
                <a:srgbClr val="692AA2"/>
              </a:solidFill>
              <a:latin typeface="仿宋_GB2312" pitchFamily="49" charset="-122"/>
              <a:ea typeface="仿宋_GB2312" pitchFamily="49" charset="-122"/>
            </a:endParaRPr>
          </a:p>
        </p:txBody>
      </p:sp>
      <p:sp>
        <p:nvSpPr>
          <p:cNvPr id="132098" name="Rectangle 3"/>
          <p:cNvSpPr/>
          <p:nvPr/>
        </p:nvSpPr>
        <p:spPr>
          <a:xfrm>
            <a:off x="0" y="-304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7620" name="Object 4"/>
          <p:cNvGraphicFramePr>
            <a:graphicFrameLocks noChangeAspect="1"/>
          </p:cNvGraphicFramePr>
          <p:nvPr/>
        </p:nvGraphicFramePr>
        <p:xfrm>
          <a:off x="4648200" y="3429000"/>
          <a:ext cx="269875" cy="381000"/>
        </p:xfrm>
        <a:graphic>
          <a:graphicData uri="http://schemas.openxmlformats.org/presentationml/2006/ole">
            <mc:AlternateContent xmlns:mc="http://schemas.openxmlformats.org/markup-compatibility/2006">
              <mc:Choice xmlns:v="urn:schemas-microsoft-com:vml" Requires="v">
                <p:oleObj spid="_x0000_s3334" name="" r:id="rId1" imgW="165100" imgH="228600" progId="Equation.DSMT4">
                  <p:embed/>
                </p:oleObj>
              </mc:Choice>
              <mc:Fallback>
                <p:oleObj name="" r:id="rId1" imgW="165100" imgH="228600" progId="Equation.DSMT4">
                  <p:embed/>
                  <p:pic>
                    <p:nvPicPr>
                      <p:cNvPr id="0" name="图片 3333"/>
                      <p:cNvPicPr/>
                      <p:nvPr/>
                    </p:nvPicPr>
                    <p:blipFill>
                      <a:blip r:embed="rId2"/>
                      <a:stretch>
                        <a:fillRect/>
                      </a:stretch>
                    </p:blipFill>
                    <p:spPr>
                      <a:xfrm>
                        <a:off x="4648200" y="3429000"/>
                        <a:ext cx="269875" cy="381000"/>
                      </a:xfrm>
                      <a:prstGeom prst="rect">
                        <a:avLst/>
                      </a:prstGeom>
                      <a:noFill/>
                      <a:ln w="38100">
                        <a:noFill/>
                        <a:miter/>
                      </a:ln>
                    </p:spPr>
                  </p:pic>
                </p:oleObj>
              </mc:Fallback>
            </mc:AlternateContent>
          </a:graphicData>
        </a:graphic>
      </p:graphicFrame>
      <p:sp>
        <p:nvSpPr>
          <p:cNvPr id="132100" name="Rectangle 5"/>
          <p:cNvSpPr/>
          <p:nvPr/>
        </p:nvSpPr>
        <p:spPr>
          <a:xfrm>
            <a:off x="0" y="-304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7622" name="Object 6"/>
          <p:cNvGraphicFramePr>
            <a:graphicFrameLocks noChangeAspect="1"/>
          </p:cNvGraphicFramePr>
          <p:nvPr/>
        </p:nvGraphicFramePr>
        <p:xfrm>
          <a:off x="3962400" y="3886200"/>
          <a:ext cx="990600" cy="620713"/>
        </p:xfrm>
        <a:graphic>
          <a:graphicData uri="http://schemas.openxmlformats.org/presentationml/2006/ole">
            <mc:AlternateContent xmlns:mc="http://schemas.openxmlformats.org/markup-compatibility/2006">
              <mc:Choice xmlns:v="urn:schemas-microsoft-com:vml" Requires="v">
                <p:oleObj spid="_x0000_s3335" name="" r:id="rId3" imgW="787400" imgH="495300" progId="Equation.DSMT4">
                  <p:embed/>
                </p:oleObj>
              </mc:Choice>
              <mc:Fallback>
                <p:oleObj name="" r:id="rId3" imgW="787400" imgH="495300" progId="Equation.DSMT4">
                  <p:embed/>
                  <p:pic>
                    <p:nvPicPr>
                      <p:cNvPr id="0" name="图片 3334"/>
                      <p:cNvPicPr/>
                      <p:nvPr/>
                    </p:nvPicPr>
                    <p:blipFill>
                      <a:blip r:embed="rId4"/>
                      <a:stretch>
                        <a:fillRect/>
                      </a:stretch>
                    </p:blipFill>
                    <p:spPr>
                      <a:xfrm>
                        <a:off x="3962400" y="3886200"/>
                        <a:ext cx="990600" cy="620713"/>
                      </a:xfrm>
                      <a:prstGeom prst="rect">
                        <a:avLst/>
                      </a:prstGeom>
                      <a:noFill/>
                      <a:ln w="38100">
                        <a:noFill/>
                        <a:miter/>
                      </a:ln>
                    </p:spPr>
                  </p:pic>
                </p:oleObj>
              </mc:Fallback>
            </mc:AlternateContent>
          </a:graphicData>
        </a:graphic>
      </p:graphicFrame>
      <p:sp>
        <p:nvSpPr>
          <p:cNvPr id="132102" name="Rectangle 7"/>
          <p:cNvSpPr/>
          <p:nvPr/>
        </p:nvSpPr>
        <p:spPr>
          <a:xfrm>
            <a:off x="0" y="-304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7624" name="Object 8"/>
          <p:cNvGraphicFramePr>
            <a:graphicFrameLocks noChangeAspect="1"/>
          </p:cNvGraphicFramePr>
          <p:nvPr/>
        </p:nvGraphicFramePr>
        <p:xfrm>
          <a:off x="4724400" y="4724400"/>
          <a:ext cx="1143000" cy="715963"/>
        </p:xfrm>
        <a:graphic>
          <a:graphicData uri="http://schemas.openxmlformats.org/presentationml/2006/ole">
            <mc:AlternateContent xmlns:mc="http://schemas.openxmlformats.org/markup-compatibility/2006">
              <mc:Choice xmlns:v="urn:schemas-microsoft-com:vml" Requires="v">
                <p:oleObj spid="_x0000_s3339" name="" r:id="rId5" imgW="635000" imgH="469900" progId="Equation.DSMT4">
                  <p:embed/>
                </p:oleObj>
              </mc:Choice>
              <mc:Fallback>
                <p:oleObj name="" r:id="rId5" imgW="635000" imgH="469900" progId="Equation.DSMT4">
                  <p:embed/>
                  <p:pic>
                    <p:nvPicPr>
                      <p:cNvPr id="0" name="图片 3338"/>
                      <p:cNvPicPr/>
                      <p:nvPr/>
                    </p:nvPicPr>
                    <p:blipFill>
                      <a:blip r:embed="rId6"/>
                      <a:stretch>
                        <a:fillRect/>
                      </a:stretch>
                    </p:blipFill>
                    <p:spPr>
                      <a:xfrm>
                        <a:off x="4724400" y="4724400"/>
                        <a:ext cx="1143000" cy="71596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7618">
                                            <p:txEl>
                                              <p:charRg st="0" end="16"/>
                                            </p:txEl>
                                          </p:spTgt>
                                        </p:tgtEl>
                                        <p:attrNameLst>
                                          <p:attrName>style.visibility</p:attrName>
                                        </p:attrNameLst>
                                      </p:cBhvr>
                                      <p:to>
                                        <p:strVal val="visible"/>
                                      </p:to>
                                    </p:set>
                                    <p:anim calcmode="lin" valueType="num">
                                      <p:cBhvr>
                                        <p:cTn id="7" dur="500" fill="hold"/>
                                        <p:tgtEl>
                                          <p:spTgt spid="367618">
                                            <p:txEl>
                                              <p:charRg st="0" end="16"/>
                                            </p:txEl>
                                          </p:spTgt>
                                        </p:tgtEl>
                                        <p:attrNameLst>
                                          <p:attrName>ppt_x</p:attrName>
                                        </p:attrNameLst>
                                      </p:cBhvr>
                                      <p:tavLst>
                                        <p:tav tm="0">
                                          <p:val>
                                            <p:strVal val="#ppt_x"/>
                                          </p:val>
                                        </p:tav>
                                        <p:tav tm="100000">
                                          <p:val>
                                            <p:strVal val="#ppt_x"/>
                                          </p:val>
                                        </p:tav>
                                      </p:tavLst>
                                    </p:anim>
                                    <p:anim calcmode="lin" valueType="num">
                                      <p:cBhvr>
                                        <p:cTn id="8" dur="500" fill="hold"/>
                                        <p:tgtEl>
                                          <p:spTgt spid="367618">
                                            <p:txEl>
                                              <p:charRg st="0" end="1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67618">
                                            <p:txEl>
                                              <p:charRg st="16" end="211"/>
                                            </p:txEl>
                                          </p:spTgt>
                                        </p:tgtEl>
                                        <p:attrNameLst>
                                          <p:attrName>style.visibility</p:attrName>
                                        </p:attrNameLst>
                                      </p:cBhvr>
                                      <p:to>
                                        <p:strVal val="visible"/>
                                      </p:to>
                                    </p:set>
                                    <p:anim calcmode="lin" valueType="num">
                                      <p:cBhvr>
                                        <p:cTn id="11" dur="500" fill="hold"/>
                                        <p:tgtEl>
                                          <p:spTgt spid="367618">
                                            <p:txEl>
                                              <p:charRg st="16" end="211"/>
                                            </p:txEl>
                                          </p:spTgt>
                                        </p:tgtEl>
                                        <p:attrNameLst>
                                          <p:attrName>ppt_x</p:attrName>
                                        </p:attrNameLst>
                                      </p:cBhvr>
                                      <p:tavLst>
                                        <p:tav tm="0">
                                          <p:val>
                                            <p:strVal val="#ppt_x"/>
                                          </p:val>
                                        </p:tav>
                                        <p:tav tm="100000">
                                          <p:val>
                                            <p:strVal val="#ppt_x"/>
                                          </p:val>
                                        </p:tav>
                                      </p:tavLst>
                                    </p:anim>
                                    <p:anim calcmode="lin" valueType="num">
                                      <p:cBhvr>
                                        <p:cTn id="12" dur="500" fill="hold"/>
                                        <p:tgtEl>
                                          <p:spTgt spid="367618">
                                            <p:txEl>
                                              <p:charRg st="16" end="2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67620"/>
                                        </p:tgtEl>
                                        <p:attrNameLst>
                                          <p:attrName>style.visibility</p:attrName>
                                        </p:attrNameLst>
                                      </p:cBhvr>
                                      <p:to>
                                        <p:strVal val="visible"/>
                                      </p:to>
                                    </p:set>
                                    <p:anim calcmode="lin" valueType="num">
                                      <p:cBhvr>
                                        <p:cTn id="15" dur="500" fill="hold"/>
                                        <p:tgtEl>
                                          <p:spTgt spid="367620"/>
                                        </p:tgtEl>
                                        <p:attrNameLst>
                                          <p:attrName>ppt_x</p:attrName>
                                        </p:attrNameLst>
                                      </p:cBhvr>
                                      <p:tavLst>
                                        <p:tav tm="0">
                                          <p:val>
                                            <p:strVal val="#ppt_x"/>
                                          </p:val>
                                        </p:tav>
                                        <p:tav tm="100000">
                                          <p:val>
                                            <p:strVal val="#ppt_x"/>
                                          </p:val>
                                        </p:tav>
                                      </p:tavLst>
                                    </p:anim>
                                    <p:anim calcmode="lin" valueType="num">
                                      <p:cBhvr>
                                        <p:cTn id="16" dur="500" fill="hold"/>
                                        <p:tgtEl>
                                          <p:spTgt spid="36762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67622"/>
                                        </p:tgtEl>
                                        <p:attrNameLst>
                                          <p:attrName>style.visibility</p:attrName>
                                        </p:attrNameLst>
                                      </p:cBhvr>
                                      <p:to>
                                        <p:strVal val="visible"/>
                                      </p:to>
                                    </p:set>
                                    <p:anim calcmode="lin" valueType="num">
                                      <p:cBhvr>
                                        <p:cTn id="19" dur="500" fill="hold"/>
                                        <p:tgtEl>
                                          <p:spTgt spid="367622"/>
                                        </p:tgtEl>
                                        <p:attrNameLst>
                                          <p:attrName>ppt_x</p:attrName>
                                        </p:attrNameLst>
                                      </p:cBhvr>
                                      <p:tavLst>
                                        <p:tav tm="0">
                                          <p:val>
                                            <p:strVal val="#ppt_x"/>
                                          </p:val>
                                        </p:tav>
                                        <p:tav tm="100000">
                                          <p:val>
                                            <p:strVal val="#ppt_x"/>
                                          </p:val>
                                        </p:tav>
                                      </p:tavLst>
                                    </p:anim>
                                    <p:anim calcmode="lin" valueType="num">
                                      <p:cBhvr>
                                        <p:cTn id="20" dur="500" fill="hold"/>
                                        <p:tgtEl>
                                          <p:spTgt spid="3676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7618">
                                            <p:txEl>
                                              <p:charRg st="213" end="223"/>
                                            </p:txEl>
                                          </p:spTgt>
                                        </p:tgtEl>
                                        <p:attrNameLst>
                                          <p:attrName>style.visibility</p:attrName>
                                        </p:attrNameLst>
                                      </p:cBhvr>
                                      <p:to>
                                        <p:strVal val="visible"/>
                                      </p:to>
                                    </p:set>
                                    <p:anim calcmode="lin" valueType="num">
                                      <p:cBhvr>
                                        <p:cTn id="25" dur="500" fill="hold"/>
                                        <p:tgtEl>
                                          <p:spTgt spid="367618">
                                            <p:txEl>
                                              <p:charRg st="213" end="223"/>
                                            </p:txEl>
                                          </p:spTgt>
                                        </p:tgtEl>
                                        <p:attrNameLst>
                                          <p:attrName>ppt_x</p:attrName>
                                        </p:attrNameLst>
                                      </p:cBhvr>
                                      <p:tavLst>
                                        <p:tav tm="0">
                                          <p:val>
                                            <p:strVal val="#ppt_x"/>
                                          </p:val>
                                        </p:tav>
                                        <p:tav tm="100000">
                                          <p:val>
                                            <p:strVal val="#ppt_x"/>
                                          </p:val>
                                        </p:tav>
                                      </p:tavLst>
                                    </p:anim>
                                    <p:anim calcmode="lin" valueType="num">
                                      <p:cBhvr>
                                        <p:cTn id="26" dur="500" fill="hold"/>
                                        <p:tgtEl>
                                          <p:spTgt spid="367618">
                                            <p:txEl>
                                              <p:charRg st="213" end="22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67618">
                                            <p:txEl>
                                              <p:charRg st="223" end="243"/>
                                            </p:txEl>
                                          </p:spTgt>
                                        </p:tgtEl>
                                        <p:attrNameLst>
                                          <p:attrName>style.visibility</p:attrName>
                                        </p:attrNameLst>
                                      </p:cBhvr>
                                      <p:to>
                                        <p:strVal val="visible"/>
                                      </p:to>
                                    </p:set>
                                    <p:anim calcmode="lin" valueType="num">
                                      <p:cBhvr>
                                        <p:cTn id="29" dur="500" fill="hold"/>
                                        <p:tgtEl>
                                          <p:spTgt spid="367618">
                                            <p:txEl>
                                              <p:charRg st="223" end="243"/>
                                            </p:txEl>
                                          </p:spTgt>
                                        </p:tgtEl>
                                        <p:attrNameLst>
                                          <p:attrName>ppt_x</p:attrName>
                                        </p:attrNameLst>
                                      </p:cBhvr>
                                      <p:tavLst>
                                        <p:tav tm="0">
                                          <p:val>
                                            <p:strVal val="#ppt_x"/>
                                          </p:val>
                                        </p:tav>
                                        <p:tav tm="100000">
                                          <p:val>
                                            <p:strVal val="#ppt_x"/>
                                          </p:val>
                                        </p:tav>
                                      </p:tavLst>
                                    </p:anim>
                                    <p:anim calcmode="lin" valueType="num">
                                      <p:cBhvr>
                                        <p:cTn id="30" dur="500" fill="hold"/>
                                        <p:tgtEl>
                                          <p:spTgt spid="367618">
                                            <p:txEl>
                                              <p:charRg st="223" end="24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67624"/>
                                        </p:tgtEl>
                                        <p:attrNameLst>
                                          <p:attrName>style.visibility</p:attrName>
                                        </p:attrNameLst>
                                      </p:cBhvr>
                                      <p:to>
                                        <p:strVal val="visible"/>
                                      </p:to>
                                    </p:set>
                                    <p:anim calcmode="lin" valueType="num">
                                      <p:cBhvr>
                                        <p:cTn id="33" dur="500" fill="hold"/>
                                        <p:tgtEl>
                                          <p:spTgt spid="367624"/>
                                        </p:tgtEl>
                                        <p:attrNameLst>
                                          <p:attrName>ppt_x</p:attrName>
                                        </p:attrNameLst>
                                      </p:cBhvr>
                                      <p:tavLst>
                                        <p:tav tm="0">
                                          <p:val>
                                            <p:strVal val="#ppt_x"/>
                                          </p:val>
                                        </p:tav>
                                        <p:tav tm="100000">
                                          <p:val>
                                            <p:strVal val="#ppt_x"/>
                                          </p:val>
                                        </p:tav>
                                      </p:tavLst>
                                    </p:anim>
                                    <p:anim calcmode="lin" valueType="num">
                                      <p:cBhvr>
                                        <p:cTn id="34" dur="500" fill="hold"/>
                                        <p:tgtEl>
                                          <p:spTgt spid="3676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Rectangle 2"/>
          <p:cNvSpPr>
            <a:spLocks noGrp="1"/>
          </p:cNvSpPr>
          <p:nvPr>
            <p:ph type="title"/>
          </p:nvPr>
        </p:nvSpPr>
        <p:spPr>
          <a:xfrm>
            <a:off x="762000" y="214313"/>
            <a:ext cx="7391400" cy="563562"/>
          </a:xfrm>
          <a:ln/>
        </p:spPr>
        <p:txBody>
          <a:bodyPr vert="horz" wrap="square" lIns="91440" tIns="45720" rIns="91440" bIns="45720" anchor="b"/>
          <a:p>
            <a:pPr eaLnBrk="1" hangingPunct="1"/>
            <a:r>
              <a:rPr lang="zh-CN" altLang="zh-CN" sz="1800">
                <a:solidFill>
                  <a:srgbClr val="692AA2"/>
                </a:solidFill>
                <a:latin typeface="仿宋_GB2312" pitchFamily="49" charset="-122"/>
                <a:ea typeface="仿宋_GB2312" pitchFamily="49" charset="-122"/>
              </a:rPr>
              <a:t> </a:t>
            </a:r>
            <a:endParaRPr lang="zh-CN" altLang="zh-CN" sz="1800">
              <a:solidFill>
                <a:srgbClr val="692AA2"/>
              </a:solidFill>
              <a:latin typeface="仿宋_GB2312" pitchFamily="49" charset="-122"/>
              <a:ea typeface="仿宋_GB2312" pitchFamily="49" charset="-122"/>
            </a:endParaRPr>
          </a:p>
        </p:txBody>
      </p:sp>
      <p:sp>
        <p:nvSpPr>
          <p:cNvPr id="368643" name="Rectangle 3"/>
          <p:cNvSpPr>
            <a:spLocks noGrp="1"/>
          </p:cNvSpPr>
          <p:nvPr>
            <p:ph idx="1"/>
          </p:nvPr>
        </p:nvSpPr>
        <p:spPr>
          <a:xfrm>
            <a:off x="304800" y="1281113"/>
            <a:ext cx="8229600" cy="4724400"/>
          </a:xfrm>
          <a:ln/>
        </p:spPr>
        <p:txBody>
          <a:bodyPr vert="horz" wrap="square" lIns="91440" tIns="45720" rIns="91440" bIns="45720" anchor="t"/>
          <a:p>
            <a:pPr marL="533400" indent="-533400" eaLnBrk="1" hangingPunct="1">
              <a:lnSpc>
                <a:spcPct val="90000"/>
              </a:lnSpc>
              <a:buNone/>
            </a:pPr>
            <a:r>
              <a:rPr lang="zh-CN" altLang="zh-CN"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分别为分社所辖课程代码的最小值和最大值。</a:t>
            </a:r>
            <a:endParaRPr lang="zh-CN" altLang="zh-CN" sz="2000" b="1">
              <a:solidFill>
                <a:srgbClr val="692AA2"/>
              </a:solidFill>
              <a:latin typeface="仿宋_GB2312" pitchFamily="49" charset="-122"/>
              <a:ea typeface="仿宋_GB2312" pitchFamily="49" charset="-122"/>
            </a:endParaRPr>
          </a:p>
          <a:p>
            <a:pPr marL="533400" indent="-533400" eaLnBrk="1" hangingPunct="1">
              <a:lnSpc>
                <a:spcPct val="9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获得的书号数分别为        </a:t>
            </a:r>
            <a:endParaRPr lang="zh-CN" altLang="zh-CN" sz="2000" b="1">
              <a:solidFill>
                <a:srgbClr val="692AA2"/>
              </a:solidFill>
              <a:latin typeface="仿宋_GB2312" pitchFamily="49" charset="-122"/>
              <a:ea typeface="仿宋_GB2312" pitchFamily="49" charset="-122"/>
            </a:endParaRPr>
          </a:p>
          <a:p>
            <a:pPr marL="533400" indent="-533400" eaLnBrk="1" hangingPunct="1">
              <a:lnSpc>
                <a:spcPct val="90000"/>
              </a:lnSpc>
              <a:buNone/>
            </a:pPr>
            <a:endParaRPr lang="zh-CN" altLang="zh-CN" sz="2000" b="1">
              <a:solidFill>
                <a:srgbClr val="692AA2"/>
              </a:solidFill>
              <a:latin typeface="仿宋_GB2312" pitchFamily="49" charset="-122"/>
              <a:ea typeface="仿宋_GB2312" pitchFamily="49" charset="-122"/>
            </a:endParaRPr>
          </a:p>
          <a:p>
            <a:pPr marL="533400" indent="-533400"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由上面得到的9个分社满意度的量化值   </a:t>
            </a:r>
            <a:r>
              <a:rPr lang="zh-CN" altLang="zh-CN" sz="2000" b="1" i="1">
                <a:solidFill>
                  <a:srgbClr val="692AA2"/>
                </a:solidFill>
                <a:latin typeface="仿宋_GB2312" pitchFamily="49" charset="-122"/>
                <a:ea typeface="仿宋_GB2312" pitchFamily="49" charset="-122"/>
              </a:rPr>
              <a:t>、</a:t>
            </a:r>
            <a:r>
              <a:rPr lang="zh-CN" altLang="zh-CN" sz="2000" b="1">
                <a:solidFill>
                  <a:srgbClr val="692AA2"/>
                </a:solidFill>
                <a:latin typeface="仿宋_GB2312" pitchFamily="49" charset="-122"/>
                <a:ea typeface="仿宋_GB2312" pitchFamily="49" charset="-122"/>
              </a:rPr>
              <a:t>市场占有率的量化值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下面建立资源(书号)配置的多目标规划模型。</a:t>
            </a:r>
            <a:endParaRPr lang="zh-CN" altLang="zh-CN" sz="2000" b="1">
              <a:solidFill>
                <a:srgbClr val="692AA2"/>
              </a:solidFill>
              <a:latin typeface="仿宋_GB2312" pitchFamily="49" charset="-122"/>
              <a:ea typeface="仿宋_GB2312" pitchFamily="49" charset="-122"/>
            </a:endParaRPr>
          </a:p>
          <a:p>
            <a:pPr marL="533400" indent="-533400"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模型的建立必须基于如下约束条件：</a:t>
            </a:r>
            <a:endParaRPr lang="zh-CN" altLang="zh-CN" sz="2000" b="1">
              <a:solidFill>
                <a:srgbClr val="692AA2"/>
              </a:solidFill>
              <a:latin typeface="仿宋_GB2312" pitchFamily="49" charset="-122"/>
              <a:ea typeface="仿宋_GB2312" pitchFamily="49" charset="-122"/>
            </a:endParaRPr>
          </a:p>
          <a:p>
            <a:pPr marL="533400" indent="-533400"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(1)</a:t>
            </a:r>
            <a:r>
              <a:rPr lang="zh-CN" altLang="zh-CN" sz="2000" b="1">
                <a:solidFill>
                  <a:srgbClr val="692AA2"/>
                </a:solidFill>
                <a:latin typeface="仿宋_GB2312" pitchFamily="49" charset="-122"/>
                <a:ea typeface="仿宋_GB2312" pitchFamily="49" charset="-122"/>
              </a:rPr>
              <a:t>人力资源约束：  </a:t>
            </a:r>
            <a:r>
              <a:rPr lang="zh-CN" altLang="zh-CN" sz="2000" b="1" i="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a:t>
            </a:r>
            <a:endParaRPr lang="zh-CN" altLang="zh-CN" sz="2000" b="1">
              <a:solidFill>
                <a:srgbClr val="692AA2"/>
              </a:solidFill>
              <a:latin typeface="仿宋_GB2312" pitchFamily="49" charset="-122"/>
              <a:ea typeface="仿宋_GB2312" pitchFamily="49" charset="-122"/>
            </a:endParaRPr>
          </a:p>
          <a:p>
            <a:pPr marL="533400" indent="-533400"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各个分社所能处理的最大书号个数不大于获得书号个数；</a:t>
            </a:r>
            <a:endParaRPr lang="zh-CN" altLang="zh-CN" sz="2000" b="1">
              <a:solidFill>
                <a:srgbClr val="692AA2"/>
              </a:solidFill>
              <a:latin typeface="仿宋_GB2312" pitchFamily="49" charset="-122"/>
              <a:ea typeface="仿宋_GB2312" pitchFamily="49" charset="-122"/>
            </a:endParaRPr>
          </a:p>
          <a:p>
            <a:pPr marL="533400" indent="-533400"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(2)</a:t>
            </a:r>
            <a:r>
              <a:rPr lang="zh-CN" altLang="zh-CN" sz="2000" b="1">
                <a:solidFill>
                  <a:srgbClr val="692AA2"/>
                </a:solidFill>
                <a:latin typeface="仿宋_GB2312" pitchFamily="49" charset="-122"/>
                <a:ea typeface="仿宋_GB2312" pitchFamily="49" charset="-122"/>
              </a:rPr>
              <a:t>书号总数约束：             </a:t>
            </a:r>
            <a:endParaRPr lang="zh-CN" altLang="zh-CN" sz="2000" b="1">
              <a:solidFill>
                <a:srgbClr val="692AA2"/>
              </a:solidFill>
              <a:latin typeface="仿宋_GB2312" pitchFamily="49" charset="-122"/>
              <a:ea typeface="仿宋_GB2312" pitchFamily="49" charset="-122"/>
            </a:endParaRPr>
          </a:p>
          <a:p>
            <a:pPr marL="533400" indent="-533400"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由假设1，我们通过统计分析，发现2001～2005年A出版社每年分配的书号总数均为500个，由政策的连贯性，可认为2006年仍为500个。因此有</a:t>
            </a:r>
            <a:endParaRPr lang="zh-CN" altLang="zh-CN" sz="2000" b="1">
              <a:solidFill>
                <a:srgbClr val="692AA2"/>
              </a:solidFill>
              <a:latin typeface="仿宋_GB2312" pitchFamily="49" charset="-122"/>
              <a:ea typeface="仿宋_GB2312" pitchFamily="49" charset="-122"/>
            </a:endParaRPr>
          </a:p>
        </p:txBody>
      </p:sp>
      <p:sp>
        <p:nvSpPr>
          <p:cNvPr id="133123" name="Rectangle 4"/>
          <p:cNvSpPr/>
          <p:nvPr/>
        </p:nvSpPr>
        <p:spPr>
          <a:xfrm>
            <a:off x="-152400" y="-4714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8645" name="Object 5"/>
          <p:cNvGraphicFramePr>
            <a:graphicFrameLocks noChangeAspect="1"/>
          </p:cNvGraphicFramePr>
          <p:nvPr/>
        </p:nvGraphicFramePr>
        <p:xfrm>
          <a:off x="1447800" y="1357313"/>
          <a:ext cx="762000" cy="350837"/>
        </p:xfrm>
        <a:graphic>
          <a:graphicData uri="http://schemas.openxmlformats.org/presentationml/2006/ole">
            <mc:AlternateContent xmlns:mc="http://schemas.openxmlformats.org/markup-compatibility/2006">
              <mc:Choice xmlns:v="urn:schemas-microsoft-com:vml" Requires="v">
                <p:oleObj spid="_x0000_s3336" name="" r:id="rId1" imgW="393700" imgH="228600" progId="Equation.DSMT4">
                  <p:embed/>
                </p:oleObj>
              </mc:Choice>
              <mc:Fallback>
                <p:oleObj name="" r:id="rId1" imgW="393700" imgH="228600" progId="Equation.DSMT4">
                  <p:embed/>
                  <p:pic>
                    <p:nvPicPr>
                      <p:cNvPr id="0" name="图片 3335"/>
                      <p:cNvPicPr/>
                      <p:nvPr/>
                    </p:nvPicPr>
                    <p:blipFill>
                      <a:blip r:embed="rId2"/>
                      <a:stretch>
                        <a:fillRect/>
                      </a:stretch>
                    </p:blipFill>
                    <p:spPr>
                      <a:xfrm>
                        <a:off x="1447800" y="1357313"/>
                        <a:ext cx="762000" cy="350837"/>
                      </a:xfrm>
                      <a:prstGeom prst="rect">
                        <a:avLst/>
                      </a:prstGeom>
                      <a:noFill/>
                      <a:ln w="38100">
                        <a:noFill/>
                        <a:miter/>
                      </a:ln>
                    </p:spPr>
                  </p:pic>
                </p:oleObj>
              </mc:Fallback>
            </mc:AlternateContent>
          </a:graphicData>
        </a:graphic>
      </p:graphicFrame>
      <p:sp>
        <p:nvSpPr>
          <p:cNvPr id="133125" name="Rectangle 6"/>
          <p:cNvSpPr/>
          <p:nvPr/>
        </p:nvSpPr>
        <p:spPr>
          <a:xfrm>
            <a:off x="-152400" y="-4714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8647" name="Object 7"/>
          <p:cNvGraphicFramePr>
            <a:graphicFrameLocks noChangeAspect="1"/>
          </p:cNvGraphicFramePr>
          <p:nvPr/>
        </p:nvGraphicFramePr>
        <p:xfrm>
          <a:off x="3962400" y="1524000"/>
          <a:ext cx="1143000" cy="674688"/>
        </p:xfrm>
        <a:graphic>
          <a:graphicData uri="http://schemas.openxmlformats.org/presentationml/2006/ole">
            <mc:AlternateContent xmlns:mc="http://schemas.openxmlformats.org/markup-compatibility/2006">
              <mc:Choice xmlns:v="urn:schemas-microsoft-com:vml" Requires="v">
                <p:oleObj spid="_x0000_s3331" name="" r:id="rId3" imgW="622300" imgH="469900" progId="Equation.DSMT4">
                  <p:embed/>
                </p:oleObj>
              </mc:Choice>
              <mc:Fallback>
                <p:oleObj name="" r:id="rId3" imgW="622300" imgH="469900" progId="Equation.DSMT4">
                  <p:embed/>
                  <p:pic>
                    <p:nvPicPr>
                      <p:cNvPr id="0" name="图片 3330"/>
                      <p:cNvPicPr/>
                      <p:nvPr/>
                    </p:nvPicPr>
                    <p:blipFill>
                      <a:blip r:embed="rId4"/>
                      <a:stretch>
                        <a:fillRect/>
                      </a:stretch>
                    </p:blipFill>
                    <p:spPr>
                      <a:xfrm>
                        <a:off x="3962400" y="1524000"/>
                        <a:ext cx="1143000" cy="674688"/>
                      </a:xfrm>
                      <a:prstGeom prst="rect">
                        <a:avLst/>
                      </a:prstGeom>
                      <a:noFill/>
                      <a:ln w="38100">
                        <a:noFill/>
                        <a:miter/>
                      </a:ln>
                    </p:spPr>
                  </p:pic>
                </p:oleObj>
              </mc:Fallback>
            </mc:AlternateContent>
          </a:graphicData>
        </a:graphic>
      </p:graphicFrame>
      <p:sp>
        <p:nvSpPr>
          <p:cNvPr id="133127" name="Rectangle 8"/>
          <p:cNvSpPr/>
          <p:nvPr/>
        </p:nvSpPr>
        <p:spPr>
          <a:xfrm>
            <a:off x="-152400" y="-4714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8649" name="Object 9"/>
          <p:cNvGraphicFramePr>
            <a:graphicFrameLocks noChangeAspect="1"/>
          </p:cNvGraphicFramePr>
          <p:nvPr/>
        </p:nvGraphicFramePr>
        <p:xfrm>
          <a:off x="5638800" y="2347913"/>
          <a:ext cx="301625" cy="381000"/>
        </p:xfrm>
        <a:graphic>
          <a:graphicData uri="http://schemas.openxmlformats.org/presentationml/2006/ole">
            <mc:AlternateContent xmlns:mc="http://schemas.openxmlformats.org/markup-compatibility/2006">
              <mc:Choice xmlns:v="urn:schemas-microsoft-com:vml" Requires="v">
                <p:oleObj spid="_x0000_s3338" name="" r:id="rId5" imgW="177800" imgH="228600" progId="Equation.DSMT4">
                  <p:embed/>
                </p:oleObj>
              </mc:Choice>
              <mc:Fallback>
                <p:oleObj name="" r:id="rId5" imgW="177800" imgH="228600" progId="Equation.DSMT4">
                  <p:embed/>
                  <p:pic>
                    <p:nvPicPr>
                      <p:cNvPr id="0" name="图片 3337"/>
                      <p:cNvPicPr/>
                      <p:nvPr/>
                    </p:nvPicPr>
                    <p:blipFill>
                      <a:blip r:embed="rId6"/>
                      <a:stretch>
                        <a:fillRect/>
                      </a:stretch>
                    </p:blipFill>
                    <p:spPr>
                      <a:xfrm>
                        <a:off x="5638800" y="2347913"/>
                        <a:ext cx="301625" cy="381000"/>
                      </a:xfrm>
                      <a:prstGeom prst="rect">
                        <a:avLst/>
                      </a:prstGeom>
                      <a:noFill/>
                      <a:ln w="38100">
                        <a:noFill/>
                        <a:miter/>
                      </a:ln>
                    </p:spPr>
                  </p:pic>
                </p:oleObj>
              </mc:Fallback>
            </mc:AlternateContent>
          </a:graphicData>
        </a:graphic>
      </p:graphicFrame>
      <p:sp>
        <p:nvSpPr>
          <p:cNvPr id="133129" name="Rectangle 10"/>
          <p:cNvSpPr/>
          <p:nvPr/>
        </p:nvSpPr>
        <p:spPr>
          <a:xfrm>
            <a:off x="-152400" y="-4714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8651" name="Object 11"/>
          <p:cNvGraphicFramePr>
            <a:graphicFrameLocks noChangeAspect="1"/>
          </p:cNvGraphicFramePr>
          <p:nvPr/>
        </p:nvGraphicFramePr>
        <p:xfrm>
          <a:off x="1219200" y="2728913"/>
          <a:ext cx="269875" cy="381000"/>
        </p:xfrm>
        <a:graphic>
          <a:graphicData uri="http://schemas.openxmlformats.org/presentationml/2006/ole">
            <mc:AlternateContent xmlns:mc="http://schemas.openxmlformats.org/markup-compatibility/2006">
              <mc:Choice xmlns:v="urn:schemas-microsoft-com:vml" Requires="v">
                <p:oleObj spid="_x0000_s3332" name="" r:id="rId7" imgW="165100" imgH="228600" progId="Equation.DSMT4">
                  <p:embed/>
                </p:oleObj>
              </mc:Choice>
              <mc:Fallback>
                <p:oleObj name="" r:id="rId7" imgW="165100" imgH="228600" progId="Equation.DSMT4">
                  <p:embed/>
                  <p:pic>
                    <p:nvPicPr>
                      <p:cNvPr id="0" name="图片 3331"/>
                      <p:cNvPicPr/>
                      <p:nvPr/>
                    </p:nvPicPr>
                    <p:blipFill>
                      <a:blip r:embed="rId8"/>
                      <a:stretch>
                        <a:fillRect/>
                      </a:stretch>
                    </p:blipFill>
                    <p:spPr>
                      <a:xfrm>
                        <a:off x="1219200" y="2728913"/>
                        <a:ext cx="269875" cy="381000"/>
                      </a:xfrm>
                      <a:prstGeom prst="rect">
                        <a:avLst/>
                      </a:prstGeom>
                      <a:noFill/>
                      <a:ln w="38100">
                        <a:noFill/>
                        <a:miter/>
                      </a:ln>
                    </p:spPr>
                  </p:pic>
                </p:oleObj>
              </mc:Fallback>
            </mc:AlternateContent>
          </a:graphicData>
        </a:graphic>
      </p:graphicFrame>
      <p:sp>
        <p:nvSpPr>
          <p:cNvPr id="133131" name="Rectangle 12"/>
          <p:cNvSpPr/>
          <p:nvPr/>
        </p:nvSpPr>
        <p:spPr>
          <a:xfrm>
            <a:off x="-152400" y="-471487"/>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8653" name="Object 13"/>
          <p:cNvGraphicFramePr>
            <a:graphicFrameLocks noChangeAspect="1"/>
          </p:cNvGraphicFramePr>
          <p:nvPr/>
        </p:nvGraphicFramePr>
        <p:xfrm>
          <a:off x="3505200" y="3429000"/>
          <a:ext cx="1981200" cy="373063"/>
        </p:xfrm>
        <a:graphic>
          <a:graphicData uri="http://schemas.openxmlformats.org/presentationml/2006/ole">
            <mc:AlternateContent xmlns:mc="http://schemas.openxmlformats.org/markup-compatibility/2006">
              <mc:Choice xmlns:v="urn:schemas-microsoft-com:vml" Requires="v">
                <p:oleObj spid="_x0000_s3333" name="" r:id="rId9" imgW="1118235" imgH="241300" progId="Equation.DSMT4">
                  <p:embed/>
                </p:oleObj>
              </mc:Choice>
              <mc:Fallback>
                <p:oleObj name="" r:id="rId9" imgW="1118235" imgH="241300" progId="Equation.DSMT4">
                  <p:embed/>
                  <p:pic>
                    <p:nvPicPr>
                      <p:cNvPr id="0" name="图片 3332"/>
                      <p:cNvPicPr/>
                      <p:nvPr/>
                    </p:nvPicPr>
                    <p:blipFill>
                      <a:blip r:embed="rId10"/>
                      <a:stretch>
                        <a:fillRect/>
                      </a:stretch>
                    </p:blipFill>
                    <p:spPr>
                      <a:xfrm>
                        <a:off x="3505200" y="3429000"/>
                        <a:ext cx="1981200" cy="373063"/>
                      </a:xfrm>
                      <a:prstGeom prst="rect">
                        <a:avLst/>
                      </a:prstGeom>
                      <a:noFill/>
                      <a:ln w="38100">
                        <a:noFill/>
                        <a:miter/>
                      </a:ln>
                    </p:spPr>
                  </p:pic>
                </p:oleObj>
              </mc:Fallback>
            </mc:AlternateContent>
          </a:graphicData>
        </a:graphic>
      </p:graphicFrame>
      <p:graphicFrame>
        <p:nvGraphicFramePr>
          <p:cNvPr id="368654" name="Object 14"/>
          <p:cNvGraphicFramePr>
            <a:graphicFrameLocks noChangeAspect="1"/>
          </p:cNvGraphicFramePr>
          <p:nvPr/>
        </p:nvGraphicFramePr>
        <p:xfrm>
          <a:off x="3657600" y="5334000"/>
          <a:ext cx="1371600" cy="623888"/>
        </p:xfrm>
        <a:graphic>
          <a:graphicData uri="http://schemas.openxmlformats.org/presentationml/2006/ole">
            <mc:AlternateContent xmlns:mc="http://schemas.openxmlformats.org/markup-compatibility/2006">
              <mc:Choice xmlns:v="urn:schemas-microsoft-com:vml" Requires="v">
                <p:oleObj spid="_x0000_s3329" name="" r:id="rId11" imgW="774700" imgH="431800" progId="Equation.DSMT4">
                  <p:embed/>
                </p:oleObj>
              </mc:Choice>
              <mc:Fallback>
                <p:oleObj name="" r:id="rId11" imgW="774700" imgH="431800" progId="Equation.DSMT4">
                  <p:embed/>
                  <p:pic>
                    <p:nvPicPr>
                      <p:cNvPr id="0" name="图片 3328"/>
                      <p:cNvPicPr/>
                      <p:nvPr/>
                    </p:nvPicPr>
                    <p:blipFill>
                      <a:blip r:embed="rId12"/>
                      <a:stretch>
                        <a:fillRect/>
                      </a:stretch>
                    </p:blipFill>
                    <p:spPr>
                      <a:xfrm>
                        <a:off x="3657600" y="5334000"/>
                        <a:ext cx="1371600" cy="62388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68643">
                                            <p:txEl>
                                              <p:charRg st="0" end="35"/>
                                            </p:txEl>
                                          </p:spTgt>
                                        </p:tgtEl>
                                        <p:attrNameLst>
                                          <p:attrName>style.visibility</p:attrName>
                                        </p:attrNameLst>
                                      </p:cBhvr>
                                      <p:to>
                                        <p:strVal val="visible"/>
                                      </p:to>
                                    </p:set>
                                    <p:animEffect transition="in" filter="randombar(horizontal)">
                                      <p:cBhvr>
                                        <p:cTn id="7" dur="500"/>
                                        <p:tgtEl>
                                          <p:spTgt spid="368643">
                                            <p:txEl>
                                              <p:charRg st="0" end="35"/>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68643">
                                            <p:txEl>
                                              <p:charRg st="35" end="61"/>
                                            </p:txEl>
                                          </p:spTgt>
                                        </p:tgtEl>
                                        <p:attrNameLst>
                                          <p:attrName>style.visibility</p:attrName>
                                        </p:attrNameLst>
                                      </p:cBhvr>
                                      <p:to>
                                        <p:strVal val="visible"/>
                                      </p:to>
                                    </p:set>
                                    <p:animEffect transition="in" filter="randombar(horizontal)">
                                      <p:cBhvr>
                                        <p:cTn id="10" dur="500"/>
                                        <p:tgtEl>
                                          <p:spTgt spid="368643">
                                            <p:txEl>
                                              <p:charRg st="35" end="61"/>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368643">
                                            <p:txEl>
                                              <p:charRg st="62" end="125"/>
                                            </p:txEl>
                                          </p:spTgt>
                                        </p:tgtEl>
                                        <p:attrNameLst>
                                          <p:attrName>style.visibility</p:attrName>
                                        </p:attrNameLst>
                                      </p:cBhvr>
                                      <p:to>
                                        <p:strVal val="visible"/>
                                      </p:to>
                                    </p:set>
                                    <p:animEffect transition="in" filter="randombar(horizontal)">
                                      <p:cBhvr>
                                        <p:cTn id="13" dur="500"/>
                                        <p:tgtEl>
                                          <p:spTgt spid="368643">
                                            <p:txEl>
                                              <p:charRg st="62" end="125"/>
                                            </p:txEl>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368643">
                                            <p:txEl>
                                              <p:charRg st="125" end="150"/>
                                            </p:txEl>
                                          </p:spTgt>
                                        </p:tgtEl>
                                        <p:attrNameLst>
                                          <p:attrName>style.visibility</p:attrName>
                                        </p:attrNameLst>
                                      </p:cBhvr>
                                      <p:to>
                                        <p:strVal val="visible"/>
                                      </p:to>
                                    </p:set>
                                    <p:animEffect transition="in" filter="randombar(horizontal)">
                                      <p:cBhvr>
                                        <p:cTn id="16" dur="500"/>
                                        <p:tgtEl>
                                          <p:spTgt spid="368643">
                                            <p:txEl>
                                              <p:charRg st="125" end="150"/>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368645"/>
                                        </p:tgtEl>
                                        <p:attrNameLst>
                                          <p:attrName>style.visibility</p:attrName>
                                        </p:attrNameLst>
                                      </p:cBhvr>
                                      <p:to>
                                        <p:strVal val="visible"/>
                                      </p:to>
                                    </p:set>
                                    <p:animEffect transition="in" filter="randombar(horizontal)">
                                      <p:cBhvr>
                                        <p:cTn id="19" dur="500"/>
                                        <p:tgtEl>
                                          <p:spTgt spid="368645"/>
                                        </p:tgtEl>
                                      </p:cBhvr>
                                    </p:animEffect>
                                  </p:childTnLst>
                                </p:cTn>
                              </p:par>
                              <p:par>
                                <p:cTn id="20" presetID="14" presetClass="entr" presetSubtype="10" fill="hold" nodeType="withEffect">
                                  <p:stCondLst>
                                    <p:cond delay="0"/>
                                  </p:stCondLst>
                                  <p:childTnLst>
                                    <p:set>
                                      <p:cBhvr>
                                        <p:cTn id="21" dur="1" fill="hold">
                                          <p:stCondLst>
                                            <p:cond delay="0"/>
                                          </p:stCondLst>
                                        </p:cTn>
                                        <p:tgtEl>
                                          <p:spTgt spid="368647"/>
                                        </p:tgtEl>
                                        <p:attrNameLst>
                                          <p:attrName>style.visibility</p:attrName>
                                        </p:attrNameLst>
                                      </p:cBhvr>
                                      <p:to>
                                        <p:strVal val="visible"/>
                                      </p:to>
                                    </p:set>
                                    <p:animEffect transition="in" filter="randombar(horizontal)">
                                      <p:cBhvr>
                                        <p:cTn id="22" dur="500"/>
                                        <p:tgtEl>
                                          <p:spTgt spid="368647"/>
                                        </p:tgtEl>
                                      </p:cBhvr>
                                    </p:animEffect>
                                  </p:childTnLst>
                                </p:cTn>
                              </p:par>
                              <p:par>
                                <p:cTn id="23" presetID="14" presetClass="entr" presetSubtype="10" fill="hold" nodeType="withEffect">
                                  <p:stCondLst>
                                    <p:cond delay="0"/>
                                  </p:stCondLst>
                                  <p:childTnLst>
                                    <p:set>
                                      <p:cBhvr>
                                        <p:cTn id="24" dur="1" fill="hold">
                                          <p:stCondLst>
                                            <p:cond delay="0"/>
                                          </p:stCondLst>
                                        </p:cTn>
                                        <p:tgtEl>
                                          <p:spTgt spid="368649"/>
                                        </p:tgtEl>
                                        <p:attrNameLst>
                                          <p:attrName>style.visibility</p:attrName>
                                        </p:attrNameLst>
                                      </p:cBhvr>
                                      <p:to>
                                        <p:strVal val="visible"/>
                                      </p:to>
                                    </p:set>
                                    <p:animEffect transition="in" filter="randombar(horizontal)">
                                      <p:cBhvr>
                                        <p:cTn id="25" dur="500"/>
                                        <p:tgtEl>
                                          <p:spTgt spid="368649"/>
                                        </p:tgtEl>
                                      </p:cBhvr>
                                    </p:animEffect>
                                  </p:childTnLst>
                                </p:cTn>
                              </p:par>
                              <p:par>
                                <p:cTn id="26" presetID="14" presetClass="entr" presetSubtype="10" fill="hold" nodeType="withEffect">
                                  <p:stCondLst>
                                    <p:cond delay="0"/>
                                  </p:stCondLst>
                                  <p:childTnLst>
                                    <p:set>
                                      <p:cBhvr>
                                        <p:cTn id="27" dur="1" fill="hold">
                                          <p:stCondLst>
                                            <p:cond delay="0"/>
                                          </p:stCondLst>
                                        </p:cTn>
                                        <p:tgtEl>
                                          <p:spTgt spid="368651"/>
                                        </p:tgtEl>
                                        <p:attrNameLst>
                                          <p:attrName>style.visibility</p:attrName>
                                        </p:attrNameLst>
                                      </p:cBhvr>
                                      <p:to>
                                        <p:strVal val="visible"/>
                                      </p:to>
                                    </p:set>
                                    <p:animEffect transition="in" filter="randombar(horizontal)">
                                      <p:cBhvr>
                                        <p:cTn id="28" dur="500"/>
                                        <p:tgtEl>
                                          <p:spTgt spid="368651"/>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368643">
                                            <p:txEl>
                                              <p:charRg st="150" end="185"/>
                                            </p:txEl>
                                          </p:spTgt>
                                        </p:tgtEl>
                                        <p:attrNameLst>
                                          <p:attrName>style.visibility</p:attrName>
                                        </p:attrNameLst>
                                      </p:cBhvr>
                                      <p:to>
                                        <p:strVal val="visible"/>
                                      </p:to>
                                    </p:set>
                                    <p:animEffect transition="in" filter="randombar(horizontal)">
                                      <p:cBhvr>
                                        <p:cTn id="33" dur="500"/>
                                        <p:tgtEl>
                                          <p:spTgt spid="368643">
                                            <p:txEl>
                                              <p:charRg st="150" end="185"/>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368653"/>
                                        </p:tgtEl>
                                        <p:attrNameLst>
                                          <p:attrName>style.visibility</p:attrName>
                                        </p:attrNameLst>
                                      </p:cBhvr>
                                      <p:to>
                                        <p:strVal val="visible"/>
                                      </p:to>
                                    </p:set>
                                    <p:animEffect transition="in" filter="randombar(horizontal)">
                                      <p:cBhvr>
                                        <p:cTn id="36" dur="500"/>
                                        <p:tgtEl>
                                          <p:spTgt spid="368653"/>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368643">
                                            <p:txEl>
                                              <p:charRg st="185" end="219"/>
                                            </p:txEl>
                                          </p:spTgt>
                                        </p:tgtEl>
                                        <p:attrNameLst>
                                          <p:attrName>style.visibility</p:attrName>
                                        </p:attrNameLst>
                                      </p:cBhvr>
                                      <p:to>
                                        <p:strVal val="visible"/>
                                      </p:to>
                                    </p:set>
                                    <p:animEffect transition="in" filter="randombar(horizontal)">
                                      <p:cBhvr>
                                        <p:cTn id="39" dur="500"/>
                                        <p:tgtEl>
                                          <p:spTgt spid="368643">
                                            <p:txEl>
                                              <p:charRg st="185" end="21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368643">
                                            <p:txEl>
                                              <p:charRg st="219" end="251"/>
                                            </p:txEl>
                                          </p:spTgt>
                                        </p:tgtEl>
                                        <p:attrNameLst>
                                          <p:attrName>style.visibility</p:attrName>
                                        </p:attrNameLst>
                                      </p:cBhvr>
                                      <p:to>
                                        <p:strVal val="visible"/>
                                      </p:to>
                                    </p:set>
                                    <p:animEffect transition="in" filter="randombar(horizontal)">
                                      <p:cBhvr>
                                        <p:cTn id="44" dur="500"/>
                                        <p:tgtEl>
                                          <p:spTgt spid="368643">
                                            <p:txEl>
                                              <p:charRg st="219" end="251"/>
                                            </p:txEl>
                                          </p:spTgt>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368643">
                                            <p:txEl>
                                              <p:charRg st="251" end="332"/>
                                            </p:txEl>
                                          </p:spTgt>
                                        </p:tgtEl>
                                        <p:attrNameLst>
                                          <p:attrName>style.visibility</p:attrName>
                                        </p:attrNameLst>
                                      </p:cBhvr>
                                      <p:to>
                                        <p:strVal val="visible"/>
                                      </p:to>
                                    </p:set>
                                    <p:animEffect transition="in" filter="randombar(horizontal)">
                                      <p:cBhvr>
                                        <p:cTn id="47" dur="500"/>
                                        <p:tgtEl>
                                          <p:spTgt spid="368643">
                                            <p:txEl>
                                              <p:charRg st="251" end="332"/>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368654"/>
                                        </p:tgtEl>
                                        <p:attrNameLst>
                                          <p:attrName>style.visibility</p:attrName>
                                        </p:attrNameLst>
                                      </p:cBhvr>
                                      <p:to>
                                        <p:strVal val="visible"/>
                                      </p:to>
                                    </p:set>
                                    <p:animEffect transition="in" filter="randombar(horizontal)">
                                      <p:cBhvr>
                                        <p:cTn id="50" dur="500"/>
                                        <p:tgtEl>
                                          <p:spTgt spid="368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Rectangle 2"/>
          <p:cNvSpPr>
            <a:spLocks noGrp="1"/>
          </p:cNvSpPr>
          <p:nvPr>
            <p:ph type="title"/>
          </p:nvPr>
        </p:nvSpPr>
        <p:spPr>
          <a:xfrm>
            <a:off x="914400" y="228600"/>
            <a:ext cx="7391400" cy="563563"/>
          </a:xfrm>
          <a:ln/>
        </p:spPr>
        <p:txBody>
          <a:bodyPr vert="horz" wrap="square" lIns="91440" tIns="45720" rIns="91440" bIns="45720" anchor="b"/>
          <a:p>
            <a:pPr eaLnBrk="1" hangingPunct="1"/>
            <a:r>
              <a:rPr lang="zh-CN" altLang="zh-CN" sz="1800">
                <a:solidFill>
                  <a:srgbClr val="692AA2"/>
                </a:solidFill>
                <a:latin typeface="仿宋_GB2312" pitchFamily="49" charset="-122"/>
                <a:ea typeface="仿宋_GB2312" pitchFamily="49" charset="-122"/>
              </a:rPr>
              <a:t>  </a:t>
            </a:r>
            <a:endParaRPr lang="zh-CN" altLang="zh-CN" sz="1800">
              <a:solidFill>
                <a:srgbClr val="692AA2"/>
              </a:solidFill>
              <a:latin typeface="仿宋_GB2312" pitchFamily="49" charset="-122"/>
              <a:ea typeface="仿宋_GB2312" pitchFamily="49" charset="-122"/>
            </a:endParaRPr>
          </a:p>
        </p:txBody>
      </p:sp>
      <p:sp>
        <p:nvSpPr>
          <p:cNvPr id="369667" name="Rectangle 3"/>
          <p:cNvSpPr>
            <a:spLocks noGrp="1"/>
          </p:cNvSpPr>
          <p:nvPr>
            <p:ph idx="1"/>
          </p:nvPr>
        </p:nvSpPr>
        <p:spPr>
          <a:xfrm>
            <a:off x="457200" y="1371600"/>
            <a:ext cx="8229600" cy="4495800"/>
          </a:xfrm>
          <a:ln/>
        </p:spPr>
        <p:txBody>
          <a:bodyPr vert="horz" wrap="square" lIns="91440" tIns="45720" rIns="91440" bIns="45720" anchor="t"/>
          <a:p>
            <a:pPr lvl="1" indent="-436245" eaLnBrk="1" hangingPunct="1">
              <a:buNone/>
            </a:pPr>
            <a:r>
              <a:rPr lang="en-US" altLang="zh-CN" sz="2000" b="1">
                <a:solidFill>
                  <a:srgbClr val="692AA2"/>
                </a:solidFill>
                <a:latin typeface="仿宋_GB2312" pitchFamily="49" charset="-122"/>
                <a:ea typeface="仿宋_GB2312" pitchFamily="49" charset="-122"/>
              </a:rPr>
              <a:t>   (3)</a:t>
            </a:r>
            <a:r>
              <a:rPr lang="zh-CN" altLang="zh-CN" sz="2000" b="1">
                <a:solidFill>
                  <a:srgbClr val="692AA2"/>
                </a:solidFill>
                <a:latin typeface="仿宋_GB2312" pitchFamily="49" charset="-122"/>
                <a:ea typeface="仿宋_GB2312" pitchFamily="49" charset="-122"/>
              </a:rPr>
              <a:t>分社书号个数上下界约束：</a:t>
            </a: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由附件4，A出版社在分配书号时至少保证分给各分社申请数量的一半。由假设2可知，各分社获得的书号数不超过申请数。</a:t>
            </a: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在满足上述约束条件下，我们建立如下资源(书号)配置的多目标规划模型：</a:t>
            </a:r>
            <a:endParaRPr lang="zh-CN" altLang="zh-CN" sz="2000" b="1">
              <a:solidFill>
                <a:srgbClr val="692AA2"/>
              </a:solidFill>
              <a:latin typeface="仿宋_GB2312" pitchFamily="49" charset="-122"/>
              <a:ea typeface="仿宋_GB2312" pitchFamily="49" charset="-122"/>
            </a:endParaRPr>
          </a:p>
          <a:p>
            <a:pPr eaLnBrk="1" hangingPunct="1">
              <a:buNone/>
            </a:pPr>
            <a:endParaRPr lang="zh-CN" altLang="zh-CN" sz="2000" b="1">
              <a:solidFill>
                <a:srgbClr val="692AA2"/>
              </a:solidFill>
              <a:latin typeface="仿宋_GB2312" pitchFamily="49" charset="-122"/>
              <a:ea typeface="仿宋_GB2312" pitchFamily="49" charset="-122"/>
            </a:endParaRPr>
          </a:p>
          <a:p>
            <a:pPr eaLnBrk="1" hangingPunct="1">
              <a:buNone/>
            </a:pPr>
            <a:endParaRPr lang="zh-CN" altLang="zh-CN" sz="2000" b="1">
              <a:solidFill>
                <a:srgbClr val="692AA2"/>
              </a:solidFill>
              <a:latin typeface="仿宋_GB2312" pitchFamily="49" charset="-122"/>
              <a:ea typeface="仿宋_GB2312" pitchFamily="49" charset="-122"/>
            </a:endParaRPr>
          </a:p>
          <a:p>
            <a:pPr eaLnBrk="1" hangingPunct="1">
              <a:buNone/>
            </a:pP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模型Ⅰ </a:t>
            </a:r>
            <a:endParaRPr lang="zh-CN" altLang="zh-CN" sz="2000" b="1">
              <a:solidFill>
                <a:srgbClr val="692AA2"/>
              </a:solidFill>
              <a:latin typeface="仿宋_GB2312" pitchFamily="49" charset="-122"/>
              <a:ea typeface="仿宋_GB2312" pitchFamily="49" charset="-122"/>
            </a:endParaRPr>
          </a:p>
          <a:p>
            <a:pPr eaLnBrk="1" hangingPunct="1">
              <a:buNone/>
            </a:pPr>
            <a:endParaRPr lang="zh-CN" altLang="zh-CN" sz="2000" b="1">
              <a:solidFill>
                <a:srgbClr val="692AA2"/>
              </a:solidFill>
              <a:latin typeface="仿宋_GB2312" pitchFamily="49" charset="-122"/>
              <a:ea typeface="仿宋_GB2312" pitchFamily="49" charset="-122"/>
            </a:endParaRPr>
          </a:p>
        </p:txBody>
      </p:sp>
      <p:sp>
        <p:nvSpPr>
          <p:cNvPr id="134147" name="Rectangle 4"/>
          <p:cNvSpPr/>
          <p:nvPr/>
        </p:nvSpPr>
        <p:spPr>
          <a:xfrm>
            <a:off x="0" y="-457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9669" name="Object 5"/>
          <p:cNvGraphicFramePr>
            <a:graphicFrameLocks noChangeAspect="1"/>
          </p:cNvGraphicFramePr>
          <p:nvPr/>
        </p:nvGraphicFramePr>
        <p:xfrm>
          <a:off x="4800600" y="1219200"/>
          <a:ext cx="1219200" cy="588963"/>
        </p:xfrm>
        <a:graphic>
          <a:graphicData uri="http://schemas.openxmlformats.org/presentationml/2006/ole">
            <mc:AlternateContent xmlns:mc="http://schemas.openxmlformats.org/markup-compatibility/2006">
              <mc:Choice xmlns:v="urn:schemas-microsoft-com:vml" Requires="v">
                <p:oleObj spid="_x0000_s3337" name="" r:id="rId1" imgW="812800" imgH="393700" progId="Equation.DSMT4">
                  <p:embed/>
                </p:oleObj>
              </mc:Choice>
              <mc:Fallback>
                <p:oleObj name="" r:id="rId1" imgW="812800" imgH="393700" progId="Equation.DSMT4">
                  <p:embed/>
                  <p:pic>
                    <p:nvPicPr>
                      <p:cNvPr id="0" name="图片 3336"/>
                      <p:cNvPicPr/>
                      <p:nvPr/>
                    </p:nvPicPr>
                    <p:blipFill>
                      <a:blip r:embed="rId2"/>
                      <a:stretch>
                        <a:fillRect/>
                      </a:stretch>
                    </p:blipFill>
                    <p:spPr>
                      <a:xfrm>
                        <a:off x="4800600" y="1219200"/>
                        <a:ext cx="1219200" cy="588963"/>
                      </a:xfrm>
                      <a:prstGeom prst="rect">
                        <a:avLst/>
                      </a:prstGeom>
                      <a:noFill/>
                      <a:ln w="38100">
                        <a:noFill/>
                        <a:miter/>
                      </a:ln>
                    </p:spPr>
                  </p:pic>
                </p:oleObj>
              </mc:Fallback>
            </mc:AlternateContent>
          </a:graphicData>
        </a:graphic>
      </p:graphicFrame>
      <p:sp>
        <p:nvSpPr>
          <p:cNvPr id="134149" name="Rectangle 6"/>
          <p:cNvSpPr/>
          <p:nvPr/>
        </p:nvSpPr>
        <p:spPr>
          <a:xfrm>
            <a:off x="0" y="19240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69671" name="Object 7"/>
          <p:cNvGraphicFramePr>
            <a:graphicFrameLocks noChangeAspect="1"/>
          </p:cNvGraphicFramePr>
          <p:nvPr/>
        </p:nvGraphicFramePr>
        <p:xfrm>
          <a:off x="2895600" y="3105150"/>
          <a:ext cx="4419600" cy="2819400"/>
        </p:xfrm>
        <a:graphic>
          <a:graphicData uri="http://schemas.openxmlformats.org/presentationml/2006/ole">
            <mc:AlternateContent xmlns:mc="http://schemas.openxmlformats.org/markup-compatibility/2006">
              <mc:Choice xmlns:v="urn:schemas-microsoft-com:vml" Requires="v">
                <p:oleObj spid="_x0000_s3330" name="" r:id="rId3" imgW="3060700" imgH="2095500" progId="Equation.DSMT4">
                  <p:embed/>
                </p:oleObj>
              </mc:Choice>
              <mc:Fallback>
                <p:oleObj name="" r:id="rId3" imgW="3060700" imgH="2095500" progId="Equation.DSMT4">
                  <p:embed/>
                  <p:pic>
                    <p:nvPicPr>
                      <p:cNvPr id="0" name="图片 3329"/>
                      <p:cNvPicPr/>
                      <p:nvPr/>
                    </p:nvPicPr>
                    <p:blipFill>
                      <a:blip r:embed="rId4"/>
                      <a:stretch>
                        <a:fillRect/>
                      </a:stretch>
                    </p:blipFill>
                    <p:spPr>
                      <a:xfrm>
                        <a:off x="2895600" y="3105150"/>
                        <a:ext cx="4419600" cy="28194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69667">
                                            <p:txEl>
                                              <p:charRg st="0" end="19"/>
                                            </p:txEl>
                                          </p:spTgt>
                                        </p:tgtEl>
                                        <p:attrNameLst>
                                          <p:attrName>style.visibility</p:attrName>
                                        </p:attrNameLst>
                                      </p:cBhvr>
                                      <p:to>
                                        <p:strVal val="visible"/>
                                      </p:to>
                                    </p:set>
                                    <p:animEffect transition="in" filter="checkerboard(across)">
                                      <p:cBhvr>
                                        <p:cTn id="7" dur="500"/>
                                        <p:tgtEl>
                                          <p:spTgt spid="369667">
                                            <p:txEl>
                                              <p:charRg st="0" end="19"/>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69667">
                                            <p:txEl>
                                              <p:charRg st="19" end="82"/>
                                            </p:txEl>
                                          </p:spTgt>
                                        </p:tgtEl>
                                        <p:attrNameLst>
                                          <p:attrName>style.visibility</p:attrName>
                                        </p:attrNameLst>
                                      </p:cBhvr>
                                      <p:to>
                                        <p:strVal val="visible"/>
                                      </p:to>
                                    </p:set>
                                    <p:animEffect transition="in" filter="checkerboard(across)">
                                      <p:cBhvr>
                                        <p:cTn id="10" dur="500"/>
                                        <p:tgtEl>
                                          <p:spTgt spid="369667">
                                            <p:txEl>
                                              <p:charRg st="19" end="8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69667">
                                            <p:txEl>
                                              <p:charRg st="82" end="124"/>
                                            </p:txEl>
                                          </p:spTgt>
                                        </p:tgtEl>
                                        <p:attrNameLst>
                                          <p:attrName>style.visibility</p:attrName>
                                        </p:attrNameLst>
                                      </p:cBhvr>
                                      <p:to>
                                        <p:strVal val="visible"/>
                                      </p:to>
                                    </p:set>
                                    <p:animEffect transition="in" filter="checkerboard(across)">
                                      <p:cBhvr>
                                        <p:cTn id="13" dur="500"/>
                                        <p:tgtEl>
                                          <p:spTgt spid="369667">
                                            <p:txEl>
                                              <p:charRg st="82" end="124"/>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69669"/>
                                        </p:tgtEl>
                                        <p:attrNameLst>
                                          <p:attrName>style.visibility</p:attrName>
                                        </p:attrNameLst>
                                      </p:cBhvr>
                                      <p:to>
                                        <p:strVal val="visible"/>
                                      </p:to>
                                    </p:set>
                                    <p:animEffect transition="in" filter="checkerboard(across)">
                                      <p:cBhvr>
                                        <p:cTn id="16" dur="500"/>
                                        <p:tgtEl>
                                          <p:spTgt spid="369669"/>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369667">
                                            <p:txEl>
                                              <p:charRg st="127" end="138"/>
                                            </p:txEl>
                                          </p:spTgt>
                                        </p:tgtEl>
                                        <p:attrNameLst>
                                          <p:attrName>style.visibility</p:attrName>
                                        </p:attrNameLst>
                                      </p:cBhvr>
                                      <p:to>
                                        <p:strVal val="visible"/>
                                      </p:to>
                                    </p:set>
                                    <p:animEffect transition="in" filter="checkerboard(across)">
                                      <p:cBhvr>
                                        <p:cTn id="21" dur="500"/>
                                        <p:tgtEl>
                                          <p:spTgt spid="369667">
                                            <p:txEl>
                                              <p:charRg st="127" end="138"/>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369671"/>
                                        </p:tgtEl>
                                        <p:attrNameLst>
                                          <p:attrName>style.visibility</p:attrName>
                                        </p:attrNameLst>
                                      </p:cBhvr>
                                      <p:to>
                                        <p:strVal val="visible"/>
                                      </p:to>
                                    </p:set>
                                    <p:animEffect transition="in" filter="checkerboard(across)">
                                      <p:cBhvr>
                                        <p:cTn id="24" dur="500"/>
                                        <p:tgtEl>
                                          <p:spTgt spid="3696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0690" name="Rectangle 2"/>
          <p:cNvSpPr>
            <a:spLocks noGrp="1"/>
          </p:cNvSpPr>
          <p:nvPr>
            <p:ph idx="1"/>
          </p:nvPr>
        </p:nvSpPr>
        <p:spPr>
          <a:xfrm>
            <a:off x="533400" y="1295400"/>
            <a:ext cx="8229600" cy="4800600"/>
          </a:xfrm>
          <a:ln/>
        </p:spPr>
        <p:txBody>
          <a:bodyPr vert="horz" wrap="square" lIns="91440" tIns="45720" rIns="91440" bIns="45720" anchor="t"/>
          <a:p>
            <a:pPr eaLnBrk="1" hangingPunct="1">
              <a:buNone/>
            </a:pPr>
            <a:r>
              <a:rPr lang="zh-CN" altLang="zh-CN" sz="2000" b="1">
                <a:solidFill>
                  <a:srgbClr val="692AA2"/>
                </a:solidFill>
                <a:latin typeface="仿宋_GB2312" pitchFamily="49" charset="-122"/>
                <a:ea typeface="仿宋_GB2312" pitchFamily="49" charset="-122"/>
              </a:rPr>
              <a:t>（3）模型的简化</a:t>
            </a: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下面我们，通过确定满意度和市场占有率二者的权重系数，将上述多目标规划模型Ⅰ简化为单目标线性规划模型。         </a:t>
            </a:r>
            <a:endParaRPr lang="zh-CN" altLang="en-US"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1）权重系数的量化</a:t>
            </a: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为了达到简化模型，以单目标线性模型简化模型Ⅰ。下面结合matlab7.0软件（附录1.3），使用熵值法【2】来确定二者的权重（附录1.3）。</a:t>
            </a:r>
            <a:endParaRPr lang="zh-CN" altLang="zh-CN"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具体步骤如下：</a:t>
            </a:r>
            <a:endParaRPr lang="zh-CN" altLang="zh-CN"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Step1：计算第j项指标下，第i个课程的特征比重：</a:t>
            </a: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a:t>
            </a: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，这里均有    ≥0，且 </a:t>
            </a:r>
            <a:endParaRPr lang="zh-CN" altLang="zh-CN" sz="2000" b="1">
              <a:solidFill>
                <a:srgbClr val="692AA2"/>
              </a:solidFill>
              <a:latin typeface="仿宋_GB2312" pitchFamily="49" charset="-122"/>
              <a:ea typeface="仿宋_GB2312" pitchFamily="49" charset="-122"/>
            </a:endParaRPr>
          </a:p>
        </p:txBody>
      </p:sp>
      <p:sp>
        <p:nvSpPr>
          <p:cNvPr id="135170" name="Rectangle 3"/>
          <p:cNvSpPr/>
          <p:nvPr/>
        </p:nvSpPr>
        <p:spPr>
          <a:xfrm>
            <a:off x="76200" y="-2286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0692" name="Object 4"/>
          <p:cNvGraphicFramePr>
            <a:graphicFrameLocks noChangeAspect="1"/>
          </p:cNvGraphicFramePr>
          <p:nvPr/>
        </p:nvGraphicFramePr>
        <p:xfrm>
          <a:off x="1600200" y="4343400"/>
          <a:ext cx="1524000" cy="950913"/>
        </p:xfrm>
        <a:graphic>
          <a:graphicData uri="http://schemas.openxmlformats.org/presentationml/2006/ole">
            <mc:AlternateContent xmlns:mc="http://schemas.openxmlformats.org/markup-compatibility/2006">
              <mc:Choice xmlns:v="urn:schemas-microsoft-com:vml" Requires="v">
                <p:oleObj spid="_x0000_s3128" name="" r:id="rId1" imgW="1117600" imgH="698500" progId="Equation.3">
                  <p:embed/>
                </p:oleObj>
              </mc:Choice>
              <mc:Fallback>
                <p:oleObj name="" r:id="rId1" imgW="1117600" imgH="698500" progId="Equation.3">
                  <p:embed/>
                  <p:pic>
                    <p:nvPicPr>
                      <p:cNvPr id="0" name="图片 3127"/>
                      <p:cNvPicPr/>
                      <p:nvPr/>
                    </p:nvPicPr>
                    <p:blipFill>
                      <a:blip r:embed="rId2"/>
                      <a:stretch>
                        <a:fillRect/>
                      </a:stretch>
                    </p:blipFill>
                    <p:spPr>
                      <a:xfrm>
                        <a:off x="1600200" y="4343400"/>
                        <a:ext cx="1524000" cy="950913"/>
                      </a:xfrm>
                      <a:prstGeom prst="rect">
                        <a:avLst/>
                      </a:prstGeom>
                      <a:noFill/>
                      <a:ln w="38100">
                        <a:noFill/>
                        <a:miter/>
                      </a:ln>
                    </p:spPr>
                  </p:pic>
                </p:oleObj>
              </mc:Fallback>
            </mc:AlternateContent>
          </a:graphicData>
        </a:graphic>
      </p:graphicFrame>
      <p:sp>
        <p:nvSpPr>
          <p:cNvPr id="135172" name="Rectangle 5"/>
          <p:cNvSpPr/>
          <p:nvPr/>
        </p:nvSpPr>
        <p:spPr>
          <a:xfrm>
            <a:off x="76200" y="2971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0694" name="Object 6"/>
          <p:cNvGraphicFramePr>
            <a:graphicFrameLocks noChangeAspect="1"/>
          </p:cNvGraphicFramePr>
          <p:nvPr/>
        </p:nvGraphicFramePr>
        <p:xfrm>
          <a:off x="6096000" y="4419600"/>
          <a:ext cx="1066800" cy="703263"/>
        </p:xfrm>
        <a:graphic>
          <a:graphicData uri="http://schemas.openxmlformats.org/presentationml/2006/ole">
            <mc:AlternateContent xmlns:mc="http://schemas.openxmlformats.org/markup-compatibility/2006">
              <mc:Choice xmlns:v="urn:schemas-microsoft-com:vml" Requires="v">
                <p:oleObj spid="_x0000_s3127" name="" r:id="rId3" imgW="584200" imgH="495300" progId="Equation.3">
                  <p:embed/>
                </p:oleObj>
              </mc:Choice>
              <mc:Fallback>
                <p:oleObj name="" r:id="rId3" imgW="584200" imgH="495300" progId="Equation.3">
                  <p:embed/>
                  <p:pic>
                    <p:nvPicPr>
                      <p:cNvPr id="0" name="图片 3126"/>
                      <p:cNvPicPr/>
                      <p:nvPr/>
                    </p:nvPicPr>
                    <p:blipFill>
                      <a:blip r:embed="rId4"/>
                      <a:stretch>
                        <a:fillRect/>
                      </a:stretch>
                    </p:blipFill>
                    <p:spPr>
                      <a:xfrm>
                        <a:off x="6096000" y="4419600"/>
                        <a:ext cx="1066800" cy="703263"/>
                      </a:xfrm>
                      <a:prstGeom prst="rect">
                        <a:avLst/>
                      </a:prstGeom>
                      <a:noFill/>
                      <a:ln w="38100">
                        <a:noFill/>
                        <a:miter/>
                      </a:ln>
                    </p:spPr>
                  </p:pic>
                </p:oleObj>
              </mc:Fallback>
            </mc:AlternateContent>
          </a:graphicData>
        </a:graphic>
      </p:graphicFrame>
      <p:sp>
        <p:nvSpPr>
          <p:cNvPr id="135174" name="Rectangle 7"/>
          <p:cNvSpPr/>
          <p:nvPr/>
        </p:nvSpPr>
        <p:spPr>
          <a:xfrm>
            <a:off x="76200" y="-2286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0696" name="Object 8"/>
          <p:cNvGraphicFramePr>
            <a:graphicFrameLocks noChangeAspect="1"/>
          </p:cNvGraphicFramePr>
          <p:nvPr/>
        </p:nvGraphicFramePr>
        <p:xfrm>
          <a:off x="4648200" y="4572000"/>
          <a:ext cx="342900" cy="457200"/>
        </p:xfrm>
        <a:graphic>
          <a:graphicData uri="http://schemas.openxmlformats.org/presentationml/2006/ole">
            <mc:AlternateContent xmlns:mc="http://schemas.openxmlformats.org/markup-compatibility/2006">
              <mc:Choice xmlns:v="urn:schemas-microsoft-com:vml" Requires="v">
                <p:oleObj spid="_x0000_s3126" name="" r:id="rId5" imgW="203200" imgH="266700" progId="Equation.3">
                  <p:embed/>
                </p:oleObj>
              </mc:Choice>
              <mc:Fallback>
                <p:oleObj name="" r:id="rId5" imgW="203200" imgH="266700" progId="Equation.3">
                  <p:embed/>
                  <p:pic>
                    <p:nvPicPr>
                      <p:cNvPr id="0" name="图片 3125"/>
                      <p:cNvPicPr/>
                      <p:nvPr/>
                    </p:nvPicPr>
                    <p:blipFill>
                      <a:blip r:embed="rId6"/>
                      <a:stretch>
                        <a:fillRect/>
                      </a:stretch>
                    </p:blipFill>
                    <p:spPr>
                      <a:xfrm>
                        <a:off x="4648200" y="4572000"/>
                        <a:ext cx="342900" cy="457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70690">
                                            <p:txEl>
                                              <p:charRg st="0" end="9"/>
                                            </p:txEl>
                                          </p:spTgt>
                                        </p:tgtEl>
                                        <p:attrNameLst>
                                          <p:attrName>style.visibility</p:attrName>
                                        </p:attrNameLst>
                                      </p:cBhvr>
                                      <p:to>
                                        <p:strVal val="visible"/>
                                      </p:to>
                                    </p:set>
                                    <p:animEffect transition="in" filter="box(in)">
                                      <p:cBhvr>
                                        <p:cTn id="7" dur="500"/>
                                        <p:tgtEl>
                                          <p:spTgt spid="370690">
                                            <p:txEl>
                                              <p:charRg st="0" end="9"/>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70690">
                                            <p:txEl>
                                              <p:charRg st="9" end="75"/>
                                            </p:txEl>
                                          </p:spTgt>
                                        </p:tgtEl>
                                        <p:attrNameLst>
                                          <p:attrName>style.visibility</p:attrName>
                                        </p:attrNameLst>
                                      </p:cBhvr>
                                      <p:to>
                                        <p:strVal val="visible"/>
                                      </p:to>
                                    </p:set>
                                    <p:animEffect transition="in" filter="box(in)">
                                      <p:cBhvr>
                                        <p:cTn id="10" dur="500"/>
                                        <p:tgtEl>
                                          <p:spTgt spid="370690">
                                            <p:txEl>
                                              <p:charRg st="9" end="7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70690">
                                            <p:txEl>
                                              <p:charRg st="75" end="88"/>
                                            </p:txEl>
                                          </p:spTgt>
                                        </p:tgtEl>
                                        <p:attrNameLst>
                                          <p:attrName>style.visibility</p:attrName>
                                        </p:attrNameLst>
                                      </p:cBhvr>
                                      <p:to>
                                        <p:strVal val="visible"/>
                                      </p:to>
                                    </p:set>
                                    <p:animEffect transition="in" filter="box(in)">
                                      <p:cBhvr>
                                        <p:cTn id="15" dur="500"/>
                                        <p:tgtEl>
                                          <p:spTgt spid="370690">
                                            <p:txEl>
                                              <p:charRg st="75" end="88"/>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70690">
                                            <p:txEl>
                                              <p:charRg st="88" end="165"/>
                                            </p:txEl>
                                          </p:spTgt>
                                        </p:tgtEl>
                                        <p:attrNameLst>
                                          <p:attrName>style.visibility</p:attrName>
                                        </p:attrNameLst>
                                      </p:cBhvr>
                                      <p:to>
                                        <p:strVal val="visible"/>
                                      </p:to>
                                    </p:set>
                                    <p:animEffect transition="in" filter="box(in)">
                                      <p:cBhvr>
                                        <p:cTn id="18" dur="500"/>
                                        <p:tgtEl>
                                          <p:spTgt spid="370690">
                                            <p:txEl>
                                              <p:charRg st="88" end="16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370690">
                                            <p:txEl>
                                              <p:charRg st="165" end="179"/>
                                            </p:txEl>
                                          </p:spTgt>
                                        </p:tgtEl>
                                        <p:attrNameLst>
                                          <p:attrName>style.visibility</p:attrName>
                                        </p:attrNameLst>
                                      </p:cBhvr>
                                      <p:to>
                                        <p:strVal val="visible"/>
                                      </p:to>
                                    </p:set>
                                    <p:animEffect transition="in" filter="box(in)">
                                      <p:cBhvr>
                                        <p:cTn id="23" dur="500"/>
                                        <p:tgtEl>
                                          <p:spTgt spid="370690">
                                            <p:txEl>
                                              <p:charRg st="165" end="179"/>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370690">
                                            <p:txEl>
                                              <p:charRg st="179" end="209"/>
                                            </p:txEl>
                                          </p:spTgt>
                                        </p:tgtEl>
                                        <p:attrNameLst>
                                          <p:attrName>style.visibility</p:attrName>
                                        </p:attrNameLst>
                                      </p:cBhvr>
                                      <p:to>
                                        <p:strVal val="visible"/>
                                      </p:to>
                                    </p:set>
                                    <p:animEffect transition="in" filter="box(in)">
                                      <p:cBhvr>
                                        <p:cTn id="26" dur="500"/>
                                        <p:tgtEl>
                                          <p:spTgt spid="370690">
                                            <p:txEl>
                                              <p:charRg st="179" end="209"/>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370690">
                                            <p:txEl>
                                              <p:charRg st="209" end="247"/>
                                            </p:txEl>
                                          </p:spTgt>
                                        </p:tgtEl>
                                        <p:attrNameLst>
                                          <p:attrName>style.visibility</p:attrName>
                                        </p:attrNameLst>
                                      </p:cBhvr>
                                      <p:to>
                                        <p:strVal val="visible"/>
                                      </p:to>
                                    </p:set>
                                    <p:animEffect transition="in" filter="box(in)">
                                      <p:cBhvr>
                                        <p:cTn id="29" dur="500"/>
                                        <p:tgtEl>
                                          <p:spTgt spid="370690">
                                            <p:txEl>
                                              <p:charRg st="209" end="247"/>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370690">
                                            <p:txEl>
                                              <p:charRg st="247" end="283"/>
                                            </p:txEl>
                                          </p:spTgt>
                                        </p:tgtEl>
                                        <p:attrNameLst>
                                          <p:attrName>style.visibility</p:attrName>
                                        </p:attrNameLst>
                                      </p:cBhvr>
                                      <p:to>
                                        <p:strVal val="visible"/>
                                      </p:to>
                                    </p:set>
                                    <p:animEffect transition="in" filter="box(in)">
                                      <p:cBhvr>
                                        <p:cTn id="32" dur="500"/>
                                        <p:tgtEl>
                                          <p:spTgt spid="370690">
                                            <p:txEl>
                                              <p:charRg st="247" end="283"/>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370694"/>
                                        </p:tgtEl>
                                        <p:attrNameLst>
                                          <p:attrName>style.visibility</p:attrName>
                                        </p:attrNameLst>
                                      </p:cBhvr>
                                      <p:to>
                                        <p:strVal val="visible"/>
                                      </p:to>
                                    </p:set>
                                    <p:animEffect transition="in" filter="box(in)">
                                      <p:cBhvr>
                                        <p:cTn id="35" dur="500"/>
                                        <p:tgtEl>
                                          <p:spTgt spid="370694"/>
                                        </p:tgtEl>
                                      </p:cBhvr>
                                    </p:animEffect>
                                  </p:childTnLst>
                                </p:cTn>
                              </p:par>
                              <p:par>
                                <p:cTn id="36" presetID="4" presetClass="entr" presetSubtype="16" fill="hold" nodeType="withEffect">
                                  <p:stCondLst>
                                    <p:cond delay="0"/>
                                  </p:stCondLst>
                                  <p:childTnLst>
                                    <p:set>
                                      <p:cBhvr>
                                        <p:cTn id="37" dur="1" fill="hold">
                                          <p:stCondLst>
                                            <p:cond delay="0"/>
                                          </p:stCondLst>
                                        </p:cTn>
                                        <p:tgtEl>
                                          <p:spTgt spid="370692"/>
                                        </p:tgtEl>
                                        <p:attrNameLst>
                                          <p:attrName>style.visibility</p:attrName>
                                        </p:attrNameLst>
                                      </p:cBhvr>
                                      <p:to>
                                        <p:strVal val="visible"/>
                                      </p:to>
                                    </p:set>
                                    <p:animEffect transition="in" filter="box(in)">
                                      <p:cBhvr>
                                        <p:cTn id="38" dur="500"/>
                                        <p:tgtEl>
                                          <p:spTgt spid="370692"/>
                                        </p:tgtEl>
                                      </p:cBhvr>
                                    </p:animEffect>
                                  </p:childTnLst>
                                </p:cTn>
                              </p:par>
                              <p:par>
                                <p:cTn id="39" presetID="4" presetClass="entr" presetSubtype="16" fill="hold" nodeType="withEffect">
                                  <p:stCondLst>
                                    <p:cond delay="0"/>
                                  </p:stCondLst>
                                  <p:childTnLst>
                                    <p:set>
                                      <p:cBhvr>
                                        <p:cTn id="40" dur="1" fill="hold">
                                          <p:stCondLst>
                                            <p:cond delay="0"/>
                                          </p:stCondLst>
                                        </p:cTn>
                                        <p:tgtEl>
                                          <p:spTgt spid="370696"/>
                                        </p:tgtEl>
                                        <p:attrNameLst>
                                          <p:attrName>style.visibility</p:attrName>
                                        </p:attrNameLst>
                                      </p:cBhvr>
                                      <p:to>
                                        <p:strVal val="visible"/>
                                      </p:to>
                                    </p:set>
                                    <p:animEffect transition="in" filter="box(in)">
                                      <p:cBhvr>
                                        <p:cTn id="41" dur="500"/>
                                        <p:tgtEl>
                                          <p:spTgt spid="370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1714" name="Rectangle 2"/>
          <p:cNvSpPr>
            <a:spLocks noGrp="1"/>
          </p:cNvSpPr>
          <p:nvPr>
            <p:ph idx="1"/>
          </p:nvPr>
        </p:nvSpPr>
        <p:spPr>
          <a:xfrm>
            <a:off x="457200" y="990600"/>
            <a:ext cx="8229600" cy="44958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Step2：计算第j项指标的熵值：</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，其中</a:t>
            </a:r>
            <a:r>
              <a:rPr lang="zh-CN" altLang="zh-CN" sz="2000" b="1" i="1">
                <a:solidFill>
                  <a:srgbClr val="692AA2"/>
                </a:solidFill>
                <a:latin typeface="仿宋_GB2312" pitchFamily="49" charset="-122"/>
                <a:ea typeface="仿宋_GB2312" pitchFamily="49" charset="-122"/>
              </a:rPr>
              <a:t>k</a:t>
            </a:r>
            <a:r>
              <a:rPr lang="zh-CN" altLang="zh-CN" sz="2000" b="1">
                <a:solidFill>
                  <a:srgbClr val="692AA2"/>
                </a:solidFill>
                <a:latin typeface="仿宋_GB2312" pitchFamily="49" charset="-122"/>
                <a:ea typeface="仿宋_GB2312" pitchFamily="49" charset="-122"/>
              </a:rPr>
              <a:t>&gt;0，</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如果    对于给定的j全都相等，那么      ，此时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 。</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Step3：计算指标  的差异性系数：</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对于给定的j，  的差异越小，  则越大，当   全都相等时，</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,此时对于系统间的比较，指标   毫无作用；当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的差异越大， 越小，</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指标对于系统的比较作用越大。因此定义差异系数</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越大，越应重视该项指标的作用。</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Step4：确定权数：</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取     </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2000" b="1">
                <a:solidFill>
                  <a:srgbClr val="692AA2"/>
                </a:solidFill>
                <a:latin typeface="仿宋_GB2312" pitchFamily="49" charset="-122"/>
                <a:ea typeface="仿宋_GB2312" pitchFamily="49" charset="-122"/>
              </a:rPr>
              <a:t>                                                                                  ，</a:t>
            </a:r>
            <a:endParaRPr lang="zh-CN" altLang="zh-CN" sz="2000" b="1">
              <a:solidFill>
                <a:srgbClr val="692AA2"/>
              </a:solidFill>
              <a:latin typeface="仿宋_GB2312" pitchFamily="49" charset="-122"/>
              <a:ea typeface="仿宋_GB2312" pitchFamily="49" charset="-122"/>
            </a:endParaRPr>
          </a:p>
          <a:p>
            <a:pPr eaLnBrk="1" hangingPunct="1">
              <a:buNone/>
            </a:pPr>
            <a:r>
              <a:rPr lang="zh-CN" altLang="zh-CN" sz="1800" b="1">
                <a:solidFill>
                  <a:srgbClr val="692AA2"/>
                </a:solidFill>
                <a:latin typeface="仿宋_GB2312" pitchFamily="49" charset="-122"/>
                <a:ea typeface="仿宋_GB2312" pitchFamily="49" charset="-122"/>
              </a:rPr>
              <a:t> </a:t>
            </a:r>
            <a:endParaRPr lang="zh-CN" altLang="zh-CN" sz="1800" b="1">
              <a:solidFill>
                <a:srgbClr val="692AA2"/>
              </a:solidFill>
              <a:latin typeface="仿宋_GB2312" pitchFamily="49" charset="-122"/>
              <a:ea typeface="仿宋_GB2312" pitchFamily="49" charset="-122"/>
            </a:endParaRPr>
          </a:p>
          <a:p>
            <a:pPr eaLnBrk="1" hangingPunct="1">
              <a:buNone/>
            </a:pPr>
            <a:r>
              <a:rPr lang="zh-CN" altLang="zh-CN" sz="1800" b="1">
                <a:solidFill>
                  <a:srgbClr val="692AA2"/>
                </a:solidFill>
                <a:latin typeface="仿宋_GB2312" pitchFamily="49" charset="-122"/>
                <a:ea typeface="仿宋_GB2312" pitchFamily="49" charset="-122"/>
              </a:rPr>
              <a:t> </a:t>
            </a:r>
            <a:endParaRPr lang="zh-CN" altLang="zh-CN" sz="1800" b="1">
              <a:solidFill>
                <a:srgbClr val="692AA2"/>
              </a:solidFill>
              <a:latin typeface="仿宋_GB2312" pitchFamily="49" charset="-122"/>
              <a:ea typeface="仿宋_GB2312" pitchFamily="49" charset="-122"/>
            </a:endParaRPr>
          </a:p>
        </p:txBody>
      </p:sp>
      <p:graphicFrame>
        <p:nvGraphicFramePr>
          <p:cNvPr id="371715" name="Object 3"/>
          <p:cNvGraphicFramePr>
            <a:graphicFrameLocks noChangeAspect="1"/>
          </p:cNvGraphicFramePr>
          <p:nvPr/>
        </p:nvGraphicFramePr>
        <p:xfrm>
          <a:off x="2590800" y="1371600"/>
          <a:ext cx="2133600" cy="723900"/>
        </p:xfrm>
        <a:graphic>
          <a:graphicData uri="http://schemas.openxmlformats.org/presentationml/2006/ole">
            <mc:AlternateContent xmlns:mc="http://schemas.openxmlformats.org/markup-compatibility/2006">
              <mc:Choice xmlns:v="urn:schemas-microsoft-com:vml" Requires="v">
                <p:oleObj spid="_x0000_s3140" name="" r:id="rId1" imgW="1459865" imgH="495300" progId="Equation.3">
                  <p:embed/>
                </p:oleObj>
              </mc:Choice>
              <mc:Fallback>
                <p:oleObj name="" r:id="rId1" imgW="1459865" imgH="495300" progId="Equation.3">
                  <p:embed/>
                  <p:pic>
                    <p:nvPicPr>
                      <p:cNvPr id="0" name="图片 3139"/>
                      <p:cNvPicPr/>
                      <p:nvPr/>
                    </p:nvPicPr>
                    <p:blipFill>
                      <a:blip r:embed="rId2"/>
                      <a:stretch>
                        <a:fillRect/>
                      </a:stretch>
                    </p:blipFill>
                    <p:spPr>
                      <a:xfrm>
                        <a:off x="2590800" y="1371600"/>
                        <a:ext cx="2133600" cy="723900"/>
                      </a:xfrm>
                      <a:prstGeom prst="rect">
                        <a:avLst/>
                      </a:prstGeom>
                      <a:noFill/>
                      <a:ln w="38100">
                        <a:noFill/>
                        <a:miter/>
                      </a:ln>
                    </p:spPr>
                  </p:pic>
                </p:oleObj>
              </mc:Fallback>
            </mc:AlternateContent>
          </a:graphicData>
        </a:graphic>
      </p:graphicFrame>
      <p:sp>
        <p:nvSpPr>
          <p:cNvPr id="136195" name="Rectangle 4"/>
          <p:cNvSpPr/>
          <p:nvPr/>
        </p:nvSpPr>
        <p:spPr>
          <a:xfrm>
            <a:off x="0" y="24717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17" name="Object 5"/>
          <p:cNvGraphicFramePr>
            <a:graphicFrameLocks noChangeAspect="1"/>
          </p:cNvGraphicFramePr>
          <p:nvPr/>
        </p:nvGraphicFramePr>
        <p:xfrm>
          <a:off x="6019800" y="1477963"/>
          <a:ext cx="838200" cy="427037"/>
        </p:xfrm>
        <a:graphic>
          <a:graphicData uri="http://schemas.openxmlformats.org/presentationml/2006/ole">
            <mc:AlternateContent xmlns:mc="http://schemas.openxmlformats.org/markup-compatibility/2006">
              <mc:Choice xmlns:v="urn:schemas-microsoft-com:vml" Requires="v">
                <p:oleObj spid="_x0000_s3129" name="" r:id="rId3" imgW="469900" imgH="241300" progId="Equation.3">
                  <p:embed/>
                </p:oleObj>
              </mc:Choice>
              <mc:Fallback>
                <p:oleObj name="" r:id="rId3" imgW="469900" imgH="241300" progId="Equation.3">
                  <p:embed/>
                  <p:pic>
                    <p:nvPicPr>
                      <p:cNvPr id="0" name="图片 3128"/>
                      <p:cNvPicPr/>
                      <p:nvPr/>
                    </p:nvPicPr>
                    <p:blipFill>
                      <a:blip r:embed="rId4"/>
                      <a:stretch>
                        <a:fillRect/>
                      </a:stretch>
                    </p:blipFill>
                    <p:spPr>
                      <a:xfrm>
                        <a:off x="6019800" y="1477963"/>
                        <a:ext cx="838200" cy="427037"/>
                      </a:xfrm>
                      <a:prstGeom prst="rect">
                        <a:avLst/>
                      </a:prstGeom>
                      <a:noFill/>
                      <a:ln w="38100">
                        <a:noFill/>
                        <a:miter/>
                      </a:ln>
                    </p:spPr>
                  </p:pic>
                </p:oleObj>
              </mc:Fallback>
            </mc:AlternateContent>
          </a:graphicData>
        </a:graphic>
      </p:graphicFrame>
      <p:sp>
        <p:nvSpPr>
          <p:cNvPr id="136197" name="Rectangle 6"/>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19" name="Object 7"/>
          <p:cNvGraphicFramePr>
            <a:graphicFrameLocks noChangeAspect="1"/>
          </p:cNvGraphicFramePr>
          <p:nvPr/>
        </p:nvGraphicFramePr>
        <p:xfrm>
          <a:off x="1905000" y="2209800"/>
          <a:ext cx="342900" cy="457200"/>
        </p:xfrm>
        <a:graphic>
          <a:graphicData uri="http://schemas.openxmlformats.org/presentationml/2006/ole">
            <mc:AlternateContent xmlns:mc="http://schemas.openxmlformats.org/markup-compatibility/2006">
              <mc:Choice xmlns:v="urn:schemas-microsoft-com:vml" Requires="v">
                <p:oleObj spid="_x0000_s3139" name="" r:id="rId5" imgW="203200" imgH="266700" progId="Equation.3">
                  <p:embed/>
                </p:oleObj>
              </mc:Choice>
              <mc:Fallback>
                <p:oleObj name="" r:id="rId5" imgW="203200" imgH="266700" progId="Equation.3">
                  <p:embed/>
                  <p:pic>
                    <p:nvPicPr>
                      <p:cNvPr id="0" name="图片 3138"/>
                      <p:cNvPicPr/>
                      <p:nvPr/>
                    </p:nvPicPr>
                    <p:blipFill>
                      <a:blip r:embed="rId6"/>
                      <a:stretch>
                        <a:fillRect/>
                      </a:stretch>
                    </p:blipFill>
                    <p:spPr>
                      <a:xfrm>
                        <a:off x="1905000" y="2209800"/>
                        <a:ext cx="342900" cy="457200"/>
                      </a:xfrm>
                      <a:prstGeom prst="rect">
                        <a:avLst/>
                      </a:prstGeom>
                      <a:noFill/>
                      <a:ln w="38100">
                        <a:noFill/>
                        <a:miter/>
                      </a:ln>
                    </p:spPr>
                  </p:pic>
                </p:oleObj>
              </mc:Fallback>
            </mc:AlternateContent>
          </a:graphicData>
        </a:graphic>
      </p:graphicFrame>
      <p:sp>
        <p:nvSpPr>
          <p:cNvPr id="136199" name="Rectangle 8"/>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21" name="Object 9"/>
          <p:cNvGraphicFramePr>
            <a:graphicFrameLocks noChangeAspect="1"/>
          </p:cNvGraphicFramePr>
          <p:nvPr/>
        </p:nvGraphicFramePr>
        <p:xfrm>
          <a:off x="5562600" y="2133600"/>
          <a:ext cx="762000" cy="665163"/>
        </p:xfrm>
        <a:graphic>
          <a:graphicData uri="http://schemas.openxmlformats.org/presentationml/2006/ole">
            <mc:AlternateContent xmlns:mc="http://schemas.openxmlformats.org/markup-compatibility/2006">
              <mc:Choice xmlns:v="urn:schemas-microsoft-com:vml" Requires="v">
                <p:oleObj spid="_x0000_s3138" name="" r:id="rId7" imgW="520700" imgH="457200" progId="Equation.3">
                  <p:embed/>
                </p:oleObj>
              </mc:Choice>
              <mc:Fallback>
                <p:oleObj name="" r:id="rId7" imgW="520700" imgH="457200" progId="Equation.3">
                  <p:embed/>
                  <p:pic>
                    <p:nvPicPr>
                      <p:cNvPr id="0" name="图片 3137"/>
                      <p:cNvPicPr/>
                      <p:nvPr/>
                    </p:nvPicPr>
                    <p:blipFill>
                      <a:blip r:embed="rId8"/>
                      <a:stretch>
                        <a:fillRect/>
                      </a:stretch>
                    </p:blipFill>
                    <p:spPr>
                      <a:xfrm>
                        <a:off x="5562600" y="2133600"/>
                        <a:ext cx="762000" cy="665163"/>
                      </a:xfrm>
                      <a:prstGeom prst="rect">
                        <a:avLst/>
                      </a:prstGeom>
                      <a:noFill/>
                      <a:ln w="38100">
                        <a:noFill/>
                        <a:miter/>
                      </a:ln>
                    </p:spPr>
                  </p:pic>
                </p:oleObj>
              </mc:Fallback>
            </mc:AlternateContent>
          </a:graphicData>
        </a:graphic>
      </p:graphicFrame>
      <p:graphicFrame>
        <p:nvGraphicFramePr>
          <p:cNvPr id="371722" name="Object 10"/>
          <p:cNvGraphicFramePr>
            <a:graphicFrameLocks noChangeAspect="1"/>
          </p:cNvGraphicFramePr>
          <p:nvPr/>
        </p:nvGraphicFramePr>
        <p:xfrm>
          <a:off x="7086600" y="2286000"/>
          <a:ext cx="914400" cy="341313"/>
        </p:xfrm>
        <a:graphic>
          <a:graphicData uri="http://schemas.openxmlformats.org/presentationml/2006/ole">
            <mc:AlternateContent xmlns:mc="http://schemas.openxmlformats.org/markup-compatibility/2006">
              <mc:Choice xmlns:v="urn:schemas-microsoft-com:vml" Requires="v">
                <p:oleObj spid="_x0000_s3130" name="" r:id="rId9" imgW="711200" imgH="266700" progId="Equation.3">
                  <p:embed/>
                </p:oleObj>
              </mc:Choice>
              <mc:Fallback>
                <p:oleObj name="" r:id="rId9" imgW="711200" imgH="266700" progId="Equation.3">
                  <p:embed/>
                  <p:pic>
                    <p:nvPicPr>
                      <p:cNvPr id="0" name="图片 3129"/>
                      <p:cNvPicPr/>
                      <p:nvPr/>
                    </p:nvPicPr>
                    <p:blipFill>
                      <a:blip r:embed="rId10"/>
                      <a:stretch>
                        <a:fillRect/>
                      </a:stretch>
                    </p:blipFill>
                    <p:spPr>
                      <a:xfrm>
                        <a:off x="7086600" y="2286000"/>
                        <a:ext cx="914400" cy="341313"/>
                      </a:xfrm>
                      <a:prstGeom prst="rect">
                        <a:avLst/>
                      </a:prstGeom>
                      <a:noFill/>
                      <a:ln w="38100">
                        <a:noFill/>
                        <a:miter/>
                      </a:ln>
                    </p:spPr>
                  </p:pic>
                </p:oleObj>
              </mc:Fallback>
            </mc:AlternateContent>
          </a:graphicData>
        </a:graphic>
      </p:graphicFrame>
      <p:sp>
        <p:nvSpPr>
          <p:cNvPr id="136202" name="Rectangle 11"/>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24" name="Object 12"/>
          <p:cNvGraphicFramePr>
            <a:graphicFrameLocks noChangeAspect="1"/>
          </p:cNvGraphicFramePr>
          <p:nvPr/>
        </p:nvGraphicFramePr>
        <p:xfrm>
          <a:off x="2819400" y="2590800"/>
          <a:ext cx="342900" cy="457200"/>
        </p:xfrm>
        <a:graphic>
          <a:graphicData uri="http://schemas.openxmlformats.org/presentationml/2006/ole">
            <mc:AlternateContent xmlns:mc="http://schemas.openxmlformats.org/markup-compatibility/2006">
              <mc:Choice xmlns:v="urn:schemas-microsoft-com:vml" Requires="v">
                <p:oleObj spid="_x0000_s3137" name="" r:id="rId11" imgW="203200" imgH="266700" progId="Equation.3">
                  <p:embed/>
                </p:oleObj>
              </mc:Choice>
              <mc:Fallback>
                <p:oleObj name="" r:id="rId11" imgW="203200" imgH="266700" progId="Equation.3">
                  <p:embed/>
                  <p:pic>
                    <p:nvPicPr>
                      <p:cNvPr id="0" name="图片 3136"/>
                      <p:cNvPicPr/>
                      <p:nvPr/>
                    </p:nvPicPr>
                    <p:blipFill>
                      <a:blip r:embed="rId12"/>
                      <a:stretch>
                        <a:fillRect/>
                      </a:stretch>
                    </p:blipFill>
                    <p:spPr>
                      <a:xfrm>
                        <a:off x="2819400" y="2590800"/>
                        <a:ext cx="342900" cy="457200"/>
                      </a:xfrm>
                      <a:prstGeom prst="rect">
                        <a:avLst/>
                      </a:prstGeom>
                      <a:noFill/>
                      <a:ln w="38100">
                        <a:noFill/>
                        <a:miter/>
                      </a:ln>
                    </p:spPr>
                  </p:pic>
                </p:oleObj>
              </mc:Fallback>
            </mc:AlternateContent>
          </a:graphicData>
        </a:graphic>
      </p:graphicFrame>
      <p:sp>
        <p:nvSpPr>
          <p:cNvPr id="136204" name="Rectangle 13"/>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26" name="Object 14"/>
          <p:cNvGraphicFramePr>
            <a:graphicFrameLocks noChangeAspect="1"/>
          </p:cNvGraphicFramePr>
          <p:nvPr/>
        </p:nvGraphicFramePr>
        <p:xfrm>
          <a:off x="1295400" y="3733800"/>
          <a:ext cx="342900" cy="457200"/>
        </p:xfrm>
        <a:graphic>
          <a:graphicData uri="http://schemas.openxmlformats.org/presentationml/2006/ole">
            <mc:AlternateContent xmlns:mc="http://schemas.openxmlformats.org/markup-compatibility/2006">
              <mc:Choice xmlns:v="urn:schemas-microsoft-com:vml" Requires="v">
                <p:oleObj spid="_x0000_s3136" name="" r:id="rId13" imgW="203200" imgH="266700" progId="Equation.3">
                  <p:embed/>
                </p:oleObj>
              </mc:Choice>
              <mc:Fallback>
                <p:oleObj name="" r:id="rId13" imgW="203200" imgH="266700" progId="Equation.3">
                  <p:embed/>
                  <p:pic>
                    <p:nvPicPr>
                      <p:cNvPr id="0" name="图片 3135"/>
                      <p:cNvPicPr/>
                      <p:nvPr/>
                    </p:nvPicPr>
                    <p:blipFill>
                      <a:blip r:embed="rId14"/>
                      <a:stretch>
                        <a:fillRect/>
                      </a:stretch>
                    </p:blipFill>
                    <p:spPr>
                      <a:xfrm>
                        <a:off x="1295400" y="3733800"/>
                        <a:ext cx="342900" cy="457200"/>
                      </a:xfrm>
                      <a:prstGeom prst="rect">
                        <a:avLst/>
                      </a:prstGeom>
                      <a:noFill/>
                      <a:ln w="38100">
                        <a:noFill/>
                        <a:miter/>
                      </a:ln>
                    </p:spPr>
                  </p:pic>
                </p:oleObj>
              </mc:Fallback>
            </mc:AlternateContent>
          </a:graphicData>
        </a:graphic>
      </p:graphicFrame>
      <p:sp>
        <p:nvSpPr>
          <p:cNvPr id="136206" name="Rectangle 15"/>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28" name="Object 16"/>
          <p:cNvGraphicFramePr>
            <a:graphicFrameLocks noChangeAspect="1"/>
          </p:cNvGraphicFramePr>
          <p:nvPr/>
        </p:nvGraphicFramePr>
        <p:xfrm>
          <a:off x="4724400" y="2971800"/>
          <a:ext cx="311150" cy="457200"/>
        </p:xfrm>
        <a:graphic>
          <a:graphicData uri="http://schemas.openxmlformats.org/presentationml/2006/ole">
            <mc:AlternateContent xmlns:mc="http://schemas.openxmlformats.org/markup-compatibility/2006">
              <mc:Choice xmlns:v="urn:schemas-microsoft-com:vml" Requires="v">
                <p:oleObj spid="_x0000_s3131" name="" r:id="rId15" imgW="165100" imgH="241300" progId="Equation.3">
                  <p:embed/>
                </p:oleObj>
              </mc:Choice>
              <mc:Fallback>
                <p:oleObj name="" r:id="rId15" imgW="165100" imgH="241300" progId="Equation.3">
                  <p:embed/>
                  <p:pic>
                    <p:nvPicPr>
                      <p:cNvPr id="0" name="图片 3130"/>
                      <p:cNvPicPr/>
                      <p:nvPr/>
                    </p:nvPicPr>
                    <p:blipFill>
                      <a:blip r:embed="rId16"/>
                      <a:stretch>
                        <a:fillRect/>
                      </a:stretch>
                    </p:blipFill>
                    <p:spPr>
                      <a:xfrm>
                        <a:off x="4724400" y="2971800"/>
                        <a:ext cx="311150" cy="457200"/>
                      </a:xfrm>
                      <a:prstGeom prst="rect">
                        <a:avLst/>
                      </a:prstGeom>
                      <a:noFill/>
                      <a:ln w="38100">
                        <a:noFill/>
                        <a:miter/>
                      </a:ln>
                    </p:spPr>
                  </p:pic>
                </p:oleObj>
              </mc:Fallback>
            </mc:AlternateContent>
          </a:graphicData>
        </a:graphic>
      </p:graphicFrame>
      <p:sp>
        <p:nvSpPr>
          <p:cNvPr id="136208" name="Rectangle 17"/>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30" name="Object 18"/>
          <p:cNvGraphicFramePr>
            <a:graphicFrameLocks noChangeAspect="1"/>
          </p:cNvGraphicFramePr>
          <p:nvPr/>
        </p:nvGraphicFramePr>
        <p:xfrm>
          <a:off x="2895600" y="2971800"/>
          <a:ext cx="342900" cy="457200"/>
        </p:xfrm>
        <a:graphic>
          <a:graphicData uri="http://schemas.openxmlformats.org/presentationml/2006/ole">
            <mc:AlternateContent xmlns:mc="http://schemas.openxmlformats.org/markup-compatibility/2006">
              <mc:Choice xmlns:v="urn:schemas-microsoft-com:vml" Requires="v">
                <p:oleObj spid="_x0000_s3132" name="" r:id="rId17" imgW="203200" imgH="266700" progId="Equation.3">
                  <p:embed/>
                </p:oleObj>
              </mc:Choice>
              <mc:Fallback>
                <p:oleObj name="" r:id="rId17" imgW="203200" imgH="266700" progId="Equation.3">
                  <p:embed/>
                  <p:pic>
                    <p:nvPicPr>
                      <p:cNvPr id="0" name="图片 3131"/>
                      <p:cNvPicPr/>
                      <p:nvPr/>
                    </p:nvPicPr>
                    <p:blipFill>
                      <a:blip r:embed="rId14"/>
                      <a:stretch>
                        <a:fillRect/>
                      </a:stretch>
                    </p:blipFill>
                    <p:spPr>
                      <a:xfrm>
                        <a:off x="2895600" y="2971800"/>
                        <a:ext cx="342900" cy="457200"/>
                      </a:xfrm>
                      <a:prstGeom prst="rect">
                        <a:avLst/>
                      </a:prstGeom>
                      <a:noFill/>
                      <a:ln w="38100">
                        <a:noFill/>
                        <a:miter/>
                      </a:ln>
                    </p:spPr>
                  </p:pic>
                </p:oleObj>
              </mc:Fallback>
            </mc:AlternateContent>
          </a:graphicData>
        </a:graphic>
      </p:graphicFrame>
      <p:sp>
        <p:nvSpPr>
          <p:cNvPr id="136210" name="Rectangle 19"/>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32" name="Object 20"/>
          <p:cNvGraphicFramePr>
            <a:graphicFrameLocks noChangeAspect="1"/>
          </p:cNvGraphicFramePr>
          <p:nvPr/>
        </p:nvGraphicFramePr>
        <p:xfrm>
          <a:off x="914400" y="3505200"/>
          <a:ext cx="2209800" cy="369888"/>
        </p:xfrm>
        <a:graphic>
          <a:graphicData uri="http://schemas.openxmlformats.org/presentationml/2006/ole">
            <mc:AlternateContent xmlns:mc="http://schemas.openxmlformats.org/markup-compatibility/2006">
              <mc:Choice xmlns:v="urn:schemas-microsoft-com:vml" Requires="v">
                <p:oleObj spid="_x0000_s3133" name="" r:id="rId18" imgW="1651635" imgH="279400" progId="Equation.3">
                  <p:embed/>
                </p:oleObj>
              </mc:Choice>
              <mc:Fallback>
                <p:oleObj name="" r:id="rId18" imgW="1651635" imgH="279400" progId="Equation.3">
                  <p:embed/>
                  <p:pic>
                    <p:nvPicPr>
                      <p:cNvPr id="0" name="图片 3132"/>
                      <p:cNvPicPr/>
                      <p:nvPr/>
                    </p:nvPicPr>
                    <p:blipFill>
                      <a:blip r:embed="rId19"/>
                      <a:stretch>
                        <a:fillRect/>
                      </a:stretch>
                    </p:blipFill>
                    <p:spPr>
                      <a:xfrm>
                        <a:off x="914400" y="3505200"/>
                        <a:ext cx="2209800" cy="369888"/>
                      </a:xfrm>
                      <a:prstGeom prst="rect">
                        <a:avLst/>
                      </a:prstGeom>
                      <a:noFill/>
                      <a:ln w="38100">
                        <a:noFill/>
                        <a:miter/>
                      </a:ln>
                    </p:spPr>
                  </p:pic>
                </p:oleObj>
              </mc:Fallback>
            </mc:AlternateContent>
          </a:graphicData>
        </a:graphic>
      </p:graphicFrame>
      <p:sp>
        <p:nvSpPr>
          <p:cNvPr id="136212" name="Rectangle 21"/>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34" name="Object 22"/>
          <p:cNvGraphicFramePr>
            <a:graphicFrameLocks noChangeAspect="1"/>
          </p:cNvGraphicFramePr>
          <p:nvPr/>
        </p:nvGraphicFramePr>
        <p:xfrm>
          <a:off x="6705600" y="3429000"/>
          <a:ext cx="342900" cy="457200"/>
        </p:xfrm>
        <a:graphic>
          <a:graphicData uri="http://schemas.openxmlformats.org/presentationml/2006/ole">
            <mc:AlternateContent xmlns:mc="http://schemas.openxmlformats.org/markup-compatibility/2006">
              <mc:Choice xmlns:v="urn:schemas-microsoft-com:vml" Requires="v">
                <p:oleObj spid="_x0000_s3134" name="" r:id="rId20" imgW="203200" imgH="266700" progId="Equation.3">
                  <p:embed/>
                </p:oleObj>
              </mc:Choice>
              <mc:Fallback>
                <p:oleObj name="" r:id="rId20" imgW="203200" imgH="266700" progId="Equation.3">
                  <p:embed/>
                  <p:pic>
                    <p:nvPicPr>
                      <p:cNvPr id="0" name="图片 3133"/>
                      <p:cNvPicPr/>
                      <p:nvPr/>
                    </p:nvPicPr>
                    <p:blipFill>
                      <a:blip r:embed="rId21"/>
                      <a:stretch>
                        <a:fillRect/>
                      </a:stretch>
                    </p:blipFill>
                    <p:spPr>
                      <a:xfrm>
                        <a:off x="6705600" y="3429000"/>
                        <a:ext cx="342900" cy="457200"/>
                      </a:xfrm>
                      <a:prstGeom prst="rect">
                        <a:avLst/>
                      </a:prstGeom>
                      <a:noFill/>
                      <a:ln w="38100">
                        <a:noFill/>
                        <a:miter/>
                      </a:ln>
                    </p:spPr>
                  </p:pic>
                </p:oleObj>
              </mc:Fallback>
            </mc:AlternateContent>
          </a:graphicData>
        </a:graphic>
      </p:graphicFrame>
      <p:sp>
        <p:nvSpPr>
          <p:cNvPr id="136214" name="Rectangle 23"/>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36" name="Object 24"/>
          <p:cNvGraphicFramePr>
            <a:graphicFrameLocks noChangeAspect="1"/>
          </p:cNvGraphicFramePr>
          <p:nvPr/>
        </p:nvGraphicFramePr>
        <p:xfrm>
          <a:off x="6324600" y="3048000"/>
          <a:ext cx="342900" cy="457200"/>
        </p:xfrm>
        <a:graphic>
          <a:graphicData uri="http://schemas.openxmlformats.org/presentationml/2006/ole">
            <mc:AlternateContent xmlns:mc="http://schemas.openxmlformats.org/markup-compatibility/2006">
              <mc:Choice xmlns:v="urn:schemas-microsoft-com:vml" Requires="v">
                <p:oleObj spid="_x0000_s3135" name="" r:id="rId22" imgW="203200" imgH="266700" progId="Equation.3">
                  <p:embed/>
                </p:oleObj>
              </mc:Choice>
              <mc:Fallback>
                <p:oleObj name="" r:id="rId22" imgW="203200" imgH="266700" progId="Equation.3">
                  <p:embed/>
                  <p:pic>
                    <p:nvPicPr>
                      <p:cNvPr id="0" name="图片 3134"/>
                      <p:cNvPicPr/>
                      <p:nvPr/>
                    </p:nvPicPr>
                    <p:blipFill>
                      <a:blip r:embed="rId14"/>
                      <a:stretch>
                        <a:fillRect/>
                      </a:stretch>
                    </p:blipFill>
                    <p:spPr>
                      <a:xfrm>
                        <a:off x="6324600" y="3048000"/>
                        <a:ext cx="342900" cy="457200"/>
                      </a:xfrm>
                      <a:prstGeom prst="rect">
                        <a:avLst/>
                      </a:prstGeom>
                      <a:noFill/>
                      <a:ln w="38100">
                        <a:noFill/>
                        <a:miter/>
                      </a:ln>
                    </p:spPr>
                  </p:pic>
                </p:oleObj>
              </mc:Fallback>
            </mc:AlternateContent>
          </a:graphicData>
        </a:graphic>
      </p:graphicFrame>
      <p:sp>
        <p:nvSpPr>
          <p:cNvPr id="136216" name="Rectangle 25"/>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38" name="Object 26"/>
          <p:cNvGraphicFramePr>
            <a:graphicFrameLocks noChangeAspect="1"/>
          </p:cNvGraphicFramePr>
          <p:nvPr/>
        </p:nvGraphicFramePr>
        <p:xfrm>
          <a:off x="3200400" y="3733800"/>
          <a:ext cx="311150" cy="457200"/>
        </p:xfrm>
        <a:graphic>
          <a:graphicData uri="http://schemas.openxmlformats.org/presentationml/2006/ole">
            <mc:AlternateContent xmlns:mc="http://schemas.openxmlformats.org/markup-compatibility/2006">
              <mc:Choice xmlns:v="urn:schemas-microsoft-com:vml" Requires="v">
                <p:oleObj spid="_x0000_s3145" name="" r:id="rId23" imgW="165100" imgH="241300" progId="Equation.3">
                  <p:embed/>
                </p:oleObj>
              </mc:Choice>
              <mc:Fallback>
                <p:oleObj name="" r:id="rId23" imgW="165100" imgH="241300" progId="Equation.3">
                  <p:embed/>
                  <p:pic>
                    <p:nvPicPr>
                      <p:cNvPr id="0" name="图片 3144"/>
                      <p:cNvPicPr/>
                      <p:nvPr/>
                    </p:nvPicPr>
                    <p:blipFill>
                      <a:blip r:embed="rId16"/>
                      <a:stretch>
                        <a:fillRect/>
                      </a:stretch>
                    </p:blipFill>
                    <p:spPr>
                      <a:xfrm>
                        <a:off x="3200400" y="3733800"/>
                        <a:ext cx="311150" cy="457200"/>
                      </a:xfrm>
                      <a:prstGeom prst="rect">
                        <a:avLst/>
                      </a:prstGeom>
                      <a:noFill/>
                      <a:ln w="38100">
                        <a:noFill/>
                        <a:miter/>
                      </a:ln>
                    </p:spPr>
                  </p:pic>
                </p:oleObj>
              </mc:Fallback>
            </mc:AlternateContent>
          </a:graphicData>
        </a:graphic>
      </p:graphicFrame>
      <p:sp>
        <p:nvSpPr>
          <p:cNvPr id="136218" name="Rectangle 27"/>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40" name="Object 28"/>
          <p:cNvGraphicFramePr>
            <a:graphicFrameLocks noChangeAspect="1"/>
          </p:cNvGraphicFramePr>
          <p:nvPr/>
        </p:nvGraphicFramePr>
        <p:xfrm>
          <a:off x="2667000" y="4191000"/>
          <a:ext cx="1066800" cy="387350"/>
        </p:xfrm>
        <a:graphic>
          <a:graphicData uri="http://schemas.openxmlformats.org/presentationml/2006/ole">
            <mc:AlternateContent xmlns:mc="http://schemas.openxmlformats.org/markup-compatibility/2006">
              <mc:Choice xmlns:v="urn:schemas-microsoft-com:vml" Requires="v">
                <p:oleObj spid="_x0000_s3142" name="" r:id="rId24" imgW="735965" imgH="266700" progId="Equation.3">
                  <p:embed/>
                </p:oleObj>
              </mc:Choice>
              <mc:Fallback>
                <p:oleObj name="" r:id="rId24" imgW="735965" imgH="266700" progId="Equation.3">
                  <p:embed/>
                  <p:pic>
                    <p:nvPicPr>
                      <p:cNvPr id="0" name="图片 3141"/>
                      <p:cNvPicPr/>
                      <p:nvPr/>
                    </p:nvPicPr>
                    <p:blipFill>
                      <a:blip r:embed="rId25"/>
                      <a:stretch>
                        <a:fillRect/>
                      </a:stretch>
                    </p:blipFill>
                    <p:spPr>
                      <a:xfrm>
                        <a:off x="2667000" y="4191000"/>
                        <a:ext cx="1066800" cy="387350"/>
                      </a:xfrm>
                      <a:prstGeom prst="rect">
                        <a:avLst/>
                      </a:prstGeom>
                      <a:noFill/>
                      <a:ln w="38100">
                        <a:noFill/>
                        <a:miter/>
                      </a:ln>
                    </p:spPr>
                  </p:pic>
                </p:oleObj>
              </mc:Fallback>
            </mc:AlternateContent>
          </a:graphicData>
        </a:graphic>
      </p:graphicFrame>
      <p:sp>
        <p:nvSpPr>
          <p:cNvPr id="136220" name="Rectangle 29"/>
          <p:cNvSpPr/>
          <p:nvPr/>
        </p:nvSpPr>
        <p:spPr>
          <a:xfrm>
            <a:off x="0" y="-838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1742" name="Object 30"/>
          <p:cNvGraphicFramePr>
            <a:graphicFrameLocks noChangeAspect="1"/>
          </p:cNvGraphicFramePr>
          <p:nvPr/>
        </p:nvGraphicFramePr>
        <p:xfrm>
          <a:off x="1371600" y="4495800"/>
          <a:ext cx="342900" cy="457200"/>
        </p:xfrm>
        <a:graphic>
          <a:graphicData uri="http://schemas.openxmlformats.org/presentationml/2006/ole">
            <mc:AlternateContent xmlns:mc="http://schemas.openxmlformats.org/markup-compatibility/2006">
              <mc:Choice xmlns:v="urn:schemas-microsoft-com:vml" Requires="v">
                <p:oleObj spid="_x0000_s3143" name="" r:id="rId26" imgW="203200" imgH="266700" progId="Equation.DSMT4">
                  <p:embed/>
                </p:oleObj>
              </mc:Choice>
              <mc:Fallback>
                <p:oleObj name="" r:id="rId26" imgW="203200" imgH="266700" progId="Equation.DSMT4">
                  <p:embed/>
                  <p:pic>
                    <p:nvPicPr>
                      <p:cNvPr id="0" name="图片 3142"/>
                      <p:cNvPicPr/>
                      <p:nvPr/>
                    </p:nvPicPr>
                    <p:blipFill>
                      <a:blip r:embed="rId27"/>
                      <a:stretch>
                        <a:fillRect/>
                      </a:stretch>
                    </p:blipFill>
                    <p:spPr>
                      <a:xfrm>
                        <a:off x="1371600" y="4495800"/>
                        <a:ext cx="342900" cy="457200"/>
                      </a:xfrm>
                      <a:prstGeom prst="rect">
                        <a:avLst/>
                      </a:prstGeom>
                      <a:noFill/>
                      <a:ln w="38100">
                        <a:noFill/>
                        <a:miter/>
                      </a:ln>
                    </p:spPr>
                  </p:pic>
                </p:oleObj>
              </mc:Fallback>
            </mc:AlternateContent>
          </a:graphicData>
        </a:graphic>
      </p:graphicFrame>
      <p:graphicFrame>
        <p:nvGraphicFramePr>
          <p:cNvPr id="371743" name="Object 31"/>
          <p:cNvGraphicFramePr>
            <a:graphicFrameLocks noChangeAspect="1"/>
          </p:cNvGraphicFramePr>
          <p:nvPr/>
        </p:nvGraphicFramePr>
        <p:xfrm>
          <a:off x="2514600" y="5334000"/>
          <a:ext cx="3200400" cy="865188"/>
        </p:xfrm>
        <a:graphic>
          <a:graphicData uri="http://schemas.openxmlformats.org/presentationml/2006/ole">
            <mc:AlternateContent xmlns:mc="http://schemas.openxmlformats.org/markup-compatibility/2006">
              <mc:Choice xmlns:v="urn:schemas-microsoft-com:vml" Requires="v">
                <p:oleObj spid="_x0000_s3141" name="" r:id="rId28" imgW="2120900" imgH="698500" progId="Equation.3">
                  <p:embed/>
                </p:oleObj>
              </mc:Choice>
              <mc:Fallback>
                <p:oleObj name="" r:id="rId28" imgW="2120900" imgH="698500" progId="Equation.3">
                  <p:embed/>
                  <p:pic>
                    <p:nvPicPr>
                      <p:cNvPr id="0" name="图片 3140"/>
                      <p:cNvPicPr/>
                      <p:nvPr/>
                    </p:nvPicPr>
                    <p:blipFill>
                      <a:blip r:embed="rId29"/>
                      <a:stretch>
                        <a:fillRect/>
                      </a:stretch>
                    </p:blipFill>
                    <p:spPr>
                      <a:xfrm>
                        <a:off x="2514600" y="5334000"/>
                        <a:ext cx="3200400" cy="86518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1714">
                                            <p:txEl>
                                              <p:charRg st="0" end="21"/>
                                            </p:txEl>
                                          </p:spTgt>
                                        </p:tgtEl>
                                        <p:attrNameLst>
                                          <p:attrName>style.visibility</p:attrName>
                                        </p:attrNameLst>
                                      </p:cBhvr>
                                      <p:to>
                                        <p:strVal val="visible"/>
                                      </p:to>
                                    </p:set>
                                    <p:animEffect transition="in" filter="dissolve">
                                      <p:cBhvr>
                                        <p:cTn id="7" dur="500"/>
                                        <p:tgtEl>
                                          <p:spTgt spid="371714">
                                            <p:txEl>
                                              <p:charRg st="0" end="2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71714">
                                            <p:txEl>
                                              <p:charRg st="21" end="62"/>
                                            </p:txEl>
                                          </p:spTgt>
                                        </p:tgtEl>
                                        <p:attrNameLst>
                                          <p:attrName>style.visibility</p:attrName>
                                        </p:attrNameLst>
                                      </p:cBhvr>
                                      <p:to>
                                        <p:strVal val="visible"/>
                                      </p:to>
                                    </p:set>
                                    <p:animEffect transition="in" filter="dissolve">
                                      <p:cBhvr>
                                        <p:cTn id="10" dur="500"/>
                                        <p:tgtEl>
                                          <p:spTgt spid="371714">
                                            <p:txEl>
                                              <p:charRg st="21" end="62"/>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71714">
                                            <p:txEl>
                                              <p:charRg st="63" end="108"/>
                                            </p:txEl>
                                          </p:spTgt>
                                        </p:tgtEl>
                                        <p:attrNameLst>
                                          <p:attrName>style.visibility</p:attrName>
                                        </p:attrNameLst>
                                      </p:cBhvr>
                                      <p:to>
                                        <p:strVal val="visible"/>
                                      </p:to>
                                    </p:set>
                                    <p:animEffect transition="in" filter="dissolve">
                                      <p:cBhvr>
                                        <p:cTn id="13" dur="500"/>
                                        <p:tgtEl>
                                          <p:spTgt spid="371714">
                                            <p:txEl>
                                              <p:charRg st="63" end="108"/>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71715"/>
                                        </p:tgtEl>
                                        <p:attrNameLst>
                                          <p:attrName>style.visibility</p:attrName>
                                        </p:attrNameLst>
                                      </p:cBhvr>
                                      <p:to>
                                        <p:strVal val="visible"/>
                                      </p:to>
                                    </p:set>
                                    <p:animEffect transition="in" filter="dissolve">
                                      <p:cBhvr>
                                        <p:cTn id="16" dur="500"/>
                                        <p:tgtEl>
                                          <p:spTgt spid="371715"/>
                                        </p:tgtEl>
                                      </p:cBhvr>
                                    </p:animEffect>
                                  </p:childTnLst>
                                </p:cTn>
                              </p:par>
                              <p:par>
                                <p:cTn id="17" presetID="9" presetClass="entr" presetSubtype="0" fill="hold" nodeType="withEffect">
                                  <p:stCondLst>
                                    <p:cond delay="0"/>
                                  </p:stCondLst>
                                  <p:childTnLst>
                                    <p:set>
                                      <p:cBhvr>
                                        <p:cTn id="18" dur="1" fill="hold">
                                          <p:stCondLst>
                                            <p:cond delay="0"/>
                                          </p:stCondLst>
                                        </p:cTn>
                                        <p:tgtEl>
                                          <p:spTgt spid="371717"/>
                                        </p:tgtEl>
                                        <p:attrNameLst>
                                          <p:attrName>style.visibility</p:attrName>
                                        </p:attrNameLst>
                                      </p:cBhvr>
                                      <p:to>
                                        <p:strVal val="visible"/>
                                      </p:to>
                                    </p:set>
                                    <p:animEffect transition="in" filter="dissolve">
                                      <p:cBhvr>
                                        <p:cTn id="19" dur="500"/>
                                        <p:tgtEl>
                                          <p:spTgt spid="371717"/>
                                        </p:tgtEl>
                                      </p:cBhvr>
                                    </p:animEffect>
                                  </p:childTnLst>
                                </p:cTn>
                              </p:par>
                              <p:par>
                                <p:cTn id="20" presetID="9" presetClass="entr" presetSubtype="0" fill="hold" nodeType="withEffect">
                                  <p:stCondLst>
                                    <p:cond delay="0"/>
                                  </p:stCondLst>
                                  <p:childTnLst>
                                    <p:set>
                                      <p:cBhvr>
                                        <p:cTn id="21" dur="1" fill="hold">
                                          <p:stCondLst>
                                            <p:cond delay="0"/>
                                          </p:stCondLst>
                                        </p:cTn>
                                        <p:tgtEl>
                                          <p:spTgt spid="371719"/>
                                        </p:tgtEl>
                                        <p:attrNameLst>
                                          <p:attrName>style.visibility</p:attrName>
                                        </p:attrNameLst>
                                      </p:cBhvr>
                                      <p:to>
                                        <p:strVal val="visible"/>
                                      </p:to>
                                    </p:set>
                                    <p:animEffect transition="in" filter="dissolve">
                                      <p:cBhvr>
                                        <p:cTn id="22" dur="500"/>
                                        <p:tgtEl>
                                          <p:spTgt spid="371719"/>
                                        </p:tgtEl>
                                      </p:cBhvr>
                                    </p:animEffect>
                                  </p:childTnLst>
                                </p:cTn>
                              </p:par>
                              <p:par>
                                <p:cTn id="23" presetID="9" presetClass="entr" presetSubtype="0" fill="hold" nodeType="withEffect">
                                  <p:stCondLst>
                                    <p:cond delay="0"/>
                                  </p:stCondLst>
                                  <p:childTnLst>
                                    <p:set>
                                      <p:cBhvr>
                                        <p:cTn id="24" dur="1" fill="hold">
                                          <p:stCondLst>
                                            <p:cond delay="0"/>
                                          </p:stCondLst>
                                        </p:cTn>
                                        <p:tgtEl>
                                          <p:spTgt spid="371722"/>
                                        </p:tgtEl>
                                        <p:attrNameLst>
                                          <p:attrName>style.visibility</p:attrName>
                                        </p:attrNameLst>
                                      </p:cBhvr>
                                      <p:to>
                                        <p:strVal val="visible"/>
                                      </p:to>
                                    </p:set>
                                    <p:animEffect transition="in" filter="dissolve">
                                      <p:cBhvr>
                                        <p:cTn id="25" dur="500"/>
                                        <p:tgtEl>
                                          <p:spTgt spid="371722"/>
                                        </p:tgtEl>
                                      </p:cBhvr>
                                    </p:animEffect>
                                  </p:childTnLst>
                                </p:cTn>
                              </p:par>
                              <p:par>
                                <p:cTn id="26" presetID="9" presetClass="entr" presetSubtype="0" fill="hold" nodeType="withEffect">
                                  <p:stCondLst>
                                    <p:cond delay="0"/>
                                  </p:stCondLst>
                                  <p:childTnLst>
                                    <p:set>
                                      <p:cBhvr>
                                        <p:cTn id="27" dur="1" fill="hold">
                                          <p:stCondLst>
                                            <p:cond delay="0"/>
                                          </p:stCondLst>
                                        </p:cTn>
                                        <p:tgtEl>
                                          <p:spTgt spid="371721"/>
                                        </p:tgtEl>
                                        <p:attrNameLst>
                                          <p:attrName>style.visibility</p:attrName>
                                        </p:attrNameLst>
                                      </p:cBhvr>
                                      <p:to>
                                        <p:strVal val="visible"/>
                                      </p:to>
                                    </p:set>
                                    <p:animEffect transition="in" filter="dissolve">
                                      <p:cBhvr>
                                        <p:cTn id="28" dur="500"/>
                                        <p:tgtEl>
                                          <p:spTgt spid="371721"/>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371714">
                                            <p:txEl>
                                              <p:charRg st="108" end="131"/>
                                            </p:txEl>
                                          </p:spTgt>
                                        </p:tgtEl>
                                        <p:attrNameLst>
                                          <p:attrName>style.visibility</p:attrName>
                                        </p:attrNameLst>
                                      </p:cBhvr>
                                      <p:to>
                                        <p:strVal val="visible"/>
                                      </p:to>
                                    </p:set>
                                    <p:animEffect transition="in" filter="dissolve">
                                      <p:cBhvr>
                                        <p:cTn id="33" dur="500"/>
                                        <p:tgtEl>
                                          <p:spTgt spid="371714">
                                            <p:txEl>
                                              <p:charRg st="108" end="131"/>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71714">
                                            <p:txEl>
                                              <p:charRg st="131" end="169"/>
                                            </p:txEl>
                                          </p:spTgt>
                                        </p:tgtEl>
                                        <p:attrNameLst>
                                          <p:attrName>style.visibility</p:attrName>
                                        </p:attrNameLst>
                                      </p:cBhvr>
                                      <p:to>
                                        <p:strVal val="visible"/>
                                      </p:to>
                                    </p:set>
                                    <p:animEffect transition="in" filter="dissolve">
                                      <p:cBhvr>
                                        <p:cTn id="36" dur="500"/>
                                        <p:tgtEl>
                                          <p:spTgt spid="371714">
                                            <p:txEl>
                                              <p:charRg st="131" end="169"/>
                                            </p:txEl>
                                          </p:spTgt>
                                        </p:tgtEl>
                                      </p:cBhvr>
                                    </p:animEffect>
                                  </p:childTnLst>
                                </p:cTn>
                              </p:par>
                              <p:par>
                                <p:cTn id="37" presetID="9" presetClass="entr" presetSubtype="0" fill="hold" nodeType="withEffect">
                                  <p:stCondLst>
                                    <p:cond delay="0"/>
                                  </p:stCondLst>
                                  <p:childTnLst>
                                    <p:set>
                                      <p:cBhvr>
                                        <p:cTn id="38" dur="1" fill="hold">
                                          <p:stCondLst>
                                            <p:cond delay="0"/>
                                          </p:stCondLst>
                                        </p:cTn>
                                        <p:tgtEl>
                                          <p:spTgt spid="371726"/>
                                        </p:tgtEl>
                                        <p:attrNameLst>
                                          <p:attrName>style.visibility</p:attrName>
                                        </p:attrNameLst>
                                      </p:cBhvr>
                                      <p:to>
                                        <p:strVal val="visible"/>
                                      </p:to>
                                    </p:set>
                                    <p:animEffect transition="in" filter="dissolve">
                                      <p:cBhvr>
                                        <p:cTn id="39" dur="500"/>
                                        <p:tgtEl>
                                          <p:spTgt spid="371726"/>
                                        </p:tgtEl>
                                      </p:cBhvr>
                                    </p:animEffect>
                                  </p:childTnLst>
                                </p:cTn>
                              </p:par>
                              <p:par>
                                <p:cTn id="40" presetID="9" presetClass="entr" presetSubtype="0" fill="hold" nodeType="withEffect">
                                  <p:stCondLst>
                                    <p:cond delay="0"/>
                                  </p:stCondLst>
                                  <p:childTnLst>
                                    <p:set>
                                      <p:cBhvr>
                                        <p:cTn id="41" dur="1" fill="hold">
                                          <p:stCondLst>
                                            <p:cond delay="0"/>
                                          </p:stCondLst>
                                        </p:cTn>
                                        <p:tgtEl>
                                          <p:spTgt spid="371728"/>
                                        </p:tgtEl>
                                        <p:attrNameLst>
                                          <p:attrName>style.visibility</p:attrName>
                                        </p:attrNameLst>
                                      </p:cBhvr>
                                      <p:to>
                                        <p:strVal val="visible"/>
                                      </p:to>
                                    </p:set>
                                    <p:animEffect transition="in" filter="dissolve">
                                      <p:cBhvr>
                                        <p:cTn id="42" dur="500"/>
                                        <p:tgtEl>
                                          <p:spTgt spid="371728"/>
                                        </p:tgtEl>
                                      </p:cBhvr>
                                    </p:animEffect>
                                  </p:childTnLst>
                                </p:cTn>
                              </p:par>
                              <p:par>
                                <p:cTn id="43" presetID="9" presetClass="entr" presetSubtype="0" fill="hold" nodeType="withEffect">
                                  <p:stCondLst>
                                    <p:cond delay="0"/>
                                  </p:stCondLst>
                                  <p:childTnLst>
                                    <p:set>
                                      <p:cBhvr>
                                        <p:cTn id="44" dur="1" fill="hold">
                                          <p:stCondLst>
                                            <p:cond delay="0"/>
                                          </p:stCondLst>
                                        </p:cTn>
                                        <p:tgtEl>
                                          <p:spTgt spid="371730"/>
                                        </p:tgtEl>
                                        <p:attrNameLst>
                                          <p:attrName>style.visibility</p:attrName>
                                        </p:attrNameLst>
                                      </p:cBhvr>
                                      <p:to>
                                        <p:strVal val="visible"/>
                                      </p:to>
                                    </p:set>
                                    <p:animEffect transition="in" filter="dissolve">
                                      <p:cBhvr>
                                        <p:cTn id="45" dur="500"/>
                                        <p:tgtEl>
                                          <p:spTgt spid="371730"/>
                                        </p:tgtEl>
                                      </p:cBhvr>
                                    </p:animEffect>
                                  </p:childTnLst>
                                </p:cTn>
                              </p:par>
                              <p:par>
                                <p:cTn id="46" presetID="9" presetClass="entr" presetSubtype="0" fill="hold" nodeType="withEffect">
                                  <p:stCondLst>
                                    <p:cond delay="0"/>
                                  </p:stCondLst>
                                  <p:childTnLst>
                                    <p:set>
                                      <p:cBhvr>
                                        <p:cTn id="47" dur="1" fill="hold">
                                          <p:stCondLst>
                                            <p:cond delay="0"/>
                                          </p:stCondLst>
                                        </p:cTn>
                                        <p:tgtEl>
                                          <p:spTgt spid="371732"/>
                                        </p:tgtEl>
                                        <p:attrNameLst>
                                          <p:attrName>style.visibility</p:attrName>
                                        </p:attrNameLst>
                                      </p:cBhvr>
                                      <p:to>
                                        <p:strVal val="visible"/>
                                      </p:to>
                                    </p:set>
                                    <p:animEffect transition="in" filter="dissolve">
                                      <p:cBhvr>
                                        <p:cTn id="48" dur="500"/>
                                        <p:tgtEl>
                                          <p:spTgt spid="371732"/>
                                        </p:tgtEl>
                                      </p:cBhvr>
                                    </p:animEffect>
                                  </p:childTnLst>
                                </p:cTn>
                              </p:par>
                              <p:par>
                                <p:cTn id="49" presetID="9" presetClass="entr" presetSubtype="0" fill="hold" nodeType="withEffect">
                                  <p:stCondLst>
                                    <p:cond delay="0"/>
                                  </p:stCondLst>
                                  <p:childTnLst>
                                    <p:set>
                                      <p:cBhvr>
                                        <p:cTn id="50" dur="1" fill="hold">
                                          <p:stCondLst>
                                            <p:cond delay="0"/>
                                          </p:stCondLst>
                                        </p:cTn>
                                        <p:tgtEl>
                                          <p:spTgt spid="371734"/>
                                        </p:tgtEl>
                                        <p:attrNameLst>
                                          <p:attrName>style.visibility</p:attrName>
                                        </p:attrNameLst>
                                      </p:cBhvr>
                                      <p:to>
                                        <p:strVal val="visible"/>
                                      </p:to>
                                    </p:set>
                                    <p:animEffect transition="in" filter="dissolve">
                                      <p:cBhvr>
                                        <p:cTn id="51" dur="500"/>
                                        <p:tgtEl>
                                          <p:spTgt spid="371734"/>
                                        </p:tgtEl>
                                      </p:cBhvr>
                                    </p:animEffect>
                                  </p:childTnLst>
                                </p:cTn>
                              </p:par>
                              <p:par>
                                <p:cTn id="52" presetID="9" presetClass="entr" presetSubtype="0" fill="hold" nodeType="withEffect">
                                  <p:stCondLst>
                                    <p:cond delay="0"/>
                                  </p:stCondLst>
                                  <p:childTnLst>
                                    <p:set>
                                      <p:cBhvr>
                                        <p:cTn id="53" dur="1" fill="hold">
                                          <p:stCondLst>
                                            <p:cond delay="0"/>
                                          </p:stCondLst>
                                        </p:cTn>
                                        <p:tgtEl>
                                          <p:spTgt spid="371736"/>
                                        </p:tgtEl>
                                        <p:attrNameLst>
                                          <p:attrName>style.visibility</p:attrName>
                                        </p:attrNameLst>
                                      </p:cBhvr>
                                      <p:to>
                                        <p:strVal val="visible"/>
                                      </p:to>
                                    </p:set>
                                    <p:animEffect transition="in" filter="dissolve">
                                      <p:cBhvr>
                                        <p:cTn id="54" dur="500"/>
                                        <p:tgtEl>
                                          <p:spTgt spid="371736"/>
                                        </p:tgtEl>
                                      </p:cBhvr>
                                    </p:animEffect>
                                  </p:childTnLst>
                                </p:cTn>
                              </p:par>
                              <p:par>
                                <p:cTn id="55" presetID="9" presetClass="entr" presetSubtype="0" fill="hold" nodeType="withEffect">
                                  <p:stCondLst>
                                    <p:cond delay="0"/>
                                  </p:stCondLst>
                                  <p:childTnLst>
                                    <p:set>
                                      <p:cBhvr>
                                        <p:cTn id="56" dur="1" fill="hold">
                                          <p:stCondLst>
                                            <p:cond delay="0"/>
                                          </p:stCondLst>
                                        </p:cTn>
                                        <p:tgtEl>
                                          <p:spTgt spid="371738"/>
                                        </p:tgtEl>
                                        <p:attrNameLst>
                                          <p:attrName>style.visibility</p:attrName>
                                        </p:attrNameLst>
                                      </p:cBhvr>
                                      <p:to>
                                        <p:strVal val="visible"/>
                                      </p:to>
                                    </p:set>
                                    <p:animEffect transition="in" filter="dissolve">
                                      <p:cBhvr>
                                        <p:cTn id="57" dur="500"/>
                                        <p:tgtEl>
                                          <p:spTgt spid="371738"/>
                                        </p:tgtEl>
                                      </p:cBhvr>
                                    </p:animEffect>
                                  </p:childTnLst>
                                </p:cTn>
                              </p:par>
                              <p:par>
                                <p:cTn id="58" presetID="9" presetClass="entr" presetSubtype="0" fill="hold" nodeType="withEffect">
                                  <p:stCondLst>
                                    <p:cond delay="0"/>
                                  </p:stCondLst>
                                  <p:childTnLst>
                                    <p:set>
                                      <p:cBhvr>
                                        <p:cTn id="59" dur="1" fill="hold">
                                          <p:stCondLst>
                                            <p:cond delay="0"/>
                                          </p:stCondLst>
                                        </p:cTn>
                                        <p:tgtEl>
                                          <p:spTgt spid="371740"/>
                                        </p:tgtEl>
                                        <p:attrNameLst>
                                          <p:attrName>style.visibility</p:attrName>
                                        </p:attrNameLst>
                                      </p:cBhvr>
                                      <p:to>
                                        <p:strVal val="visible"/>
                                      </p:to>
                                    </p:set>
                                    <p:animEffect transition="in" filter="dissolve">
                                      <p:cBhvr>
                                        <p:cTn id="60" dur="500"/>
                                        <p:tgtEl>
                                          <p:spTgt spid="371740"/>
                                        </p:tgtEl>
                                      </p:cBhvr>
                                    </p:animEffect>
                                  </p:childTnLst>
                                </p:cTn>
                              </p:par>
                              <p:par>
                                <p:cTn id="61" presetID="9" presetClass="entr" presetSubtype="0" fill="hold" nodeType="withEffect">
                                  <p:stCondLst>
                                    <p:cond delay="0"/>
                                  </p:stCondLst>
                                  <p:childTnLst>
                                    <p:set>
                                      <p:cBhvr>
                                        <p:cTn id="62" dur="1" fill="hold">
                                          <p:stCondLst>
                                            <p:cond delay="0"/>
                                          </p:stCondLst>
                                        </p:cTn>
                                        <p:tgtEl>
                                          <p:spTgt spid="371724"/>
                                        </p:tgtEl>
                                        <p:attrNameLst>
                                          <p:attrName>style.visibility</p:attrName>
                                        </p:attrNameLst>
                                      </p:cBhvr>
                                      <p:to>
                                        <p:strVal val="visible"/>
                                      </p:to>
                                    </p:set>
                                    <p:animEffect transition="in" filter="dissolve">
                                      <p:cBhvr>
                                        <p:cTn id="63" dur="500"/>
                                        <p:tgtEl>
                                          <p:spTgt spid="371724"/>
                                        </p:tgtEl>
                                      </p:cBhvr>
                                    </p:animEffect>
                                  </p:childTnLst>
                                </p:cTn>
                              </p:par>
                              <p:par>
                                <p:cTn id="64" presetID="9" presetClass="entr" presetSubtype="0" fill="hold" nodeType="withEffect">
                                  <p:stCondLst>
                                    <p:cond delay="0"/>
                                  </p:stCondLst>
                                  <p:childTnLst>
                                    <p:set>
                                      <p:cBhvr>
                                        <p:cTn id="65" dur="1" fill="hold">
                                          <p:stCondLst>
                                            <p:cond delay="0"/>
                                          </p:stCondLst>
                                        </p:cTn>
                                        <p:tgtEl>
                                          <p:spTgt spid="371742"/>
                                        </p:tgtEl>
                                        <p:attrNameLst>
                                          <p:attrName>style.visibility</p:attrName>
                                        </p:attrNameLst>
                                      </p:cBhvr>
                                      <p:to>
                                        <p:strVal val="visible"/>
                                      </p:to>
                                    </p:set>
                                    <p:animEffect transition="in" filter="dissolve">
                                      <p:cBhvr>
                                        <p:cTn id="66" dur="500"/>
                                        <p:tgtEl>
                                          <p:spTgt spid="371742"/>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371714">
                                            <p:txEl>
                                              <p:charRg st="169" end="252"/>
                                            </p:txEl>
                                          </p:spTgt>
                                        </p:tgtEl>
                                        <p:attrNameLst>
                                          <p:attrName>style.visibility</p:attrName>
                                        </p:attrNameLst>
                                      </p:cBhvr>
                                      <p:to>
                                        <p:strVal val="visible"/>
                                      </p:to>
                                    </p:set>
                                    <p:animEffect transition="in" filter="dissolve">
                                      <p:cBhvr>
                                        <p:cTn id="69" dur="500"/>
                                        <p:tgtEl>
                                          <p:spTgt spid="371714">
                                            <p:txEl>
                                              <p:charRg st="169" end="252"/>
                                            </p:txEl>
                                          </p:spTgt>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371714">
                                            <p:txEl>
                                              <p:charRg st="252" end="278"/>
                                            </p:txEl>
                                          </p:spTgt>
                                        </p:tgtEl>
                                        <p:attrNameLst>
                                          <p:attrName>style.visibility</p:attrName>
                                        </p:attrNameLst>
                                      </p:cBhvr>
                                      <p:to>
                                        <p:strVal val="visible"/>
                                      </p:to>
                                    </p:set>
                                    <p:animEffect transition="in" filter="dissolve">
                                      <p:cBhvr>
                                        <p:cTn id="72" dur="500"/>
                                        <p:tgtEl>
                                          <p:spTgt spid="371714">
                                            <p:txEl>
                                              <p:charRg st="252" end="27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371714">
                                            <p:txEl>
                                              <p:charRg st="278" end="293"/>
                                            </p:txEl>
                                          </p:spTgt>
                                        </p:tgtEl>
                                        <p:attrNameLst>
                                          <p:attrName>style.visibility</p:attrName>
                                        </p:attrNameLst>
                                      </p:cBhvr>
                                      <p:to>
                                        <p:strVal val="visible"/>
                                      </p:to>
                                    </p:set>
                                    <p:animEffect transition="in" filter="dissolve">
                                      <p:cBhvr>
                                        <p:cTn id="77" dur="500"/>
                                        <p:tgtEl>
                                          <p:spTgt spid="371714">
                                            <p:txEl>
                                              <p:charRg st="278" end="293"/>
                                            </p:txEl>
                                          </p:spTgt>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371714">
                                            <p:txEl>
                                              <p:charRg st="293" end="310"/>
                                            </p:txEl>
                                          </p:spTgt>
                                        </p:tgtEl>
                                        <p:attrNameLst>
                                          <p:attrName>style.visibility</p:attrName>
                                        </p:attrNameLst>
                                      </p:cBhvr>
                                      <p:to>
                                        <p:strVal val="visible"/>
                                      </p:to>
                                    </p:set>
                                    <p:animEffect transition="in" filter="dissolve">
                                      <p:cBhvr>
                                        <p:cTn id="80" dur="500"/>
                                        <p:tgtEl>
                                          <p:spTgt spid="371714">
                                            <p:txEl>
                                              <p:charRg st="293" end="310"/>
                                            </p:txEl>
                                          </p:spTgt>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371714">
                                            <p:txEl>
                                              <p:charRg st="311" end="395"/>
                                            </p:txEl>
                                          </p:spTgt>
                                        </p:tgtEl>
                                        <p:attrNameLst>
                                          <p:attrName>style.visibility</p:attrName>
                                        </p:attrNameLst>
                                      </p:cBhvr>
                                      <p:to>
                                        <p:strVal val="visible"/>
                                      </p:to>
                                    </p:set>
                                    <p:animEffect transition="in" filter="dissolve">
                                      <p:cBhvr>
                                        <p:cTn id="83" dur="500"/>
                                        <p:tgtEl>
                                          <p:spTgt spid="371714">
                                            <p:txEl>
                                              <p:charRg st="311" end="395"/>
                                            </p:txEl>
                                          </p:spTgt>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371714">
                                            <p:txEl>
                                              <p:charRg st="395" end="397"/>
                                            </p:txEl>
                                          </p:spTgt>
                                        </p:tgtEl>
                                        <p:attrNameLst>
                                          <p:attrName>style.visibility</p:attrName>
                                        </p:attrNameLst>
                                      </p:cBhvr>
                                      <p:to>
                                        <p:strVal val="visible"/>
                                      </p:to>
                                    </p:set>
                                    <p:animEffect transition="in" filter="dissolve">
                                      <p:cBhvr>
                                        <p:cTn id="86" dur="500"/>
                                        <p:tgtEl>
                                          <p:spTgt spid="371714">
                                            <p:txEl>
                                              <p:charRg st="395" end="397"/>
                                            </p:txEl>
                                          </p:spTgt>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371714">
                                            <p:txEl>
                                              <p:charRg st="397" end="399"/>
                                            </p:txEl>
                                          </p:spTgt>
                                        </p:tgtEl>
                                        <p:attrNameLst>
                                          <p:attrName>style.visibility</p:attrName>
                                        </p:attrNameLst>
                                      </p:cBhvr>
                                      <p:to>
                                        <p:strVal val="visible"/>
                                      </p:to>
                                    </p:set>
                                    <p:animEffect transition="in" filter="dissolve">
                                      <p:cBhvr>
                                        <p:cTn id="89" dur="500"/>
                                        <p:tgtEl>
                                          <p:spTgt spid="371714">
                                            <p:txEl>
                                              <p:charRg st="397" end="399"/>
                                            </p:txEl>
                                          </p:spTgt>
                                        </p:tgtEl>
                                      </p:cBhvr>
                                    </p:animEffect>
                                  </p:childTnLst>
                                </p:cTn>
                              </p:par>
                              <p:par>
                                <p:cTn id="90" presetID="9" presetClass="entr" presetSubtype="0" fill="hold" nodeType="withEffect">
                                  <p:stCondLst>
                                    <p:cond delay="0"/>
                                  </p:stCondLst>
                                  <p:childTnLst>
                                    <p:set>
                                      <p:cBhvr>
                                        <p:cTn id="91" dur="1" fill="hold">
                                          <p:stCondLst>
                                            <p:cond delay="0"/>
                                          </p:stCondLst>
                                        </p:cTn>
                                        <p:tgtEl>
                                          <p:spTgt spid="371743"/>
                                        </p:tgtEl>
                                        <p:attrNameLst>
                                          <p:attrName>style.visibility</p:attrName>
                                        </p:attrNameLst>
                                      </p:cBhvr>
                                      <p:to>
                                        <p:strVal val="visible"/>
                                      </p:to>
                                    </p:set>
                                    <p:animEffect transition="in" filter="dissolve">
                                      <p:cBhvr>
                                        <p:cTn id="92" dur="500"/>
                                        <p:tgtEl>
                                          <p:spTgt spid="371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4"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2738" name="Rectangle 2"/>
          <p:cNvSpPr>
            <a:spLocks noGrp="1"/>
          </p:cNvSpPr>
          <p:nvPr>
            <p:ph type="body" sz="half" idx="1"/>
          </p:nvPr>
        </p:nvSpPr>
        <p:spPr>
          <a:xfrm>
            <a:off x="458788" y="1295400"/>
            <a:ext cx="8231187" cy="4724400"/>
          </a:xfrm>
          <a:ln/>
        </p:spPr>
        <p:txBody>
          <a:bodyPr vert="horz" wrap="square" lIns="91440" tIns="45720" rIns="91440" bIns="45720" anchor="t"/>
          <a:p>
            <a:pPr eaLnBrk="1" hangingPunct="1">
              <a:lnSpc>
                <a:spcPct val="120000"/>
              </a:lnSpc>
              <a:buNone/>
            </a:pPr>
            <a:r>
              <a:rPr lang="zh-CN" altLang="zh-CN" sz="1800">
                <a:solidFill>
                  <a:srgbClr val="692AA2"/>
                </a:solidFill>
                <a:latin typeface="仿宋_GB2312" pitchFamily="49" charset="-122"/>
                <a:ea typeface="仿宋_GB2312" pitchFamily="49" charset="-122"/>
              </a:rPr>
              <a:t>      </a:t>
            </a:r>
            <a:r>
              <a:rPr lang="en-US" altLang="zh-CN" sz="1800">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即为归一化了的权重系数。</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从而得到学生的满意度、市场占有率两个指标的权重系数分别为：</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2）简化为单目标线性模型</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    </a:t>
            </a:r>
            <a:r>
              <a:rPr lang="zh-CN" altLang="zh-CN" sz="2000" b="1">
                <a:solidFill>
                  <a:srgbClr val="692AA2"/>
                </a:solidFill>
                <a:latin typeface="仿宋_GB2312" pitchFamily="49" charset="-122"/>
                <a:ea typeface="仿宋_GB2312" pitchFamily="49" charset="-122"/>
              </a:rPr>
              <a:t>由这两个权重系数，我们可以将前面的多目标规划模型简化为下面的单目标线性模型</a:t>
            </a: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endParaRPr lang="zh-CN" altLang="zh-CN" sz="2000" b="1">
              <a:solidFill>
                <a:srgbClr val="692AA2"/>
              </a:solidFill>
              <a:latin typeface="仿宋_GB2312" pitchFamily="49" charset="-122"/>
              <a:ea typeface="仿宋_GB2312" pitchFamily="49" charset="-122"/>
            </a:endParaRPr>
          </a:p>
          <a:p>
            <a:pPr eaLnBrk="1" hangingPunct="1">
              <a:lnSpc>
                <a:spcPct val="120000"/>
              </a:lnSpc>
              <a:buNone/>
            </a:pPr>
            <a:r>
              <a:rPr lang="zh-CN" altLang="zh-CN" sz="2000" b="1">
                <a:solidFill>
                  <a:srgbClr val="692AA2"/>
                </a:solidFill>
                <a:latin typeface="仿宋_GB2312" pitchFamily="49" charset="-122"/>
                <a:ea typeface="仿宋_GB2312" pitchFamily="49" charset="-122"/>
              </a:rPr>
              <a:t>        模型Ⅰ</a:t>
            </a:r>
            <a:endParaRPr lang="zh-CN" altLang="zh-CN" sz="2000" b="1">
              <a:solidFill>
                <a:srgbClr val="692AA2"/>
              </a:solidFill>
              <a:latin typeface="仿宋_GB2312" pitchFamily="49" charset="-122"/>
              <a:ea typeface="仿宋_GB2312" pitchFamily="49" charset="-122"/>
            </a:endParaRPr>
          </a:p>
        </p:txBody>
      </p:sp>
      <p:graphicFrame>
        <p:nvGraphicFramePr>
          <p:cNvPr id="372739" name="Object 3"/>
          <p:cNvGraphicFramePr>
            <a:graphicFrameLocks noGrp="1" noChangeAspect="1"/>
          </p:cNvGraphicFramePr>
          <p:nvPr>
            <p:ph sz="quarter" idx="2"/>
          </p:nvPr>
        </p:nvGraphicFramePr>
        <p:xfrm>
          <a:off x="1905000" y="2133600"/>
          <a:ext cx="3259138" cy="428625"/>
        </p:xfrm>
        <a:graphic>
          <a:graphicData uri="http://schemas.openxmlformats.org/presentationml/2006/ole">
            <mc:AlternateContent xmlns:mc="http://schemas.openxmlformats.org/markup-compatibility/2006">
              <mc:Choice xmlns:v="urn:schemas-microsoft-com:vml" Requires="v">
                <p:oleObj spid="_x0000_s3144" name="" r:id="rId1" imgW="2133600" imgH="241300" progId="">
                  <p:embed/>
                </p:oleObj>
              </mc:Choice>
              <mc:Fallback>
                <p:oleObj name="" r:id="rId1" imgW="2133600" imgH="241300" progId="">
                  <p:embed/>
                  <p:pic>
                    <p:nvPicPr>
                      <p:cNvPr id="0" name="图片 3143"/>
                      <p:cNvPicPr/>
                      <p:nvPr/>
                    </p:nvPicPr>
                    <p:blipFill>
                      <a:blip r:embed="rId2"/>
                      <a:stretch>
                        <a:fillRect/>
                      </a:stretch>
                    </p:blipFill>
                    <p:spPr>
                      <a:xfrm>
                        <a:off x="1905000" y="2133600"/>
                        <a:ext cx="3259138" cy="428625"/>
                      </a:xfrm>
                      <a:prstGeom prst="rect">
                        <a:avLst/>
                      </a:prstGeom>
                      <a:noFill/>
                      <a:ln w="38100">
                        <a:miter/>
                      </a:ln>
                    </p:spPr>
                  </p:pic>
                </p:oleObj>
              </mc:Fallback>
            </mc:AlternateContent>
          </a:graphicData>
        </a:graphic>
      </p:graphicFrame>
      <p:sp>
        <p:nvSpPr>
          <p:cNvPr id="137219" name="Rectangle 4"/>
          <p:cNvSpPr/>
          <p:nvPr/>
        </p:nvSpPr>
        <p:spPr>
          <a:xfrm>
            <a:off x="0" y="-304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2741" name="Object 5"/>
          <p:cNvGraphicFramePr>
            <a:graphicFrameLocks noChangeAspect="1"/>
          </p:cNvGraphicFramePr>
          <p:nvPr/>
        </p:nvGraphicFramePr>
        <p:xfrm>
          <a:off x="1371600" y="1371600"/>
          <a:ext cx="385763" cy="457200"/>
        </p:xfrm>
        <a:graphic>
          <a:graphicData uri="http://schemas.openxmlformats.org/presentationml/2006/ole">
            <mc:AlternateContent xmlns:mc="http://schemas.openxmlformats.org/markup-compatibility/2006">
              <mc:Choice xmlns:v="urn:schemas-microsoft-com:vml" Requires="v">
                <p:oleObj spid="_x0000_s3146" name="" r:id="rId3" imgW="203200" imgH="241300" progId="Equation.3">
                  <p:embed/>
                </p:oleObj>
              </mc:Choice>
              <mc:Fallback>
                <p:oleObj name="" r:id="rId3" imgW="203200" imgH="241300" progId="Equation.3">
                  <p:embed/>
                  <p:pic>
                    <p:nvPicPr>
                      <p:cNvPr id="0" name="图片 3145"/>
                      <p:cNvPicPr/>
                      <p:nvPr/>
                    </p:nvPicPr>
                    <p:blipFill>
                      <a:blip r:embed="rId4"/>
                      <a:stretch>
                        <a:fillRect/>
                      </a:stretch>
                    </p:blipFill>
                    <p:spPr>
                      <a:xfrm>
                        <a:off x="1371600" y="1371600"/>
                        <a:ext cx="385763" cy="457200"/>
                      </a:xfrm>
                      <a:prstGeom prst="rect">
                        <a:avLst/>
                      </a:prstGeom>
                      <a:noFill/>
                      <a:ln w="38100">
                        <a:noFill/>
                        <a:miter/>
                      </a:ln>
                    </p:spPr>
                  </p:pic>
                </p:oleObj>
              </mc:Fallback>
            </mc:AlternateContent>
          </a:graphicData>
        </a:graphic>
      </p:graphicFrame>
      <p:graphicFrame>
        <p:nvGraphicFramePr>
          <p:cNvPr id="372742" name="Object 6"/>
          <p:cNvGraphicFramePr>
            <a:graphicFrameLocks noGrp="1" noChangeAspect="1"/>
          </p:cNvGraphicFramePr>
          <p:nvPr>
            <p:ph sz="quarter" idx="3"/>
          </p:nvPr>
        </p:nvGraphicFramePr>
        <p:xfrm>
          <a:off x="2895600" y="4038600"/>
          <a:ext cx="3705225" cy="2778125"/>
        </p:xfrm>
        <a:graphic>
          <a:graphicData uri="http://schemas.openxmlformats.org/presentationml/2006/ole">
            <mc:AlternateContent xmlns:mc="http://schemas.openxmlformats.org/markup-compatibility/2006">
              <mc:Choice xmlns:v="urn:schemas-microsoft-com:vml" Requires="v">
                <p:oleObj spid="_x0000_s3147" name="" r:id="rId5" imgW="2895600" imgH="2095500" progId="">
                  <p:embed/>
                </p:oleObj>
              </mc:Choice>
              <mc:Fallback>
                <p:oleObj name="" r:id="rId5" imgW="2895600" imgH="2095500" progId="">
                  <p:embed/>
                  <p:pic>
                    <p:nvPicPr>
                      <p:cNvPr id="0" name="图片 3146"/>
                      <p:cNvPicPr/>
                      <p:nvPr/>
                    </p:nvPicPr>
                    <p:blipFill>
                      <a:blip r:embed="rId6"/>
                      <a:stretch>
                        <a:fillRect/>
                      </a:stretch>
                    </p:blipFill>
                    <p:spPr>
                      <a:xfrm>
                        <a:off x="2895600" y="4038600"/>
                        <a:ext cx="3705225" cy="2778125"/>
                      </a:xfrm>
                      <a:prstGeom prst="rect">
                        <a:avLst/>
                      </a:prstGeom>
                      <a:noFill/>
                      <a:ln w="38100">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72741"/>
                                        </p:tgtEl>
                                        <p:attrNameLst>
                                          <p:attrName>style.visibility</p:attrName>
                                        </p:attrNameLst>
                                      </p:cBhvr>
                                      <p:to>
                                        <p:strVal val="visible"/>
                                      </p:to>
                                    </p:set>
                                    <p:animEffect transition="in" filter="wipe(down)">
                                      <p:cBhvr>
                                        <p:cTn id="7" dur="500"/>
                                        <p:tgtEl>
                                          <p:spTgt spid="37274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2738">
                                            <p:txEl>
                                              <p:charRg st="0" end="24"/>
                                            </p:txEl>
                                          </p:spTgt>
                                        </p:tgtEl>
                                        <p:attrNameLst>
                                          <p:attrName>style.visibility</p:attrName>
                                        </p:attrNameLst>
                                      </p:cBhvr>
                                      <p:to>
                                        <p:strVal val="visible"/>
                                      </p:to>
                                    </p:set>
                                    <p:animEffect transition="in" filter="wipe(down)">
                                      <p:cBhvr>
                                        <p:cTn id="10" dur="500"/>
                                        <p:tgtEl>
                                          <p:spTgt spid="372738">
                                            <p:txEl>
                                              <p:charRg st="0" end="24"/>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72738">
                                            <p:txEl>
                                              <p:charRg st="24" end="61"/>
                                            </p:txEl>
                                          </p:spTgt>
                                        </p:tgtEl>
                                        <p:attrNameLst>
                                          <p:attrName>style.visibility</p:attrName>
                                        </p:attrNameLst>
                                      </p:cBhvr>
                                      <p:to>
                                        <p:strVal val="visible"/>
                                      </p:to>
                                    </p:set>
                                    <p:animEffect transition="in" filter="wipe(down)">
                                      <p:cBhvr>
                                        <p:cTn id="13" dur="500"/>
                                        <p:tgtEl>
                                          <p:spTgt spid="372738">
                                            <p:txEl>
                                              <p:charRg st="24" end="61"/>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72738">
                                            <p:txEl>
                                              <p:charRg st="61" end="63"/>
                                            </p:txEl>
                                          </p:spTgt>
                                        </p:tgtEl>
                                        <p:attrNameLst>
                                          <p:attrName>style.visibility</p:attrName>
                                        </p:attrNameLst>
                                      </p:cBhvr>
                                      <p:to>
                                        <p:strVal val="visible"/>
                                      </p:to>
                                    </p:set>
                                    <p:animEffect transition="in" filter="wipe(down)">
                                      <p:cBhvr>
                                        <p:cTn id="16" dur="500"/>
                                        <p:tgtEl>
                                          <p:spTgt spid="372738">
                                            <p:txEl>
                                              <p:charRg st="61" end="6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72739"/>
                                        </p:tgtEl>
                                        <p:attrNameLst>
                                          <p:attrName>style.visibility</p:attrName>
                                        </p:attrNameLst>
                                      </p:cBhvr>
                                      <p:to>
                                        <p:strVal val="visible"/>
                                      </p:to>
                                    </p:set>
                                    <p:animEffect transition="in" filter="wipe(down)">
                                      <p:cBhvr>
                                        <p:cTn id="19" dur="500"/>
                                        <p:tgtEl>
                                          <p:spTgt spid="37273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72738">
                                            <p:txEl>
                                              <p:charRg st="63" end="79"/>
                                            </p:txEl>
                                          </p:spTgt>
                                        </p:tgtEl>
                                        <p:attrNameLst>
                                          <p:attrName>style.visibility</p:attrName>
                                        </p:attrNameLst>
                                      </p:cBhvr>
                                      <p:to>
                                        <p:strVal val="visible"/>
                                      </p:to>
                                    </p:set>
                                    <p:animEffect transition="in" filter="wipe(down)">
                                      <p:cBhvr>
                                        <p:cTn id="24" dur="500"/>
                                        <p:tgtEl>
                                          <p:spTgt spid="372738">
                                            <p:txEl>
                                              <p:charRg st="63" end="79"/>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72738">
                                            <p:txEl>
                                              <p:charRg st="79" end="122"/>
                                            </p:txEl>
                                          </p:spTgt>
                                        </p:tgtEl>
                                        <p:attrNameLst>
                                          <p:attrName>style.visibility</p:attrName>
                                        </p:attrNameLst>
                                      </p:cBhvr>
                                      <p:to>
                                        <p:strVal val="visible"/>
                                      </p:to>
                                    </p:set>
                                    <p:animEffect transition="in" filter="wipe(down)">
                                      <p:cBhvr>
                                        <p:cTn id="27" dur="500"/>
                                        <p:tgtEl>
                                          <p:spTgt spid="372738">
                                            <p:txEl>
                                              <p:charRg st="79" end="122"/>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72738">
                                            <p:txEl>
                                              <p:charRg st="125" end="137"/>
                                            </p:txEl>
                                          </p:spTgt>
                                        </p:tgtEl>
                                        <p:attrNameLst>
                                          <p:attrName>style.visibility</p:attrName>
                                        </p:attrNameLst>
                                      </p:cBhvr>
                                      <p:to>
                                        <p:strVal val="visible"/>
                                      </p:to>
                                    </p:set>
                                    <p:animEffect transition="in" filter="wipe(down)">
                                      <p:cBhvr>
                                        <p:cTn id="30" dur="500"/>
                                        <p:tgtEl>
                                          <p:spTgt spid="372738">
                                            <p:txEl>
                                              <p:charRg st="125" end="137"/>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372742"/>
                                        </p:tgtEl>
                                        <p:attrNameLst>
                                          <p:attrName>style.visibility</p:attrName>
                                        </p:attrNameLst>
                                      </p:cBhvr>
                                      <p:to>
                                        <p:strVal val="visible"/>
                                      </p:to>
                                    </p:set>
                                    <p:animEffect transition="in" filter="wipe(down)">
                                      <p:cBhvr>
                                        <p:cTn id="33" dur="500"/>
                                        <p:tgtEl>
                                          <p:spTgt spid="372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8"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3762" name="Rectangle 2"/>
          <p:cNvSpPr>
            <a:spLocks noGrp="1"/>
          </p:cNvSpPr>
          <p:nvPr>
            <p:ph idx="1"/>
          </p:nvPr>
        </p:nvSpPr>
        <p:spPr>
          <a:xfrm>
            <a:off x="457200" y="1295400"/>
            <a:ext cx="8229600" cy="4495800"/>
          </a:xfrm>
          <a:ln/>
        </p:spPr>
        <p:txBody>
          <a:bodyPr vert="horz" wrap="square" lIns="91440" tIns="45720" rIns="91440" bIns="45720" anchor="t"/>
          <a:p>
            <a:pPr eaLnBrk="1" hangingPunct="1">
              <a:buNone/>
            </a:pPr>
            <a:r>
              <a:rPr lang="en-US" altLang="zh-CN" sz="24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4</a:t>
            </a:r>
            <a:r>
              <a:rPr lang="zh-CN" altLang="en-US" sz="2000" b="1">
                <a:solidFill>
                  <a:srgbClr val="692AA2"/>
                </a:solidFill>
                <a:latin typeface="仿宋_GB2312" pitchFamily="49" charset="-122"/>
                <a:ea typeface="仿宋_GB2312" pitchFamily="49" charset="-122"/>
              </a:rPr>
              <a:t>）模型的求解</a:t>
            </a:r>
            <a:endParaRPr lang="zh-CN" altLang="en-US"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我们首先运用</a:t>
            </a:r>
            <a:r>
              <a:rPr lang="en-US" altLang="zh-CN" sz="2000" b="1">
                <a:solidFill>
                  <a:srgbClr val="692AA2"/>
                </a:solidFill>
                <a:latin typeface="仿宋_GB2312" pitchFamily="49" charset="-122"/>
                <a:ea typeface="仿宋_GB2312" pitchFamily="49" charset="-122"/>
              </a:rPr>
              <a:t>matlab7.0</a:t>
            </a:r>
            <a:r>
              <a:rPr lang="zh-CN" altLang="en-US" sz="2000" b="1">
                <a:solidFill>
                  <a:srgbClr val="692AA2"/>
                </a:solidFill>
                <a:latin typeface="仿宋_GB2312" pitchFamily="49" charset="-122"/>
                <a:ea typeface="仿宋_GB2312" pitchFamily="49" charset="-122"/>
              </a:rPr>
              <a:t>软件处理附件</a:t>
            </a:r>
            <a:r>
              <a:rPr lang="en-US" altLang="zh-CN" sz="2000" b="1">
                <a:solidFill>
                  <a:srgbClr val="692AA2"/>
                </a:solidFill>
                <a:latin typeface="仿宋_GB2312" pitchFamily="49" charset="-122"/>
                <a:ea typeface="仿宋_GB2312" pitchFamily="49" charset="-122"/>
              </a:rPr>
              <a:t>4</a:t>
            </a:r>
            <a:r>
              <a:rPr lang="zh-CN" altLang="en-US" sz="2000" b="1">
                <a:solidFill>
                  <a:srgbClr val="692AA2"/>
                </a:solidFill>
                <a:latin typeface="仿宋_GB2312" pitchFamily="49" charset="-122"/>
                <a:ea typeface="仿宋_GB2312" pitchFamily="49" charset="-122"/>
              </a:rPr>
              <a:t>和附件</a:t>
            </a:r>
            <a:r>
              <a:rPr lang="en-US" altLang="zh-CN" sz="2000" b="1">
                <a:solidFill>
                  <a:srgbClr val="692AA2"/>
                </a:solidFill>
                <a:latin typeface="仿宋_GB2312" pitchFamily="49" charset="-122"/>
                <a:ea typeface="仿宋_GB2312" pitchFamily="49" charset="-122"/>
              </a:rPr>
              <a:t>5</a:t>
            </a:r>
            <a:r>
              <a:rPr lang="zh-CN" altLang="en-US" sz="2000" b="1">
                <a:solidFill>
                  <a:srgbClr val="692AA2"/>
                </a:solidFill>
                <a:latin typeface="仿宋_GB2312" pitchFamily="49" charset="-122"/>
                <a:ea typeface="仿宋_GB2312" pitchFamily="49" charset="-122"/>
              </a:rPr>
              <a:t>中的原始数据， 得到各线性约束条件前的系数矩阵。然后利用</a:t>
            </a:r>
            <a:r>
              <a:rPr lang="en-US" altLang="zh-CN" sz="2000" b="1">
                <a:solidFill>
                  <a:srgbClr val="692AA2"/>
                </a:solidFill>
                <a:latin typeface="仿宋_GB2312" pitchFamily="49" charset="-122"/>
                <a:ea typeface="仿宋_GB2312" pitchFamily="49" charset="-122"/>
              </a:rPr>
              <a:t>lingo8.0</a:t>
            </a:r>
            <a:r>
              <a:rPr lang="zh-CN" altLang="en-US" sz="2000" b="1">
                <a:solidFill>
                  <a:srgbClr val="692AA2"/>
                </a:solidFill>
                <a:latin typeface="仿宋_GB2312" pitchFamily="49" charset="-122"/>
                <a:ea typeface="仿宋_GB2312" pitchFamily="49" charset="-122"/>
              </a:rPr>
              <a:t>软件</a:t>
            </a:r>
            <a:r>
              <a:rPr lang="en-US" altLang="zh-CN" sz="2000" b="1">
                <a:solidFill>
                  <a:srgbClr val="692AA2"/>
                </a:solidFill>
                <a:latin typeface="仿宋_GB2312" pitchFamily="49" charset="-122"/>
                <a:ea typeface="仿宋_GB2312" pitchFamily="49" charset="-122"/>
              </a:rPr>
              <a:t>【3】</a:t>
            </a:r>
            <a:r>
              <a:rPr lang="zh-CN" altLang="en-US" sz="2000" b="1">
                <a:solidFill>
                  <a:srgbClr val="692AA2"/>
                </a:solidFill>
                <a:latin typeface="仿宋_GB2312" pitchFamily="49" charset="-122"/>
                <a:ea typeface="仿宋_GB2312" pitchFamily="49" charset="-122"/>
              </a:rPr>
              <a:t>求解线性规划模型（附录</a:t>
            </a:r>
            <a:r>
              <a:rPr lang="en-US" altLang="zh-CN" sz="2000" b="1">
                <a:solidFill>
                  <a:srgbClr val="692AA2"/>
                </a:solidFill>
                <a:latin typeface="仿宋_GB2312" pitchFamily="49" charset="-122"/>
                <a:ea typeface="仿宋_GB2312" pitchFamily="49" charset="-122"/>
              </a:rPr>
              <a:t>1.4</a:t>
            </a:r>
            <a:r>
              <a:rPr lang="zh-CN" altLang="en-US" sz="2000" b="1">
                <a:solidFill>
                  <a:srgbClr val="692AA2"/>
                </a:solidFill>
                <a:latin typeface="仿宋_GB2312" pitchFamily="49" charset="-122"/>
                <a:ea typeface="仿宋_GB2312" pitchFamily="49" charset="-122"/>
              </a:rPr>
              <a:t>），求得，即</a:t>
            </a:r>
            <a:r>
              <a:rPr lang="en-US" altLang="zh-CN" sz="2000" b="1">
                <a:solidFill>
                  <a:srgbClr val="692AA2"/>
                </a:solidFill>
                <a:latin typeface="仿宋_GB2312" pitchFamily="49" charset="-122"/>
                <a:ea typeface="仿宋_GB2312" pitchFamily="49" charset="-122"/>
              </a:rPr>
              <a:t>2006</a:t>
            </a:r>
            <a:r>
              <a:rPr lang="zh-CN" altLang="en-US" sz="2000" b="1">
                <a:solidFill>
                  <a:srgbClr val="692AA2"/>
                </a:solidFill>
                <a:latin typeface="仿宋_GB2312" pitchFamily="49" charset="-122"/>
                <a:ea typeface="仿宋_GB2312" pitchFamily="49" charset="-122"/>
              </a:rPr>
              <a:t>年</a:t>
            </a:r>
            <a:r>
              <a:rPr lang="en-US" altLang="zh-CN" sz="2000" b="1">
                <a:solidFill>
                  <a:srgbClr val="692AA2"/>
                </a:solidFill>
                <a:latin typeface="仿宋_GB2312" pitchFamily="49" charset="-122"/>
                <a:ea typeface="仿宋_GB2312" pitchFamily="49" charset="-122"/>
              </a:rPr>
              <a:t>9</a:t>
            </a:r>
            <a:r>
              <a:rPr lang="zh-CN" altLang="en-US" sz="2000" b="1">
                <a:solidFill>
                  <a:srgbClr val="692AA2"/>
                </a:solidFill>
                <a:latin typeface="仿宋_GB2312" pitchFamily="49" charset="-122"/>
                <a:ea typeface="仿宋_GB2312" pitchFamily="49" charset="-122"/>
              </a:rPr>
              <a:t>个分社的书号分配方案。明确的配置方案如下表所示 </a:t>
            </a:r>
            <a:endParaRPr lang="zh-CN" altLang="en-US" sz="2000" b="1">
              <a:solidFill>
                <a:srgbClr val="692AA2"/>
              </a:solidFill>
              <a:latin typeface="仿宋_GB2312" pitchFamily="49" charset="-122"/>
              <a:ea typeface="仿宋_GB2312" pitchFamily="49" charset="-122"/>
            </a:endParaRPr>
          </a:p>
        </p:txBody>
      </p:sp>
      <p:graphicFrame>
        <p:nvGraphicFramePr>
          <p:cNvPr id="373763" name="Group 3"/>
          <p:cNvGraphicFramePr>
            <a:graphicFrameLocks noGrp="1"/>
          </p:cNvGraphicFramePr>
          <p:nvPr/>
        </p:nvGraphicFramePr>
        <p:xfrm>
          <a:off x="609600" y="3200400"/>
          <a:ext cx="8077200" cy="1868488"/>
        </p:xfrm>
        <a:graphic>
          <a:graphicData uri="http://schemas.openxmlformats.org/drawingml/2006/table">
            <a:tbl>
              <a:tblPr/>
              <a:tblGrid>
                <a:gridCol w="808038"/>
                <a:gridCol w="808037"/>
                <a:gridCol w="806450"/>
                <a:gridCol w="808038"/>
                <a:gridCol w="808037"/>
                <a:gridCol w="808038"/>
                <a:gridCol w="808037"/>
                <a:gridCol w="806450"/>
                <a:gridCol w="808038"/>
                <a:gridCol w="808037"/>
              </a:tblGrid>
              <a:tr h="831850">
                <a:tc>
                  <a:txBody>
                    <a:bodyPr/>
                    <a:lstStyle/>
                    <a:p>
                      <a:pPr marL="0" marR="0" lvl="0" indent="0" algn="l"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分社</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名称</a:t>
                      </a:r>
                      <a:r>
                        <a:rPr kumimoji="0" lang="zh-CN" altLang="en-US" sz="14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 </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计算机类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经管类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数学类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英语类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两课类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机械、能源类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化学、化工类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地理、地质类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环境类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r>
              <a:tr h="473075">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申请书号个数 </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chemeClr val="folHlink">
                            <a:gamma/>
                            <a:tint val="51373"/>
                            <a:invGamma/>
                          </a:scheme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110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66</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222</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118</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72</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76</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40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40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40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r>
              <a:tr h="469900">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rPr>
                        <a:t>获得书号个数 </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chemeClr val="folHlink">
                            <a:gamma/>
                            <a:tint val="51373"/>
                            <a:invGamma/>
                          </a:scheme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55 </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56</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120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97</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72</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30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30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20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rPr>
                        <a:t>20</a:t>
                      </a:r>
                      <a:endParaRPr kumimoji="0" lang="en-US" altLang="zh-CN" sz="14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r>
            </a:tbl>
          </a:graphicData>
        </a:graphic>
      </p:graphicFrame>
      <p:sp>
        <p:nvSpPr>
          <p:cNvPr id="373811" name="Rectangle 51"/>
          <p:cNvSpPr/>
          <p:nvPr/>
        </p:nvSpPr>
        <p:spPr>
          <a:xfrm>
            <a:off x="1295400" y="5486400"/>
            <a:ext cx="7200900" cy="366713"/>
          </a:xfrm>
          <a:prstGeom prst="rect">
            <a:avLst/>
          </a:prstGeom>
          <a:noFill/>
          <a:ln w="9525">
            <a:noFill/>
          </a:ln>
        </p:spPr>
        <p:txBody>
          <a:bodyPr anchor="ctr">
            <a:spAutoFit/>
          </a:bodyPr>
          <a:p>
            <a:r>
              <a:rPr lang="zh-CN" altLang="en-US" b="1">
                <a:solidFill>
                  <a:srgbClr val="692AA2"/>
                </a:solidFill>
                <a:latin typeface="Arial" panose="020B0604020202020204" pitchFamily="34" charset="0"/>
                <a:ea typeface="宋体" panose="02010600030101010101" pitchFamily="2" charset="-122"/>
              </a:rPr>
              <a:t>表</a:t>
            </a:r>
            <a:r>
              <a:rPr lang="en-US" altLang="zh-CN" b="1">
                <a:solidFill>
                  <a:srgbClr val="692AA2"/>
                </a:solidFill>
                <a:latin typeface="Arial" panose="020B0604020202020204" pitchFamily="34" charset="0"/>
                <a:ea typeface="宋体" panose="02010600030101010101" pitchFamily="2" charset="-122"/>
              </a:rPr>
              <a:t>12.7.1 2006</a:t>
            </a:r>
            <a:r>
              <a:rPr lang="zh-CN" altLang="en-US" b="1">
                <a:solidFill>
                  <a:srgbClr val="692AA2"/>
                </a:solidFill>
                <a:latin typeface="Arial" panose="020B0604020202020204" pitchFamily="34" charset="0"/>
                <a:ea typeface="宋体" panose="02010600030101010101" pitchFamily="2" charset="-122"/>
              </a:rPr>
              <a:t>年“总社－分社”的资源（书号）的配置方案</a:t>
            </a:r>
            <a:endParaRPr lang="zh-CN" altLang="en-US" b="1">
              <a:solidFill>
                <a:srgbClr val="692AA2"/>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73762">
                                            <p:txEl>
                                              <p:charRg st="0" end="11"/>
                                            </p:txEl>
                                          </p:spTgt>
                                        </p:tgtEl>
                                        <p:attrNameLst>
                                          <p:attrName>style.visibility</p:attrName>
                                        </p:attrNameLst>
                                      </p:cBhvr>
                                      <p:to>
                                        <p:strVal val="visible"/>
                                      </p:to>
                                    </p:set>
                                    <p:animEffect transition="in" filter="barn(inHorizontal)">
                                      <p:cBhvr>
                                        <p:cTn id="7" dur="500"/>
                                        <p:tgtEl>
                                          <p:spTgt spid="373762">
                                            <p:txEl>
                                              <p:charRg st="0" end="11"/>
                                            </p:txEl>
                                          </p:spTgt>
                                        </p:tgtEl>
                                      </p:cBhvr>
                                    </p:animEffect>
                                  </p:childTnLst>
                                </p:cTn>
                              </p:par>
                              <p:par>
                                <p:cTn id="8" presetID="16" presetClass="entr" presetSubtype="26" fill="hold" grpId="0" nodeType="withEffect">
                                  <p:stCondLst>
                                    <p:cond delay="0"/>
                                  </p:stCondLst>
                                  <p:childTnLst>
                                    <p:set>
                                      <p:cBhvr>
                                        <p:cTn id="9" dur="1" fill="hold">
                                          <p:stCondLst>
                                            <p:cond delay="0"/>
                                          </p:stCondLst>
                                        </p:cTn>
                                        <p:tgtEl>
                                          <p:spTgt spid="373762">
                                            <p:txEl>
                                              <p:charRg st="11" end="135"/>
                                            </p:txEl>
                                          </p:spTgt>
                                        </p:tgtEl>
                                        <p:attrNameLst>
                                          <p:attrName>style.visibility</p:attrName>
                                        </p:attrNameLst>
                                      </p:cBhvr>
                                      <p:to>
                                        <p:strVal val="visible"/>
                                      </p:to>
                                    </p:set>
                                    <p:animEffect transition="in" filter="barn(inHorizontal)">
                                      <p:cBhvr>
                                        <p:cTn id="10" dur="500"/>
                                        <p:tgtEl>
                                          <p:spTgt spid="373762">
                                            <p:txEl>
                                              <p:charRg st="11" end="135"/>
                                            </p:txEl>
                                          </p:spTgt>
                                        </p:tgtEl>
                                      </p:cBhvr>
                                    </p:animEffect>
                                  </p:childTnLst>
                                </p:cTn>
                              </p:par>
                              <p:par>
                                <p:cTn id="11" presetID="16" presetClass="entr" presetSubtype="26" fill="hold" nodeType="withEffect">
                                  <p:stCondLst>
                                    <p:cond delay="0"/>
                                  </p:stCondLst>
                                  <p:childTnLst>
                                    <p:set>
                                      <p:cBhvr>
                                        <p:cTn id="12" dur="1" fill="hold">
                                          <p:stCondLst>
                                            <p:cond delay="0"/>
                                          </p:stCondLst>
                                        </p:cTn>
                                        <p:tgtEl>
                                          <p:spTgt spid="373763"/>
                                        </p:tgtEl>
                                        <p:attrNameLst>
                                          <p:attrName>style.visibility</p:attrName>
                                        </p:attrNameLst>
                                      </p:cBhvr>
                                      <p:to>
                                        <p:strVal val="visible"/>
                                      </p:to>
                                    </p:set>
                                    <p:animEffect transition="in" filter="barn(inHorizontal)">
                                      <p:cBhvr>
                                        <p:cTn id="13" dur="500"/>
                                        <p:tgtEl>
                                          <p:spTgt spid="373763"/>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373811"/>
                                        </p:tgtEl>
                                        <p:attrNameLst>
                                          <p:attrName>style.visibility</p:attrName>
                                        </p:attrNameLst>
                                      </p:cBhvr>
                                      <p:to>
                                        <p:strVal val="visible"/>
                                      </p:to>
                                    </p:set>
                                    <p:animEffect transition="in" filter="barn(inHorizontal)">
                                      <p:cBhvr>
                                        <p:cTn id="16" dur="500"/>
                                        <p:tgtEl>
                                          <p:spTgt spid="373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2" grpId="0" build="p"/>
      <p:bldP spid="373811"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4786" name="Rectangle 2"/>
          <p:cNvSpPr>
            <a:spLocks noGrp="1"/>
          </p:cNvSpPr>
          <p:nvPr>
            <p:ph idx="1"/>
          </p:nvPr>
        </p:nvSpPr>
        <p:spPr>
          <a:xfrm>
            <a:off x="457200" y="1143000"/>
            <a:ext cx="8229600" cy="5334000"/>
          </a:xfrm>
          <a:ln/>
        </p:spPr>
        <p:txBody>
          <a:bodyPr vert="horz" wrap="square" lIns="91440" tIns="45720" rIns="91440" bIns="45720" anchor="t"/>
          <a:p>
            <a:pPr eaLnBrk="1" hangingPunct="1">
              <a:lnSpc>
                <a:spcPct val="120000"/>
              </a:lnSpc>
              <a:buNone/>
            </a:pPr>
            <a:r>
              <a:rPr lang="en-US" altLang="zh-CN" sz="2400" b="1">
                <a:solidFill>
                  <a:srgbClr val="692AA2"/>
                </a:solidFill>
                <a:latin typeface="仿宋_GB2312" pitchFamily="49" charset="-122"/>
                <a:ea typeface="仿宋_GB2312" pitchFamily="49" charset="-122"/>
              </a:rPr>
              <a:t>6.2 </a:t>
            </a:r>
            <a:r>
              <a:rPr lang="zh-CN" altLang="en-US" sz="2400" b="1">
                <a:solidFill>
                  <a:srgbClr val="692AA2"/>
                </a:solidFill>
                <a:latin typeface="仿宋_GB2312" pitchFamily="49" charset="-122"/>
                <a:ea typeface="仿宋_GB2312" pitchFamily="49" charset="-122"/>
              </a:rPr>
              <a:t>销量的预测模型</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在探究分社－课程的资源分配方案时，我们必须考虑</a:t>
            </a:r>
            <a:r>
              <a:rPr lang="en-US" altLang="zh-CN" sz="2000" b="1">
                <a:solidFill>
                  <a:srgbClr val="692AA2"/>
                </a:solidFill>
                <a:latin typeface="仿宋_GB2312" pitchFamily="49" charset="-122"/>
                <a:ea typeface="仿宋_GB2312" pitchFamily="49" charset="-122"/>
              </a:rPr>
              <a:t>2006</a:t>
            </a:r>
            <a:r>
              <a:rPr lang="zh-CN" altLang="en-US" sz="2000" b="1">
                <a:solidFill>
                  <a:srgbClr val="692AA2"/>
                </a:solidFill>
                <a:latin typeface="仿宋_GB2312" pitchFamily="49" charset="-122"/>
                <a:ea typeface="仿宋_GB2312" pitchFamily="49" charset="-122"/>
              </a:rPr>
              <a:t>年</a:t>
            </a:r>
            <a:r>
              <a:rPr lang="en-US" altLang="zh-CN" sz="2000" b="1">
                <a:solidFill>
                  <a:srgbClr val="692AA2"/>
                </a:solidFill>
                <a:latin typeface="仿宋_GB2312" pitchFamily="49" charset="-122"/>
                <a:ea typeface="仿宋_GB2312" pitchFamily="49" charset="-122"/>
              </a:rPr>
              <a:t>A</a:t>
            </a:r>
            <a:r>
              <a:rPr lang="zh-CN" altLang="en-US" sz="2000" b="1">
                <a:solidFill>
                  <a:srgbClr val="692AA2"/>
                </a:solidFill>
                <a:latin typeface="仿宋_GB2312" pitchFamily="49" charset="-122"/>
                <a:ea typeface="仿宋_GB2312" pitchFamily="49" charset="-122"/>
              </a:rPr>
              <a:t>出版社的经济效益。在考虑</a:t>
            </a:r>
            <a:r>
              <a:rPr lang="en-US" altLang="zh-CN" sz="2000" b="1">
                <a:solidFill>
                  <a:srgbClr val="692AA2"/>
                </a:solidFill>
                <a:latin typeface="仿宋_GB2312" pitchFamily="49" charset="-122"/>
                <a:ea typeface="仿宋_GB2312" pitchFamily="49" charset="-122"/>
              </a:rPr>
              <a:t>2006</a:t>
            </a:r>
            <a:r>
              <a:rPr lang="zh-CN" altLang="en-US" sz="2000" b="1">
                <a:solidFill>
                  <a:srgbClr val="692AA2"/>
                </a:solidFill>
                <a:latin typeface="仿宋_GB2312" pitchFamily="49" charset="-122"/>
                <a:ea typeface="仿宋_GB2312" pitchFamily="49" charset="-122"/>
              </a:rPr>
              <a:t>年</a:t>
            </a:r>
            <a:r>
              <a:rPr lang="en-US" altLang="zh-CN" sz="2000" b="1">
                <a:solidFill>
                  <a:srgbClr val="692AA2"/>
                </a:solidFill>
                <a:latin typeface="仿宋_GB2312" pitchFamily="49" charset="-122"/>
                <a:ea typeface="仿宋_GB2312" pitchFamily="49" charset="-122"/>
              </a:rPr>
              <a:t>A</a:t>
            </a:r>
            <a:r>
              <a:rPr lang="zh-CN" altLang="en-US" sz="2000" b="1">
                <a:solidFill>
                  <a:srgbClr val="692AA2"/>
                </a:solidFill>
                <a:latin typeface="仿宋_GB2312" pitchFamily="49" charset="-122"/>
                <a:ea typeface="仿宋_GB2312" pitchFamily="49" charset="-122"/>
              </a:rPr>
              <a:t>出版社的经济效益时，需要对</a:t>
            </a:r>
            <a:r>
              <a:rPr lang="en-US" altLang="zh-CN" sz="2000" b="1">
                <a:solidFill>
                  <a:srgbClr val="692AA2"/>
                </a:solidFill>
                <a:latin typeface="仿宋_GB2312" pitchFamily="49" charset="-122"/>
                <a:ea typeface="仿宋_GB2312" pitchFamily="49" charset="-122"/>
              </a:rPr>
              <a:t>2006</a:t>
            </a:r>
            <a:r>
              <a:rPr lang="zh-CN" altLang="en-US" sz="2000" b="1">
                <a:solidFill>
                  <a:srgbClr val="692AA2"/>
                </a:solidFill>
                <a:latin typeface="仿宋_GB2312" pitchFamily="49" charset="-122"/>
                <a:ea typeface="仿宋_GB2312" pitchFamily="49" charset="-122"/>
              </a:rPr>
              <a:t>年各个课程的实际销量进行合理地预测。下面我们采用</a:t>
            </a:r>
            <a:r>
              <a:rPr lang="en-US" altLang="zh-CN" sz="2000" b="1">
                <a:solidFill>
                  <a:srgbClr val="692AA2"/>
                </a:solidFill>
                <a:latin typeface="仿宋_GB2312" pitchFamily="49" charset="-122"/>
                <a:ea typeface="仿宋_GB2312" pitchFamily="49" charset="-122"/>
              </a:rPr>
              <a:t>GM(1,1)</a:t>
            </a:r>
            <a:r>
              <a:rPr lang="zh-CN" altLang="en-US" sz="2000" b="1">
                <a:solidFill>
                  <a:srgbClr val="692AA2"/>
                </a:solidFill>
                <a:latin typeface="仿宋_GB2312" pitchFamily="49" charset="-122"/>
                <a:ea typeface="仿宋_GB2312" pitchFamily="49" charset="-122"/>
              </a:rPr>
              <a:t>预测模型</a:t>
            </a:r>
            <a:r>
              <a:rPr lang="en-US" altLang="zh-CN" sz="2000" b="1">
                <a:solidFill>
                  <a:srgbClr val="692AA2"/>
                </a:solidFill>
                <a:latin typeface="仿宋_GB2312" pitchFamily="49" charset="-122"/>
                <a:ea typeface="仿宋_GB2312" pitchFamily="49" charset="-122"/>
              </a:rPr>
              <a:t>【4】</a:t>
            </a:r>
            <a:r>
              <a:rPr lang="zh-CN" altLang="en-US" sz="2000" b="1">
                <a:solidFill>
                  <a:srgbClr val="692AA2"/>
                </a:solidFill>
                <a:latin typeface="仿宋_GB2312" pitchFamily="49" charset="-122"/>
                <a:ea typeface="仿宋_GB2312" pitchFamily="49" charset="-122"/>
              </a:rPr>
              <a:t>对销量进行预测。</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1</a:t>
            </a:r>
            <a:r>
              <a:rPr lang="zh-CN" altLang="en-US" sz="2000" b="1">
                <a:solidFill>
                  <a:srgbClr val="692AA2"/>
                </a:solidFill>
                <a:latin typeface="仿宋_GB2312" pitchFamily="49" charset="-122"/>
                <a:ea typeface="仿宋_GB2312" pitchFamily="49" charset="-122"/>
              </a:rPr>
              <a:t>）灰色预测理论   </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灰色预测是就灰色系统所做的预测。灰色系统理论认为对既含有已知信息又含有未知或非确定信息的系统进行预测，就是对在一定方位内变化的、与时间有关的灰色过程的预测。尽管过程中所显示的现象是随机的、杂乱无章的，但毕竟是有序的、有界的，因此这一数据集合具备潜在的规律，灰色预测就是利用这种规律建立灰色模型对灰色系统进行预测。灰色预测一般有四种类型，我们采用其中的数列预测方法。数列预测是对某现象随时间的顺延而发生的变化所做的预测。 </a:t>
            </a:r>
            <a:endParaRPr lang="zh-CN" altLang="en-US"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74786">
                                            <p:txEl>
                                              <p:charRg st="0" end="12"/>
                                            </p:txEl>
                                          </p:spTgt>
                                        </p:tgtEl>
                                        <p:attrNameLst>
                                          <p:attrName>style.visibility</p:attrName>
                                        </p:attrNameLst>
                                      </p:cBhvr>
                                      <p:to>
                                        <p:strVal val="visible"/>
                                      </p:to>
                                    </p:set>
                                    <p:animEffect transition="in" filter="diamond(in)">
                                      <p:cBhvr>
                                        <p:cTn id="7" dur="2000"/>
                                        <p:tgtEl>
                                          <p:spTgt spid="374786">
                                            <p:txEl>
                                              <p:charRg st="0" end="12"/>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74786">
                                            <p:txEl>
                                              <p:charRg st="0" end="12"/>
                                            </p:txEl>
                                          </p:spTgt>
                                        </p:tgtEl>
                                        <p:attrNameLst>
                                          <p:attrName>style.visibility</p:attrName>
                                        </p:attrNameLst>
                                      </p:cBhvr>
                                      <p:to>
                                        <p:strVal val="visible"/>
                                      </p:to>
                                    </p:set>
                                    <p:animEffect transition="in" filter="diamond(in)">
                                      <p:cBhvr>
                                        <p:cTn id="10" dur="2000"/>
                                        <p:tgtEl>
                                          <p:spTgt spid="374786">
                                            <p:txEl>
                                              <p:charRg st="0" end="12"/>
                                            </p:txEl>
                                          </p:spTgt>
                                        </p:tgtEl>
                                      </p:cBhvr>
                                    </p:animEffect>
                                  </p:childTnLst>
                                </p:cTn>
                              </p:par>
                              <p:par>
                                <p:cTn id="11" presetID="8" presetClass="entr" presetSubtype="16" fill="hold" nodeType="withEffect">
                                  <p:stCondLst>
                                    <p:cond delay="0"/>
                                  </p:stCondLst>
                                  <p:childTnLst>
                                    <p:set>
                                      <p:cBhvr>
                                        <p:cTn id="12" dur="1" fill="hold">
                                          <p:stCondLst>
                                            <p:cond delay="0"/>
                                          </p:stCondLst>
                                        </p:cTn>
                                        <p:tgtEl>
                                          <p:spTgt spid="374786">
                                            <p:txEl>
                                              <p:charRg st="12" end="129"/>
                                            </p:txEl>
                                          </p:spTgt>
                                        </p:tgtEl>
                                        <p:attrNameLst>
                                          <p:attrName>style.visibility</p:attrName>
                                        </p:attrNameLst>
                                      </p:cBhvr>
                                      <p:to>
                                        <p:strVal val="visible"/>
                                      </p:to>
                                    </p:set>
                                    <p:animEffect transition="in" filter="diamond(in)">
                                      <p:cBhvr>
                                        <p:cTn id="13" dur="2000"/>
                                        <p:tgtEl>
                                          <p:spTgt spid="374786">
                                            <p:txEl>
                                              <p:charRg st="12" end="129"/>
                                            </p:txEl>
                                          </p:spTgt>
                                        </p:tgtEl>
                                      </p:cBhvr>
                                    </p:animEffect>
                                  </p:childTnLst>
                                </p:cTn>
                              </p:par>
                              <p:par>
                                <p:cTn id="14" presetID="8" presetClass="entr" presetSubtype="16" fill="hold" nodeType="withEffect">
                                  <p:stCondLst>
                                    <p:cond delay="0"/>
                                  </p:stCondLst>
                                  <p:childTnLst>
                                    <p:set>
                                      <p:cBhvr>
                                        <p:cTn id="15" dur="1" fill="hold">
                                          <p:stCondLst>
                                            <p:cond delay="0"/>
                                          </p:stCondLst>
                                        </p:cTn>
                                        <p:tgtEl>
                                          <p:spTgt spid="374786">
                                            <p:txEl>
                                              <p:charRg st="129" end="147"/>
                                            </p:txEl>
                                          </p:spTgt>
                                        </p:tgtEl>
                                        <p:attrNameLst>
                                          <p:attrName>style.visibility</p:attrName>
                                        </p:attrNameLst>
                                      </p:cBhvr>
                                      <p:to>
                                        <p:strVal val="visible"/>
                                      </p:to>
                                    </p:set>
                                    <p:animEffect transition="in" filter="diamond(in)">
                                      <p:cBhvr>
                                        <p:cTn id="16" dur="2000"/>
                                        <p:tgtEl>
                                          <p:spTgt spid="374786">
                                            <p:txEl>
                                              <p:charRg st="129" end="147"/>
                                            </p:txEl>
                                          </p:spTgt>
                                        </p:tgtEl>
                                      </p:cBhvr>
                                    </p:animEffect>
                                  </p:childTnLst>
                                </p:cTn>
                              </p:par>
                              <p:par>
                                <p:cTn id="17" presetID="8" presetClass="entr" presetSubtype="16" fill="hold" nodeType="withEffect">
                                  <p:stCondLst>
                                    <p:cond delay="0"/>
                                  </p:stCondLst>
                                  <p:childTnLst>
                                    <p:set>
                                      <p:cBhvr>
                                        <p:cTn id="18" dur="1" fill="hold">
                                          <p:stCondLst>
                                            <p:cond delay="0"/>
                                          </p:stCondLst>
                                        </p:cTn>
                                        <p:tgtEl>
                                          <p:spTgt spid="374786">
                                            <p:txEl>
                                              <p:charRg st="147" end="364"/>
                                            </p:txEl>
                                          </p:spTgt>
                                        </p:tgtEl>
                                        <p:attrNameLst>
                                          <p:attrName>style.visibility</p:attrName>
                                        </p:attrNameLst>
                                      </p:cBhvr>
                                      <p:to>
                                        <p:strVal val="visible"/>
                                      </p:to>
                                    </p:set>
                                    <p:animEffect transition="in" filter="diamond(in)">
                                      <p:cBhvr>
                                        <p:cTn id="19" dur="2000"/>
                                        <p:tgtEl>
                                          <p:spTgt spid="374786">
                                            <p:txEl>
                                              <p:charRg st="147" end="3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5810" name="Rectangle 2"/>
          <p:cNvSpPr>
            <a:spLocks noGrp="1"/>
          </p:cNvSpPr>
          <p:nvPr>
            <p:ph idx="1"/>
          </p:nvPr>
        </p:nvSpPr>
        <p:spPr>
          <a:xfrm>
            <a:off x="228600" y="1371600"/>
            <a:ext cx="8229600" cy="4495800"/>
          </a:xfrm>
          <a:ln/>
        </p:spPr>
        <p:txBody>
          <a:bodyPr vert="horz" wrap="square" lIns="91440" tIns="45720" rIns="91440" bIns="45720" anchor="t"/>
          <a:p>
            <a:pPr eaLnBrk="1" hangingPunct="1">
              <a:lnSpc>
                <a:spcPct val="120000"/>
              </a:lnSpc>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）模型的建立 </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由附件</a:t>
            </a:r>
            <a:r>
              <a:rPr lang="en-US" altLang="zh-CN" sz="2400" b="1">
                <a:solidFill>
                  <a:srgbClr val="692AA2"/>
                </a:solidFill>
                <a:latin typeface="仿宋_GB2312" pitchFamily="49" charset="-122"/>
                <a:ea typeface="仿宋_GB2312" pitchFamily="49" charset="-122"/>
              </a:rPr>
              <a:t>3</a:t>
            </a:r>
            <a:r>
              <a:rPr lang="zh-CN" altLang="en-US" sz="2400" b="1">
                <a:solidFill>
                  <a:srgbClr val="692AA2"/>
                </a:solidFill>
                <a:latin typeface="仿宋_GB2312" pitchFamily="49" charset="-122"/>
                <a:ea typeface="仿宋_GB2312" pitchFamily="49" charset="-122"/>
              </a:rPr>
              <a:t>得到各课程历年实际销售量      得时间序列</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但是每门课程各年获得的书号个数不尽相同，所以预测每个书号的实际销售额更符合实际。因此对时间序列      中每个元素的值进行如下变换，</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，共有</a:t>
            </a:r>
            <a:r>
              <a:rPr lang="en-US" altLang="zh-CN" sz="2400" b="1">
                <a:solidFill>
                  <a:srgbClr val="692AA2"/>
                </a:solidFill>
                <a:latin typeface="仿宋_GB2312" pitchFamily="49" charset="-122"/>
                <a:ea typeface="仿宋_GB2312" pitchFamily="49" charset="-122"/>
              </a:rPr>
              <a:t>5</a:t>
            </a:r>
            <a:r>
              <a:rPr lang="zh-CN" altLang="en-US" sz="2400" b="1">
                <a:solidFill>
                  <a:srgbClr val="692AA2"/>
                </a:solidFill>
                <a:latin typeface="仿宋_GB2312" pitchFamily="49" charset="-122"/>
                <a:ea typeface="仿宋_GB2312" pitchFamily="49" charset="-122"/>
              </a:rPr>
              <a:t>年的观测值。</a:t>
            </a:r>
            <a:endParaRPr lang="zh-CN" altLang="en-US" sz="2400" b="1">
              <a:solidFill>
                <a:srgbClr val="692AA2"/>
              </a:solidFill>
              <a:latin typeface="仿宋_GB2312" pitchFamily="49" charset="-122"/>
              <a:ea typeface="仿宋_GB2312" pitchFamily="49" charset="-122"/>
            </a:endParaRPr>
          </a:p>
        </p:txBody>
      </p:sp>
      <p:sp>
        <p:nvSpPr>
          <p:cNvPr id="140290" name="Rectangle 3"/>
          <p:cNvSpPr/>
          <p:nvPr/>
        </p:nvSpPr>
        <p:spPr>
          <a:xfrm>
            <a:off x="6557963" y="2117725"/>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5812" name="Object 4"/>
          <p:cNvGraphicFramePr>
            <a:graphicFrameLocks noChangeAspect="1"/>
          </p:cNvGraphicFramePr>
          <p:nvPr/>
        </p:nvGraphicFramePr>
        <p:xfrm>
          <a:off x="5791200" y="1981200"/>
          <a:ext cx="914400" cy="468313"/>
        </p:xfrm>
        <a:graphic>
          <a:graphicData uri="http://schemas.openxmlformats.org/presentationml/2006/ole">
            <mc:AlternateContent xmlns:mc="http://schemas.openxmlformats.org/markup-compatibility/2006">
              <mc:Choice xmlns:v="urn:schemas-microsoft-com:vml" Requires="v">
                <p:oleObj spid="_x0000_s3155" name="" r:id="rId1" imgW="444500" imgH="228600" progId="Equation.DSMT4">
                  <p:embed/>
                </p:oleObj>
              </mc:Choice>
              <mc:Fallback>
                <p:oleObj name="" r:id="rId1" imgW="444500" imgH="228600" progId="Equation.DSMT4">
                  <p:embed/>
                  <p:pic>
                    <p:nvPicPr>
                      <p:cNvPr id="0" name="图片 3154"/>
                      <p:cNvPicPr/>
                      <p:nvPr/>
                    </p:nvPicPr>
                    <p:blipFill>
                      <a:blip r:embed="rId2"/>
                      <a:stretch>
                        <a:fillRect/>
                      </a:stretch>
                    </p:blipFill>
                    <p:spPr>
                      <a:xfrm>
                        <a:off x="5791200" y="1981200"/>
                        <a:ext cx="914400" cy="468313"/>
                      </a:xfrm>
                      <a:prstGeom prst="rect">
                        <a:avLst/>
                      </a:prstGeom>
                      <a:noFill/>
                      <a:ln w="38100">
                        <a:noFill/>
                        <a:miter/>
                      </a:ln>
                    </p:spPr>
                  </p:pic>
                </p:oleObj>
              </mc:Fallback>
            </mc:AlternateContent>
          </a:graphicData>
        </a:graphic>
      </p:graphicFrame>
      <p:graphicFrame>
        <p:nvGraphicFramePr>
          <p:cNvPr id="375813" name="Object 5"/>
          <p:cNvGraphicFramePr>
            <a:graphicFrameLocks noChangeAspect="1"/>
          </p:cNvGraphicFramePr>
          <p:nvPr/>
        </p:nvGraphicFramePr>
        <p:xfrm>
          <a:off x="2057400" y="2438400"/>
          <a:ext cx="4419600" cy="444500"/>
        </p:xfrm>
        <a:graphic>
          <a:graphicData uri="http://schemas.openxmlformats.org/presentationml/2006/ole">
            <mc:AlternateContent xmlns:mc="http://schemas.openxmlformats.org/markup-compatibility/2006">
              <mc:Choice xmlns:v="urn:schemas-microsoft-com:vml" Requires="v">
                <p:oleObj spid="_x0000_s3152" name="" r:id="rId3" imgW="2654300" imgH="266700" progId="Equation.DSMT4">
                  <p:embed/>
                </p:oleObj>
              </mc:Choice>
              <mc:Fallback>
                <p:oleObj name="" r:id="rId3" imgW="2654300" imgH="266700" progId="Equation.DSMT4">
                  <p:embed/>
                  <p:pic>
                    <p:nvPicPr>
                      <p:cNvPr id="0" name="图片 3151"/>
                      <p:cNvPicPr/>
                      <p:nvPr/>
                    </p:nvPicPr>
                    <p:blipFill>
                      <a:blip r:embed="rId4"/>
                      <a:stretch>
                        <a:fillRect/>
                      </a:stretch>
                    </p:blipFill>
                    <p:spPr>
                      <a:xfrm>
                        <a:off x="2057400" y="2438400"/>
                        <a:ext cx="4419600" cy="444500"/>
                      </a:xfrm>
                      <a:prstGeom prst="rect">
                        <a:avLst/>
                      </a:prstGeom>
                      <a:noFill/>
                      <a:ln w="38100">
                        <a:noFill/>
                        <a:miter/>
                      </a:ln>
                    </p:spPr>
                  </p:pic>
                </p:oleObj>
              </mc:Fallback>
            </mc:AlternateContent>
          </a:graphicData>
        </a:graphic>
      </p:graphicFrame>
      <p:graphicFrame>
        <p:nvGraphicFramePr>
          <p:cNvPr id="375814" name="Object 6"/>
          <p:cNvGraphicFramePr>
            <a:graphicFrameLocks noChangeAspect="1"/>
          </p:cNvGraphicFramePr>
          <p:nvPr/>
        </p:nvGraphicFramePr>
        <p:xfrm>
          <a:off x="8001000" y="3429000"/>
          <a:ext cx="457200" cy="406400"/>
        </p:xfrm>
        <a:graphic>
          <a:graphicData uri="http://schemas.openxmlformats.org/presentationml/2006/ole">
            <mc:AlternateContent xmlns:mc="http://schemas.openxmlformats.org/markup-compatibility/2006">
              <mc:Choice xmlns:v="urn:schemas-microsoft-com:vml" Requires="v">
                <p:oleObj spid="_x0000_s3156" name="" r:id="rId5" imgW="254000" imgH="228600" progId="Equation.DSMT4">
                  <p:embed/>
                </p:oleObj>
              </mc:Choice>
              <mc:Fallback>
                <p:oleObj name="" r:id="rId5" imgW="254000" imgH="228600" progId="Equation.DSMT4">
                  <p:embed/>
                  <p:pic>
                    <p:nvPicPr>
                      <p:cNvPr id="0" name="图片 3155"/>
                      <p:cNvPicPr/>
                      <p:nvPr/>
                    </p:nvPicPr>
                    <p:blipFill>
                      <a:blip r:embed="rId6"/>
                      <a:stretch>
                        <a:fillRect/>
                      </a:stretch>
                    </p:blipFill>
                    <p:spPr>
                      <a:xfrm>
                        <a:off x="8001000" y="3429000"/>
                        <a:ext cx="457200" cy="406400"/>
                      </a:xfrm>
                      <a:prstGeom prst="rect">
                        <a:avLst/>
                      </a:prstGeom>
                      <a:noFill/>
                      <a:ln w="38100">
                        <a:noFill/>
                        <a:miter/>
                      </a:ln>
                    </p:spPr>
                  </p:pic>
                </p:oleObj>
              </mc:Fallback>
            </mc:AlternateContent>
          </a:graphicData>
        </a:graphic>
      </p:graphicFrame>
      <p:graphicFrame>
        <p:nvGraphicFramePr>
          <p:cNvPr id="375815" name="Object 7"/>
          <p:cNvGraphicFramePr>
            <a:graphicFrameLocks noChangeAspect="1"/>
          </p:cNvGraphicFramePr>
          <p:nvPr/>
        </p:nvGraphicFramePr>
        <p:xfrm>
          <a:off x="5029200" y="3886200"/>
          <a:ext cx="2743200" cy="433388"/>
        </p:xfrm>
        <a:graphic>
          <a:graphicData uri="http://schemas.openxmlformats.org/presentationml/2006/ole">
            <mc:AlternateContent xmlns:mc="http://schemas.openxmlformats.org/markup-compatibility/2006">
              <mc:Choice xmlns:v="urn:schemas-microsoft-com:vml" Requires="v">
                <p:oleObj spid="_x0000_s3157" name="" r:id="rId7" imgW="1688465" imgH="266700" progId="Equation.DSMT4">
                  <p:embed/>
                </p:oleObj>
              </mc:Choice>
              <mc:Fallback>
                <p:oleObj name="" r:id="rId7" imgW="1688465" imgH="266700" progId="Equation.DSMT4">
                  <p:embed/>
                  <p:pic>
                    <p:nvPicPr>
                      <p:cNvPr id="0" name="图片 3156"/>
                      <p:cNvPicPr/>
                      <p:nvPr/>
                    </p:nvPicPr>
                    <p:blipFill>
                      <a:blip r:embed="rId8"/>
                      <a:stretch>
                        <a:fillRect/>
                      </a:stretch>
                    </p:blipFill>
                    <p:spPr>
                      <a:xfrm>
                        <a:off x="5029200" y="3886200"/>
                        <a:ext cx="2743200" cy="43338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75810">
                                            <p:txEl>
                                              <p:charRg st="0" end="14"/>
                                            </p:txEl>
                                          </p:spTgt>
                                        </p:tgtEl>
                                        <p:attrNameLst>
                                          <p:attrName>style.visibility</p:attrName>
                                        </p:attrNameLst>
                                      </p:cBhvr>
                                      <p:to>
                                        <p:strVal val="visible"/>
                                      </p:to>
                                    </p:set>
                                    <p:animEffect transition="in" filter="wipe(down)">
                                      <p:cBhvr>
                                        <p:cTn id="7" dur="500"/>
                                        <p:tgtEl>
                                          <p:spTgt spid="375810">
                                            <p:txEl>
                                              <p:charRg st="0" end="14"/>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75810">
                                            <p:txEl>
                                              <p:charRg st="14" end="47"/>
                                            </p:txEl>
                                          </p:spTgt>
                                        </p:tgtEl>
                                        <p:attrNameLst>
                                          <p:attrName>style.visibility</p:attrName>
                                        </p:attrNameLst>
                                      </p:cBhvr>
                                      <p:to>
                                        <p:strVal val="visible"/>
                                      </p:to>
                                    </p:set>
                                    <p:animEffect transition="in" filter="wipe(down)">
                                      <p:cBhvr>
                                        <p:cTn id="10" dur="500"/>
                                        <p:tgtEl>
                                          <p:spTgt spid="375810">
                                            <p:txEl>
                                              <p:charRg st="14" end="4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75812"/>
                                        </p:tgtEl>
                                        <p:attrNameLst>
                                          <p:attrName>style.visibility</p:attrName>
                                        </p:attrNameLst>
                                      </p:cBhvr>
                                      <p:to>
                                        <p:strVal val="visible"/>
                                      </p:to>
                                    </p:set>
                                    <p:animEffect transition="in" filter="wipe(down)">
                                      <p:cBhvr>
                                        <p:cTn id="13" dur="500"/>
                                        <p:tgtEl>
                                          <p:spTgt spid="375812"/>
                                        </p:tgtEl>
                                      </p:cBhvr>
                                    </p:animEffect>
                                  </p:childTnLst>
                                </p:cTn>
                              </p:par>
                              <p:par>
                                <p:cTn id="14" presetID="22" presetClass="entr" presetSubtype="4" fill="hold" nodeType="withEffect">
                                  <p:stCondLst>
                                    <p:cond delay="0"/>
                                  </p:stCondLst>
                                  <p:childTnLst>
                                    <p:set>
                                      <p:cBhvr>
                                        <p:cTn id="15" dur="1" fill="hold">
                                          <p:stCondLst>
                                            <p:cond delay="0"/>
                                          </p:stCondLst>
                                        </p:cTn>
                                        <p:tgtEl>
                                          <p:spTgt spid="375813"/>
                                        </p:tgtEl>
                                        <p:attrNameLst>
                                          <p:attrName>style.visibility</p:attrName>
                                        </p:attrNameLst>
                                      </p:cBhvr>
                                      <p:to>
                                        <p:strVal val="visible"/>
                                      </p:to>
                                    </p:set>
                                    <p:animEffect transition="in" filter="wipe(down)">
                                      <p:cBhvr>
                                        <p:cTn id="16" dur="500"/>
                                        <p:tgtEl>
                                          <p:spTgt spid="3758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75810">
                                            <p:txEl>
                                              <p:charRg st="48" end="121"/>
                                            </p:txEl>
                                          </p:spTgt>
                                        </p:tgtEl>
                                        <p:attrNameLst>
                                          <p:attrName>style.visibility</p:attrName>
                                        </p:attrNameLst>
                                      </p:cBhvr>
                                      <p:to>
                                        <p:strVal val="visible"/>
                                      </p:to>
                                    </p:set>
                                    <p:animEffect transition="in" filter="wipe(down)">
                                      <p:cBhvr>
                                        <p:cTn id="21" dur="500"/>
                                        <p:tgtEl>
                                          <p:spTgt spid="375810">
                                            <p:txEl>
                                              <p:charRg st="48" end="121"/>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75810">
                                            <p:txEl>
                                              <p:charRg st="121" end="134"/>
                                            </p:txEl>
                                          </p:spTgt>
                                        </p:tgtEl>
                                        <p:attrNameLst>
                                          <p:attrName>style.visibility</p:attrName>
                                        </p:attrNameLst>
                                      </p:cBhvr>
                                      <p:to>
                                        <p:strVal val="visible"/>
                                      </p:to>
                                    </p:set>
                                    <p:animEffect transition="in" filter="wipe(down)">
                                      <p:cBhvr>
                                        <p:cTn id="24" dur="500"/>
                                        <p:tgtEl>
                                          <p:spTgt spid="375810">
                                            <p:txEl>
                                              <p:charRg st="121" end="134"/>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75814"/>
                                        </p:tgtEl>
                                        <p:attrNameLst>
                                          <p:attrName>style.visibility</p:attrName>
                                        </p:attrNameLst>
                                      </p:cBhvr>
                                      <p:to>
                                        <p:strVal val="visible"/>
                                      </p:to>
                                    </p:set>
                                    <p:animEffect transition="in" filter="wipe(down)">
                                      <p:cBhvr>
                                        <p:cTn id="27" dur="500"/>
                                        <p:tgtEl>
                                          <p:spTgt spid="375814"/>
                                        </p:tgtEl>
                                      </p:cBhvr>
                                    </p:animEffect>
                                  </p:childTnLst>
                                </p:cTn>
                              </p:par>
                              <p:par>
                                <p:cTn id="28" presetID="22" presetClass="entr" presetSubtype="4" fill="hold" nodeType="withEffect">
                                  <p:stCondLst>
                                    <p:cond delay="0"/>
                                  </p:stCondLst>
                                  <p:childTnLst>
                                    <p:set>
                                      <p:cBhvr>
                                        <p:cTn id="29" dur="1" fill="hold">
                                          <p:stCondLst>
                                            <p:cond delay="0"/>
                                          </p:stCondLst>
                                        </p:cTn>
                                        <p:tgtEl>
                                          <p:spTgt spid="375815"/>
                                        </p:tgtEl>
                                        <p:attrNameLst>
                                          <p:attrName>style.visibility</p:attrName>
                                        </p:attrNameLst>
                                      </p:cBhvr>
                                      <p:to>
                                        <p:strVal val="visible"/>
                                      </p:to>
                                    </p:set>
                                    <p:animEffect transition="in" filter="wipe(down)">
                                      <p:cBhvr>
                                        <p:cTn id="30" dur="500"/>
                                        <p:tgtEl>
                                          <p:spTgt spid="375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6834" name="Rectangle 2"/>
          <p:cNvSpPr>
            <a:spLocks noGrp="1"/>
          </p:cNvSpPr>
          <p:nvPr>
            <p:ph idx="1"/>
          </p:nvPr>
        </p:nvSpPr>
        <p:spPr>
          <a:xfrm>
            <a:off x="457200" y="1295400"/>
            <a:ext cx="8229600" cy="4495800"/>
          </a:xfrm>
          <a:ln/>
        </p:spPr>
        <p:txBody>
          <a:bodyPr vert="horz" wrap="square" lIns="91440" tIns="45720" rIns="91440" bIns="45720" anchor="t"/>
          <a:p>
            <a:pPr eaLnBrk="1" hangingPunct="1">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通过如下步骤建立</a:t>
            </a:r>
            <a:r>
              <a:rPr lang="en-US" altLang="zh-CN" sz="2400" b="1">
                <a:solidFill>
                  <a:srgbClr val="692AA2"/>
                </a:solidFill>
                <a:latin typeface="仿宋_GB2312" pitchFamily="49" charset="-122"/>
                <a:ea typeface="仿宋_GB2312" pitchFamily="49" charset="-122"/>
              </a:rPr>
              <a:t>GM</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1</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1</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【1】</a:t>
            </a:r>
            <a:r>
              <a:rPr lang="zh-CN" altLang="en-US" sz="2400" b="1">
                <a:solidFill>
                  <a:srgbClr val="692AA2"/>
                </a:solidFill>
                <a:latin typeface="仿宋_GB2312" pitchFamily="49" charset="-122"/>
                <a:ea typeface="仿宋_GB2312" pitchFamily="49" charset="-122"/>
              </a:rPr>
              <a:t>模型：</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Step 1</a:t>
            </a:r>
            <a:r>
              <a:rPr lang="zh-CN" altLang="en-US" sz="2400" b="1">
                <a:solidFill>
                  <a:srgbClr val="692AA2"/>
                </a:solidFill>
                <a:latin typeface="仿宋_GB2312" pitchFamily="49" charset="-122"/>
                <a:ea typeface="仿宋_GB2312" pitchFamily="49" charset="-122"/>
              </a:rPr>
              <a:t>：通过累加生成新序列</a:t>
            </a: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Step 2</a:t>
            </a:r>
            <a:r>
              <a:rPr lang="zh-CN" altLang="en-US" sz="2400" b="1">
                <a:solidFill>
                  <a:srgbClr val="692AA2"/>
                </a:solidFill>
                <a:latin typeface="仿宋_GB2312" pitchFamily="49" charset="-122"/>
                <a:ea typeface="仿宋_GB2312" pitchFamily="49" charset="-122"/>
              </a:rPr>
              <a:t>：建立数据矩阵</a:t>
            </a:r>
            <a:r>
              <a:rPr lang="en-US" altLang="zh-CN" sz="2400" b="1">
                <a:solidFill>
                  <a:srgbClr val="692AA2"/>
                </a:solidFill>
                <a:latin typeface="仿宋_GB2312" pitchFamily="49" charset="-122"/>
                <a:ea typeface="仿宋_GB2312" pitchFamily="49" charset="-122"/>
              </a:rPr>
              <a:t>B</a:t>
            </a:r>
            <a:r>
              <a:rPr lang="zh-CN" altLang="en-US" sz="2400" b="1">
                <a:solidFill>
                  <a:srgbClr val="692AA2"/>
                </a:solidFill>
                <a:latin typeface="仿宋_GB2312" pitchFamily="49" charset="-122"/>
                <a:ea typeface="仿宋_GB2312" pitchFamily="49" charset="-122"/>
              </a:rPr>
              <a:t>、 </a:t>
            </a:r>
            <a:endParaRPr lang="zh-CN" altLang="en-US" sz="2400" b="1">
              <a:solidFill>
                <a:srgbClr val="692AA2"/>
              </a:solidFill>
              <a:latin typeface="仿宋_GB2312" pitchFamily="49" charset="-122"/>
              <a:ea typeface="仿宋_GB2312" pitchFamily="49" charset="-122"/>
            </a:endParaRPr>
          </a:p>
        </p:txBody>
      </p:sp>
      <p:sp>
        <p:nvSpPr>
          <p:cNvPr id="141314" name="Rectangle 3"/>
          <p:cNvSpPr/>
          <p:nvPr/>
        </p:nvSpPr>
        <p:spPr>
          <a:xfrm>
            <a:off x="7099300" y="3060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6836" name="Object 4"/>
          <p:cNvGraphicFramePr>
            <a:graphicFrameLocks noChangeAspect="1"/>
          </p:cNvGraphicFramePr>
          <p:nvPr/>
        </p:nvGraphicFramePr>
        <p:xfrm>
          <a:off x="5181600" y="1676400"/>
          <a:ext cx="533400" cy="473075"/>
        </p:xfrm>
        <a:graphic>
          <a:graphicData uri="http://schemas.openxmlformats.org/presentationml/2006/ole">
            <mc:AlternateContent xmlns:mc="http://schemas.openxmlformats.org/markup-compatibility/2006">
              <mc:Choice xmlns:v="urn:schemas-microsoft-com:vml" Requires="v">
                <p:oleObj spid="_x0000_s3148" name="" r:id="rId1" imgW="254000" imgH="228600" progId="Equation.DSMT4">
                  <p:embed/>
                </p:oleObj>
              </mc:Choice>
              <mc:Fallback>
                <p:oleObj name="" r:id="rId1" imgW="254000" imgH="228600" progId="Equation.DSMT4">
                  <p:embed/>
                  <p:pic>
                    <p:nvPicPr>
                      <p:cNvPr id="0" name="图片 3147"/>
                      <p:cNvPicPr/>
                      <p:nvPr/>
                    </p:nvPicPr>
                    <p:blipFill>
                      <a:blip r:embed="rId2"/>
                      <a:stretch>
                        <a:fillRect/>
                      </a:stretch>
                    </p:blipFill>
                    <p:spPr>
                      <a:xfrm>
                        <a:off x="5181600" y="1676400"/>
                        <a:ext cx="533400" cy="473075"/>
                      </a:xfrm>
                      <a:prstGeom prst="rect">
                        <a:avLst/>
                      </a:prstGeom>
                      <a:noFill/>
                      <a:ln w="38100">
                        <a:noFill/>
                        <a:miter/>
                      </a:ln>
                    </p:spPr>
                  </p:pic>
                </p:oleObj>
              </mc:Fallback>
            </mc:AlternateContent>
          </a:graphicData>
        </a:graphic>
      </p:graphicFrame>
      <p:sp>
        <p:nvSpPr>
          <p:cNvPr id="141316" name="Rectangle 5"/>
          <p:cNvSpPr/>
          <p:nvPr/>
        </p:nvSpPr>
        <p:spPr>
          <a:xfrm>
            <a:off x="5775325" y="43116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6838" name="Object 6"/>
          <p:cNvGraphicFramePr>
            <a:graphicFrameLocks noChangeAspect="1"/>
          </p:cNvGraphicFramePr>
          <p:nvPr/>
        </p:nvGraphicFramePr>
        <p:xfrm>
          <a:off x="2743200" y="2133600"/>
          <a:ext cx="2362200" cy="796925"/>
        </p:xfrm>
        <a:graphic>
          <a:graphicData uri="http://schemas.openxmlformats.org/presentationml/2006/ole">
            <mc:AlternateContent xmlns:mc="http://schemas.openxmlformats.org/markup-compatibility/2006">
              <mc:Choice xmlns:v="urn:schemas-microsoft-com:vml" Requires="v">
                <p:oleObj spid="_x0000_s3153" name="" r:id="rId3" imgW="1371600" imgH="495300" progId="Equation.DSMT4">
                  <p:embed/>
                </p:oleObj>
              </mc:Choice>
              <mc:Fallback>
                <p:oleObj name="" r:id="rId3" imgW="1371600" imgH="495300" progId="Equation.DSMT4">
                  <p:embed/>
                  <p:pic>
                    <p:nvPicPr>
                      <p:cNvPr id="0" name="图片 3152"/>
                      <p:cNvPicPr/>
                      <p:nvPr/>
                    </p:nvPicPr>
                    <p:blipFill>
                      <a:blip r:embed="rId4"/>
                      <a:stretch>
                        <a:fillRect/>
                      </a:stretch>
                    </p:blipFill>
                    <p:spPr>
                      <a:xfrm>
                        <a:off x="2743200" y="2133600"/>
                        <a:ext cx="2362200" cy="796925"/>
                      </a:xfrm>
                      <a:prstGeom prst="rect">
                        <a:avLst/>
                      </a:prstGeom>
                      <a:noFill/>
                      <a:ln w="38100">
                        <a:noFill/>
                        <a:miter/>
                      </a:ln>
                    </p:spPr>
                  </p:pic>
                </p:oleObj>
              </mc:Fallback>
            </mc:AlternateContent>
          </a:graphicData>
        </a:graphic>
      </p:graphicFrame>
      <p:sp>
        <p:nvSpPr>
          <p:cNvPr id="141318" name="Rectangle 7"/>
          <p:cNvSpPr/>
          <p:nvPr/>
        </p:nvSpPr>
        <p:spPr>
          <a:xfrm>
            <a:off x="4764088" y="37338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6840" name="Object 8"/>
          <p:cNvGraphicFramePr>
            <a:graphicFrameLocks noChangeAspect="1"/>
          </p:cNvGraphicFramePr>
          <p:nvPr/>
        </p:nvGraphicFramePr>
        <p:xfrm>
          <a:off x="4572000" y="2971800"/>
          <a:ext cx="447675" cy="533400"/>
        </p:xfrm>
        <a:graphic>
          <a:graphicData uri="http://schemas.openxmlformats.org/presentationml/2006/ole">
            <mc:AlternateContent xmlns:mc="http://schemas.openxmlformats.org/markup-compatibility/2006">
              <mc:Choice xmlns:v="urn:schemas-microsoft-com:vml" Requires="v">
                <p:oleObj spid="_x0000_s3149" name="" r:id="rId5" imgW="203200" imgH="241300" progId="Equation.DSMT4">
                  <p:embed/>
                </p:oleObj>
              </mc:Choice>
              <mc:Fallback>
                <p:oleObj name="" r:id="rId5" imgW="203200" imgH="241300" progId="Equation.DSMT4">
                  <p:embed/>
                  <p:pic>
                    <p:nvPicPr>
                      <p:cNvPr id="0" name="图片 3148"/>
                      <p:cNvPicPr/>
                      <p:nvPr/>
                    </p:nvPicPr>
                    <p:blipFill>
                      <a:blip r:embed="rId6"/>
                      <a:stretch>
                        <a:fillRect/>
                      </a:stretch>
                    </p:blipFill>
                    <p:spPr>
                      <a:xfrm>
                        <a:off x="4572000" y="2971800"/>
                        <a:ext cx="447675" cy="533400"/>
                      </a:xfrm>
                      <a:prstGeom prst="rect">
                        <a:avLst/>
                      </a:prstGeom>
                      <a:noFill/>
                      <a:ln w="38100">
                        <a:noFill/>
                        <a:miter/>
                      </a:ln>
                    </p:spPr>
                  </p:pic>
                </p:oleObj>
              </mc:Fallback>
            </mc:AlternateContent>
          </a:graphicData>
        </a:graphic>
      </p:graphicFrame>
      <p:graphicFrame>
        <p:nvGraphicFramePr>
          <p:cNvPr id="376841" name="Object 9"/>
          <p:cNvGraphicFramePr>
            <a:graphicFrameLocks noChangeAspect="1"/>
          </p:cNvGraphicFramePr>
          <p:nvPr/>
        </p:nvGraphicFramePr>
        <p:xfrm>
          <a:off x="1981200" y="3657600"/>
          <a:ext cx="2743200" cy="1981200"/>
        </p:xfrm>
        <a:graphic>
          <a:graphicData uri="http://schemas.openxmlformats.org/presentationml/2006/ole">
            <mc:AlternateContent xmlns:mc="http://schemas.openxmlformats.org/markup-compatibility/2006">
              <mc:Choice xmlns:v="urn:schemas-microsoft-com:vml" Requires="v">
                <p:oleObj spid="_x0000_s3150" name="" r:id="rId7" imgW="2159000" imgH="1892300" progId="Equation.DSMT4">
                  <p:embed/>
                </p:oleObj>
              </mc:Choice>
              <mc:Fallback>
                <p:oleObj name="" r:id="rId7" imgW="2159000" imgH="1892300" progId="Equation.DSMT4">
                  <p:embed/>
                  <p:pic>
                    <p:nvPicPr>
                      <p:cNvPr id="0" name="图片 3149"/>
                      <p:cNvPicPr/>
                      <p:nvPr/>
                    </p:nvPicPr>
                    <p:blipFill>
                      <a:blip r:embed="rId8"/>
                      <a:stretch>
                        <a:fillRect/>
                      </a:stretch>
                    </p:blipFill>
                    <p:spPr>
                      <a:xfrm>
                        <a:off x="1981200" y="3657600"/>
                        <a:ext cx="2743200" cy="1981200"/>
                      </a:xfrm>
                      <a:prstGeom prst="rect">
                        <a:avLst/>
                      </a:prstGeom>
                      <a:noFill/>
                      <a:ln w="38100">
                        <a:noFill/>
                        <a:miter/>
                      </a:ln>
                    </p:spPr>
                  </p:pic>
                </p:oleObj>
              </mc:Fallback>
            </mc:AlternateContent>
          </a:graphicData>
        </a:graphic>
      </p:graphicFrame>
      <p:sp>
        <p:nvSpPr>
          <p:cNvPr id="141321" name="Rectangle 10"/>
          <p:cNvSpPr/>
          <p:nvPr/>
        </p:nvSpPr>
        <p:spPr>
          <a:xfrm>
            <a:off x="6954838" y="49133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6843" name="Object 11"/>
          <p:cNvGraphicFramePr>
            <a:graphicFrameLocks noChangeAspect="1"/>
          </p:cNvGraphicFramePr>
          <p:nvPr/>
        </p:nvGraphicFramePr>
        <p:xfrm>
          <a:off x="5562600" y="3657600"/>
          <a:ext cx="1433513" cy="1752600"/>
        </p:xfrm>
        <a:graphic>
          <a:graphicData uri="http://schemas.openxmlformats.org/presentationml/2006/ole">
            <mc:AlternateContent xmlns:mc="http://schemas.openxmlformats.org/markup-compatibility/2006">
              <mc:Choice xmlns:v="urn:schemas-microsoft-com:vml" Requires="v">
                <p:oleObj spid="_x0000_s3151" name="" r:id="rId9" imgW="1054100" imgH="1155700" progId="Equation.DSMT4">
                  <p:embed/>
                </p:oleObj>
              </mc:Choice>
              <mc:Fallback>
                <p:oleObj name="" r:id="rId9" imgW="1054100" imgH="1155700" progId="Equation.DSMT4">
                  <p:embed/>
                  <p:pic>
                    <p:nvPicPr>
                      <p:cNvPr id="0" name="图片 3150"/>
                      <p:cNvPicPr/>
                      <p:nvPr/>
                    </p:nvPicPr>
                    <p:blipFill>
                      <a:blip r:embed="rId10"/>
                      <a:stretch>
                        <a:fillRect/>
                      </a:stretch>
                    </p:blipFill>
                    <p:spPr>
                      <a:xfrm>
                        <a:off x="5562600" y="3657600"/>
                        <a:ext cx="1433513" cy="17526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76834">
                                            <p:txEl>
                                              <p:charRg st="0" end="28"/>
                                            </p:txEl>
                                          </p:spTgt>
                                        </p:tgtEl>
                                        <p:attrNameLst>
                                          <p:attrName>style.visibility</p:attrName>
                                        </p:attrNameLst>
                                      </p:cBhvr>
                                      <p:to>
                                        <p:strVal val="visible"/>
                                      </p:to>
                                    </p:set>
                                    <p:animEffect transition="in" filter="checkerboard(across)">
                                      <p:cBhvr>
                                        <p:cTn id="7" dur="500"/>
                                        <p:tgtEl>
                                          <p:spTgt spid="376834">
                                            <p:txEl>
                                              <p:charRg st="0" end="28"/>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76834">
                                            <p:txEl>
                                              <p:charRg st="28" end="49"/>
                                            </p:txEl>
                                          </p:spTgt>
                                        </p:tgtEl>
                                        <p:attrNameLst>
                                          <p:attrName>style.visibility</p:attrName>
                                        </p:attrNameLst>
                                      </p:cBhvr>
                                      <p:to>
                                        <p:strVal val="visible"/>
                                      </p:to>
                                    </p:set>
                                    <p:animEffect transition="in" filter="checkerboard(across)">
                                      <p:cBhvr>
                                        <p:cTn id="10" dur="500"/>
                                        <p:tgtEl>
                                          <p:spTgt spid="376834">
                                            <p:txEl>
                                              <p:charRg st="28" end="49"/>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76836"/>
                                        </p:tgtEl>
                                        <p:attrNameLst>
                                          <p:attrName>style.visibility</p:attrName>
                                        </p:attrNameLst>
                                      </p:cBhvr>
                                      <p:to>
                                        <p:strVal val="visible"/>
                                      </p:to>
                                    </p:set>
                                    <p:animEffect transition="in" filter="checkerboard(across)">
                                      <p:cBhvr>
                                        <p:cTn id="13" dur="500"/>
                                        <p:tgtEl>
                                          <p:spTgt spid="376836"/>
                                        </p:tgtEl>
                                      </p:cBhvr>
                                    </p:animEffect>
                                  </p:childTnLst>
                                </p:cTn>
                              </p:par>
                              <p:par>
                                <p:cTn id="14" presetID="5" presetClass="entr" presetSubtype="10" fill="hold" nodeType="withEffect">
                                  <p:stCondLst>
                                    <p:cond delay="0"/>
                                  </p:stCondLst>
                                  <p:childTnLst>
                                    <p:set>
                                      <p:cBhvr>
                                        <p:cTn id="15" dur="1" fill="hold">
                                          <p:stCondLst>
                                            <p:cond delay="0"/>
                                          </p:stCondLst>
                                        </p:cTn>
                                        <p:tgtEl>
                                          <p:spTgt spid="376838"/>
                                        </p:tgtEl>
                                        <p:attrNameLst>
                                          <p:attrName>style.visibility</p:attrName>
                                        </p:attrNameLst>
                                      </p:cBhvr>
                                      <p:to>
                                        <p:strVal val="visible"/>
                                      </p:to>
                                    </p:set>
                                    <p:animEffect transition="in" filter="checkerboard(across)">
                                      <p:cBhvr>
                                        <p:cTn id="16" dur="500"/>
                                        <p:tgtEl>
                                          <p:spTgt spid="376838"/>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376834">
                                            <p:txEl>
                                              <p:charRg st="51" end="72"/>
                                            </p:txEl>
                                          </p:spTgt>
                                        </p:tgtEl>
                                        <p:attrNameLst>
                                          <p:attrName>style.visibility</p:attrName>
                                        </p:attrNameLst>
                                      </p:cBhvr>
                                      <p:to>
                                        <p:strVal val="visible"/>
                                      </p:to>
                                    </p:set>
                                    <p:animEffect transition="in" filter="checkerboard(across)">
                                      <p:cBhvr>
                                        <p:cTn id="21" dur="500"/>
                                        <p:tgtEl>
                                          <p:spTgt spid="376834">
                                            <p:txEl>
                                              <p:charRg st="51" end="72"/>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376840"/>
                                        </p:tgtEl>
                                        <p:attrNameLst>
                                          <p:attrName>style.visibility</p:attrName>
                                        </p:attrNameLst>
                                      </p:cBhvr>
                                      <p:to>
                                        <p:strVal val="visible"/>
                                      </p:to>
                                    </p:set>
                                    <p:animEffect transition="in" filter="checkerboard(across)">
                                      <p:cBhvr>
                                        <p:cTn id="24" dur="500"/>
                                        <p:tgtEl>
                                          <p:spTgt spid="376840"/>
                                        </p:tgtEl>
                                      </p:cBhvr>
                                    </p:animEffect>
                                  </p:childTnLst>
                                </p:cTn>
                              </p:par>
                              <p:par>
                                <p:cTn id="25" presetID="5" presetClass="entr" presetSubtype="10" fill="hold" nodeType="withEffect">
                                  <p:stCondLst>
                                    <p:cond delay="0"/>
                                  </p:stCondLst>
                                  <p:childTnLst>
                                    <p:set>
                                      <p:cBhvr>
                                        <p:cTn id="26" dur="1" fill="hold">
                                          <p:stCondLst>
                                            <p:cond delay="0"/>
                                          </p:stCondLst>
                                        </p:cTn>
                                        <p:tgtEl>
                                          <p:spTgt spid="376841"/>
                                        </p:tgtEl>
                                        <p:attrNameLst>
                                          <p:attrName>style.visibility</p:attrName>
                                        </p:attrNameLst>
                                      </p:cBhvr>
                                      <p:to>
                                        <p:strVal val="visible"/>
                                      </p:to>
                                    </p:set>
                                    <p:animEffect transition="in" filter="checkerboard(across)">
                                      <p:cBhvr>
                                        <p:cTn id="27" dur="500"/>
                                        <p:tgtEl>
                                          <p:spTgt spid="376841"/>
                                        </p:tgtEl>
                                      </p:cBhvr>
                                    </p:animEffect>
                                  </p:childTnLst>
                                </p:cTn>
                              </p:par>
                              <p:par>
                                <p:cTn id="28" presetID="5" presetClass="entr" presetSubtype="10" fill="hold" nodeType="withEffect">
                                  <p:stCondLst>
                                    <p:cond delay="0"/>
                                  </p:stCondLst>
                                  <p:childTnLst>
                                    <p:set>
                                      <p:cBhvr>
                                        <p:cTn id="29" dur="1" fill="hold">
                                          <p:stCondLst>
                                            <p:cond delay="0"/>
                                          </p:stCondLst>
                                        </p:cTn>
                                        <p:tgtEl>
                                          <p:spTgt spid="376843"/>
                                        </p:tgtEl>
                                        <p:attrNameLst>
                                          <p:attrName>style.visibility</p:attrName>
                                        </p:attrNameLst>
                                      </p:cBhvr>
                                      <p:to>
                                        <p:strVal val="visible"/>
                                      </p:to>
                                    </p:set>
                                    <p:animEffect transition="in" filter="checkerboard(across)">
                                      <p:cBhvr>
                                        <p:cTn id="30" dur="500"/>
                                        <p:tgtEl>
                                          <p:spTgt spid="376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7858" name="Rectangle 2"/>
          <p:cNvSpPr>
            <a:spLocks noGrp="1"/>
          </p:cNvSpPr>
          <p:nvPr>
            <p:ph idx="1"/>
          </p:nvPr>
        </p:nvSpPr>
        <p:spPr>
          <a:xfrm>
            <a:off x="457200" y="1371600"/>
            <a:ext cx="8229600" cy="4495800"/>
          </a:xfrm>
          <a:ln/>
        </p:spPr>
        <p:txBody>
          <a:bodyPr vert="horz" wrap="square" lIns="91440" tIns="45720" rIns="91440" bIns="45720" anchor="t"/>
          <a:p>
            <a:pPr eaLnBrk="1" hangingPunct="1">
              <a:buNone/>
            </a:pPr>
            <a:r>
              <a:rPr lang="en-US" altLang="zh-CN" sz="2400" b="1">
                <a:solidFill>
                  <a:srgbClr val="692AA2"/>
                </a:solidFill>
                <a:latin typeface="仿宋_GB2312" pitchFamily="49" charset="-122"/>
                <a:ea typeface="仿宋_GB2312" pitchFamily="49" charset="-122"/>
              </a:rPr>
              <a:t>    Step 3</a:t>
            </a:r>
            <a:r>
              <a:rPr lang="zh-CN" altLang="en-US" sz="2400" b="1">
                <a:solidFill>
                  <a:srgbClr val="692AA2"/>
                </a:solidFill>
                <a:latin typeface="仿宋_GB2312" pitchFamily="49" charset="-122"/>
                <a:ea typeface="仿宋_GB2312" pitchFamily="49" charset="-122"/>
              </a:rPr>
              <a:t>：计算参数列   和</a:t>
            </a: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Step 4</a:t>
            </a:r>
            <a:r>
              <a:rPr lang="zh-CN" altLang="en-US" sz="2400" b="1">
                <a:solidFill>
                  <a:srgbClr val="692AA2"/>
                </a:solidFill>
                <a:latin typeface="仿宋_GB2312" pitchFamily="49" charset="-122"/>
                <a:ea typeface="仿宋_GB2312" pitchFamily="49" charset="-122"/>
              </a:rPr>
              <a:t>：建立模型</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GM(1,1)</a:t>
            </a:r>
            <a:r>
              <a:rPr lang="zh-CN" altLang="en-US" sz="2400" b="1">
                <a:solidFill>
                  <a:srgbClr val="692AA2"/>
                </a:solidFill>
                <a:latin typeface="仿宋_GB2312" pitchFamily="49" charset="-122"/>
                <a:ea typeface="仿宋_GB2312" pitchFamily="49" charset="-122"/>
              </a:rPr>
              <a:t>模型相应的微分方程为</a:t>
            </a:r>
            <a:endParaRPr lang="zh-CN" altLang="en-US" sz="2400" b="1">
              <a:solidFill>
                <a:srgbClr val="692AA2"/>
              </a:solidFill>
              <a:latin typeface="仿宋_GB2312" pitchFamily="49" charset="-122"/>
              <a:ea typeface="仿宋_GB2312" pitchFamily="49" charset="-122"/>
            </a:endParaRPr>
          </a:p>
        </p:txBody>
      </p:sp>
      <p:sp>
        <p:nvSpPr>
          <p:cNvPr id="142338" name="Rectangle 3"/>
          <p:cNvSpPr/>
          <p:nvPr/>
        </p:nvSpPr>
        <p:spPr>
          <a:xfrm>
            <a:off x="5583238" y="2790825"/>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7860" name="Object 4"/>
          <p:cNvGraphicFramePr>
            <a:graphicFrameLocks noChangeAspect="1"/>
          </p:cNvGraphicFramePr>
          <p:nvPr/>
        </p:nvGraphicFramePr>
        <p:xfrm>
          <a:off x="4038600" y="1447800"/>
          <a:ext cx="285750" cy="304800"/>
        </p:xfrm>
        <a:graphic>
          <a:graphicData uri="http://schemas.openxmlformats.org/presentationml/2006/ole">
            <mc:AlternateContent xmlns:mc="http://schemas.openxmlformats.org/markup-compatibility/2006">
              <mc:Choice xmlns:v="urn:schemas-microsoft-com:vml" Requires="v">
                <p:oleObj spid="_x0000_s3154" name="" r:id="rId1" imgW="139700" imgH="152400" progId="Equation.DSMT4">
                  <p:embed/>
                </p:oleObj>
              </mc:Choice>
              <mc:Fallback>
                <p:oleObj name="" r:id="rId1" imgW="139700" imgH="152400" progId="Equation.DSMT4">
                  <p:embed/>
                  <p:pic>
                    <p:nvPicPr>
                      <p:cNvPr id="0" name="图片 3153"/>
                      <p:cNvPicPr/>
                      <p:nvPr/>
                    </p:nvPicPr>
                    <p:blipFill>
                      <a:blip r:embed="rId2"/>
                      <a:stretch>
                        <a:fillRect/>
                      </a:stretch>
                    </p:blipFill>
                    <p:spPr>
                      <a:xfrm>
                        <a:off x="4038600" y="1447800"/>
                        <a:ext cx="285750" cy="304800"/>
                      </a:xfrm>
                      <a:prstGeom prst="rect">
                        <a:avLst/>
                      </a:prstGeom>
                      <a:noFill/>
                      <a:ln w="38100">
                        <a:noFill/>
                        <a:miter/>
                      </a:ln>
                    </p:spPr>
                  </p:pic>
                </p:oleObj>
              </mc:Fallback>
            </mc:AlternateContent>
          </a:graphicData>
        </a:graphic>
      </p:graphicFrame>
      <p:sp>
        <p:nvSpPr>
          <p:cNvPr id="142340" name="Rectangle 5"/>
          <p:cNvSpPr/>
          <p:nvPr/>
        </p:nvSpPr>
        <p:spPr>
          <a:xfrm>
            <a:off x="7291388" y="30083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7862" name="Object 6"/>
          <p:cNvGraphicFramePr>
            <a:graphicFrameLocks noChangeAspect="1"/>
          </p:cNvGraphicFramePr>
          <p:nvPr/>
        </p:nvGraphicFramePr>
        <p:xfrm>
          <a:off x="4800600" y="1447800"/>
          <a:ext cx="273050" cy="304800"/>
        </p:xfrm>
        <a:graphic>
          <a:graphicData uri="http://schemas.openxmlformats.org/presentationml/2006/ole">
            <mc:AlternateContent xmlns:mc="http://schemas.openxmlformats.org/markup-compatibility/2006">
              <mc:Choice xmlns:v="urn:schemas-microsoft-com:vml" Requires="v">
                <p:oleObj spid="_x0000_s3159" name="" r:id="rId3" imgW="165100" imgH="177800" progId="Equation.DSMT4">
                  <p:embed/>
                </p:oleObj>
              </mc:Choice>
              <mc:Fallback>
                <p:oleObj name="" r:id="rId3" imgW="165100" imgH="177800" progId="Equation.DSMT4">
                  <p:embed/>
                  <p:pic>
                    <p:nvPicPr>
                      <p:cNvPr id="0" name="图片 3158"/>
                      <p:cNvPicPr/>
                      <p:nvPr/>
                    </p:nvPicPr>
                    <p:blipFill>
                      <a:blip r:embed="rId4"/>
                      <a:stretch>
                        <a:fillRect/>
                      </a:stretch>
                    </p:blipFill>
                    <p:spPr>
                      <a:xfrm>
                        <a:off x="4800600" y="1447800"/>
                        <a:ext cx="273050" cy="304800"/>
                      </a:xfrm>
                      <a:prstGeom prst="rect">
                        <a:avLst/>
                      </a:prstGeom>
                      <a:noFill/>
                      <a:ln w="38100">
                        <a:noFill/>
                        <a:miter/>
                      </a:ln>
                    </p:spPr>
                  </p:pic>
                </p:oleObj>
              </mc:Fallback>
            </mc:AlternateContent>
          </a:graphicData>
        </a:graphic>
      </p:graphicFrame>
      <p:sp>
        <p:nvSpPr>
          <p:cNvPr id="142342" name="Rectangle 7"/>
          <p:cNvSpPr/>
          <p:nvPr/>
        </p:nvSpPr>
        <p:spPr>
          <a:xfrm>
            <a:off x="4330700" y="23828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7864" name="Object 8"/>
          <p:cNvGraphicFramePr>
            <a:graphicFrameLocks noChangeAspect="1"/>
          </p:cNvGraphicFramePr>
          <p:nvPr/>
        </p:nvGraphicFramePr>
        <p:xfrm>
          <a:off x="2819400" y="1905000"/>
          <a:ext cx="3048000" cy="949325"/>
        </p:xfrm>
        <a:graphic>
          <a:graphicData uri="http://schemas.openxmlformats.org/presentationml/2006/ole">
            <mc:AlternateContent xmlns:mc="http://schemas.openxmlformats.org/markup-compatibility/2006">
              <mc:Choice xmlns:v="urn:schemas-microsoft-com:vml" Requires="v">
                <p:oleObj spid="_x0000_s3169" name="" r:id="rId5" imgW="1739900" imgH="546100" progId="Equation.DSMT4">
                  <p:embed/>
                </p:oleObj>
              </mc:Choice>
              <mc:Fallback>
                <p:oleObj name="" r:id="rId5" imgW="1739900" imgH="546100" progId="Equation.DSMT4">
                  <p:embed/>
                  <p:pic>
                    <p:nvPicPr>
                      <p:cNvPr id="0" name="图片 3168"/>
                      <p:cNvPicPr/>
                      <p:nvPr/>
                    </p:nvPicPr>
                    <p:blipFill>
                      <a:blip r:embed="rId6"/>
                      <a:stretch>
                        <a:fillRect/>
                      </a:stretch>
                    </p:blipFill>
                    <p:spPr>
                      <a:xfrm>
                        <a:off x="2819400" y="1905000"/>
                        <a:ext cx="3048000" cy="949325"/>
                      </a:xfrm>
                      <a:prstGeom prst="rect">
                        <a:avLst/>
                      </a:prstGeom>
                      <a:noFill/>
                      <a:ln w="38100">
                        <a:noFill/>
                        <a:miter/>
                      </a:ln>
                    </p:spPr>
                  </p:pic>
                </p:oleObj>
              </mc:Fallback>
            </mc:AlternateContent>
          </a:graphicData>
        </a:graphic>
      </p:graphicFrame>
      <p:sp>
        <p:nvSpPr>
          <p:cNvPr id="142344" name="Rectangle 9"/>
          <p:cNvSpPr/>
          <p:nvPr/>
        </p:nvSpPr>
        <p:spPr>
          <a:xfrm>
            <a:off x="3176588" y="50530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7866" name="Object 10"/>
          <p:cNvGraphicFramePr>
            <a:graphicFrameLocks noChangeAspect="1"/>
          </p:cNvGraphicFramePr>
          <p:nvPr/>
        </p:nvGraphicFramePr>
        <p:xfrm>
          <a:off x="3276600" y="4114800"/>
          <a:ext cx="1981200" cy="842963"/>
        </p:xfrm>
        <a:graphic>
          <a:graphicData uri="http://schemas.openxmlformats.org/presentationml/2006/ole">
            <mc:AlternateContent xmlns:mc="http://schemas.openxmlformats.org/markup-compatibility/2006">
              <mc:Choice xmlns:v="urn:schemas-microsoft-com:vml" Requires="v">
                <p:oleObj spid="_x0000_s3166" name="" r:id="rId7" imgW="1143000" imgH="482600" progId="Equation.DSMT4">
                  <p:embed/>
                </p:oleObj>
              </mc:Choice>
              <mc:Fallback>
                <p:oleObj name="" r:id="rId7" imgW="1143000" imgH="482600" progId="Equation.DSMT4">
                  <p:embed/>
                  <p:pic>
                    <p:nvPicPr>
                      <p:cNvPr id="0" name="图片 3165"/>
                      <p:cNvPicPr/>
                      <p:nvPr/>
                    </p:nvPicPr>
                    <p:blipFill>
                      <a:blip r:embed="rId8"/>
                      <a:stretch>
                        <a:fillRect/>
                      </a:stretch>
                    </p:blipFill>
                    <p:spPr>
                      <a:xfrm>
                        <a:off x="3276600" y="4114800"/>
                        <a:ext cx="1981200" cy="842963"/>
                      </a:xfrm>
                      <a:prstGeom prst="rect">
                        <a:avLst/>
                      </a:prstGeom>
                      <a:noFill/>
                      <a:ln w="38100">
                        <a:noFill/>
                        <a:miter/>
                      </a:ln>
                    </p:spPr>
                  </p:pic>
                </p:oleObj>
              </mc:Fallback>
            </mc:AlternateContent>
          </a:graphicData>
        </a:graphic>
      </p:graphicFrame>
      <p:graphicFrame>
        <p:nvGraphicFramePr>
          <p:cNvPr id="377867" name="Object 11"/>
          <p:cNvGraphicFramePr>
            <a:graphicFrameLocks noChangeAspect="1"/>
          </p:cNvGraphicFramePr>
          <p:nvPr/>
        </p:nvGraphicFramePr>
        <p:xfrm>
          <a:off x="2057400" y="5181600"/>
          <a:ext cx="252413" cy="269875"/>
        </p:xfrm>
        <a:graphic>
          <a:graphicData uri="http://schemas.openxmlformats.org/presentationml/2006/ole">
            <mc:AlternateContent xmlns:mc="http://schemas.openxmlformats.org/markup-compatibility/2006">
              <mc:Choice xmlns:v="urn:schemas-microsoft-com:vml" Requires="v">
                <p:oleObj spid="_x0000_s3160" name="" r:id="rId9" imgW="139700" imgH="152400" progId="Equation.DSMT4">
                  <p:embed/>
                </p:oleObj>
              </mc:Choice>
              <mc:Fallback>
                <p:oleObj name="" r:id="rId9" imgW="139700" imgH="152400" progId="Equation.DSMT4">
                  <p:embed/>
                  <p:pic>
                    <p:nvPicPr>
                      <p:cNvPr id="0" name="图片 3159"/>
                      <p:cNvPicPr/>
                      <p:nvPr/>
                    </p:nvPicPr>
                    <p:blipFill>
                      <a:blip r:embed="rId2"/>
                      <a:stretch>
                        <a:fillRect/>
                      </a:stretch>
                    </p:blipFill>
                    <p:spPr>
                      <a:xfrm>
                        <a:off x="2057400" y="5181600"/>
                        <a:ext cx="252413" cy="269875"/>
                      </a:xfrm>
                      <a:prstGeom prst="rect">
                        <a:avLst/>
                      </a:prstGeom>
                      <a:noFill/>
                      <a:ln w="38100">
                        <a:noFill/>
                        <a:miter/>
                      </a:ln>
                    </p:spPr>
                  </p:pic>
                </p:oleObj>
              </mc:Fallback>
            </mc:AlternateContent>
          </a:graphicData>
        </a:graphic>
      </p:graphicFrame>
      <p:graphicFrame>
        <p:nvGraphicFramePr>
          <p:cNvPr id="377868" name="Object 12"/>
          <p:cNvGraphicFramePr>
            <a:graphicFrameLocks noChangeAspect="1"/>
          </p:cNvGraphicFramePr>
          <p:nvPr/>
        </p:nvGraphicFramePr>
        <p:xfrm>
          <a:off x="4495800" y="5181600"/>
          <a:ext cx="273050" cy="304800"/>
        </p:xfrm>
        <a:graphic>
          <a:graphicData uri="http://schemas.openxmlformats.org/presentationml/2006/ole">
            <mc:AlternateContent xmlns:mc="http://schemas.openxmlformats.org/markup-compatibility/2006">
              <mc:Choice xmlns:v="urn:schemas-microsoft-com:vml" Requires="v">
                <p:oleObj spid="_x0000_s3163" name="" r:id="rId10" imgW="165100" imgH="177800" progId="Equation.DSMT4">
                  <p:embed/>
                </p:oleObj>
              </mc:Choice>
              <mc:Fallback>
                <p:oleObj name="" r:id="rId10" imgW="165100" imgH="177800" progId="Equation.DSMT4">
                  <p:embed/>
                  <p:pic>
                    <p:nvPicPr>
                      <p:cNvPr id="0" name="图片 3162"/>
                      <p:cNvPicPr/>
                      <p:nvPr/>
                    </p:nvPicPr>
                    <p:blipFill>
                      <a:blip r:embed="rId4"/>
                      <a:stretch>
                        <a:fillRect/>
                      </a:stretch>
                    </p:blipFill>
                    <p:spPr>
                      <a:xfrm>
                        <a:off x="4495800" y="5181600"/>
                        <a:ext cx="273050" cy="304800"/>
                      </a:xfrm>
                      <a:prstGeom prst="rect">
                        <a:avLst/>
                      </a:prstGeom>
                      <a:noFill/>
                      <a:ln w="38100">
                        <a:noFill/>
                        <a:miter/>
                      </a:ln>
                    </p:spPr>
                  </p:pic>
                </p:oleObj>
              </mc:Fallback>
            </mc:AlternateContent>
          </a:graphicData>
        </a:graphic>
      </p:graphicFrame>
      <p:sp>
        <p:nvSpPr>
          <p:cNvPr id="377869" name="Rectangle 13"/>
          <p:cNvSpPr/>
          <p:nvPr/>
        </p:nvSpPr>
        <p:spPr>
          <a:xfrm>
            <a:off x="1143000" y="4922838"/>
            <a:ext cx="838200" cy="822325"/>
          </a:xfrm>
          <a:prstGeom prst="rect">
            <a:avLst/>
          </a:prstGeom>
          <a:noFill/>
          <a:ln w="9525">
            <a:noFill/>
          </a:ln>
        </p:spPr>
        <p:txBody>
          <a:bodyPr anchor="ctr">
            <a:spAutoFit/>
          </a:bodyPr>
          <a:p>
            <a:r>
              <a:rPr lang="zh-CN" altLang="en-US" sz="2400" b="1">
                <a:solidFill>
                  <a:srgbClr val="692AA2"/>
                </a:solidFill>
                <a:latin typeface="仿宋_GB2312" pitchFamily="49" charset="-122"/>
                <a:ea typeface="仿宋_GB2312" pitchFamily="49" charset="-122"/>
              </a:rPr>
              <a:t>其中：</a:t>
            </a:r>
            <a:endParaRPr lang="zh-CN" altLang="en-US" sz="2400" b="1">
              <a:solidFill>
                <a:srgbClr val="692AA2"/>
              </a:solidFill>
              <a:latin typeface="仿宋_GB2312" pitchFamily="49" charset="-122"/>
              <a:ea typeface="仿宋_GB2312" pitchFamily="49" charset="-122"/>
            </a:endParaRPr>
          </a:p>
        </p:txBody>
      </p:sp>
      <p:sp>
        <p:nvSpPr>
          <p:cNvPr id="377870" name="Rectangle 14"/>
          <p:cNvSpPr/>
          <p:nvPr/>
        </p:nvSpPr>
        <p:spPr>
          <a:xfrm>
            <a:off x="2362200" y="5105400"/>
            <a:ext cx="2328863" cy="457200"/>
          </a:xfrm>
          <a:prstGeom prst="rect">
            <a:avLst/>
          </a:prstGeom>
          <a:noFill/>
          <a:ln w="9525">
            <a:noFill/>
          </a:ln>
        </p:spPr>
        <p:txBody>
          <a:bodyPr wrap="none" anchor="ctr">
            <a:spAutoFit/>
          </a:bodyPr>
          <a:p>
            <a:r>
              <a:rPr lang="zh-CN" altLang="en-US" sz="2400" b="1">
                <a:solidFill>
                  <a:srgbClr val="692AA2"/>
                </a:solidFill>
                <a:latin typeface="仿宋_GB2312" pitchFamily="49" charset="-122"/>
                <a:ea typeface="仿宋_GB2312" pitchFamily="49" charset="-122"/>
              </a:rPr>
              <a:t>称为发展灰数；</a:t>
            </a:r>
            <a:endParaRPr lang="zh-CN" altLang="en-US" sz="2400" b="1">
              <a:solidFill>
                <a:srgbClr val="692AA2"/>
              </a:solidFill>
              <a:latin typeface="仿宋_GB2312" pitchFamily="49" charset="-122"/>
              <a:ea typeface="仿宋_GB2312" pitchFamily="49" charset="-122"/>
            </a:endParaRPr>
          </a:p>
        </p:txBody>
      </p:sp>
      <p:sp>
        <p:nvSpPr>
          <p:cNvPr id="377871" name="Rectangle 15"/>
          <p:cNvSpPr/>
          <p:nvPr/>
        </p:nvSpPr>
        <p:spPr>
          <a:xfrm>
            <a:off x="4800600" y="5105400"/>
            <a:ext cx="3094038" cy="457200"/>
          </a:xfrm>
          <a:prstGeom prst="rect">
            <a:avLst/>
          </a:prstGeom>
          <a:noFill/>
          <a:ln w="9525">
            <a:noFill/>
          </a:ln>
        </p:spPr>
        <p:txBody>
          <a:bodyPr wrap="none" anchor="ctr">
            <a:spAutoFit/>
          </a:bodyPr>
          <a:p>
            <a:r>
              <a:rPr lang="zh-CN" altLang="en-US" sz="2400" b="1">
                <a:solidFill>
                  <a:srgbClr val="692AA2"/>
                </a:solidFill>
                <a:latin typeface="仿宋_GB2312" pitchFamily="49" charset="-122"/>
                <a:ea typeface="仿宋_GB2312" pitchFamily="49" charset="-122"/>
              </a:rPr>
              <a:t>称为内生控制灰数。</a:t>
            </a:r>
            <a:r>
              <a:rPr lang="zh-CN" altLang="en-US" sz="2400">
                <a:latin typeface="仿宋_GB2312" pitchFamily="49" charset="-122"/>
                <a:ea typeface="仿宋_GB2312" pitchFamily="49" charset="-122"/>
              </a:rPr>
              <a:t> </a:t>
            </a:r>
            <a:endParaRPr lang="zh-CN" altLang="en-US" sz="2400">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77858">
                                            <p:txEl>
                                              <p:charRg st="0" end="21"/>
                                            </p:txEl>
                                          </p:spTgt>
                                        </p:tgtEl>
                                        <p:attrNameLst>
                                          <p:attrName>style.visibility</p:attrName>
                                        </p:attrNameLst>
                                      </p:cBhvr>
                                      <p:to>
                                        <p:strVal val="visible"/>
                                      </p:to>
                                    </p:set>
                                    <p:animEffect transition="in" filter="wipe(down)">
                                      <p:cBhvr>
                                        <p:cTn id="7" dur="500"/>
                                        <p:tgtEl>
                                          <p:spTgt spid="377858">
                                            <p:txEl>
                                              <p:charRg st="0" end="2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77860"/>
                                        </p:tgtEl>
                                        <p:attrNameLst>
                                          <p:attrName>style.visibility</p:attrName>
                                        </p:attrNameLst>
                                      </p:cBhvr>
                                      <p:to>
                                        <p:strVal val="visible"/>
                                      </p:to>
                                    </p:set>
                                    <p:animEffect transition="in" filter="wipe(down)">
                                      <p:cBhvr>
                                        <p:cTn id="10" dur="500"/>
                                        <p:tgtEl>
                                          <p:spTgt spid="377860"/>
                                        </p:tgtEl>
                                      </p:cBhvr>
                                    </p:animEffect>
                                  </p:childTnLst>
                                </p:cTn>
                              </p:par>
                              <p:par>
                                <p:cTn id="11" presetID="22" presetClass="entr" presetSubtype="4" fill="hold" nodeType="withEffect">
                                  <p:stCondLst>
                                    <p:cond delay="0"/>
                                  </p:stCondLst>
                                  <p:childTnLst>
                                    <p:set>
                                      <p:cBhvr>
                                        <p:cTn id="12" dur="1" fill="hold">
                                          <p:stCondLst>
                                            <p:cond delay="0"/>
                                          </p:stCondLst>
                                        </p:cTn>
                                        <p:tgtEl>
                                          <p:spTgt spid="377862"/>
                                        </p:tgtEl>
                                        <p:attrNameLst>
                                          <p:attrName>style.visibility</p:attrName>
                                        </p:attrNameLst>
                                      </p:cBhvr>
                                      <p:to>
                                        <p:strVal val="visible"/>
                                      </p:to>
                                    </p:set>
                                    <p:animEffect transition="in" filter="wipe(down)">
                                      <p:cBhvr>
                                        <p:cTn id="13" dur="500"/>
                                        <p:tgtEl>
                                          <p:spTgt spid="377862"/>
                                        </p:tgtEl>
                                      </p:cBhvr>
                                    </p:animEffect>
                                  </p:childTnLst>
                                </p:cTn>
                              </p:par>
                              <p:par>
                                <p:cTn id="14" presetID="22" presetClass="entr" presetSubtype="4" fill="hold" nodeType="withEffect">
                                  <p:stCondLst>
                                    <p:cond delay="0"/>
                                  </p:stCondLst>
                                  <p:childTnLst>
                                    <p:set>
                                      <p:cBhvr>
                                        <p:cTn id="15" dur="1" fill="hold">
                                          <p:stCondLst>
                                            <p:cond delay="0"/>
                                          </p:stCondLst>
                                        </p:cTn>
                                        <p:tgtEl>
                                          <p:spTgt spid="377864"/>
                                        </p:tgtEl>
                                        <p:attrNameLst>
                                          <p:attrName>style.visibility</p:attrName>
                                        </p:attrNameLst>
                                      </p:cBhvr>
                                      <p:to>
                                        <p:strVal val="visible"/>
                                      </p:to>
                                    </p:set>
                                    <p:animEffect transition="in" filter="wipe(down)">
                                      <p:cBhvr>
                                        <p:cTn id="16" dur="500"/>
                                        <p:tgtEl>
                                          <p:spTgt spid="37786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77858">
                                            <p:txEl>
                                              <p:charRg st="24" end="40"/>
                                            </p:txEl>
                                          </p:spTgt>
                                        </p:tgtEl>
                                        <p:attrNameLst>
                                          <p:attrName>style.visibility</p:attrName>
                                        </p:attrNameLst>
                                      </p:cBhvr>
                                      <p:to>
                                        <p:strVal val="visible"/>
                                      </p:to>
                                    </p:set>
                                    <p:animEffect transition="in" filter="wipe(down)">
                                      <p:cBhvr>
                                        <p:cTn id="21" dur="500"/>
                                        <p:tgtEl>
                                          <p:spTgt spid="377858">
                                            <p:txEl>
                                              <p:charRg st="24" end="40"/>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77858">
                                            <p:txEl>
                                              <p:charRg st="40" end="64"/>
                                            </p:txEl>
                                          </p:spTgt>
                                        </p:tgtEl>
                                        <p:attrNameLst>
                                          <p:attrName>style.visibility</p:attrName>
                                        </p:attrNameLst>
                                      </p:cBhvr>
                                      <p:to>
                                        <p:strVal val="visible"/>
                                      </p:to>
                                    </p:set>
                                    <p:animEffect transition="in" filter="wipe(down)">
                                      <p:cBhvr>
                                        <p:cTn id="24" dur="500"/>
                                        <p:tgtEl>
                                          <p:spTgt spid="377858">
                                            <p:txEl>
                                              <p:charRg st="40" end="64"/>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77866"/>
                                        </p:tgtEl>
                                        <p:attrNameLst>
                                          <p:attrName>style.visibility</p:attrName>
                                        </p:attrNameLst>
                                      </p:cBhvr>
                                      <p:to>
                                        <p:strVal val="visible"/>
                                      </p:to>
                                    </p:set>
                                    <p:animEffect transition="in" filter="wipe(down)">
                                      <p:cBhvr>
                                        <p:cTn id="27" dur="500"/>
                                        <p:tgtEl>
                                          <p:spTgt spid="377866"/>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77869"/>
                                        </p:tgtEl>
                                        <p:attrNameLst>
                                          <p:attrName>style.visibility</p:attrName>
                                        </p:attrNameLst>
                                      </p:cBhvr>
                                      <p:to>
                                        <p:strVal val="visible"/>
                                      </p:to>
                                    </p:set>
                                    <p:animEffect transition="in" filter="wipe(down)">
                                      <p:cBhvr>
                                        <p:cTn id="30" dur="500"/>
                                        <p:tgtEl>
                                          <p:spTgt spid="377869"/>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77870"/>
                                        </p:tgtEl>
                                        <p:attrNameLst>
                                          <p:attrName>style.visibility</p:attrName>
                                        </p:attrNameLst>
                                      </p:cBhvr>
                                      <p:to>
                                        <p:strVal val="visible"/>
                                      </p:to>
                                    </p:set>
                                    <p:animEffect transition="in" filter="wipe(down)">
                                      <p:cBhvr>
                                        <p:cTn id="33" dur="500"/>
                                        <p:tgtEl>
                                          <p:spTgt spid="377870"/>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77871"/>
                                        </p:tgtEl>
                                        <p:attrNameLst>
                                          <p:attrName>style.visibility</p:attrName>
                                        </p:attrNameLst>
                                      </p:cBhvr>
                                      <p:to>
                                        <p:strVal val="visible"/>
                                      </p:to>
                                    </p:set>
                                    <p:animEffect transition="in" filter="wipe(down)">
                                      <p:cBhvr>
                                        <p:cTn id="36" dur="500"/>
                                        <p:tgtEl>
                                          <p:spTgt spid="377871"/>
                                        </p:tgtEl>
                                      </p:cBhvr>
                                    </p:animEffect>
                                  </p:childTnLst>
                                </p:cTn>
                              </p:par>
                              <p:par>
                                <p:cTn id="37" presetID="22" presetClass="entr" presetSubtype="4" fill="hold" nodeType="withEffect">
                                  <p:stCondLst>
                                    <p:cond delay="0"/>
                                  </p:stCondLst>
                                  <p:childTnLst>
                                    <p:set>
                                      <p:cBhvr>
                                        <p:cTn id="38" dur="1" fill="hold">
                                          <p:stCondLst>
                                            <p:cond delay="0"/>
                                          </p:stCondLst>
                                        </p:cTn>
                                        <p:tgtEl>
                                          <p:spTgt spid="377868"/>
                                        </p:tgtEl>
                                        <p:attrNameLst>
                                          <p:attrName>style.visibility</p:attrName>
                                        </p:attrNameLst>
                                      </p:cBhvr>
                                      <p:to>
                                        <p:strVal val="visible"/>
                                      </p:to>
                                    </p:set>
                                    <p:animEffect transition="in" filter="wipe(down)">
                                      <p:cBhvr>
                                        <p:cTn id="39" dur="500"/>
                                        <p:tgtEl>
                                          <p:spTgt spid="377868"/>
                                        </p:tgtEl>
                                      </p:cBhvr>
                                    </p:animEffect>
                                  </p:childTnLst>
                                </p:cTn>
                              </p:par>
                              <p:par>
                                <p:cTn id="40" presetID="22" presetClass="entr" presetSubtype="4" fill="hold" nodeType="withEffect">
                                  <p:stCondLst>
                                    <p:cond delay="0"/>
                                  </p:stCondLst>
                                  <p:childTnLst>
                                    <p:set>
                                      <p:cBhvr>
                                        <p:cTn id="41" dur="1" fill="hold">
                                          <p:stCondLst>
                                            <p:cond delay="0"/>
                                          </p:stCondLst>
                                        </p:cTn>
                                        <p:tgtEl>
                                          <p:spTgt spid="377867"/>
                                        </p:tgtEl>
                                        <p:attrNameLst>
                                          <p:attrName>style.visibility</p:attrName>
                                        </p:attrNameLst>
                                      </p:cBhvr>
                                      <p:to>
                                        <p:strVal val="visible"/>
                                      </p:to>
                                    </p:set>
                                    <p:animEffect transition="in" filter="wipe(down)">
                                      <p:cBhvr>
                                        <p:cTn id="42" dur="500"/>
                                        <p:tgtEl>
                                          <p:spTgt spid="377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9" grpId="0"/>
      <p:bldP spid="377870" grpId="0"/>
      <p:bldP spid="377871"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82" name="Rectangle 2"/>
          <p:cNvSpPr>
            <a:spLocks noGrp="1"/>
          </p:cNvSpPr>
          <p:nvPr>
            <p:ph idx="1"/>
          </p:nvPr>
        </p:nvSpPr>
        <p:spPr>
          <a:xfrm>
            <a:off x="381000" y="1371600"/>
            <a:ext cx="8229600" cy="4495800"/>
          </a:xfrm>
          <a:ln/>
        </p:spPr>
        <p:txBody>
          <a:bodyPr vert="horz" wrap="square" lIns="91440" tIns="45720" rIns="91440" bIns="45720" anchor="t"/>
          <a:p>
            <a:pPr eaLnBrk="1" hangingPunct="1">
              <a:lnSpc>
                <a:spcPct val="120000"/>
              </a:lnSpc>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时间响应函数（取              ）：</a:t>
            </a:r>
            <a:endParaRPr lang="zh-CN" altLang="en-US" sz="2400" b="1">
              <a:solidFill>
                <a:srgbClr val="692AA2"/>
              </a:solidFill>
              <a:latin typeface="仿宋_GB2312" pitchFamily="49" charset="-122"/>
              <a:ea typeface="仿宋_GB2312" pitchFamily="49" charset="-122"/>
            </a:endParaRPr>
          </a:p>
          <a:p>
            <a:pPr eaLnBrk="1" hangingPunct="1">
              <a:lnSpc>
                <a:spcPct val="120000"/>
              </a:lnSpc>
            </a:pPr>
            <a:endParaRPr lang="zh-CN" altLang="en-US" sz="2400" b="1">
              <a:solidFill>
                <a:srgbClr val="692AA2"/>
              </a:solidFill>
              <a:latin typeface="仿宋_GB2312" pitchFamily="49" charset="-122"/>
              <a:ea typeface="仿宋_GB2312" pitchFamily="49" charset="-122"/>
            </a:endParaRPr>
          </a:p>
          <a:p>
            <a:pPr eaLnBrk="1" hangingPunct="1">
              <a:lnSpc>
                <a:spcPct val="120000"/>
              </a:lnSpc>
            </a:pP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这里的        是前</a:t>
            </a:r>
            <a:r>
              <a:rPr lang="en-US" altLang="zh-CN" sz="2400" b="1">
                <a:solidFill>
                  <a:srgbClr val="692AA2"/>
                </a:solidFill>
                <a:latin typeface="仿宋_GB2312" pitchFamily="49" charset="-122"/>
                <a:ea typeface="仿宋_GB2312" pitchFamily="49" charset="-122"/>
              </a:rPr>
              <a:t>k+1</a:t>
            </a:r>
            <a:r>
              <a:rPr lang="zh-CN" altLang="en-US" sz="2400" b="1">
                <a:solidFill>
                  <a:srgbClr val="692AA2"/>
                </a:solidFill>
                <a:latin typeface="仿宋_GB2312" pitchFamily="49" charset="-122"/>
                <a:ea typeface="仿宋_GB2312" pitchFamily="49" charset="-122"/>
              </a:rPr>
              <a:t>年每个书号销售量的累加值，根据公式                     ，还原得到第</a:t>
            </a:r>
            <a:r>
              <a:rPr lang="en-US" altLang="zh-CN" sz="2400" b="1">
                <a:solidFill>
                  <a:srgbClr val="692AA2"/>
                </a:solidFill>
                <a:latin typeface="仿宋_GB2312" pitchFamily="49" charset="-122"/>
                <a:ea typeface="仿宋_GB2312" pitchFamily="49" charset="-122"/>
              </a:rPr>
              <a:t>k</a:t>
            </a:r>
            <a:r>
              <a:rPr lang="zh-CN" altLang="en-US" sz="2400" b="1">
                <a:solidFill>
                  <a:srgbClr val="692AA2"/>
                </a:solidFill>
                <a:latin typeface="仿宋_GB2312" pitchFamily="49" charset="-122"/>
                <a:ea typeface="仿宋_GB2312" pitchFamily="49" charset="-122"/>
              </a:rPr>
              <a:t>年每个书号销售量。</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3</a:t>
            </a:r>
            <a:r>
              <a:rPr lang="zh-CN" altLang="en-US" sz="2400" b="1">
                <a:solidFill>
                  <a:srgbClr val="692AA2"/>
                </a:solidFill>
                <a:latin typeface="仿宋_GB2312" pitchFamily="49" charset="-122"/>
                <a:ea typeface="仿宋_GB2312" pitchFamily="49" charset="-122"/>
              </a:rPr>
              <a:t>）模型的求解与结果</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根据上述方法，结合</a:t>
            </a:r>
            <a:r>
              <a:rPr lang="en-US" altLang="zh-CN" sz="2400" b="1">
                <a:solidFill>
                  <a:srgbClr val="692AA2"/>
                </a:solidFill>
                <a:latin typeface="仿宋_GB2312" pitchFamily="49" charset="-122"/>
                <a:ea typeface="仿宋_GB2312" pitchFamily="49" charset="-122"/>
              </a:rPr>
              <a:t>matlab7.0</a:t>
            </a:r>
            <a:r>
              <a:rPr lang="zh-CN" altLang="en-US" sz="2400" b="1">
                <a:solidFill>
                  <a:srgbClr val="692AA2"/>
                </a:solidFill>
                <a:latin typeface="仿宋_GB2312" pitchFamily="49" charset="-122"/>
                <a:ea typeface="仿宋_GB2312" pitchFamily="49" charset="-122"/>
              </a:rPr>
              <a:t>软件（附录二），求得</a:t>
            </a:r>
            <a:r>
              <a:rPr lang="en-US" altLang="zh-CN" sz="2400" b="1">
                <a:solidFill>
                  <a:srgbClr val="692AA2"/>
                </a:solidFill>
                <a:latin typeface="仿宋_GB2312" pitchFamily="49" charset="-122"/>
                <a:ea typeface="仿宋_GB2312" pitchFamily="49" charset="-122"/>
              </a:rPr>
              <a:t>72</a:t>
            </a:r>
            <a:r>
              <a:rPr lang="zh-CN" altLang="en-US" sz="2400" b="1">
                <a:solidFill>
                  <a:srgbClr val="692AA2"/>
                </a:solidFill>
                <a:latin typeface="仿宋_GB2312" pitchFamily="49" charset="-122"/>
                <a:ea typeface="仿宋_GB2312" pitchFamily="49" charset="-122"/>
              </a:rPr>
              <a:t>门课程的</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年每个书号的销售量预测值。 </a:t>
            </a:r>
            <a:endParaRPr lang="zh-CN" altLang="en-US" sz="2400" b="1">
              <a:solidFill>
                <a:srgbClr val="692AA2"/>
              </a:solidFill>
              <a:latin typeface="仿宋_GB2312" pitchFamily="49" charset="-122"/>
              <a:ea typeface="仿宋_GB2312" pitchFamily="49" charset="-122"/>
            </a:endParaRPr>
          </a:p>
        </p:txBody>
      </p:sp>
      <p:graphicFrame>
        <p:nvGraphicFramePr>
          <p:cNvPr id="378883" name="Object 3"/>
          <p:cNvGraphicFramePr>
            <a:graphicFrameLocks noChangeAspect="1"/>
          </p:cNvGraphicFramePr>
          <p:nvPr/>
        </p:nvGraphicFramePr>
        <p:xfrm>
          <a:off x="3962400" y="1371600"/>
          <a:ext cx="2057400" cy="509588"/>
        </p:xfrm>
        <a:graphic>
          <a:graphicData uri="http://schemas.openxmlformats.org/presentationml/2006/ole">
            <mc:AlternateContent xmlns:mc="http://schemas.openxmlformats.org/markup-compatibility/2006">
              <mc:Choice xmlns:v="urn:schemas-microsoft-com:vml" Requires="v">
                <p:oleObj spid="_x0000_s3164" name="" r:id="rId1" imgW="1078865" imgH="266700" progId="Equation.DSMT4">
                  <p:embed/>
                </p:oleObj>
              </mc:Choice>
              <mc:Fallback>
                <p:oleObj name="" r:id="rId1" imgW="1078865" imgH="266700" progId="Equation.DSMT4">
                  <p:embed/>
                  <p:pic>
                    <p:nvPicPr>
                      <p:cNvPr id="0" name="图片 3163"/>
                      <p:cNvPicPr/>
                      <p:nvPr/>
                    </p:nvPicPr>
                    <p:blipFill>
                      <a:blip r:embed="rId2"/>
                      <a:stretch>
                        <a:fillRect/>
                      </a:stretch>
                    </p:blipFill>
                    <p:spPr>
                      <a:xfrm>
                        <a:off x="3962400" y="1371600"/>
                        <a:ext cx="2057400" cy="509588"/>
                      </a:xfrm>
                      <a:prstGeom prst="rect">
                        <a:avLst/>
                      </a:prstGeom>
                      <a:noFill/>
                      <a:ln w="38100">
                        <a:noFill/>
                        <a:miter/>
                      </a:ln>
                    </p:spPr>
                  </p:pic>
                </p:oleObj>
              </mc:Fallback>
            </mc:AlternateContent>
          </a:graphicData>
        </a:graphic>
      </p:graphicFrame>
      <p:graphicFrame>
        <p:nvGraphicFramePr>
          <p:cNvPr id="378884" name="Object 4"/>
          <p:cNvGraphicFramePr>
            <a:graphicFrameLocks noChangeAspect="1"/>
          </p:cNvGraphicFramePr>
          <p:nvPr/>
        </p:nvGraphicFramePr>
        <p:xfrm>
          <a:off x="2286000" y="2057400"/>
          <a:ext cx="3733800" cy="749300"/>
        </p:xfrm>
        <a:graphic>
          <a:graphicData uri="http://schemas.openxmlformats.org/presentationml/2006/ole">
            <mc:AlternateContent xmlns:mc="http://schemas.openxmlformats.org/markup-compatibility/2006">
              <mc:Choice xmlns:v="urn:schemas-microsoft-com:vml" Requires="v">
                <p:oleObj spid="_x0000_s3167" name="" r:id="rId3" imgW="2463800" imgH="495300" progId="Equation.DSMT4">
                  <p:embed/>
                </p:oleObj>
              </mc:Choice>
              <mc:Fallback>
                <p:oleObj name="" r:id="rId3" imgW="2463800" imgH="495300" progId="Equation.DSMT4">
                  <p:embed/>
                  <p:pic>
                    <p:nvPicPr>
                      <p:cNvPr id="0" name="图片 3166"/>
                      <p:cNvPicPr/>
                      <p:nvPr/>
                    </p:nvPicPr>
                    <p:blipFill>
                      <a:blip r:embed="rId4"/>
                      <a:stretch>
                        <a:fillRect/>
                      </a:stretch>
                    </p:blipFill>
                    <p:spPr>
                      <a:xfrm>
                        <a:off x="2286000" y="2057400"/>
                        <a:ext cx="3733800" cy="749300"/>
                      </a:xfrm>
                      <a:prstGeom prst="rect">
                        <a:avLst/>
                      </a:prstGeom>
                      <a:noFill/>
                      <a:ln w="38100">
                        <a:noFill/>
                        <a:miter/>
                      </a:ln>
                    </p:spPr>
                  </p:pic>
                </p:oleObj>
              </mc:Fallback>
            </mc:AlternateContent>
          </a:graphicData>
        </a:graphic>
      </p:graphicFrame>
      <p:sp>
        <p:nvSpPr>
          <p:cNvPr id="143364" name="Rectangle 5"/>
          <p:cNvSpPr/>
          <p:nvPr/>
        </p:nvSpPr>
        <p:spPr>
          <a:xfrm>
            <a:off x="2378075" y="32972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8886" name="Object 6"/>
          <p:cNvGraphicFramePr>
            <a:graphicFrameLocks noChangeAspect="1"/>
          </p:cNvGraphicFramePr>
          <p:nvPr/>
        </p:nvGraphicFramePr>
        <p:xfrm>
          <a:off x="2286000" y="2971800"/>
          <a:ext cx="1143000" cy="431800"/>
        </p:xfrm>
        <a:graphic>
          <a:graphicData uri="http://schemas.openxmlformats.org/presentationml/2006/ole">
            <mc:AlternateContent xmlns:mc="http://schemas.openxmlformats.org/markup-compatibility/2006">
              <mc:Choice xmlns:v="urn:schemas-microsoft-com:vml" Requires="v">
                <p:oleObj spid="_x0000_s3161" name="" r:id="rId5" imgW="736600" imgH="279400" progId="Equation.DSMT4">
                  <p:embed/>
                </p:oleObj>
              </mc:Choice>
              <mc:Fallback>
                <p:oleObj name="" r:id="rId5" imgW="736600" imgH="279400" progId="Equation.DSMT4">
                  <p:embed/>
                  <p:pic>
                    <p:nvPicPr>
                      <p:cNvPr id="0" name="图片 3160"/>
                      <p:cNvPicPr/>
                      <p:nvPr/>
                    </p:nvPicPr>
                    <p:blipFill>
                      <a:blip r:embed="rId6"/>
                      <a:stretch>
                        <a:fillRect/>
                      </a:stretch>
                    </p:blipFill>
                    <p:spPr>
                      <a:xfrm>
                        <a:off x="2286000" y="2971800"/>
                        <a:ext cx="1143000" cy="431800"/>
                      </a:xfrm>
                      <a:prstGeom prst="rect">
                        <a:avLst/>
                      </a:prstGeom>
                      <a:noFill/>
                      <a:ln w="38100">
                        <a:noFill/>
                        <a:miter/>
                      </a:ln>
                    </p:spPr>
                  </p:pic>
                </p:oleObj>
              </mc:Fallback>
            </mc:AlternateContent>
          </a:graphicData>
        </a:graphic>
      </p:graphicFrame>
      <p:sp>
        <p:nvSpPr>
          <p:cNvPr id="143366" name="Rectangle 7"/>
          <p:cNvSpPr/>
          <p:nvPr/>
        </p:nvSpPr>
        <p:spPr>
          <a:xfrm>
            <a:off x="6059488" y="4403725"/>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78888" name="Object 8"/>
          <p:cNvGraphicFramePr>
            <a:graphicFrameLocks noChangeAspect="1"/>
          </p:cNvGraphicFramePr>
          <p:nvPr/>
        </p:nvGraphicFramePr>
        <p:xfrm>
          <a:off x="2819400" y="3352800"/>
          <a:ext cx="3124200" cy="427038"/>
        </p:xfrm>
        <a:graphic>
          <a:graphicData uri="http://schemas.openxmlformats.org/presentationml/2006/ole">
            <mc:AlternateContent xmlns:mc="http://schemas.openxmlformats.org/markup-compatibility/2006">
              <mc:Choice xmlns:v="urn:schemas-microsoft-com:vml" Requires="v">
                <p:oleObj spid="_x0000_s3165" name="" r:id="rId7" imgW="1955165" imgH="266700" progId="Equation.DSMT4">
                  <p:embed/>
                </p:oleObj>
              </mc:Choice>
              <mc:Fallback>
                <p:oleObj name="" r:id="rId7" imgW="1955165" imgH="266700" progId="Equation.DSMT4">
                  <p:embed/>
                  <p:pic>
                    <p:nvPicPr>
                      <p:cNvPr id="0" name="图片 3164"/>
                      <p:cNvPicPr/>
                      <p:nvPr/>
                    </p:nvPicPr>
                    <p:blipFill>
                      <a:blip r:embed="rId8"/>
                      <a:stretch>
                        <a:fillRect/>
                      </a:stretch>
                    </p:blipFill>
                    <p:spPr>
                      <a:xfrm>
                        <a:off x="2819400" y="3352800"/>
                        <a:ext cx="3124200" cy="4270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78882">
                                            <p:txEl>
                                              <p:charRg st="0" end="31"/>
                                            </p:txEl>
                                          </p:spTgt>
                                        </p:tgtEl>
                                        <p:attrNameLst>
                                          <p:attrName>style.visibility</p:attrName>
                                        </p:attrNameLst>
                                      </p:cBhvr>
                                      <p:to>
                                        <p:strVal val="visible"/>
                                      </p:to>
                                    </p:set>
                                    <p:animEffect transition="in" filter="slide(fromBottom)">
                                      <p:cBhvr>
                                        <p:cTn id="7" dur="500"/>
                                        <p:tgtEl>
                                          <p:spTgt spid="378882">
                                            <p:txEl>
                                              <p:charRg st="0" end="3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378883"/>
                                        </p:tgtEl>
                                        <p:attrNameLst>
                                          <p:attrName>style.visibility</p:attrName>
                                        </p:attrNameLst>
                                      </p:cBhvr>
                                      <p:to>
                                        <p:strVal val="visible"/>
                                      </p:to>
                                    </p:set>
                                    <p:animEffect transition="in" filter="slide(fromBottom)">
                                      <p:cBhvr>
                                        <p:cTn id="10" dur="500"/>
                                        <p:tgtEl>
                                          <p:spTgt spid="378883"/>
                                        </p:tgtEl>
                                      </p:cBhvr>
                                    </p:animEffect>
                                  </p:childTnLst>
                                </p:cTn>
                              </p:par>
                              <p:par>
                                <p:cTn id="11" presetID="12" presetClass="entr" presetSubtype="4" fill="hold" nodeType="withEffect">
                                  <p:stCondLst>
                                    <p:cond delay="0"/>
                                  </p:stCondLst>
                                  <p:childTnLst>
                                    <p:set>
                                      <p:cBhvr>
                                        <p:cTn id="12" dur="1" fill="hold">
                                          <p:stCondLst>
                                            <p:cond delay="0"/>
                                          </p:stCondLst>
                                        </p:cTn>
                                        <p:tgtEl>
                                          <p:spTgt spid="378884"/>
                                        </p:tgtEl>
                                        <p:attrNameLst>
                                          <p:attrName>style.visibility</p:attrName>
                                        </p:attrNameLst>
                                      </p:cBhvr>
                                      <p:to>
                                        <p:strVal val="visible"/>
                                      </p:to>
                                    </p:set>
                                    <p:animEffect transition="in" filter="slide(fromBottom)">
                                      <p:cBhvr>
                                        <p:cTn id="13" dur="500"/>
                                        <p:tgtEl>
                                          <p:spTgt spid="378884"/>
                                        </p:tgtEl>
                                      </p:cBhvr>
                                    </p:animEffect>
                                  </p:childTnLst>
                                </p:cTn>
                              </p:par>
                              <p:par>
                                <p:cTn id="14" presetID="12" presetClass="entr" presetSubtype="4" fill="hold" nodeType="withEffect">
                                  <p:stCondLst>
                                    <p:cond delay="0"/>
                                  </p:stCondLst>
                                  <p:childTnLst>
                                    <p:set>
                                      <p:cBhvr>
                                        <p:cTn id="15" dur="1" fill="hold">
                                          <p:stCondLst>
                                            <p:cond delay="0"/>
                                          </p:stCondLst>
                                        </p:cTn>
                                        <p:tgtEl>
                                          <p:spTgt spid="378882">
                                            <p:txEl>
                                              <p:charRg st="33" end="110"/>
                                            </p:txEl>
                                          </p:spTgt>
                                        </p:tgtEl>
                                        <p:attrNameLst>
                                          <p:attrName>style.visibility</p:attrName>
                                        </p:attrNameLst>
                                      </p:cBhvr>
                                      <p:to>
                                        <p:strVal val="visible"/>
                                      </p:to>
                                    </p:set>
                                    <p:animEffect transition="in" filter="slide(fromBottom)">
                                      <p:cBhvr>
                                        <p:cTn id="16" dur="500"/>
                                        <p:tgtEl>
                                          <p:spTgt spid="378882">
                                            <p:txEl>
                                              <p:charRg st="33" end="110"/>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378886"/>
                                        </p:tgtEl>
                                        <p:attrNameLst>
                                          <p:attrName>style.visibility</p:attrName>
                                        </p:attrNameLst>
                                      </p:cBhvr>
                                      <p:to>
                                        <p:strVal val="visible"/>
                                      </p:to>
                                    </p:set>
                                    <p:animEffect transition="in" filter="slide(fromBottom)">
                                      <p:cBhvr>
                                        <p:cTn id="19" dur="500"/>
                                        <p:tgtEl>
                                          <p:spTgt spid="378886"/>
                                        </p:tgtEl>
                                      </p:cBhvr>
                                    </p:animEffect>
                                  </p:childTnLst>
                                </p:cTn>
                              </p:par>
                              <p:par>
                                <p:cTn id="20" presetID="12" presetClass="entr" presetSubtype="4" fill="hold" nodeType="withEffect">
                                  <p:stCondLst>
                                    <p:cond delay="0"/>
                                  </p:stCondLst>
                                  <p:childTnLst>
                                    <p:set>
                                      <p:cBhvr>
                                        <p:cTn id="21" dur="1" fill="hold">
                                          <p:stCondLst>
                                            <p:cond delay="0"/>
                                          </p:stCondLst>
                                        </p:cTn>
                                        <p:tgtEl>
                                          <p:spTgt spid="378888"/>
                                        </p:tgtEl>
                                        <p:attrNameLst>
                                          <p:attrName>style.visibility</p:attrName>
                                        </p:attrNameLst>
                                      </p:cBhvr>
                                      <p:to>
                                        <p:strVal val="visible"/>
                                      </p:to>
                                    </p:set>
                                    <p:animEffect transition="in" filter="slide(fromBottom)">
                                      <p:cBhvr>
                                        <p:cTn id="22" dur="500"/>
                                        <p:tgtEl>
                                          <p:spTgt spid="37888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378882">
                                            <p:txEl>
                                              <p:charRg st="110" end="126"/>
                                            </p:txEl>
                                          </p:spTgt>
                                        </p:tgtEl>
                                        <p:attrNameLst>
                                          <p:attrName>style.visibility</p:attrName>
                                        </p:attrNameLst>
                                      </p:cBhvr>
                                      <p:to>
                                        <p:strVal val="visible"/>
                                      </p:to>
                                    </p:set>
                                    <p:animEffect transition="in" filter="slide(fromBottom)">
                                      <p:cBhvr>
                                        <p:cTn id="27" dur="500"/>
                                        <p:tgtEl>
                                          <p:spTgt spid="378882">
                                            <p:txEl>
                                              <p:charRg st="110" end="126"/>
                                            </p:txEl>
                                          </p:spTgt>
                                        </p:tgtEl>
                                      </p:cBhvr>
                                    </p:animEffect>
                                  </p:childTnLst>
                                </p:cTn>
                              </p:par>
                              <p:par>
                                <p:cTn id="28" presetID="12" presetClass="entr" presetSubtype="4" fill="hold" nodeType="withEffect">
                                  <p:stCondLst>
                                    <p:cond delay="0"/>
                                  </p:stCondLst>
                                  <p:childTnLst>
                                    <p:set>
                                      <p:cBhvr>
                                        <p:cTn id="29" dur="1" fill="hold">
                                          <p:stCondLst>
                                            <p:cond delay="0"/>
                                          </p:stCondLst>
                                        </p:cTn>
                                        <p:tgtEl>
                                          <p:spTgt spid="378882">
                                            <p:txEl>
                                              <p:charRg st="126" end="184"/>
                                            </p:txEl>
                                          </p:spTgt>
                                        </p:tgtEl>
                                        <p:attrNameLst>
                                          <p:attrName>style.visibility</p:attrName>
                                        </p:attrNameLst>
                                      </p:cBhvr>
                                      <p:to>
                                        <p:strVal val="visible"/>
                                      </p:to>
                                    </p:set>
                                    <p:animEffect transition="in" filter="slide(fromBottom)">
                                      <p:cBhvr>
                                        <p:cTn id="30" dur="500"/>
                                        <p:tgtEl>
                                          <p:spTgt spid="378882">
                                            <p:txEl>
                                              <p:charRg st="126" end="184"/>
                                            </p:txEl>
                                          </p:spTgt>
                                        </p:tgtEl>
                                      </p:cBhvr>
                                    </p:animEffect>
                                  </p:childTnLst>
                                </p:cTn>
                              </p:par>
                              <p:par>
                                <p:cTn id="31" presetID="12" presetClass="entr" presetSubtype="4" fill="hold" nodeType="withEffect">
                                  <p:stCondLst>
                                    <p:cond delay="0"/>
                                  </p:stCondLst>
                                  <p:childTnLst>
                                    <p:set>
                                      <p:cBhvr>
                                        <p:cTn id="32" dur="1" fill="hold">
                                          <p:stCondLst>
                                            <p:cond delay="0"/>
                                          </p:stCondLst>
                                        </p:cTn>
                                        <p:tgtEl>
                                          <p:spTgt spid="378882">
                                            <p:txEl>
                                              <p:charRg st="126" end="184"/>
                                            </p:txEl>
                                          </p:spTgt>
                                        </p:tgtEl>
                                        <p:attrNameLst>
                                          <p:attrName>style.visibility</p:attrName>
                                        </p:attrNameLst>
                                      </p:cBhvr>
                                      <p:to>
                                        <p:strVal val="visible"/>
                                      </p:to>
                                    </p:set>
                                    <p:animEffect transition="in" filter="slide(fromBottom)">
                                      <p:cBhvr>
                                        <p:cTn id="33" dur="500"/>
                                        <p:tgtEl>
                                          <p:spTgt spid="378882">
                                            <p:txEl>
                                              <p:charRg st="126" end="1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79906" name="Object 2"/>
          <p:cNvGraphicFramePr>
            <a:graphicFrameLocks noGrp="1" noChangeAspect="1"/>
          </p:cNvGraphicFramePr>
          <p:nvPr>
            <p:ph idx="1"/>
          </p:nvPr>
        </p:nvGraphicFramePr>
        <p:xfrm>
          <a:off x="1530350" y="1968500"/>
          <a:ext cx="6059488" cy="3670300"/>
        </p:xfrm>
        <a:graphic>
          <a:graphicData uri="http://schemas.openxmlformats.org/presentationml/2006/ole">
            <mc:AlternateContent xmlns:mc="http://schemas.openxmlformats.org/markup-compatibility/2006">
              <mc:Choice xmlns:v="urn:schemas-microsoft-com:vml" Requires="v">
                <p:oleObj spid="_x0000_s3162" name="" r:id="rId1" imgW="5303520" imgH="2830195" progId="Word.Document.8">
                  <p:embed/>
                </p:oleObj>
              </mc:Choice>
              <mc:Fallback>
                <p:oleObj name="" r:id="rId1" imgW="5303520" imgH="2830195" progId="Word.Document.8">
                  <p:embed/>
                  <p:pic>
                    <p:nvPicPr>
                      <p:cNvPr id="0" name="图片 3161"/>
                      <p:cNvPicPr/>
                      <p:nvPr/>
                    </p:nvPicPr>
                    <p:blipFill>
                      <a:blip r:embed="rId2"/>
                      <a:stretch>
                        <a:fillRect/>
                      </a:stretch>
                    </p:blipFill>
                    <p:spPr>
                      <a:xfrm>
                        <a:off x="1530350" y="1968500"/>
                        <a:ext cx="6059488" cy="3670300"/>
                      </a:xfrm>
                      <a:prstGeom prst="rect">
                        <a:avLst/>
                      </a:prstGeom>
                      <a:noFill/>
                      <a:ln w="38100">
                        <a:miter/>
                      </a:ln>
                    </p:spPr>
                  </p:pic>
                </p:oleObj>
              </mc:Fallback>
            </mc:AlternateContent>
          </a:graphicData>
        </a:graphic>
      </p:graphicFrame>
      <p:sp>
        <p:nvSpPr>
          <p:cNvPr id="379907" name="Rectangle 3"/>
          <p:cNvSpPr/>
          <p:nvPr/>
        </p:nvSpPr>
        <p:spPr>
          <a:xfrm>
            <a:off x="2057400" y="5486400"/>
            <a:ext cx="4598988" cy="396875"/>
          </a:xfrm>
          <a:prstGeom prst="rect">
            <a:avLst/>
          </a:prstGeom>
          <a:noFill/>
          <a:ln w="9525">
            <a:noFill/>
          </a:ln>
        </p:spPr>
        <p:txBody>
          <a:bodyPr wrap="none" anchor="ctr">
            <a:spAutoFit/>
          </a:bodyPr>
          <a:p>
            <a:r>
              <a:rPr lang="zh-CN" altLang="en-US" sz="2000" b="1">
                <a:solidFill>
                  <a:srgbClr val="692AA2"/>
                </a:solidFill>
                <a:latin typeface="仿宋_GB2312" pitchFamily="49" charset="-122"/>
                <a:ea typeface="仿宋_GB2312" pitchFamily="49" charset="-122"/>
              </a:rPr>
              <a:t>表</a:t>
            </a:r>
            <a:r>
              <a:rPr lang="en-US" altLang="zh-CN" sz="2000" b="1">
                <a:solidFill>
                  <a:srgbClr val="692AA2"/>
                </a:solidFill>
                <a:latin typeface="仿宋_GB2312" pitchFamily="49" charset="-122"/>
                <a:ea typeface="仿宋_GB2312" pitchFamily="49" charset="-122"/>
              </a:rPr>
              <a:t>7.2 2006</a:t>
            </a:r>
            <a:r>
              <a:rPr lang="zh-CN" altLang="en-US" sz="2000" b="1">
                <a:solidFill>
                  <a:srgbClr val="692AA2"/>
                </a:solidFill>
                <a:latin typeface="仿宋_GB2312" pitchFamily="49" charset="-122"/>
                <a:ea typeface="仿宋_GB2312" pitchFamily="49" charset="-122"/>
              </a:rPr>
              <a:t>年每个书号的销售量预测值</a:t>
            </a:r>
            <a:r>
              <a:rPr lang="zh-CN" altLang="en-US">
                <a:latin typeface="Arial" panose="020B0604020202020204" pitchFamily="34"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sp>
        <p:nvSpPr>
          <p:cNvPr id="379908" name="Rectangle 4"/>
          <p:cNvSpPr/>
          <p:nvPr/>
        </p:nvSpPr>
        <p:spPr>
          <a:xfrm>
            <a:off x="838200" y="1371600"/>
            <a:ext cx="7600950" cy="396875"/>
          </a:xfrm>
          <a:prstGeom prst="rect">
            <a:avLst/>
          </a:prstGeom>
          <a:noFill/>
          <a:ln w="9525">
            <a:noFill/>
          </a:ln>
        </p:spPr>
        <p:txBody>
          <a:bodyPr wrap="none" anchor="ctr">
            <a:spAutoFit/>
          </a:bodyPr>
          <a:p>
            <a:r>
              <a:rPr lang="zh-CN" altLang="en-US" sz="2000" b="1">
                <a:solidFill>
                  <a:srgbClr val="692AA2"/>
                </a:solidFill>
                <a:latin typeface="仿宋_GB2312" pitchFamily="49" charset="-122"/>
                <a:ea typeface="仿宋_GB2312" pitchFamily="49" charset="-122"/>
              </a:rPr>
              <a:t>如抽取计算机类</a:t>
            </a:r>
            <a:r>
              <a:rPr lang="en-US" altLang="zh-CN" sz="2000" b="1">
                <a:solidFill>
                  <a:srgbClr val="692AA2"/>
                </a:solidFill>
                <a:latin typeface="仿宋_GB2312" pitchFamily="49" charset="-122"/>
                <a:ea typeface="仿宋_GB2312" pitchFamily="49" charset="-122"/>
              </a:rPr>
              <a:t>10</a:t>
            </a:r>
            <a:r>
              <a:rPr lang="zh-CN" altLang="en-US" sz="2000" b="1">
                <a:solidFill>
                  <a:srgbClr val="692AA2"/>
                </a:solidFill>
                <a:latin typeface="仿宋_GB2312" pitchFamily="49" charset="-122"/>
                <a:ea typeface="仿宋_GB2312" pitchFamily="49" charset="-122"/>
              </a:rPr>
              <a:t>门课程，</a:t>
            </a:r>
            <a:r>
              <a:rPr lang="en-US" altLang="zh-CN" sz="2000" b="1">
                <a:solidFill>
                  <a:srgbClr val="692AA2"/>
                </a:solidFill>
                <a:latin typeface="仿宋_GB2312" pitchFamily="49" charset="-122"/>
                <a:ea typeface="仿宋_GB2312" pitchFamily="49" charset="-122"/>
              </a:rPr>
              <a:t>2006</a:t>
            </a:r>
            <a:r>
              <a:rPr lang="zh-CN" altLang="en-US" sz="2000" b="1">
                <a:solidFill>
                  <a:srgbClr val="692AA2"/>
                </a:solidFill>
                <a:latin typeface="仿宋_GB2312" pitchFamily="49" charset="-122"/>
                <a:ea typeface="仿宋_GB2312" pitchFamily="49" charset="-122"/>
              </a:rPr>
              <a:t>年每个书号的销售量预测值依次为</a:t>
            </a:r>
            <a:endParaRPr lang="zh-CN" altLang="en-US"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79908"/>
                                        </p:tgtEl>
                                        <p:attrNameLst>
                                          <p:attrName>style.visibility</p:attrName>
                                        </p:attrNameLst>
                                      </p:cBhvr>
                                      <p:to>
                                        <p:strVal val="visible"/>
                                      </p:to>
                                    </p:set>
                                    <p:animEffect transition="in" filter="checkerboard(across)">
                                      <p:cBhvr>
                                        <p:cTn id="7" dur="500"/>
                                        <p:tgtEl>
                                          <p:spTgt spid="379908"/>
                                        </p:tgtEl>
                                      </p:cBhvr>
                                    </p:animEffect>
                                  </p:childTnLst>
                                </p:cTn>
                              </p:par>
                              <p:par>
                                <p:cTn id="8" presetID="5" presetClass="entr" presetSubtype="10" fill="hold" nodeType="withEffect">
                                  <p:stCondLst>
                                    <p:cond delay="0"/>
                                  </p:stCondLst>
                                  <p:childTnLst>
                                    <p:set>
                                      <p:cBhvr>
                                        <p:cTn id="9" dur="1" fill="hold">
                                          <p:stCondLst>
                                            <p:cond delay="0"/>
                                          </p:stCondLst>
                                        </p:cTn>
                                        <p:tgtEl>
                                          <p:spTgt spid="379906"/>
                                        </p:tgtEl>
                                        <p:attrNameLst>
                                          <p:attrName>style.visibility</p:attrName>
                                        </p:attrNameLst>
                                      </p:cBhvr>
                                      <p:to>
                                        <p:strVal val="visible"/>
                                      </p:to>
                                    </p:set>
                                    <p:animEffect transition="in" filter="checkerboard(across)">
                                      <p:cBhvr>
                                        <p:cTn id="10" dur="500"/>
                                        <p:tgtEl>
                                          <p:spTgt spid="37990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79907"/>
                                        </p:tgtEl>
                                        <p:attrNameLst>
                                          <p:attrName>style.visibility</p:attrName>
                                        </p:attrNameLst>
                                      </p:cBhvr>
                                      <p:to>
                                        <p:strVal val="visible"/>
                                      </p:to>
                                    </p:set>
                                    <p:animEffect transition="in" filter="checkerboard(across)">
                                      <p:cBhvr>
                                        <p:cTn id="13" dur="500"/>
                                        <p:tgtEl>
                                          <p:spTgt spid="379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7" grpId="0"/>
      <p:bldP spid="379908"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0930" name="Rectangle 2"/>
          <p:cNvSpPr>
            <a:spLocks noGrp="1"/>
          </p:cNvSpPr>
          <p:nvPr>
            <p:ph idx="1"/>
          </p:nvPr>
        </p:nvSpPr>
        <p:spPr>
          <a:xfrm>
            <a:off x="457200" y="1371600"/>
            <a:ext cx="8229600" cy="4495800"/>
          </a:xfrm>
          <a:ln/>
        </p:spPr>
        <p:txBody>
          <a:bodyPr vert="horz" wrap="square" lIns="91440" tIns="45720" rIns="91440" bIns="45720" anchor="t"/>
          <a:p>
            <a:pPr eaLnBrk="1" hangingPunct="1">
              <a:lnSpc>
                <a:spcPct val="120000"/>
              </a:lnSpc>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4</a:t>
            </a:r>
            <a:r>
              <a:rPr lang="zh-CN" altLang="en-US" sz="2400" b="1">
                <a:solidFill>
                  <a:srgbClr val="692AA2"/>
                </a:solidFill>
                <a:latin typeface="仿宋_GB2312" pitchFamily="49" charset="-122"/>
                <a:ea typeface="仿宋_GB2312" pitchFamily="49" charset="-122"/>
              </a:rPr>
              <a:t>）模型的检验</a:t>
            </a:r>
            <a:r>
              <a:rPr lang="en-US" altLang="zh-CN"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残差分析</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Step 1</a:t>
            </a:r>
            <a:r>
              <a:rPr lang="zh-CN" altLang="en-US" sz="2400" b="1">
                <a:solidFill>
                  <a:srgbClr val="692AA2"/>
                </a:solidFill>
                <a:latin typeface="仿宋_GB2312" pitchFamily="49" charset="-122"/>
                <a:ea typeface="仿宋_GB2312" pitchFamily="49" charset="-122"/>
              </a:rPr>
              <a:t>：生成数列误差（残差）检验：</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为销售量已知的年份销售量预测值，故不含</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          。 </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Step 2</a:t>
            </a:r>
            <a:r>
              <a:rPr lang="zh-CN" altLang="en-US" sz="2400" b="1">
                <a:solidFill>
                  <a:srgbClr val="692AA2"/>
                </a:solidFill>
                <a:latin typeface="仿宋_GB2312" pitchFamily="49" charset="-122"/>
                <a:ea typeface="仿宋_GB2312" pitchFamily="49" charset="-122"/>
              </a:rPr>
              <a:t>：还原数列检验：</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根据                       ，还原得到第</a:t>
            </a:r>
            <a:r>
              <a:rPr lang="en-US" altLang="zh-CN" sz="2400" b="1">
                <a:solidFill>
                  <a:srgbClr val="692AA2"/>
                </a:solidFill>
                <a:latin typeface="仿宋_GB2312" pitchFamily="49" charset="-122"/>
                <a:ea typeface="仿宋_GB2312" pitchFamily="49" charset="-122"/>
              </a:rPr>
              <a:t>k</a:t>
            </a:r>
            <a:r>
              <a:rPr lang="zh-CN" altLang="en-US" sz="2400" b="1">
                <a:solidFill>
                  <a:srgbClr val="692AA2"/>
                </a:solidFill>
                <a:latin typeface="仿宋_GB2312" pitchFamily="49" charset="-122"/>
                <a:ea typeface="仿宋_GB2312" pitchFamily="49" charset="-122"/>
              </a:rPr>
              <a:t>年每个书号的销售量与实际值      的相对误差即为残差， </a:t>
            </a:r>
            <a:endParaRPr lang="zh-CN" altLang="en-US" sz="2400" b="1">
              <a:solidFill>
                <a:srgbClr val="692AA2"/>
              </a:solidFill>
              <a:latin typeface="仿宋_GB2312" pitchFamily="49" charset="-122"/>
              <a:ea typeface="仿宋_GB2312" pitchFamily="49" charset="-122"/>
            </a:endParaRPr>
          </a:p>
        </p:txBody>
      </p:sp>
      <p:sp>
        <p:nvSpPr>
          <p:cNvPr id="145410" name="Rectangle 3"/>
          <p:cNvSpPr/>
          <p:nvPr/>
        </p:nvSpPr>
        <p:spPr>
          <a:xfrm>
            <a:off x="3657600" y="30797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80932" name="Object 4"/>
          <p:cNvGraphicFramePr>
            <a:graphicFrameLocks noChangeAspect="1"/>
          </p:cNvGraphicFramePr>
          <p:nvPr/>
        </p:nvGraphicFramePr>
        <p:xfrm>
          <a:off x="2438400" y="2438400"/>
          <a:ext cx="4114800" cy="779463"/>
        </p:xfrm>
        <a:graphic>
          <a:graphicData uri="http://schemas.openxmlformats.org/presentationml/2006/ole">
            <mc:AlternateContent xmlns:mc="http://schemas.openxmlformats.org/markup-compatibility/2006">
              <mc:Choice xmlns:v="urn:schemas-microsoft-com:vml" Requires="v">
                <p:oleObj spid="_x0000_s3168" name="" r:id="rId1" imgW="2438400" imgH="495300" progId="Equation.DSMT4">
                  <p:embed/>
                </p:oleObj>
              </mc:Choice>
              <mc:Fallback>
                <p:oleObj name="" r:id="rId1" imgW="2438400" imgH="495300" progId="Equation.DSMT4">
                  <p:embed/>
                  <p:pic>
                    <p:nvPicPr>
                      <p:cNvPr id="0" name="图片 3167"/>
                      <p:cNvPicPr/>
                      <p:nvPr/>
                    </p:nvPicPr>
                    <p:blipFill>
                      <a:blip r:embed="rId2"/>
                      <a:stretch>
                        <a:fillRect/>
                      </a:stretch>
                    </p:blipFill>
                    <p:spPr>
                      <a:xfrm>
                        <a:off x="2438400" y="2438400"/>
                        <a:ext cx="4114800" cy="779463"/>
                      </a:xfrm>
                      <a:prstGeom prst="rect">
                        <a:avLst/>
                      </a:prstGeom>
                      <a:noFill/>
                      <a:ln w="38100">
                        <a:noFill/>
                        <a:miter/>
                      </a:ln>
                    </p:spPr>
                  </p:pic>
                </p:oleObj>
              </mc:Fallback>
            </mc:AlternateContent>
          </a:graphicData>
        </a:graphic>
      </p:graphicFrame>
      <p:graphicFrame>
        <p:nvGraphicFramePr>
          <p:cNvPr id="380933" name="Object 5"/>
          <p:cNvGraphicFramePr>
            <a:graphicFrameLocks noChangeAspect="1"/>
          </p:cNvGraphicFramePr>
          <p:nvPr/>
        </p:nvGraphicFramePr>
        <p:xfrm>
          <a:off x="1447800" y="3810000"/>
          <a:ext cx="1676400" cy="414338"/>
        </p:xfrm>
        <a:graphic>
          <a:graphicData uri="http://schemas.openxmlformats.org/presentationml/2006/ole">
            <mc:AlternateContent xmlns:mc="http://schemas.openxmlformats.org/markup-compatibility/2006">
              <mc:Choice xmlns:v="urn:schemas-microsoft-com:vml" Requires="v">
                <p:oleObj spid="_x0000_s3170" name="" r:id="rId3" imgW="812165" imgH="203200" progId="Equation.DSMT4">
                  <p:embed/>
                </p:oleObj>
              </mc:Choice>
              <mc:Fallback>
                <p:oleObj name="" r:id="rId3" imgW="812165" imgH="203200" progId="Equation.DSMT4">
                  <p:embed/>
                  <p:pic>
                    <p:nvPicPr>
                      <p:cNvPr id="0" name="图片 3169"/>
                      <p:cNvPicPr/>
                      <p:nvPr/>
                    </p:nvPicPr>
                    <p:blipFill>
                      <a:blip r:embed="rId4"/>
                      <a:stretch>
                        <a:fillRect/>
                      </a:stretch>
                    </p:blipFill>
                    <p:spPr>
                      <a:xfrm>
                        <a:off x="1447800" y="3810000"/>
                        <a:ext cx="1676400" cy="414338"/>
                      </a:xfrm>
                      <a:prstGeom prst="rect">
                        <a:avLst/>
                      </a:prstGeom>
                      <a:noFill/>
                      <a:ln w="38100">
                        <a:noFill/>
                        <a:miter/>
                      </a:ln>
                    </p:spPr>
                  </p:pic>
                </p:oleObj>
              </mc:Fallback>
            </mc:AlternateContent>
          </a:graphicData>
        </a:graphic>
      </p:graphicFrame>
      <p:graphicFrame>
        <p:nvGraphicFramePr>
          <p:cNvPr id="380934" name="Object 6"/>
          <p:cNvGraphicFramePr>
            <a:graphicFrameLocks noChangeAspect="1"/>
          </p:cNvGraphicFramePr>
          <p:nvPr/>
        </p:nvGraphicFramePr>
        <p:xfrm>
          <a:off x="2209800" y="4724400"/>
          <a:ext cx="3429000" cy="466725"/>
        </p:xfrm>
        <a:graphic>
          <a:graphicData uri="http://schemas.openxmlformats.org/presentationml/2006/ole">
            <mc:AlternateContent xmlns:mc="http://schemas.openxmlformats.org/markup-compatibility/2006">
              <mc:Choice xmlns:v="urn:schemas-microsoft-com:vml" Requires="v">
                <p:oleObj spid="_x0000_s3158" name="" r:id="rId5" imgW="1955165" imgH="266700" progId="Equation.DSMT4">
                  <p:embed/>
                </p:oleObj>
              </mc:Choice>
              <mc:Fallback>
                <p:oleObj name="" r:id="rId5" imgW="1955165" imgH="266700" progId="Equation.DSMT4">
                  <p:embed/>
                  <p:pic>
                    <p:nvPicPr>
                      <p:cNvPr id="0" name="图片 3157"/>
                      <p:cNvPicPr/>
                      <p:nvPr/>
                    </p:nvPicPr>
                    <p:blipFill>
                      <a:blip r:embed="rId6"/>
                      <a:stretch>
                        <a:fillRect/>
                      </a:stretch>
                    </p:blipFill>
                    <p:spPr>
                      <a:xfrm>
                        <a:off x="2209800" y="4724400"/>
                        <a:ext cx="3429000" cy="466725"/>
                      </a:xfrm>
                      <a:prstGeom prst="rect">
                        <a:avLst/>
                      </a:prstGeom>
                      <a:noFill/>
                      <a:ln w="38100">
                        <a:noFill/>
                        <a:miter/>
                      </a:ln>
                    </p:spPr>
                  </p:pic>
                </p:oleObj>
              </mc:Fallback>
            </mc:AlternateContent>
          </a:graphicData>
        </a:graphic>
      </p:graphicFrame>
      <p:sp>
        <p:nvSpPr>
          <p:cNvPr id="145414" name="Rectangle 7"/>
          <p:cNvSpPr/>
          <p:nvPr/>
        </p:nvSpPr>
        <p:spPr>
          <a:xfrm>
            <a:off x="5053013" y="55102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80936" name="Object 8"/>
          <p:cNvGraphicFramePr>
            <a:graphicFrameLocks noChangeAspect="1"/>
          </p:cNvGraphicFramePr>
          <p:nvPr/>
        </p:nvGraphicFramePr>
        <p:xfrm>
          <a:off x="4114800" y="5181600"/>
          <a:ext cx="757238" cy="400050"/>
        </p:xfrm>
        <a:graphic>
          <a:graphicData uri="http://schemas.openxmlformats.org/presentationml/2006/ole">
            <mc:AlternateContent xmlns:mc="http://schemas.openxmlformats.org/markup-compatibility/2006">
              <mc:Choice xmlns:v="urn:schemas-microsoft-com:vml" Requires="v">
                <p:oleObj spid="_x0000_s3180" name="" r:id="rId7" imgW="508000" imgH="266700" progId="Equation.DSMT4">
                  <p:embed/>
                </p:oleObj>
              </mc:Choice>
              <mc:Fallback>
                <p:oleObj name="" r:id="rId7" imgW="508000" imgH="266700" progId="Equation.DSMT4">
                  <p:embed/>
                  <p:pic>
                    <p:nvPicPr>
                      <p:cNvPr id="0" name="图片 3179"/>
                      <p:cNvPicPr/>
                      <p:nvPr/>
                    </p:nvPicPr>
                    <p:blipFill>
                      <a:blip r:embed="rId8"/>
                      <a:stretch>
                        <a:fillRect/>
                      </a:stretch>
                    </p:blipFill>
                    <p:spPr>
                      <a:xfrm>
                        <a:off x="4114800" y="5181600"/>
                        <a:ext cx="757238" cy="4000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0930">
                                            <p:txEl>
                                              <p:charRg st="0" end="20"/>
                                            </p:txEl>
                                          </p:spTgt>
                                        </p:tgtEl>
                                        <p:attrNameLst>
                                          <p:attrName>style.visibility</p:attrName>
                                        </p:attrNameLst>
                                      </p:cBhvr>
                                      <p:to>
                                        <p:strVal val="visible"/>
                                      </p:to>
                                    </p:set>
                                    <p:animEffect transition="in" filter="blinds(horizontal)">
                                      <p:cBhvr>
                                        <p:cTn id="7" dur="500"/>
                                        <p:tgtEl>
                                          <p:spTgt spid="380930">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0930">
                                            <p:txEl>
                                              <p:charRg st="20" end="47"/>
                                            </p:txEl>
                                          </p:spTgt>
                                        </p:tgtEl>
                                        <p:attrNameLst>
                                          <p:attrName>style.visibility</p:attrName>
                                        </p:attrNameLst>
                                      </p:cBhvr>
                                      <p:to>
                                        <p:strVal val="visible"/>
                                      </p:to>
                                    </p:set>
                                    <p:animEffect transition="in" filter="blinds(horizontal)">
                                      <p:cBhvr>
                                        <p:cTn id="12" dur="500"/>
                                        <p:tgtEl>
                                          <p:spTgt spid="380930">
                                            <p:txEl>
                                              <p:charRg st="20" end="47"/>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80932"/>
                                        </p:tgtEl>
                                        <p:attrNameLst>
                                          <p:attrName>style.visibility</p:attrName>
                                        </p:attrNameLst>
                                      </p:cBhvr>
                                      <p:to>
                                        <p:strVal val="visible"/>
                                      </p:to>
                                    </p:set>
                                    <p:animEffect transition="in" filter="blinds(horizontal)">
                                      <p:cBhvr>
                                        <p:cTn id="15" dur="500"/>
                                        <p:tgtEl>
                                          <p:spTgt spid="380932"/>
                                        </p:tgtEl>
                                      </p:cBhvr>
                                    </p:animEffect>
                                  </p:childTnLst>
                                </p:cTn>
                              </p:par>
                              <p:par>
                                <p:cTn id="16" presetID="3" presetClass="entr" presetSubtype="10" fill="hold" nodeType="withEffect">
                                  <p:stCondLst>
                                    <p:cond delay="0"/>
                                  </p:stCondLst>
                                  <p:childTnLst>
                                    <p:set>
                                      <p:cBhvr>
                                        <p:cTn id="17" dur="1" fill="hold">
                                          <p:stCondLst>
                                            <p:cond delay="0"/>
                                          </p:stCondLst>
                                        </p:cTn>
                                        <p:tgtEl>
                                          <p:spTgt spid="380930">
                                            <p:txEl>
                                              <p:charRg st="49" end="93"/>
                                            </p:txEl>
                                          </p:spTgt>
                                        </p:tgtEl>
                                        <p:attrNameLst>
                                          <p:attrName>style.visibility</p:attrName>
                                        </p:attrNameLst>
                                      </p:cBhvr>
                                      <p:to>
                                        <p:strVal val="visible"/>
                                      </p:to>
                                    </p:set>
                                    <p:animEffect transition="in" filter="blinds(horizontal)">
                                      <p:cBhvr>
                                        <p:cTn id="18" dur="500"/>
                                        <p:tgtEl>
                                          <p:spTgt spid="380930">
                                            <p:txEl>
                                              <p:charRg st="49" end="9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80933"/>
                                        </p:tgtEl>
                                        <p:attrNameLst>
                                          <p:attrName>style.visibility</p:attrName>
                                        </p:attrNameLst>
                                      </p:cBhvr>
                                      <p:to>
                                        <p:strVal val="visible"/>
                                      </p:to>
                                    </p:set>
                                    <p:animEffect transition="in" filter="blinds(horizontal)">
                                      <p:cBhvr>
                                        <p:cTn id="21" dur="500"/>
                                        <p:tgtEl>
                                          <p:spTgt spid="38093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80930">
                                            <p:txEl>
                                              <p:charRg st="93" end="114"/>
                                            </p:txEl>
                                          </p:spTgt>
                                        </p:tgtEl>
                                        <p:attrNameLst>
                                          <p:attrName>style.visibility</p:attrName>
                                        </p:attrNameLst>
                                      </p:cBhvr>
                                      <p:to>
                                        <p:strVal val="visible"/>
                                      </p:to>
                                    </p:set>
                                    <p:animEffect transition="in" filter="blinds(horizontal)">
                                      <p:cBhvr>
                                        <p:cTn id="26" dur="500"/>
                                        <p:tgtEl>
                                          <p:spTgt spid="380930">
                                            <p:txEl>
                                              <p:charRg st="93" end="114"/>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80930">
                                            <p:txEl>
                                              <p:charRg st="114" end="183"/>
                                            </p:txEl>
                                          </p:spTgt>
                                        </p:tgtEl>
                                        <p:attrNameLst>
                                          <p:attrName>style.visibility</p:attrName>
                                        </p:attrNameLst>
                                      </p:cBhvr>
                                      <p:to>
                                        <p:strVal val="visible"/>
                                      </p:to>
                                    </p:set>
                                    <p:animEffect transition="in" filter="blinds(horizontal)">
                                      <p:cBhvr>
                                        <p:cTn id="29" dur="500"/>
                                        <p:tgtEl>
                                          <p:spTgt spid="380930">
                                            <p:txEl>
                                              <p:charRg st="114" end="183"/>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380934"/>
                                        </p:tgtEl>
                                        <p:attrNameLst>
                                          <p:attrName>style.visibility</p:attrName>
                                        </p:attrNameLst>
                                      </p:cBhvr>
                                      <p:to>
                                        <p:strVal val="visible"/>
                                      </p:to>
                                    </p:set>
                                    <p:animEffect transition="in" filter="blinds(horizontal)">
                                      <p:cBhvr>
                                        <p:cTn id="32" dur="500"/>
                                        <p:tgtEl>
                                          <p:spTgt spid="380934"/>
                                        </p:tgtEl>
                                      </p:cBhvr>
                                    </p:animEffect>
                                  </p:childTnLst>
                                </p:cTn>
                              </p:par>
                              <p:par>
                                <p:cTn id="33" presetID="3" presetClass="entr" presetSubtype="10" fill="hold" nodeType="withEffect">
                                  <p:stCondLst>
                                    <p:cond delay="0"/>
                                  </p:stCondLst>
                                  <p:childTnLst>
                                    <p:set>
                                      <p:cBhvr>
                                        <p:cTn id="34" dur="1" fill="hold">
                                          <p:stCondLst>
                                            <p:cond delay="0"/>
                                          </p:stCondLst>
                                        </p:cTn>
                                        <p:tgtEl>
                                          <p:spTgt spid="380936"/>
                                        </p:tgtEl>
                                        <p:attrNameLst>
                                          <p:attrName>style.visibility</p:attrName>
                                        </p:attrNameLst>
                                      </p:cBhvr>
                                      <p:to>
                                        <p:strVal val="visible"/>
                                      </p:to>
                                    </p:set>
                                    <p:animEffect transition="in" filter="blinds(horizontal)">
                                      <p:cBhvr>
                                        <p:cTn id="35" dur="500"/>
                                        <p:tgtEl>
                                          <p:spTgt spid="380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81954" name="Object 2"/>
          <p:cNvGraphicFramePr>
            <a:graphicFrameLocks noGrp="1" noChangeAspect="1"/>
          </p:cNvGraphicFramePr>
          <p:nvPr>
            <p:ph idx="1"/>
          </p:nvPr>
        </p:nvGraphicFramePr>
        <p:xfrm>
          <a:off x="1600200" y="1744663"/>
          <a:ext cx="5775325" cy="3019425"/>
        </p:xfrm>
        <a:graphic>
          <a:graphicData uri="http://schemas.openxmlformats.org/presentationml/2006/ole">
            <mc:AlternateContent xmlns:mc="http://schemas.openxmlformats.org/markup-compatibility/2006">
              <mc:Choice xmlns:v="urn:schemas-microsoft-com:vml" Requires="v">
                <p:oleObj spid="_x0000_s3175" name="" r:id="rId1" imgW="5303520" imgH="2774950" progId="Word.Document.8">
                  <p:embed/>
                </p:oleObj>
              </mc:Choice>
              <mc:Fallback>
                <p:oleObj name="" r:id="rId1" imgW="5303520" imgH="2774950" progId="Word.Document.8">
                  <p:embed/>
                  <p:pic>
                    <p:nvPicPr>
                      <p:cNvPr id="0" name="图片 3174"/>
                      <p:cNvPicPr/>
                      <p:nvPr/>
                    </p:nvPicPr>
                    <p:blipFill>
                      <a:blip r:embed="rId2"/>
                      <a:stretch>
                        <a:fillRect/>
                      </a:stretch>
                    </p:blipFill>
                    <p:spPr>
                      <a:xfrm>
                        <a:off x="1600200" y="1744663"/>
                        <a:ext cx="5775325" cy="3019425"/>
                      </a:xfrm>
                      <a:prstGeom prst="rect">
                        <a:avLst/>
                      </a:prstGeom>
                      <a:noFill/>
                      <a:ln w="38100">
                        <a:miter/>
                      </a:ln>
                    </p:spPr>
                  </p:pic>
                </p:oleObj>
              </mc:Fallback>
            </mc:AlternateContent>
          </a:graphicData>
        </a:graphic>
      </p:graphicFrame>
      <p:sp>
        <p:nvSpPr>
          <p:cNvPr id="381955" name="Rectangle 3"/>
          <p:cNvSpPr/>
          <p:nvPr/>
        </p:nvSpPr>
        <p:spPr>
          <a:xfrm>
            <a:off x="2057400" y="1295400"/>
            <a:ext cx="5638800" cy="366713"/>
          </a:xfrm>
          <a:prstGeom prst="rect">
            <a:avLst/>
          </a:prstGeom>
          <a:noFill/>
          <a:ln w="9525">
            <a:noFill/>
          </a:ln>
        </p:spPr>
        <p:txBody>
          <a:bodyPr anchor="ctr">
            <a:spAutoFit/>
          </a:bodyPr>
          <a:p>
            <a:r>
              <a:rPr lang="zh-CN" altLang="en-US" b="1">
                <a:solidFill>
                  <a:srgbClr val="692AA2"/>
                </a:solidFill>
                <a:latin typeface="仿宋_GB2312" pitchFamily="49" charset="-122"/>
                <a:ea typeface="仿宋_GB2312" pitchFamily="49" charset="-122"/>
              </a:rPr>
              <a:t>如计算机类中</a:t>
            </a:r>
            <a:r>
              <a:rPr lang="en-US" altLang="zh-CN" b="1">
                <a:solidFill>
                  <a:srgbClr val="692AA2"/>
                </a:solidFill>
                <a:latin typeface="仿宋_GB2312" pitchFamily="49" charset="-122"/>
                <a:ea typeface="仿宋_GB2312" pitchFamily="49" charset="-122"/>
              </a:rPr>
              <a:t>10</a:t>
            </a:r>
            <a:r>
              <a:rPr lang="zh-CN" altLang="en-US" b="1">
                <a:solidFill>
                  <a:srgbClr val="692AA2"/>
                </a:solidFill>
                <a:latin typeface="仿宋_GB2312" pitchFamily="49" charset="-122"/>
                <a:ea typeface="仿宋_GB2312" pitchFamily="49" charset="-122"/>
              </a:rPr>
              <a:t>门课程</a:t>
            </a:r>
            <a:r>
              <a:rPr lang="en-US" altLang="zh-CN" b="1">
                <a:solidFill>
                  <a:srgbClr val="692AA2"/>
                </a:solidFill>
                <a:latin typeface="仿宋_GB2312" pitchFamily="49" charset="-122"/>
                <a:ea typeface="仿宋_GB2312" pitchFamily="49" charset="-122"/>
              </a:rPr>
              <a:t>2001</a:t>
            </a:r>
            <a:r>
              <a:rPr lang="zh-CN" altLang="en-US" b="1">
                <a:solidFill>
                  <a:srgbClr val="692AA2"/>
                </a:solidFill>
                <a:latin typeface="仿宋_GB2312" pitchFamily="49" charset="-122"/>
                <a:ea typeface="仿宋_GB2312" pitchFamily="49" charset="-122"/>
              </a:rPr>
              <a:t>～</a:t>
            </a:r>
            <a:r>
              <a:rPr lang="en-US" altLang="zh-CN" b="1">
                <a:solidFill>
                  <a:srgbClr val="692AA2"/>
                </a:solidFill>
                <a:latin typeface="仿宋_GB2312" pitchFamily="49" charset="-122"/>
                <a:ea typeface="仿宋_GB2312" pitchFamily="49" charset="-122"/>
              </a:rPr>
              <a:t>2006</a:t>
            </a:r>
            <a:r>
              <a:rPr lang="zh-CN" altLang="en-US" b="1">
                <a:solidFill>
                  <a:srgbClr val="692AA2"/>
                </a:solidFill>
                <a:latin typeface="仿宋_GB2312" pitchFamily="49" charset="-122"/>
                <a:ea typeface="仿宋_GB2312" pitchFamily="49" charset="-122"/>
              </a:rPr>
              <a:t>年的残差为：</a:t>
            </a:r>
            <a:r>
              <a:rPr lang="zh-CN" altLang="en-US">
                <a:latin typeface="Arial" panose="020B0604020202020204" pitchFamily="34" charset="0"/>
                <a:ea typeface="宋体" panose="02010600030101010101" pitchFamily="2" charset="-122"/>
              </a:rPr>
              <a:t> </a:t>
            </a:r>
            <a:endParaRPr lang="zh-CN" altLang="en-US">
              <a:latin typeface="Arial" panose="020B0604020202020204" pitchFamily="34" charset="0"/>
              <a:ea typeface="宋体" panose="02010600030101010101" pitchFamily="2" charset="-122"/>
            </a:endParaRPr>
          </a:p>
        </p:txBody>
      </p:sp>
      <p:sp>
        <p:nvSpPr>
          <p:cNvPr id="381956" name="Rectangle 4"/>
          <p:cNvSpPr/>
          <p:nvPr/>
        </p:nvSpPr>
        <p:spPr>
          <a:xfrm>
            <a:off x="2057400" y="4679950"/>
            <a:ext cx="4564063" cy="366713"/>
          </a:xfrm>
          <a:prstGeom prst="rect">
            <a:avLst/>
          </a:prstGeom>
          <a:noFill/>
          <a:ln w="9525">
            <a:noFill/>
          </a:ln>
        </p:spPr>
        <p:txBody>
          <a:bodyPr wrap="none" anchor="ctr">
            <a:spAutoFit/>
          </a:bodyPr>
          <a:p>
            <a:r>
              <a:rPr lang="zh-CN" altLang="en-US" b="1">
                <a:solidFill>
                  <a:srgbClr val="692AA2"/>
                </a:solidFill>
                <a:latin typeface="仿宋_GB2312" pitchFamily="49" charset="-122"/>
                <a:ea typeface="仿宋_GB2312" pitchFamily="49" charset="-122"/>
              </a:rPr>
              <a:t>表</a:t>
            </a:r>
            <a:r>
              <a:rPr lang="en-US" altLang="zh-CN" b="1">
                <a:solidFill>
                  <a:srgbClr val="692AA2"/>
                </a:solidFill>
                <a:latin typeface="仿宋_GB2312" pitchFamily="49" charset="-122"/>
                <a:ea typeface="仿宋_GB2312" pitchFamily="49" charset="-122"/>
              </a:rPr>
              <a:t>7.3 2006</a:t>
            </a:r>
            <a:r>
              <a:rPr lang="zh-CN" altLang="en-US" b="1">
                <a:solidFill>
                  <a:srgbClr val="692AA2"/>
                </a:solidFill>
                <a:latin typeface="仿宋_GB2312" pitchFamily="49" charset="-122"/>
                <a:ea typeface="仿宋_GB2312" pitchFamily="49" charset="-122"/>
              </a:rPr>
              <a:t>年每个书号销售量预测值的残差</a:t>
            </a:r>
            <a:endParaRPr lang="zh-CN" altLang="en-US" b="1">
              <a:solidFill>
                <a:srgbClr val="692AA2"/>
              </a:solidFill>
              <a:latin typeface="仿宋_GB2312" pitchFamily="49" charset="-122"/>
              <a:ea typeface="仿宋_GB2312" pitchFamily="49" charset="-122"/>
            </a:endParaRPr>
          </a:p>
        </p:txBody>
      </p:sp>
      <p:sp>
        <p:nvSpPr>
          <p:cNvPr id="381957" name="Rectangle 5"/>
          <p:cNvSpPr/>
          <p:nvPr/>
        </p:nvSpPr>
        <p:spPr>
          <a:xfrm>
            <a:off x="990600" y="5106988"/>
            <a:ext cx="7467600" cy="701675"/>
          </a:xfrm>
          <a:prstGeom prst="rect">
            <a:avLst/>
          </a:prstGeom>
          <a:noFill/>
          <a:ln w="9525">
            <a:noFill/>
          </a:ln>
        </p:spPr>
        <p:txBody>
          <a:bodyPr anchor="ctr">
            <a:spAutoFit/>
          </a:bodyPr>
          <a:p>
            <a:r>
              <a:rPr lang="en-US"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由上述残差分析结果可知，各门课程每个书号销售量的残差普遍较小，因此</a:t>
            </a:r>
            <a:r>
              <a:rPr lang="en-US" altLang="zh-CN" sz="2000" b="1">
                <a:solidFill>
                  <a:srgbClr val="692AA2"/>
                </a:solidFill>
                <a:latin typeface="仿宋_GB2312" pitchFamily="49" charset="-122"/>
                <a:ea typeface="仿宋_GB2312" pitchFamily="49" charset="-122"/>
              </a:rPr>
              <a:t>GM(1,1)</a:t>
            </a:r>
            <a:r>
              <a:rPr lang="zh-CN" altLang="en-US" sz="2000" b="1">
                <a:solidFill>
                  <a:srgbClr val="692AA2"/>
                </a:solidFill>
                <a:latin typeface="仿宋_GB2312" pitchFamily="49" charset="-122"/>
                <a:ea typeface="仿宋_GB2312" pitchFamily="49" charset="-122"/>
              </a:rPr>
              <a:t>预测模型预测效果明显。</a:t>
            </a:r>
            <a:endParaRPr lang="zh-CN" altLang="en-US"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381955"/>
                                        </p:tgtEl>
                                        <p:attrNameLst>
                                          <p:attrName>style.visibility</p:attrName>
                                        </p:attrNameLst>
                                      </p:cBhvr>
                                      <p:to>
                                        <p:strVal val="visible"/>
                                      </p:to>
                                    </p:set>
                                    <p:animEffect transition="in" filter="wheel(4)">
                                      <p:cBhvr>
                                        <p:cTn id="7" dur="500"/>
                                        <p:tgtEl>
                                          <p:spTgt spid="381955"/>
                                        </p:tgtEl>
                                      </p:cBhvr>
                                    </p:animEffect>
                                  </p:childTnLst>
                                </p:cTn>
                              </p:par>
                              <p:par>
                                <p:cTn id="8" presetID="21" presetClass="entr" presetSubtype="4" fill="hold" nodeType="withEffect">
                                  <p:stCondLst>
                                    <p:cond delay="0"/>
                                  </p:stCondLst>
                                  <p:childTnLst>
                                    <p:set>
                                      <p:cBhvr>
                                        <p:cTn id="9" dur="1" fill="hold">
                                          <p:stCondLst>
                                            <p:cond delay="0"/>
                                          </p:stCondLst>
                                        </p:cTn>
                                        <p:tgtEl>
                                          <p:spTgt spid="381954"/>
                                        </p:tgtEl>
                                        <p:attrNameLst>
                                          <p:attrName>style.visibility</p:attrName>
                                        </p:attrNameLst>
                                      </p:cBhvr>
                                      <p:to>
                                        <p:strVal val="visible"/>
                                      </p:to>
                                    </p:set>
                                    <p:animEffect transition="in" filter="wheel(4)">
                                      <p:cBhvr>
                                        <p:cTn id="10" dur="500"/>
                                        <p:tgtEl>
                                          <p:spTgt spid="381954"/>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381956"/>
                                        </p:tgtEl>
                                        <p:attrNameLst>
                                          <p:attrName>style.visibility</p:attrName>
                                        </p:attrNameLst>
                                      </p:cBhvr>
                                      <p:to>
                                        <p:strVal val="visible"/>
                                      </p:to>
                                    </p:set>
                                    <p:animEffect transition="in" filter="wheel(4)">
                                      <p:cBhvr>
                                        <p:cTn id="13" dur="500"/>
                                        <p:tgtEl>
                                          <p:spTgt spid="381956"/>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381957"/>
                                        </p:tgtEl>
                                        <p:attrNameLst>
                                          <p:attrName>style.visibility</p:attrName>
                                        </p:attrNameLst>
                                      </p:cBhvr>
                                      <p:to>
                                        <p:strVal val="visible"/>
                                      </p:to>
                                    </p:set>
                                    <p:animEffect transition="in" filter="wheel(4)">
                                      <p:cBhvr>
                                        <p:cTn id="16" dur="500"/>
                                        <p:tgtEl>
                                          <p:spTgt spid="381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5" grpId="0"/>
      <p:bldP spid="381956" grpId="0"/>
      <p:bldP spid="38195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2978" name="Rectangle 2"/>
          <p:cNvSpPr>
            <a:spLocks noGrp="1"/>
          </p:cNvSpPr>
          <p:nvPr>
            <p:ph idx="1"/>
          </p:nvPr>
        </p:nvSpPr>
        <p:spPr>
          <a:xfrm>
            <a:off x="762000" y="1524000"/>
            <a:ext cx="7772400" cy="4495800"/>
          </a:xfrm>
          <a:ln/>
        </p:spPr>
        <p:txBody>
          <a:bodyPr vert="horz" wrap="square" lIns="91440" tIns="45720" rIns="91440" bIns="45720" anchor="t"/>
          <a:p>
            <a:pPr eaLnBrk="1" hangingPunct="1">
              <a:lnSpc>
                <a:spcPct val="120000"/>
              </a:lnSpc>
              <a:buNone/>
            </a:pPr>
            <a:r>
              <a:rPr lang="en-US" altLang="zh-CN" sz="2400" b="1">
                <a:solidFill>
                  <a:srgbClr val="692AA2"/>
                </a:solidFill>
                <a:latin typeface="仿宋_GB2312" pitchFamily="49" charset="-122"/>
                <a:ea typeface="仿宋_GB2312" pitchFamily="49" charset="-122"/>
              </a:rPr>
              <a:t>4</a:t>
            </a:r>
            <a:r>
              <a:rPr lang="zh-CN" altLang="en-US" sz="2400" b="1">
                <a:solidFill>
                  <a:srgbClr val="692AA2"/>
                </a:solidFill>
                <a:latin typeface="仿宋_GB2312" pitchFamily="49" charset="-122"/>
                <a:ea typeface="仿宋_GB2312" pitchFamily="49" charset="-122"/>
              </a:rPr>
              <a:t>、分社－课程的资源配置多目标规划模型</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在总社－分社的资源配置任务完成后，各个分社再根据各自得到的书号个数，重新对所辖课程分配书号。这时，我们不仅要考虑学生的满意度、市场占有率，更要考虑分社的经济效益。类似于模型</a:t>
            </a:r>
            <a:r>
              <a:rPr lang="en-US" altLang="zh-CN" sz="2400" b="1">
                <a:solidFill>
                  <a:srgbClr val="692AA2"/>
                </a:solidFill>
                <a:latin typeface="仿宋_GB2312" pitchFamily="49" charset="-122"/>
                <a:ea typeface="仿宋_GB2312" pitchFamily="49" charset="-122"/>
              </a:rPr>
              <a:t>Ⅰ</a:t>
            </a:r>
            <a:r>
              <a:rPr lang="zh-CN" altLang="en-US" sz="2400" b="1">
                <a:solidFill>
                  <a:srgbClr val="692AA2"/>
                </a:solidFill>
                <a:latin typeface="仿宋_GB2312" pitchFamily="49" charset="-122"/>
                <a:ea typeface="仿宋_GB2312" pitchFamily="49" charset="-122"/>
              </a:rPr>
              <a:t>，我们建立分社－课程的资源配置多目标规划模型。</a:t>
            </a:r>
            <a:endParaRPr lang="zh-CN" altLang="en-US" sz="24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82978">
                                            <p:txEl>
                                              <p:charRg st="0" end="20"/>
                                            </p:txEl>
                                          </p:spTgt>
                                        </p:tgtEl>
                                        <p:attrNameLst>
                                          <p:attrName>style.visibility</p:attrName>
                                        </p:attrNameLst>
                                      </p:cBhvr>
                                      <p:to>
                                        <p:strVal val="visible"/>
                                      </p:to>
                                    </p:set>
                                    <p:animEffect transition="in" filter="checkerboard(across)">
                                      <p:cBhvr>
                                        <p:cTn id="7" dur="500"/>
                                        <p:tgtEl>
                                          <p:spTgt spid="382978">
                                            <p:txEl>
                                              <p:charRg st="0" end="2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82978">
                                            <p:txEl>
                                              <p:charRg st="20" end="134"/>
                                            </p:txEl>
                                          </p:spTgt>
                                        </p:tgtEl>
                                        <p:attrNameLst>
                                          <p:attrName>style.visibility</p:attrName>
                                        </p:attrNameLst>
                                      </p:cBhvr>
                                      <p:to>
                                        <p:strVal val="visible"/>
                                      </p:to>
                                    </p:set>
                                    <p:animEffect transition="in" filter="checkerboard(across)">
                                      <p:cBhvr>
                                        <p:cTn id="10" dur="500"/>
                                        <p:tgtEl>
                                          <p:spTgt spid="382978">
                                            <p:txEl>
                                              <p:charRg st="20" end="13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4002" name="Rectangle 2"/>
          <p:cNvSpPr>
            <a:spLocks noGrp="1"/>
          </p:cNvSpPr>
          <p:nvPr>
            <p:ph idx="1"/>
          </p:nvPr>
        </p:nvSpPr>
        <p:spPr>
          <a:xfrm>
            <a:off x="457200" y="1371600"/>
            <a:ext cx="8229600" cy="4495800"/>
          </a:xfrm>
          <a:ln/>
        </p:spPr>
        <p:txBody>
          <a:bodyPr vert="horz" wrap="square" lIns="91440" tIns="45720" rIns="91440" bIns="45720" anchor="t"/>
          <a:p>
            <a:pPr eaLnBrk="1" hangingPunct="1">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1</a:t>
            </a:r>
            <a:r>
              <a:rPr lang="zh-CN" altLang="en-US" sz="2400" b="1">
                <a:solidFill>
                  <a:srgbClr val="692AA2"/>
                </a:solidFill>
                <a:latin typeface="仿宋_GB2312" pitchFamily="49" charset="-122"/>
                <a:ea typeface="仿宋_GB2312" pitchFamily="49" charset="-122"/>
              </a:rPr>
              <a:t>）模型的准备 </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1</a:t>
            </a:r>
            <a:r>
              <a:rPr lang="zh-CN" altLang="en-US" sz="2400" b="1">
                <a:solidFill>
                  <a:srgbClr val="692AA2"/>
                </a:solidFill>
                <a:latin typeface="仿宋_GB2312" pitchFamily="49" charset="-122"/>
                <a:ea typeface="仿宋_GB2312" pitchFamily="49" charset="-122"/>
              </a:rPr>
              <a:t>）课程经济效益的量化（附件</a:t>
            </a:r>
            <a:r>
              <a:rPr lang="en-US" altLang="zh-CN" sz="2400" b="1">
                <a:solidFill>
                  <a:srgbClr val="692AA2"/>
                </a:solidFill>
                <a:latin typeface="仿宋_GB2312" pitchFamily="49" charset="-122"/>
                <a:ea typeface="仿宋_GB2312" pitchFamily="49" charset="-122"/>
              </a:rPr>
              <a:t>3.1</a:t>
            </a:r>
            <a:r>
              <a:rPr lang="zh-CN" altLang="en-US" sz="2400" b="1">
                <a:solidFill>
                  <a:srgbClr val="692AA2"/>
                </a:solidFill>
                <a:latin typeface="仿宋_GB2312" pitchFamily="49" charset="-122"/>
                <a:ea typeface="仿宋_GB2312" pitchFamily="49" charset="-122"/>
              </a:rPr>
              <a:t>）</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由假设</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，出版社出版一本教材获得的利润率为一常数。为了求得出版社</a:t>
            </a:r>
            <a:r>
              <a:rPr lang="en-US" altLang="zh-CN" sz="2400" b="1">
                <a:solidFill>
                  <a:srgbClr val="692AA2"/>
                </a:solidFill>
                <a:latin typeface="仿宋_GB2312" pitchFamily="49" charset="-122"/>
                <a:ea typeface="仿宋_GB2312" pitchFamily="49" charset="-122"/>
              </a:rPr>
              <a:t>A</a:t>
            </a:r>
            <a:r>
              <a:rPr lang="zh-CN" altLang="en-US" sz="2400" b="1">
                <a:solidFill>
                  <a:srgbClr val="692AA2"/>
                </a:solidFill>
                <a:latin typeface="仿宋_GB2312" pitchFamily="49" charset="-122"/>
                <a:ea typeface="仿宋_GB2312" pitchFamily="49" charset="-122"/>
              </a:rPr>
              <a:t>的总体经济效益，必须先考虑各个分社获得的经济效益。第个分社</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年获得的经济效益为</a:t>
            </a: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其中：</a:t>
            </a:r>
            <a:r>
              <a:rPr lang="en-US" altLang="zh-CN" sz="2400" b="1">
                <a:solidFill>
                  <a:srgbClr val="692AA2"/>
                </a:solidFill>
                <a:latin typeface="仿宋_GB2312" pitchFamily="49" charset="-122"/>
                <a:ea typeface="仿宋_GB2312" pitchFamily="49" charset="-122"/>
              </a:rPr>
              <a:t>r</a:t>
            </a:r>
            <a:r>
              <a:rPr lang="zh-CN" altLang="en-US" sz="2400" b="1" i="1">
                <a:solidFill>
                  <a:srgbClr val="692AA2"/>
                </a:solidFill>
                <a:latin typeface="仿宋_GB2312" pitchFamily="49" charset="-122"/>
                <a:ea typeface="仿宋_GB2312" pitchFamily="49" charset="-122"/>
              </a:rPr>
              <a:t>为</a:t>
            </a:r>
            <a:r>
              <a:rPr lang="zh-CN" altLang="en-US" sz="2400" b="1">
                <a:solidFill>
                  <a:srgbClr val="692AA2"/>
                </a:solidFill>
                <a:latin typeface="仿宋_GB2312" pitchFamily="49" charset="-122"/>
                <a:ea typeface="仿宋_GB2312" pitchFamily="49" charset="-122"/>
              </a:rPr>
              <a:t>出版社出版一本教材获得的利润率，      为第</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门课程单个书号的教材在</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年的销售量预测值，   </a:t>
            </a:r>
            <a:r>
              <a:rPr lang="zh-CN" altLang="en-US" sz="2400" b="1" i="1">
                <a:solidFill>
                  <a:srgbClr val="692AA2"/>
                </a:solidFill>
                <a:latin typeface="仿宋_GB2312" pitchFamily="49" charset="-122"/>
                <a:ea typeface="仿宋_GB2312" pitchFamily="49" charset="-122"/>
              </a:rPr>
              <a:t>为</a:t>
            </a:r>
            <a:r>
              <a:rPr lang="zh-CN" altLang="en-US" sz="2400" b="1">
                <a:solidFill>
                  <a:srgbClr val="692AA2"/>
                </a:solidFill>
                <a:latin typeface="仿宋_GB2312" pitchFamily="49" charset="-122"/>
                <a:ea typeface="仿宋_GB2312" pitchFamily="49" charset="-122"/>
              </a:rPr>
              <a:t>第</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门课程教材的课程均价。    分别为分社</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所辖课程代码的最小值和最大值。 </a:t>
            </a:r>
            <a:endParaRPr lang="zh-CN" altLang="en-US" sz="2400" b="1">
              <a:solidFill>
                <a:srgbClr val="692AA2"/>
              </a:solidFill>
              <a:latin typeface="仿宋_GB2312" pitchFamily="49" charset="-122"/>
              <a:ea typeface="仿宋_GB2312" pitchFamily="49" charset="-122"/>
            </a:endParaRPr>
          </a:p>
        </p:txBody>
      </p:sp>
      <p:graphicFrame>
        <p:nvGraphicFramePr>
          <p:cNvPr id="384003" name="Object 3"/>
          <p:cNvGraphicFramePr>
            <a:graphicFrameLocks noChangeAspect="1"/>
          </p:cNvGraphicFramePr>
          <p:nvPr/>
        </p:nvGraphicFramePr>
        <p:xfrm>
          <a:off x="3048000" y="3429000"/>
          <a:ext cx="2514600" cy="892175"/>
        </p:xfrm>
        <a:graphic>
          <a:graphicData uri="http://schemas.openxmlformats.org/presentationml/2006/ole">
            <mc:AlternateContent xmlns:mc="http://schemas.openxmlformats.org/markup-compatibility/2006">
              <mc:Choice xmlns:v="urn:schemas-microsoft-com:vml" Requires="v">
                <p:oleObj spid="_x0000_s3171" name="" r:id="rId1" imgW="1435100" imgH="533400" progId="Equation.DSMT4">
                  <p:embed/>
                </p:oleObj>
              </mc:Choice>
              <mc:Fallback>
                <p:oleObj name="" r:id="rId1" imgW="1435100" imgH="533400" progId="Equation.DSMT4">
                  <p:embed/>
                  <p:pic>
                    <p:nvPicPr>
                      <p:cNvPr id="0" name="图片 3170"/>
                      <p:cNvPicPr/>
                      <p:nvPr/>
                    </p:nvPicPr>
                    <p:blipFill>
                      <a:blip r:embed="rId2"/>
                      <a:stretch>
                        <a:fillRect/>
                      </a:stretch>
                    </p:blipFill>
                    <p:spPr>
                      <a:xfrm>
                        <a:off x="3048000" y="3429000"/>
                        <a:ext cx="2514600" cy="892175"/>
                      </a:xfrm>
                      <a:prstGeom prst="rect">
                        <a:avLst/>
                      </a:prstGeom>
                      <a:noFill/>
                      <a:ln w="38100">
                        <a:noFill/>
                        <a:miter/>
                      </a:ln>
                    </p:spPr>
                  </p:pic>
                </p:oleObj>
              </mc:Fallback>
            </mc:AlternateContent>
          </a:graphicData>
        </a:graphic>
      </p:graphicFrame>
      <p:sp>
        <p:nvSpPr>
          <p:cNvPr id="148483" name="Rectangle 4"/>
          <p:cNvSpPr/>
          <p:nvPr/>
        </p:nvSpPr>
        <p:spPr>
          <a:xfrm>
            <a:off x="7218363" y="447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84005" name="Object 5"/>
          <p:cNvGraphicFramePr>
            <a:graphicFrameLocks noChangeAspect="1"/>
          </p:cNvGraphicFramePr>
          <p:nvPr/>
        </p:nvGraphicFramePr>
        <p:xfrm>
          <a:off x="7543800" y="4495800"/>
          <a:ext cx="550863" cy="366713"/>
        </p:xfrm>
        <a:graphic>
          <a:graphicData uri="http://schemas.openxmlformats.org/presentationml/2006/ole">
            <mc:AlternateContent xmlns:mc="http://schemas.openxmlformats.org/markup-compatibility/2006">
              <mc:Choice xmlns:v="urn:schemas-microsoft-com:vml" Requires="v">
                <p:oleObj spid="_x0000_s3181" name="" r:id="rId3" imgW="342900" imgH="228600" progId="Equation.DSMT4">
                  <p:embed/>
                </p:oleObj>
              </mc:Choice>
              <mc:Fallback>
                <p:oleObj name="" r:id="rId3" imgW="342900" imgH="228600" progId="Equation.DSMT4">
                  <p:embed/>
                  <p:pic>
                    <p:nvPicPr>
                      <p:cNvPr id="0" name="图片 3180"/>
                      <p:cNvPicPr/>
                      <p:nvPr/>
                    </p:nvPicPr>
                    <p:blipFill>
                      <a:blip r:embed="rId4"/>
                      <a:stretch>
                        <a:fillRect/>
                      </a:stretch>
                    </p:blipFill>
                    <p:spPr>
                      <a:xfrm>
                        <a:off x="7543800" y="4495800"/>
                        <a:ext cx="550863" cy="366713"/>
                      </a:xfrm>
                      <a:prstGeom prst="rect">
                        <a:avLst/>
                      </a:prstGeom>
                      <a:noFill/>
                      <a:ln w="38100">
                        <a:noFill/>
                        <a:miter/>
                      </a:ln>
                    </p:spPr>
                  </p:pic>
                </p:oleObj>
              </mc:Fallback>
            </mc:AlternateContent>
          </a:graphicData>
        </a:graphic>
      </p:graphicFrame>
      <p:graphicFrame>
        <p:nvGraphicFramePr>
          <p:cNvPr id="384006" name="Object 6"/>
          <p:cNvGraphicFramePr>
            <a:graphicFrameLocks noChangeAspect="1"/>
          </p:cNvGraphicFramePr>
          <p:nvPr/>
        </p:nvGraphicFramePr>
        <p:xfrm>
          <a:off x="685800" y="5181600"/>
          <a:ext cx="312738" cy="441325"/>
        </p:xfrm>
        <a:graphic>
          <a:graphicData uri="http://schemas.openxmlformats.org/presentationml/2006/ole">
            <mc:AlternateContent xmlns:mc="http://schemas.openxmlformats.org/markup-compatibility/2006">
              <mc:Choice xmlns:v="urn:schemas-microsoft-com:vml" Requires="v">
                <p:oleObj spid="_x0000_s3174" name="" r:id="rId5" imgW="165100" imgH="228600" progId="Equation.DSMT4">
                  <p:embed/>
                </p:oleObj>
              </mc:Choice>
              <mc:Fallback>
                <p:oleObj name="" r:id="rId5" imgW="165100" imgH="228600" progId="Equation.DSMT4">
                  <p:embed/>
                  <p:pic>
                    <p:nvPicPr>
                      <p:cNvPr id="0" name="图片 3173"/>
                      <p:cNvPicPr/>
                      <p:nvPr/>
                    </p:nvPicPr>
                    <p:blipFill>
                      <a:blip r:embed="rId6"/>
                      <a:stretch>
                        <a:fillRect/>
                      </a:stretch>
                    </p:blipFill>
                    <p:spPr>
                      <a:xfrm>
                        <a:off x="685800" y="5181600"/>
                        <a:ext cx="312738" cy="441325"/>
                      </a:xfrm>
                      <a:prstGeom prst="rect">
                        <a:avLst/>
                      </a:prstGeom>
                      <a:noFill/>
                      <a:ln w="38100">
                        <a:noFill/>
                        <a:miter/>
                      </a:ln>
                    </p:spPr>
                  </p:pic>
                </p:oleObj>
              </mc:Fallback>
            </mc:AlternateContent>
          </a:graphicData>
        </a:graphic>
      </p:graphicFrame>
      <p:graphicFrame>
        <p:nvGraphicFramePr>
          <p:cNvPr id="384007" name="Object 7"/>
          <p:cNvGraphicFramePr>
            <a:graphicFrameLocks noChangeAspect="1"/>
          </p:cNvGraphicFramePr>
          <p:nvPr/>
        </p:nvGraphicFramePr>
        <p:xfrm>
          <a:off x="4876800" y="5181600"/>
          <a:ext cx="762000" cy="446088"/>
        </p:xfrm>
        <a:graphic>
          <a:graphicData uri="http://schemas.openxmlformats.org/presentationml/2006/ole">
            <mc:AlternateContent xmlns:mc="http://schemas.openxmlformats.org/markup-compatibility/2006">
              <mc:Choice xmlns:v="urn:schemas-microsoft-com:vml" Requires="v">
                <p:oleObj spid="_x0000_s3172" name="" r:id="rId7" imgW="393700" imgH="228600" progId="Equation.DSMT4">
                  <p:embed/>
                </p:oleObj>
              </mc:Choice>
              <mc:Fallback>
                <p:oleObj name="" r:id="rId7" imgW="393700" imgH="228600" progId="Equation.DSMT4">
                  <p:embed/>
                  <p:pic>
                    <p:nvPicPr>
                      <p:cNvPr id="0" name="图片 3171"/>
                      <p:cNvPicPr/>
                      <p:nvPr/>
                    </p:nvPicPr>
                    <p:blipFill>
                      <a:blip r:embed="rId8"/>
                      <a:stretch>
                        <a:fillRect/>
                      </a:stretch>
                    </p:blipFill>
                    <p:spPr>
                      <a:xfrm>
                        <a:off x="4876800" y="5181600"/>
                        <a:ext cx="762000" cy="44608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84002">
                                            <p:txEl>
                                              <p:charRg st="0" end="12"/>
                                            </p:txEl>
                                          </p:spTgt>
                                        </p:tgtEl>
                                        <p:attrNameLst>
                                          <p:attrName>style.visibility</p:attrName>
                                        </p:attrNameLst>
                                      </p:cBhvr>
                                      <p:to>
                                        <p:strVal val="visible"/>
                                      </p:to>
                                    </p:set>
                                    <p:animEffect transition="in" filter="wheel(4)">
                                      <p:cBhvr>
                                        <p:cTn id="7" dur="500"/>
                                        <p:tgtEl>
                                          <p:spTgt spid="384002">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384002">
                                            <p:txEl>
                                              <p:charRg st="12" end="36"/>
                                            </p:txEl>
                                          </p:spTgt>
                                        </p:tgtEl>
                                        <p:attrNameLst>
                                          <p:attrName>style.visibility</p:attrName>
                                        </p:attrNameLst>
                                      </p:cBhvr>
                                      <p:to>
                                        <p:strVal val="visible"/>
                                      </p:to>
                                    </p:set>
                                    <p:animEffect transition="in" filter="wheel(4)">
                                      <p:cBhvr>
                                        <p:cTn id="12" dur="500"/>
                                        <p:tgtEl>
                                          <p:spTgt spid="384002">
                                            <p:txEl>
                                              <p:charRg st="12" end="36"/>
                                            </p:txEl>
                                          </p:spTgt>
                                        </p:tgtEl>
                                      </p:cBhvr>
                                    </p:animEffect>
                                  </p:childTnLst>
                                </p:cTn>
                              </p:par>
                              <p:par>
                                <p:cTn id="13" presetID="21" presetClass="entr" presetSubtype="4" fill="hold" nodeType="withEffect">
                                  <p:stCondLst>
                                    <p:cond delay="0"/>
                                  </p:stCondLst>
                                  <p:childTnLst>
                                    <p:set>
                                      <p:cBhvr>
                                        <p:cTn id="14" dur="1" fill="hold">
                                          <p:stCondLst>
                                            <p:cond delay="0"/>
                                          </p:stCondLst>
                                        </p:cTn>
                                        <p:tgtEl>
                                          <p:spTgt spid="384002">
                                            <p:txEl>
                                              <p:charRg st="36" end="118"/>
                                            </p:txEl>
                                          </p:spTgt>
                                        </p:tgtEl>
                                        <p:attrNameLst>
                                          <p:attrName>style.visibility</p:attrName>
                                        </p:attrNameLst>
                                      </p:cBhvr>
                                      <p:to>
                                        <p:strVal val="visible"/>
                                      </p:to>
                                    </p:set>
                                    <p:animEffect transition="in" filter="wheel(4)">
                                      <p:cBhvr>
                                        <p:cTn id="15" dur="500"/>
                                        <p:tgtEl>
                                          <p:spTgt spid="384002">
                                            <p:txEl>
                                              <p:charRg st="36" end="118"/>
                                            </p:txEl>
                                          </p:spTgt>
                                        </p:tgtEl>
                                      </p:cBhvr>
                                    </p:animEffect>
                                  </p:childTnLst>
                                </p:cTn>
                              </p:par>
                              <p:par>
                                <p:cTn id="16" presetID="21" presetClass="entr" presetSubtype="4" fill="hold" nodeType="withEffect">
                                  <p:stCondLst>
                                    <p:cond delay="0"/>
                                  </p:stCondLst>
                                  <p:childTnLst>
                                    <p:set>
                                      <p:cBhvr>
                                        <p:cTn id="17" dur="1" fill="hold">
                                          <p:stCondLst>
                                            <p:cond delay="0"/>
                                          </p:stCondLst>
                                        </p:cTn>
                                        <p:tgtEl>
                                          <p:spTgt spid="384003"/>
                                        </p:tgtEl>
                                        <p:attrNameLst>
                                          <p:attrName>style.visibility</p:attrName>
                                        </p:attrNameLst>
                                      </p:cBhvr>
                                      <p:to>
                                        <p:strVal val="visible"/>
                                      </p:to>
                                    </p:set>
                                    <p:animEffect transition="in" filter="wheel(4)">
                                      <p:cBhvr>
                                        <p:cTn id="18" dur="500"/>
                                        <p:tgtEl>
                                          <p:spTgt spid="384003"/>
                                        </p:tgtEl>
                                      </p:cBhvr>
                                    </p:animEffect>
                                  </p:childTnLst>
                                </p:cTn>
                              </p:par>
                              <p:par>
                                <p:cTn id="19" presetID="21" presetClass="entr" presetSubtype="4" fill="hold" nodeType="withEffect">
                                  <p:stCondLst>
                                    <p:cond delay="0"/>
                                  </p:stCondLst>
                                  <p:childTnLst>
                                    <p:set>
                                      <p:cBhvr>
                                        <p:cTn id="20" dur="1" fill="hold">
                                          <p:stCondLst>
                                            <p:cond delay="0"/>
                                          </p:stCondLst>
                                        </p:cTn>
                                        <p:tgtEl>
                                          <p:spTgt spid="384002">
                                            <p:txEl>
                                              <p:charRg st="124" end="228"/>
                                            </p:txEl>
                                          </p:spTgt>
                                        </p:tgtEl>
                                        <p:attrNameLst>
                                          <p:attrName>style.visibility</p:attrName>
                                        </p:attrNameLst>
                                      </p:cBhvr>
                                      <p:to>
                                        <p:strVal val="visible"/>
                                      </p:to>
                                    </p:set>
                                    <p:animEffect transition="in" filter="wheel(4)">
                                      <p:cBhvr>
                                        <p:cTn id="21" dur="500"/>
                                        <p:tgtEl>
                                          <p:spTgt spid="384002">
                                            <p:txEl>
                                              <p:charRg st="124" end="228"/>
                                            </p:txEl>
                                          </p:spTgt>
                                        </p:tgtEl>
                                      </p:cBhvr>
                                    </p:animEffect>
                                  </p:childTnLst>
                                </p:cTn>
                              </p:par>
                              <p:par>
                                <p:cTn id="22" presetID="21" presetClass="entr" presetSubtype="4" fill="hold" nodeType="withEffect">
                                  <p:stCondLst>
                                    <p:cond delay="0"/>
                                  </p:stCondLst>
                                  <p:childTnLst>
                                    <p:set>
                                      <p:cBhvr>
                                        <p:cTn id="23" dur="1" fill="hold">
                                          <p:stCondLst>
                                            <p:cond delay="0"/>
                                          </p:stCondLst>
                                        </p:cTn>
                                        <p:tgtEl>
                                          <p:spTgt spid="384005"/>
                                        </p:tgtEl>
                                        <p:attrNameLst>
                                          <p:attrName>style.visibility</p:attrName>
                                        </p:attrNameLst>
                                      </p:cBhvr>
                                      <p:to>
                                        <p:strVal val="visible"/>
                                      </p:to>
                                    </p:set>
                                    <p:animEffect transition="in" filter="wheel(4)">
                                      <p:cBhvr>
                                        <p:cTn id="24" dur="500"/>
                                        <p:tgtEl>
                                          <p:spTgt spid="384005"/>
                                        </p:tgtEl>
                                      </p:cBhvr>
                                    </p:animEffect>
                                  </p:childTnLst>
                                </p:cTn>
                              </p:par>
                              <p:par>
                                <p:cTn id="25" presetID="21" presetClass="entr" presetSubtype="4" fill="hold" nodeType="withEffect">
                                  <p:stCondLst>
                                    <p:cond delay="0"/>
                                  </p:stCondLst>
                                  <p:childTnLst>
                                    <p:set>
                                      <p:cBhvr>
                                        <p:cTn id="26" dur="1" fill="hold">
                                          <p:stCondLst>
                                            <p:cond delay="0"/>
                                          </p:stCondLst>
                                        </p:cTn>
                                        <p:tgtEl>
                                          <p:spTgt spid="384006"/>
                                        </p:tgtEl>
                                        <p:attrNameLst>
                                          <p:attrName>style.visibility</p:attrName>
                                        </p:attrNameLst>
                                      </p:cBhvr>
                                      <p:to>
                                        <p:strVal val="visible"/>
                                      </p:to>
                                    </p:set>
                                    <p:animEffect transition="in" filter="wheel(4)">
                                      <p:cBhvr>
                                        <p:cTn id="27" dur="500"/>
                                        <p:tgtEl>
                                          <p:spTgt spid="384006"/>
                                        </p:tgtEl>
                                      </p:cBhvr>
                                    </p:animEffect>
                                  </p:childTnLst>
                                </p:cTn>
                              </p:par>
                              <p:par>
                                <p:cTn id="28" presetID="21" presetClass="entr" presetSubtype="4" fill="hold" nodeType="withEffect">
                                  <p:stCondLst>
                                    <p:cond delay="0"/>
                                  </p:stCondLst>
                                  <p:childTnLst>
                                    <p:set>
                                      <p:cBhvr>
                                        <p:cTn id="29" dur="1" fill="hold">
                                          <p:stCondLst>
                                            <p:cond delay="0"/>
                                          </p:stCondLst>
                                        </p:cTn>
                                        <p:tgtEl>
                                          <p:spTgt spid="384007"/>
                                        </p:tgtEl>
                                        <p:attrNameLst>
                                          <p:attrName>style.visibility</p:attrName>
                                        </p:attrNameLst>
                                      </p:cBhvr>
                                      <p:to>
                                        <p:strVal val="visible"/>
                                      </p:to>
                                    </p:set>
                                    <p:animEffect transition="in" filter="wheel(4)">
                                      <p:cBhvr>
                                        <p:cTn id="30" dur="500"/>
                                        <p:tgtEl>
                                          <p:spTgt spid="384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5026" name="Rectangle 2"/>
          <p:cNvSpPr>
            <a:spLocks noGrp="1"/>
          </p:cNvSpPr>
          <p:nvPr>
            <p:ph idx="1"/>
          </p:nvPr>
        </p:nvSpPr>
        <p:spPr>
          <a:xfrm>
            <a:off x="457200" y="1447800"/>
            <a:ext cx="8229600" cy="4495800"/>
          </a:xfrm>
          <a:ln/>
        </p:spPr>
        <p:txBody>
          <a:bodyPr vert="horz" wrap="square" lIns="91440" tIns="45720" rIns="91440" bIns="45720" anchor="t"/>
          <a:p>
            <a:pPr eaLnBrk="1" hangingPunct="1">
              <a:lnSpc>
                <a:spcPct val="90000"/>
              </a:lnSpc>
              <a:buNone/>
            </a:pPr>
            <a:r>
              <a:rPr lang="en-US" altLang="zh-CN" sz="2400" b="1">
                <a:solidFill>
                  <a:srgbClr val="692AA2"/>
                </a:solidFill>
                <a:latin typeface="仿宋_GB2312" pitchFamily="49" charset="-122"/>
                <a:ea typeface="仿宋_GB2312" pitchFamily="49" charset="-122"/>
              </a:rPr>
              <a:t>  2</a:t>
            </a:r>
            <a:r>
              <a:rPr lang="zh-CN" altLang="en-US" sz="2400" b="1">
                <a:solidFill>
                  <a:srgbClr val="692AA2"/>
                </a:solidFill>
                <a:latin typeface="仿宋_GB2312" pitchFamily="49" charset="-122"/>
                <a:ea typeface="仿宋_GB2312" pitchFamily="49" charset="-122"/>
              </a:rPr>
              <a:t>）学生对课程满意度的量化</a:t>
            </a: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r>
              <a:rPr lang="zh-CN" altLang="en-US" sz="2400" b="1">
                <a:solidFill>
                  <a:srgbClr val="692AA2"/>
                </a:solidFill>
                <a:latin typeface="仿宋_GB2312" pitchFamily="49" charset="-122"/>
                <a:ea typeface="仿宋_GB2312" pitchFamily="49" charset="-122"/>
              </a:rPr>
              <a:t>    前面模型</a:t>
            </a:r>
            <a:r>
              <a:rPr lang="en-US" altLang="zh-CN" sz="2400" b="1">
                <a:solidFill>
                  <a:srgbClr val="692AA2"/>
                </a:solidFill>
                <a:latin typeface="仿宋_GB2312" pitchFamily="49" charset="-122"/>
                <a:ea typeface="仿宋_GB2312" pitchFamily="49" charset="-122"/>
              </a:rPr>
              <a:t>Ⅰ</a:t>
            </a:r>
            <a:r>
              <a:rPr lang="zh-CN" altLang="en-US" sz="2400" b="1">
                <a:solidFill>
                  <a:srgbClr val="692AA2"/>
                </a:solidFill>
                <a:latin typeface="仿宋_GB2312" pitchFamily="49" charset="-122"/>
                <a:ea typeface="仿宋_GB2312" pitchFamily="49" charset="-122"/>
              </a:rPr>
              <a:t>对满意度量化时，我们已经得到各门课程满意度的评价向量   ，为了与模型</a:t>
            </a:r>
            <a:r>
              <a:rPr lang="en-US" altLang="zh-CN" sz="2400" b="1">
                <a:solidFill>
                  <a:srgbClr val="692AA2"/>
                </a:solidFill>
                <a:latin typeface="仿宋_GB2312" pitchFamily="49" charset="-122"/>
                <a:ea typeface="仿宋_GB2312" pitchFamily="49" charset="-122"/>
              </a:rPr>
              <a:t>Ⅰ</a:t>
            </a:r>
            <a:r>
              <a:rPr lang="zh-CN" altLang="en-US" sz="2400" b="1">
                <a:solidFill>
                  <a:srgbClr val="692AA2"/>
                </a:solidFill>
                <a:latin typeface="仿宋_GB2312" pitchFamily="49" charset="-122"/>
                <a:ea typeface="仿宋_GB2312" pitchFamily="49" charset="-122"/>
              </a:rPr>
              <a:t>中分社满意度  相对应，我们这里仍用   表示课程满意度的量化值，则学生对第</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门课程的总体满意度为</a:t>
            </a: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3</a:t>
            </a:r>
            <a:r>
              <a:rPr lang="zh-CN" altLang="en-US" sz="2400" b="1">
                <a:solidFill>
                  <a:srgbClr val="692AA2"/>
                </a:solidFill>
                <a:latin typeface="仿宋_GB2312" pitchFamily="49" charset="-122"/>
                <a:ea typeface="仿宋_GB2312" pitchFamily="49" charset="-122"/>
              </a:rPr>
              <a:t>）分社市场占有率的量化</a:t>
            </a: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r>
              <a:rPr lang="zh-CN" altLang="en-US" sz="2400" b="1">
                <a:solidFill>
                  <a:srgbClr val="692AA2"/>
                </a:solidFill>
                <a:latin typeface="仿宋_GB2312" pitchFamily="49" charset="-122"/>
                <a:ea typeface="仿宋_GB2312" pitchFamily="49" charset="-122"/>
              </a:rPr>
              <a:t>    首先通过</a:t>
            </a:r>
            <a:r>
              <a:rPr lang="en-US" altLang="zh-CN" sz="2400" b="1">
                <a:solidFill>
                  <a:srgbClr val="692AA2"/>
                </a:solidFill>
                <a:latin typeface="仿宋_GB2312" pitchFamily="49" charset="-122"/>
                <a:ea typeface="仿宋_GB2312" pitchFamily="49" charset="-122"/>
              </a:rPr>
              <a:t>Excel</a:t>
            </a:r>
            <a:r>
              <a:rPr lang="zh-CN" altLang="en-US" sz="2400" b="1">
                <a:solidFill>
                  <a:srgbClr val="692AA2"/>
                </a:solidFill>
                <a:latin typeface="仿宋_GB2312" pitchFamily="49" charset="-122"/>
                <a:ea typeface="仿宋_GB2312" pitchFamily="49" charset="-122"/>
              </a:rPr>
              <a:t>软件对附件</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中的问卷调查数据按课程进行分类采用</a:t>
            </a:r>
            <a:r>
              <a:rPr lang="en-US" altLang="zh-CN" sz="2400" b="1">
                <a:solidFill>
                  <a:srgbClr val="692AA2"/>
                </a:solidFill>
                <a:latin typeface="仿宋_GB2312" pitchFamily="49" charset="-122"/>
                <a:ea typeface="仿宋_GB2312" pitchFamily="49" charset="-122"/>
              </a:rPr>
              <a:t>matlab7.0</a:t>
            </a:r>
            <a:r>
              <a:rPr lang="zh-CN" altLang="en-US" sz="2400" b="1">
                <a:solidFill>
                  <a:srgbClr val="692AA2"/>
                </a:solidFill>
                <a:latin typeface="仿宋_GB2312" pitchFamily="49" charset="-122"/>
                <a:ea typeface="仿宋_GB2312" pitchFamily="49" charset="-122"/>
              </a:rPr>
              <a:t>软件（附录），求得</a:t>
            </a:r>
            <a:r>
              <a:rPr lang="en-US" altLang="zh-CN" sz="2400" b="1">
                <a:solidFill>
                  <a:srgbClr val="692AA2"/>
                </a:solidFill>
                <a:latin typeface="仿宋_GB2312" pitchFamily="49" charset="-122"/>
                <a:ea typeface="仿宋_GB2312" pitchFamily="49" charset="-122"/>
              </a:rPr>
              <a:t>A</a:t>
            </a:r>
            <a:r>
              <a:rPr lang="zh-CN" altLang="en-US" sz="2400" b="1">
                <a:solidFill>
                  <a:srgbClr val="692AA2"/>
                </a:solidFill>
                <a:latin typeface="仿宋_GB2312" pitchFamily="49" charset="-122"/>
                <a:ea typeface="仿宋_GB2312" pitchFamily="49" charset="-122"/>
              </a:rPr>
              <a:t>出版社</a:t>
            </a:r>
            <a:r>
              <a:rPr lang="en-US" altLang="zh-CN" sz="2400" b="1">
                <a:solidFill>
                  <a:srgbClr val="692AA2"/>
                </a:solidFill>
                <a:latin typeface="仿宋_GB2312" pitchFamily="49" charset="-122"/>
                <a:ea typeface="仿宋_GB2312" pitchFamily="49" charset="-122"/>
              </a:rPr>
              <a:t>72</a:t>
            </a:r>
            <a:r>
              <a:rPr lang="zh-CN" altLang="en-US" sz="2400" b="1">
                <a:solidFill>
                  <a:srgbClr val="692AA2"/>
                </a:solidFill>
                <a:latin typeface="仿宋_GB2312" pitchFamily="49" charset="-122"/>
                <a:ea typeface="仿宋_GB2312" pitchFamily="49" charset="-122"/>
              </a:rPr>
              <a:t>门课程的教材各自被选中的次数及该课程教材的市场总量，从而得到</a:t>
            </a:r>
            <a:r>
              <a:rPr lang="en-US" altLang="zh-CN" sz="2400" b="1">
                <a:solidFill>
                  <a:srgbClr val="692AA2"/>
                </a:solidFill>
                <a:latin typeface="仿宋_GB2312" pitchFamily="49" charset="-122"/>
                <a:ea typeface="仿宋_GB2312" pitchFamily="49" charset="-122"/>
              </a:rPr>
              <a:t>72</a:t>
            </a:r>
            <a:r>
              <a:rPr lang="zh-CN" altLang="en-US" sz="2400" b="1">
                <a:solidFill>
                  <a:srgbClr val="692AA2"/>
                </a:solidFill>
                <a:latin typeface="仿宋_GB2312" pitchFamily="49" charset="-122"/>
                <a:ea typeface="仿宋_GB2312" pitchFamily="49" charset="-122"/>
              </a:rPr>
              <a:t>门课程在同类产品中的市场占有率    。  </a:t>
            </a:r>
            <a:endParaRPr lang="zh-CN" altLang="en-US" sz="2400" b="1">
              <a:solidFill>
                <a:srgbClr val="692AA2"/>
              </a:solidFill>
              <a:latin typeface="仿宋_GB2312" pitchFamily="49" charset="-122"/>
              <a:ea typeface="仿宋_GB2312" pitchFamily="49" charset="-122"/>
            </a:endParaRPr>
          </a:p>
        </p:txBody>
      </p:sp>
      <p:sp>
        <p:nvSpPr>
          <p:cNvPr id="149506" name="Rectangle 3"/>
          <p:cNvSpPr/>
          <p:nvPr/>
        </p:nvSpPr>
        <p:spPr>
          <a:xfrm>
            <a:off x="4764088" y="3324225"/>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85028" name="Object 4"/>
          <p:cNvGraphicFramePr>
            <a:graphicFrameLocks noChangeAspect="1"/>
          </p:cNvGraphicFramePr>
          <p:nvPr/>
        </p:nvGraphicFramePr>
        <p:xfrm>
          <a:off x="3048000" y="2133600"/>
          <a:ext cx="376238" cy="457200"/>
        </p:xfrm>
        <a:graphic>
          <a:graphicData uri="http://schemas.openxmlformats.org/presentationml/2006/ole">
            <mc:AlternateContent xmlns:mc="http://schemas.openxmlformats.org/markup-compatibility/2006">
              <mc:Choice xmlns:v="urn:schemas-microsoft-com:vml" Requires="v">
                <p:oleObj spid="_x0000_s3173" name="" r:id="rId1" imgW="215900" imgH="266065" progId="Equation.3">
                  <p:embed/>
                </p:oleObj>
              </mc:Choice>
              <mc:Fallback>
                <p:oleObj name="" r:id="rId1" imgW="215900" imgH="266065" progId="Equation.3">
                  <p:embed/>
                  <p:pic>
                    <p:nvPicPr>
                      <p:cNvPr id="0" name="图片 3172"/>
                      <p:cNvPicPr/>
                      <p:nvPr/>
                    </p:nvPicPr>
                    <p:blipFill>
                      <a:blip r:embed="rId2"/>
                      <a:stretch>
                        <a:fillRect/>
                      </a:stretch>
                    </p:blipFill>
                    <p:spPr>
                      <a:xfrm>
                        <a:off x="3048000" y="2133600"/>
                        <a:ext cx="376238" cy="457200"/>
                      </a:xfrm>
                      <a:prstGeom prst="rect">
                        <a:avLst/>
                      </a:prstGeom>
                      <a:noFill/>
                      <a:ln w="38100">
                        <a:noFill/>
                        <a:miter/>
                      </a:ln>
                    </p:spPr>
                  </p:pic>
                </p:oleObj>
              </mc:Fallback>
            </mc:AlternateContent>
          </a:graphicData>
        </a:graphic>
      </p:graphicFrame>
      <p:sp>
        <p:nvSpPr>
          <p:cNvPr id="149508" name="Rectangle 5"/>
          <p:cNvSpPr/>
          <p:nvPr/>
        </p:nvSpPr>
        <p:spPr>
          <a:xfrm>
            <a:off x="6616700" y="34210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85030" name="Object 6"/>
          <p:cNvGraphicFramePr>
            <a:graphicFrameLocks noChangeAspect="1"/>
          </p:cNvGraphicFramePr>
          <p:nvPr/>
        </p:nvGraphicFramePr>
        <p:xfrm>
          <a:off x="7467600" y="2209800"/>
          <a:ext cx="244475" cy="306388"/>
        </p:xfrm>
        <a:graphic>
          <a:graphicData uri="http://schemas.openxmlformats.org/presentationml/2006/ole">
            <mc:AlternateContent xmlns:mc="http://schemas.openxmlformats.org/markup-compatibility/2006">
              <mc:Choice xmlns:v="urn:schemas-microsoft-com:vml" Requires="v">
                <p:oleObj spid="_x0000_s3176" name="" r:id="rId3" imgW="190500" imgH="241300" progId="Equation.3">
                  <p:embed/>
                </p:oleObj>
              </mc:Choice>
              <mc:Fallback>
                <p:oleObj name="" r:id="rId3" imgW="190500" imgH="241300" progId="Equation.3">
                  <p:embed/>
                  <p:pic>
                    <p:nvPicPr>
                      <p:cNvPr id="0" name="图片 3175"/>
                      <p:cNvPicPr/>
                      <p:nvPr/>
                    </p:nvPicPr>
                    <p:blipFill>
                      <a:blip r:embed="rId4"/>
                      <a:stretch>
                        <a:fillRect/>
                      </a:stretch>
                    </p:blipFill>
                    <p:spPr>
                      <a:xfrm>
                        <a:off x="7467600" y="2209800"/>
                        <a:ext cx="244475" cy="306388"/>
                      </a:xfrm>
                      <a:prstGeom prst="rect">
                        <a:avLst/>
                      </a:prstGeom>
                      <a:noFill/>
                      <a:ln w="38100">
                        <a:noFill/>
                        <a:miter/>
                      </a:ln>
                    </p:spPr>
                  </p:pic>
                </p:oleObj>
              </mc:Fallback>
            </mc:AlternateContent>
          </a:graphicData>
        </a:graphic>
      </p:graphicFrame>
      <p:sp>
        <p:nvSpPr>
          <p:cNvPr id="149510" name="Rectangle 7"/>
          <p:cNvSpPr/>
          <p:nvPr/>
        </p:nvSpPr>
        <p:spPr>
          <a:xfrm>
            <a:off x="7386638" y="38306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85032" name="Object 8"/>
          <p:cNvGraphicFramePr>
            <a:graphicFrameLocks noChangeAspect="1"/>
          </p:cNvGraphicFramePr>
          <p:nvPr/>
        </p:nvGraphicFramePr>
        <p:xfrm>
          <a:off x="3352800" y="2514600"/>
          <a:ext cx="268288" cy="334963"/>
        </p:xfrm>
        <a:graphic>
          <a:graphicData uri="http://schemas.openxmlformats.org/presentationml/2006/ole">
            <mc:AlternateContent xmlns:mc="http://schemas.openxmlformats.org/markup-compatibility/2006">
              <mc:Choice xmlns:v="urn:schemas-microsoft-com:vml" Requires="v">
                <p:oleObj spid="_x0000_s3179" name="" r:id="rId5" imgW="190500" imgH="241300" progId="Equation.3">
                  <p:embed/>
                </p:oleObj>
              </mc:Choice>
              <mc:Fallback>
                <p:oleObj name="" r:id="rId5" imgW="190500" imgH="241300" progId="Equation.3">
                  <p:embed/>
                  <p:pic>
                    <p:nvPicPr>
                      <p:cNvPr id="0" name="图片 3178"/>
                      <p:cNvPicPr/>
                      <p:nvPr/>
                    </p:nvPicPr>
                    <p:blipFill>
                      <a:blip r:embed="rId6"/>
                      <a:stretch>
                        <a:fillRect/>
                      </a:stretch>
                    </p:blipFill>
                    <p:spPr>
                      <a:xfrm>
                        <a:off x="3352800" y="2514600"/>
                        <a:ext cx="268288" cy="334963"/>
                      </a:xfrm>
                      <a:prstGeom prst="rect">
                        <a:avLst/>
                      </a:prstGeom>
                      <a:noFill/>
                      <a:ln w="38100">
                        <a:noFill/>
                        <a:miter/>
                      </a:ln>
                    </p:spPr>
                  </p:pic>
                </p:oleObj>
              </mc:Fallback>
            </mc:AlternateContent>
          </a:graphicData>
        </a:graphic>
      </p:graphicFrame>
      <p:sp>
        <p:nvSpPr>
          <p:cNvPr id="149512" name="Rectangle 9"/>
          <p:cNvSpPr/>
          <p:nvPr/>
        </p:nvSpPr>
        <p:spPr>
          <a:xfrm>
            <a:off x="5318125" y="3228975"/>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85034" name="Object 10"/>
          <p:cNvGraphicFramePr>
            <a:graphicFrameLocks noChangeAspect="1"/>
          </p:cNvGraphicFramePr>
          <p:nvPr/>
        </p:nvGraphicFramePr>
        <p:xfrm>
          <a:off x="3200400" y="3200400"/>
          <a:ext cx="2209800" cy="893763"/>
        </p:xfrm>
        <a:graphic>
          <a:graphicData uri="http://schemas.openxmlformats.org/presentationml/2006/ole">
            <mc:AlternateContent xmlns:mc="http://schemas.openxmlformats.org/markup-compatibility/2006">
              <mc:Choice xmlns:v="urn:schemas-microsoft-com:vml" Requires="v">
                <p:oleObj spid="_x0000_s3177" name="" r:id="rId7" imgW="1295400" imgH="520700" progId="Equation.3">
                  <p:embed/>
                </p:oleObj>
              </mc:Choice>
              <mc:Fallback>
                <p:oleObj name="" r:id="rId7" imgW="1295400" imgH="520700" progId="Equation.3">
                  <p:embed/>
                  <p:pic>
                    <p:nvPicPr>
                      <p:cNvPr id="0" name="图片 3176"/>
                      <p:cNvPicPr/>
                      <p:nvPr/>
                    </p:nvPicPr>
                    <p:blipFill>
                      <a:blip r:embed="rId8"/>
                      <a:stretch>
                        <a:fillRect/>
                      </a:stretch>
                    </p:blipFill>
                    <p:spPr>
                      <a:xfrm>
                        <a:off x="3200400" y="3200400"/>
                        <a:ext cx="2209800" cy="893763"/>
                      </a:xfrm>
                      <a:prstGeom prst="rect">
                        <a:avLst/>
                      </a:prstGeom>
                      <a:noFill/>
                      <a:ln w="38100">
                        <a:noFill/>
                        <a:miter/>
                      </a:ln>
                    </p:spPr>
                  </p:pic>
                </p:oleObj>
              </mc:Fallback>
            </mc:AlternateContent>
          </a:graphicData>
        </a:graphic>
      </p:graphicFrame>
      <p:graphicFrame>
        <p:nvGraphicFramePr>
          <p:cNvPr id="385035" name="Object 11"/>
          <p:cNvGraphicFramePr>
            <a:graphicFrameLocks noChangeAspect="1"/>
          </p:cNvGraphicFramePr>
          <p:nvPr/>
        </p:nvGraphicFramePr>
        <p:xfrm>
          <a:off x="1371600" y="5562600"/>
          <a:ext cx="454025" cy="457200"/>
        </p:xfrm>
        <a:graphic>
          <a:graphicData uri="http://schemas.openxmlformats.org/presentationml/2006/ole">
            <mc:AlternateContent xmlns:mc="http://schemas.openxmlformats.org/markup-compatibility/2006">
              <mc:Choice xmlns:v="urn:schemas-microsoft-com:vml" Requires="v">
                <p:oleObj spid="_x0000_s3178" name="" r:id="rId9" imgW="165100" imgH="228600" progId="Equation.DSMT4">
                  <p:embed/>
                </p:oleObj>
              </mc:Choice>
              <mc:Fallback>
                <p:oleObj name="" r:id="rId9" imgW="165100" imgH="228600" progId="Equation.DSMT4">
                  <p:embed/>
                  <p:pic>
                    <p:nvPicPr>
                      <p:cNvPr id="0" name="图片 3177"/>
                      <p:cNvPicPr/>
                      <p:nvPr/>
                    </p:nvPicPr>
                    <p:blipFill>
                      <a:blip r:embed="rId10"/>
                      <a:stretch>
                        <a:fillRect/>
                      </a:stretch>
                    </p:blipFill>
                    <p:spPr>
                      <a:xfrm>
                        <a:off x="1371600" y="5562600"/>
                        <a:ext cx="454025" cy="457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85026">
                                            <p:txEl>
                                              <p:charRg st="0" end="16"/>
                                            </p:txEl>
                                          </p:spTgt>
                                        </p:tgtEl>
                                        <p:attrNameLst>
                                          <p:attrName>style.visibility</p:attrName>
                                        </p:attrNameLst>
                                      </p:cBhvr>
                                      <p:to>
                                        <p:strVal val="visible"/>
                                      </p:to>
                                    </p:set>
                                    <p:animEffect transition="in" filter="checkerboard(across)">
                                      <p:cBhvr>
                                        <p:cTn id="7" dur="500"/>
                                        <p:tgtEl>
                                          <p:spTgt spid="385026">
                                            <p:txEl>
                                              <p:charRg st="0" end="16"/>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85026">
                                            <p:txEl>
                                              <p:charRg st="16" end="111"/>
                                            </p:txEl>
                                          </p:spTgt>
                                        </p:tgtEl>
                                        <p:attrNameLst>
                                          <p:attrName>style.visibility</p:attrName>
                                        </p:attrNameLst>
                                      </p:cBhvr>
                                      <p:to>
                                        <p:strVal val="visible"/>
                                      </p:to>
                                    </p:set>
                                    <p:animEffect transition="in" filter="checkerboard(across)">
                                      <p:cBhvr>
                                        <p:cTn id="10" dur="500"/>
                                        <p:tgtEl>
                                          <p:spTgt spid="385026">
                                            <p:txEl>
                                              <p:charRg st="16" end="11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85028"/>
                                        </p:tgtEl>
                                        <p:attrNameLst>
                                          <p:attrName>style.visibility</p:attrName>
                                        </p:attrNameLst>
                                      </p:cBhvr>
                                      <p:to>
                                        <p:strVal val="visible"/>
                                      </p:to>
                                    </p:set>
                                    <p:animEffect transition="in" filter="checkerboard(across)">
                                      <p:cBhvr>
                                        <p:cTn id="13" dur="500"/>
                                        <p:tgtEl>
                                          <p:spTgt spid="385028"/>
                                        </p:tgtEl>
                                      </p:cBhvr>
                                    </p:animEffect>
                                  </p:childTnLst>
                                </p:cTn>
                              </p:par>
                              <p:par>
                                <p:cTn id="14" presetID="5" presetClass="entr" presetSubtype="10" fill="hold" nodeType="withEffect">
                                  <p:stCondLst>
                                    <p:cond delay="0"/>
                                  </p:stCondLst>
                                  <p:childTnLst>
                                    <p:set>
                                      <p:cBhvr>
                                        <p:cTn id="15" dur="1" fill="hold">
                                          <p:stCondLst>
                                            <p:cond delay="0"/>
                                          </p:stCondLst>
                                        </p:cTn>
                                        <p:tgtEl>
                                          <p:spTgt spid="385030"/>
                                        </p:tgtEl>
                                        <p:attrNameLst>
                                          <p:attrName>style.visibility</p:attrName>
                                        </p:attrNameLst>
                                      </p:cBhvr>
                                      <p:to>
                                        <p:strVal val="visible"/>
                                      </p:to>
                                    </p:set>
                                    <p:animEffect transition="in" filter="checkerboard(across)">
                                      <p:cBhvr>
                                        <p:cTn id="16" dur="500"/>
                                        <p:tgtEl>
                                          <p:spTgt spid="385030"/>
                                        </p:tgtEl>
                                      </p:cBhvr>
                                    </p:animEffect>
                                  </p:childTnLst>
                                </p:cTn>
                              </p:par>
                              <p:par>
                                <p:cTn id="17" presetID="5" presetClass="entr" presetSubtype="10" fill="hold" nodeType="withEffect">
                                  <p:stCondLst>
                                    <p:cond delay="0"/>
                                  </p:stCondLst>
                                  <p:childTnLst>
                                    <p:set>
                                      <p:cBhvr>
                                        <p:cTn id="18" dur="1" fill="hold">
                                          <p:stCondLst>
                                            <p:cond delay="0"/>
                                          </p:stCondLst>
                                        </p:cTn>
                                        <p:tgtEl>
                                          <p:spTgt spid="385032"/>
                                        </p:tgtEl>
                                        <p:attrNameLst>
                                          <p:attrName>style.visibility</p:attrName>
                                        </p:attrNameLst>
                                      </p:cBhvr>
                                      <p:to>
                                        <p:strVal val="visible"/>
                                      </p:to>
                                    </p:set>
                                    <p:animEffect transition="in" filter="checkerboard(across)">
                                      <p:cBhvr>
                                        <p:cTn id="19" dur="500"/>
                                        <p:tgtEl>
                                          <p:spTgt spid="385032"/>
                                        </p:tgtEl>
                                      </p:cBhvr>
                                    </p:animEffect>
                                  </p:childTnLst>
                                </p:cTn>
                              </p:par>
                              <p:par>
                                <p:cTn id="20" presetID="5" presetClass="entr" presetSubtype="10" fill="hold" nodeType="withEffect">
                                  <p:stCondLst>
                                    <p:cond delay="0"/>
                                  </p:stCondLst>
                                  <p:childTnLst>
                                    <p:set>
                                      <p:cBhvr>
                                        <p:cTn id="21" dur="1" fill="hold">
                                          <p:stCondLst>
                                            <p:cond delay="0"/>
                                          </p:stCondLst>
                                        </p:cTn>
                                        <p:tgtEl>
                                          <p:spTgt spid="385034"/>
                                        </p:tgtEl>
                                        <p:attrNameLst>
                                          <p:attrName>style.visibility</p:attrName>
                                        </p:attrNameLst>
                                      </p:cBhvr>
                                      <p:to>
                                        <p:strVal val="visible"/>
                                      </p:to>
                                    </p:set>
                                    <p:animEffect transition="in" filter="checkerboard(across)">
                                      <p:cBhvr>
                                        <p:cTn id="22" dur="500"/>
                                        <p:tgtEl>
                                          <p:spTgt spid="38503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85026">
                                            <p:txEl>
                                              <p:charRg st="113" end="128"/>
                                            </p:txEl>
                                          </p:spTgt>
                                        </p:tgtEl>
                                        <p:attrNameLst>
                                          <p:attrName>style.visibility</p:attrName>
                                        </p:attrNameLst>
                                      </p:cBhvr>
                                      <p:to>
                                        <p:strVal val="visible"/>
                                      </p:to>
                                    </p:set>
                                    <p:animEffect transition="in" filter="checkerboard(across)">
                                      <p:cBhvr>
                                        <p:cTn id="27" dur="500"/>
                                        <p:tgtEl>
                                          <p:spTgt spid="385026">
                                            <p:txEl>
                                              <p:charRg st="113" end="128"/>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385026">
                                            <p:txEl>
                                              <p:charRg st="128" end="243"/>
                                            </p:txEl>
                                          </p:spTgt>
                                        </p:tgtEl>
                                        <p:attrNameLst>
                                          <p:attrName>style.visibility</p:attrName>
                                        </p:attrNameLst>
                                      </p:cBhvr>
                                      <p:to>
                                        <p:strVal val="visible"/>
                                      </p:to>
                                    </p:set>
                                    <p:animEffect transition="in" filter="checkerboard(across)">
                                      <p:cBhvr>
                                        <p:cTn id="30" dur="500"/>
                                        <p:tgtEl>
                                          <p:spTgt spid="385026">
                                            <p:txEl>
                                              <p:charRg st="128" end="243"/>
                                            </p:txEl>
                                          </p:spTgt>
                                        </p:tgtEl>
                                      </p:cBhvr>
                                    </p:animEffect>
                                  </p:childTnLst>
                                </p:cTn>
                              </p:par>
                              <p:par>
                                <p:cTn id="31" presetID="5" presetClass="entr" presetSubtype="10" fill="hold" nodeType="withEffect">
                                  <p:stCondLst>
                                    <p:cond delay="0"/>
                                  </p:stCondLst>
                                  <p:childTnLst>
                                    <p:set>
                                      <p:cBhvr>
                                        <p:cTn id="32" dur="1" fill="hold">
                                          <p:stCondLst>
                                            <p:cond delay="0"/>
                                          </p:stCondLst>
                                        </p:cTn>
                                        <p:tgtEl>
                                          <p:spTgt spid="385035"/>
                                        </p:tgtEl>
                                        <p:attrNameLst>
                                          <p:attrName>style.visibility</p:attrName>
                                        </p:attrNameLst>
                                      </p:cBhvr>
                                      <p:to>
                                        <p:strVal val="visible"/>
                                      </p:to>
                                    </p:set>
                                    <p:animEffect transition="in" filter="checkerboard(across)">
                                      <p:cBhvr>
                                        <p:cTn id="33" dur="500"/>
                                        <p:tgtEl>
                                          <p:spTgt spid="385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6050" name="Rectangle 2"/>
          <p:cNvSpPr>
            <a:spLocks noGrp="1"/>
          </p:cNvSpPr>
          <p:nvPr>
            <p:ph idx="1"/>
          </p:nvPr>
        </p:nvSpPr>
        <p:spPr>
          <a:xfrm>
            <a:off x="457200" y="1295400"/>
            <a:ext cx="8229600" cy="4495800"/>
          </a:xfrm>
          <a:ln/>
        </p:spPr>
        <p:txBody>
          <a:bodyPr vert="horz" wrap="square" lIns="91440" tIns="45720" rIns="91440" bIns="45720" anchor="t"/>
          <a:p>
            <a:pPr eaLnBrk="1" hangingPunct="1">
              <a:lnSpc>
                <a:spcPct val="120000"/>
              </a:lnSpc>
              <a:buNone/>
            </a:pPr>
            <a:r>
              <a:rPr lang="en-US" altLang="zh-CN"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）模型的建立 </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由上面得到的</a:t>
            </a:r>
            <a:r>
              <a:rPr lang="en-US" altLang="zh-CN" sz="2400" b="1">
                <a:solidFill>
                  <a:srgbClr val="692AA2"/>
                </a:solidFill>
                <a:latin typeface="仿宋_GB2312" pitchFamily="49" charset="-122"/>
                <a:ea typeface="仿宋_GB2312" pitchFamily="49" charset="-122"/>
              </a:rPr>
              <a:t>72</a:t>
            </a:r>
            <a:r>
              <a:rPr lang="zh-CN" altLang="en-US" sz="2400" b="1">
                <a:solidFill>
                  <a:srgbClr val="692AA2"/>
                </a:solidFill>
                <a:latin typeface="仿宋_GB2312" pitchFamily="49" charset="-122"/>
                <a:ea typeface="仿宋_GB2312" pitchFamily="49" charset="-122"/>
              </a:rPr>
              <a:t>个课程的经济效益的量化值   、满意度的量化值  </a:t>
            </a:r>
            <a:r>
              <a:rPr lang="zh-CN" altLang="en-US" sz="2400" b="1" i="1">
                <a:solidFill>
                  <a:srgbClr val="692AA2"/>
                </a:solidFill>
                <a:latin typeface="仿宋_GB2312" pitchFamily="49" charset="-122"/>
                <a:ea typeface="仿宋_GB2312" pitchFamily="49" charset="-122"/>
              </a:rPr>
              <a:t>、</a:t>
            </a:r>
            <a:r>
              <a:rPr lang="zh-CN" altLang="en-US" sz="2400" b="1">
                <a:solidFill>
                  <a:srgbClr val="692AA2"/>
                </a:solidFill>
                <a:latin typeface="仿宋_GB2312" pitchFamily="49" charset="-122"/>
                <a:ea typeface="仿宋_GB2312" pitchFamily="49" charset="-122"/>
              </a:rPr>
              <a:t>市场占有率的量化值  ，建立资源</a:t>
            </a:r>
            <a:r>
              <a:rPr lang="en-US" altLang="zh-CN" sz="2400" b="1">
                <a:solidFill>
                  <a:srgbClr val="692AA2"/>
                </a:solidFill>
                <a:latin typeface="仿宋_GB2312" pitchFamily="49" charset="-122"/>
                <a:ea typeface="仿宋_GB2312" pitchFamily="49" charset="-122"/>
              </a:rPr>
              <a:t>(</a:t>
            </a:r>
            <a:r>
              <a:rPr lang="zh-CN" altLang="en-US" sz="2400" b="1">
                <a:solidFill>
                  <a:srgbClr val="692AA2"/>
                </a:solidFill>
                <a:latin typeface="仿宋_GB2312" pitchFamily="49" charset="-122"/>
                <a:ea typeface="仿宋_GB2312" pitchFamily="49" charset="-122"/>
              </a:rPr>
              <a:t>书号</a:t>
            </a:r>
            <a:r>
              <a:rPr lang="en-US" altLang="zh-CN" sz="2400" b="1">
                <a:solidFill>
                  <a:srgbClr val="692AA2"/>
                </a:solidFill>
                <a:latin typeface="仿宋_GB2312" pitchFamily="49" charset="-122"/>
                <a:ea typeface="仿宋_GB2312" pitchFamily="49" charset="-122"/>
              </a:rPr>
              <a:t>)</a:t>
            </a:r>
            <a:r>
              <a:rPr lang="zh-CN" altLang="en-US" sz="2400" b="1">
                <a:solidFill>
                  <a:srgbClr val="692AA2"/>
                </a:solidFill>
                <a:latin typeface="仿宋_GB2312" pitchFamily="49" charset="-122"/>
                <a:ea typeface="仿宋_GB2312" pitchFamily="49" charset="-122"/>
              </a:rPr>
              <a:t>配置的多目标规划模型：</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模型</a:t>
            </a:r>
            <a:r>
              <a:rPr lang="en-US" altLang="zh-CN" sz="2400" b="1">
                <a:solidFill>
                  <a:srgbClr val="692AA2"/>
                </a:solidFill>
                <a:latin typeface="仿宋_GB2312" pitchFamily="49" charset="-122"/>
                <a:ea typeface="仿宋_GB2312" pitchFamily="49" charset="-122"/>
              </a:rPr>
              <a:t>Ⅲ</a:t>
            </a:r>
            <a:r>
              <a:rPr lang="zh-CN" altLang="en-US" sz="2400" b="1">
                <a:solidFill>
                  <a:srgbClr val="692AA2"/>
                </a:solidFill>
                <a:latin typeface="仿宋_GB2312" pitchFamily="49" charset="-122"/>
                <a:ea typeface="仿宋_GB2312" pitchFamily="49" charset="-122"/>
              </a:rPr>
              <a:t>： </a:t>
            </a:r>
            <a:endParaRPr lang="zh-CN" altLang="en-US" sz="2400" b="1">
              <a:solidFill>
                <a:srgbClr val="692AA2"/>
              </a:solidFill>
              <a:latin typeface="仿宋_GB2312" pitchFamily="49" charset="-122"/>
              <a:ea typeface="仿宋_GB2312" pitchFamily="49" charset="-122"/>
            </a:endParaRPr>
          </a:p>
        </p:txBody>
      </p:sp>
      <p:sp>
        <p:nvSpPr>
          <p:cNvPr id="150530" name="Rectangle 3"/>
          <p:cNvSpPr/>
          <p:nvPr/>
        </p:nvSpPr>
        <p:spPr>
          <a:xfrm>
            <a:off x="4235450" y="43751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86052" name="Object 4"/>
          <p:cNvGraphicFramePr>
            <a:graphicFrameLocks noChangeAspect="1"/>
          </p:cNvGraphicFramePr>
          <p:nvPr/>
        </p:nvGraphicFramePr>
        <p:xfrm>
          <a:off x="2362200" y="3276600"/>
          <a:ext cx="5181600" cy="2684463"/>
        </p:xfrm>
        <a:graphic>
          <a:graphicData uri="http://schemas.openxmlformats.org/presentationml/2006/ole">
            <mc:AlternateContent xmlns:mc="http://schemas.openxmlformats.org/markup-compatibility/2006">
              <mc:Choice xmlns:v="urn:schemas-microsoft-com:vml" Requires="v">
                <p:oleObj spid="_x0000_s3185" name="" r:id="rId1" imgW="3695700" imgH="1917700" progId="Equation.DSMT4">
                  <p:embed/>
                </p:oleObj>
              </mc:Choice>
              <mc:Fallback>
                <p:oleObj name="" r:id="rId1" imgW="3695700" imgH="1917700" progId="Equation.DSMT4">
                  <p:embed/>
                  <p:pic>
                    <p:nvPicPr>
                      <p:cNvPr id="0" name="图片 3184"/>
                      <p:cNvPicPr/>
                      <p:nvPr/>
                    </p:nvPicPr>
                    <p:blipFill>
                      <a:blip r:embed="rId2"/>
                      <a:stretch>
                        <a:fillRect/>
                      </a:stretch>
                    </p:blipFill>
                    <p:spPr>
                      <a:xfrm>
                        <a:off x="2362200" y="3276600"/>
                        <a:ext cx="5181600" cy="2684463"/>
                      </a:xfrm>
                      <a:prstGeom prst="rect">
                        <a:avLst/>
                      </a:prstGeom>
                      <a:noFill/>
                      <a:ln w="38100">
                        <a:noFill/>
                        <a:miter/>
                      </a:ln>
                    </p:spPr>
                  </p:pic>
                </p:oleObj>
              </mc:Fallback>
            </mc:AlternateContent>
          </a:graphicData>
        </a:graphic>
      </p:graphicFrame>
      <p:graphicFrame>
        <p:nvGraphicFramePr>
          <p:cNvPr id="386053" name="Object 5"/>
          <p:cNvGraphicFramePr>
            <a:graphicFrameLocks noChangeAspect="1"/>
          </p:cNvGraphicFramePr>
          <p:nvPr/>
        </p:nvGraphicFramePr>
        <p:xfrm>
          <a:off x="7315200" y="2057400"/>
          <a:ext cx="304800" cy="381000"/>
        </p:xfrm>
        <a:graphic>
          <a:graphicData uri="http://schemas.openxmlformats.org/presentationml/2006/ole">
            <mc:AlternateContent xmlns:mc="http://schemas.openxmlformats.org/markup-compatibility/2006">
              <mc:Choice xmlns:v="urn:schemas-microsoft-com:vml" Requires="v">
                <p:oleObj spid="_x0000_s3187" name="" r:id="rId3" imgW="190500" imgH="241300" progId="Equation.DSMT4">
                  <p:embed/>
                </p:oleObj>
              </mc:Choice>
              <mc:Fallback>
                <p:oleObj name="" r:id="rId3" imgW="190500" imgH="241300" progId="Equation.DSMT4">
                  <p:embed/>
                  <p:pic>
                    <p:nvPicPr>
                      <p:cNvPr id="0" name="图片 3186"/>
                      <p:cNvPicPr/>
                      <p:nvPr/>
                    </p:nvPicPr>
                    <p:blipFill>
                      <a:blip r:embed="rId4"/>
                      <a:stretch>
                        <a:fillRect/>
                      </a:stretch>
                    </p:blipFill>
                    <p:spPr>
                      <a:xfrm>
                        <a:off x="7315200" y="2057400"/>
                        <a:ext cx="304800" cy="381000"/>
                      </a:xfrm>
                      <a:prstGeom prst="rect">
                        <a:avLst/>
                      </a:prstGeom>
                      <a:noFill/>
                      <a:ln w="38100">
                        <a:noFill/>
                        <a:miter/>
                      </a:ln>
                    </p:spPr>
                  </p:pic>
                </p:oleObj>
              </mc:Fallback>
            </mc:AlternateContent>
          </a:graphicData>
        </a:graphic>
      </p:graphicFrame>
      <p:graphicFrame>
        <p:nvGraphicFramePr>
          <p:cNvPr id="386054" name="Object 6"/>
          <p:cNvGraphicFramePr>
            <a:graphicFrameLocks noChangeAspect="1"/>
          </p:cNvGraphicFramePr>
          <p:nvPr/>
        </p:nvGraphicFramePr>
        <p:xfrm>
          <a:off x="2743200" y="2438400"/>
          <a:ext cx="361950" cy="457200"/>
        </p:xfrm>
        <a:graphic>
          <a:graphicData uri="http://schemas.openxmlformats.org/presentationml/2006/ole">
            <mc:AlternateContent xmlns:mc="http://schemas.openxmlformats.org/markup-compatibility/2006">
              <mc:Choice xmlns:v="urn:schemas-microsoft-com:vml" Requires="v">
                <p:oleObj spid="_x0000_s3183" name="" r:id="rId5" imgW="177800" imgH="228600" progId="Equation.DSMT4">
                  <p:embed/>
                </p:oleObj>
              </mc:Choice>
              <mc:Fallback>
                <p:oleObj name="" r:id="rId5" imgW="177800" imgH="228600" progId="Equation.DSMT4">
                  <p:embed/>
                  <p:pic>
                    <p:nvPicPr>
                      <p:cNvPr id="0" name="图片 3182"/>
                      <p:cNvPicPr/>
                      <p:nvPr/>
                    </p:nvPicPr>
                    <p:blipFill>
                      <a:blip r:embed="rId6"/>
                      <a:stretch>
                        <a:fillRect/>
                      </a:stretch>
                    </p:blipFill>
                    <p:spPr>
                      <a:xfrm>
                        <a:off x="2743200" y="2438400"/>
                        <a:ext cx="361950" cy="457200"/>
                      </a:xfrm>
                      <a:prstGeom prst="rect">
                        <a:avLst/>
                      </a:prstGeom>
                      <a:noFill/>
                      <a:ln w="38100">
                        <a:noFill/>
                        <a:miter/>
                      </a:ln>
                    </p:spPr>
                  </p:pic>
                </p:oleObj>
              </mc:Fallback>
            </mc:AlternateContent>
          </a:graphicData>
        </a:graphic>
      </p:graphicFrame>
      <p:graphicFrame>
        <p:nvGraphicFramePr>
          <p:cNvPr id="386055" name="Object 7"/>
          <p:cNvGraphicFramePr>
            <a:graphicFrameLocks noChangeAspect="1"/>
          </p:cNvGraphicFramePr>
          <p:nvPr/>
        </p:nvGraphicFramePr>
        <p:xfrm>
          <a:off x="6096000" y="2438400"/>
          <a:ext cx="314325" cy="444500"/>
        </p:xfrm>
        <a:graphic>
          <a:graphicData uri="http://schemas.openxmlformats.org/presentationml/2006/ole">
            <mc:AlternateContent xmlns:mc="http://schemas.openxmlformats.org/markup-compatibility/2006">
              <mc:Choice xmlns:v="urn:schemas-microsoft-com:vml" Requires="v">
                <p:oleObj spid="_x0000_s3182" name="" r:id="rId7" imgW="165100" imgH="228600" progId="Equation.DSMT4">
                  <p:embed/>
                </p:oleObj>
              </mc:Choice>
              <mc:Fallback>
                <p:oleObj name="" r:id="rId7" imgW="165100" imgH="228600" progId="Equation.DSMT4">
                  <p:embed/>
                  <p:pic>
                    <p:nvPicPr>
                      <p:cNvPr id="0" name="图片 3181"/>
                      <p:cNvPicPr/>
                      <p:nvPr/>
                    </p:nvPicPr>
                    <p:blipFill>
                      <a:blip r:embed="rId8"/>
                      <a:stretch>
                        <a:fillRect/>
                      </a:stretch>
                    </p:blipFill>
                    <p:spPr>
                      <a:xfrm>
                        <a:off x="6096000" y="2438400"/>
                        <a:ext cx="314325" cy="4445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86050">
                                            <p:txEl>
                                              <p:charRg st="0" end="11"/>
                                            </p:txEl>
                                          </p:spTgt>
                                        </p:tgtEl>
                                        <p:attrNameLst>
                                          <p:attrName>style.visibility</p:attrName>
                                        </p:attrNameLst>
                                      </p:cBhvr>
                                      <p:to>
                                        <p:strVal val="visible"/>
                                      </p:to>
                                    </p:set>
                                    <p:animEffect transition="in" filter="wipe(down)">
                                      <p:cBhvr>
                                        <p:cTn id="7" dur="500"/>
                                        <p:tgtEl>
                                          <p:spTgt spid="386050">
                                            <p:txEl>
                                              <p:charRg st="0" end="1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86050">
                                            <p:txEl>
                                              <p:charRg st="11" end="83"/>
                                            </p:txEl>
                                          </p:spTgt>
                                        </p:tgtEl>
                                        <p:attrNameLst>
                                          <p:attrName>style.visibility</p:attrName>
                                        </p:attrNameLst>
                                      </p:cBhvr>
                                      <p:to>
                                        <p:strVal val="visible"/>
                                      </p:to>
                                    </p:set>
                                    <p:animEffect transition="in" filter="wipe(down)">
                                      <p:cBhvr>
                                        <p:cTn id="10" dur="500"/>
                                        <p:tgtEl>
                                          <p:spTgt spid="386050">
                                            <p:txEl>
                                              <p:charRg st="11" end="8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86053"/>
                                        </p:tgtEl>
                                        <p:attrNameLst>
                                          <p:attrName>style.visibility</p:attrName>
                                        </p:attrNameLst>
                                      </p:cBhvr>
                                      <p:to>
                                        <p:strVal val="visible"/>
                                      </p:to>
                                    </p:set>
                                    <p:animEffect transition="in" filter="wipe(down)">
                                      <p:cBhvr>
                                        <p:cTn id="13" dur="500"/>
                                        <p:tgtEl>
                                          <p:spTgt spid="386053"/>
                                        </p:tgtEl>
                                      </p:cBhvr>
                                    </p:animEffect>
                                  </p:childTnLst>
                                </p:cTn>
                              </p:par>
                              <p:par>
                                <p:cTn id="14" presetID="22" presetClass="entr" presetSubtype="4" fill="hold" nodeType="withEffect">
                                  <p:stCondLst>
                                    <p:cond delay="0"/>
                                  </p:stCondLst>
                                  <p:childTnLst>
                                    <p:set>
                                      <p:cBhvr>
                                        <p:cTn id="15" dur="1" fill="hold">
                                          <p:stCondLst>
                                            <p:cond delay="0"/>
                                          </p:stCondLst>
                                        </p:cTn>
                                        <p:tgtEl>
                                          <p:spTgt spid="386054"/>
                                        </p:tgtEl>
                                        <p:attrNameLst>
                                          <p:attrName>style.visibility</p:attrName>
                                        </p:attrNameLst>
                                      </p:cBhvr>
                                      <p:to>
                                        <p:strVal val="visible"/>
                                      </p:to>
                                    </p:set>
                                    <p:animEffect transition="in" filter="wipe(down)">
                                      <p:cBhvr>
                                        <p:cTn id="16" dur="500"/>
                                        <p:tgtEl>
                                          <p:spTgt spid="386054"/>
                                        </p:tgtEl>
                                      </p:cBhvr>
                                    </p:animEffect>
                                  </p:childTnLst>
                                </p:cTn>
                              </p:par>
                              <p:par>
                                <p:cTn id="17" presetID="22" presetClass="entr" presetSubtype="4" fill="hold" nodeType="withEffect">
                                  <p:stCondLst>
                                    <p:cond delay="0"/>
                                  </p:stCondLst>
                                  <p:childTnLst>
                                    <p:set>
                                      <p:cBhvr>
                                        <p:cTn id="18" dur="1" fill="hold">
                                          <p:stCondLst>
                                            <p:cond delay="0"/>
                                          </p:stCondLst>
                                        </p:cTn>
                                        <p:tgtEl>
                                          <p:spTgt spid="386055"/>
                                        </p:tgtEl>
                                        <p:attrNameLst>
                                          <p:attrName>style.visibility</p:attrName>
                                        </p:attrNameLst>
                                      </p:cBhvr>
                                      <p:to>
                                        <p:strVal val="visible"/>
                                      </p:to>
                                    </p:set>
                                    <p:animEffect transition="in" filter="wipe(down)">
                                      <p:cBhvr>
                                        <p:cTn id="19" dur="500"/>
                                        <p:tgtEl>
                                          <p:spTgt spid="38605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86050">
                                            <p:txEl>
                                              <p:charRg st="83" end="91"/>
                                            </p:txEl>
                                          </p:spTgt>
                                        </p:tgtEl>
                                        <p:attrNameLst>
                                          <p:attrName>style.visibility</p:attrName>
                                        </p:attrNameLst>
                                      </p:cBhvr>
                                      <p:to>
                                        <p:strVal val="visible"/>
                                      </p:to>
                                    </p:set>
                                    <p:animEffect transition="in" filter="wipe(down)">
                                      <p:cBhvr>
                                        <p:cTn id="24" dur="500"/>
                                        <p:tgtEl>
                                          <p:spTgt spid="386050">
                                            <p:txEl>
                                              <p:charRg st="83" end="91"/>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86052"/>
                                        </p:tgtEl>
                                        <p:attrNameLst>
                                          <p:attrName>style.visibility</p:attrName>
                                        </p:attrNameLst>
                                      </p:cBhvr>
                                      <p:to>
                                        <p:strVal val="visible"/>
                                      </p:to>
                                    </p:set>
                                    <p:animEffect transition="in" filter="wipe(down)">
                                      <p:cBhvr>
                                        <p:cTn id="27" dur="500"/>
                                        <p:tgtEl>
                                          <p:spTgt spid="386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7074" name="Rectangle 2"/>
          <p:cNvSpPr>
            <a:spLocks noGrp="1"/>
          </p:cNvSpPr>
          <p:nvPr>
            <p:ph idx="1"/>
          </p:nvPr>
        </p:nvSpPr>
        <p:spPr>
          <a:xfrm>
            <a:off x="457200" y="1447800"/>
            <a:ext cx="8229600" cy="4495800"/>
          </a:xfrm>
          <a:ln/>
        </p:spPr>
        <p:txBody>
          <a:bodyPr vert="horz" wrap="square" lIns="91440" tIns="45720" rIns="91440" bIns="45720" anchor="t"/>
          <a:p>
            <a:pPr eaLnBrk="1" hangingPunct="1">
              <a:buNone/>
            </a:pPr>
            <a:r>
              <a:rPr lang="en-US" altLang="zh-CN" sz="2400" b="1">
                <a:solidFill>
                  <a:srgbClr val="692AA2"/>
                </a:solidFill>
                <a:latin typeface="仿宋_GB2312" pitchFamily="49" charset="-122"/>
                <a:ea typeface="仿宋_GB2312" pitchFamily="49" charset="-122"/>
              </a:rPr>
              <a:t>  (3) </a:t>
            </a:r>
            <a:r>
              <a:rPr lang="zh-CN" altLang="en-US" sz="2400" b="1">
                <a:solidFill>
                  <a:srgbClr val="692AA2"/>
                </a:solidFill>
                <a:latin typeface="仿宋_GB2312" pitchFamily="49" charset="-122"/>
                <a:ea typeface="仿宋_GB2312" pitchFamily="49" charset="-122"/>
              </a:rPr>
              <a:t>模型的简化</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下面我们，通过确定经济效益、满意度和市场占有率三者的权重系数，将上述多目标规划模型简化为单目标线性规划模型。</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1)</a:t>
            </a:r>
            <a:r>
              <a:rPr lang="zh-CN" altLang="en-US" sz="2400" b="1">
                <a:solidFill>
                  <a:srgbClr val="692AA2"/>
                </a:solidFill>
                <a:latin typeface="仿宋_GB2312" pitchFamily="49" charset="-122"/>
                <a:ea typeface="仿宋_GB2312" pitchFamily="49" charset="-122"/>
              </a:rPr>
              <a:t>三者权重系数的量化</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同样使用熵值法来确定经济效益、满意度和市场占有率三者的权重。</a:t>
            </a:r>
            <a:endParaRPr lang="zh-CN" altLang="en-US" sz="2400" b="1">
              <a:solidFill>
                <a:srgbClr val="692AA2"/>
              </a:solidFill>
              <a:latin typeface="仿宋_GB2312" pitchFamily="49" charset="-122"/>
              <a:ea typeface="仿宋_GB2312" pitchFamily="49" charset="-122"/>
            </a:endParaRPr>
          </a:p>
        </p:txBody>
      </p:sp>
      <p:sp>
        <p:nvSpPr>
          <p:cNvPr id="387075" name="Rectangle 3"/>
          <p:cNvSpPr/>
          <p:nvPr/>
        </p:nvSpPr>
        <p:spPr>
          <a:xfrm>
            <a:off x="0" y="2928938"/>
            <a:ext cx="9144000" cy="0"/>
          </a:xfrm>
          <a:prstGeom prst="rect">
            <a:avLst/>
          </a:prstGeom>
          <a:noFill/>
          <a:ln w="9525">
            <a:noFill/>
          </a:ln>
        </p:spPr>
        <p:txBody>
          <a:bodyPr wrap="none" lIns="0" tIns="0" rIns="0" bIns="0" anchor="ctr">
            <a:spAutoFit/>
          </a:bodyPr>
          <a:p>
            <a:endParaRPr lang="zh-CN" altLang="en-US">
              <a:latin typeface="Arial" panose="020B0604020202020204" pitchFamily="34" charset="0"/>
              <a:ea typeface="宋体" panose="02010600030101010101" pitchFamily="2" charset="-122"/>
            </a:endParaRPr>
          </a:p>
        </p:txBody>
      </p:sp>
      <p:graphicFrame>
        <p:nvGraphicFramePr>
          <p:cNvPr id="387076" name="Object 4"/>
          <p:cNvGraphicFramePr>
            <a:graphicFrameLocks noChangeAspect="1"/>
          </p:cNvGraphicFramePr>
          <p:nvPr/>
        </p:nvGraphicFramePr>
        <p:xfrm>
          <a:off x="1600200" y="4495800"/>
          <a:ext cx="5715000" cy="401638"/>
        </p:xfrm>
        <a:graphic>
          <a:graphicData uri="http://schemas.openxmlformats.org/presentationml/2006/ole">
            <mc:AlternateContent xmlns:mc="http://schemas.openxmlformats.org/markup-compatibility/2006">
              <mc:Choice xmlns:v="urn:schemas-microsoft-com:vml" Requires="v">
                <p:oleObj spid="_x0000_s3184" name="" r:id="rId1" imgW="3403600" imgH="241300" progId="Equation.DSMT4">
                  <p:embed/>
                </p:oleObj>
              </mc:Choice>
              <mc:Fallback>
                <p:oleObj name="" r:id="rId1" imgW="3403600" imgH="241300" progId="Equation.DSMT4">
                  <p:embed/>
                  <p:pic>
                    <p:nvPicPr>
                      <p:cNvPr id="0" name="图片 3183"/>
                      <p:cNvPicPr/>
                      <p:nvPr/>
                    </p:nvPicPr>
                    <p:blipFill>
                      <a:blip r:embed="rId2"/>
                      <a:stretch>
                        <a:fillRect/>
                      </a:stretch>
                    </p:blipFill>
                    <p:spPr>
                      <a:xfrm>
                        <a:off x="1600200" y="4495800"/>
                        <a:ext cx="5715000" cy="4016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7074">
                                            <p:txEl>
                                              <p:charRg st="0" end="12"/>
                                            </p:txEl>
                                          </p:spTgt>
                                        </p:tgtEl>
                                        <p:attrNameLst>
                                          <p:attrName>style.visibility</p:attrName>
                                        </p:attrNameLst>
                                      </p:cBhvr>
                                      <p:to>
                                        <p:strVal val="visible"/>
                                      </p:to>
                                    </p:set>
                                    <p:animEffect transition="in" filter="checkerboard(across)">
                                      <p:cBhvr>
                                        <p:cTn id="7" dur="500"/>
                                        <p:tgtEl>
                                          <p:spTgt spid="387074">
                                            <p:txEl>
                                              <p:charRg st="0" end="12"/>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87074">
                                            <p:txEl>
                                              <p:charRg st="12" end="72"/>
                                            </p:txEl>
                                          </p:spTgt>
                                        </p:tgtEl>
                                        <p:attrNameLst>
                                          <p:attrName>style.visibility</p:attrName>
                                        </p:attrNameLst>
                                      </p:cBhvr>
                                      <p:to>
                                        <p:strVal val="visible"/>
                                      </p:to>
                                    </p:set>
                                    <p:animEffect transition="in" filter="checkerboard(across)">
                                      <p:cBhvr>
                                        <p:cTn id="10" dur="500"/>
                                        <p:tgtEl>
                                          <p:spTgt spid="387074">
                                            <p:txEl>
                                              <p:charRg st="12" end="7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387074">
                                            <p:txEl>
                                              <p:charRg st="72" end="89"/>
                                            </p:txEl>
                                          </p:spTgt>
                                        </p:tgtEl>
                                        <p:attrNameLst>
                                          <p:attrName>style.visibility</p:attrName>
                                        </p:attrNameLst>
                                      </p:cBhvr>
                                      <p:to>
                                        <p:strVal val="visible"/>
                                      </p:to>
                                    </p:set>
                                    <p:animEffect transition="in" filter="checkerboard(across)">
                                      <p:cBhvr>
                                        <p:cTn id="15" dur="500"/>
                                        <p:tgtEl>
                                          <p:spTgt spid="387074">
                                            <p:txEl>
                                              <p:charRg st="72" end="89"/>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87074">
                                            <p:txEl>
                                              <p:charRg st="89" end="125"/>
                                            </p:txEl>
                                          </p:spTgt>
                                        </p:tgtEl>
                                        <p:attrNameLst>
                                          <p:attrName>style.visibility</p:attrName>
                                        </p:attrNameLst>
                                      </p:cBhvr>
                                      <p:to>
                                        <p:strVal val="visible"/>
                                      </p:to>
                                    </p:set>
                                    <p:animEffect transition="in" filter="checkerboard(across)">
                                      <p:cBhvr>
                                        <p:cTn id="18" dur="500"/>
                                        <p:tgtEl>
                                          <p:spTgt spid="387074">
                                            <p:txEl>
                                              <p:charRg st="89" end="125"/>
                                            </p:txEl>
                                          </p:spTgt>
                                        </p:tgtEl>
                                      </p:cBhvr>
                                    </p:animEffect>
                                  </p:childTnLst>
                                </p:cTn>
                              </p:par>
                              <p:par>
                                <p:cTn id="19" presetID="5" presetClass="entr" presetSubtype="10" fill="hold" grpId="0" nodeType="withEffect" nodePh="1">
                                  <p:stCondLst>
                                    <p:cond delay="0"/>
                                  </p:stCondLst>
                                  <p:endCondLst>
                                    <p:cond evt="begin" delay="0">
                                      <p:tn val="19"/>
                                    </p:cond>
                                  </p:endCondLst>
                                  <p:childTnLst>
                                    <p:set>
                                      <p:cBhvr>
                                        <p:cTn id="20" dur="1" fill="hold">
                                          <p:stCondLst>
                                            <p:cond delay="0"/>
                                          </p:stCondLst>
                                        </p:cTn>
                                        <p:tgtEl>
                                          <p:spTgt spid="387075"/>
                                        </p:tgtEl>
                                        <p:attrNameLst>
                                          <p:attrName>style.visibility</p:attrName>
                                        </p:attrNameLst>
                                      </p:cBhvr>
                                      <p:to>
                                        <p:strVal val="visible"/>
                                      </p:to>
                                    </p:set>
                                    <p:animEffect transition="in" filter="checkerboard(across)">
                                      <p:cBhvr>
                                        <p:cTn id="21" dur="500"/>
                                        <p:tgtEl>
                                          <p:spTgt spid="387075"/>
                                        </p:tgtEl>
                                      </p:cBhvr>
                                    </p:animEffect>
                                  </p:childTnLst>
                                </p:cTn>
                              </p:par>
                              <p:par>
                                <p:cTn id="22" presetID="5" presetClass="entr" presetSubtype="10" fill="hold" nodeType="withEffect">
                                  <p:stCondLst>
                                    <p:cond delay="0"/>
                                  </p:stCondLst>
                                  <p:childTnLst>
                                    <p:set>
                                      <p:cBhvr>
                                        <p:cTn id="23" dur="1" fill="hold">
                                          <p:stCondLst>
                                            <p:cond delay="0"/>
                                          </p:stCondLst>
                                        </p:cTn>
                                        <p:tgtEl>
                                          <p:spTgt spid="387076"/>
                                        </p:tgtEl>
                                        <p:attrNameLst>
                                          <p:attrName>style.visibility</p:attrName>
                                        </p:attrNameLst>
                                      </p:cBhvr>
                                      <p:to>
                                        <p:strVal val="visible"/>
                                      </p:to>
                                    </p:set>
                                    <p:animEffect transition="in" filter="checkerboard(across)">
                                      <p:cBhvr>
                                        <p:cTn id="24" dur="500"/>
                                        <p:tgtEl>
                                          <p:spTgt spid="387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7074" grpId="0" build="p"/>
      <p:bldP spid="387075"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8098" name="Rectangle 2"/>
          <p:cNvSpPr>
            <a:spLocks noGrp="1"/>
          </p:cNvSpPr>
          <p:nvPr>
            <p:ph idx="1"/>
          </p:nvPr>
        </p:nvSpPr>
        <p:spPr>
          <a:xfrm>
            <a:off x="457200" y="1371600"/>
            <a:ext cx="8229600" cy="4495800"/>
          </a:xfrm>
          <a:ln/>
        </p:spPr>
        <p:txBody>
          <a:bodyPr vert="horz" wrap="square" lIns="91440" tIns="45720" rIns="91440" bIns="45720" anchor="t"/>
          <a:p>
            <a:pPr eaLnBrk="1" hangingPunct="1">
              <a:buNone/>
            </a:pPr>
            <a:r>
              <a:rPr lang="en-US" altLang="zh-CN">
                <a:ea typeface="宋体" panose="02010600030101010101" pitchFamily="2" charset="-122"/>
              </a:rPr>
              <a:t>         </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简化为单目标线性规划模型</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由这三个权重系数          ，我们可以将前面的多目标规划模型简化为下面的单目标线性模型：</a:t>
            </a: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模型</a:t>
            </a:r>
            <a:r>
              <a:rPr lang="en-US" altLang="zh-CN" sz="2400" b="1">
                <a:solidFill>
                  <a:srgbClr val="692AA2"/>
                </a:solidFill>
                <a:latin typeface="仿宋_GB2312" pitchFamily="49" charset="-122"/>
                <a:ea typeface="仿宋_GB2312" pitchFamily="49" charset="-122"/>
              </a:rPr>
              <a:t>Ⅲ</a:t>
            </a:r>
            <a:r>
              <a:rPr lang="en-US" altLang="zh-CN" sz="2400" b="1">
                <a:solidFill>
                  <a:srgbClr val="692AA2"/>
                </a:solidFill>
                <a:latin typeface="Arial" panose="020B0604020202020204" pitchFamily="34" charset="0"/>
                <a:ea typeface="仿宋_GB2312" pitchFamily="49" charset="-122"/>
              </a:rPr>
              <a:t>’</a:t>
            </a:r>
            <a:r>
              <a:rPr lang="en-US" altLang="zh-CN" sz="2400" b="1">
                <a:solidFill>
                  <a:srgbClr val="692AA2"/>
                </a:solidFill>
                <a:latin typeface="仿宋_GB2312" pitchFamily="49" charset="-122"/>
                <a:ea typeface="仿宋_GB2312" pitchFamily="49" charset="-122"/>
              </a:rPr>
              <a:t> </a:t>
            </a:r>
            <a:endParaRPr lang="en-US" altLang="zh-CN" sz="2400" b="1">
              <a:solidFill>
                <a:srgbClr val="692AA2"/>
              </a:solidFill>
              <a:latin typeface="仿宋_GB2312" pitchFamily="49" charset="-122"/>
              <a:ea typeface="仿宋_GB2312" pitchFamily="49" charset="-122"/>
            </a:endParaRPr>
          </a:p>
        </p:txBody>
      </p:sp>
      <p:sp>
        <p:nvSpPr>
          <p:cNvPr id="388099" name="Rectangle 3"/>
          <p:cNvSpPr/>
          <p:nvPr/>
        </p:nvSpPr>
        <p:spPr>
          <a:xfrm>
            <a:off x="0" y="2852738"/>
            <a:ext cx="9144000" cy="0"/>
          </a:xfrm>
          <a:prstGeom prst="rect">
            <a:avLst/>
          </a:prstGeom>
          <a:noFill/>
          <a:ln w="9525">
            <a:noFill/>
          </a:ln>
        </p:spPr>
        <p:txBody>
          <a:bodyPr wrap="none" lIns="0" tIns="0" rIns="0" bIns="0" anchor="ctr">
            <a:spAutoFit/>
          </a:bodyPr>
          <a:p>
            <a:endParaRPr lang="zh-CN" altLang="en-US">
              <a:latin typeface="Arial" panose="020B0604020202020204" pitchFamily="34" charset="0"/>
              <a:ea typeface="宋体" panose="02010600030101010101" pitchFamily="2" charset="-122"/>
            </a:endParaRPr>
          </a:p>
        </p:txBody>
      </p:sp>
      <p:graphicFrame>
        <p:nvGraphicFramePr>
          <p:cNvPr id="388100" name="Object 4"/>
          <p:cNvGraphicFramePr>
            <a:graphicFrameLocks noChangeAspect="1"/>
          </p:cNvGraphicFramePr>
          <p:nvPr/>
        </p:nvGraphicFramePr>
        <p:xfrm>
          <a:off x="3810000" y="1981200"/>
          <a:ext cx="1295400" cy="352425"/>
        </p:xfrm>
        <a:graphic>
          <a:graphicData uri="http://schemas.openxmlformats.org/presentationml/2006/ole">
            <mc:AlternateContent xmlns:mc="http://schemas.openxmlformats.org/markup-compatibility/2006">
              <mc:Choice xmlns:v="urn:schemas-microsoft-com:vml" Requires="v">
                <p:oleObj spid="_x0000_s3186" name="" r:id="rId1" imgW="876300" imgH="241300" progId="Equation.DSMT4">
                  <p:embed/>
                </p:oleObj>
              </mc:Choice>
              <mc:Fallback>
                <p:oleObj name="" r:id="rId1" imgW="876300" imgH="241300" progId="Equation.DSMT4">
                  <p:embed/>
                  <p:pic>
                    <p:nvPicPr>
                      <p:cNvPr id="0" name="图片 3185"/>
                      <p:cNvPicPr/>
                      <p:nvPr/>
                    </p:nvPicPr>
                    <p:blipFill>
                      <a:blip r:embed="rId2"/>
                      <a:stretch>
                        <a:fillRect/>
                      </a:stretch>
                    </p:blipFill>
                    <p:spPr>
                      <a:xfrm>
                        <a:off x="3810000" y="1981200"/>
                        <a:ext cx="1295400" cy="352425"/>
                      </a:xfrm>
                      <a:prstGeom prst="rect">
                        <a:avLst/>
                      </a:prstGeom>
                      <a:noFill/>
                      <a:ln w="38100">
                        <a:noFill/>
                        <a:miter/>
                      </a:ln>
                    </p:spPr>
                  </p:pic>
                </p:oleObj>
              </mc:Fallback>
            </mc:AlternateContent>
          </a:graphicData>
        </a:graphic>
      </p:graphicFrame>
      <p:graphicFrame>
        <p:nvGraphicFramePr>
          <p:cNvPr id="388101" name="Object 5"/>
          <p:cNvGraphicFramePr>
            <a:graphicFrameLocks noChangeAspect="1"/>
          </p:cNvGraphicFramePr>
          <p:nvPr/>
        </p:nvGraphicFramePr>
        <p:xfrm>
          <a:off x="2286000" y="2895600"/>
          <a:ext cx="5029200" cy="2654300"/>
        </p:xfrm>
        <a:graphic>
          <a:graphicData uri="http://schemas.openxmlformats.org/presentationml/2006/ole">
            <mc:AlternateContent xmlns:mc="http://schemas.openxmlformats.org/markup-compatibility/2006">
              <mc:Choice xmlns:v="urn:schemas-microsoft-com:vml" Requires="v">
                <p:oleObj spid="_x0000_s3189" name="" r:id="rId3" imgW="3632200" imgH="1917700" progId="Equation.DSMT4">
                  <p:embed/>
                </p:oleObj>
              </mc:Choice>
              <mc:Fallback>
                <p:oleObj name="" r:id="rId3" imgW="3632200" imgH="1917700" progId="Equation.DSMT4">
                  <p:embed/>
                  <p:pic>
                    <p:nvPicPr>
                      <p:cNvPr id="0" name="图片 3188"/>
                      <p:cNvPicPr/>
                      <p:nvPr/>
                    </p:nvPicPr>
                    <p:blipFill>
                      <a:blip r:embed="rId4"/>
                      <a:stretch>
                        <a:fillRect/>
                      </a:stretch>
                    </p:blipFill>
                    <p:spPr>
                      <a:xfrm>
                        <a:off x="2286000" y="2895600"/>
                        <a:ext cx="5029200" cy="26543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88098">
                                            <p:txEl>
                                              <p:charRg st="0" end="24"/>
                                            </p:txEl>
                                          </p:spTgt>
                                        </p:tgtEl>
                                        <p:attrNameLst>
                                          <p:attrName>style.visibility</p:attrName>
                                        </p:attrNameLst>
                                      </p:cBhvr>
                                      <p:to>
                                        <p:strVal val="visible"/>
                                      </p:to>
                                    </p:set>
                                    <p:animEffect transition="in" filter="slide(fromBottom)">
                                      <p:cBhvr>
                                        <p:cTn id="7" dur="500"/>
                                        <p:tgtEl>
                                          <p:spTgt spid="388098">
                                            <p:txEl>
                                              <p:charRg st="0" end="24"/>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88098">
                                            <p:txEl>
                                              <p:charRg st="24" end="78"/>
                                            </p:txEl>
                                          </p:spTgt>
                                        </p:tgtEl>
                                        <p:attrNameLst>
                                          <p:attrName>style.visibility</p:attrName>
                                        </p:attrNameLst>
                                      </p:cBhvr>
                                      <p:to>
                                        <p:strVal val="visible"/>
                                      </p:to>
                                    </p:set>
                                    <p:animEffect transition="in" filter="slide(fromBottom)">
                                      <p:cBhvr>
                                        <p:cTn id="10" dur="500"/>
                                        <p:tgtEl>
                                          <p:spTgt spid="388098">
                                            <p:txEl>
                                              <p:charRg st="24" end="78"/>
                                            </p:txEl>
                                          </p:spTgt>
                                        </p:tgtEl>
                                      </p:cBhvr>
                                    </p:animEffect>
                                  </p:childTnLst>
                                </p:cTn>
                              </p:par>
                              <p:par>
                                <p:cTn id="11" presetID="12" presetClass="entr" presetSubtype="4" fill="hold" grpId="0" nodeType="withEffect" nodePh="1">
                                  <p:stCondLst>
                                    <p:cond delay="0"/>
                                  </p:stCondLst>
                                  <p:endCondLst>
                                    <p:cond evt="begin" delay="0">
                                      <p:tn val="11"/>
                                    </p:cond>
                                  </p:endCondLst>
                                  <p:childTnLst>
                                    <p:set>
                                      <p:cBhvr>
                                        <p:cTn id="12" dur="1" fill="hold">
                                          <p:stCondLst>
                                            <p:cond delay="0"/>
                                          </p:stCondLst>
                                        </p:cTn>
                                        <p:tgtEl>
                                          <p:spTgt spid="388099"/>
                                        </p:tgtEl>
                                        <p:attrNameLst>
                                          <p:attrName>style.visibility</p:attrName>
                                        </p:attrNameLst>
                                      </p:cBhvr>
                                      <p:to>
                                        <p:strVal val="visible"/>
                                      </p:to>
                                    </p:set>
                                    <p:animEffect transition="in" filter="slide(fromBottom)">
                                      <p:cBhvr>
                                        <p:cTn id="13" dur="500"/>
                                        <p:tgtEl>
                                          <p:spTgt spid="388099"/>
                                        </p:tgtEl>
                                      </p:cBhvr>
                                    </p:animEffect>
                                  </p:childTnLst>
                                </p:cTn>
                              </p:par>
                              <p:par>
                                <p:cTn id="14" presetID="12" presetClass="entr" presetSubtype="4" fill="hold" nodeType="withEffect">
                                  <p:stCondLst>
                                    <p:cond delay="0"/>
                                  </p:stCondLst>
                                  <p:childTnLst>
                                    <p:set>
                                      <p:cBhvr>
                                        <p:cTn id="15" dur="1" fill="hold">
                                          <p:stCondLst>
                                            <p:cond delay="0"/>
                                          </p:stCondLst>
                                        </p:cTn>
                                        <p:tgtEl>
                                          <p:spTgt spid="388100"/>
                                        </p:tgtEl>
                                        <p:attrNameLst>
                                          <p:attrName>style.visibility</p:attrName>
                                        </p:attrNameLst>
                                      </p:cBhvr>
                                      <p:to>
                                        <p:strVal val="visible"/>
                                      </p:to>
                                    </p:set>
                                    <p:animEffect transition="in" filter="slide(fromBottom)">
                                      <p:cBhvr>
                                        <p:cTn id="16" dur="500"/>
                                        <p:tgtEl>
                                          <p:spTgt spid="388100"/>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388098">
                                            <p:txEl>
                                              <p:charRg st="81" end="90"/>
                                            </p:txEl>
                                          </p:spTgt>
                                        </p:tgtEl>
                                        <p:attrNameLst>
                                          <p:attrName>style.visibility</p:attrName>
                                        </p:attrNameLst>
                                      </p:cBhvr>
                                      <p:to>
                                        <p:strVal val="visible"/>
                                      </p:to>
                                    </p:set>
                                    <p:animEffect transition="in" filter="slide(fromBottom)">
                                      <p:cBhvr>
                                        <p:cTn id="21" dur="500"/>
                                        <p:tgtEl>
                                          <p:spTgt spid="388098">
                                            <p:txEl>
                                              <p:charRg st="81" end="90"/>
                                            </p:txEl>
                                          </p:spTgt>
                                        </p:tgtEl>
                                      </p:cBhvr>
                                    </p:animEffect>
                                  </p:childTnLst>
                                </p:cTn>
                              </p:par>
                              <p:par>
                                <p:cTn id="22" presetID="12" presetClass="entr" presetSubtype="4" fill="hold" nodeType="withEffect">
                                  <p:stCondLst>
                                    <p:cond delay="0"/>
                                  </p:stCondLst>
                                  <p:childTnLst>
                                    <p:set>
                                      <p:cBhvr>
                                        <p:cTn id="23" dur="1" fill="hold">
                                          <p:stCondLst>
                                            <p:cond delay="0"/>
                                          </p:stCondLst>
                                        </p:cTn>
                                        <p:tgtEl>
                                          <p:spTgt spid="388101"/>
                                        </p:tgtEl>
                                        <p:attrNameLst>
                                          <p:attrName>style.visibility</p:attrName>
                                        </p:attrNameLst>
                                      </p:cBhvr>
                                      <p:to>
                                        <p:strVal val="visible"/>
                                      </p:to>
                                    </p:set>
                                    <p:animEffect transition="in" filter="slide(fromBottom)">
                                      <p:cBhvr>
                                        <p:cTn id="24" dur="500"/>
                                        <p:tgtEl>
                                          <p:spTgt spid="388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8" grpId="0" build="p"/>
      <p:bldP spid="388099"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22" name="Rectangle 2"/>
          <p:cNvSpPr>
            <a:spLocks noGrp="1"/>
          </p:cNvSpPr>
          <p:nvPr>
            <p:ph idx="1"/>
          </p:nvPr>
        </p:nvSpPr>
        <p:spPr>
          <a:xfrm>
            <a:off x="457200" y="1447800"/>
            <a:ext cx="8229600" cy="4495800"/>
          </a:xfrm>
          <a:ln/>
        </p:spPr>
        <p:txBody>
          <a:bodyPr vert="horz" wrap="square" lIns="91440" tIns="45720" rIns="91440" bIns="45720" anchor="t"/>
          <a:p>
            <a:pPr eaLnBrk="1" hangingPunct="1">
              <a:lnSpc>
                <a:spcPct val="120000"/>
              </a:lnSpc>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4</a:t>
            </a:r>
            <a:r>
              <a:rPr lang="zh-CN" altLang="en-US" sz="2400" b="1">
                <a:solidFill>
                  <a:srgbClr val="692AA2"/>
                </a:solidFill>
                <a:latin typeface="仿宋_GB2312" pitchFamily="49" charset="-122"/>
                <a:ea typeface="仿宋_GB2312" pitchFamily="49" charset="-122"/>
              </a:rPr>
              <a:t>）模型的求解 </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首先运用</a:t>
            </a:r>
            <a:r>
              <a:rPr lang="en-US" altLang="zh-CN" sz="2400" b="1">
                <a:solidFill>
                  <a:srgbClr val="692AA2"/>
                </a:solidFill>
                <a:latin typeface="仿宋_GB2312" pitchFamily="49" charset="-122"/>
                <a:ea typeface="仿宋_GB2312" pitchFamily="49" charset="-122"/>
              </a:rPr>
              <a:t>matlab7.0</a:t>
            </a:r>
            <a:r>
              <a:rPr lang="zh-CN" altLang="en-US" sz="2400" b="1">
                <a:solidFill>
                  <a:srgbClr val="692AA2"/>
                </a:solidFill>
                <a:latin typeface="仿宋_GB2312" pitchFamily="49" charset="-122"/>
                <a:ea typeface="仿宋_GB2312" pitchFamily="49" charset="-122"/>
              </a:rPr>
              <a:t>软件处理附件</a:t>
            </a:r>
            <a:r>
              <a:rPr lang="en-US" altLang="zh-CN" sz="2400" b="1">
                <a:solidFill>
                  <a:srgbClr val="692AA2"/>
                </a:solidFill>
                <a:latin typeface="仿宋_GB2312" pitchFamily="49" charset="-122"/>
                <a:ea typeface="仿宋_GB2312" pitchFamily="49" charset="-122"/>
              </a:rPr>
              <a:t>4</a:t>
            </a:r>
            <a:r>
              <a:rPr lang="zh-CN" altLang="en-US" sz="2400" b="1">
                <a:solidFill>
                  <a:srgbClr val="692AA2"/>
                </a:solidFill>
                <a:latin typeface="仿宋_GB2312" pitchFamily="49" charset="-122"/>
                <a:ea typeface="仿宋_GB2312" pitchFamily="49" charset="-122"/>
              </a:rPr>
              <a:t>和附件</a:t>
            </a:r>
            <a:r>
              <a:rPr lang="en-US" altLang="zh-CN" sz="2400" b="1">
                <a:solidFill>
                  <a:srgbClr val="692AA2"/>
                </a:solidFill>
                <a:latin typeface="仿宋_GB2312" pitchFamily="49" charset="-122"/>
                <a:ea typeface="仿宋_GB2312" pitchFamily="49" charset="-122"/>
              </a:rPr>
              <a:t>5</a:t>
            </a:r>
            <a:r>
              <a:rPr lang="zh-CN" altLang="en-US" sz="2400" b="1">
                <a:solidFill>
                  <a:srgbClr val="692AA2"/>
                </a:solidFill>
                <a:latin typeface="仿宋_GB2312" pitchFamily="49" charset="-122"/>
                <a:ea typeface="仿宋_GB2312" pitchFamily="49" charset="-122"/>
              </a:rPr>
              <a:t>中的原始数据，得到各线性约束条件前的系数矩阵。然后利用</a:t>
            </a:r>
            <a:r>
              <a:rPr lang="en-US" altLang="zh-CN" sz="2400" b="1">
                <a:solidFill>
                  <a:srgbClr val="692AA2"/>
                </a:solidFill>
                <a:latin typeface="仿宋_GB2312" pitchFamily="49" charset="-122"/>
                <a:ea typeface="仿宋_GB2312" pitchFamily="49" charset="-122"/>
              </a:rPr>
              <a:t>lingo8.0</a:t>
            </a:r>
            <a:r>
              <a:rPr lang="zh-CN" altLang="en-US" sz="2400" b="1">
                <a:solidFill>
                  <a:srgbClr val="692AA2"/>
                </a:solidFill>
                <a:latin typeface="仿宋_GB2312" pitchFamily="49" charset="-122"/>
                <a:ea typeface="仿宋_GB2312" pitchFamily="49" charset="-122"/>
              </a:rPr>
              <a:t>软件求解线性规划模型（附录），得到的具体数值，从而得到</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a:t>
            </a:r>
            <a:r>
              <a:rPr lang="en-US" altLang="zh-CN" sz="2400" b="1">
                <a:solidFill>
                  <a:srgbClr val="692AA2"/>
                </a:solidFill>
                <a:latin typeface="仿宋_GB2312" pitchFamily="49" charset="-122"/>
                <a:ea typeface="仿宋_GB2312" pitchFamily="49" charset="-122"/>
              </a:rPr>
              <a:t>9</a:t>
            </a:r>
            <a:r>
              <a:rPr lang="zh-CN" altLang="en-US" sz="2400" b="1">
                <a:solidFill>
                  <a:srgbClr val="692AA2"/>
                </a:solidFill>
                <a:latin typeface="仿宋_GB2312" pitchFamily="49" charset="-122"/>
                <a:ea typeface="仿宋_GB2312" pitchFamily="49" charset="-122"/>
              </a:rPr>
              <a:t>个分社的共</a:t>
            </a:r>
            <a:r>
              <a:rPr lang="en-US" altLang="zh-CN" sz="2400" b="1">
                <a:solidFill>
                  <a:srgbClr val="692AA2"/>
                </a:solidFill>
                <a:latin typeface="仿宋_GB2312" pitchFamily="49" charset="-122"/>
                <a:ea typeface="仿宋_GB2312" pitchFamily="49" charset="-122"/>
              </a:rPr>
              <a:t>72</a:t>
            </a:r>
            <a:r>
              <a:rPr lang="zh-CN" altLang="en-US" sz="2400" b="1">
                <a:solidFill>
                  <a:srgbClr val="692AA2"/>
                </a:solidFill>
                <a:latin typeface="仿宋_GB2312" pitchFamily="49" charset="-122"/>
                <a:ea typeface="仿宋_GB2312" pitchFamily="49" charset="-122"/>
              </a:rPr>
              <a:t>门课程的书号分配方案为</a:t>
            </a:r>
            <a:endParaRPr lang="zh-CN" altLang="en-US" sz="24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22">
                                            <p:txEl>
                                              <p:charRg st="0" end="12"/>
                                            </p:txEl>
                                          </p:spTgt>
                                        </p:tgtEl>
                                        <p:attrNameLst>
                                          <p:attrName>style.visibility</p:attrName>
                                        </p:attrNameLst>
                                      </p:cBhvr>
                                      <p:to>
                                        <p:strVal val="visible"/>
                                      </p:to>
                                    </p:set>
                                    <p:animEffect transition="in" filter="blinds(horizontal)">
                                      <p:cBhvr>
                                        <p:cTn id="7" dur="500"/>
                                        <p:tgtEl>
                                          <p:spTgt spid="389122">
                                            <p:txEl>
                                              <p:charRg st="0" end="1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89122">
                                            <p:txEl>
                                              <p:charRg st="12" end="129"/>
                                            </p:txEl>
                                          </p:spTgt>
                                        </p:tgtEl>
                                        <p:attrNameLst>
                                          <p:attrName>style.visibility</p:attrName>
                                        </p:attrNameLst>
                                      </p:cBhvr>
                                      <p:to>
                                        <p:strVal val="visible"/>
                                      </p:to>
                                    </p:set>
                                    <p:animEffect transition="in" filter="blinds(horizontal)">
                                      <p:cBhvr>
                                        <p:cTn id="10" dur="500"/>
                                        <p:tgtEl>
                                          <p:spTgt spid="389122">
                                            <p:txEl>
                                              <p:charRg st="12" end="1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5" name="Line 2"/>
          <p:cNvSpPr/>
          <p:nvPr/>
        </p:nvSpPr>
        <p:spPr>
          <a:xfrm>
            <a:off x="2111375" y="-1049337"/>
            <a:ext cx="0" cy="0"/>
          </a:xfrm>
          <a:prstGeom prst="line">
            <a:avLst/>
          </a:prstGeom>
          <a:ln w="12700" cap="rnd" cmpd="sng">
            <a:solidFill>
              <a:srgbClr val="000000"/>
            </a:solidFill>
            <a:prstDash val="solid"/>
            <a:round/>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54626" name="Line 3"/>
          <p:cNvSpPr/>
          <p:nvPr/>
        </p:nvSpPr>
        <p:spPr>
          <a:xfrm>
            <a:off x="2111375" y="-506412"/>
            <a:ext cx="0" cy="0"/>
          </a:xfrm>
          <a:prstGeom prst="line">
            <a:avLst/>
          </a:prstGeom>
          <a:ln w="12700" cap="rnd" cmpd="sng">
            <a:solidFill>
              <a:srgbClr val="000000"/>
            </a:solidFill>
            <a:prstDash val="solid"/>
            <a:round/>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54627" name="Line 4"/>
          <p:cNvSpPr/>
          <p:nvPr/>
        </p:nvSpPr>
        <p:spPr>
          <a:xfrm>
            <a:off x="2111375" y="36513"/>
            <a:ext cx="0" cy="0"/>
          </a:xfrm>
          <a:prstGeom prst="line">
            <a:avLst/>
          </a:prstGeom>
          <a:ln w="12700" cap="rnd" cmpd="sng">
            <a:solidFill>
              <a:srgbClr val="000000"/>
            </a:solidFill>
            <a:prstDash val="solid"/>
            <a:round/>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54628" name="Line 5"/>
          <p:cNvSpPr/>
          <p:nvPr/>
        </p:nvSpPr>
        <p:spPr>
          <a:xfrm>
            <a:off x="2111375" y="579438"/>
            <a:ext cx="0" cy="0"/>
          </a:xfrm>
          <a:prstGeom prst="line">
            <a:avLst/>
          </a:prstGeom>
          <a:ln w="12700" cap="rnd" cmpd="sng">
            <a:solidFill>
              <a:srgbClr val="000000"/>
            </a:solidFill>
            <a:prstDash val="solid"/>
            <a:round/>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54629" name="Line 6"/>
          <p:cNvSpPr/>
          <p:nvPr/>
        </p:nvSpPr>
        <p:spPr>
          <a:xfrm>
            <a:off x="2111375" y="1122363"/>
            <a:ext cx="0" cy="0"/>
          </a:xfrm>
          <a:prstGeom prst="line">
            <a:avLst/>
          </a:prstGeom>
          <a:ln w="12700" cap="rnd" cmpd="sng">
            <a:solidFill>
              <a:srgbClr val="000000"/>
            </a:solidFill>
            <a:prstDash val="solid"/>
            <a:round/>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graphicFrame>
        <p:nvGraphicFramePr>
          <p:cNvPr id="390151" name="Object 7"/>
          <p:cNvGraphicFramePr>
            <a:graphicFrameLocks noGrp="1" noChangeAspect="1"/>
          </p:cNvGraphicFramePr>
          <p:nvPr>
            <p:ph idx="1"/>
          </p:nvPr>
        </p:nvGraphicFramePr>
        <p:xfrm>
          <a:off x="1219200" y="152400"/>
          <a:ext cx="6705600" cy="6477000"/>
        </p:xfrm>
        <a:graphic>
          <a:graphicData uri="http://schemas.openxmlformats.org/presentationml/2006/ole">
            <mc:AlternateContent xmlns:mc="http://schemas.openxmlformats.org/markup-compatibility/2006">
              <mc:Choice xmlns:v="urn:schemas-microsoft-com:vml" Requires="v">
                <p:oleObj spid="_x0000_s3188" name="" r:id="rId1" imgW="5591810" imgH="8874125" progId="Word.Document.8">
                  <p:embed/>
                </p:oleObj>
              </mc:Choice>
              <mc:Fallback>
                <p:oleObj name="" r:id="rId1" imgW="5591810" imgH="8874125" progId="Word.Document.8">
                  <p:embed/>
                  <p:pic>
                    <p:nvPicPr>
                      <p:cNvPr id="0" name="图片 3187"/>
                      <p:cNvPicPr/>
                      <p:nvPr/>
                    </p:nvPicPr>
                    <p:blipFill>
                      <a:blip r:embed="rId2"/>
                      <a:stretch>
                        <a:fillRect/>
                      </a:stretch>
                    </p:blipFill>
                    <p:spPr>
                      <a:xfrm>
                        <a:off x="1219200" y="152400"/>
                        <a:ext cx="6705600" cy="6477000"/>
                      </a:xfrm>
                      <a:prstGeom prst="rect">
                        <a:avLst/>
                      </a:prstGeom>
                      <a:noFill/>
                      <a:ln w="38100">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0151"/>
                                        </p:tgtEl>
                                        <p:attrNameLst>
                                          <p:attrName>style.visibility</p:attrName>
                                        </p:attrNameLst>
                                      </p:cBhvr>
                                      <p:to>
                                        <p:strVal val="visible"/>
                                      </p:to>
                                    </p:set>
                                    <p:anim calcmode="lin" valueType="num">
                                      <p:cBhvr>
                                        <p:cTn id="7" dur="500" fill="hold"/>
                                        <p:tgtEl>
                                          <p:spTgt spid="390151"/>
                                        </p:tgtEl>
                                        <p:attrNameLst>
                                          <p:attrName>ppt_x</p:attrName>
                                        </p:attrNameLst>
                                      </p:cBhvr>
                                      <p:tavLst>
                                        <p:tav tm="0">
                                          <p:val>
                                            <p:strVal val="#ppt_x"/>
                                          </p:val>
                                        </p:tav>
                                        <p:tav tm="100000">
                                          <p:val>
                                            <p:strVal val="#ppt_x"/>
                                          </p:val>
                                        </p:tav>
                                      </p:tavLst>
                                    </p:anim>
                                    <p:anim calcmode="lin" valueType="num">
                                      <p:cBhvr>
                                        <p:cTn id="8" dur="500" fill="hold"/>
                                        <p:tgtEl>
                                          <p:spTgt spid="3901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1170" name="Rectangle 2"/>
          <p:cNvSpPr>
            <a:spLocks noGrp="1"/>
          </p:cNvSpPr>
          <p:nvPr>
            <p:ph idx="1"/>
          </p:nvPr>
        </p:nvSpPr>
        <p:spPr>
          <a:xfrm>
            <a:off x="457200" y="1371600"/>
            <a:ext cx="8229600" cy="4495800"/>
          </a:xfrm>
          <a:ln/>
        </p:spPr>
        <p:txBody>
          <a:bodyPr vert="horz" wrap="square" lIns="91440" tIns="45720" rIns="91440" bIns="45720" anchor="t"/>
          <a:p>
            <a:pPr eaLnBrk="1" hangingPunct="1">
              <a:lnSpc>
                <a:spcPct val="90000"/>
              </a:lnSpc>
              <a:buNone/>
            </a:pPr>
            <a:r>
              <a:rPr lang="en-US" altLang="zh-CN" sz="2400" b="1">
                <a:solidFill>
                  <a:srgbClr val="692AA2"/>
                </a:solidFill>
                <a:latin typeface="仿宋_GB2312" pitchFamily="49" charset="-122"/>
                <a:ea typeface="仿宋_GB2312" pitchFamily="49" charset="-122"/>
              </a:rPr>
              <a:t>6.4 </a:t>
            </a:r>
            <a:r>
              <a:rPr lang="zh-CN" altLang="en-US" sz="2400" b="1">
                <a:solidFill>
                  <a:srgbClr val="692AA2"/>
                </a:solidFill>
                <a:latin typeface="仿宋_GB2312" pitchFamily="49" charset="-122"/>
                <a:ea typeface="仿宋_GB2312" pitchFamily="49" charset="-122"/>
              </a:rPr>
              <a:t>总社－课程的资源配置多目标规划模型</a:t>
            </a: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r>
              <a:rPr lang="zh-CN" altLang="en-US" sz="2400" b="1">
                <a:solidFill>
                  <a:srgbClr val="692AA2"/>
                </a:solidFill>
                <a:latin typeface="仿宋_GB2312" pitchFamily="49" charset="-122"/>
                <a:ea typeface="仿宋_GB2312" pitchFamily="49" charset="-122"/>
              </a:rPr>
              <a:t>      模型</a:t>
            </a:r>
            <a:r>
              <a:rPr lang="en-US" altLang="zh-CN" sz="2400" b="1">
                <a:solidFill>
                  <a:srgbClr val="692AA2"/>
                </a:solidFill>
                <a:latin typeface="仿宋_GB2312" pitchFamily="49" charset="-122"/>
                <a:ea typeface="仿宋_GB2312" pitchFamily="49" charset="-122"/>
              </a:rPr>
              <a:t>Ⅰ</a:t>
            </a:r>
            <a:r>
              <a:rPr lang="zh-CN" altLang="en-US" sz="2400" b="1">
                <a:solidFill>
                  <a:srgbClr val="692AA2"/>
                </a:solidFill>
                <a:latin typeface="仿宋_GB2312" pitchFamily="49" charset="-122"/>
                <a:ea typeface="仿宋_GB2312" pitchFamily="49" charset="-122"/>
              </a:rPr>
              <a:t>和模型</a:t>
            </a:r>
            <a:r>
              <a:rPr lang="en-US" altLang="zh-CN" sz="2400" b="1">
                <a:solidFill>
                  <a:srgbClr val="692AA2"/>
                </a:solidFill>
                <a:latin typeface="仿宋_GB2312" pitchFamily="49" charset="-122"/>
                <a:ea typeface="仿宋_GB2312" pitchFamily="49" charset="-122"/>
              </a:rPr>
              <a:t>Ⅱ</a:t>
            </a:r>
            <a:r>
              <a:rPr lang="zh-CN" altLang="en-US" sz="2400" b="1">
                <a:solidFill>
                  <a:srgbClr val="692AA2"/>
                </a:solidFill>
                <a:latin typeface="仿宋_GB2312" pitchFamily="49" charset="-122"/>
                <a:ea typeface="仿宋_GB2312" pitchFamily="49" charset="-122"/>
              </a:rPr>
              <a:t>是按照</a:t>
            </a:r>
            <a:r>
              <a:rPr lang="en-US" altLang="zh-CN" sz="2400" b="1">
                <a:solidFill>
                  <a:srgbClr val="692AA2"/>
                </a:solidFill>
                <a:latin typeface="仿宋_GB2312" pitchFamily="49" charset="-122"/>
                <a:ea typeface="仿宋_GB2312" pitchFamily="49" charset="-122"/>
              </a:rPr>
              <a:t>A</a:t>
            </a:r>
            <a:r>
              <a:rPr lang="zh-CN" altLang="en-US" sz="2400" b="1">
                <a:solidFill>
                  <a:srgbClr val="692AA2"/>
                </a:solidFill>
                <a:latin typeface="仿宋_GB2312" pitchFamily="49" charset="-122"/>
                <a:ea typeface="仿宋_GB2312" pitchFamily="49" charset="-122"/>
              </a:rPr>
              <a:t>出版社目前</a:t>
            </a:r>
            <a:r>
              <a:rPr lang="zh-CN" altLang="en-US"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总社－分社－课程</a:t>
            </a:r>
            <a:r>
              <a:rPr lang="zh-CN" altLang="en-US"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的二次分配步骤而建立的。但是实际过程中，在第一步分配</a:t>
            </a:r>
            <a:r>
              <a:rPr lang="zh-CN" altLang="en-US"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总社－分社</a:t>
            </a:r>
            <a:r>
              <a:rPr lang="zh-CN" altLang="en-US"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，总社只能根据各分社的整体情况确定书号分配个数，不能较好的顾及所有课程，特别是强势课程。第二步分配</a:t>
            </a:r>
            <a:r>
              <a:rPr lang="zh-CN" altLang="en-US"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分社－课程</a:t>
            </a:r>
            <a:r>
              <a:rPr lang="zh-CN" altLang="en-US"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，各个分社对所辖课程进行书号分配时，分社间是相互独立的，而且各个分社的分配标准不尽相同，势必会与总社的预期效果存在一定的差异，同时也会影响总社的经济效益。因此下面对</a:t>
            </a:r>
            <a:r>
              <a:rPr lang="en-US" altLang="zh-CN" sz="2400" b="1">
                <a:solidFill>
                  <a:srgbClr val="692AA2"/>
                </a:solidFill>
                <a:latin typeface="仿宋_GB2312" pitchFamily="49" charset="-122"/>
                <a:ea typeface="仿宋_GB2312" pitchFamily="49" charset="-122"/>
              </a:rPr>
              <a:t>A</a:t>
            </a:r>
            <a:r>
              <a:rPr lang="zh-CN" altLang="en-US" sz="2400" b="1">
                <a:solidFill>
                  <a:srgbClr val="692AA2"/>
                </a:solidFill>
                <a:latin typeface="仿宋_GB2312" pitchFamily="49" charset="-122"/>
                <a:ea typeface="仿宋_GB2312" pitchFamily="49" charset="-122"/>
              </a:rPr>
              <a:t>出版社目前的分配方案进行改进，建立总社－课程的资源配置多目标规划模型，研究</a:t>
            </a:r>
            <a:r>
              <a:rPr lang="zh-CN" altLang="en-US"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总社－课程</a:t>
            </a:r>
            <a:r>
              <a:rPr lang="zh-CN" altLang="en-US"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一次分配方式的分配方案。</a:t>
            </a:r>
            <a:endParaRPr lang="zh-CN" altLang="en-US" sz="24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1170">
                                            <p:txEl>
                                              <p:charRg st="0" end="22"/>
                                            </p:txEl>
                                          </p:spTgt>
                                        </p:tgtEl>
                                        <p:attrNameLst>
                                          <p:attrName>style.visibility</p:attrName>
                                        </p:attrNameLst>
                                      </p:cBhvr>
                                      <p:to>
                                        <p:strVal val="visible"/>
                                      </p:to>
                                    </p:set>
                                    <p:animEffect transition="in" filter="box(in)">
                                      <p:cBhvr>
                                        <p:cTn id="7" dur="500"/>
                                        <p:tgtEl>
                                          <p:spTgt spid="391170">
                                            <p:txEl>
                                              <p:charRg st="0" end="2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91170">
                                            <p:txEl>
                                              <p:charRg st="22" end="283"/>
                                            </p:txEl>
                                          </p:spTgt>
                                        </p:tgtEl>
                                        <p:attrNameLst>
                                          <p:attrName>style.visibility</p:attrName>
                                        </p:attrNameLst>
                                      </p:cBhvr>
                                      <p:to>
                                        <p:strVal val="visible"/>
                                      </p:to>
                                    </p:set>
                                    <p:animEffect transition="in" filter="box(in)">
                                      <p:cBhvr>
                                        <p:cTn id="10" dur="500"/>
                                        <p:tgtEl>
                                          <p:spTgt spid="391170">
                                            <p:txEl>
                                              <p:charRg st="22" end="2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2194" name="Rectangle 2"/>
          <p:cNvSpPr>
            <a:spLocks noGrp="1"/>
          </p:cNvSpPr>
          <p:nvPr>
            <p:ph idx="1"/>
          </p:nvPr>
        </p:nvSpPr>
        <p:spPr>
          <a:xfrm>
            <a:off x="457200" y="1066800"/>
            <a:ext cx="8229600" cy="49530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      </a:t>
            </a:r>
            <a:r>
              <a:rPr lang="en-US" altLang="zh-CN"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总社－课程</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的分配步骤如下图</a:t>
            </a:r>
            <a:r>
              <a:rPr lang="en-US" altLang="zh-CN" sz="2000" b="1">
                <a:solidFill>
                  <a:srgbClr val="692AA2"/>
                </a:solidFill>
                <a:latin typeface="仿宋_GB2312" pitchFamily="49" charset="-122"/>
                <a:ea typeface="仿宋_GB2312" pitchFamily="49" charset="-122"/>
              </a:rPr>
              <a:t>5.2</a:t>
            </a:r>
            <a:r>
              <a:rPr lang="zh-CN" altLang="en-US" sz="2000" b="1">
                <a:solidFill>
                  <a:srgbClr val="692AA2"/>
                </a:solidFill>
                <a:latin typeface="仿宋_GB2312" pitchFamily="49" charset="-122"/>
                <a:ea typeface="仿宋_GB2312" pitchFamily="49" charset="-122"/>
              </a:rPr>
              <a:t>所示</a:t>
            </a:r>
            <a:endParaRPr lang="zh-CN" altLang="en-US" sz="2000" b="1">
              <a:solidFill>
                <a:srgbClr val="692AA2"/>
              </a:solidFill>
              <a:latin typeface="仿宋_GB2312" pitchFamily="49" charset="-122"/>
              <a:ea typeface="仿宋_GB2312" pitchFamily="49" charset="-122"/>
            </a:endParaRPr>
          </a:p>
          <a:p>
            <a:pPr eaLnBrk="1" hangingPunct="1">
              <a:lnSpc>
                <a:spcPct val="120000"/>
              </a:lnSpc>
            </a:pPr>
            <a:endParaRPr lang="zh-CN" altLang="en-US" sz="2000" b="1">
              <a:solidFill>
                <a:srgbClr val="692AA2"/>
              </a:solidFill>
              <a:latin typeface="仿宋_GB2312" pitchFamily="49" charset="-122"/>
              <a:ea typeface="仿宋_GB2312" pitchFamily="49" charset="-122"/>
            </a:endParaRPr>
          </a:p>
          <a:p>
            <a:pPr eaLnBrk="1" hangingPunct="1">
              <a:lnSpc>
                <a:spcPct val="120000"/>
              </a:lnSpc>
            </a:pPr>
            <a:endParaRPr lang="zh-CN" altLang="en-US" sz="2000" b="1">
              <a:solidFill>
                <a:srgbClr val="692AA2"/>
              </a:solidFill>
              <a:latin typeface="仿宋_GB2312" pitchFamily="49" charset="-122"/>
              <a:ea typeface="仿宋_GB2312" pitchFamily="49" charset="-122"/>
            </a:endParaRPr>
          </a:p>
          <a:p>
            <a:pPr eaLnBrk="1" hangingPunct="1">
              <a:lnSpc>
                <a:spcPct val="120000"/>
              </a:lnSpc>
            </a:pPr>
            <a:endParaRPr lang="zh-CN" altLang="en-US" sz="2000" b="1">
              <a:solidFill>
                <a:srgbClr val="692AA2"/>
              </a:solidFill>
              <a:latin typeface="仿宋_GB2312" pitchFamily="49" charset="-122"/>
              <a:ea typeface="仿宋_GB2312" pitchFamily="49" charset="-122"/>
            </a:endParaRPr>
          </a:p>
          <a:p>
            <a:pPr eaLnBrk="1" hangingPunct="1">
              <a:lnSpc>
                <a:spcPct val="120000"/>
              </a:lnSpc>
            </a:pPr>
            <a:endParaRPr lang="zh-CN" altLang="en-US" sz="2000" b="1">
              <a:solidFill>
                <a:srgbClr val="692AA2"/>
              </a:solidFill>
              <a:latin typeface="仿宋_GB2312" pitchFamily="49" charset="-122"/>
              <a:ea typeface="仿宋_GB2312" pitchFamily="49" charset="-122"/>
            </a:endParaRPr>
          </a:p>
          <a:p>
            <a:pPr eaLnBrk="1" hangingPunct="1">
              <a:lnSpc>
                <a:spcPct val="120000"/>
              </a:lnSpc>
            </a:pP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目前，总社给各分社分配书号时，以分社为单位，并遵循增加强势产品支持力度的原则优化资源配置。同样的，在</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总社－课程</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一次分配时，总社要考虑增加强势产品支持力度，不能够一切以盈利为目的，还要顾及出版社的长远发展。在考虑出版社目前经济效益的同时，还应该顾及市场信息（关系其长远发展），如学生对教科书的满意度、课程的市场占有率等因素。</a:t>
            </a:r>
            <a:endParaRPr lang="zh-CN" altLang="en-US" sz="2000" b="1">
              <a:solidFill>
                <a:srgbClr val="692AA2"/>
              </a:solidFill>
              <a:latin typeface="仿宋_GB2312" pitchFamily="49" charset="-122"/>
              <a:ea typeface="仿宋_GB2312" pitchFamily="49" charset="-122"/>
            </a:endParaRPr>
          </a:p>
        </p:txBody>
      </p:sp>
      <p:grpSp>
        <p:nvGrpSpPr>
          <p:cNvPr id="2" name="Group 3"/>
          <p:cNvGrpSpPr>
            <a:grpSpLocks noChangeAspect="1"/>
          </p:cNvGrpSpPr>
          <p:nvPr/>
        </p:nvGrpSpPr>
        <p:grpSpPr>
          <a:xfrm>
            <a:off x="2133600" y="1524000"/>
            <a:ext cx="4648200" cy="2209800"/>
            <a:chOff x="1800" y="1050"/>
            <a:chExt cx="8100" cy="3744"/>
          </a:xfrm>
        </p:grpSpPr>
        <p:sp>
          <p:nvSpPr>
            <p:cNvPr id="156675" name="AutoShape 4"/>
            <p:cNvSpPr>
              <a:spLocks noChangeAspect="1"/>
            </p:cNvSpPr>
            <p:nvPr/>
          </p:nvSpPr>
          <p:spPr>
            <a:xfrm>
              <a:off x="1800" y="1050"/>
              <a:ext cx="8100" cy="3744"/>
            </a:xfrm>
            <a:prstGeom prst="rect">
              <a:avLst/>
            </a:prstGeom>
            <a:noFill/>
            <a:ln w="9525">
              <a:noFill/>
            </a:ln>
          </p:spPr>
          <p:txBody>
            <a:bodyPr anchor="t"/>
            <a:p>
              <a:endParaRPr lang="zh-CN" altLang="en-US">
                <a:latin typeface="Arial" panose="020B0604020202020204" pitchFamily="34" charset="0"/>
                <a:ea typeface="宋体" panose="02010600030101010101" pitchFamily="2" charset="-122"/>
              </a:endParaRPr>
            </a:p>
          </p:txBody>
        </p:sp>
        <p:sp>
          <p:nvSpPr>
            <p:cNvPr id="156676" name="AutoShape 5"/>
            <p:cNvSpPr/>
            <p:nvPr/>
          </p:nvSpPr>
          <p:spPr>
            <a:xfrm rot="-2348236">
              <a:off x="3960" y="2454"/>
              <a:ext cx="1205" cy="312"/>
            </a:xfrm>
            <a:prstGeom prst="leftArrow">
              <a:avLst>
                <a:gd name="adj1" fmla="val 50000"/>
                <a:gd name="adj2" fmla="val 96536"/>
              </a:avLst>
            </a:prstGeom>
            <a:solidFill>
              <a:srgbClr val="808080"/>
            </a:solidFill>
            <a:ln w="9525" cap="flat" cmpd="sng">
              <a:solidFill>
                <a:srgbClr val="000000"/>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56677" name="Oval 6"/>
            <p:cNvSpPr/>
            <p:nvPr/>
          </p:nvSpPr>
          <p:spPr>
            <a:xfrm>
              <a:off x="2340" y="2922"/>
              <a:ext cx="1800" cy="1092"/>
            </a:xfrm>
            <a:prstGeom prst="ellipse">
              <a:avLst/>
            </a:prstGeom>
            <a:solidFill>
              <a:srgbClr val="FFFFFF"/>
            </a:solidFill>
            <a:ln w="9525" cap="flat" cmpd="sng">
              <a:solidFill>
                <a:srgbClr val="000000"/>
              </a:solidFill>
              <a:prstDash val="solid"/>
              <a:round/>
              <a:headEnd type="none" w="med" len="med"/>
              <a:tailEnd type="none" w="med" len="med"/>
            </a:ln>
          </p:spPr>
          <p:txBody>
            <a:bodyPr lIns="0" tIns="0" rIns="0" bIns="0" anchor="t"/>
            <a:p>
              <a:pPr algn="ctr"/>
              <a:r>
                <a:rPr lang="zh-CN" altLang="en-US" sz="1200" b="1">
                  <a:latin typeface="Times New Roman" panose="02020603050405020304" pitchFamily="18" charset="0"/>
                  <a:ea typeface="宋体" panose="02010600030101010101" pitchFamily="2" charset="-122"/>
                </a:rPr>
                <a:t>课程</a:t>
              </a:r>
              <a:r>
                <a:rPr lang="en-US" altLang="zh-CN" sz="1200" b="1">
                  <a:latin typeface="Times New Roman" panose="02020603050405020304" pitchFamily="18" charset="0"/>
                  <a:ea typeface="宋体" panose="02010600030101010101" pitchFamily="2" charset="-122"/>
                </a:rPr>
                <a:t>1</a:t>
              </a:r>
              <a:endParaRPr lang="en-US" altLang="zh-CN" sz="1200" b="1">
                <a:latin typeface="Times New Roman" panose="02020603050405020304" pitchFamily="18" charset="0"/>
                <a:ea typeface="宋体" panose="02010600030101010101" pitchFamily="2" charset="-122"/>
              </a:endParaRPr>
            </a:p>
            <a:p>
              <a:pPr algn="ctr"/>
              <a:r>
                <a:rPr lang="en-US" altLang="zh-CN" sz="1000">
                  <a:latin typeface="Times New Roman" panose="02020603050405020304" pitchFamily="18" charset="0"/>
                  <a:ea typeface="宋体" panose="02010600030101010101" pitchFamily="2" charset="-122"/>
                </a:rPr>
                <a:t>C++</a:t>
              </a:r>
              <a:r>
                <a:rPr lang="zh-CN" altLang="en-US" sz="1000">
                  <a:latin typeface="Times New Roman" panose="02020603050405020304" pitchFamily="18" charset="0"/>
                  <a:ea typeface="宋体" panose="02010600030101010101" pitchFamily="2" charset="-122"/>
                </a:rPr>
                <a:t>程序设计</a:t>
              </a:r>
              <a:endParaRPr lang="zh-CN" altLang="en-US">
                <a:latin typeface="Arial" panose="020B0604020202020204" pitchFamily="34" charset="0"/>
                <a:ea typeface="宋体" panose="02010600030101010101" pitchFamily="2" charset="-122"/>
              </a:endParaRPr>
            </a:p>
          </p:txBody>
        </p:sp>
        <p:sp>
          <p:nvSpPr>
            <p:cNvPr id="156678" name="Oval 7"/>
            <p:cNvSpPr/>
            <p:nvPr/>
          </p:nvSpPr>
          <p:spPr>
            <a:xfrm>
              <a:off x="5040" y="1362"/>
              <a:ext cx="1620" cy="937"/>
            </a:xfrm>
            <a:prstGeom prst="ellipse">
              <a:avLst/>
            </a:prstGeom>
            <a:solidFill>
              <a:srgbClr val="FFFFFF"/>
            </a:solidFill>
            <a:ln w="9525" cap="flat" cmpd="sng">
              <a:solidFill>
                <a:srgbClr val="000000"/>
              </a:solidFill>
              <a:prstDash val="solid"/>
              <a:round/>
              <a:headEnd type="none" w="med" len="med"/>
              <a:tailEnd type="none" w="med" len="med"/>
            </a:ln>
          </p:spPr>
          <p:txBody>
            <a:bodyPr lIns="0" tIns="36000" rIns="0" bIns="0" anchor="t"/>
            <a:p>
              <a:pPr algn="ctr"/>
              <a:r>
                <a:rPr lang="zh-CN" altLang="en-US" sz="1600" b="1">
                  <a:latin typeface="Times New Roman" panose="02020603050405020304" pitchFamily="18" charset="0"/>
                  <a:ea typeface="宋体" panose="02010600030101010101" pitchFamily="2" charset="-122"/>
                </a:rPr>
                <a:t>总社</a:t>
              </a:r>
              <a:endParaRPr lang="zh-CN" altLang="en-US">
                <a:latin typeface="Arial" panose="020B0604020202020204" pitchFamily="34" charset="0"/>
                <a:ea typeface="宋体" panose="02010600030101010101" pitchFamily="2" charset="-122"/>
              </a:endParaRPr>
            </a:p>
          </p:txBody>
        </p:sp>
        <p:sp>
          <p:nvSpPr>
            <p:cNvPr id="156679" name="Oval 8"/>
            <p:cNvSpPr/>
            <p:nvPr/>
          </p:nvSpPr>
          <p:spPr>
            <a:xfrm>
              <a:off x="4140" y="3234"/>
              <a:ext cx="900" cy="312"/>
            </a:xfrm>
            <a:prstGeom prst="ellipse">
              <a:avLst/>
            </a:prstGeom>
            <a:solidFill>
              <a:srgbClr val="FFFFFF"/>
            </a:solidFill>
            <a:ln w="9525">
              <a:noFill/>
            </a:ln>
          </p:spPr>
          <p:txBody>
            <a:bodyPr lIns="0" tIns="0" rIns="0" bIns="0" anchor="t"/>
            <a:p>
              <a:pPr algn="just"/>
              <a:r>
                <a:rPr lang="en-US" altLang="zh-CN" sz="1000">
                  <a:latin typeface="Times New Roman" panose="02020603050405020304" pitchFamily="18"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p:txBody>
        </p:sp>
        <p:sp>
          <p:nvSpPr>
            <p:cNvPr id="156680" name="Oval 9"/>
            <p:cNvSpPr/>
            <p:nvPr/>
          </p:nvSpPr>
          <p:spPr>
            <a:xfrm>
              <a:off x="7560" y="2922"/>
              <a:ext cx="1620" cy="1092"/>
            </a:xfrm>
            <a:prstGeom prst="ellipse">
              <a:avLst/>
            </a:prstGeom>
            <a:solidFill>
              <a:srgbClr val="FFFFFF"/>
            </a:solidFill>
            <a:ln w="9525" cap="flat" cmpd="sng">
              <a:solidFill>
                <a:srgbClr val="000000"/>
              </a:solidFill>
              <a:prstDash val="solid"/>
              <a:round/>
              <a:headEnd type="none" w="med" len="med"/>
              <a:tailEnd type="none" w="med" len="med"/>
            </a:ln>
          </p:spPr>
          <p:txBody>
            <a:bodyPr lIns="0" tIns="0" rIns="0" bIns="0" anchor="t"/>
            <a:p>
              <a:pPr algn="ctr"/>
              <a:r>
                <a:rPr lang="zh-CN" altLang="en-US" sz="1200" b="1">
                  <a:latin typeface="Times New Roman" panose="02020603050405020304" pitchFamily="18" charset="0"/>
                  <a:ea typeface="宋体" panose="02010600030101010101" pitchFamily="2" charset="-122"/>
                </a:rPr>
                <a:t>课程</a:t>
              </a:r>
              <a:r>
                <a:rPr lang="en-US" altLang="zh-CN" sz="1200" b="1">
                  <a:latin typeface="Times New Roman" panose="02020603050405020304" pitchFamily="18" charset="0"/>
                  <a:ea typeface="宋体" panose="02010600030101010101" pitchFamily="2" charset="-122"/>
                </a:rPr>
                <a:t>72</a:t>
              </a:r>
              <a:endParaRPr lang="en-US" altLang="zh-CN" sz="1200" b="1">
                <a:latin typeface="Times New Roman" panose="02020603050405020304" pitchFamily="18" charset="0"/>
                <a:ea typeface="宋体" panose="02010600030101010101" pitchFamily="2" charset="-122"/>
              </a:endParaRPr>
            </a:p>
            <a:p>
              <a:pPr algn="ctr"/>
              <a:r>
                <a:rPr lang="zh-CN" altLang="en-US" sz="1000">
                  <a:latin typeface="Times New Roman" panose="02020603050405020304" pitchFamily="18" charset="0"/>
                  <a:ea typeface="宋体" panose="02010600030101010101" pitchFamily="2" charset="-122"/>
                </a:rPr>
                <a:t>环境管理</a:t>
              </a:r>
              <a:endParaRPr lang="zh-CN" altLang="en-US">
                <a:latin typeface="Arial" panose="020B0604020202020204" pitchFamily="34" charset="0"/>
                <a:ea typeface="宋体" panose="02010600030101010101" pitchFamily="2" charset="-122"/>
              </a:endParaRPr>
            </a:p>
          </p:txBody>
        </p:sp>
        <p:sp>
          <p:nvSpPr>
            <p:cNvPr id="156681" name="Oval 10"/>
            <p:cNvSpPr/>
            <p:nvPr/>
          </p:nvSpPr>
          <p:spPr>
            <a:xfrm>
              <a:off x="5040" y="2922"/>
              <a:ext cx="1440" cy="1092"/>
            </a:xfrm>
            <a:prstGeom prst="ellipse">
              <a:avLst/>
            </a:prstGeom>
            <a:solidFill>
              <a:srgbClr val="FFFFFF"/>
            </a:solidFill>
            <a:ln w="12700" cap="flat" cmpd="sng">
              <a:solidFill>
                <a:srgbClr val="000000"/>
              </a:solidFill>
              <a:prstDash val="dash"/>
              <a:round/>
              <a:headEnd type="none" w="med" len="med"/>
              <a:tailEnd type="none" w="med" len="med"/>
            </a:ln>
          </p:spPr>
          <p:txBody>
            <a:bodyPr lIns="0" tIns="0" rIns="0" bIns="0" anchor="t"/>
            <a:p>
              <a:pPr algn="ctr"/>
              <a:endParaRPr lang="en-US" altLang="zh-CN" sz="1000" b="1">
                <a:latin typeface="Times New Roman" panose="02020603050405020304" pitchFamily="18" charset="0"/>
                <a:ea typeface="宋体" panose="02010600030101010101" pitchFamily="2" charset="-122"/>
              </a:endParaRPr>
            </a:p>
            <a:p>
              <a:pPr algn="ctr"/>
              <a:r>
                <a:rPr lang="zh-CN" altLang="en-US" sz="1200" b="1">
                  <a:latin typeface="Times New Roman" panose="02020603050405020304" pitchFamily="18" charset="0"/>
                  <a:ea typeface="宋体" panose="02010600030101010101" pitchFamily="2" charset="-122"/>
                </a:rPr>
                <a:t>课程</a:t>
              </a:r>
              <a:r>
                <a:rPr lang="en-US" altLang="zh-CN" sz="1200" b="1" i="1">
                  <a:latin typeface="宋体" panose="02010600030101010101" pitchFamily="2" charset="-122"/>
                  <a:ea typeface="宋体" panose="02010600030101010101" pitchFamily="2" charset="-122"/>
                </a:rPr>
                <a:t>i</a:t>
              </a:r>
              <a:endParaRPr lang="en-US" altLang="zh-CN">
                <a:latin typeface="Arial" panose="020B0604020202020204" pitchFamily="34" charset="0"/>
                <a:ea typeface="宋体" panose="02010600030101010101" pitchFamily="2" charset="-122"/>
              </a:endParaRPr>
            </a:p>
          </p:txBody>
        </p:sp>
        <p:sp>
          <p:nvSpPr>
            <p:cNvPr id="156682" name="AutoShape 11"/>
            <p:cNvSpPr/>
            <p:nvPr/>
          </p:nvSpPr>
          <p:spPr>
            <a:xfrm>
              <a:off x="5580" y="2298"/>
              <a:ext cx="360" cy="624"/>
            </a:xfrm>
            <a:prstGeom prst="downArrow">
              <a:avLst>
                <a:gd name="adj1" fmla="val 50000"/>
                <a:gd name="adj2" fmla="val 43325"/>
              </a:avLst>
            </a:prstGeom>
            <a:solidFill>
              <a:srgbClr val="EAEAEA"/>
            </a:solidFill>
            <a:ln w="9525" cap="flat" cmpd="sng">
              <a:solidFill>
                <a:srgbClr val="000000"/>
              </a:solidFill>
              <a:prstDash val="dash"/>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sp>
          <p:nvSpPr>
            <p:cNvPr id="156683" name="AutoShape 12"/>
            <p:cNvSpPr/>
            <p:nvPr/>
          </p:nvSpPr>
          <p:spPr>
            <a:xfrm>
              <a:off x="2520" y="4170"/>
              <a:ext cx="5940" cy="468"/>
            </a:xfrm>
            <a:prstGeom prst="flowChartProcess">
              <a:avLst/>
            </a:prstGeom>
            <a:solidFill>
              <a:srgbClr val="FFFFFF"/>
            </a:solidFill>
            <a:ln w="9525">
              <a:noFill/>
            </a:ln>
          </p:spPr>
          <p:txBody>
            <a:bodyPr anchor="t"/>
            <a:p>
              <a:pPr algn="ctr"/>
              <a:r>
                <a:rPr lang="zh-CN" altLang="en-US" sz="900">
                  <a:latin typeface="黑体" panose="02010609060101010101" pitchFamily="2" charset="-122"/>
                  <a:ea typeface="黑体" panose="02010609060101010101" pitchFamily="2" charset="-122"/>
                </a:rPr>
                <a:t>图</a:t>
              </a:r>
              <a:r>
                <a:rPr lang="en-US" altLang="zh-CN" sz="900">
                  <a:latin typeface="黑体" panose="02010609060101010101" pitchFamily="2" charset="-122"/>
                  <a:ea typeface="黑体" panose="02010609060101010101" pitchFamily="2" charset="-122"/>
                </a:rPr>
                <a:t>5.2 </a:t>
              </a:r>
              <a:r>
                <a:rPr lang="en-US" altLang="zh-CN" sz="900">
                  <a:latin typeface="Times New Roman" panose="02020603050405020304" pitchFamily="18" charset="0"/>
                  <a:ea typeface="黑体" panose="02010609060101010101" pitchFamily="2" charset="-122"/>
                </a:rPr>
                <a:t>“</a:t>
              </a:r>
              <a:r>
                <a:rPr lang="zh-CN" altLang="en-US" sz="900">
                  <a:latin typeface="黑体" panose="02010609060101010101" pitchFamily="2" charset="-122"/>
                  <a:ea typeface="黑体" panose="02010609060101010101" pitchFamily="2" charset="-122"/>
                </a:rPr>
                <a:t>总社－课程</a:t>
              </a:r>
              <a:r>
                <a:rPr lang="zh-CN" altLang="en-US" sz="900">
                  <a:latin typeface="Arial" panose="020B0604020202020204" pitchFamily="34" charset="0"/>
                  <a:ea typeface="黑体" panose="02010609060101010101" pitchFamily="2" charset="-122"/>
                </a:rPr>
                <a:t>”</a:t>
              </a:r>
              <a:r>
                <a:rPr lang="zh-CN" altLang="en-US" sz="900">
                  <a:latin typeface="黑体" panose="02010609060101010101" pitchFamily="2" charset="-122"/>
                  <a:ea typeface="黑体" panose="02010609060101010101" pitchFamily="2" charset="-122"/>
                </a:rPr>
                <a:t>的一次分配示意图</a:t>
              </a:r>
              <a:endParaRPr lang="zh-CN" altLang="en-US" sz="900">
                <a:latin typeface="黑体" panose="02010609060101010101" pitchFamily="2" charset="-122"/>
                <a:ea typeface="黑体" panose="02010609060101010101" pitchFamily="2" charset="-122"/>
              </a:endParaRPr>
            </a:p>
            <a:p>
              <a:endParaRPr lang="en-US" altLang="zh-CN">
                <a:latin typeface="Arial" panose="020B0604020202020204" pitchFamily="34" charset="0"/>
                <a:ea typeface="宋体" panose="02010600030101010101" pitchFamily="2" charset="-122"/>
              </a:endParaRPr>
            </a:p>
          </p:txBody>
        </p:sp>
        <p:sp>
          <p:nvSpPr>
            <p:cNvPr id="156684" name="Oval 13"/>
            <p:cNvSpPr/>
            <p:nvPr/>
          </p:nvSpPr>
          <p:spPr>
            <a:xfrm>
              <a:off x="6480" y="3234"/>
              <a:ext cx="1080" cy="312"/>
            </a:xfrm>
            <a:prstGeom prst="ellipse">
              <a:avLst/>
            </a:prstGeom>
            <a:solidFill>
              <a:srgbClr val="FFFFFF"/>
            </a:solidFill>
            <a:ln w="9525">
              <a:noFill/>
            </a:ln>
          </p:spPr>
          <p:txBody>
            <a:bodyPr lIns="0" tIns="0" rIns="0" bIns="0" anchor="t"/>
            <a:p>
              <a:pPr algn="just"/>
              <a:r>
                <a:rPr lang="en-US" altLang="zh-CN" sz="1000">
                  <a:latin typeface="Times New Roman" panose="02020603050405020304" pitchFamily="18"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p:txBody>
        </p:sp>
        <p:sp>
          <p:nvSpPr>
            <p:cNvPr id="156685" name="AutoShape 14"/>
            <p:cNvSpPr/>
            <p:nvPr/>
          </p:nvSpPr>
          <p:spPr>
            <a:xfrm rot="-8407075">
              <a:off x="6660" y="2454"/>
              <a:ext cx="1205" cy="312"/>
            </a:xfrm>
            <a:prstGeom prst="leftArrow">
              <a:avLst>
                <a:gd name="adj1" fmla="val 50000"/>
                <a:gd name="adj2" fmla="val 96536"/>
              </a:avLst>
            </a:prstGeom>
            <a:solidFill>
              <a:srgbClr val="808080"/>
            </a:solidFill>
            <a:ln w="9525" cap="flat" cmpd="sng">
              <a:solidFill>
                <a:srgbClr val="000000"/>
              </a:solidFill>
              <a:prstDash val="solid"/>
              <a:miter/>
              <a:headEnd type="none" w="med" len="med"/>
              <a:tailEnd type="none" w="med" len="med"/>
            </a:ln>
          </p:spPr>
          <p:txBody>
            <a:bodyPr anchor="t"/>
            <a:p>
              <a:endParaRPr lang="zh-CN" altLang="en-US">
                <a:latin typeface="Arial" panose="020B0604020202020204" pitchFamily="34" charset="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92194">
                                            <p:txEl>
                                              <p:charRg st="0" end="27"/>
                                            </p:txEl>
                                          </p:spTgt>
                                        </p:tgtEl>
                                        <p:attrNameLst>
                                          <p:attrName>style.visibility</p:attrName>
                                        </p:attrNameLst>
                                      </p:cBhvr>
                                      <p:to>
                                        <p:strVal val="visible"/>
                                      </p:to>
                                    </p:set>
                                    <p:animEffect transition="in" filter="slide(fromBottom)">
                                      <p:cBhvr>
                                        <p:cTn id="7" dur="500"/>
                                        <p:tgtEl>
                                          <p:spTgt spid="392194">
                                            <p:txEl>
                                              <p:charRg st="0" end="27"/>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lide(fromBottom)">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392194">
                                            <p:txEl>
                                              <p:charRg st="32" end="202"/>
                                            </p:txEl>
                                          </p:spTgt>
                                        </p:tgtEl>
                                        <p:attrNameLst>
                                          <p:attrName>style.visibility</p:attrName>
                                        </p:attrNameLst>
                                      </p:cBhvr>
                                      <p:to>
                                        <p:strVal val="visible"/>
                                      </p:to>
                                    </p:set>
                                    <p:animEffect transition="in" filter="slide(fromBottom)">
                                      <p:cBhvr>
                                        <p:cTn id="15" dur="500"/>
                                        <p:tgtEl>
                                          <p:spTgt spid="392194">
                                            <p:txEl>
                                              <p:charRg st="32" end="2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3218" name="Rectangle 2"/>
          <p:cNvSpPr>
            <a:spLocks noGrp="1"/>
          </p:cNvSpPr>
          <p:nvPr>
            <p:ph idx="1"/>
          </p:nvPr>
        </p:nvSpPr>
        <p:spPr>
          <a:xfrm>
            <a:off x="457200" y="1143000"/>
            <a:ext cx="8229600" cy="4495800"/>
          </a:xfrm>
          <a:ln/>
        </p:spPr>
        <p:txBody>
          <a:bodyPr vert="horz" wrap="square" lIns="91440" tIns="45720" rIns="91440" bIns="45720" anchor="t"/>
          <a:p>
            <a:pPr eaLnBrk="1" hangingPunct="1">
              <a:lnSpc>
                <a:spcPct val="120000"/>
              </a:lnSpc>
              <a:buNone/>
            </a:pPr>
            <a:r>
              <a:rPr lang="en-US" altLang="zh-CN"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附件</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给出了</a:t>
            </a:r>
            <a:r>
              <a:rPr lang="en-US" altLang="zh-CN" sz="2400" b="1">
                <a:solidFill>
                  <a:srgbClr val="692AA2"/>
                </a:solidFill>
                <a:latin typeface="仿宋_GB2312" pitchFamily="49" charset="-122"/>
                <a:ea typeface="仿宋_GB2312" pitchFamily="49" charset="-122"/>
              </a:rPr>
              <a:t>5</a:t>
            </a:r>
            <a:r>
              <a:rPr lang="zh-CN" altLang="en-US" sz="2400" b="1">
                <a:solidFill>
                  <a:srgbClr val="692AA2"/>
                </a:solidFill>
                <a:latin typeface="仿宋_GB2312" pitchFamily="49" charset="-122"/>
                <a:ea typeface="仿宋_GB2312" pitchFamily="49" charset="-122"/>
              </a:rPr>
              <a:t>年来的十万多份调查问卷数据，可以较好的反映</a:t>
            </a:r>
            <a:r>
              <a:rPr lang="en-US" altLang="zh-CN" sz="2400" b="1">
                <a:solidFill>
                  <a:srgbClr val="692AA2"/>
                </a:solidFill>
                <a:latin typeface="仿宋_GB2312" pitchFamily="49" charset="-122"/>
                <a:ea typeface="仿宋_GB2312" pitchFamily="49" charset="-122"/>
              </a:rPr>
              <a:t>A</a:t>
            </a:r>
            <a:r>
              <a:rPr lang="zh-CN" altLang="en-US" sz="2400" b="1">
                <a:solidFill>
                  <a:srgbClr val="692AA2"/>
                </a:solidFill>
                <a:latin typeface="仿宋_GB2312" pitchFamily="49" charset="-122"/>
                <a:ea typeface="仿宋_GB2312" pitchFamily="49" charset="-122"/>
              </a:rPr>
              <a:t>出版社的市场信息。从附件</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可以看出，关系出版社市场地位的因素同样主要是学生的满意度和市场占有率。因此总社在制订资源分配方案时，需要考虑经济效益、学生的满意度、市场占有率三个方面。</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1</a:t>
            </a:r>
            <a:r>
              <a:rPr lang="zh-CN" altLang="en-US" sz="2400" b="1">
                <a:solidFill>
                  <a:srgbClr val="692AA2"/>
                </a:solidFill>
                <a:latin typeface="仿宋_GB2312" pitchFamily="49" charset="-122"/>
                <a:ea typeface="仿宋_GB2312" pitchFamily="49" charset="-122"/>
              </a:rPr>
              <a:t>）模型的准备 </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1</a:t>
            </a:r>
            <a:r>
              <a:rPr lang="zh-CN" altLang="en-US" sz="2400" b="1">
                <a:solidFill>
                  <a:srgbClr val="692AA2"/>
                </a:solidFill>
                <a:latin typeface="仿宋_GB2312" pitchFamily="49" charset="-122"/>
                <a:ea typeface="仿宋_GB2312" pitchFamily="49" charset="-122"/>
              </a:rPr>
              <a:t>）课程单纯经济效益的量化</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在单纯考虑出版社利润时，以追求经济效益的最大化为原则，第门课程的经济效益量化值分别为 </a:t>
            </a:r>
            <a:endParaRPr lang="zh-CN" altLang="en-US" sz="2400" b="1">
              <a:solidFill>
                <a:srgbClr val="692AA2"/>
              </a:solidFill>
              <a:latin typeface="仿宋_GB2312" pitchFamily="49" charset="-122"/>
              <a:ea typeface="仿宋_GB2312" pitchFamily="49" charset="-122"/>
            </a:endParaRPr>
          </a:p>
        </p:txBody>
      </p:sp>
      <p:sp>
        <p:nvSpPr>
          <p:cNvPr id="157698" name="Rectangle 3"/>
          <p:cNvSpPr/>
          <p:nvPr/>
        </p:nvSpPr>
        <p:spPr>
          <a:xfrm>
            <a:off x="4787900" y="56911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3220" name="Object 4"/>
          <p:cNvGraphicFramePr>
            <a:graphicFrameLocks noChangeAspect="1"/>
          </p:cNvGraphicFramePr>
          <p:nvPr/>
        </p:nvGraphicFramePr>
        <p:xfrm>
          <a:off x="3124200" y="5562600"/>
          <a:ext cx="2209800" cy="434975"/>
        </p:xfrm>
        <a:graphic>
          <a:graphicData uri="http://schemas.openxmlformats.org/presentationml/2006/ole">
            <mc:AlternateContent xmlns:mc="http://schemas.openxmlformats.org/markup-compatibility/2006">
              <mc:Choice xmlns:v="urn:schemas-microsoft-com:vml" Requires="v">
                <p:oleObj spid="_x0000_s3191" name="" r:id="rId1" imgW="1206500" imgH="241300" progId="Equation.DSMT4">
                  <p:embed/>
                </p:oleObj>
              </mc:Choice>
              <mc:Fallback>
                <p:oleObj name="" r:id="rId1" imgW="1206500" imgH="241300" progId="Equation.DSMT4">
                  <p:embed/>
                  <p:pic>
                    <p:nvPicPr>
                      <p:cNvPr id="0" name="图片 3190"/>
                      <p:cNvPicPr/>
                      <p:nvPr/>
                    </p:nvPicPr>
                    <p:blipFill>
                      <a:blip r:embed="rId2"/>
                      <a:stretch>
                        <a:fillRect/>
                      </a:stretch>
                    </p:blipFill>
                    <p:spPr>
                      <a:xfrm>
                        <a:off x="3124200" y="5562600"/>
                        <a:ext cx="2209800" cy="43497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93218">
                                            <p:txEl>
                                              <p:charRg st="0" end="124"/>
                                            </p:txEl>
                                          </p:spTgt>
                                        </p:tgtEl>
                                        <p:attrNameLst>
                                          <p:attrName>style.visibility</p:attrName>
                                        </p:attrNameLst>
                                      </p:cBhvr>
                                      <p:to>
                                        <p:strVal val="visible"/>
                                      </p:to>
                                    </p:set>
                                    <p:animEffect transition="in" filter="diamond(in)">
                                      <p:cBhvr>
                                        <p:cTn id="7" dur="1000"/>
                                        <p:tgtEl>
                                          <p:spTgt spid="393218">
                                            <p:txEl>
                                              <p:charRg st="0" end="1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93218">
                                            <p:txEl>
                                              <p:charRg st="124" end="136"/>
                                            </p:txEl>
                                          </p:spTgt>
                                        </p:tgtEl>
                                        <p:attrNameLst>
                                          <p:attrName>style.visibility</p:attrName>
                                        </p:attrNameLst>
                                      </p:cBhvr>
                                      <p:to>
                                        <p:strVal val="visible"/>
                                      </p:to>
                                    </p:set>
                                    <p:animEffect transition="in" filter="diamond(in)">
                                      <p:cBhvr>
                                        <p:cTn id="12" dur="1000"/>
                                        <p:tgtEl>
                                          <p:spTgt spid="393218">
                                            <p:txEl>
                                              <p:charRg st="124" end="136"/>
                                            </p:txEl>
                                          </p:spTgt>
                                        </p:tgtEl>
                                      </p:cBhvr>
                                    </p:animEffect>
                                  </p:childTnLst>
                                </p:cTn>
                              </p:par>
                              <p:par>
                                <p:cTn id="13" presetID="8" presetClass="entr" presetSubtype="16" fill="hold" nodeType="withEffect">
                                  <p:stCondLst>
                                    <p:cond delay="0"/>
                                  </p:stCondLst>
                                  <p:childTnLst>
                                    <p:set>
                                      <p:cBhvr>
                                        <p:cTn id="14" dur="1" fill="hold">
                                          <p:stCondLst>
                                            <p:cond delay="0"/>
                                          </p:stCondLst>
                                        </p:cTn>
                                        <p:tgtEl>
                                          <p:spTgt spid="393218">
                                            <p:txEl>
                                              <p:charRg st="136" end="155"/>
                                            </p:txEl>
                                          </p:spTgt>
                                        </p:tgtEl>
                                        <p:attrNameLst>
                                          <p:attrName>style.visibility</p:attrName>
                                        </p:attrNameLst>
                                      </p:cBhvr>
                                      <p:to>
                                        <p:strVal val="visible"/>
                                      </p:to>
                                    </p:set>
                                    <p:animEffect transition="in" filter="diamond(in)">
                                      <p:cBhvr>
                                        <p:cTn id="15" dur="1000"/>
                                        <p:tgtEl>
                                          <p:spTgt spid="393218">
                                            <p:txEl>
                                              <p:charRg st="136" end="155"/>
                                            </p:txEl>
                                          </p:spTgt>
                                        </p:tgtEl>
                                      </p:cBhvr>
                                    </p:animEffect>
                                  </p:childTnLst>
                                </p:cTn>
                              </p:par>
                              <p:par>
                                <p:cTn id="16" presetID="8" presetClass="entr" presetSubtype="16" fill="hold" nodeType="withEffect">
                                  <p:stCondLst>
                                    <p:cond delay="0"/>
                                  </p:stCondLst>
                                  <p:childTnLst>
                                    <p:set>
                                      <p:cBhvr>
                                        <p:cTn id="17" dur="1" fill="hold">
                                          <p:stCondLst>
                                            <p:cond delay="0"/>
                                          </p:stCondLst>
                                        </p:cTn>
                                        <p:tgtEl>
                                          <p:spTgt spid="393218">
                                            <p:txEl>
                                              <p:charRg st="155" end="204"/>
                                            </p:txEl>
                                          </p:spTgt>
                                        </p:tgtEl>
                                        <p:attrNameLst>
                                          <p:attrName>style.visibility</p:attrName>
                                        </p:attrNameLst>
                                      </p:cBhvr>
                                      <p:to>
                                        <p:strVal val="visible"/>
                                      </p:to>
                                    </p:set>
                                    <p:animEffect transition="in" filter="diamond(in)">
                                      <p:cBhvr>
                                        <p:cTn id="18" dur="1000"/>
                                        <p:tgtEl>
                                          <p:spTgt spid="393218">
                                            <p:txEl>
                                              <p:charRg st="155" end="204"/>
                                            </p:txEl>
                                          </p:spTgt>
                                        </p:tgtEl>
                                      </p:cBhvr>
                                    </p:animEffect>
                                  </p:childTnLst>
                                </p:cTn>
                              </p:par>
                              <p:par>
                                <p:cTn id="19" presetID="8" presetClass="entr" presetSubtype="16" fill="hold" nodeType="withEffect">
                                  <p:stCondLst>
                                    <p:cond delay="0"/>
                                  </p:stCondLst>
                                  <p:childTnLst>
                                    <p:set>
                                      <p:cBhvr>
                                        <p:cTn id="20" dur="1" fill="hold">
                                          <p:stCondLst>
                                            <p:cond delay="0"/>
                                          </p:stCondLst>
                                        </p:cTn>
                                        <p:tgtEl>
                                          <p:spTgt spid="393220"/>
                                        </p:tgtEl>
                                        <p:attrNameLst>
                                          <p:attrName>style.visibility</p:attrName>
                                        </p:attrNameLst>
                                      </p:cBhvr>
                                      <p:to>
                                        <p:strVal val="visible"/>
                                      </p:to>
                                    </p:set>
                                    <p:animEffect transition="in" filter="diamond(in)">
                                      <p:cBhvr>
                                        <p:cTn id="21" dur="1000"/>
                                        <p:tgtEl>
                                          <p:spTgt spid="393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4242" name="Rectangle 2"/>
          <p:cNvSpPr>
            <a:spLocks noGrp="1"/>
          </p:cNvSpPr>
          <p:nvPr>
            <p:ph idx="1"/>
          </p:nvPr>
        </p:nvSpPr>
        <p:spPr>
          <a:xfrm>
            <a:off x="457200" y="1371600"/>
            <a:ext cx="8229600" cy="4495800"/>
          </a:xfrm>
          <a:ln/>
        </p:spPr>
        <p:txBody>
          <a:bodyPr vert="horz" wrap="square" lIns="91440" tIns="45720" rIns="91440" bIns="45720" anchor="t"/>
          <a:p>
            <a:pPr eaLnBrk="1" hangingPunct="1">
              <a:lnSpc>
                <a:spcPct val="120000"/>
              </a:lnSpc>
              <a:buNone/>
            </a:pPr>
            <a:r>
              <a:rPr lang="en-US" altLang="zh-CN" sz="2400" b="1">
                <a:solidFill>
                  <a:srgbClr val="692AA2"/>
                </a:solidFill>
                <a:latin typeface="仿宋_GB2312" pitchFamily="49" charset="-122"/>
                <a:ea typeface="仿宋_GB2312" pitchFamily="49" charset="-122"/>
              </a:rPr>
              <a:t>      2</a:t>
            </a:r>
            <a:r>
              <a:rPr lang="zh-CN" altLang="en-US" sz="2400" b="1">
                <a:solidFill>
                  <a:srgbClr val="692AA2"/>
                </a:solidFill>
                <a:latin typeface="仿宋_GB2312" pitchFamily="49" charset="-122"/>
                <a:ea typeface="仿宋_GB2312" pitchFamily="49" charset="-122"/>
              </a:rPr>
              <a:t>）学生对课程满意度的量化</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模型</a:t>
            </a:r>
            <a:r>
              <a:rPr lang="en-US" altLang="zh-CN" sz="2400" b="1">
                <a:solidFill>
                  <a:srgbClr val="692AA2"/>
                </a:solidFill>
                <a:latin typeface="仿宋_GB2312" pitchFamily="49" charset="-122"/>
                <a:ea typeface="仿宋_GB2312" pitchFamily="49" charset="-122"/>
              </a:rPr>
              <a:t>Ⅲ</a:t>
            </a:r>
            <a:r>
              <a:rPr lang="zh-CN" altLang="en-US" sz="2400" b="1">
                <a:solidFill>
                  <a:srgbClr val="692AA2"/>
                </a:solidFill>
                <a:latin typeface="仿宋_GB2312" pitchFamily="49" charset="-122"/>
                <a:ea typeface="仿宋_GB2312" pitchFamily="49" charset="-122"/>
              </a:rPr>
              <a:t>已经得到</a:t>
            </a:r>
            <a:r>
              <a:rPr lang="en-US" altLang="zh-CN" sz="2400" b="1">
                <a:solidFill>
                  <a:srgbClr val="692AA2"/>
                </a:solidFill>
                <a:latin typeface="仿宋_GB2312" pitchFamily="49" charset="-122"/>
                <a:ea typeface="仿宋_GB2312" pitchFamily="49" charset="-122"/>
              </a:rPr>
              <a:t>72</a:t>
            </a:r>
            <a:r>
              <a:rPr lang="zh-CN" altLang="en-US" sz="2400" b="1">
                <a:solidFill>
                  <a:srgbClr val="692AA2"/>
                </a:solidFill>
                <a:latin typeface="仿宋_GB2312" pitchFamily="49" charset="-122"/>
                <a:ea typeface="仿宋_GB2312" pitchFamily="49" charset="-122"/>
              </a:rPr>
              <a:t>门课程的整体满意度的量化值   ，这里直接沿用。</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3</a:t>
            </a:r>
            <a:r>
              <a:rPr lang="zh-CN" altLang="en-US" sz="2400" b="1">
                <a:solidFill>
                  <a:srgbClr val="692AA2"/>
                </a:solidFill>
                <a:latin typeface="仿宋_GB2312" pitchFamily="49" charset="-122"/>
                <a:ea typeface="仿宋_GB2312" pitchFamily="49" charset="-122"/>
              </a:rPr>
              <a:t>）课程市场占有率的量化</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我们通过</a:t>
            </a:r>
            <a:r>
              <a:rPr lang="en-US" altLang="zh-CN" sz="2400" b="1">
                <a:solidFill>
                  <a:srgbClr val="692AA2"/>
                </a:solidFill>
                <a:latin typeface="仿宋_GB2312" pitchFamily="49" charset="-122"/>
                <a:ea typeface="仿宋_GB2312" pitchFamily="49" charset="-122"/>
              </a:rPr>
              <a:t>Excel</a:t>
            </a:r>
            <a:r>
              <a:rPr lang="zh-CN" altLang="en-US" sz="2400" b="1">
                <a:solidFill>
                  <a:srgbClr val="692AA2"/>
                </a:solidFill>
                <a:latin typeface="仿宋_GB2312" pitchFamily="49" charset="-122"/>
                <a:ea typeface="仿宋_GB2312" pitchFamily="49" charset="-122"/>
              </a:rPr>
              <a:t>软件对附件</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中的问卷调查数据按课程进行分类，然后求得各门课程的教材被学生选中的次数和该课程教材的市场总量。从而得到第</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门课程在同类产品中的市场占有率   。 </a:t>
            </a:r>
            <a:endParaRPr lang="zh-CN" altLang="en-US" sz="2400" b="1">
              <a:solidFill>
                <a:srgbClr val="692AA2"/>
              </a:solidFill>
              <a:latin typeface="仿宋_GB2312" pitchFamily="49" charset="-122"/>
              <a:ea typeface="仿宋_GB2312" pitchFamily="49" charset="-122"/>
            </a:endParaRPr>
          </a:p>
        </p:txBody>
      </p:sp>
      <p:sp>
        <p:nvSpPr>
          <p:cNvPr id="158722" name="Rectangle 3"/>
          <p:cNvSpPr/>
          <p:nvPr/>
        </p:nvSpPr>
        <p:spPr>
          <a:xfrm>
            <a:off x="6015038" y="28400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4244" name="Object 4"/>
          <p:cNvGraphicFramePr>
            <a:graphicFrameLocks noChangeAspect="1"/>
          </p:cNvGraphicFramePr>
          <p:nvPr/>
        </p:nvGraphicFramePr>
        <p:xfrm>
          <a:off x="1295400" y="2362200"/>
          <a:ext cx="361950" cy="457200"/>
        </p:xfrm>
        <a:graphic>
          <a:graphicData uri="http://schemas.openxmlformats.org/presentationml/2006/ole">
            <mc:AlternateContent xmlns:mc="http://schemas.openxmlformats.org/markup-compatibility/2006">
              <mc:Choice xmlns:v="urn:schemas-microsoft-com:vml" Requires="v">
                <p:oleObj spid="_x0000_s3192" name="" r:id="rId1" imgW="177800" imgH="228600" progId="Equation.DSMT4">
                  <p:embed/>
                </p:oleObj>
              </mc:Choice>
              <mc:Fallback>
                <p:oleObj name="" r:id="rId1" imgW="177800" imgH="228600" progId="Equation.DSMT4">
                  <p:embed/>
                  <p:pic>
                    <p:nvPicPr>
                      <p:cNvPr id="0" name="图片 3191"/>
                      <p:cNvPicPr/>
                      <p:nvPr/>
                    </p:nvPicPr>
                    <p:blipFill>
                      <a:blip r:embed="rId2"/>
                      <a:stretch>
                        <a:fillRect/>
                      </a:stretch>
                    </p:blipFill>
                    <p:spPr>
                      <a:xfrm>
                        <a:off x="1295400" y="2362200"/>
                        <a:ext cx="361950" cy="457200"/>
                      </a:xfrm>
                      <a:prstGeom prst="rect">
                        <a:avLst/>
                      </a:prstGeom>
                      <a:noFill/>
                      <a:ln w="38100">
                        <a:noFill/>
                        <a:miter/>
                      </a:ln>
                    </p:spPr>
                  </p:pic>
                </p:oleObj>
              </mc:Fallback>
            </mc:AlternateContent>
          </a:graphicData>
        </a:graphic>
      </p:graphicFrame>
      <p:sp>
        <p:nvSpPr>
          <p:cNvPr id="158724" name="Rectangle 5"/>
          <p:cNvSpPr/>
          <p:nvPr/>
        </p:nvSpPr>
        <p:spPr>
          <a:xfrm>
            <a:off x="7026275" y="48371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4246" name="Object 6"/>
          <p:cNvGraphicFramePr>
            <a:graphicFrameLocks noChangeAspect="1"/>
          </p:cNvGraphicFramePr>
          <p:nvPr/>
        </p:nvGraphicFramePr>
        <p:xfrm>
          <a:off x="3505200" y="4648200"/>
          <a:ext cx="323850" cy="457200"/>
        </p:xfrm>
        <a:graphic>
          <a:graphicData uri="http://schemas.openxmlformats.org/presentationml/2006/ole">
            <mc:AlternateContent xmlns:mc="http://schemas.openxmlformats.org/markup-compatibility/2006">
              <mc:Choice xmlns:v="urn:schemas-microsoft-com:vml" Requires="v">
                <p:oleObj spid="_x0000_s3193" name="" r:id="rId3" imgW="165100" imgH="228600" progId="Equation.DSMT4">
                  <p:embed/>
                </p:oleObj>
              </mc:Choice>
              <mc:Fallback>
                <p:oleObj name="" r:id="rId3" imgW="165100" imgH="228600" progId="Equation.DSMT4">
                  <p:embed/>
                  <p:pic>
                    <p:nvPicPr>
                      <p:cNvPr id="0" name="图片 3192"/>
                      <p:cNvPicPr/>
                      <p:nvPr/>
                    </p:nvPicPr>
                    <p:blipFill>
                      <a:blip r:embed="rId4"/>
                      <a:stretch>
                        <a:fillRect/>
                      </a:stretch>
                    </p:blipFill>
                    <p:spPr>
                      <a:xfrm>
                        <a:off x="3505200" y="4648200"/>
                        <a:ext cx="323850" cy="457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94242">
                                            <p:txEl>
                                              <p:charRg st="0" end="20"/>
                                            </p:txEl>
                                          </p:spTgt>
                                        </p:tgtEl>
                                        <p:attrNameLst>
                                          <p:attrName>style.visibility</p:attrName>
                                        </p:attrNameLst>
                                      </p:cBhvr>
                                      <p:to>
                                        <p:strVal val="visible"/>
                                      </p:to>
                                    </p:set>
                                    <p:animEffect transition="in" filter="checkerboard(across)">
                                      <p:cBhvr>
                                        <p:cTn id="7" dur="500"/>
                                        <p:tgtEl>
                                          <p:spTgt spid="394242">
                                            <p:txEl>
                                              <p:charRg st="0" end="2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94242">
                                            <p:txEl>
                                              <p:charRg st="20" end="60"/>
                                            </p:txEl>
                                          </p:spTgt>
                                        </p:tgtEl>
                                        <p:attrNameLst>
                                          <p:attrName>style.visibility</p:attrName>
                                        </p:attrNameLst>
                                      </p:cBhvr>
                                      <p:to>
                                        <p:strVal val="visible"/>
                                      </p:to>
                                    </p:set>
                                    <p:animEffect transition="in" filter="checkerboard(across)">
                                      <p:cBhvr>
                                        <p:cTn id="10" dur="500"/>
                                        <p:tgtEl>
                                          <p:spTgt spid="394242">
                                            <p:txEl>
                                              <p:charRg st="20" end="60"/>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94244"/>
                                        </p:tgtEl>
                                        <p:attrNameLst>
                                          <p:attrName>style.visibility</p:attrName>
                                        </p:attrNameLst>
                                      </p:cBhvr>
                                      <p:to>
                                        <p:strVal val="visible"/>
                                      </p:to>
                                    </p:set>
                                    <p:animEffect transition="in" filter="checkerboard(across)">
                                      <p:cBhvr>
                                        <p:cTn id="13" dur="500"/>
                                        <p:tgtEl>
                                          <p:spTgt spid="394244"/>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394242">
                                            <p:txEl>
                                              <p:charRg st="60" end="79"/>
                                            </p:txEl>
                                          </p:spTgt>
                                        </p:tgtEl>
                                        <p:attrNameLst>
                                          <p:attrName>style.visibility</p:attrName>
                                        </p:attrNameLst>
                                      </p:cBhvr>
                                      <p:to>
                                        <p:strVal val="visible"/>
                                      </p:to>
                                    </p:set>
                                    <p:animEffect transition="in" filter="checkerboard(across)">
                                      <p:cBhvr>
                                        <p:cTn id="18" dur="500"/>
                                        <p:tgtEl>
                                          <p:spTgt spid="394242">
                                            <p:txEl>
                                              <p:charRg st="60" end="79"/>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394242">
                                            <p:txEl>
                                              <p:charRg st="79" end="174"/>
                                            </p:txEl>
                                          </p:spTgt>
                                        </p:tgtEl>
                                        <p:attrNameLst>
                                          <p:attrName>style.visibility</p:attrName>
                                        </p:attrNameLst>
                                      </p:cBhvr>
                                      <p:to>
                                        <p:strVal val="visible"/>
                                      </p:to>
                                    </p:set>
                                    <p:animEffect transition="in" filter="checkerboard(across)">
                                      <p:cBhvr>
                                        <p:cTn id="21" dur="500"/>
                                        <p:tgtEl>
                                          <p:spTgt spid="394242">
                                            <p:txEl>
                                              <p:charRg st="79" end="174"/>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394246"/>
                                        </p:tgtEl>
                                        <p:attrNameLst>
                                          <p:attrName>style.visibility</p:attrName>
                                        </p:attrNameLst>
                                      </p:cBhvr>
                                      <p:to>
                                        <p:strVal val="visible"/>
                                      </p:to>
                                    </p:set>
                                    <p:animEffect transition="in" filter="checkerboard(across)">
                                      <p:cBhvr>
                                        <p:cTn id="24" dur="500"/>
                                        <p:tgtEl>
                                          <p:spTgt spid="394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5266" name="Rectangle 2"/>
          <p:cNvSpPr>
            <a:spLocks noGrp="1"/>
          </p:cNvSpPr>
          <p:nvPr>
            <p:ph idx="1"/>
          </p:nvPr>
        </p:nvSpPr>
        <p:spPr>
          <a:xfrm>
            <a:off x="457200" y="1219200"/>
            <a:ext cx="8229600" cy="44958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2</a:t>
            </a:r>
            <a:r>
              <a:rPr lang="zh-CN" altLang="en-US" sz="2000" b="1">
                <a:solidFill>
                  <a:srgbClr val="692AA2"/>
                </a:solidFill>
                <a:latin typeface="仿宋_GB2312" pitchFamily="49" charset="-122"/>
                <a:ea typeface="仿宋_GB2312" pitchFamily="49" charset="-122"/>
              </a:rPr>
              <a:t>）模型的建立 </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下面我们要建立的模型同样也必须满足模型</a:t>
            </a:r>
            <a:r>
              <a:rPr lang="en-US" altLang="zh-CN" sz="2000" b="1">
                <a:solidFill>
                  <a:srgbClr val="692AA2"/>
                </a:solidFill>
                <a:latin typeface="仿宋_GB2312" pitchFamily="49" charset="-122"/>
                <a:ea typeface="仿宋_GB2312" pitchFamily="49" charset="-122"/>
              </a:rPr>
              <a:t>Ⅰ</a:t>
            </a:r>
            <a:r>
              <a:rPr lang="zh-CN" altLang="en-US" sz="2000" b="1">
                <a:solidFill>
                  <a:srgbClr val="692AA2"/>
                </a:solidFill>
                <a:latin typeface="仿宋_GB2312" pitchFamily="49" charset="-122"/>
                <a:ea typeface="仿宋_GB2312" pitchFamily="49" charset="-122"/>
              </a:rPr>
              <a:t>中的约束条件。</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由上面得到的</a:t>
            </a:r>
            <a:r>
              <a:rPr lang="en-US" altLang="zh-CN" sz="2000" b="1">
                <a:solidFill>
                  <a:srgbClr val="692AA2"/>
                </a:solidFill>
                <a:latin typeface="仿宋_GB2312" pitchFamily="49" charset="-122"/>
                <a:ea typeface="仿宋_GB2312" pitchFamily="49" charset="-122"/>
              </a:rPr>
              <a:t>72</a:t>
            </a:r>
            <a:r>
              <a:rPr lang="zh-CN" altLang="en-US" sz="2000" b="1">
                <a:solidFill>
                  <a:srgbClr val="692AA2"/>
                </a:solidFill>
                <a:latin typeface="仿宋_GB2312" pitchFamily="49" charset="-122"/>
                <a:ea typeface="仿宋_GB2312" pitchFamily="49" charset="-122"/>
              </a:rPr>
              <a:t>门课程经济效益的量化值   、满意度的量化值  </a:t>
            </a:r>
            <a:r>
              <a:rPr lang="zh-CN" altLang="en-US" sz="2000" b="1" i="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市场占有率的量化值  。同样我们建立如下资源</a:t>
            </a:r>
            <a:r>
              <a:rPr lang="en-US" altLang="zh-CN" sz="2000" b="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书号</a:t>
            </a:r>
            <a:r>
              <a:rPr lang="en-US" altLang="zh-CN" sz="2000" b="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配置的多目标规划模型：</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模型</a:t>
            </a:r>
            <a:r>
              <a:rPr lang="en-US" altLang="zh-CN" sz="2000" b="1">
                <a:solidFill>
                  <a:srgbClr val="692AA2"/>
                </a:solidFill>
                <a:latin typeface="仿宋_GB2312" pitchFamily="49" charset="-122"/>
                <a:ea typeface="仿宋_GB2312" pitchFamily="49" charset="-122"/>
              </a:rPr>
              <a:t>Ⅳ</a:t>
            </a:r>
            <a:r>
              <a:rPr lang="zh-CN" altLang="en-US" sz="2000" b="1">
                <a:solidFill>
                  <a:srgbClr val="692AA2"/>
                </a:solidFill>
                <a:latin typeface="仿宋_GB2312" pitchFamily="49" charset="-122"/>
                <a:ea typeface="仿宋_GB2312" pitchFamily="49" charset="-122"/>
              </a:rPr>
              <a:t>：  </a:t>
            </a:r>
            <a:endParaRPr lang="zh-CN" altLang="en-US" sz="2000" b="1">
              <a:solidFill>
                <a:srgbClr val="692AA2"/>
              </a:solidFill>
              <a:latin typeface="仿宋_GB2312" pitchFamily="49" charset="-122"/>
              <a:ea typeface="仿宋_GB2312" pitchFamily="49" charset="-122"/>
            </a:endParaRPr>
          </a:p>
        </p:txBody>
      </p:sp>
      <p:sp>
        <p:nvSpPr>
          <p:cNvPr id="159746" name="Rectangle 3"/>
          <p:cNvSpPr/>
          <p:nvPr/>
        </p:nvSpPr>
        <p:spPr>
          <a:xfrm>
            <a:off x="7627938" y="29035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5268" name="Object 4"/>
          <p:cNvGraphicFramePr>
            <a:graphicFrameLocks noChangeAspect="1"/>
          </p:cNvGraphicFramePr>
          <p:nvPr/>
        </p:nvGraphicFramePr>
        <p:xfrm>
          <a:off x="1295400" y="2438400"/>
          <a:ext cx="320675" cy="457200"/>
        </p:xfrm>
        <a:graphic>
          <a:graphicData uri="http://schemas.openxmlformats.org/presentationml/2006/ole">
            <mc:AlternateContent xmlns:mc="http://schemas.openxmlformats.org/markup-compatibility/2006">
              <mc:Choice xmlns:v="urn:schemas-microsoft-com:vml" Requires="v">
                <p:oleObj spid="_x0000_s3194" name="" r:id="rId1" imgW="177800" imgH="241300" progId="Equation.DSMT4">
                  <p:embed/>
                </p:oleObj>
              </mc:Choice>
              <mc:Fallback>
                <p:oleObj name="" r:id="rId1" imgW="177800" imgH="241300" progId="Equation.DSMT4">
                  <p:embed/>
                  <p:pic>
                    <p:nvPicPr>
                      <p:cNvPr id="0" name="图片 3193"/>
                      <p:cNvPicPr/>
                      <p:nvPr/>
                    </p:nvPicPr>
                    <p:blipFill>
                      <a:blip r:embed="rId2"/>
                      <a:stretch>
                        <a:fillRect/>
                      </a:stretch>
                    </p:blipFill>
                    <p:spPr>
                      <a:xfrm>
                        <a:off x="1295400" y="2438400"/>
                        <a:ext cx="320675" cy="457200"/>
                      </a:xfrm>
                      <a:prstGeom prst="rect">
                        <a:avLst/>
                      </a:prstGeom>
                      <a:noFill/>
                      <a:ln w="38100">
                        <a:noFill/>
                        <a:miter/>
                      </a:ln>
                    </p:spPr>
                  </p:pic>
                </p:oleObj>
              </mc:Fallback>
            </mc:AlternateContent>
          </a:graphicData>
        </a:graphic>
      </p:graphicFrame>
      <p:graphicFrame>
        <p:nvGraphicFramePr>
          <p:cNvPr id="395269" name="Object 5"/>
          <p:cNvGraphicFramePr>
            <a:graphicFrameLocks noChangeAspect="1"/>
          </p:cNvGraphicFramePr>
          <p:nvPr/>
        </p:nvGraphicFramePr>
        <p:xfrm>
          <a:off x="5943600" y="2057400"/>
          <a:ext cx="361950" cy="457200"/>
        </p:xfrm>
        <a:graphic>
          <a:graphicData uri="http://schemas.openxmlformats.org/presentationml/2006/ole">
            <mc:AlternateContent xmlns:mc="http://schemas.openxmlformats.org/markup-compatibility/2006">
              <mc:Choice xmlns:v="urn:schemas-microsoft-com:vml" Requires="v">
                <p:oleObj spid="_x0000_s3190" name="" r:id="rId3" imgW="177800" imgH="228600" progId="Equation.DSMT4">
                  <p:embed/>
                </p:oleObj>
              </mc:Choice>
              <mc:Fallback>
                <p:oleObj name="" r:id="rId3" imgW="177800" imgH="228600" progId="Equation.DSMT4">
                  <p:embed/>
                  <p:pic>
                    <p:nvPicPr>
                      <p:cNvPr id="0" name="图片 3189"/>
                      <p:cNvPicPr/>
                      <p:nvPr/>
                    </p:nvPicPr>
                    <p:blipFill>
                      <a:blip r:embed="rId4"/>
                      <a:stretch>
                        <a:fillRect/>
                      </a:stretch>
                    </p:blipFill>
                    <p:spPr>
                      <a:xfrm>
                        <a:off x="5943600" y="2057400"/>
                        <a:ext cx="361950" cy="457200"/>
                      </a:xfrm>
                      <a:prstGeom prst="rect">
                        <a:avLst/>
                      </a:prstGeom>
                      <a:noFill/>
                      <a:ln w="38100">
                        <a:noFill/>
                        <a:miter/>
                      </a:ln>
                    </p:spPr>
                  </p:pic>
                </p:oleObj>
              </mc:Fallback>
            </mc:AlternateContent>
          </a:graphicData>
        </a:graphic>
      </p:graphicFrame>
      <p:sp>
        <p:nvSpPr>
          <p:cNvPr id="159749" name="Rectangle 6"/>
          <p:cNvSpPr/>
          <p:nvPr/>
        </p:nvSpPr>
        <p:spPr>
          <a:xfrm>
            <a:off x="7339013" y="4829175"/>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5271" name="Object 7"/>
          <p:cNvGraphicFramePr>
            <a:graphicFrameLocks noChangeAspect="1"/>
          </p:cNvGraphicFramePr>
          <p:nvPr/>
        </p:nvGraphicFramePr>
        <p:xfrm>
          <a:off x="4038600" y="2438400"/>
          <a:ext cx="323850" cy="457200"/>
        </p:xfrm>
        <a:graphic>
          <a:graphicData uri="http://schemas.openxmlformats.org/presentationml/2006/ole">
            <mc:AlternateContent xmlns:mc="http://schemas.openxmlformats.org/markup-compatibility/2006">
              <mc:Choice xmlns:v="urn:schemas-microsoft-com:vml" Requires="v">
                <p:oleObj spid="_x0000_s3195" name="" r:id="rId5" imgW="165100" imgH="228600" progId="Equation.DSMT4">
                  <p:embed/>
                </p:oleObj>
              </mc:Choice>
              <mc:Fallback>
                <p:oleObj name="" r:id="rId5" imgW="165100" imgH="228600" progId="Equation.DSMT4">
                  <p:embed/>
                  <p:pic>
                    <p:nvPicPr>
                      <p:cNvPr id="0" name="图片 3194"/>
                      <p:cNvPicPr/>
                      <p:nvPr/>
                    </p:nvPicPr>
                    <p:blipFill>
                      <a:blip r:embed="rId6"/>
                      <a:stretch>
                        <a:fillRect/>
                      </a:stretch>
                    </p:blipFill>
                    <p:spPr>
                      <a:xfrm>
                        <a:off x="4038600" y="2438400"/>
                        <a:ext cx="323850" cy="457200"/>
                      </a:xfrm>
                      <a:prstGeom prst="rect">
                        <a:avLst/>
                      </a:prstGeom>
                      <a:noFill/>
                      <a:ln w="38100">
                        <a:noFill/>
                        <a:miter/>
                      </a:ln>
                    </p:spPr>
                  </p:pic>
                </p:oleObj>
              </mc:Fallback>
            </mc:AlternateContent>
          </a:graphicData>
        </a:graphic>
      </p:graphicFrame>
      <p:sp>
        <p:nvSpPr>
          <p:cNvPr id="159751" name="Rectangle 8"/>
          <p:cNvSpPr/>
          <p:nvPr/>
        </p:nvSpPr>
        <p:spPr>
          <a:xfrm>
            <a:off x="4643438" y="51419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5273" name="Object 9"/>
          <p:cNvGraphicFramePr>
            <a:graphicFrameLocks noChangeAspect="1"/>
          </p:cNvGraphicFramePr>
          <p:nvPr/>
        </p:nvGraphicFramePr>
        <p:xfrm>
          <a:off x="2286000" y="3106738"/>
          <a:ext cx="4876800" cy="2974975"/>
        </p:xfrm>
        <a:graphic>
          <a:graphicData uri="http://schemas.openxmlformats.org/presentationml/2006/ole">
            <mc:AlternateContent xmlns:mc="http://schemas.openxmlformats.org/markup-compatibility/2006">
              <mc:Choice xmlns:v="urn:schemas-microsoft-com:vml" Requires="v">
                <p:oleObj spid="_x0000_s3199" name="" r:id="rId7" imgW="3695700" imgH="2730500" progId="Equation.DSMT4">
                  <p:embed/>
                </p:oleObj>
              </mc:Choice>
              <mc:Fallback>
                <p:oleObj name="" r:id="rId7" imgW="3695700" imgH="2730500" progId="Equation.DSMT4">
                  <p:embed/>
                  <p:pic>
                    <p:nvPicPr>
                      <p:cNvPr id="0" name="图片 3198"/>
                      <p:cNvPicPr/>
                      <p:nvPr/>
                    </p:nvPicPr>
                    <p:blipFill>
                      <a:blip r:embed="rId8"/>
                      <a:stretch>
                        <a:fillRect/>
                      </a:stretch>
                    </p:blipFill>
                    <p:spPr>
                      <a:xfrm>
                        <a:off x="2286000" y="3106738"/>
                        <a:ext cx="4876800" cy="297497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95266">
                                            <p:txEl>
                                              <p:charRg st="0" end="12"/>
                                            </p:txEl>
                                          </p:spTgt>
                                        </p:tgtEl>
                                        <p:attrNameLst>
                                          <p:attrName>style.visibility</p:attrName>
                                        </p:attrNameLst>
                                      </p:cBhvr>
                                      <p:to>
                                        <p:strVal val="visible"/>
                                      </p:to>
                                    </p:set>
                                    <p:animEffect transition="in" filter="wheel(4)">
                                      <p:cBhvr>
                                        <p:cTn id="7" dur="500"/>
                                        <p:tgtEl>
                                          <p:spTgt spid="395266">
                                            <p:txEl>
                                              <p:charRg st="0" end="12"/>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395266">
                                            <p:txEl>
                                              <p:charRg st="12" end="46"/>
                                            </p:txEl>
                                          </p:spTgt>
                                        </p:tgtEl>
                                        <p:attrNameLst>
                                          <p:attrName>style.visibility</p:attrName>
                                        </p:attrNameLst>
                                      </p:cBhvr>
                                      <p:to>
                                        <p:strVal val="visible"/>
                                      </p:to>
                                    </p:set>
                                    <p:animEffect transition="in" filter="wheel(4)">
                                      <p:cBhvr>
                                        <p:cTn id="10" dur="500"/>
                                        <p:tgtEl>
                                          <p:spTgt spid="395266">
                                            <p:txEl>
                                              <p:charRg st="12" end="46"/>
                                            </p:txEl>
                                          </p:spTgt>
                                        </p:tgtEl>
                                      </p:cBhvr>
                                    </p:animEffect>
                                  </p:childTnLst>
                                </p:cTn>
                              </p:par>
                              <p:par>
                                <p:cTn id="11" presetID="21" presetClass="entr" presetSubtype="4" fill="hold" nodeType="withEffect">
                                  <p:stCondLst>
                                    <p:cond delay="0"/>
                                  </p:stCondLst>
                                  <p:childTnLst>
                                    <p:set>
                                      <p:cBhvr>
                                        <p:cTn id="12" dur="1" fill="hold">
                                          <p:stCondLst>
                                            <p:cond delay="0"/>
                                          </p:stCondLst>
                                        </p:cTn>
                                        <p:tgtEl>
                                          <p:spTgt spid="395266">
                                            <p:txEl>
                                              <p:charRg st="46" end="123"/>
                                            </p:txEl>
                                          </p:spTgt>
                                        </p:tgtEl>
                                        <p:attrNameLst>
                                          <p:attrName>style.visibility</p:attrName>
                                        </p:attrNameLst>
                                      </p:cBhvr>
                                      <p:to>
                                        <p:strVal val="visible"/>
                                      </p:to>
                                    </p:set>
                                    <p:animEffect transition="in" filter="wheel(4)">
                                      <p:cBhvr>
                                        <p:cTn id="13" dur="500"/>
                                        <p:tgtEl>
                                          <p:spTgt spid="395266">
                                            <p:txEl>
                                              <p:charRg st="46" end="123"/>
                                            </p:txEl>
                                          </p:spTgt>
                                        </p:tgtEl>
                                      </p:cBhvr>
                                    </p:animEffect>
                                  </p:childTnLst>
                                </p:cTn>
                              </p:par>
                              <p:par>
                                <p:cTn id="14" presetID="21" presetClass="entr" presetSubtype="4" fill="hold" nodeType="withEffect">
                                  <p:stCondLst>
                                    <p:cond delay="0"/>
                                  </p:stCondLst>
                                  <p:childTnLst>
                                    <p:set>
                                      <p:cBhvr>
                                        <p:cTn id="15" dur="1" fill="hold">
                                          <p:stCondLst>
                                            <p:cond delay="0"/>
                                          </p:stCondLst>
                                        </p:cTn>
                                        <p:tgtEl>
                                          <p:spTgt spid="395269"/>
                                        </p:tgtEl>
                                        <p:attrNameLst>
                                          <p:attrName>style.visibility</p:attrName>
                                        </p:attrNameLst>
                                      </p:cBhvr>
                                      <p:to>
                                        <p:strVal val="visible"/>
                                      </p:to>
                                    </p:set>
                                    <p:animEffect transition="in" filter="wheel(4)">
                                      <p:cBhvr>
                                        <p:cTn id="16" dur="500"/>
                                        <p:tgtEl>
                                          <p:spTgt spid="395269"/>
                                        </p:tgtEl>
                                      </p:cBhvr>
                                    </p:animEffect>
                                  </p:childTnLst>
                                </p:cTn>
                              </p:par>
                              <p:par>
                                <p:cTn id="17" presetID="21" presetClass="entr" presetSubtype="4" fill="hold" nodeType="withEffect">
                                  <p:stCondLst>
                                    <p:cond delay="0"/>
                                  </p:stCondLst>
                                  <p:childTnLst>
                                    <p:set>
                                      <p:cBhvr>
                                        <p:cTn id="18" dur="1" fill="hold">
                                          <p:stCondLst>
                                            <p:cond delay="0"/>
                                          </p:stCondLst>
                                        </p:cTn>
                                        <p:tgtEl>
                                          <p:spTgt spid="395268"/>
                                        </p:tgtEl>
                                        <p:attrNameLst>
                                          <p:attrName>style.visibility</p:attrName>
                                        </p:attrNameLst>
                                      </p:cBhvr>
                                      <p:to>
                                        <p:strVal val="visible"/>
                                      </p:to>
                                    </p:set>
                                    <p:animEffect transition="in" filter="wheel(4)">
                                      <p:cBhvr>
                                        <p:cTn id="19" dur="500"/>
                                        <p:tgtEl>
                                          <p:spTgt spid="395268"/>
                                        </p:tgtEl>
                                      </p:cBhvr>
                                    </p:animEffect>
                                  </p:childTnLst>
                                </p:cTn>
                              </p:par>
                              <p:par>
                                <p:cTn id="20" presetID="21" presetClass="entr" presetSubtype="4" fill="hold" nodeType="withEffect">
                                  <p:stCondLst>
                                    <p:cond delay="0"/>
                                  </p:stCondLst>
                                  <p:childTnLst>
                                    <p:set>
                                      <p:cBhvr>
                                        <p:cTn id="21" dur="1" fill="hold">
                                          <p:stCondLst>
                                            <p:cond delay="0"/>
                                          </p:stCondLst>
                                        </p:cTn>
                                        <p:tgtEl>
                                          <p:spTgt spid="395271"/>
                                        </p:tgtEl>
                                        <p:attrNameLst>
                                          <p:attrName>style.visibility</p:attrName>
                                        </p:attrNameLst>
                                      </p:cBhvr>
                                      <p:to>
                                        <p:strVal val="visible"/>
                                      </p:to>
                                    </p:set>
                                    <p:animEffect transition="in" filter="wheel(4)">
                                      <p:cBhvr>
                                        <p:cTn id="22" dur="500"/>
                                        <p:tgtEl>
                                          <p:spTgt spid="395271"/>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4" fill="hold" nodeType="clickEffect">
                                  <p:stCondLst>
                                    <p:cond delay="0"/>
                                  </p:stCondLst>
                                  <p:childTnLst>
                                    <p:set>
                                      <p:cBhvr>
                                        <p:cTn id="26" dur="1" fill="hold">
                                          <p:stCondLst>
                                            <p:cond delay="0"/>
                                          </p:stCondLst>
                                        </p:cTn>
                                        <p:tgtEl>
                                          <p:spTgt spid="395266">
                                            <p:txEl>
                                              <p:charRg st="126" end="136"/>
                                            </p:txEl>
                                          </p:spTgt>
                                        </p:tgtEl>
                                        <p:attrNameLst>
                                          <p:attrName>style.visibility</p:attrName>
                                        </p:attrNameLst>
                                      </p:cBhvr>
                                      <p:to>
                                        <p:strVal val="visible"/>
                                      </p:to>
                                    </p:set>
                                    <p:animEffect transition="in" filter="wheel(4)">
                                      <p:cBhvr>
                                        <p:cTn id="27" dur="500"/>
                                        <p:tgtEl>
                                          <p:spTgt spid="395266">
                                            <p:txEl>
                                              <p:charRg st="126" end="136"/>
                                            </p:txEl>
                                          </p:spTgt>
                                        </p:tgtEl>
                                      </p:cBhvr>
                                    </p:animEffect>
                                  </p:childTnLst>
                                </p:cTn>
                              </p:par>
                              <p:par>
                                <p:cTn id="28" presetID="21" presetClass="entr" presetSubtype="4" fill="hold" nodeType="withEffect">
                                  <p:stCondLst>
                                    <p:cond delay="0"/>
                                  </p:stCondLst>
                                  <p:childTnLst>
                                    <p:set>
                                      <p:cBhvr>
                                        <p:cTn id="29" dur="1" fill="hold">
                                          <p:stCondLst>
                                            <p:cond delay="0"/>
                                          </p:stCondLst>
                                        </p:cTn>
                                        <p:tgtEl>
                                          <p:spTgt spid="395273"/>
                                        </p:tgtEl>
                                        <p:attrNameLst>
                                          <p:attrName>style.visibility</p:attrName>
                                        </p:attrNameLst>
                                      </p:cBhvr>
                                      <p:to>
                                        <p:strVal val="visible"/>
                                      </p:to>
                                    </p:set>
                                    <p:animEffect transition="in" filter="wheel(4)">
                                      <p:cBhvr>
                                        <p:cTn id="30" dur="500"/>
                                        <p:tgtEl>
                                          <p:spTgt spid="395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6290" name="Rectangle 2"/>
          <p:cNvSpPr>
            <a:spLocks noGrp="1"/>
          </p:cNvSpPr>
          <p:nvPr>
            <p:ph idx="1"/>
          </p:nvPr>
        </p:nvSpPr>
        <p:spPr>
          <a:xfrm>
            <a:off x="457200" y="1219200"/>
            <a:ext cx="8229600" cy="4495800"/>
          </a:xfrm>
          <a:ln/>
        </p:spPr>
        <p:txBody>
          <a:bodyPr vert="horz" wrap="square" lIns="91440" tIns="45720" rIns="91440" bIns="45720" anchor="t"/>
          <a:p>
            <a:pPr eaLnBrk="1" hangingPunct="1">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3</a:t>
            </a:r>
            <a:r>
              <a:rPr lang="zh-CN" altLang="en-US" sz="2400" b="1">
                <a:solidFill>
                  <a:srgbClr val="692AA2"/>
                </a:solidFill>
                <a:latin typeface="仿宋_GB2312" pitchFamily="49" charset="-122"/>
                <a:ea typeface="仿宋_GB2312" pitchFamily="49" charset="-122"/>
              </a:rPr>
              <a:t>）模型的简化</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32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下面我们通过确定经济效益、满意度和市场占有率三者的权重系数，将上述多目标规划模型简化为单目标线性规划模型。</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32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1</a:t>
            </a:r>
            <a:r>
              <a:rPr lang="zh-CN" altLang="en-US" sz="2000" b="1">
                <a:solidFill>
                  <a:srgbClr val="692AA2"/>
                </a:solidFill>
                <a:latin typeface="仿宋_GB2312" pitchFamily="49" charset="-122"/>
                <a:ea typeface="仿宋_GB2312" pitchFamily="49" charset="-122"/>
              </a:rPr>
              <a:t>）三项指标权重系数的量化</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模型</a:t>
            </a:r>
            <a:r>
              <a:rPr lang="en-US" altLang="zh-CN" sz="2000" b="1">
                <a:solidFill>
                  <a:srgbClr val="692AA2"/>
                </a:solidFill>
                <a:latin typeface="仿宋_GB2312" pitchFamily="49" charset="-122"/>
                <a:ea typeface="仿宋_GB2312" pitchFamily="49" charset="-122"/>
              </a:rPr>
              <a:t>Ⅲ</a:t>
            </a:r>
            <a:r>
              <a:rPr lang="zh-CN" altLang="en-US" sz="2000" b="1">
                <a:solidFill>
                  <a:srgbClr val="692AA2"/>
                </a:solidFill>
                <a:latin typeface="仿宋_GB2312" pitchFamily="49" charset="-122"/>
                <a:ea typeface="仿宋_GB2312" pitchFamily="49" charset="-122"/>
              </a:rPr>
              <a:t>已经得到各个课程经济效益、学生的满意度、市场占有率三者的权重系数</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2</a:t>
            </a:r>
            <a:r>
              <a:rPr lang="zh-CN" altLang="en-US" sz="2000" b="1">
                <a:solidFill>
                  <a:srgbClr val="692AA2"/>
                </a:solidFill>
                <a:latin typeface="仿宋_GB2312" pitchFamily="49" charset="-122"/>
                <a:ea typeface="仿宋_GB2312" pitchFamily="49" charset="-122"/>
              </a:rPr>
              <a:t>）简化为单目标线性模型</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由这三个权重系数，我们可以将前面的多目标规划模型简化为下面的单目标线性模型： </a:t>
            </a:r>
            <a:endParaRPr lang="zh-CN" altLang="en-US" sz="2000" b="1">
              <a:solidFill>
                <a:srgbClr val="692AA2"/>
              </a:solidFill>
              <a:latin typeface="仿宋_GB2312" pitchFamily="49" charset="-122"/>
              <a:ea typeface="仿宋_GB2312" pitchFamily="49" charset="-122"/>
            </a:endParaRPr>
          </a:p>
        </p:txBody>
      </p:sp>
      <p:graphicFrame>
        <p:nvGraphicFramePr>
          <p:cNvPr id="396291" name="Object 3"/>
          <p:cNvGraphicFramePr>
            <a:graphicFrameLocks noChangeAspect="1"/>
          </p:cNvGraphicFramePr>
          <p:nvPr/>
        </p:nvGraphicFramePr>
        <p:xfrm>
          <a:off x="1295400" y="5410200"/>
          <a:ext cx="6477000" cy="452438"/>
        </p:xfrm>
        <a:graphic>
          <a:graphicData uri="http://schemas.openxmlformats.org/presentationml/2006/ole">
            <mc:AlternateContent xmlns:mc="http://schemas.openxmlformats.org/markup-compatibility/2006">
              <mc:Choice xmlns:v="urn:schemas-microsoft-com:vml" Requires="v">
                <p:oleObj spid="_x0000_s3203" name="" r:id="rId1" imgW="3403600" imgH="241300" progId="Equation.3">
                  <p:embed/>
                </p:oleObj>
              </mc:Choice>
              <mc:Fallback>
                <p:oleObj name="" r:id="rId1" imgW="3403600" imgH="241300" progId="Equation.3">
                  <p:embed/>
                  <p:pic>
                    <p:nvPicPr>
                      <p:cNvPr id="0" name="图片 3202"/>
                      <p:cNvPicPr/>
                      <p:nvPr/>
                    </p:nvPicPr>
                    <p:blipFill>
                      <a:blip r:embed="rId2"/>
                      <a:stretch>
                        <a:fillRect/>
                      </a:stretch>
                    </p:blipFill>
                    <p:spPr>
                      <a:xfrm>
                        <a:off x="1295400" y="5410200"/>
                        <a:ext cx="6477000" cy="45243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96290">
                                            <p:txEl>
                                              <p:charRg st="0" end="10"/>
                                            </p:txEl>
                                          </p:spTgt>
                                        </p:tgtEl>
                                        <p:attrNameLst>
                                          <p:attrName>style.visibility</p:attrName>
                                        </p:attrNameLst>
                                      </p:cBhvr>
                                      <p:to>
                                        <p:strVal val="visible"/>
                                      </p:to>
                                    </p:set>
                                    <p:animEffect transition="in" filter="box(in)">
                                      <p:cBhvr>
                                        <p:cTn id="7" dur="500"/>
                                        <p:tgtEl>
                                          <p:spTgt spid="396290">
                                            <p:txEl>
                                              <p:charRg st="0" end="1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96290">
                                            <p:txEl>
                                              <p:charRg st="10" end="68"/>
                                            </p:txEl>
                                          </p:spTgt>
                                        </p:tgtEl>
                                        <p:attrNameLst>
                                          <p:attrName>style.visibility</p:attrName>
                                        </p:attrNameLst>
                                      </p:cBhvr>
                                      <p:to>
                                        <p:strVal val="visible"/>
                                      </p:to>
                                    </p:set>
                                    <p:animEffect transition="in" filter="box(in)">
                                      <p:cBhvr>
                                        <p:cTn id="10" dur="500"/>
                                        <p:tgtEl>
                                          <p:spTgt spid="396290">
                                            <p:txEl>
                                              <p:charRg st="10" end="6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96290">
                                            <p:txEl>
                                              <p:charRg st="68" end="86"/>
                                            </p:txEl>
                                          </p:spTgt>
                                        </p:tgtEl>
                                        <p:attrNameLst>
                                          <p:attrName>style.visibility</p:attrName>
                                        </p:attrNameLst>
                                      </p:cBhvr>
                                      <p:to>
                                        <p:strVal val="visible"/>
                                      </p:to>
                                    </p:set>
                                    <p:animEffect transition="in" filter="box(in)">
                                      <p:cBhvr>
                                        <p:cTn id="15" dur="500"/>
                                        <p:tgtEl>
                                          <p:spTgt spid="396290">
                                            <p:txEl>
                                              <p:charRg st="68" end="86"/>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96290">
                                            <p:txEl>
                                              <p:charRg st="86" end="128"/>
                                            </p:txEl>
                                          </p:spTgt>
                                        </p:tgtEl>
                                        <p:attrNameLst>
                                          <p:attrName>style.visibility</p:attrName>
                                        </p:attrNameLst>
                                      </p:cBhvr>
                                      <p:to>
                                        <p:strVal val="visible"/>
                                      </p:to>
                                    </p:set>
                                    <p:animEffect transition="in" filter="box(in)">
                                      <p:cBhvr>
                                        <p:cTn id="18" dur="500"/>
                                        <p:tgtEl>
                                          <p:spTgt spid="396290">
                                            <p:txEl>
                                              <p:charRg st="86" end="12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396290">
                                            <p:txEl>
                                              <p:charRg st="128" end="147"/>
                                            </p:txEl>
                                          </p:spTgt>
                                        </p:tgtEl>
                                        <p:attrNameLst>
                                          <p:attrName>style.visibility</p:attrName>
                                        </p:attrNameLst>
                                      </p:cBhvr>
                                      <p:to>
                                        <p:strVal val="visible"/>
                                      </p:to>
                                    </p:set>
                                    <p:animEffect transition="in" filter="box(in)">
                                      <p:cBhvr>
                                        <p:cTn id="23" dur="500"/>
                                        <p:tgtEl>
                                          <p:spTgt spid="396290">
                                            <p:txEl>
                                              <p:charRg st="128" end="147"/>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396290">
                                            <p:txEl>
                                              <p:charRg st="147" end="193"/>
                                            </p:txEl>
                                          </p:spTgt>
                                        </p:tgtEl>
                                        <p:attrNameLst>
                                          <p:attrName>style.visibility</p:attrName>
                                        </p:attrNameLst>
                                      </p:cBhvr>
                                      <p:to>
                                        <p:strVal val="visible"/>
                                      </p:to>
                                    </p:set>
                                    <p:animEffect transition="in" filter="box(in)">
                                      <p:cBhvr>
                                        <p:cTn id="26" dur="500"/>
                                        <p:tgtEl>
                                          <p:spTgt spid="396290">
                                            <p:txEl>
                                              <p:charRg st="147" end="193"/>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396291"/>
                                        </p:tgtEl>
                                        <p:attrNameLst>
                                          <p:attrName>style.visibility</p:attrName>
                                        </p:attrNameLst>
                                      </p:cBhvr>
                                      <p:to>
                                        <p:strVal val="visible"/>
                                      </p:to>
                                    </p:set>
                                    <p:animEffect transition="in" filter="box(in)">
                                      <p:cBhvr>
                                        <p:cTn id="29" dur="500"/>
                                        <p:tgtEl>
                                          <p:spTgt spid="396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7314" name="Rectangle 2"/>
          <p:cNvSpPr>
            <a:spLocks noGrp="1"/>
          </p:cNvSpPr>
          <p:nvPr>
            <p:ph idx="1"/>
          </p:nvPr>
        </p:nvSpPr>
        <p:spPr>
          <a:xfrm>
            <a:off x="457200" y="1219200"/>
            <a:ext cx="8229600" cy="4495800"/>
          </a:xfrm>
          <a:ln/>
        </p:spPr>
        <p:txBody>
          <a:bodyPr vert="horz" wrap="square" lIns="91440" tIns="45720" rIns="91440" bIns="45720" anchor="t"/>
          <a:p>
            <a:pPr eaLnBrk="1" hangingPunct="1">
              <a:buNone/>
            </a:pPr>
            <a:r>
              <a:rPr lang="en-US" altLang="zh-CN" sz="2400" b="1">
                <a:solidFill>
                  <a:srgbClr val="692AA2"/>
                </a:solidFill>
                <a:latin typeface="仿宋_GB2312" pitchFamily="49" charset="-122"/>
                <a:ea typeface="仿宋_GB2312" pitchFamily="49" charset="-122"/>
              </a:rPr>
              <a:t>  2</a:t>
            </a:r>
            <a:r>
              <a:rPr lang="zh-CN" altLang="en-US" sz="2400" b="1">
                <a:solidFill>
                  <a:srgbClr val="692AA2"/>
                </a:solidFill>
                <a:latin typeface="仿宋_GB2312" pitchFamily="49" charset="-122"/>
                <a:ea typeface="仿宋_GB2312" pitchFamily="49" charset="-122"/>
              </a:rPr>
              <a:t>）简化为单目标线性模型</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由这三个权重系数           ，我们可以将前面的多目标规划模型简化为下面的单目标线性模型：</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模型</a:t>
            </a:r>
            <a:r>
              <a:rPr lang="en-US" altLang="zh-CN" sz="2400" b="1">
                <a:solidFill>
                  <a:srgbClr val="692AA2"/>
                </a:solidFill>
                <a:latin typeface="仿宋_GB2312" pitchFamily="49" charset="-122"/>
                <a:ea typeface="仿宋_GB2312" pitchFamily="49" charset="-122"/>
              </a:rPr>
              <a:t>Ⅳ</a:t>
            </a:r>
            <a:r>
              <a:rPr lang="en-US" altLang="zh-CN" sz="2400" b="1">
                <a:solidFill>
                  <a:srgbClr val="692AA2"/>
                </a:solidFill>
                <a:latin typeface="Arial" panose="020B0604020202020204" pitchFamily="34" charset="0"/>
                <a:ea typeface="仿宋_GB2312" pitchFamily="49" charset="-122"/>
              </a:rPr>
              <a:t>’</a:t>
            </a:r>
            <a:r>
              <a:rPr lang="zh-CN" altLang="en-US" sz="2400" b="1">
                <a:solidFill>
                  <a:srgbClr val="692AA2"/>
                </a:solidFill>
                <a:latin typeface="仿宋_GB2312" pitchFamily="49" charset="-122"/>
                <a:ea typeface="仿宋_GB2312" pitchFamily="49" charset="-122"/>
              </a:rPr>
              <a:t>： </a:t>
            </a:r>
            <a:endParaRPr lang="zh-CN" altLang="en-US" sz="2400" b="1">
              <a:solidFill>
                <a:srgbClr val="692AA2"/>
              </a:solidFill>
              <a:latin typeface="仿宋_GB2312" pitchFamily="49" charset="-122"/>
              <a:ea typeface="仿宋_GB2312" pitchFamily="49" charset="-122"/>
            </a:endParaRPr>
          </a:p>
        </p:txBody>
      </p:sp>
      <p:sp>
        <p:nvSpPr>
          <p:cNvPr id="161794" name="Rectangle 3"/>
          <p:cNvSpPr/>
          <p:nvPr/>
        </p:nvSpPr>
        <p:spPr>
          <a:xfrm>
            <a:off x="6064250" y="37211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7316" name="Object 4"/>
          <p:cNvGraphicFramePr>
            <a:graphicFrameLocks noChangeAspect="1"/>
          </p:cNvGraphicFramePr>
          <p:nvPr/>
        </p:nvGraphicFramePr>
        <p:xfrm>
          <a:off x="3962400" y="1676400"/>
          <a:ext cx="1479550" cy="401638"/>
        </p:xfrm>
        <a:graphic>
          <a:graphicData uri="http://schemas.openxmlformats.org/presentationml/2006/ole">
            <mc:AlternateContent xmlns:mc="http://schemas.openxmlformats.org/markup-compatibility/2006">
              <mc:Choice xmlns:v="urn:schemas-microsoft-com:vml" Requires="v">
                <p:oleObj spid="_x0000_s3198" name="" r:id="rId1" imgW="876300" imgH="241300" progId="Equation.DSMT4">
                  <p:embed/>
                </p:oleObj>
              </mc:Choice>
              <mc:Fallback>
                <p:oleObj name="" r:id="rId1" imgW="876300" imgH="241300" progId="Equation.DSMT4">
                  <p:embed/>
                  <p:pic>
                    <p:nvPicPr>
                      <p:cNvPr id="0" name="图片 3197"/>
                      <p:cNvPicPr/>
                      <p:nvPr/>
                    </p:nvPicPr>
                    <p:blipFill>
                      <a:blip r:embed="rId2"/>
                      <a:stretch>
                        <a:fillRect/>
                      </a:stretch>
                    </p:blipFill>
                    <p:spPr>
                      <a:xfrm>
                        <a:off x="3962400" y="1676400"/>
                        <a:ext cx="1479550" cy="401638"/>
                      </a:xfrm>
                      <a:prstGeom prst="rect">
                        <a:avLst/>
                      </a:prstGeom>
                      <a:noFill/>
                      <a:ln w="38100">
                        <a:noFill/>
                        <a:miter/>
                      </a:ln>
                    </p:spPr>
                  </p:pic>
                </p:oleObj>
              </mc:Fallback>
            </mc:AlternateContent>
          </a:graphicData>
        </a:graphic>
      </p:graphicFrame>
      <p:sp>
        <p:nvSpPr>
          <p:cNvPr id="161796" name="Rectangle 5"/>
          <p:cNvSpPr/>
          <p:nvPr/>
        </p:nvSpPr>
        <p:spPr>
          <a:xfrm>
            <a:off x="3873500" y="36972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7318" name="Object 6"/>
          <p:cNvGraphicFramePr>
            <a:graphicFrameLocks noChangeAspect="1"/>
          </p:cNvGraphicFramePr>
          <p:nvPr/>
        </p:nvGraphicFramePr>
        <p:xfrm>
          <a:off x="2590800" y="2743200"/>
          <a:ext cx="4038600" cy="3419475"/>
        </p:xfrm>
        <a:graphic>
          <a:graphicData uri="http://schemas.openxmlformats.org/presentationml/2006/ole">
            <mc:AlternateContent xmlns:mc="http://schemas.openxmlformats.org/markup-compatibility/2006">
              <mc:Choice xmlns:v="urn:schemas-microsoft-com:vml" Requires="v">
                <p:oleObj spid="_x0000_s3196" name="" r:id="rId3" imgW="2921000" imgH="2476500" progId="Equation.DSMT4">
                  <p:embed/>
                </p:oleObj>
              </mc:Choice>
              <mc:Fallback>
                <p:oleObj name="" r:id="rId3" imgW="2921000" imgH="2476500" progId="Equation.DSMT4">
                  <p:embed/>
                  <p:pic>
                    <p:nvPicPr>
                      <p:cNvPr id="0" name="图片 3195"/>
                      <p:cNvPicPr/>
                      <p:nvPr/>
                    </p:nvPicPr>
                    <p:blipFill>
                      <a:blip r:embed="rId4"/>
                      <a:stretch>
                        <a:fillRect/>
                      </a:stretch>
                    </p:blipFill>
                    <p:spPr>
                      <a:xfrm>
                        <a:off x="2590800" y="2743200"/>
                        <a:ext cx="4038600" cy="341947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97314">
                                            <p:txEl>
                                              <p:charRg st="0" end="15"/>
                                            </p:txEl>
                                          </p:spTgt>
                                        </p:tgtEl>
                                        <p:attrNameLst>
                                          <p:attrName>style.visibility</p:attrName>
                                        </p:attrNameLst>
                                      </p:cBhvr>
                                      <p:to>
                                        <p:strVal val="visible"/>
                                      </p:to>
                                    </p:set>
                                    <p:animEffect transition="in" filter="checkerboard(across)">
                                      <p:cBhvr>
                                        <p:cTn id="7" dur="500"/>
                                        <p:tgtEl>
                                          <p:spTgt spid="397314">
                                            <p:txEl>
                                              <p:charRg st="0" end="15"/>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97314">
                                            <p:txEl>
                                              <p:charRg st="15" end="71"/>
                                            </p:txEl>
                                          </p:spTgt>
                                        </p:tgtEl>
                                        <p:attrNameLst>
                                          <p:attrName>style.visibility</p:attrName>
                                        </p:attrNameLst>
                                      </p:cBhvr>
                                      <p:to>
                                        <p:strVal val="visible"/>
                                      </p:to>
                                    </p:set>
                                    <p:animEffect transition="in" filter="checkerboard(across)">
                                      <p:cBhvr>
                                        <p:cTn id="10" dur="500"/>
                                        <p:tgtEl>
                                          <p:spTgt spid="397314">
                                            <p:txEl>
                                              <p:charRg st="15" end="7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97316"/>
                                        </p:tgtEl>
                                        <p:attrNameLst>
                                          <p:attrName>style.visibility</p:attrName>
                                        </p:attrNameLst>
                                      </p:cBhvr>
                                      <p:to>
                                        <p:strVal val="visible"/>
                                      </p:to>
                                    </p:set>
                                    <p:animEffect transition="in" filter="checkerboard(across)">
                                      <p:cBhvr>
                                        <p:cTn id="13" dur="500"/>
                                        <p:tgtEl>
                                          <p:spTgt spid="397316"/>
                                        </p:tgtEl>
                                      </p:cBhvr>
                                    </p:animEffect>
                                  </p:childTnLst>
                                </p:cTn>
                              </p:par>
                              <p:par>
                                <p:cTn id="14" presetID="5" presetClass="entr" presetSubtype="10" fill="hold" nodeType="withEffect">
                                  <p:stCondLst>
                                    <p:cond delay="0"/>
                                  </p:stCondLst>
                                  <p:childTnLst>
                                    <p:set>
                                      <p:cBhvr>
                                        <p:cTn id="15" dur="1" fill="hold">
                                          <p:stCondLst>
                                            <p:cond delay="0"/>
                                          </p:stCondLst>
                                        </p:cTn>
                                        <p:tgtEl>
                                          <p:spTgt spid="397314">
                                            <p:txEl>
                                              <p:charRg st="71" end="74"/>
                                            </p:txEl>
                                          </p:spTgt>
                                        </p:tgtEl>
                                        <p:attrNameLst>
                                          <p:attrName>style.visibility</p:attrName>
                                        </p:attrNameLst>
                                      </p:cBhvr>
                                      <p:to>
                                        <p:strVal val="visible"/>
                                      </p:to>
                                    </p:set>
                                    <p:animEffect transition="in" filter="checkerboard(across)">
                                      <p:cBhvr>
                                        <p:cTn id="16" dur="500"/>
                                        <p:tgtEl>
                                          <p:spTgt spid="397314">
                                            <p:txEl>
                                              <p:charRg st="71" end="7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397314">
                                            <p:txEl>
                                              <p:charRg st="76" end="85"/>
                                            </p:txEl>
                                          </p:spTgt>
                                        </p:tgtEl>
                                        <p:attrNameLst>
                                          <p:attrName>style.visibility</p:attrName>
                                        </p:attrNameLst>
                                      </p:cBhvr>
                                      <p:to>
                                        <p:strVal val="visible"/>
                                      </p:to>
                                    </p:set>
                                    <p:animEffect transition="in" filter="checkerboard(across)">
                                      <p:cBhvr>
                                        <p:cTn id="21" dur="500"/>
                                        <p:tgtEl>
                                          <p:spTgt spid="397314">
                                            <p:txEl>
                                              <p:charRg st="76" end="85"/>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397318"/>
                                        </p:tgtEl>
                                        <p:attrNameLst>
                                          <p:attrName>style.visibility</p:attrName>
                                        </p:attrNameLst>
                                      </p:cBhvr>
                                      <p:to>
                                        <p:strVal val="visible"/>
                                      </p:to>
                                    </p:set>
                                    <p:animEffect transition="in" filter="checkerboard(across)">
                                      <p:cBhvr>
                                        <p:cTn id="24" dur="500"/>
                                        <p:tgtEl>
                                          <p:spTgt spid="397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8338" name="Rectangle 2"/>
          <p:cNvSpPr>
            <a:spLocks noGrp="1"/>
          </p:cNvSpPr>
          <p:nvPr>
            <p:ph idx="1"/>
          </p:nvPr>
        </p:nvSpPr>
        <p:spPr>
          <a:xfrm>
            <a:off x="381000" y="1295400"/>
            <a:ext cx="8229600" cy="4495800"/>
          </a:xfrm>
          <a:ln/>
        </p:spPr>
        <p:txBody>
          <a:bodyPr vert="horz" wrap="square" lIns="91440" tIns="45720" rIns="91440" bIns="45720" anchor="t"/>
          <a:p>
            <a:pPr eaLnBrk="1" hangingPunct="1">
              <a:lnSpc>
                <a:spcPct val="120000"/>
              </a:lnSpc>
              <a:buNone/>
            </a:pP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4</a:t>
            </a:r>
            <a:r>
              <a:rPr lang="zh-CN" altLang="en-US" sz="2400" b="1">
                <a:solidFill>
                  <a:srgbClr val="692AA2"/>
                </a:solidFill>
                <a:latin typeface="仿宋_GB2312" pitchFamily="49" charset="-122"/>
                <a:ea typeface="仿宋_GB2312" pitchFamily="49" charset="-122"/>
              </a:rPr>
              <a:t>）模型的求解 </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首先运用</a:t>
            </a:r>
            <a:r>
              <a:rPr lang="en-US" altLang="zh-CN" sz="2400" b="1">
                <a:solidFill>
                  <a:srgbClr val="692AA2"/>
                </a:solidFill>
                <a:latin typeface="仿宋_GB2312" pitchFamily="49" charset="-122"/>
                <a:ea typeface="仿宋_GB2312" pitchFamily="49" charset="-122"/>
              </a:rPr>
              <a:t>matlab7.0</a:t>
            </a:r>
            <a:r>
              <a:rPr lang="zh-CN" altLang="en-US" sz="2400" b="1">
                <a:solidFill>
                  <a:srgbClr val="692AA2"/>
                </a:solidFill>
                <a:latin typeface="仿宋_GB2312" pitchFamily="49" charset="-122"/>
                <a:ea typeface="仿宋_GB2312" pitchFamily="49" charset="-122"/>
              </a:rPr>
              <a:t>软件处理附件</a:t>
            </a:r>
            <a:r>
              <a:rPr lang="en-US" altLang="zh-CN" sz="2400" b="1">
                <a:solidFill>
                  <a:srgbClr val="692AA2"/>
                </a:solidFill>
                <a:latin typeface="仿宋_GB2312" pitchFamily="49" charset="-122"/>
                <a:ea typeface="仿宋_GB2312" pitchFamily="49" charset="-122"/>
              </a:rPr>
              <a:t>4</a:t>
            </a:r>
            <a:r>
              <a:rPr lang="zh-CN" altLang="en-US" sz="2400" b="1">
                <a:solidFill>
                  <a:srgbClr val="692AA2"/>
                </a:solidFill>
                <a:latin typeface="仿宋_GB2312" pitchFamily="49" charset="-122"/>
                <a:ea typeface="仿宋_GB2312" pitchFamily="49" charset="-122"/>
              </a:rPr>
              <a:t>和附件</a:t>
            </a:r>
            <a:r>
              <a:rPr lang="en-US" altLang="zh-CN" sz="2400" b="1">
                <a:solidFill>
                  <a:srgbClr val="692AA2"/>
                </a:solidFill>
                <a:latin typeface="仿宋_GB2312" pitchFamily="49" charset="-122"/>
                <a:ea typeface="仿宋_GB2312" pitchFamily="49" charset="-122"/>
              </a:rPr>
              <a:t>5</a:t>
            </a:r>
            <a:r>
              <a:rPr lang="zh-CN" altLang="en-US" sz="2400" b="1">
                <a:solidFill>
                  <a:srgbClr val="692AA2"/>
                </a:solidFill>
                <a:latin typeface="仿宋_GB2312" pitchFamily="49" charset="-122"/>
                <a:ea typeface="仿宋_GB2312" pitchFamily="49" charset="-122"/>
              </a:rPr>
              <a:t>中的原始数据，得到各线性约束条件前的系数矩阵。然后利用</a:t>
            </a:r>
            <a:r>
              <a:rPr lang="en-US" altLang="zh-CN" sz="2400" b="1">
                <a:solidFill>
                  <a:srgbClr val="692AA2"/>
                </a:solidFill>
                <a:latin typeface="仿宋_GB2312" pitchFamily="49" charset="-122"/>
                <a:ea typeface="仿宋_GB2312" pitchFamily="49" charset="-122"/>
              </a:rPr>
              <a:t>lingo8.0</a:t>
            </a:r>
            <a:r>
              <a:rPr lang="zh-CN" altLang="en-US" sz="2400" b="1">
                <a:solidFill>
                  <a:srgbClr val="692AA2"/>
                </a:solidFill>
                <a:latin typeface="仿宋_GB2312" pitchFamily="49" charset="-122"/>
                <a:ea typeface="仿宋_GB2312" pitchFamily="49" charset="-122"/>
              </a:rPr>
              <a:t>软件求解线性规划模型（附录），得到   的具体数值，从而得到</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a:t>
            </a:r>
            <a:r>
              <a:rPr lang="en-US" altLang="zh-CN" sz="2400" b="1">
                <a:solidFill>
                  <a:srgbClr val="692AA2"/>
                </a:solidFill>
                <a:latin typeface="仿宋_GB2312" pitchFamily="49" charset="-122"/>
                <a:ea typeface="仿宋_GB2312" pitchFamily="49" charset="-122"/>
              </a:rPr>
              <a:t>9</a:t>
            </a:r>
            <a:r>
              <a:rPr lang="zh-CN" altLang="en-US" sz="2400" b="1">
                <a:solidFill>
                  <a:srgbClr val="692AA2"/>
                </a:solidFill>
                <a:latin typeface="仿宋_GB2312" pitchFamily="49" charset="-122"/>
                <a:ea typeface="仿宋_GB2312" pitchFamily="49" charset="-122"/>
              </a:rPr>
              <a:t>个分社的共</a:t>
            </a:r>
            <a:r>
              <a:rPr lang="en-US" altLang="zh-CN" sz="2400" b="1">
                <a:solidFill>
                  <a:srgbClr val="692AA2"/>
                </a:solidFill>
                <a:latin typeface="仿宋_GB2312" pitchFamily="49" charset="-122"/>
                <a:ea typeface="仿宋_GB2312" pitchFamily="49" charset="-122"/>
              </a:rPr>
              <a:t>72</a:t>
            </a:r>
            <a:r>
              <a:rPr lang="zh-CN" altLang="en-US" sz="2400" b="1">
                <a:solidFill>
                  <a:srgbClr val="692AA2"/>
                </a:solidFill>
                <a:latin typeface="仿宋_GB2312" pitchFamily="49" charset="-122"/>
                <a:ea typeface="仿宋_GB2312" pitchFamily="49" charset="-122"/>
              </a:rPr>
              <a:t>门课程的书号分配方案为</a:t>
            </a:r>
            <a:endParaRPr lang="zh-CN" altLang="en-US" sz="2400" b="1">
              <a:solidFill>
                <a:srgbClr val="692AA2"/>
              </a:solidFill>
              <a:latin typeface="仿宋_GB2312" pitchFamily="49" charset="-122"/>
              <a:ea typeface="仿宋_GB2312" pitchFamily="49" charset="-122"/>
            </a:endParaRPr>
          </a:p>
        </p:txBody>
      </p:sp>
      <p:sp>
        <p:nvSpPr>
          <p:cNvPr id="162818" name="Rectangle 3"/>
          <p:cNvSpPr/>
          <p:nvPr/>
        </p:nvSpPr>
        <p:spPr>
          <a:xfrm>
            <a:off x="6135688" y="51689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398340" name="Object 4"/>
          <p:cNvGraphicFramePr>
            <a:graphicFrameLocks noChangeAspect="1"/>
          </p:cNvGraphicFramePr>
          <p:nvPr/>
        </p:nvGraphicFramePr>
        <p:xfrm>
          <a:off x="7391400" y="2819400"/>
          <a:ext cx="293688" cy="457200"/>
        </p:xfrm>
        <a:graphic>
          <a:graphicData uri="http://schemas.openxmlformats.org/presentationml/2006/ole">
            <mc:AlternateContent xmlns:mc="http://schemas.openxmlformats.org/markup-compatibility/2006">
              <mc:Choice xmlns:v="urn:schemas-microsoft-com:vml" Requires="v">
                <p:oleObj spid="_x0000_s3204" name="" r:id="rId1" imgW="152400" imgH="241300" progId="Equation.DSMT4">
                  <p:embed/>
                </p:oleObj>
              </mc:Choice>
              <mc:Fallback>
                <p:oleObj name="" r:id="rId1" imgW="152400" imgH="241300" progId="Equation.DSMT4">
                  <p:embed/>
                  <p:pic>
                    <p:nvPicPr>
                      <p:cNvPr id="0" name="图片 3203"/>
                      <p:cNvPicPr/>
                      <p:nvPr/>
                    </p:nvPicPr>
                    <p:blipFill>
                      <a:blip r:embed="rId2"/>
                      <a:stretch>
                        <a:fillRect/>
                      </a:stretch>
                    </p:blipFill>
                    <p:spPr>
                      <a:xfrm>
                        <a:off x="7391400" y="2819400"/>
                        <a:ext cx="293688" cy="457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8338">
                                            <p:txEl>
                                              <p:charRg st="0" end="10"/>
                                            </p:txEl>
                                          </p:spTgt>
                                        </p:tgtEl>
                                        <p:attrNameLst>
                                          <p:attrName>style.visibility</p:attrName>
                                        </p:attrNameLst>
                                      </p:cBhvr>
                                      <p:to>
                                        <p:strVal val="visible"/>
                                      </p:to>
                                    </p:set>
                                    <p:anim calcmode="lin" valueType="num">
                                      <p:cBhvr>
                                        <p:cTn id="7" dur="500" fill="hold"/>
                                        <p:tgtEl>
                                          <p:spTgt spid="398338">
                                            <p:txEl>
                                              <p:charRg st="0" end="10"/>
                                            </p:txEl>
                                          </p:spTgt>
                                        </p:tgtEl>
                                        <p:attrNameLst>
                                          <p:attrName>ppt_x</p:attrName>
                                        </p:attrNameLst>
                                      </p:cBhvr>
                                      <p:tavLst>
                                        <p:tav tm="0">
                                          <p:val>
                                            <p:strVal val="#ppt_x"/>
                                          </p:val>
                                        </p:tav>
                                        <p:tav tm="100000">
                                          <p:val>
                                            <p:strVal val="#ppt_x"/>
                                          </p:val>
                                        </p:tav>
                                      </p:tavLst>
                                    </p:anim>
                                    <p:anim calcmode="lin" valueType="num">
                                      <p:cBhvr>
                                        <p:cTn id="8" dur="500" fill="hold"/>
                                        <p:tgtEl>
                                          <p:spTgt spid="398338">
                                            <p:txEl>
                                              <p:charRg st="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8338">
                                            <p:txEl>
                                              <p:charRg st="10" end="130"/>
                                            </p:txEl>
                                          </p:spTgt>
                                        </p:tgtEl>
                                        <p:attrNameLst>
                                          <p:attrName>style.visibility</p:attrName>
                                        </p:attrNameLst>
                                      </p:cBhvr>
                                      <p:to>
                                        <p:strVal val="visible"/>
                                      </p:to>
                                    </p:set>
                                    <p:anim calcmode="lin" valueType="num">
                                      <p:cBhvr>
                                        <p:cTn id="11" dur="500" fill="hold"/>
                                        <p:tgtEl>
                                          <p:spTgt spid="398338">
                                            <p:txEl>
                                              <p:charRg st="10" end="130"/>
                                            </p:txEl>
                                          </p:spTgt>
                                        </p:tgtEl>
                                        <p:attrNameLst>
                                          <p:attrName>ppt_x</p:attrName>
                                        </p:attrNameLst>
                                      </p:cBhvr>
                                      <p:tavLst>
                                        <p:tav tm="0">
                                          <p:val>
                                            <p:strVal val="#ppt_x"/>
                                          </p:val>
                                        </p:tav>
                                        <p:tav tm="100000">
                                          <p:val>
                                            <p:strVal val="#ppt_x"/>
                                          </p:val>
                                        </p:tav>
                                      </p:tavLst>
                                    </p:anim>
                                    <p:anim calcmode="lin" valueType="num">
                                      <p:cBhvr>
                                        <p:cTn id="12" dur="500" fill="hold"/>
                                        <p:tgtEl>
                                          <p:spTgt spid="398338">
                                            <p:txEl>
                                              <p:charRg st="10" end="13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98340"/>
                                        </p:tgtEl>
                                        <p:attrNameLst>
                                          <p:attrName>style.visibility</p:attrName>
                                        </p:attrNameLst>
                                      </p:cBhvr>
                                      <p:to>
                                        <p:strVal val="visible"/>
                                      </p:to>
                                    </p:set>
                                    <p:anim calcmode="lin" valueType="num">
                                      <p:cBhvr>
                                        <p:cTn id="15" dur="500" fill="hold"/>
                                        <p:tgtEl>
                                          <p:spTgt spid="398340"/>
                                        </p:tgtEl>
                                        <p:attrNameLst>
                                          <p:attrName>ppt_x</p:attrName>
                                        </p:attrNameLst>
                                      </p:cBhvr>
                                      <p:tavLst>
                                        <p:tav tm="0">
                                          <p:val>
                                            <p:strVal val="#ppt_x"/>
                                          </p:val>
                                        </p:tav>
                                        <p:tav tm="100000">
                                          <p:val>
                                            <p:strVal val="#ppt_x"/>
                                          </p:val>
                                        </p:tav>
                                      </p:tavLst>
                                    </p:anim>
                                    <p:anim calcmode="lin" valueType="num">
                                      <p:cBhvr>
                                        <p:cTn id="16" dur="500" fill="hold"/>
                                        <p:tgtEl>
                                          <p:spTgt spid="3983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99362" name="Object 2"/>
          <p:cNvGraphicFramePr>
            <a:graphicFrameLocks noGrp="1" noChangeAspect="1"/>
          </p:cNvGraphicFramePr>
          <p:nvPr>
            <p:ph idx="1"/>
          </p:nvPr>
        </p:nvGraphicFramePr>
        <p:xfrm>
          <a:off x="1600200" y="407988"/>
          <a:ext cx="5065713" cy="6450012"/>
        </p:xfrm>
        <a:graphic>
          <a:graphicData uri="http://schemas.openxmlformats.org/presentationml/2006/ole">
            <mc:AlternateContent xmlns:mc="http://schemas.openxmlformats.org/markup-compatibility/2006">
              <mc:Choice xmlns:v="urn:schemas-microsoft-com:vml" Requires="v">
                <p:oleObj spid="_x0000_s3200" name="" r:id="rId1" imgW="7722235" imgH="9829800" progId="Word.Document.8">
                  <p:embed/>
                </p:oleObj>
              </mc:Choice>
              <mc:Fallback>
                <p:oleObj name="" r:id="rId1" imgW="7722235" imgH="9829800" progId="Word.Document.8">
                  <p:embed/>
                  <p:pic>
                    <p:nvPicPr>
                      <p:cNvPr id="0" name="图片 3199"/>
                      <p:cNvPicPr/>
                      <p:nvPr/>
                    </p:nvPicPr>
                    <p:blipFill>
                      <a:blip r:embed="rId2"/>
                      <a:stretch>
                        <a:fillRect/>
                      </a:stretch>
                    </p:blipFill>
                    <p:spPr>
                      <a:xfrm>
                        <a:off x="1600200" y="407988"/>
                        <a:ext cx="5065713" cy="6450012"/>
                      </a:xfrm>
                      <a:prstGeom prst="rect">
                        <a:avLst/>
                      </a:prstGeom>
                      <a:noFill/>
                      <a:ln w="38100">
                        <a:miter/>
                      </a:ln>
                    </p:spPr>
                  </p:pic>
                </p:oleObj>
              </mc:Fallback>
            </mc:AlternateContent>
          </a:graphicData>
        </a:graphic>
      </p:graphicFrame>
      <p:sp>
        <p:nvSpPr>
          <p:cNvPr id="399363" name="Rectangle 3"/>
          <p:cNvSpPr/>
          <p:nvPr/>
        </p:nvSpPr>
        <p:spPr>
          <a:xfrm>
            <a:off x="1676400" y="6491288"/>
            <a:ext cx="4678363" cy="366712"/>
          </a:xfrm>
          <a:prstGeom prst="rect">
            <a:avLst/>
          </a:prstGeom>
          <a:noFill/>
          <a:ln w="9525">
            <a:noFill/>
          </a:ln>
        </p:spPr>
        <p:txBody>
          <a:bodyPr wrap="none" anchor="ctr">
            <a:spAutoFit/>
          </a:bodyPr>
          <a:p>
            <a:r>
              <a:rPr lang="zh-CN" altLang="en-US" b="1">
                <a:solidFill>
                  <a:srgbClr val="692AA2"/>
                </a:solidFill>
                <a:latin typeface="仿宋_GB2312" pitchFamily="49" charset="-122"/>
                <a:ea typeface="仿宋_GB2312" pitchFamily="49" charset="-122"/>
              </a:rPr>
              <a:t>表</a:t>
            </a:r>
            <a:r>
              <a:rPr lang="en-US" altLang="zh-CN" b="1">
                <a:solidFill>
                  <a:srgbClr val="692AA2"/>
                </a:solidFill>
                <a:latin typeface="仿宋_GB2312" pitchFamily="49" charset="-122"/>
                <a:ea typeface="仿宋_GB2312" pitchFamily="49" charset="-122"/>
              </a:rPr>
              <a:t>7.5  2006</a:t>
            </a:r>
            <a:r>
              <a:rPr lang="zh-CN" altLang="en-US" b="1">
                <a:solidFill>
                  <a:srgbClr val="692AA2"/>
                </a:solidFill>
                <a:latin typeface="仿宋_GB2312" pitchFamily="49" charset="-122"/>
                <a:ea typeface="仿宋_GB2312" pitchFamily="49" charset="-122"/>
              </a:rPr>
              <a:t>年</a:t>
            </a:r>
            <a:r>
              <a:rPr lang="zh-CN" altLang="en-US" b="1">
                <a:solidFill>
                  <a:srgbClr val="692AA2"/>
                </a:solidFill>
                <a:latin typeface="Arial" panose="020B0604020202020204" pitchFamily="34" charset="0"/>
                <a:ea typeface="仿宋_GB2312" pitchFamily="49" charset="-122"/>
              </a:rPr>
              <a:t>“</a:t>
            </a:r>
            <a:r>
              <a:rPr lang="zh-CN" altLang="en-US" b="1">
                <a:solidFill>
                  <a:srgbClr val="692AA2"/>
                </a:solidFill>
                <a:latin typeface="仿宋_GB2312" pitchFamily="49" charset="-122"/>
                <a:ea typeface="仿宋_GB2312" pitchFamily="49" charset="-122"/>
              </a:rPr>
              <a:t>总社－课程</a:t>
            </a:r>
            <a:r>
              <a:rPr lang="zh-CN" altLang="en-US" b="1">
                <a:solidFill>
                  <a:srgbClr val="692AA2"/>
                </a:solidFill>
                <a:latin typeface="Arial" panose="020B0604020202020204" pitchFamily="34" charset="0"/>
                <a:ea typeface="仿宋_GB2312" pitchFamily="49" charset="-122"/>
              </a:rPr>
              <a:t>”</a:t>
            </a:r>
            <a:r>
              <a:rPr lang="zh-CN" altLang="en-US" b="1">
                <a:solidFill>
                  <a:srgbClr val="692AA2"/>
                </a:solidFill>
                <a:latin typeface="仿宋_GB2312" pitchFamily="49" charset="-122"/>
                <a:ea typeface="仿宋_GB2312" pitchFamily="49" charset="-122"/>
              </a:rPr>
              <a:t>的资源配置方案</a:t>
            </a:r>
            <a:endParaRPr lang="zh-CN" altLang="en-US"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362"/>
                                        </p:tgtEl>
                                        <p:attrNameLst>
                                          <p:attrName>style.visibility</p:attrName>
                                        </p:attrNameLst>
                                      </p:cBhvr>
                                      <p:to>
                                        <p:strVal val="visible"/>
                                      </p:to>
                                    </p:set>
                                    <p:animEffect transition="in" filter="blinds(horizontal)">
                                      <p:cBhvr>
                                        <p:cTn id="7" dur="500"/>
                                        <p:tgtEl>
                                          <p:spTgt spid="39936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9363"/>
                                        </p:tgtEl>
                                        <p:attrNameLst>
                                          <p:attrName>style.visibility</p:attrName>
                                        </p:attrNameLst>
                                      </p:cBhvr>
                                      <p:to>
                                        <p:strVal val="visible"/>
                                      </p:to>
                                    </p:set>
                                    <p:animEffect transition="in" filter="blinds(horizontal)">
                                      <p:cBhvr>
                                        <p:cTn id="10" dur="500"/>
                                        <p:tgtEl>
                                          <p:spTgt spid="399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0386" name="Rectangle 2"/>
          <p:cNvSpPr>
            <a:spLocks noGrp="1"/>
          </p:cNvSpPr>
          <p:nvPr>
            <p:ph idx="1"/>
          </p:nvPr>
        </p:nvSpPr>
        <p:spPr>
          <a:xfrm>
            <a:off x="457200" y="1219200"/>
            <a:ext cx="8229600" cy="5181600"/>
          </a:xfrm>
          <a:ln/>
        </p:spPr>
        <p:txBody>
          <a:bodyPr vert="horz" wrap="square" lIns="91440" tIns="45720" rIns="91440" bIns="45720" anchor="t"/>
          <a:p>
            <a:pPr eaLnBrk="1" hangingPunct="1">
              <a:lnSpc>
                <a:spcPct val="110000"/>
              </a:lnSpc>
              <a:buNone/>
            </a:pPr>
            <a:r>
              <a:rPr lang="en-US" altLang="zh-CN" sz="2000" b="1">
                <a:solidFill>
                  <a:srgbClr val="692AA2"/>
                </a:solidFill>
                <a:latin typeface="仿宋_GB2312" pitchFamily="49" charset="-122"/>
                <a:ea typeface="仿宋_GB2312" pitchFamily="49" charset="-122"/>
              </a:rPr>
              <a:t>6.5 </a:t>
            </a:r>
            <a:r>
              <a:rPr lang="zh-CN" altLang="en-US" sz="2000" b="1">
                <a:solidFill>
                  <a:srgbClr val="692AA2"/>
                </a:solidFill>
                <a:latin typeface="仿宋_GB2312" pitchFamily="49" charset="-122"/>
                <a:ea typeface="仿宋_GB2312" pitchFamily="49" charset="-122"/>
              </a:rPr>
              <a:t>两种分配方式的比较和分析</a:t>
            </a:r>
            <a:endParaRPr lang="zh-CN" altLang="en-US" sz="2000" b="1">
              <a:solidFill>
                <a:srgbClr val="692AA2"/>
              </a:solidFill>
              <a:latin typeface="仿宋_GB2312" pitchFamily="49" charset="-122"/>
              <a:ea typeface="仿宋_GB2312" pitchFamily="49" charset="-122"/>
            </a:endParaRPr>
          </a:p>
          <a:p>
            <a:pPr eaLnBrk="1" hangingPunct="1">
              <a:lnSpc>
                <a:spcPct val="11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1</a:t>
            </a:r>
            <a:r>
              <a:rPr lang="zh-CN" altLang="en-US" sz="2000" b="1">
                <a:solidFill>
                  <a:srgbClr val="692AA2"/>
                </a:solidFill>
                <a:latin typeface="仿宋_GB2312" pitchFamily="49" charset="-122"/>
                <a:ea typeface="仿宋_GB2312" pitchFamily="49" charset="-122"/>
              </a:rPr>
              <a:t>）分配结果的比较</a:t>
            </a:r>
            <a:endParaRPr lang="zh-CN" altLang="en-US" sz="2000" b="1">
              <a:solidFill>
                <a:srgbClr val="692AA2"/>
              </a:solidFill>
              <a:latin typeface="仿宋_GB2312" pitchFamily="49" charset="-122"/>
              <a:ea typeface="仿宋_GB2312" pitchFamily="49" charset="-122"/>
            </a:endParaRPr>
          </a:p>
          <a:p>
            <a:pPr eaLnBrk="1" hangingPunct="1">
              <a:lnSpc>
                <a:spcPct val="110000"/>
              </a:lnSpc>
              <a:buNone/>
            </a:pPr>
            <a:r>
              <a:rPr lang="zh-CN" altLang="en-US" sz="2000" b="1">
                <a:solidFill>
                  <a:srgbClr val="692AA2"/>
                </a:solidFill>
                <a:latin typeface="仿宋_GB2312" pitchFamily="49" charset="-122"/>
                <a:ea typeface="仿宋_GB2312" pitchFamily="49" charset="-122"/>
              </a:rPr>
              <a:t>      下面对由模型</a:t>
            </a:r>
            <a:r>
              <a:rPr lang="en-US" altLang="zh-CN" sz="2000" b="1">
                <a:solidFill>
                  <a:srgbClr val="692AA2"/>
                </a:solidFill>
                <a:latin typeface="仿宋_GB2312" pitchFamily="49" charset="-122"/>
                <a:ea typeface="仿宋_GB2312" pitchFamily="49" charset="-122"/>
              </a:rPr>
              <a:t>Ⅰ</a:t>
            </a:r>
            <a:r>
              <a:rPr lang="zh-CN" altLang="en-US" sz="2000" b="1">
                <a:solidFill>
                  <a:srgbClr val="692AA2"/>
                </a:solidFill>
                <a:latin typeface="仿宋_GB2312" pitchFamily="49" charset="-122"/>
                <a:ea typeface="仿宋_GB2312" pitchFamily="49" charset="-122"/>
              </a:rPr>
              <a:t>和模型</a:t>
            </a:r>
            <a:r>
              <a:rPr lang="en-US" altLang="zh-CN" sz="2000" b="1">
                <a:solidFill>
                  <a:srgbClr val="692AA2"/>
                </a:solidFill>
                <a:latin typeface="仿宋_GB2312" pitchFamily="49" charset="-122"/>
                <a:ea typeface="仿宋_GB2312" pitchFamily="49" charset="-122"/>
              </a:rPr>
              <a:t>Ⅲ</a:t>
            </a:r>
            <a:r>
              <a:rPr lang="zh-CN" altLang="en-US" sz="2000" b="1">
                <a:solidFill>
                  <a:srgbClr val="692AA2"/>
                </a:solidFill>
                <a:latin typeface="仿宋_GB2312" pitchFamily="49" charset="-122"/>
                <a:ea typeface="仿宋_GB2312" pitchFamily="49" charset="-122"/>
              </a:rPr>
              <a:t>得到在</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总社－分社－课程</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的二次分配方式下分配结果，和由模型</a:t>
            </a:r>
            <a:r>
              <a:rPr lang="en-US" altLang="zh-CN" sz="2000" b="1">
                <a:solidFill>
                  <a:srgbClr val="692AA2"/>
                </a:solidFill>
                <a:latin typeface="仿宋_GB2312" pitchFamily="49" charset="-122"/>
                <a:ea typeface="仿宋_GB2312" pitchFamily="49" charset="-122"/>
              </a:rPr>
              <a:t>Ⅳ</a:t>
            </a:r>
            <a:r>
              <a:rPr lang="zh-CN" altLang="en-US" sz="2000" b="1">
                <a:solidFill>
                  <a:srgbClr val="692AA2"/>
                </a:solidFill>
                <a:latin typeface="仿宋_GB2312" pitchFamily="49" charset="-122"/>
                <a:ea typeface="仿宋_GB2312" pitchFamily="49" charset="-122"/>
              </a:rPr>
              <a:t>得到在</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总社－课程</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的一次分配方式下分配结果，对两种分配方式进行比较。  </a:t>
            </a:r>
            <a:endParaRPr lang="zh-CN" altLang="en-US" sz="2000" b="1">
              <a:solidFill>
                <a:srgbClr val="692AA2"/>
              </a:solidFill>
              <a:latin typeface="仿宋_GB2312" pitchFamily="49" charset="-122"/>
              <a:ea typeface="仿宋_GB2312" pitchFamily="49" charset="-122"/>
            </a:endParaRPr>
          </a:p>
          <a:p>
            <a:pPr eaLnBrk="1" hangingPunct="1">
              <a:lnSpc>
                <a:spcPct val="110000"/>
              </a:lnSpc>
              <a:buNone/>
            </a:pPr>
            <a:r>
              <a:rPr lang="zh-CN" altLang="en-US" sz="2000" b="1">
                <a:solidFill>
                  <a:srgbClr val="692AA2"/>
                </a:solidFill>
                <a:latin typeface="仿宋_GB2312" pitchFamily="49" charset="-122"/>
                <a:ea typeface="仿宋_GB2312" pitchFamily="49" charset="-122"/>
              </a:rPr>
              <a:t>      由模型</a:t>
            </a:r>
            <a:r>
              <a:rPr lang="en-US" altLang="zh-CN" sz="2000" b="1">
                <a:solidFill>
                  <a:srgbClr val="692AA2"/>
                </a:solidFill>
                <a:latin typeface="仿宋_GB2312" pitchFamily="49" charset="-122"/>
                <a:ea typeface="仿宋_GB2312" pitchFamily="49" charset="-122"/>
              </a:rPr>
              <a:t>Ⅰ</a:t>
            </a:r>
            <a:r>
              <a:rPr lang="zh-CN" altLang="en-US" sz="2000" b="1">
                <a:solidFill>
                  <a:srgbClr val="692AA2"/>
                </a:solidFill>
                <a:latin typeface="仿宋_GB2312" pitchFamily="49" charset="-122"/>
                <a:ea typeface="仿宋_GB2312" pitchFamily="49" charset="-122"/>
              </a:rPr>
              <a:t>和模型</a:t>
            </a:r>
            <a:r>
              <a:rPr lang="en-US" altLang="zh-CN" sz="2000" b="1">
                <a:solidFill>
                  <a:srgbClr val="692AA2"/>
                </a:solidFill>
                <a:latin typeface="仿宋_GB2312" pitchFamily="49" charset="-122"/>
                <a:ea typeface="仿宋_GB2312" pitchFamily="49" charset="-122"/>
              </a:rPr>
              <a:t>Ⅲ</a:t>
            </a:r>
            <a:r>
              <a:rPr lang="zh-CN" altLang="en-US" sz="2000" b="1">
                <a:solidFill>
                  <a:srgbClr val="692AA2"/>
                </a:solidFill>
                <a:latin typeface="仿宋_GB2312" pitchFamily="49" charset="-122"/>
                <a:ea typeface="仿宋_GB2312" pitchFamily="49" charset="-122"/>
              </a:rPr>
              <a:t>得到计算二次分配的经济效益、满意度、市场占有率的数值分别除以其均值分别作为其表征值，得到三者的表征值分别为（</a:t>
            </a:r>
            <a:r>
              <a:rPr lang="en-US" altLang="zh-CN" sz="2000" b="1">
                <a:solidFill>
                  <a:srgbClr val="692AA2"/>
                </a:solidFill>
                <a:latin typeface="仿宋_GB2312" pitchFamily="49" charset="-122"/>
                <a:ea typeface="仿宋_GB2312" pitchFamily="49" charset="-122"/>
              </a:rPr>
              <a:t>707.0016</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250.3907</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502.7673</a:t>
            </a:r>
            <a:r>
              <a:rPr lang="zh-CN" altLang="en-US" sz="2000" b="1">
                <a:solidFill>
                  <a:srgbClr val="692AA2"/>
                </a:solidFill>
                <a:latin typeface="仿宋_GB2312" pitchFamily="49" charset="-122"/>
                <a:ea typeface="仿宋_GB2312" pitchFamily="49" charset="-122"/>
              </a:rPr>
              <a:t>），一次分配时三者的表征值值分别为（</a:t>
            </a:r>
            <a:r>
              <a:rPr lang="en-US" altLang="zh-CN" sz="2000" b="1">
                <a:solidFill>
                  <a:srgbClr val="692AA2"/>
                </a:solidFill>
                <a:latin typeface="仿宋_GB2312" pitchFamily="49" charset="-122"/>
                <a:ea typeface="仿宋_GB2312" pitchFamily="49" charset="-122"/>
              </a:rPr>
              <a:t>719.1724</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254.7012</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499.7643</a:t>
            </a:r>
            <a:r>
              <a:rPr lang="zh-CN" altLang="en-US" sz="2000" b="1">
                <a:solidFill>
                  <a:srgbClr val="692AA2"/>
                </a:solidFill>
                <a:latin typeface="仿宋_GB2312" pitchFamily="49" charset="-122"/>
                <a:ea typeface="仿宋_GB2312" pitchFamily="49" charset="-122"/>
              </a:rPr>
              <a:t>）。发现一次分配方式在收益和满意度上略优于二次分配，在市场占有率上，略次于二次分配。        </a:t>
            </a:r>
            <a:endParaRPr lang="zh-CN" altLang="en-US" sz="2000" b="1">
              <a:solidFill>
                <a:srgbClr val="692AA2"/>
              </a:solidFill>
              <a:latin typeface="仿宋_GB2312" pitchFamily="49" charset="-122"/>
              <a:ea typeface="仿宋_GB2312" pitchFamily="49" charset="-122"/>
            </a:endParaRPr>
          </a:p>
          <a:p>
            <a:pPr eaLnBrk="1" hangingPunct="1">
              <a:lnSpc>
                <a:spcPct val="110000"/>
              </a:lnSpc>
              <a:buNone/>
            </a:pPr>
            <a:r>
              <a:rPr lang="zh-CN" altLang="en-US" sz="2000" b="1">
                <a:solidFill>
                  <a:srgbClr val="692AA2"/>
                </a:solidFill>
                <a:latin typeface="仿宋_GB2312" pitchFamily="49" charset="-122"/>
                <a:ea typeface="仿宋_GB2312" pitchFamily="49" charset="-122"/>
              </a:rPr>
              <a:t>      实际上，出版社最关心的还是经济效益，所以分别求得在两种分配方式下，资源的最优化配置所带来的经济效益分别为                 （一次分配）和         （二次分配）。两者的差值为              因此在总体经济效益上，一次分配能为</a:t>
            </a:r>
            <a:r>
              <a:rPr lang="en-US" altLang="zh-CN" sz="2000" b="1">
                <a:solidFill>
                  <a:srgbClr val="692AA2"/>
                </a:solidFill>
                <a:latin typeface="仿宋_GB2312" pitchFamily="49" charset="-122"/>
                <a:ea typeface="仿宋_GB2312" pitchFamily="49" charset="-122"/>
              </a:rPr>
              <a:t>A</a:t>
            </a:r>
            <a:r>
              <a:rPr lang="zh-CN" altLang="en-US" sz="2000" b="1">
                <a:solidFill>
                  <a:srgbClr val="692AA2"/>
                </a:solidFill>
                <a:latin typeface="仿宋_GB2312" pitchFamily="49" charset="-122"/>
                <a:ea typeface="仿宋_GB2312" pitchFamily="49" charset="-122"/>
              </a:rPr>
              <a:t>出版社增加四十多万的收益。 </a:t>
            </a:r>
            <a:endParaRPr lang="zh-CN" altLang="en-US" sz="2000" b="1">
              <a:solidFill>
                <a:srgbClr val="692AA2"/>
              </a:solidFill>
              <a:latin typeface="仿宋_GB2312" pitchFamily="49" charset="-122"/>
              <a:ea typeface="仿宋_GB2312" pitchFamily="49" charset="-122"/>
            </a:endParaRPr>
          </a:p>
        </p:txBody>
      </p:sp>
      <p:sp>
        <p:nvSpPr>
          <p:cNvPr id="164866" name="Rectangle 3"/>
          <p:cNvSpPr/>
          <p:nvPr/>
        </p:nvSpPr>
        <p:spPr>
          <a:xfrm>
            <a:off x="6929438" y="54022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0388" name="Object 4"/>
          <p:cNvGraphicFramePr>
            <a:graphicFrameLocks noChangeAspect="1"/>
          </p:cNvGraphicFramePr>
          <p:nvPr/>
        </p:nvGraphicFramePr>
        <p:xfrm>
          <a:off x="7086600" y="5410200"/>
          <a:ext cx="1143000" cy="288925"/>
        </p:xfrm>
        <a:graphic>
          <a:graphicData uri="http://schemas.openxmlformats.org/presentationml/2006/ole">
            <mc:AlternateContent xmlns:mc="http://schemas.openxmlformats.org/markup-compatibility/2006">
              <mc:Choice xmlns:v="urn:schemas-microsoft-com:vml" Requires="v">
                <p:oleObj spid="_x0000_s3197" name="" r:id="rId1" imgW="901065" imgH="228600" progId="Equation.DSMT4">
                  <p:embed/>
                </p:oleObj>
              </mc:Choice>
              <mc:Fallback>
                <p:oleObj name="" r:id="rId1" imgW="901065" imgH="228600" progId="Equation.DSMT4">
                  <p:embed/>
                  <p:pic>
                    <p:nvPicPr>
                      <p:cNvPr id="0" name="图片 3196"/>
                      <p:cNvPicPr/>
                      <p:nvPr/>
                    </p:nvPicPr>
                    <p:blipFill>
                      <a:blip r:embed="rId2"/>
                      <a:stretch>
                        <a:fillRect/>
                      </a:stretch>
                    </p:blipFill>
                    <p:spPr>
                      <a:xfrm>
                        <a:off x="7086600" y="5410200"/>
                        <a:ext cx="1143000" cy="288925"/>
                      </a:xfrm>
                      <a:prstGeom prst="rect">
                        <a:avLst/>
                      </a:prstGeom>
                      <a:noFill/>
                      <a:ln w="38100">
                        <a:noFill/>
                        <a:miter/>
                      </a:ln>
                    </p:spPr>
                  </p:pic>
                </p:oleObj>
              </mc:Fallback>
            </mc:AlternateContent>
          </a:graphicData>
        </a:graphic>
      </p:graphicFrame>
      <p:graphicFrame>
        <p:nvGraphicFramePr>
          <p:cNvPr id="400389" name="Object 5"/>
          <p:cNvGraphicFramePr>
            <a:graphicFrameLocks noChangeAspect="1"/>
          </p:cNvGraphicFramePr>
          <p:nvPr/>
        </p:nvGraphicFramePr>
        <p:xfrm>
          <a:off x="2819400" y="5791200"/>
          <a:ext cx="1143000" cy="288925"/>
        </p:xfrm>
        <a:graphic>
          <a:graphicData uri="http://schemas.openxmlformats.org/presentationml/2006/ole">
            <mc:AlternateContent xmlns:mc="http://schemas.openxmlformats.org/markup-compatibility/2006">
              <mc:Choice xmlns:v="urn:schemas-microsoft-com:vml" Requires="v">
                <p:oleObj spid="_x0000_s3201" name="" r:id="rId3" imgW="901065" imgH="228600" progId="Equation.DSMT4">
                  <p:embed/>
                </p:oleObj>
              </mc:Choice>
              <mc:Fallback>
                <p:oleObj name="" r:id="rId3" imgW="901065" imgH="228600" progId="Equation.DSMT4">
                  <p:embed/>
                  <p:pic>
                    <p:nvPicPr>
                      <p:cNvPr id="0" name="图片 3200"/>
                      <p:cNvPicPr/>
                      <p:nvPr/>
                    </p:nvPicPr>
                    <p:blipFill>
                      <a:blip r:embed="rId4"/>
                      <a:stretch>
                        <a:fillRect/>
                      </a:stretch>
                    </p:blipFill>
                    <p:spPr>
                      <a:xfrm>
                        <a:off x="2819400" y="5791200"/>
                        <a:ext cx="1143000" cy="288925"/>
                      </a:xfrm>
                      <a:prstGeom prst="rect">
                        <a:avLst/>
                      </a:prstGeom>
                      <a:noFill/>
                      <a:ln w="38100">
                        <a:noFill/>
                        <a:miter/>
                      </a:ln>
                    </p:spPr>
                  </p:pic>
                </p:oleObj>
              </mc:Fallback>
            </mc:AlternateContent>
          </a:graphicData>
        </a:graphic>
      </p:graphicFrame>
      <p:sp>
        <p:nvSpPr>
          <p:cNvPr id="164869" name="Rectangle 6"/>
          <p:cNvSpPr/>
          <p:nvPr/>
        </p:nvSpPr>
        <p:spPr>
          <a:xfrm>
            <a:off x="7543800" y="54864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0391" name="Object 7"/>
          <p:cNvGraphicFramePr>
            <a:graphicFrameLocks noChangeAspect="1"/>
          </p:cNvGraphicFramePr>
          <p:nvPr/>
        </p:nvGraphicFramePr>
        <p:xfrm>
          <a:off x="7239000" y="5791200"/>
          <a:ext cx="990600" cy="317500"/>
        </p:xfrm>
        <a:graphic>
          <a:graphicData uri="http://schemas.openxmlformats.org/presentationml/2006/ole">
            <mc:AlternateContent xmlns:mc="http://schemas.openxmlformats.org/markup-compatibility/2006">
              <mc:Choice xmlns:v="urn:schemas-microsoft-com:vml" Requires="v">
                <p:oleObj spid="_x0000_s3202" name="" r:id="rId5" imgW="711200" imgH="228600" progId="Equation.DSMT4">
                  <p:embed/>
                </p:oleObj>
              </mc:Choice>
              <mc:Fallback>
                <p:oleObj name="" r:id="rId5" imgW="711200" imgH="228600" progId="Equation.DSMT4">
                  <p:embed/>
                  <p:pic>
                    <p:nvPicPr>
                      <p:cNvPr id="0" name="图片 3201"/>
                      <p:cNvPicPr/>
                      <p:nvPr/>
                    </p:nvPicPr>
                    <p:blipFill>
                      <a:blip r:embed="rId6"/>
                      <a:stretch>
                        <a:fillRect/>
                      </a:stretch>
                    </p:blipFill>
                    <p:spPr>
                      <a:xfrm>
                        <a:off x="7239000" y="5791200"/>
                        <a:ext cx="990600" cy="3175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00386">
                                            <p:txEl>
                                              <p:charRg st="0" end="17"/>
                                            </p:txEl>
                                          </p:spTgt>
                                        </p:tgtEl>
                                        <p:attrNameLst>
                                          <p:attrName>style.visibility</p:attrName>
                                        </p:attrNameLst>
                                      </p:cBhvr>
                                      <p:to>
                                        <p:strVal val="visible"/>
                                      </p:to>
                                    </p:set>
                                    <p:animEffect transition="in" filter="slide(fromBottom)">
                                      <p:cBhvr>
                                        <p:cTn id="7" dur="500"/>
                                        <p:tgtEl>
                                          <p:spTgt spid="400386">
                                            <p:txEl>
                                              <p:charRg st="0" end="17"/>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400386">
                                            <p:txEl>
                                              <p:charRg st="17" end="30"/>
                                            </p:txEl>
                                          </p:spTgt>
                                        </p:tgtEl>
                                        <p:attrNameLst>
                                          <p:attrName>style.visibility</p:attrName>
                                        </p:attrNameLst>
                                      </p:cBhvr>
                                      <p:to>
                                        <p:strVal val="visible"/>
                                      </p:to>
                                    </p:set>
                                    <p:animEffect transition="in" filter="slide(fromBottom)">
                                      <p:cBhvr>
                                        <p:cTn id="10" dur="500"/>
                                        <p:tgtEl>
                                          <p:spTgt spid="400386">
                                            <p:txEl>
                                              <p:charRg st="17" end="30"/>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400386">
                                            <p:txEl>
                                              <p:charRg st="30" end="116"/>
                                            </p:txEl>
                                          </p:spTgt>
                                        </p:tgtEl>
                                        <p:attrNameLst>
                                          <p:attrName>style.visibility</p:attrName>
                                        </p:attrNameLst>
                                      </p:cBhvr>
                                      <p:to>
                                        <p:strVal val="visible"/>
                                      </p:to>
                                    </p:set>
                                    <p:animEffect transition="in" filter="slide(fromBottom)">
                                      <p:cBhvr>
                                        <p:cTn id="13" dur="500"/>
                                        <p:tgtEl>
                                          <p:spTgt spid="400386">
                                            <p:txEl>
                                              <p:charRg st="30" end="11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400386">
                                            <p:txEl>
                                              <p:charRg st="116" end="305"/>
                                            </p:txEl>
                                          </p:spTgt>
                                        </p:tgtEl>
                                        <p:attrNameLst>
                                          <p:attrName>style.visibility</p:attrName>
                                        </p:attrNameLst>
                                      </p:cBhvr>
                                      <p:to>
                                        <p:strVal val="visible"/>
                                      </p:to>
                                    </p:set>
                                    <p:animEffect transition="in" filter="slide(fromBottom)">
                                      <p:cBhvr>
                                        <p:cTn id="18" dur="500"/>
                                        <p:tgtEl>
                                          <p:spTgt spid="400386">
                                            <p:txEl>
                                              <p:charRg st="116" end="30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400386">
                                            <p:txEl>
                                              <p:charRg st="305" end="456"/>
                                            </p:txEl>
                                          </p:spTgt>
                                        </p:tgtEl>
                                        <p:attrNameLst>
                                          <p:attrName>style.visibility</p:attrName>
                                        </p:attrNameLst>
                                      </p:cBhvr>
                                      <p:to>
                                        <p:strVal val="visible"/>
                                      </p:to>
                                    </p:set>
                                    <p:animEffect transition="in" filter="slide(fromBottom)">
                                      <p:cBhvr>
                                        <p:cTn id="23" dur="500"/>
                                        <p:tgtEl>
                                          <p:spTgt spid="400386">
                                            <p:txEl>
                                              <p:charRg st="305" end="456"/>
                                            </p:txEl>
                                          </p:spTgt>
                                        </p:tgtEl>
                                      </p:cBhvr>
                                    </p:animEffect>
                                  </p:childTnLst>
                                </p:cTn>
                              </p:par>
                              <p:par>
                                <p:cTn id="24" presetID="12" presetClass="entr" presetSubtype="4" fill="hold" nodeType="withEffect">
                                  <p:stCondLst>
                                    <p:cond delay="0"/>
                                  </p:stCondLst>
                                  <p:childTnLst>
                                    <p:set>
                                      <p:cBhvr>
                                        <p:cTn id="25" dur="1" fill="hold">
                                          <p:stCondLst>
                                            <p:cond delay="0"/>
                                          </p:stCondLst>
                                        </p:cTn>
                                        <p:tgtEl>
                                          <p:spTgt spid="400389"/>
                                        </p:tgtEl>
                                        <p:attrNameLst>
                                          <p:attrName>style.visibility</p:attrName>
                                        </p:attrNameLst>
                                      </p:cBhvr>
                                      <p:to>
                                        <p:strVal val="visible"/>
                                      </p:to>
                                    </p:set>
                                    <p:animEffect transition="in" filter="slide(fromBottom)">
                                      <p:cBhvr>
                                        <p:cTn id="26" dur="500"/>
                                        <p:tgtEl>
                                          <p:spTgt spid="400389"/>
                                        </p:tgtEl>
                                      </p:cBhvr>
                                    </p:animEffect>
                                  </p:childTnLst>
                                </p:cTn>
                              </p:par>
                              <p:par>
                                <p:cTn id="27" presetID="12" presetClass="entr" presetSubtype="4" fill="hold" nodeType="withEffect">
                                  <p:stCondLst>
                                    <p:cond delay="0"/>
                                  </p:stCondLst>
                                  <p:childTnLst>
                                    <p:set>
                                      <p:cBhvr>
                                        <p:cTn id="28" dur="1" fill="hold">
                                          <p:stCondLst>
                                            <p:cond delay="0"/>
                                          </p:stCondLst>
                                        </p:cTn>
                                        <p:tgtEl>
                                          <p:spTgt spid="400388"/>
                                        </p:tgtEl>
                                        <p:attrNameLst>
                                          <p:attrName>style.visibility</p:attrName>
                                        </p:attrNameLst>
                                      </p:cBhvr>
                                      <p:to>
                                        <p:strVal val="visible"/>
                                      </p:to>
                                    </p:set>
                                    <p:animEffect transition="in" filter="slide(fromBottom)">
                                      <p:cBhvr>
                                        <p:cTn id="29" dur="500"/>
                                        <p:tgtEl>
                                          <p:spTgt spid="400388"/>
                                        </p:tgtEl>
                                      </p:cBhvr>
                                    </p:animEffect>
                                  </p:childTnLst>
                                </p:cTn>
                              </p:par>
                              <p:par>
                                <p:cTn id="30" presetID="12" presetClass="entr" presetSubtype="4" fill="hold" nodeType="withEffect">
                                  <p:stCondLst>
                                    <p:cond delay="0"/>
                                  </p:stCondLst>
                                  <p:childTnLst>
                                    <p:set>
                                      <p:cBhvr>
                                        <p:cTn id="31" dur="1" fill="hold">
                                          <p:stCondLst>
                                            <p:cond delay="0"/>
                                          </p:stCondLst>
                                        </p:cTn>
                                        <p:tgtEl>
                                          <p:spTgt spid="400391"/>
                                        </p:tgtEl>
                                        <p:attrNameLst>
                                          <p:attrName>style.visibility</p:attrName>
                                        </p:attrNameLst>
                                      </p:cBhvr>
                                      <p:to>
                                        <p:strVal val="visible"/>
                                      </p:to>
                                    </p:set>
                                    <p:animEffect transition="in" filter="slide(fromBottom)">
                                      <p:cBhvr>
                                        <p:cTn id="32" dur="500"/>
                                        <p:tgtEl>
                                          <p:spTgt spid="400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1410" name="Rectangle 2"/>
          <p:cNvSpPr>
            <a:spLocks noGrp="1"/>
          </p:cNvSpPr>
          <p:nvPr>
            <p:ph idx="1"/>
          </p:nvPr>
        </p:nvSpPr>
        <p:spPr>
          <a:xfrm>
            <a:off x="457200" y="685800"/>
            <a:ext cx="8229600" cy="4724400"/>
          </a:xfrm>
          <a:ln/>
        </p:spPr>
        <p:txBody>
          <a:bodyPr vert="horz" wrap="square" lIns="91440" tIns="45720" rIns="91440" bIns="45720" anchor="t"/>
          <a:p>
            <a:pPr eaLnBrk="1" hangingPunct="1">
              <a:buNone/>
            </a:pPr>
            <a:r>
              <a:rPr lang="en-US"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2</a:t>
            </a:r>
            <a:r>
              <a:rPr lang="zh-CN" altLang="en-US" sz="2000" b="1">
                <a:solidFill>
                  <a:srgbClr val="692AA2"/>
                </a:solidFill>
                <a:latin typeface="仿宋_GB2312" pitchFamily="49" charset="-122"/>
                <a:ea typeface="仿宋_GB2312" pitchFamily="49" charset="-122"/>
              </a:rPr>
              <a:t>）结果的分析</a:t>
            </a:r>
            <a:endParaRPr lang="zh-CN" altLang="en-US"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之所以出现上述结果是因为一次分配方式中满意度占的权重很大，由于重点考虑学生的满意度，出版社将精力过多的放在提高课本的质量上，降低了对数量的要求。由计算得到的经济效益、满意度和市场占有率三者权重系数：</a:t>
            </a:r>
            <a:endParaRPr lang="zh-CN" altLang="en-US" sz="2000" b="1">
              <a:solidFill>
                <a:srgbClr val="692AA2"/>
              </a:solidFill>
              <a:latin typeface="仿宋_GB2312" pitchFamily="49" charset="-122"/>
              <a:ea typeface="仿宋_GB2312" pitchFamily="49" charset="-122"/>
            </a:endParaRPr>
          </a:p>
          <a:p>
            <a:pPr eaLnBrk="1" hangingPunct="1"/>
            <a:endParaRPr lang="zh-CN" altLang="en-US"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可以看出，市场占有率的权重相比之下远小于收益和满意度的权重，即经济效益和满意度起主体作用。因此虽然出版社在收益和满意度上取得了较好的效果，但在市场占有率上会有损失。</a:t>
            </a:r>
            <a:endParaRPr lang="zh-CN" altLang="en-US"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二次分配方式先把书号分配到各分社，对分社的评价也潜在的影响了对课程的评价。因此会出现这样一种情况，一个能为出版社带来很好的经济效益并有利于其长远发展的课程归属于一个不强势的分社，而不能得到应有的书号个数。</a:t>
            </a:r>
            <a:endParaRPr lang="zh-CN" altLang="en-US"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从这一点也可以看出，二次分配方式试图通过阶段最优达到全局最优的意图是不能实现的。一次分配方式能够消除分社的强势与否对课程书号数分配的影响，更能达到合理分配的目的。</a:t>
            </a:r>
            <a:endParaRPr lang="zh-CN" altLang="en-US" sz="2000" b="1">
              <a:solidFill>
                <a:srgbClr val="692AA2"/>
              </a:solidFill>
              <a:latin typeface="仿宋_GB2312" pitchFamily="49" charset="-122"/>
              <a:ea typeface="仿宋_GB2312" pitchFamily="49" charset="-122"/>
            </a:endParaRPr>
          </a:p>
          <a:p>
            <a:pPr eaLnBrk="1" hangingPunct="1">
              <a:buNone/>
            </a:pPr>
            <a:r>
              <a:rPr lang="zh-CN" altLang="en-US" sz="2000" b="1">
                <a:solidFill>
                  <a:srgbClr val="692AA2"/>
                </a:solidFill>
                <a:latin typeface="仿宋_GB2312" pitchFamily="49" charset="-122"/>
                <a:ea typeface="仿宋_GB2312" pitchFamily="49" charset="-122"/>
              </a:rPr>
              <a:t>      因此，总体上，两种分配方式各有优缺点，一次分配方式略优于二次分配方式。 </a:t>
            </a:r>
            <a:endParaRPr lang="zh-CN" altLang="en-US" sz="2000" b="1">
              <a:solidFill>
                <a:srgbClr val="692AA2"/>
              </a:solidFill>
              <a:latin typeface="仿宋_GB2312" pitchFamily="49" charset="-122"/>
              <a:ea typeface="仿宋_GB2312" pitchFamily="49" charset="-122"/>
            </a:endParaRPr>
          </a:p>
        </p:txBody>
      </p:sp>
      <p:sp>
        <p:nvSpPr>
          <p:cNvPr id="165890" name="Rectangle 3"/>
          <p:cNvSpPr/>
          <p:nvPr/>
        </p:nvSpPr>
        <p:spPr>
          <a:xfrm>
            <a:off x="5438775" y="204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1412" name="Object 4"/>
          <p:cNvGraphicFramePr>
            <a:graphicFrameLocks noChangeAspect="1"/>
          </p:cNvGraphicFramePr>
          <p:nvPr/>
        </p:nvGraphicFramePr>
        <p:xfrm>
          <a:off x="2438400" y="2362200"/>
          <a:ext cx="3705225" cy="334963"/>
        </p:xfrm>
        <a:graphic>
          <a:graphicData uri="http://schemas.openxmlformats.org/presentationml/2006/ole">
            <mc:AlternateContent xmlns:mc="http://schemas.openxmlformats.org/markup-compatibility/2006">
              <mc:Choice xmlns:v="urn:schemas-microsoft-com:vml" Requires="v">
                <p:oleObj spid="_x0000_s3209" name="" r:id="rId1" imgW="2628900" imgH="241300" progId="Equation.3">
                  <p:embed/>
                </p:oleObj>
              </mc:Choice>
              <mc:Fallback>
                <p:oleObj name="" r:id="rId1" imgW="2628900" imgH="241300" progId="Equation.3">
                  <p:embed/>
                  <p:pic>
                    <p:nvPicPr>
                      <p:cNvPr id="0" name="图片 3208"/>
                      <p:cNvPicPr/>
                      <p:nvPr/>
                    </p:nvPicPr>
                    <p:blipFill>
                      <a:blip r:embed="rId2"/>
                      <a:stretch>
                        <a:fillRect/>
                      </a:stretch>
                    </p:blipFill>
                    <p:spPr>
                      <a:xfrm>
                        <a:off x="2438400" y="2362200"/>
                        <a:ext cx="3705225" cy="334963"/>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1410">
                                            <p:txEl>
                                              <p:charRg st="0" end="11"/>
                                            </p:txEl>
                                          </p:spTgt>
                                        </p:tgtEl>
                                        <p:attrNameLst>
                                          <p:attrName>style.visibility</p:attrName>
                                        </p:attrNameLst>
                                      </p:cBhvr>
                                      <p:to>
                                        <p:strVal val="visible"/>
                                      </p:to>
                                    </p:set>
                                    <p:animEffect transition="in" filter="checkerboard(across)">
                                      <p:cBhvr>
                                        <p:cTn id="7" dur="500"/>
                                        <p:tgtEl>
                                          <p:spTgt spid="401410">
                                            <p:txEl>
                                              <p:charRg st="0" end="1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01410">
                                            <p:txEl>
                                              <p:charRg st="11" end="117"/>
                                            </p:txEl>
                                          </p:spTgt>
                                        </p:tgtEl>
                                        <p:attrNameLst>
                                          <p:attrName>style.visibility</p:attrName>
                                        </p:attrNameLst>
                                      </p:cBhvr>
                                      <p:to>
                                        <p:strVal val="visible"/>
                                      </p:to>
                                    </p:set>
                                    <p:animEffect transition="in" filter="checkerboard(across)">
                                      <p:cBhvr>
                                        <p:cTn id="10" dur="500"/>
                                        <p:tgtEl>
                                          <p:spTgt spid="401410">
                                            <p:txEl>
                                              <p:charRg st="11" end="117"/>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01412"/>
                                        </p:tgtEl>
                                        <p:attrNameLst>
                                          <p:attrName>style.visibility</p:attrName>
                                        </p:attrNameLst>
                                      </p:cBhvr>
                                      <p:to>
                                        <p:strVal val="visible"/>
                                      </p:to>
                                    </p:set>
                                    <p:animEffect transition="in" filter="checkerboard(across)">
                                      <p:cBhvr>
                                        <p:cTn id="13" dur="500"/>
                                        <p:tgtEl>
                                          <p:spTgt spid="40141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401410">
                                            <p:txEl>
                                              <p:charRg st="118" end="207"/>
                                            </p:txEl>
                                          </p:spTgt>
                                        </p:tgtEl>
                                        <p:attrNameLst>
                                          <p:attrName>style.visibility</p:attrName>
                                        </p:attrNameLst>
                                      </p:cBhvr>
                                      <p:to>
                                        <p:strVal val="visible"/>
                                      </p:to>
                                    </p:set>
                                    <p:animEffect transition="in" filter="checkerboard(across)">
                                      <p:cBhvr>
                                        <p:cTn id="18" dur="500"/>
                                        <p:tgtEl>
                                          <p:spTgt spid="401410">
                                            <p:txEl>
                                              <p:charRg st="118" end="207"/>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401410">
                                            <p:txEl>
                                              <p:charRg st="207" end="316"/>
                                            </p:txEl>
                                          </p:spTgt>
                                        </p:tgtEl>
                                        <p:attrNameLst>
                                          <p:attrName>style.visibility</p:attrName>
                                        </p:attrNameLst>
                                      </p:cBhvr>
                                      <p:to>
                                        <p:strVal val="visible"/>
                                      </p:to>
                                    </p:set>
                                    <p:animEffect transition="in" filter="checkerboard(across)">
                                      <p:cBhvr>
                                        <p:cTn id="21" dur="500"/>
                                        <p:tgtEl>
                                          <p:spTgt spid="401410">
                                            <p:txEl>
                                              <p:charRg st="207" end="316"/>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401410">
                                            <p:txEl>
                                              <p:charRg st="316" end="404"/>
                                            </p:txEl>
                                          </p:spTgt>
                                        </p:tgtEl>
                                        <p:attrNameLst>
                                          <p:attrName>style.visibility</p:attrName>
                                        </p:attrNameLst>
                                      </p:cBhvr>
                                      <p:to>
                                        <p:strVal val="visible"/>
                                      </p:to>
                                    </p:set>
                                    <p:animEffect transition="in" filter="checkerboard(across)">
                                      <p:cBhvr>
                                        <p:cTn id="24" dur="500"/>
                                        <p:tgtEl>
                                          <p:spTgt spid="401410">
                                            <p:txEl>
                                              <p:charRg st="316" end="40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401410">
                                            <p:txEl>
                                              <p:charRg st="404" end="447"/>
                                            </p:txEl>
                                          </p:spTgt>
                                        </p:tgtEl>
                                        <p:attrNameLst>
                                          <p:attrName>style.visibility</p:attrName>
                                        </p:attrNameLst>
                                      </p:cBhvr>
                                      <p:to>
                                        <p:strVal val="visible"/>
                                      </p:to>
                                    </p:set>
                                    <p:animEffect transition="in" filter="checkerboard(across)">
                                      <p:cBhvr>
                                        <p:cTn id="29" dur="500"/>
                                        <p:tgtEl>
                                          <p:spTgt spid="401410">
                                            <p:txEl>
                                              <p:charRg st="404" end="4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2434" name="Rectangle 2"/>
          <p:cNvSpPr>
            <a:spLocks noGrp="1"/>
          </p:cNvSpPr>
          <p:nvPr>
            <p:ph idx="1"/>
          </p:nvPr>
        </p:nvSpPr>
        <p:spPr>
          <a:xfrm>
            <a:off x="457200" y="1295400"/>
            <a:ext cx="8229600" cy="4800600"/>
          </a:xfrm>
          <a:ln/>
        </p:spPr>
        <p:txBody>
          <a:bodyPr vert="horz" wrap="square" lIns="91440" tIns="45720" rIns="91440" bIns="45720" anchor="t"/>
          <a:p>
            <a:pPr eaLnBrk="1" hangingPunct="1">
              <a:lnSpc>
                <a:spcPct val="90000"/>
              </a:lnSpc>
              <a:buNone/>
            </a:pPr>
            <a:r>
              <a:rPr lang="en-US" altLang="zh-CN" b="1">
                <a:solidFill>
                  <a:srgbClr val="692AA2"/>
                </a:solidFill>
                <a:latin typeface="仿宋_GB2312" pitchFamily="49" charset="-122"/>
                <a:ea typeface="仿宋_GB2312" pitchFamily="49" charset="-122"/>
              </a:rPr>
              <a:t>7.</a:t>
            </a:r>
            <a:r>
              <a:rPr lang="zh-CN" altLang="en-US" b="1">
                <a:solidFill>
                  <a:srgbClr val="692AA2"/>
                </a:solidFill>
                <a:latin typeface="仿宋_GB2312" pitchFamily="49" charset="-122"/>
                <a:ea typeface="仿宋_GB2312" pitchFamily="49" charset="-122"/>
              </a:rPr>
              <a:t>　给</a:t>
            </a:r>
            <a:r>
              <a:rPr lang="en-US" altLang="zh-CN" b="1">
                <a:solidFill>
                  <a:srgbClr val="692AA2"/>
                </a:solidFill>
                <a:latin typeface="仿宋_GB2312" pitchFamily="49" charset="-122"/>
                <a:ea typeface="仿宋_GB2312" pitchFamily="49" charset="-122"/>
              </a:rPr>
              <a:t>A</a:t>
            </a:r>
            <a:r>
              <a:rPr lang="zh-CN" altLang="en-US" b="1">
                <a:solidFill>
                  <a:srgbClr val="692AA2"/>
                </a:solidFill>
                <a:latin typeface="仿宋_GB2312" pitchFamily="49" charset="-122"/>
                <a:ea typeface="仿宋_GB2312" pitchFamily="49" charset="-122"/>
              </a:rPr>
              <a:t>出版社的建议</a:t>
            </a:r>
            <a:endParaRPr lang="zh-CN" altLang="en-US"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在模型一中，通过对影子价格的分析得出第四个约束条件是紧约束，即数学类的策划人员的数量较少，如果从其他的分社调来人员或者招聘新人员，总社的收入会有一个较大幅度的增加。同时，第十一个条件也是紧约束，即总社规定的书号总数比较少，但是在模型二中书号数的影子价格是负的，这说明书号总的数目多了以后会影响读者的满意度，所以需要合理的增加数目。所以，向</a:t>
            </a:r>
            <a:r>
              <a:rPr lang="en-US" altLang="zh-CN" sz="2000" b="1">
                <a:solidFill>
                  <a:srgbClr val="692AA2"/>
                </a:solidFill>
                <a:latin typeface="仿宋_GB2312" pitchFamily="49" charset="-122"/>
                <a:ea typeface="仿宋_GB2312" pitchFamily="49" charset="-122"/>
              </a:rPr>
              <a:t>A</a:t>
            </a:r>
            <a:r>
              <a:rPr lang="zh-CN" altLang="en-US" sz="2000" b="1">
                <a:solidFill>
                  <a:srgbClr val="692AA2"/>
                </a:solidFill>
                <a:latin typeface="仿宋_GB2312" pitchFamily="49" charset="-122"/>
                <a:ea typeface="仿宋_GB2312" pitchFamily="49" charset="-122"/>
              </a:rPr>
              <a:t>出版社提出如下建议：</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1</a:t>
            </a:r>
            <a:r>
              <a:rPr lang="zh-CN" altLang="en-US" sz="2000" b="1">
                <a:solidFill>
                  <a:srgbClr val="692AA2"/>
                </a:solidFill>
                <a:latin typeface="仿宋_GB2312" pitchFamily="49" charset="-122"/>
                <a:ea typeface="仿宋_GB2312" pitchFamily="49" charset="-122"/>
              </a:rPr>
              <a:t>） 对人力资源进行精简或调整。通过对模型的分配方案进行计算，我们发现，各社的人力资源有着大量的人员闲置（如</a:t>
            </a:r>
            <a:r>
              <a:rPr lang="en-US" altLang="zh-CN" sz="2000" b="1">
                <a:solidFill>
                  <a:srgbClr val="692AA2"/>
                </a:solidFill>
                <a:latin typeface="仿宋_GB2312" pitchFamily="49" charset="-122"/>
                <a:ea typeface="仿宋_GB2312" pitchFamily="49" charset="-122"/>
              </a:rPr>
              <a:t>6.1</a:t>
            </a:r>
            <a:r>
              <a:rPr lang="zh-CN" altLang="en-US" sz="2000" b="1">
                <a:solidFill>
                  <a:srgbClr val="692AA2"/>
                </a:solidFill>
                <a:latin typeface="仿宋_GB2312" pitchFamily="49" charset="-122"/>
                <a:ea typeface="仿宋_GB2312" pitchFamily="49" charset="-122"/>
              </a:rPr>
              <a:t>所示），各社各类人力资源不能恰好的</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人尽其用</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 但是数学类分社除外，还应从其他分社调入策划人员。</a:t>
            </a:r>
            <a:endParaRPr lang="zh-CN" altLang="en-US"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02434">
                                            <p:txEl>
                                              <p:charRg st="0" end="12"/>
                                            </p:txEl>
                                          </p:spTgt>
                                        </p:tgtEl>
                                        <p:attrNameLst>
                                          <p:attrName>style.visibility</p:attrName>
                                        </p:attrNameLst>
                                      </p:cBhvr>
                                      <p:to>
                                        <p:strVal val="visible"/>
                                      </p:to>
                                    </p:set>
                                    <p:animEffect transition="in" filter="diamond(in)">
                                      <p:cBhvr>
                                        <p:cTn id="7" dur="500"/>
                                        <p:tgtEl>
                                          <p:spTgt spid="402434">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402434">
                                            <p:txEl>
                                              <p:charRg st="12" end="200"/>
                                            </p:txEl>
                                          </p:spTgt>
                                        </p:tgtEl>
                                        <p:attrNameLst>
                                          <p:attrName>style.visibility</p:attrName>
                                        </p:attrNameLst>
                                      </p:cBhvr>
                                      <p:to>
                                        <p:strVal val="visible"/>
                                      </p:to>
                                    </p:set>
                                    <p:animEffect transition="in" filter="diamond(in)">
                                      <p:cBhvr>
                                        <p:cTn id="12" dur="500"/>
                                        <p:tgtEl>
                                          <p:spTgt spid="402434">
                                            <p:txEl>
                                              <p:charRg st="12" end="20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402434">
                                            <p:txEl>
                                              <p:charRg st="200" end="314"/>
                                            </p:txEl>
                                          </p:spTgt>
                                        </p:tgtEl>
                                        <p:attrNameLst>
                                          <p:attrName>style.visibility</p:attrName>
                                        </p:attrNameLst>
                                      </p:cBhvr>
                                      <p:to>
                                        <p:strVal val="visible"/>
                                      </p:to>
                                    </p:set>
                                    <p:animEffect transition="in" filter="diamond(in)">
                                      <p:cBhvr>
                                        <p:cTn id="17" dur="500"/>
                                        <p:tgtEl>
                                          <p:spTgt spid="402434">
                                            <p:txEl>
                                              <p:charRg st="200" end="3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4"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3458" name="Rectangle 2"/>
          <p:cNvSpPr/>
          <p:nvPr/>
        </p:nvSpPr>
        <p:spPr>
          <a:xfrm>
            <a:off x="2819400" y="2057400"/>
            <a:ext cx="3121025" cy="366713"/>
          </a:xfrm>
          <a:prstGeom prst="rect">
            <a:avLst/>
          </a:prstGeom>
          <a:noFill/>
          <a:ln w="9525">
            <a:noFill/>
          </a:ln>
        </p:spPr>
        <p:txBody>
          <a:bodyPr wrap="none" anchor="ctr">
            <a:spAutoFit/>
          </a:bodyPr>
          <a:p>
            <a:r>
              <a:rPr lang="zh-CN" altLang="en-US" b="1">
                <a:solidFill>
                  <a:srgbClr val="692AA2"/>
                </a:solidFill>
                <a:latin typeface="Arial" panose="020B0604020202020204" pitchFamily="34" charset="0"/>
                <a:ea typeface="宋体" panose="02010600030101010101" pitchFamily="2" charset="-122"/>
              </a:rPr>
              <a:t>表</a:t>
            </a:r>
            <a:r>
              <a:rPr lang="en-US" altLang="zh-CN" b="1">
                <a:solidFill>
                  <a:srgbClr val="692AA2"/>
                </a:solidFill>
                <a:latin typeface="Arial" panose="020B0604020202020204" pitchFamily="34" charset="0"/>
                <a:ea typeface="宋体" panose="02010600030101010101" pitchFamily="2" charset="-122"/>
              </a:rPr>
              <a:t>11.7.6</a:t>
            </a:r>
            <a:r>
              <a:rPr lang="zh-CN" altLang="en-US" b="1">
                <a:solidFill>
                  <a:srgbClr val="692AA2"/>
                </a:solidFill>
                <a:latin typeface="Arial" panose="020B0604020202020204" pitchFamily="34" charset="0"/>
                <a:ea typeface="宋体" panose="02010600030101010101" pitchFamily="2" charset="-122"/>
              </a:rPr>
              <a:t>　人力资源闲置状况</a:t>
            </a:r>
            <a:endParaRPr lang="zh-CN" altLang="en-US" b="1">
              <a:solidFill>
                <a:srgbClr val="692AA2"/>
              </a:solidFill>
              <a:latin typeface="Arial" panose="020B0604020202020204" pitchFamily="34" charset="0"/>
              <a:ea typeface="宋体" panose="02010600030101010101" pitchFamily="2" charset="-122"/>
            </a:endParaRPr>
          </a:p>
        </p:txBody>
      </p:sp>
      <p:sp>
        <p:nvSpPr>
          <p:cNvPr id="167938" name="Rectangle 3"/>
          <p:cNvSpPr/>
          <p:nvPr/>
        </p:nvSpPr>
        <p:spPr>
          <a:xfrm>
            <a:off x="5638800" y="4495800"/>
            <a:ext cx="1981200" cy="365125"/>
          </a:xfrm>
          <a:prstGeom prst="rect">
            <a:avLst/>
          </a:prstGeom>
          <a:noFill/>
          <a:ln w="9525">
            <a:noFill/>
          </a:ln>
        </p:spPr>
        <p:txBody>
          <a:bodyPr lIns="0" tIns="0" rIns="0" bIns="0" anchor="t">
            <a:spAutoFit/>
          </a:bodyPr>
          <a:p>
            <a:pPr marL="342900" indent="-342900">
              <a:spcBef>
                <a:spcPct val="20000"/>
              </a:spcBef>
              <a:buClr>
                <a:schemeClr val="hlink"/>
              </a:buClr>
              <a:buFont typeface="Wingdings" panose="05000000000000000000" pitchFamily="2" charset="2"/>
              <a:buNone/>
            </a:pPr>
            <a:r>
              <a:rPr lang="en-US" altLang="zh-CN" sz="2400" b="1">
                <a:solidFill>
                  <a:srgbClr val="692AA2"/>
                </a:solidFill>
                <a:latin typeface="宋体" panose="02010600030101010101" pitchFamily="2" charset="-122"/>
                <a:ea typeface="宋体" panose="02010600030101010101" pitchFamily="2" charset="-122"/>
              </a:rPr>
              <a:t> </a:t>
            </a:r>
            <a:endParaRPr lang="en-US" altLang="zh-CN" sz="2400" b="1">
              <a:solidFill>
                <a:srgbClr val="692AA2"/>
              </a:solidFill>
              <a:latin typeface="宋体" panose="02010600030101010101" pitchFamily="2" charset="-122"/>
              <a:ea typeface="宋体" panose="02010600030101010101" pitchFamily="2" charset="-122"/>
            </a:endParaRPr>
          </a:p>
        </p:txBody>
      </p:sp>
      <p:pic>
        <p:nvPicPr>
          <p:cNvPr id="403460" name="Picture 4" descr="未命名"/>
          <p:cNvPicPr>
            <a:picLocks noGrp="1" noChangeAspect="1"/>
          </p:cNvPicPr>
          <p:nvPr>
            <p:ph sz="half" idx="1"/>
          </p:nvPr>
        </p:nvPicPr>
        <p:blipFill>
          <a:blip r:embed="rId1"/>
          <a:stretch>
            <a:fillRect/>
          </a:stretch>
        </p:blipFill>
        <p:spPr>
          <a:xfrm>
            <a:off x="788988" y="2098675"/>
            <a:ext cx="7408862" cy="1804988"/>
          </a:xfrm>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3458"/>
                                        </p:tgtEl>
                                        <p:attrNameLst>
                                          <p:attrName>style.visibility</p:attrName>
                                        </p:attrNameLst>
                                      </p:cBhvr>
                                      <p:to>
                                        <p:strVal val="visible"/>
                                      </p:to>
                                    </p:set>
                                    <p:animEffect transition="in" filter="blinds(horizontal)">
                                      <p:cBhvr>
                                        <p:cTn id="7" dur="500"/>
                                        <p:tgtEl>
                                          <p:spTgt spid="403458"/>
                                        </p:tgtEl>
                                      </p:cBhvr>
                                    </p:animEffect>
                                  </p:childTnLst>
                                </p:cTn>
                              </p:par>
                              <p:par>
                                <p:cTn id="8" presetID="4" presetClass="entr" presetSubtype="16" fill="hold" nodeType="withEffect">
                                  <p:stCondLst>
                                    <p:cond delay="0"/>
                                  </p:stCondLst>
                                  <p:childTnLst>
                                    <p:set>
                                      <p:cBhvr>
                                        <p:cTn id="9" dur="1" fill="hold">
                                          <p:stCondLst>
                                            <p:cond delay="0"/>
                                          </p:stCondLst>
                                        </p:cTn>
                                        <p:tgtEl>
                                          <p:spTgt spid="403460"/>
                                        </p:tgtEl>
                                        <p:attrNameLst>
                                          <p:attrName>style.visibility</p:attrName>
                                        </p:attrNameLst>
                                      </p:cBhvr>
                                      <p:to>
                                        <p:strVal val="visible"/>
                                      </p:to>
                                    </p:set>
                                    <p:animEffect transition="in" filter="box(in)">
                                      <p:cBhvr>
                                        <p:cTn id="10" dur="500"/>
                                        <p:tgtEl>
                                          <p:spTgt spid="403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4482" name="Rectangle 2"/>
          <p:cNvSpPr>
            <a:spLocks noGrp="1"/>
          </p:cNvSpPr>
          <p:nvPr>
            <p:ph idx="1"/>
          </p:nvPr>
        </p:nvSpPr>
        <p:spPr>
          <a:xfrm>
            <a:off x="457200" y="1447800"/>
            <a:ext cx="8229600" cy="44958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      2</a:t>
            </a:r>
            <a:r>
              <a:rPr lang="zh-CN" altLang="en-US" sz="2000" b="1">
                <a:solidFill>
                  <a:srgbClr val="692AA2"/>
                </a:solidFill>
                <a:latin typeface="仿宋_GB2312" pitchFamily="49" charset="-122"/>
                <a:ea typeface="仿宋_GB2312" pitchFamily="49" charset="-122"/>
              </a:rPr>
              <a:t>） 增加可分配书号总数。通过计算一次分配后九个分社的人员闲置情况，得出以下结论：不但增加和调度人力资源可增加收益，增添书号的数目也能在一定程度上对收益目标有所贡献。</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3</a:t>
            </a:r>
            <a:r>
              <a:rPr lang="zh-CN" altLang="en-US" sz="2000" b="1">
                <a:solidFill>
                  <a:srgbClr val="692AA2"/>
                </a:solidFill>
                <a:latin typeface="仿宋_GB2312" pitchFamily="49" charset="-122"/>
                <a:ea typeface="仿宋_GB2312" pitchFamily="49" charset="-122"/>
              </a:rPr>
              <a:t>） 改变分配方式，采用直接分配到课程的方案。通过模型对比我们发现，</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总社－课程</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的一次分配方式略优于</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总社－分社－课程</a:t>
            </a:r>
            <a:r>
              <a:rPr lang="zh-CN" altLang="en-US" sz="2000" b="1">
                <a:solidFill>
                  <a:srgbClr val="692AA2"/>
                </a:solidFill>
                <a:latin typeface="Arial" panose="020B0604020202020204" pitchFamily="34" charset="0"/>
                <a:ea typeface="仿宋_GB2312" pitchFamily="49" charset="-122"/>
              </a:rPr>
              <a:t>”</a:t>
            </a:r>
            <a:r>
              <a:rPr lang="zh-CN" altLang="en-US" sz="2000" b="1">
                <a:solidFill>
                  <a:srgbClr val="692AA2"/>
                </a:solidFill>
                <a:latin typeface="仿宋_GB2312" pitchFamily="49" charset="-122"/>
                <a:ea typeface="仿宋_GB2312" pitchFamily="49" charset="-122"/>
              </a:rPr>
              <a:t>的二次分配方式，因此一次分配方式获得更大的收益，故可考虑采用总社直接分配书号数目到各个课程的分配方式代替现有分配方式。</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4</a:t>
            </a:r>
            <a:r>
              <a:rPr lang="zh-CN" altLang="en-US" sz="2000" b="1">
                <a:solidFill>
                  <a:srgbClr val="692AA2"/>
                </a:solidFill>
                <a:latin typeface="仿宋_GB2312" pitchFamily="49" charset="-122"/>
                <a:ea typeface="仿宋_GB2312" pitchFamily="49" charset="-122"/>
              </a:rPr>
              <a:t>） 制定严格的申报制度。出于本位利益或其他原因考虑，分社会主观夸大申请的书号数，这种夸大将影响书号数目的分配进而影响利益极大化的追求，由于这种夸大并非是良性的，故可考虑制订惩罚方式予以避免。 </a:t>
            </a:r>
            <a:endParaRPr lang="zh-CN" altLang="en-US"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404482">
                                            <p:txEl>
                                              <p:charRg st="0" end="90"/>
                                            </p:txEl>
                                          </p:spTgt>
                                        </p:tgtEl>
                                        <p:attrNameLst>
                                          <p:attrName>style.visibility</p:attrName>
                                        </p:attrNameLst>
                                      </p:cBhvr>
                                      <p:to>
                                        <p:strVal val="visible"/>
                                      </p:to>
                                    </p:set>
                                    <p:animEffect transition="in" filter="plus(in)">
                                      <p:cBhvr>
                                        <p:cTn id="7" dur="500"/>
                                        <p:tgtEl>
                                          <p:spTgt spid="404482">
                                            <p:txEl>
                                              <p:charRg st="0" end="9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nodeType="clickEffect">
                                  <p:stCondLst>
                                    <p:cond delay="0"/>
                                  </p:stCondLst>
                                  <p:childTnLst>
                                    <p:set>
                                      <p:cBhvr>
                                        <p:cTn id="11" dur="1" fill="hold">
                                          <p:stCondLst>
                                            <p:cond delay="0"/>
                                          </p:stCondLst>
                                        </p:cTn>
                                        <p:tgtEl>
                                          <p:spTgt spid="404482">
                                            <p:txEl>
                                              <p:charRg st="90" end="217"/>
                                            </p:txEl>
                                          </p:spTgt>
                                        </p:tgtEl>
                                        <p:attrNameLst>
                                          <p:attrName>style.visibility</p:attrName>
                                        </p:attrNameLst>
                                      </p:cBhvr>
                                      <p:to>
                                        <p:strVal val="visible"/>
                                      </p:to>
                                    </p:set>
                                    <p:animEffect transition="in" filter="plus(in)">
                                      <p:cBhvr>
                                        <p:cTn id="12" dur="500"/>
                                        <p:tgtEl>
                                          <p:spTgt spid="404482">
                                            <p:txEl>
                                              <p:charRg st="90" end="2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nodeType="clickEffect">
                                  <p:stCondLst>
                                    <p:cond delay="0"/>
                                  </p:stCondLst>
                                  <p:childTnLst>
                                    <p:set>
                                      <p:cBhvr>
                                        <p:cTn id="16" dur="1" fill="hold">
                                          <p:stCondLst>
                                            <p:cond delay="0"/>
                                          </p:stCondLst>
                                        </p:cTn>
                                        <p:tgtEl>
                                          <p:spTgt spid="404482">
                                            <p:txEl>
                                              <p:charRg st="217" end="321"/>
                                            </p:txEl>
                                          </p:spTgt>
                                        </p:tgtEl>
                                        <p:attrNameLst>
                                          <p:attrName>style.visibility</p:attrName>
                                        </p:attrNameLst>
                                      </p:cBhvr>
                                      <p:to>
                                        <p:strVal val="visible"/>
                                      </p:to>
                                    </p:set>
                                    <p:animEffect transition="in" filter="plus(in)">
                                      <p:cBhvr>
                                        <p:cTn id="17" dur="500"/>
                                        <p:tgtEl>
                                          <p:spTgt spid="404482">
                                            <p:txEl>
                                              <p:charRg st="217" end="3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5506" name="Rectangle 2"/>
          <p:cNvSpPr>
            <a:spLocks noGrp="1"/>
          </p:cNvSpPr>
          <p:nvPr>
            <p:ph idx="1"/>
          </p:nvPr>
        </p:nvSpPr>
        <p:spPr>
          <a:xfrm>
            <a:off x="457200" y="990600"/>
            <a:ext cx="8229600" cy="5486400"/>
          </a:xfrm>
          <a:ln/>
        </p:spPr>
        <p:txBody>
          <a:bodyPr vert="horz" wrap="square" lIns="91440" tIns="45720" rIns="91440" bIns="45720" anchor="t"/>
          <a:p>
            <a:pPr eaLnBrk="1" hangingPunct="1">
              <a:lnSpc>
                <a:spcPct val="90000"/>
              </a:lnSpc>
              <a:buNone/>
            </a:pPr>
            <a:endParaRPr lang="en-US" altLang="zh-CN" sz="2000" b="1">
              <a:solidFill>
                <a:srgbClr val="692AA2"/>
              </a:solidFill>
              <a:latin typeface="仿宋_GB2312" pitchFamily="49" charset="-122"/>
              <a:ea typeface="仿宋_GB2312" pitchFamily="49" charset="-122"/>
            </a:endParaRPr>
          </a:p>
          <a:p>
            <a:pPr eaLnBrk="1" hangingPunct="1">
              <a:lnSpc>
                <a:spcPct val="90000"/>
              </a:lnSpc>
              <a:buNone/>
            </a:pPr>
            <a:r>
              <a:rPr lang="en-US" altLang="zh-CN" sz="2400" b="1">
                <a:solidFill>
                  <a:srgbClr val="692AA2"/>
                </a:solidFill>
                <a:latin typeface="仿宋_GB2312" pitchFamily="49" charset="-122"/>
                <a:ea typeface="仿宋_GB2312" pitchFamily="49" charset="-122"/>
              </a:rPr>
              <a:t>8.1 </a:t>
            </a:r>
            <a:r>
              <a:rPr lang="zh-CN" altLang="en-US" sz="2400" b="1">
                <a:solidFill>
                  <a:srgbClr val="692AA2"/>
                </a:solidFill>
                <a:latin typeface="仿宋_GB2312" pitchFamily="49" charset="-122"/>
                <a:ea typeface="仿宋_GB2312" pitchFamily="49" charset="-122"/>
              </a:rPr>
              <a:t>模型的评价</a:t>
            </a:r>
            <a:endParaRPr lang="zh-CN" altLang="en-US" sz="2400" b="1">
              <a:solidFill>
                <a:srgbClr val="692AA2"/>
              </a:solidFill>
              <a:latin typeface="仿宋_GB2312" pitchFamily="49" charset="-122"/>
              <a:ea typeface="仿宋_GB2312" pitchFamily="49" charset="-122"/>
            </a:endParaRPr>
          </a:p>
          <a:p>
            <a:pPr eaLnBrk="1" hangingPunct="1">
              <a:lnSpc>
                <a:spcPct val="110000"/>
              </a:lnSpc>
              <a:buNone/>
            </a:pPr>
            <a:r>
              <a:rPr lang="zh-CN" altLang="en-US" sz="2000" b="1">
                <a:solidFill>
                  <a:srgbClr val="692AA2"/>
                </a:solidFill>
                <a:latin typeface="仿宋_GB2312" pitchFamily="49" charset="-122"/>
                <a:ea typeface="仿宋_GB2312" pitchFamily="49" charset="-122"/>
              </a:rPr>
              <a:t>       由</a:t>
            </a:r>
            <a:r>
              <a:rPr lang="en-US" altLang="zh-CN" sz="2000" b="1">
                <a:solidFill>
                  <a:srgbClr val="692AA2"/>
                </a:solidFill>
                <a:latin typeface="仿宋_GB2312" pitchFamily="49" charset="-122"/>
                <a:ea typeface="仿宋_GB2312" pitchFamily="49" charset="-122"/>
              </a:rPr>
              <a:t>5.5</a:t>
            </a:r>
            <a:r>
              <a:rPr lang="zh-CN" altLang="en-US" sz="2000" b="1">
                <a:solidFill>
                  <a:srgbClr val="692AA2"/>
                </a:solidFill>
                <a:latin typeface="仿宋_GB2312" pitchFamily="49" charset="-122"/>
                <a:ea typeface="仿宋_GB2312" pitchFamily="49" charset="-122"/>
              </a:rPr>
              <a:t>的分配方式比较可知，基于一次分配的模型</a:t>
            </a:r>
            <a:r>
              <a:rPr lang="en-US" altLang="zh-CN" sz="2000" b="1">
                <a:solidFill>
                  <a:srgbClr val="692AA2"/>
                </a:solidFill>
                <a:latin typeface="仿宋_GB2312" pitchFamily="49" charset="-122"/>
                <a:ea typeface="仿宋_GB2312" pitchFamily="49" charset="-122"/>
              </a:rPr>
              <a:t>Ⅳ</a:t>
            </a:r>
            <a:r>
              <a:rPr lang="zh-CN" altLang="en-US" sz="2000" b="1">
                <a:solidFill>
                  <a:srgbClr val="692AA2"/>
                </a:solidFill>
                <a:latin typeface="仿宋_GB2312" pitchFamily="49" charset="-122"/>
                <a:ea typeface="仿宋_GB2312" pitchFamily="49" charset="-122"/>
              </a:rPr>
              <a:t>在经济效益和满  意度两个方面略优于基于二次分配的模型</a:t>
            </a:r>
            <a:r>
              <a:rPr lang="en-US" altLang="zh-CN" sz="2000" b="1">
                <a:solidFill>
                  <a:srgbClr val="692AA2"/>
                </a:solidFill>
                <a:latin typeface="仿宋_GB2312" pitchFamily="49" charset="-122"/>
                <a:ea typeface="仿宋_GB2312" pitchFamily="49" charset="-122"/>
              </a:rPr>
              <a:t>Ⅰ</a:t>
            </a:r>
            <a:r>
              <a:rPr lang="zh-CN" altLang="en-US" sz="2000" b="1">
                <a:solidFill>
                  <a:srgbClr val="692AA2"/>
                </a:solidFill>
                <a:latin typeface="仿宋_GB2312" pitchFamily="49" charset="-122"/>
                <a:ea typeface="仿宋_GB2312" pitchFamily="49" charset="-122"/>
              </a:rPr>
              <a:t>和模型</a:t>
            </a:r>
            <a:r>
              <a:rPr lang="en-US" altLang="zh-CN" sz="2000" b="1">
                <a:solidFill>
                  <a:srgbClr val="692AA2"/>
                </a:solidFill>
                <a:latin typeface="仿宋_GB2312" pitchFamily="49" charset="-122"/>
                <a:ea typeface="仿宋_GB2312" pitchFamily="49" charset="-122"/>
              </a:rPr>
              <a:t>Ⅲ</a:t>
            </a:r>
            <a:r>
              <a:rPr lang="zh-CN" altLang="en-US" sz="2000" b="1">
                <a:solidFill>
                  <a:srgbClr val="692AA2"/>
                </a:solidFill>
                <a:latin typeface="仿宋_GB2312" pitchFamily="49" charset="-122"/>
                <a:ea typeface="仿宋_GB2312" pitchFamily="49" charset="-122"/>
              </a:rPr>
              <a:t>，但在市场占有率上略次于后者。两种分配方式各有优缺点，一次分配方式略优于二次分配方式。因此下面着重对基于一次分配方式建立的模型们灵敏度：</a:t>
            </a:r>
            <a:endParaRPr lang="zh-CN" altLang="en-US" sz="2000" b="1">
              <a:solidFill>
                <a:srgbClr val="692AA2"/>
              </a:solidFill>
              <a:latin typeface="仿宋_GB2312" pitchFamily="49" charset="-122"/>
              <a:ea typeface="仿宋_GB2312" pitchFamily="49" charset="-122"/>
            </a:endParaRPr>
          </a:p>
          <a:p>
            <a:pPr eaLnBrk="1" hangingPunct="1">
              <a:lnSpc>
                <a:spcPct val="110000"/>
              </a:lnSpc>
              <a:buNone/>
            </a:pPr>
            <a:r>
              <a:rPr lang="zh-CN" altLang="en-US" sz="2000" b="1">
                <a:solidFill>
                  <a:srgbClr val="692AA2"/>
                </a:solidFill>
                <a:latin typeface="仿宋_GB2312" pitchFamily="49" charset="-122"/>
                <a:ea typeface="仿宋_GB2312" pitchFamily="49" charset="-122"/>
              </a:rPr>
              <a:t>       通过观察模型结果的系数的变化范围发现：在最优解不变的基础上，数学类出版社资源的变化范围以及书号总数的变化范围比较小。但还有不同就是，在这两者中，前者不能再低，后者则不能再低，这是因为两者都是紧约束。当数学类出版社资源增加时就要改变原有方案以便增加效益，当书号总数增加时则会改变原有方案以便增加竞争力的需要。总体上看，各变量均具有一定的变化区间，如果有一些变量的数值发生变化，本方案还是可以继续使用的，所以稳定性应该是不错的。 </a:t>
            </a:r>
            <a:endParaRPr lang="zh-CN" altLang="en-US" sz="2000" b="1">
              <a:solidFill>
                <a:srgbClr val="692AA2"/>
              </a:solidFill>
              <a:latin typeface="仿宋_GB2312" pitchFamily="49" charset="-122"/>
              <a:ea typeface="仿宋_GB2312" pitchFamily="49" charset="-122"/>
            </a:endParaRPr>
          </a:p>
        </p:txBody>
      </p:sp>
      <p:sp>
        <p:nvSpPr>
          <p:cNvPr id="169986" name="Rectangle 3"/>
          <p:cNvSpPr/>
          <p:nvPr/>
        </p:nvSpPr>
        <p:spPr>
          <a:xfrm>
            <a:off x="685800" y="533400"/>
            <a:ext cx="2605088" cy="365125"/>
          </a:xfrm>
          <a:prstGeom prst="rect">
            <a:avLst/>
          </a:prstGeom>
          <a:noFill/>
          <a:ln w="9525">
            <a:noFill/>
          </a:ln>
        </p:spPr>
        <p:txBody>
          <a:bodyPr wrap="none" lIns="0" tIns="0" rIns="0" bIns="0" anchor="t">
            <a:spAutoFit/>
          </a:bodyPr>
          <a:p>
            <a:pPr marL="342900" indent="-342900">
              <a:spcBef>
                <a:spcPct val="20000"/>
              </a:spcBef>
              <a:buClr>
                <a:schemeClr val="hlink"/>
              </a:buClr>
              <a:buFont typeface="Wingdings" panose="05000000000000000000" pitchFamily="2" charset="2"/>
              <a:buNone/>
            </a:pPr>
            <a:r>
              <a:rPr lang="en-US" altLang="zh-CN" sz="2400" b="1">
                <a:solidFill>
                  <a:srgbClr val="333399"/>
                </a:solidFill>
                <a:latin typeface="宋体" panose="02010600030101010101" pitchFamily="2" charset="-122"/>
                <a:ea typeface="宋体" panose="02010600030101010101" pitchFamily="2" charset="-122"/>
              </a:rPr>
              <a:t>8</a:t>
            </a:r>
            <a:r>
              <a:rPr lang="zh-CN" altLang="en-US" sz="2400" b="1">
                <a:solidFill>
                  <a:srgbClr val="333399"/>
                </a:solidFill>
                <a:latin typeface="宋体" panose="02010600030101010101" pitchFamily="2" charset="-122"/>
                <a:ea typeface="宋体" panose="02010600030101010101" pitchFamily="2" charset="-122"/>
              </a:rPr>
              <a:t>　模型评价与推广</a:t>
            </a:r>
            <a:endParaRPr lang="zh-CN" altLang="en-US" sz="2400" b="1">
              <a:solidFill>
                <a:srgbClr val="3333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05506">
                                            <p:txEl>
                                              <p:charRg st="1" end="11"/>
                                            </p:txEl>
                                          </p:spTgt>
                                        </p:tgtEl>
                                        <p:attrNameLst>
                                          <p:attrName>style.visibility</p:attrName>
                                        </p:attrNameLst>
                                      </p:cBhvr>
                                      <p:to>
                                        <p:strVal val="visible"/>
                                      </p:to>
                                    </p:set>
                                    <p:animEffect transition="in" filter="slide(fromBottom)">
                                      <p:cBhvr>
                                        <p:cTn id="7" dur="500"/>
                                        <p:tgtEl>
                                          <p:spTgt spid="405506">
                                            <p:txEl>
                                              <p:charRg st="1" end="1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405506">
                                            <p:txEl>
                                              <p:charRg st="11" end="143"/>
                                            </p:txEl>
                                          </p:spTgt>
                                        </p:tgtEl>
                                        <p:attrNameLst>
                                          <p:attrName>style.visibility</p:attrName>
                                        </p:attrNameLst>
                                      </p:cBhvr>
                                      <p:to>
                                        <p:strVal val="visible"/>
                                      </p:to>
                                    </p:set>
                                    <p:animEffect transition="in" filter="slide(fromBottom)">
                                      <p:cBhvr>
                                        <p:cTn id="10" dur="500"/>
                                        <p:tgtEl>
                                          <p:spTgt spid="405506">
                                            <p:txEl>
                                              <p:charRg st="11" end="14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405506">
                                            <p:txEl>
                                              <p:charRg st="143" end="364"/>
                                            </p:txEl>
                                          </p:spTgt>
                                        </p:tgtEl>
                                        <p:attrNameLst>
                                          <p:attrName>style.visibility</p:attrName>
                                        </p:attrNameLst>
                                      </p:cBhvr>
                                      <p:to>
                                        <p:strVal val="visible"/>
                                      </p:to>
                                    </p:set>
                                    <p:animEffect transition="in" filter="slide(fromBottom)">
                                      <p:cBhvr>
                                        <p:cTn id="15" dur="500"/>
                                        <p:tgtEl>
                                          <p:spTgt spid="405506">
                                            <p:txEl>
                                              <p:charRg st="143" end="3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6530" name="Rectangle 2"/>
          <p:cNvSpPr>
            <a:spLocks noGrp="1"/>
          </p:cNvSpPr>
          <p:nvPr>
            <p:ph idx="1"/>
          </p:nvPr>
        </p:nvSpPr>
        <p:spPr>
          <a:xfrm>
            <a:off x="457200" y="1066800"/>
            <a:ext cx="8229600" cy="5486400"/>
          </a:xfrm>
          <a:ln/>
        </p:spPr>
        <p:txBody>
          <a:bodyPr vert="horz" wrap="square" lIns="91440" tIns="45720" rIns="91440" bIns="45720" anchor="t"/>
          <a:p>
            <a:pPr eaLnBrk="1" hangingPunct="1">
              <a:lnSpc>
                <a:spcPct val="120000"/>
              </a:lnSpc>
              <a:buNone/>
            </a:pPr>
            <a:r>
              <a:rPr lang="en-US" altLang="zh-CN" sz="2000" b="1">
                <a:solidFill>
                  <a:srgbClr val="692AA2"/>
                </a:solidFill>
                <a:latin typeface="仿宋_GB2312" pitchFamily="49" charset="-122"/>
                <a:ea typeface="仿宋_GB2312" pitchFamily="49" charset="-122"/>
              </a:rPr>
              <a:t>8.2 </a:t>
            </a:r>
            <a:r>
              <a:rPr lang="zh-CN" altLang="en-US" sz="2000" b="1">
                <a:solidFill>
                  <a:srgbClr val="692AA2"/>
                </a:solidFill>
                <a:latin typeface="仿宋_GB2312" pitchFamily="49" charset="-122"/>
                <a:ea typeface="仿宋_GB2312" pitchFamily="49" charset="-122"/>
              </a:rPr>
              <a:t>模型的推广</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1</a:t>
            </a:r>
            <a:r>
              <a:rPr lang="zh-CN" altLang="en-US" sz="2000" b="1">
                <a:solidFill>
                  <a:srgbClr val="692AA2"/>
                </a:solidFill>
                <a:latin typeface="仿宋_GB2312" pitchFamily="49" charset="-122"/>
                <a:ea typeface="仿宋_GB2312" pitchFamily="49" charset="-122"/>
              </a:rPr>
              <a:t>）约束条件重新确定后的推广模型</a:t>
            </a:r>
            <a:endParaRPr lang="zh-CN" altLang="en-US" sz="2000" b="1">
              <a:solidFill>
                <a:srgbClr val="692AA2"/>
              </a:solidFill>
              <a:latin typeface="仿宋_GB2312" pitchFamily="49" charset="-122"/>
              <a:ea typeface="仿宋_GB2312" pitchFamily="49" charset="-122"/>
            </a:endParaRPr>
          </a:p>
          <a:p>
            <a:pPr eaLnBrk="1" hangingPunct="1">
              <a:lnSpc>
                <a:spcPct val="120000"/>
              </a:lnSpc>
              <a:buNone/>
            </a:pPr>
            <a:r>
              <a:rPr lang="zh-CN" altLang="en-US" sz="2000" b="1">
                <a:solidFill>
                  <a:srgbClr val="692AA2"/>
                </a:solidFill>
                <a:latin typeface="仿宋_GB2312" pitchFamily="49" charset="-122"/>
                <a:ea typeface="仿宋_GB2312" pitchFamily="49" charset="-122"/>
              </a:rPr>
              <a:t>      在前面的一次分配模型中考虑了政策的连续性，既考虑分配给各个课程的书号个数书号取申请量的一半为下界限制。下面考虑取消这个约束，但假设销售量大致成不减的趋势，即</a:t>
            </a:r>
            <a:r>
              <a:rPr lang="en-US" altLang="zh-CN" sz="2000" b="1">
                <a:solidFill>
                  <a:srgbClr val="692AA2"/>
                </a:solidFill>
                <a:latin typeface="仿宋_GB2312" pitchFamily="49" charset="-122"/>
                <a:ea typeface="仿宋_GB2312" pitchFamily="49" charset="-122"/>
              </a:rPr>
              <a:t>06</a:t>
            </a:r>
            <a:r>
              <a:rPr lang="zh-CN" altLang="en-US" sz="2000" b="1">
                <a:solidFill>
                  <a:srgbClr val="692AA2"/>
                </a:solidFill>
                <a:latin typeface="仿宋_GB2312" pitchFamily="49" charset="-122"/>
                <a:ea typeface="仿宋_GB2312" pitchFamily="49" charset="-122"/>
              </a:rPr>
              <a:t>年的销售量不小于以往</a:t>
            </a:r>
            <a:r>
              <a:rPr lang="en-US" altLang="zh-CN" sz="2000" b="1">
                <a:solidFill>
                  <a:srgbClr val="692AA2"/>
                </a:solidFill>
                <a:latin typeface="仿宋_GB2312" pitchFamily="49" charset="-122"/>
                <a:ea typeface="仿宋_GB2312" pitchFamily="49" charset="-122"/>
              </a:rPr>
              <a:t>5</a:t>
            </a:r>
            <a:r>
              <a:rPr lang="zh-CN" altLang="en-US" sz="2000" b="1">
                <a:solidFill>
                  <a:srgbClr val="692AA2"/>
                </a:solidFill>
                <a:latin typeface="仿宋_GB2312" pitchFamily="49" charset="-122"/>
                <a:ea typeface="仿宋_GB2312" pitchFamily="49" charset="-122"/>
              </a:rPr>
              <a:t>年的最小销售量的数值。将单位书号历年最小销售量与</a:t>
            </a:r>
            <a:r>
              <a:rPr lang="en-US" altLang="zh-CN" sz="2000" b="1">
                <a:solidFill>
                  <a:srgbClr val="692AA2"/>
                </a:solidFill>
                <a:latin typeface="仿宋_GB2312" pitchFamily="49" charset="-122"/>
                <a:ea typeface="仿宋_GB2312" pitchFamily="49" charset="-122"/>
              </a:rPr>
              <a:t>06</a:t>
            </a:r>
            <a:r>
              <a:rPr lang="zh-CN" altLang="en-US" sz="2000" b="1">
                <a:solidFill>
                  <a:srgbClr val="692AA2"/>
                </a:solidFill>
                <a:latin typeface="仿宋_GB2312" pitchFamily="49" charset="-122"/>
                <a:ea typeface="仿宋_GB2312" pitchFamily="49" charset="-122"/>
              </a:rPr>
              <a:t>年的平均销售量预测值的比值作为书号分配数的下界，从而建立新的约束条件，并将代入模型</a:t>
            </a:r>
            <a:r>
              <a:rPr lang="en-US" altLang="zh-CN" sz="2000" b="1">
                <a:solidFill>
                  <a:srgbClr val="692AA2"/>
                </a:solidFill>
                <a:latin typeface="仿宋_GB2312" pitchFamily="49" charset="-122"/>
                <a:ea typeface="仿宋_GB2312" pitchFamily="49" charset="-122"/>
              </a:rPr>
              <a:t>Ⅳ</a:t>
            </a:r>
            <a:r>
              <a:rPr lang="zh-CN" altLang="en-US" sz="2000" b="1">
                <a:solidFill>
                  <a:srgbClr val="692AA2"/>
                </a:solidFill>
                <a:latin typeface="仿宋_GB2312" pitchFamily="49" charset="-122"/>
                <a:ea typeface="仿宋_GB2312" pitchFamily="49" charset="-122"/>
              </a:rPr>
              <a:t>，利用</a:t>
            </a:r>
            <a:r>
              <a:rPr lang="en-US" altLang="zh-CN" sz="2000" b="1">
                <a:solidFill>
                  <a:srgbClr val="692AA2"/>
                </a:solidFill>
                <a:latin typeface="仿宋_GB2312" pitchFamily="49" charset="-122"/>
                <a:ea typeface="仿宋_GB2312" pitchFamily="49" charset="-122"/>
              </a:rPr>
              <a:t>lingo8.0</a:t>
            </a:r>
            <a:r>
              <a:rPr lang="zh-CN" altLang="en-US" sz="2000" b="1">
                <a:solidFill>
                  <a:srgbClr val="692AA2"/>
                </a:solidFill>
                <a:latin typeface="仿宋_GB2312" pitchFamily="49" charset="-122"/>
                <a:ea typeface="仿宋_GB2312" pitchFamily="49" charset="-122"/>
              </a:rPr>
              <a:t>编程求解，得到</a:t>
            </a:r>
            <a:r>
              <a:rPr lang="en-US" altLang="zh-CN" sz="2000" b="1">
                <a:solidFill>
                  <a:srgbClr val="692AA2"/>
                </a:solidFill>
                <a:latin typeface="仿宋_GB2312" pitchFamily="49" charset="-122"/>
                <a:ea typeface="仿宋_GB2312" pitchFamily="49" charset="-122"/>
              </a:rPr>
              <a:t>72</a:t>
            </a:r>
            <a:r>
              <a:rPr lang="zh-CN" altLang="en-US" sz="2000" b="1">
                <a:solidFill>
                  <a:srgbClr val="692AA2"/>
                </a:solidFill>
                <a:latin typeface="仿宋_GB2312" pitchFamily="49" charset="-122"/>
                <a:ea typeface="仿宋_GB2312" pitchFamily="49" charset="-122"/>
              </a:rPr>
              <a:t>个课程各自分配到的书号个数，（如表</a:t>
            </a:r>
            <a:r>
              <a:rPr lang="en-US" altLang="zh-CN" sz="2000" b="1">
                <a:solidFill>
                  <a:srgbClr val="692AA2"/>
                </a:solidFill>
                <a:latin typeface="仿宋_GB2312" pitchFamily="49" charset="-122"/>
                <a:ea typeface="仿宋_GB2312" pitchFamily="49" charset="-122"/>
              </a:rPr>
              <a:t>7.1 </a:t>
            </a:r>
            <a:r>
              <a:rPr lang="zh-CN" altLang="en-US" sz="2000" b="1">
                <a:solidFill>
                  <a:srgbClr val="692AA2"/>
                </a:solidFill>
                <a:latin typeface="仿宋_GB2312" pitchFamily="49" charset="-122"/>
                <a:ea typeface="仿宋_GB2312" pitchFamily="49" charset="-122"/>
              </a:rPr>
              <a:t>所示）</a:t>
            </a:r>
            <a:r>
              <a:rPr lang="en-US" altLang="zh-CN" sz="2000" b="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对应的销售总额为：       ，这明显优于先前的结果（           （一次分配）和           （二次分配））。这时，销售总额不小于历史最小量这一约束条件，放宽了对前面模型中对书号分配的具体约束，赋予了书号分配更大的自由度，使得强势课程能够分配的更多的书号数，促使销售额、满意度和市场占有率均有一定程度的提升。</a:t>
            </a:r>
            <a:endParaRPr lang="zh-CN" altLang="en-US" sz="2000" b="1">
              <a:solidFill>
                <a:srgbClr val="692AA2"/>
              </a:solidFill>
              <a:latin typeface="仿宋_GB2312" pitchFamily="49" charset="-122"/>
              <a:ea typeface="仿宋_GB2312" pitchFamily="49" charset="-122"/>
            </a:endParaRPr>
          </a:p>
        </p:txBody>
      </p:sp>
      <p:sp>
        <p:nvSpPr>
          <p:cNvPr id="171010" name="Rectangle 3"/>
          <p:cNvSpPr/>
          <p:nvPr/>
        </p:nvSpPr>
        <p:spPr>
          <a:xfrm>
            <a:off x="6978650" y="39068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6532" name="Object 4"/>
          <p:cNvGraphicFramePr>
            <a:graphicFrameLocks noChangeAspect="1"/>
          </p:cNvGraphicFramePr>
          <p:nvPr/>
        </p:nvGraphicFramePr>
        <p:xfrm>
          <a:off x="7239000" y="4191000"/>
          <a:ext cx="1143000" cy="288925"/>
        </p:xfrm>
        <a:graphic>
          <a:graphicData uri="http://schemas.openxmlformats.org/presentationml/2006/ole">
            <mc:AlternateContent xmlns:mc="http://schemas.openxmlformats.org/markup-compatibility/2006">
              <mc:Choice xmlns:v="urn:schemas-microsoft-com:vml" Requires="v">
                <p:oleObj spid="_x0000_s3205" name="" r:id="rId1" imgW="901065" imgH="228600" progId="Equation.DSMT4">
                  <p:embed/>
                </p:oleObj>
              </mc:Choice>
              <mc:Fallback>
                <p:oleObj name="" r:id="rId1" imgW="901065" imgH="228600" progId="Equation.DSMT4">
                  <p:embed/>
                  <p:pic>
                    <p:nvPicPr>
                      <p:cNvPr id="0" name="图片 3204"/>
                      <p:cNvPicPr/>
                      <p:nvPr/>
                    </p:nvPicPr>
                    <p:blipFill>
                      <a:blip r:embed="rId2"/>
                      <a:stretch>
                        <a:fillRect/>
                      </a:stretch>
                    </p:blipFill>
                    <p:spPr>
                      <a:xfrm>
                        <a:off x="7239000" y="4191000"/>
                        <a:ext cx="1143000" cy="288925"/>
                      </a:xfrm>
                      <a:prstGeom prst="rect">
                        <a:avLst/>
                      </a:prstGeom>
                      <a:noFill/>
                      <a:ln w="38100">
                        <a:noFill/>
                        <a:miter/>
                      </a:ln>
                    </p:spPr>
                  </p:pic>
                </p:oleObj>
              </mc:Fallback>
            </mc:AlternateContent>
          </a:graphicData>
        </a:graphic>
      </p:graphicFrame>
      <p:graphicFrame>
        <p:nvGraphicFramePr>
          <p:cNvPr id="406533" name="Object 5"/>
          <p:cNvGraphicFramePr>
            <a:graphicFrameLocks noChangeAspect="1"/>
          </p:cNvGraphicFramePr>
          <p:nvPr/>
        </p:nvGraphicFramePr>
        <p:xfrm>
          <a:off x="3810000" y="4572000"/>
          <a:ext cx="1219200" cy="307975"/>
        </p:xfrm>
        <a:graphic>
          <a:graphicData uri="http://schemas.openxmlformats.org/presentationml/2006/ole">
            <mc:AlternateContent xmlns:mc="http://schemas.openxmlformats.org/markup-compatibility/2006">
              <mc:Choice xmlns:v="urn:schemas-microsoft-com:vml" Requires="v">
                <p:oleObj spid="_x0000_s3206" name="" r:id="rId3" imgW="901065" imgH="228600" progId="Equation.DSMT4">
                  <p:embed/>
                </p:oleObj>
              </mc:Choice>
              <mc:Fallback>
                <p:oleObj name="" r:id="rId3" imgW="901065" imgH="228600" progId="Equation.DSMT4">
                  <p:embed/>
                  <p:pic>
                    <p:nvPicPr>
                      <p:cNvPr id="0" name="图片 3205"/>
                      <p:cNvPicPr/>
                      <p:nvPr/>
                    </p:nvPicPr>
                    <p:blipFill>
                      <a:blip r:embed="rId4"/>
                      <a:stretch>
                        <a:fillRect/>
                      </a:stretch>
                    </p:blipFill>
                    <p:spPr>
                      <a:xfrm>
                        <a:off x="3810000" y="4572000"/>
                        <a:ext cx="1219200" cy="307975"/>
                      </a:xfrm>
                      <a:prstGeom prst="rect">
                        <a:avLst/>
                      </a:prstGeom>
                      <a:noFill/>
                      <a:ln w="38100">
                        <a:noFill/>
                        <a:miter/>
                      </a:ln>
                    </p:spPr>
                  </p:pic>
                </p:oleObj>
              </mc:Fallback>
            </mc:AlternateContent>
          </a:graphicData>
        </a:graphic>
      </p:graphicFrame>
      <p:sp>
        <p:nvSpPr>
          <p:cNvPr id="171013" name="Rectangle 6"/>
          <p:cNvSpPr/>
          <p:nvPr/>
        </p:nvSpPr>
        <p:spPr>
          <a:xfrm>
            <a:off x="6248400" y="4267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6535" name="Object 7"/>
          <p:cNvGraphicFramePr>
            <a:graphicFrameLocks noChangeAspect="1"/>
          </p:cNvGraphicFramePr>
          <p:nvPr/>
        </p:nvGraphicFramePr>
        <p:xfrm>
          <a:off x="7010400" y="4572000"/>
          <a:ext cx="1219200" cy="307975"/>
        </p:xfrm>
        <a:graphic>
          <a:graphicData uri="http://schemas.openxmlformats.org/presentationml/2006/ole">
            <mc:AlternateContent xmlns:mc="http://schemas.openxmlformats.org/markup-compatibility/2006">
              <mc:Choice xmlns:v="urn:schemas-microsoft-com:vml" Requires="v">
                <p:oleObj spid="_x0000_s3208" name="" r:id="rId5" imgW="901065" imgH="228600" progId="Equation.DSMT4">
                  <p:embed/>
                </p:oleObj>
              </mc:Choice>
              <mc:Fallback>
                <p:oleObj name="" r:id="rId5" imgW="901065" imgH="228600" progId="Equation.DSMT4">
                  <p:embed/>
                  <p:pic>
                    <p:nvPicPr>
                      <p:cNvPr id="0" name="图片 3207"/>
                      <p:cNvPicPr/>
                      <p:nvPr/>
                    </p:nvPicPr>
                    <p:blipFill>
                      <a:blip r:embed="rId6"/>
                      <a:stretch>
                        <a:fillRect/>
                      </a:stretch>
                    </p:blipFill>
                    <p:spPr>
                      <a:xfrm>
                        <a:off x="7010400" y="4572000"/>
                        <a:ext cx="1219200" cy="30797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06530">
                                            <p:txEl>
                                              <p:charRg st="0" end="10"/>
                                            </p:txEl>
                                          </p:spTgt>
                                        </p:tgtEl>
                                        <p:attrNameLst>
                                          <p:attrName>style.visibility</p:attrName>
                                        </p:attrNameLst>
                                      </p:cBhvr>
                                      <p:to>
                                        <p:strVal val="visible"/>
                                      </p:to>
                                    </p:set>
                                    <p:animEffect transition="in" filter="slide(fromBottom)">
                                      <p:cBhvr>
                                        <p:cTn id="7" dur="500"/>
                                        <p:tgtEl>
                                          <p:spTgt spid="406530">
                                            <p:txEl>
                                              <p:charRg st="0" end="1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406530">
                                            <p:txEl>
                                              <p:charRg st="10" end="30"/>
                                            </p:txEl>
                                          </p:spTgt>
                                        </p:tgtEl>
                                        <p:attrNameLst>
                                          <p:attrName>style.visibility</p:attrName>
                                        </p:attrNameLst>
                                      </p:cBhvr>
                                      <p:to>
                                        <p:strVal val="visible"/>
                                      </p:to>
                                    </p:set>
                                    <p:animEffect transition="in" filter="slide(fromBottom)">
                                      <p:cBhvr>
                                        <p:cTn id="10" dur="500"/>
                                        <p:tgtEl>
                                          <p:spTgt spid="406530">
                                            <p:txEl>
                                              <p:charRg st="10" end="30"/>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406530">
                                            <p:txEl>
                                              <p:charRg st="30" end="405"/>
                                            </p:txEl>
                                          </p:spTgt>
                                        </p:tgtEl>
                                        <p:attrNameLst>
                                          <p:attrName>style.visibility</p:attrName>
                                        </p:attrNameLst>
                                      </p:cBhvr>
                                      <p:to>
                                        <p:strVal val="visible"/>
                                      </p:to>
                                    </p:set>
                                    <p:animEffect transition="in" filter="slide(fromBottom)">
                                      <p:cBhvr>
                                        <p:cTn id="13" dur="500"/>
                                        <p:tgtEl>
                                          <p:spTgt spid="406530">
                                            <p:txEl>
                                              <p:charRg st="30" end="405"/>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406532"/>
                                        </p:tgtEl>
                                        <p:attrNameLst>
                                          <p:attrName>style.visibility</p:attrName>
                                        </p:attrNameLst>
                                      </p:cBhvr>
                                      <p:to>
                                        <p:strVal val="visible"/>
                                      </p:to>
                                    </p:set>
                                    <p:animEffect transition="in" filter="slide(fromBottom)">
                                      <p:cBhvr>
                                        <p:cTn id="16" dur="500"/>
                                        <p:tgtEl>
                                          <p:spTgt spid="406532"/>
                                        </p:tgtEl>
                                      </p:cBhvr>
                                    </p:animEffect>
                                  </p:childTnLst>
                                </p:cTn>
                              </p:par>
                              <p:par>
                                <p:cTn id="17" presetID="12" presetClass="entr" presetSubtype="4" fill="hold" nodeType="withEffect">
                                  <p:stCondLst>
                                    <p:cond delay="0"/>
                                  </p:stCondLst>
                                  <p:childTnLst>
                                    <p:set>
                                      <p:cBhvr>
                                        <p:cTn id="18" dur="1" fill="hold">
                                          <p:stCondLst>
                                            <p:cond delay="0"/>
                                          </p:stCondLst>
                                        </p:cTn>
                                        <p:tgtEl>
                                          <p:spTgt spid="406533"/>
                                        </p:tgtEl>
                                        <p:attrNameLst>
                                          <p:attrName>style.visibility</p:attrName>
                                        </p:attrNameLst>
                                      </p:cBhvr>
                                      <p:to>
                                        <p:strVal val="visible"/>
                                      </p:to>
                                    </p:set>
                                    <p:animEffect transition="in" filter="slide(fromBottom)">
                                      <p:cBhvr>
                                        <p:cTn id="19" dur="500"/>
                                        <p:tgtEl>
                                          <p:spTgt spid="406533"/>
                                        </p:tgtEl>
                                      </p:cBhvr>
                                    </p:animEffect>
                                  </p:childTnLst>
                                </p:cTn>
                              </p:par>
                              <p:par>
                                <p:cTn id="20" presetID="12" presetClass="entr" presetSubtype="4" fill="hold" nodeType="withEffect">
                                  <p:stCondLst>
                                    <p:cond delay="0"/>
                                  </p:stCondLst>
                                  <p:childTnLst>
                                    <p:set>
                                      <p:cBhvr>
                                        <p:cTn id="21" dur="1" fill="hold">
                                          <p:stCondLst>
                                            <p:cond delay="0"/>
                                          </p:stCondLst>
                                        </p:cTn>
                                        <p:tgtEl>
                                          <p:spTgt spid="406535"/>
                                        </p:tgtEl>
                                        <p:attrNameLst>
                                          <p:attrName>style.visibility</p:attrName>
                                        </p:attrNameLst>
                                      </p:cBhvr>
                                      <p:to>
                                        <p:strVal val="visible"/>
                                      </p:to>
                                    </p:set>
                                    <p:animEffect transition="in" filter="slide(fromBottom)">
                                      <p:cBhvr>
                                        <p:cTn id="22" dur="500"/>
                                        <p:tgtEl>
                                          <p:spTgt spid="406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07554" name="Object 2"/>
          <p:cNvGraphicFramePr>
            <a:graphicFrameLocks noGrp="1" noChangeAspect="1"/>
          </p:cNvGraphicFramePr>
          <p:nvPr>
            <p:ph idx="1"/>
          </p:nvPr>
        </p:nvGraphicFramePr>
        <p:xfrm>
          <a:off x="2057400" y="708025"/>
          <a:ext cx="5105400" cy="5159375"/>
        </p:xfrm>
        <a:graphic>
          <a:graphicData uri="http://schemas.openxmlformats.org/presentationml/2006/ole">
            <mc:AlternateContent xmlns:mc="http://schemas.openxmlformats.org/markup-compatibility/2006">
              <mc:Choice xmlns:v="urn:schemas-microsoft-com:vml" Requires="v">
                <p:oleObj spid="_x0000_s3207" name="" r:id="rId1" imgW="5591810" imgH="8869680" progId="Word.Document.8">
                  <p:embed/>
                </p:oleObj>
              </mc:Choice>
              <mc:Fallback>
                <p:oleObj name="" r:id="rId1" imgW="5591810" imgH="8869680" progId="Word.Document.8">
                  <p:embed/>
                  <p:pic>
                    <p:nvPicPr>
                      <p:cNvPr id="0" name="图片 3206"/>
                      <p:cNvPicPr/>
                      <p:nvPr/>
                    </p:nvPicPr>
                    <p:blipFill>
                      <a:blip r:embed="rId2"/>
                      <a:stretch>
                        <a:fillRect/>
                      </a:stretch>
                    </p:blipFill>
                    <p:spPr>
                      <a:xfrm>
                        <a:off x="2057400" y="708025"/>
                        <a:ext cx="5105400" cy="5159375"/>
                      </a:xfrm>
                      <a:prstGeom prst="rect">
                        <a:avLst/>
                      </a:prstGeom>
                      <a:noFill/>
                      <a:ln w="38100">
                        <a:miter/>
                      </a:ln>
                    </p:spPr>
                  </p:pic>
                </p:oleObj>
              </mc:Fallback>
            </mc:AlternateContent>
          </a:graphicData>
        </a:graphic>
      </p:graphicFrame>
      <p:sp>
        <p:nvSpPr>
          <p:cNvPr id="407555" name="Rectangle 3"/>
          <p:cNvSpPr/>
          <p:nvPr/>
        </p:nvSpPr>
        <p:spPr>
          <a:xfrm>
            <a:off x="3663950" y="6019800"/>
            <a:ext cx="2700338" cy="366713"/>
          </a:xfrm>
          <a:prstGeom prst="rect">
            <a:avLst/>
          </a:prstGeom>
          <a:noFill/>
          <a:ln w="9525">
            <a:noFill/>
          </a:ln>
        </p:spPr>
        <p:txBody>
          <a:bodyPr wrap="none" anchor="ctr">
            <a:spAutoFit/>
          </a:bodyPr>
          <a:p>
            <a:pPr algn="ctr"/>
            <a:r>
              <a:rPr lang="zh-CN" altLang="en-US" b="1">
                <a:solidFill>
                  <a:srgbClr val="692AA2"/>
                </a:solidFill>
                <a:latin typeface="Arial" panose="020B0604020202020204" pitchFamily="34" charset="0"/>
                <a:ea typeface="宋体" panose="02010600030101010101" pitchFamily="2" charset="-122"/>
              </a:rPr>
              <a:t>表</a:t>
            </a:r>
            <a:r>
              <a:rPr lang="en-US" altLang="zh-CN" b="1">
                <a:solidFill>
                  <a:srgbClr val="692AA2"/>
                </a:solidFill>
                <a:latin typeface="Arial" panose="020B0604020202020204" pitchFamily="34" charset="0"/>
                <a:ea typeface="宋体" panose="02010600030101010101" pitchFamily="2" charset="-122"/>
              </a:rPr>
              <a:t>7.7  </a:t>
            </a:r>
            <a:r>
              <a:rPr lang="zh-CN" altLang="en-US" b="1">
                <a:solidFill>
                  <a:srgbClr val="692AA2"/>
                </a:solidFill>
                <a:latin typeface="Arial" panose="020B0604020202020204" pitchFamily="34" charset="0"/>
                <a:ea typeface="宋体" panose="02010600030101010101" pitchFamily="2" charset="-122"/>
              </a:rPr>
              <a:t>改进后的分配方案</a:t>
            </a:r>
            <a:endParaRPr lang="zh-CN" altLang="en-US" b="1">
              <a:solidFill>
                <a:srgbClr val="692AA2"/>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7554"/>
                                        </p:tgtEl>
                                        <p:attrNameLst>
                                          <p:attrName>style.visibility</p:attrName>
                                        </p:attrNameLst>
                                      </p:cBhvr>
                                      <p:to>
                                        <p:strVal val="visible"/>
                                      </p:to>
                                    </p:set>
                                    <p:animEffect transition="in" filter="wipe(down)">
                                      <p:cBhvr>
                                        <p:cTn id="7" dur="500"/>
                                        <p:tgtEl>
                                          <p:spTgt spid="40755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07555"/>
                                        </p:tgtEl>
                                        <p:attrNameLst>
                                          <p:attrName>style.visibility</p:attrName>
                                        </p:attrNameLst>
                                      </p:cBhvr>
                                      <p:to>
                                        <p:strVal val="visible"/>
                                      </p:to>
                                    </p:set>
                                    <p:animEffect transition="in" filter="wipe(down)">
                                      <p:cBhvr>
                                        <p:cTn id="10" dur="500"/>
                                        <p:tgtEl>
                                          <p:spTgt spid="407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8578" name="Rectangle 2"/>
          <p:cNvSpPr>
            <a:spLocks noGrp="1"/>
          </p:cNvSpPr>
          <p:nvPr>
            <p:ph idx="1"/>
          </p:nvPr>
        </p:nvSpPr>
        <p:spPr>
          <a:xfrm>
            <a:off x="457200" y="1447800"/>
            <a:ext cx="8229600" cy="4495800"/>
          </a:xfrm>
          <a:ln/>
        </p:spPr>
        <p:txBody>
          <a:bodyPr vert="horz" wrap="square" lIns="91440" tIns="45720" rIns="91440" bIns="45720" anchor="t"/>
          <a:p>
            <a:pPr eaLnBrk="1" hangingPunct="1">
              <a:lnSpc>
                <a:spcPct val="90000"/>
              </a:lnSpc>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a:t>
            </a:r>
            <a:r>
              <a:rPr lang="en-US" altLang="zh-CN" sz="2400" b="1">
                <a:solidFill>
                  <a:srgbClr val="692AA2"/>
                </a:solidFill>
                <a:latin typeface="仿宋_GB2312" pitchFamily="49" charset="-122"/>
                <a:ea typeface="仿宋_GB2312" pitchFamily="49" charset="-122"/>
              </a:rPr>
              <a:t>2</a:t>
            </a:r>
            <a:r>
              <a:rPr lang="zh-CN" altLang="en-US" sz="2400" b="1">
                <a:solidFill>
                  <a:srgbClr val="692AA2"/>
                </a:solidFill>
                <a:latin typeface="仿宋_GB2312" pitchFamily="49" charset="-122"/>
                <a:ea typeface="仿宋_GB2312" pitchFamily="49" charset="-122"/>
              </a:rPr>
              <a:t>）考虑风险的经济效益修正模型</a:t>
            </a: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r>
              <a:rPr lang="zh-CN" altLang="en-US" sz="2400" b="1">
                <a:solidFill>
                  <a:srgbClr val="692AA2"/>
                </a:solidFill>
                <a:latin typeface="仿宋_GB2312" pitchFamily="49" charset="-122"/>
                <a:ea typeface="仿宋_GB2312" pitchFamily="49" charset="-122"/>
              </a:rPr>
              <a:t>      出版社最注重的是经济效益，所以下面利用组合投资的方法来建立一个新的模型，考察经济效益的稳定性，寻找风险不大，且经济效益较高的资源分配方案。</a:t>
            </a: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r>
              <a:rPr lang="zh-CN" altLang="en-US" sz="2400" b="1">
                <a:solidFill>
                  <a:srgbClr val="692AA2"/>
                </a:solidFill>
                <a:latin typeface="仿宋_GB2312" pitchFamily="49" charset="-122"/>
                <a:ea typeface="仿宋_GB2312" pitchFamily="49" charset="-122"/>
              </a:rPr>
              <a:t>      首先，</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年的具体销售量是未知的，我们可以把他看作是一个随机变量，如果销售量小，视为有损失，那么这就涉及到风险问题。风险可以用收益的方差来进行衡量；方差越大，则风险越大。</a:t>
            </a: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r>
              <a:rPr lang="zh-CN" altLang="en-US" sz="2400" b="1">
                <a:solidFill>
                  <a:srgbClr val="692AA2"/>
                </a:solidFill>
                <a:latin typeface="仿宋_GB2312" pitchFamily="49" charset="-122"/>
                <a:ea typeface="仿宋_GB2312" pitchFamily="49" charset="-122"/>
              </a:rPr>
              <a:t>      第</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个课程在</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年的销售量为     ，是一个随机变量，用    和    分别表示随机变量的数学期望和方差算子，用</a:t>
            </a:r>
            <a:r>
              <a:rPr lang="en-US" altLang="zh-CN" sz="2400" b="1">
                <a:solidFill>
                  <a:srgbClr val="692AA2"/>
                </a:solidFill>
                <a:latin typeface="仿宋_GB2312" pitchFamily="49" charset="-122"/>
                <a:ea typeface="仿宋_GB2312" pitchFamily="49" charset="-122"/>
              </a:rPr>
              <a:t>cov</a:t>
            </a:r>
            <a:r>
              <a:rPr lang="zh-CN" altLang="en-US" sz="2400" b="1">
                <a:solidFill>
                  <a:srgbClr val="692AA2"/>
                </a:solidFill>
                <a:latin typeface="仿宋_GB2312" pitchFamily="49" charset="-122"/>
                <a:ea typeface="仿宋_GB2312" pitchFamily="49" charset="-122"/>
              </a:rPr>
              <a:t>表示两个随机变量的协方差，求得各门课程的销售量的数学期望    求出课程</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之间的销售额协方差矩阵。 </a:t>
            </a:r>
            <a:endParaRPr lang="zh-CN" altLang="en-US" sz="2400" b="1">
              <a:solidFill>
                <a:srgbClr val="692AA2"/>
              </a:solidFill>
              <a:latin typeface="仿宋_GB2312" pitchFamily="49" charset="-122"/>
              <a:ea typeface="仿宋_GB2312" pitchFamily="49" charset="-122"/>
            </a:endParaRPr>
          </a:p>
        </p:txBody>
      </p:sp>
      <p:sp>
        <p:nvSpPr>
          <p:cNvPr id="173058" name="Rectangle 3"/>
          <p:cNvSpPr/>
          <p:nvPr/>
        </p:nvSpPr>
        <p:spPr>
          <a:xfrm>
            <a:off x="5678488" y="44561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8580" name="Object 4"/>
          <p:cNvGraphicFramePr>
            <a:graphicFrameLocks noChangeAspect="1"/>
          </p:cNvGraphicFramePr>
          <p:nvPr/>
        </p:nvGraphicFramePr>
        <p:xfrm>
          <a:off x="5638800" y="4191000"/>
          <a:ext cx="611188" cy="407988"/>
        </p:xfrm>
        <a:graphic>
          <a:graphicData uri="http://schemas.openxmlformats.org/presentationml/2006/ole">
            <mc:AlternateContent xmlns:mc="http://schemas.openxmlformats.org/markup-compatibility/2006">
              <mc:Choice xmlns:v="urn:schemas-microsoft-com:vml" Requires="v">
                <p:oleObj spid="_x0000_s3213" name="" r:id="rId1" imgW="342900" imgH="228600" progId="Equation.DSMT4">
                  <p:embed/>
                </p:oleObj>
              </mc:Choice>
              <mc:Fallback>
                <p:oleObj name="" r:id="rId1" imgW="342900" imgH="228600" progId="Equation.DSMT4">
                  <p:embed/>
                  <p:pic>
                    <p:nvPicPr>
                      <p:cNvPr id="0" name="图片 3212"/>
                      <p:cNvPicPr/>
                      <p:nvPr/>
                    </p:nvPicPr>
                    <p:blipFill>
                      <a:blip r:embed="rId2"/>
                      <a:stretch>
                        <a:fillRect/>
                      </a:stretch>
                    </p:blipFill>
                    <p:spPr>
                      <a:xfrm>
                        <a:off x="5638800" y="4191000"/>
                        <a:ext cx="611188" cy="407988"/>
                      </a:xfrm>
                      <a:prstGeom prst="rect">
                        <a:avLst/>
                      </a:prstGeom>
                      <a:noFill/>
                      <a:ln w="38100">
                        <a:noFill/>
                        <a:miter/>
                      </a:ln>
                    </p:spPr>
                  </p:pic>
                </p:oleObj>
              </mc:Fallback>
            </mc:AlternateContent>
          </a:graphicData>
        </a:graphic>
      </p:graphicFrame>
      <p:sp>
        <p:nvSpPr>
          <p:cNvPr id="173060" name="Rectangle 5"/>
          <p:cNvSpPr/>
          <p:nvPr/>
        </p:nvSpPr>
        <p:spPr>
          <a:xfrm>
            <a:off x="2093913" y="47688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8582" name="Object 6"/>
          <p:cNvGraphicFramePr>
            <a:graphicFrameLocks noChangeAspect="1"/>
          </p:cNvGraphicFramePr>
          <p:nvPr/>
        </p:nvGraphicFramePr>
        <p:xfrm>
          <a:off x="1905000" y="4572000"/>
          <a:ext cx="569913" cy="374650"/>
        </p:xfrm>
        <a:graphic>
          <a:graphicData uri="http://schemas.openxmlformats.org/presentationml/2006/ole">
            <mc:AlternateContent xmlns:mc="http://schemas.openxmlformats.org/markup-compatibility/2006">
              <mc:Choice xmlns:v="urn:schemas-microsoft-com:vml" Requires="v">
                <p:oleObj spid="_x0000_s3212" name="" r:id="rId3" imgW="304800" imgH="203200" progId="Equation.DSMT4">
                  <p:embed/>
                </p:oleObj>
              </mc:Choice>
              <mc:Fallback>
                <p:oleObj name="" r:id="rId3" imgW="304800" imgH="203200" progId="Equation.DSMT4">
                  <p:embed/>
                  <p:pic>
                    <p:nvPicPr>
                      <p:cNvPr id="0" name="图片 3211"/>
                      <p:cNvPicPr/>
                      <p:nvPr/>
                    </p:nvPicPr>
                    <p:blipFill>
                      <a:blip r:embed="rId4"/>
                      <a:stretch>
                        <a:fillRect/>
                      </a:stretch>
                    </p:blipFill>
                    <p:spPr>
                      <a:xfrm>
                        <a:off x="1905000" y="4572000"/>
                        <a:ext cx="569913" cy="374650"/>
                      </a:xfrm>
                      <a:prstGeom prst="rect">
                        <a:avLst/>
                      </a:prstGeom>
                      <a:noFill/>
                      <a:ln w="38100">
                        <a:noFill/>
                        <a:miter/>
                      </a:ln>
                    </p:spPr>
                  </p:pic>
                </p:oleObj>
              </mc:Fallback>
            </mc:AlternateContent>
          </a:graphicData>
        </a:graphic>
      </p:graphicFrame>
      <p:sp>
        <p:nvSpPr>
          <p:cNvPr id="173062" name="Rectangle 7"/>
          <p:cNvSpPr/>
          <p:nvPr/>
        </p:nvSpPr>
        <p:spPr>
          <a:xfrm>
            <a:off x="2840038" y="4695825"/>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8584" name="Object 8"/>
          <p:cNvGraphicFramePr>
            <a:graphicFrameLocks noChangeAspect="1"/>
          </p:cNvGraphicFramePr>
          <p:nvPr/>
        </p:nvGraphicFramePr>
        <p:xfrm>
          <a:off x="2895600" y="4572000"/>
          <a:ext cx="563563" cy="358775"/>
        </p:xfrm>
        <a:graphic>
          <a:graphicData uri="http://schemas.openxmlformats.org/presentationml/2006/ole">
            <mc:AlternateContent xmlns:mc="http://schemas.openxmlformats.org/markup-compatibility/2006">
              <mc:Choice xmlns:v="urn:schemas-microsoft-com:vml" Requires="v">
                <p:oleObj spid="_x0000_s3219" name="" r:id="rId5" imgW="317500" imgH="203200" progId="Equation.DSMT4">
                  <p:embed/>
                </p:oleObj>
              </mc:Choice>
              <mc:Fallback>
                <p:oleObj name="" r:id="rId5" imgW="317500" imgH="203200" progId="Equation.DSMT4">
                  <p:embed/>
                  <p:pic>
                    <p:nvPicPr>
                      <p:cNvPr id="0" name="图片 3218"/>
                      <p:cNvPicPr/>
                      <p:nvPr/>
                    </p:nvPicPr>
                    <p:blipFill>
                      <a:blip r:embed="rId6"/>
                      <a:stretch>
                        <a:fillRect/>
                      </a:stretch>
                    </p:blipFill>
                    <p:spPr>
                      <a:xfrm>
                        <a:off x="2895600" y="4572000"/>
                        <a:ext cx="563563" cy="358775"/>
                      </a:xfrm>
                      <a:prstGeom prst="rect">
                        <a:avLst/>
                      </a:prstGeom>
                      <a:noFill/>
                      <a:ln w="38100">
                        <a:noFill/>
                        <a:miter/>
                      </a:ln>
                    </p:spPr>
                  </p:pic>
                </p:oleObj>
              </mc:Fallback>
            </mc:AlternateContent>
          </a:graphicData>
        </a:graphic>
      </p:graphicFrame>
      <p:graphicFrame>
        <p:nvGraphicFramePr>
          <p:cNvPr id="408585" name="Object 9"/>
          <p:cNvGraphicFramePr>
            <a:graphicFrameLocks noChangeAspect="1"/>
          </p:cNvGraphicFramePr>
          <p:nvPr/>
        </p:nvGraphicFramePr>
        <p:xfrm>
          <a:off x="3810000" y="5257800"/>
          <a:ext cx="565150" cy="369888"/>
        </p:xfrm>
        <a:graphic>
          <a:graphicData uri="http://schemas.openxmlformats.org/presentationml/2006/ole">
            <mc:AlternateContent xmlns:mc="http://schemas.openxmlformats.org/markup-compatibility/2006">
              <mc:Choice xmlns:v="urn:schemas-microsoft-com:vml" Requires="v">
                <p:oleObj spid="_x0000_s3220" name="" r:id="rId7" imgW="304800" imgH="203200" progId="Equation.DSMT4">
                  <p:embed/>
                </p:oleObj>
              </mc:Choice>
              <mc:Fallback>
                <p:oleObj name="" r:id="rId7" imgW="304800" imgH="203200" progId="Equation.DSMT4">
                  <p:embed/>
                  <p:pic>
                    <p:nvPicPr>
                      <p:cNvPr id="0" name="图片 3219"/>
                      <p:cNvPicPr/>
                      <p:nvPr/>
                    </p:nvPicPr>
                    <p:blipFill>
                      <a:blip r:embed="rId4"/>
                      <a:stretch>
                        <a:fillRect/>
                      </a:stretch>
                    </p:blipFill>
                    <p:spPr>
                      <a:xfrm>
                        <a:off x="3810000" y="5257800"/>
                        <a:ext cx="565150" cy="369888"/>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8578">
                                            <p:txEl>
                                              <p:charRg st="0" end="18"/>
                                            </p:txEl>
                                          </p:spTgt>
                                        </p:tgtEl>
                                        <p:attrNameLst>
                                          <p:attrName>style.visibility</p:attrName>
                                        </p:attrNameLst>
                                      </p:cBhvr>
                                      <p:to>
                                        <p:strVal val="visible"/>
                                      </p:to>
                                    </p:set>
                                    <p:animEffect transition="in" filter="wipe(down)">
                                      <p:cBhvr>
                                        <p:cTn id="7" dur="500"/>
                                        <p:tgtEl>
                                          <p:spTgt spid="408578">
                                            <p:txEl>
                                              <p:charRg st="0" end="18"/>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08578">
                                            <p:txEl>
                                              <p:charRg st="18" end="94"/>
                                            </p:txEl>
                                          </p:spTgt>
                                        </p:tgtEl>
                                        <p:attrNameLst>
                                          <p:attrName>style.visibility</p:attrName>
                                        </p:attrNameLst>
                                      </p:cBhvr>
                                      <p:to>
                                        <p:strVal val="visible"/>
                                      </p:to>
                                    </p:set>
                                    <p:animEffect transition="in" filter="wipe(down)">
                                      <p:cBhvr>
                                        <p:cTn id="10" dur="500"/>
                                        <p:tgtEl>
                                          <p:spTgt spid="408578">
                                            <p:txEl>
                                              <p:charRg st="18" end="9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08578">
                                            <p:txEl>
                                              <p:charRg st="94" end="188"/>
                                            </p:txEl>
                                          </p:spTgt>
                                        </p:tgtEl>
                                        <p:attrNameLst>
                                          <p:attrName>style.visibility</p:attrName>
                                        </p:attrNameLst>
                                      </p:cBhvr>
                                      <p:to>
                                        <p:strVal val="visible"/>
                                      </p:to>
                                    </p:set>
                                    <p:animEffect transition="in" filter="wipe(down)">
                                      <p:cBhvr>
                                        <p:cTn id="15" dur="500"/>
                                        <p:tgtEl>
                                          <p:spTgt spid="408578">
                                            <p:txEl>
                                              <p:charRg st="94" end="188"/>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08578">
                                            <p:txEl>
                                              <p:charRg st="188" end="308"/>
                                            </p:txEl>
                                          </p:spTgt>
                                        </p:tgtEl>
                                        <p:attrNameLst>
                                          <p:attrName>style.visibility</p:attrName>
                                        </p:attrNameLst>
                                      </p:cBhvr>
                                      <p:to>
                                        <p:strVal val="visible"/>
                                      </p:to>
                                    </p:set>
                                    <p:animEffect transition="in" filter="wipe(down)">
                                      <p:cBhvr>
                                        <p:cTn id="18" dur="500"/>
                                        <p:tgtEl>
                                          <p:spTgt spid="408578">
                                            <p:txEl>
                                              <p:charRg st="188" end="308"/>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408580"/>
                                        </p:tgtEl>
                                        <p:attrNameLst>
                                          <p:attrName>style.visibility</p:attrName>
                                        </p:attrNameLst>
                                      </p:cBhvr>
                                      <p:to>
                                        <p:strVal val="visible"/>
                                      </p:to>
                                    </p:set>
                                    <p:animEffect transition="in" filter="wipe(down)">
                                      <p:cBhvr>
                                        <p:cTn id="21" dur="500"/>
                                        <p:tgtEl>
                                          <p:spTgt spid="408580"/>
                                        </p:tgtEl>
                                      </p:cBhvr>
                                    </p:animEffect>
                                  </p:childTnLst>
                                </p:cTn>
                              </p:par>
                              <p:par>
                                <p:cTn id="22" presetID="22" presetClass="entr" presetSubtype="4" fill="hold" nodeType="withEffect">
                                  <p:stCondLst>
                                    <p:cond delay="0"/>
                                  </p:stCondLst>
                                  <p:childTnLst>
                                    <p:set>
                                      <p:cBhvr>
                                        <p:cTn id="23" dur="1" fill="hold">
                                          <p:stCondLst>
                                            <p:cond delay="0"/>
                                          </p:stCondLst>
                                        </p:cTn>
                                        <p:tgtEl>
                                          <p:spTgt spid="408582"/>
                                        </p:tgtEl>
                                        <p:attrNameLst>
                                          <p:attrName>style.visibility</p:attrName>
                                        </p:attrNameLst>
                                      </p:cBhvr>
                                      <p:to>
                                        <p:strVal val="visible"/>
                                      </p:to>
                                    </p:set>
                                    <p:animEffect transition="in" filter="wipe(down)">
                                      <p:cBhvr>
                                        <p:cTn id="24" dur="500"/>
                                        <p:tgtEl>
                                          <p:spTgt spid="408582"/>
                                        </p:tgtEl>
                                      </p:cBhvr>
                                    </p:animEffect>
                                  </p:childTnLst>
                                </p:cTn>
                              </p:par>
                              <p:par>
                                <p:cTn id="25" presetID="22" presetClass="entr" presetSubtype="4" fill="hold" nodeType="withEffect">
                                  <p:stCondLst>
                                    <p:cond delay="0"/>
                                  </p:stCondLst>
                                  <p:childTnLst>
                                    <p:set>
                                      <p:cBhvr>
                                        <p:cTn id="26" dur="1" fill="hold">
                                          <p:stCondLst>
                                            <p:cond delay="0"/>
                                          </p:stCondLst>
                                        </p:cTn>
                                        <p:tgtEl>
                                          <p:spTgt spid="408584"/>
                                        </p:tgtEl>
                                        <p:attrNameLst>
                                          <p:attrName>style.visibility</p:attrName>
                                        </p:attrNameLst>
                                      </p:cBhvr>
                                      <p:to>
                                        <p:strVal val="visible"/>
                                      </p:to>
                                    </p:set>
                                    <p:animEffect transition="in" filter="wipe(down)">
                                      <p:cBhvr>
                                        <p:cTn id="27" dur="500"/>
                                        <p:tgtEl>
                                          <p:spTgt spid="408584"/>
                                        </p:tgtEl>
                                      </p:cBhvr>
                                    </p:animEffect>
                                  </p:childTnLst>
                                </p:cTn>
                              </p:par>
                              <p:par>
                                <p:cTn id="28" presetID="22" presetClass="entr" presetSubtype="4" fill="hold" nodeType="withEffect">
                                  <p:stCondLst>
                                    <p:cond delay="0"/>
                                  </p:stCondLst>
                                  <p:childTnLst>
                                    <p:set>
                                      <p:cBhvr>
                                        <p:cTn id="29" dur="1" fill="hold">
                                          <p:stCondLst>
                                            <p:cond delay="0"/>
                                          </p:stCondLst>
                                        </p:cTn>
                                        <p:tgtEl>
                                          <p:spTgt spid="408585"/>
                                        </p:tgtEl>
                                        <p:attrNameLst>
                                          <p:attrName>style.visibility</p:attrName>
                                        </p:attrNameLst>
                                      </p:cBhvr>
                                      <p:to>
                                        <p:strVal val="visible"/>
                                      </p:to>
                                    </p:set>
                                    <p:animEffect transition="in" filter="wipe(down)">
                                      <p:cBhvr>
                                        <p:cTn id="30" dur="500"/>
                                        <p:tgtEl>
                                          <p:spTgt spid="408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02" name="Rectangle 2"/>
          <p:cNvSpPr>
            <a:spLocks noGrp="1"/>
          </p:cNvSpPr>
          <p:nvPr>
            <p:ph idx="1"/>
          </p:nvPr>
        </p:nvSpPr>
        <p:spPr>
          <a:xfrm>
            <a:off x="381000" y="1600200"/>
            <a:ext cx="8229600" cy="4495800"/>
          </a:xfrm>
          <a:ln/>
        </p:spPr>
        <p:txBody>
          <a:bodyPr vert="horz" wrap="square" lIns="91440" tIns="45720" rIns="91440" bIns="45720" anchor="t"/>
          <a:p>
            <a:pPr eaLnBrk="1" hangingPunct="1">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决策变量    分别表示课程</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在</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年所获得的书号的个数，                   ， </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根据书号总数的限制得到一个约束条件</a:t>
            </a:r>
            <a:endParaRPr lang="zh-CN" altLang="en-US" sz="2400" b="1">
              <a:solidFill>
                <a:srgbClr val="692AA2"/>
              </a:solidFill>
              <a:latin typeface="仿宋_GB2312" pitchFamily="49" charset="-122"/>
              <a:ea typeface="仿宋_GB2312" pitchFamily="49" charset="-122"/>
            </a:endParaRPr>
          </a:p>
          <a:p>
            <a:pPr eaLnBrk="1" hangingPunct="1">
              <a:buNone/>
            </a:pP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年的收益总价值            也是一个随机变量</a:t>
            </a:r>
            <a:endParaRPr lang="zh-CN" altLang="en-US" sz="2400" b="1">
              <a:solidFill>
                <a:srgbClr val="692AA2"/>
              </a:solidFill>
              <a:latin typeface="仿宋_GB2312" pitchFamily="49" charset="-122"/>
              <a:ea typeface="仿宋_GB2312" pitchFamily="49" charset="-122"/>
            </a:endParaRPr>
          </a:p>
          <a:p>
            <a:pPr eaLnBrk="1" hangingPunct="1">
              <a:buNone/>
            </a:pPr>
            <a:r>
              <a:rPr lang="zh-CN" altLang="en-US" sz="2400" b="1">
                <a:solidFill>
                  <a:srgbClr val="692AA2"/>
                </a:solidFill>
                <a:latin typeface="仿宋_GB2312" pitchFamily="49" charset="-122"/>
                <a:ea typeface="仿宋_GB2312" pitchFamily="49" charset="-122"/>
              </a:rPr>
              <a:t>  </a:t>
            </a:r>
            <a:r>
              <a:rPr lang="en-US" altLang="zh-CN" sz="2400" b="1">
                <a:solidFill>
                  <a:srgbClr val="692AA2"/>
                </a:solidFill>
                <a:latin typeface="仿宋_GB2312" pitchFamily="49" charset="-122"/>
                <a:ea typeface="仿宋_GB2312" pitchFamily="49" charset="-122"/>
              </a:rPr>
              <a:t>2006</a:t>
            </a:r>
            <a:r>
              <a:rPr lang="zh-CN" altLang="en-US" sz="2400" b="1">
                <a:solidFill>
                  <a:srgbClr val="692AA2"/>
                </a:solidFill>
                <a:latin typeface="仿宋_GB2312" pitchFamily="49" charset="-122"/>
                <a:ea typeface="仿宋_GB2312" pitchFamily="49" charset="-122"/>
              </a:rPr>
              <a:t>年收益的方差为 </a:t>
            </a:r>
            <a:endParaRPr lang="zh-CN" altLang="en-US" sz="2400" b="1">
              <a:solidFill>
                <a:srgbClr val="692AA2"/>
              </a:solidFill>
              <a:latin typeface="仿宋_GB2312" pitchFamily="49" charset="-122"/>
              <a:ea typeface="仿宋_GB2312" pitchFamily="49" charset="-122"/>
            </a:endParaRPr>
          </a:p>
        </p:txBody>
      </p:sp>
      <p:sp>
        <p:nvSpPr>
          <p:cNvPr id="174082" name="Rectangle 3"/>
          <p:cNvSpPr/>
          <p:nvPr/>
        </p:nvSpPr>
        <p:spPr>
          <a:xfrm>
            <a:off x="2330450" y="19367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9604" name="Object 4"/>
          <p:cNvGraphicFramePr>
            <a:graphicFrameLocks noChangeAspect="1"/>
          </p:cNvGraphicFramePr>
          <p:nvPr/>
        </p:nvGraphicFramePr>
        <p:xfrm>
          <a:off x="2590800" y="1600200"/>
          <a:ext cx="609600" cy="442913"/>
        </p:xfrm>
        <a:graphic>
          <a:graphicData uri="http://schemas.openxmlformats.org/presentationml/2006/ole">
            <mc:AlternateContent xmlns:mc="http://schemas.openxmlformats.org/markup-compatibility/2006">
              <mc:Choice xmlns:v="urn:schemas-microsoft-com:vml" Requires="v">
                <p:oleObj spid="_x0000_s3214" name="" r:id="rId1" imgW="279400" imgH="203200" progId="Equation.DSMT4">
                  <p:embed/>
                </p:oleObj>
              </mc:Choice>
              <mc:Fallback>
                <p:oleObj name="" r:id="rId1" imgW="279400" imgH="203200" progId="Equation.DSMT4">
                  <p:embed/>
                  <p:pic>
                    <p:nvPicPr>
                      <p:cNvPr id="0" name="图片 3213"/>
                      <p:cNvPicPr/>
                      <p:nvPr/>
                    </p:nvPicPr>
                    <p:blipFill>
                      <a:blip r:embed="rId2"/>
                      <a:stretch>
                        <a:fillRect/>
                      </a:stretch>
                    </p:blipFill>
                    <p:spPr>
                      <a:xfrm>
                        <a:off x="2590800" y="1600200"/>
                        <a:ext cx="609600" cy="442913"/>
                      </a:xfrm>
                      <a:prstGeom prst="rect">
                        <a:avLst/>
                      </a:prstGeom>
                      <a:noFill/>
                      <a:ln w="38100">
                        <a:noFill/>
                        <a:miter/>
                      </a:ln>
                    </p:spPr>
                  </p:pic>
                </p:oleObj>
              </mc:Fallback>
            </mc:AlternateContent>
          </a:graphicData>
        </a:graphic>
      </p:graphicFrame>
      <p:sp>
        <p:nvSpPr>
          <p:cNvPr id="174084" name="Rectangle 5"/>
          <p:cNvSpPr/>
          <p:nvPr/>
        </p:nvSpPr>
        <p:spPr>
          <a:xfrm>
            <a:off x="3413125" y="24177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9606" name="Object 6"/>
          <p:cNvGraphicFramePr>
            <a:graphicFrameLocks noChangeAspect="1"/>
          </p:cNvGraphicFramePr>
          <p:nvPr/>
        </p:nvGraphicFramePr>
        <p:xfrm>
          <a:off x="1981200" y="2057400"/>
          <a:ext cx="2895600" cy="392113"/>
        </p:xfrm>
        <a:graphic>
          <a:graphicData uri="http://schemas.openxmlformats.org/presentationml/2006/ole">
            <mc:AlternateContent xmlns:mc="http://schemas.openxmlformats.org/markup-compatibility/2006">
              <mc:Choice xmlns:v="urn:schemas-microsoft-com:vml" Requires="v">
                <p:oleObj spid="_x0000_s3215" name="" r:id="rId3" imgW="1473200" imgH="203200" progId="Equation.DSMT4">
                  <p:embed/>
                </p:oleObj>
              </mc:Choice>
              <mc:Fallback>
                <p:oleObj name="" r:id="rId3" imgW="1473200" imgH="203200" progId="Equation.DSMT4">
                  <p:embed/>
                  <p:pic>
                    <p:nvPicPr>
                      <p:cNvPr id="0" name="图片 3214"/>
                      <p:cNvPicPr/>
                      <p:nvPr/>
                    </p:nvPicPr>
                    <p:blipFill>
                      <a:blip r:embed="rId4"/>
                      <a:stretch>
                        <a:fillRect/>
                      </a:stretch>
                    </p:blipFill>
                    <p:spPr>
                      <a:xfrm>
                        <a:off x="1981200" y="2057400"/>
                        <a:ext cx="2895600" cy="392113"/>
                      </a:xfrm>
                      <a:prstGeom prst="rect">
                        <a:avLst/>
                      </a:prstGeom>
                      <a:noFill/>
                      <a:ln w="38100">
                        <a:noFill/>
                        <a:miter/>
                      </a:ln>
                    </p:spPr>
                  </p:pic>
                </p:oleObj>
              </mc:Fallback>
            </mc:AlternateContent>
          </a:graphicData>
        </a:graphic>
      </p:graphicFrame>
      <p:sp>
        <p:nvSpPr>
          <p:cNvPr id="174086" name="Rectangle 7"/>
          <p:cNvSpPr/>
          <p:nvPr/>
        </p:nvSpPr>
        <p:spPr>
          <a:xfrm>
            <a:off x="7575550" y="30432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9608" name="Object 8"/>
          <p:cNvGraphicFramePr>
            <a:graphicFrameLocks noChangeAspect="1"/>
          </p:cNvGraphicFramePr>
          <p:nvPr/>
        </p:nvGraphicFramePr>
        <p:xfrm>
          <a:off x="6705600" y="2286000"/>
          <a:ext cx="1371600" cy="701675"/>
        </p:xfrm>
        <a:graphic>
          <a:graphicData uri="http://schemas.openxmlformats.org/presentationml/2006/ole">
            <mc:AlternateContent xmlns:mc="http://schemas.openxmlformats.org/markup-compatibility/2006">
              <mc:Choice xmlns:v="urn:schemas-microsoft-com:vml" Requires="v">
                <p:oleObj spid="_x0000_s3216" name="" r:id="rId5" imgW="837565" imgH="431800" progId="Equation.DSMT4">
                  <p:embed/>
                </p:oleObj>
              </mc:Choice>
              <mc:Fallback>
                <p:oleObj name="" r:id="rId5" imgW="837565" imgH="431800" progId="Equation.DSMT4">
                  <p:embed/>
                  <p:pic>
                    <p:nvPicPr>
                      <p:cNvPr id="0" name="图片 3215"/>
                      <p:cNvPicPr/>
                      <p:nvPr/>
                    </p:nvPicPr>
                    <p:blipFill>
                      <a:blip r:embed="rId6"/>
                      <a:stretch>
                        <a:fillRect/>
                      </a:stretch>
                    </p:blipFill>
                    <p:spPr>
                      <a:xfrm>
                        <a:off x="6705600" y="2286000"/>
                        <a:ext cx="1371600" cy="701675"/>
                      </a:xfrm>
                      <a:prstGeom prst="rect">
                        <a:avLst/>
                      </a:prstGeom>
                      <a:noFill/>
                      <a:ln w="38100">
                        <a:noFill/>
                        <a:miter/>
                      </a:ln>
                    </p:spPr>
                  </p:pic>
                </p:oleObj>
              </mc:Fallback>
            </mc:AlternateContent>
          </a:graphicData>
        </a:graphic>
      </p:graphicFrame>
      <p:graphicFrame>
        <p:nvGraphicFramePr>
          <p:cNvPr id="409609" name="Object 9"/>
          <p:cNvGraphicFramePr>
            <a:graphicFrameLocks noChangeAspect="1"/>
          </p:cNvGraphicFramePr>
          <p:nvPr/>
        </p:nvGraphicFramePr>
        <p:xfrm>
          <a:off x="4267200" y="3124200"/>
          <a:ext cx="1676400" cy="649288"/>
        </p:xfrm>
        <a:graphic>
          <a:graphicData uri="http://schemas.openxmlformats.org/presentationml/2006/ole">
            <mc:AlternateContent xmlns:mc="http://schemas.openxmlformats.org/markup-compatibility/2006">
              <mc:Choice xmlns:v="urn:schemas-microsoft-com:vml" Requires="v">
                <p:oleObj spid="_x0000_s3221" name="" r:id="rId7" imgW="1104900" imgH="431800" progId="Equation.DSMT4">
                  <p:embed/>
                </p:oleObj>
              </mc:Choice>
              <mc:Fallback>
                <p:oleObj name="" r:id="rId7" imgW="1104900" imgH="431800" progId="Equation.DSMT4">
                  <p:embed/>
                  <p:pic>
                    <p:nvPicPr>
                      <p:cNvPr id="0" name="图片 3220"/>
                      <p:cNvPicPr/>
                      <p:nvPr/>
                    </p:nvPicPr>
                    <p:blipFill>
                      <a:blip r:embed="rId8"/>
                      <a:stretch>
                        <a:fillRect/>
                      </a:stretch>
                    </p:blipFill>
                    <p:spPr>
                      <a:xfrm>
                        <a:off x="4267200" y="3124200"/>
                        <a:ext cx="1676400" cy="649288"/>
                      </a:xfrm>
                      <a:prstGeom prst="rect">
                        <a:avLst/>
                      </a:prstGeom>
                      <a:noFill/>
                      <a:ln w="38100">
                        <a:noFill/>
                        <a:miter/>
                      </a:ln>
                    </p:spPr>
                  </p:pic>
                </p:oleObj>
              </mc:Fallback>
            </mc:AlternateContent>
          </a:graphicData>
        </a:graphic>
      </p:graphicFrame>
      <p:sp>
        <p:nvSpPr>
          <p:cNvPr id="174089" name="Rectangle 10"/>
          <p:cNvSpPr/>
          <p:nvPr/>
        </p:nvSpPr>
        <p:spPr>
          <a:xfrm>
            <a:off x="5819775" y="52339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09611" name="Object 11"/>
          <p:cNvGraphicFramePr>
            <a:graphicFrameLocks noChangeAspect="1"/>
          </p:cNvGraphicFramePr>
          <p:nvPr/>
        </p:nvGraphicFramePr>
        <p:xfrm>
          <a:off x="1447800" y="4191000"/>
          <a:ext cx="6019800" cy="803275"/>
        </p:xfrm>
        <a:graphic>
          <a:graphicData uri="http://schemas.openxmlformats.org/presentationml/2006/ole">
            <mc:AlternateContent xmlns:mc="http://schemas.openxmlformats.org/markup-compatibility/2006">
              <mc:Choice xmlns:v="urn:schemas-microsoft-com:vml" Requires="v">
                <p:oleObj spid="_x0000_s3217" name="" r:id="rId9" imgW="3365500" imgH="444500" progId="Equation.DSMT4">
                  <p:embed/>
                </p:oleObj>
              </mc:Choice>
              <mc:Fallback>
                <p:oleObj name="" r:id="rId9" imgW="3365500" imgH="444500" progId="Equation.DSMT4">
                  <p:embed/>
                  <p:pic>
                    <p:nvPicPr>
                      <p:cNvPr id="0" name="图片 3216"/>
                      <p:cNvPicPr/>
                      <p:nvPr/>
                    </p:nvPicPr>
                    <p:blipFill>
                      <a:blip r:embed="rId10"/>
                      <a:stretch>
                        <a:fillRect/>
                      </a:stretch>
                    </p:blipFill>
                    <p:spPr>
                      <a:xfrm>
                        <a:off x="1447800" y="4191000"/>
                        <a:ext cx="6019800" cy="80327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409602">
                                            <p:txEl>
                                              <p:charRg st="0" end="59"/>
                                            </p:txEl>
                                          </p:spTgt>
                                        </p:tgtEl>
                                        <p:attrNameLst>
                                          <p:attrName>style.visibility</p:attrName>
                                        </p:attrNameLst>
                                      </p:cBhvr>
                                      <p:to>
                                        <p:strVal val="visible"/>
                                      </p:to>
                                    </p:set>
                                    <p:animEffect transition="in" filter="plus(in)">
                                      <p:cBhvr>
                                        <p:cTn id="7" dur="500"/>
                                        <p:tgtEl>
                                          <p:spTgt spid="409602">
                                            <p:txEl>
                                              <p:charRg st="0" end="59"/>
                                            </p:txEl>
                                          </p:spTgt>
                                        </p:tgtEl>
                                      </p:cBhvr>
                                    </p:animEffect>
                                  </p:childTnLst>
                                </p:cTn>
                              </p:par>
                              <p:par>
                                <p:cTn id="8" presetID="13" presetClass="entr" presetSubtype="16" fill="hold" nodeType="withEffect">
                                  <p:stCondLst>
                                    <p:cond delay="0"/>
                                  </p:stCondLst>
                                  <p:childTnLst>
                                    <p:set>
                                      <p:cBhvr>
                                        <p:cTn id="9" dur="1" fill="hold">
                                          <p:stCondLst>
                                            <p:cond delay="0"/>
                                          </p:stCondLst>
                                        </p:cTn>
                                        <p:tgtEl>
                                          <p:spTgt spid="409604"/>
                                        </p:tgtEl>
                                        <p:attrNameLst>
                                          <p:attrName>style.visibility</p:attrName>
                                        </p:attrNameLst>
                                      </p:cBhvr>
                                      <p:to>
                                        <p:strVal val="visible"/>
                                      </p:to>
                                    </p:set>
                                    <p:animEffect transition="in" filter="plus(in)">
                                      <p:cBhvr>
                                        <p:cTn id="10" dur="500"/>
                                        <p:tgtEl>
                                          <p:spTgt spid="409604"/>
                                        </p:tgtEl>
                                      </p:cBhvr>
                                    </p:animEffect>
                                  </p:childTnLst>
                                </p:cTn>
                              </p:par>
                              <p:par>
                                <p:cTn id="11" presetID="13" presetClass="entr" presetSubtype="16" fill="hold" nodeType="withEffect">
                                  <p:stCondLst>
                                    <p:cond delay="0"/>
                                  </p:stCondLst>
                                  <p:childTnLst>
                                    <p:set>
                                      <p:cBhvr>
                                        <p:cTn id="12" dur="1" fill="hold">
                                          <p:stCondLst>
                                            <p:cond delay="0"/>
                                          </p:stCondLst>
                                        </p:cTn>
                                        <p:tgtEl>
                                          <p:spTgt spid="409606"/>
                                        </p:tgtEl>
                                        <p:attrNameLst>
                                          <p:attrName>style.visibility</p:attrName>
                                        </p:attrNameLst>
                                      </p:cBhvr>
                                      <p:to>
                                        <p:strVal val="visible"/>
                                      </p:to>
                                    </p:set>
                                    <p:animEffect transition="in" filter="plus(in)">
                                      <p:cBhvr>
                                        <p:cTn id="13" dur="500"/>
                                        <p:tgtEl>
                                          <p:spTgt spid="409606"/>
                                        </p:tgtEl>
                                      </p:cBhvr>
                                    </p:animEffect>
                                  </p:childTnLst>
                                </p:cTn>
                              </p:par>
                              <p:par>
                                <p:cTn id="14" presetID="13" presetClass="entr" presetSubtype="16" fill="hold" nodeType="withEffect">
                                  <p:stCondLst>
                                    <p:cond delay="0"/>
                                  </p:stCondLst>
                                  <p:childTnLst>
                                    <p:set>
                                      <p:cBhvr>
                                        <p:cTn id="15" dur="1" fill="hold">
                                          <p:stCondLst>
                                            <p:cond delay="0"/>
                                          </p:stCondLst>
                                        </p:cTn>
                                        <p:tgtEl>
                                          <p:spTgt spid="409602">
                                            <p:txEl>
                                              <p:charRg st="59" end="83"/>
                                            </p:txEl>
                                          </p:spTgt>
                                        </p:tgtEl>
                                        <p:attrNameLst>
                                          <p:attrName>style.visibility</p:attrName>
                                        </p:attrNameLst>
                                      </p:cBhvr>
                                      <p:to>
                                        <p:strVal val="visible"/>
                                      </p:to>
                                    </p:set>
                                    <p:animEffect transition="in" filter="plus(in)">
                                      <p:cBhvr>
                                        <p:cTn id="16" dur="500"/>
                                        <p:tgtEl>
                                          <p:spTgt spid="409602">
                                            <p:txEl>
                                              <p:charRg st="59" end="83"/>
                                            </p:txEl>
                                          </p:spTgt>
                                        </p:tgtEl>
                                      </p:cBhvr>
                                    </p:animEffect>
                                  </p:childTnLst>
                                </p:cTn>
                              </p:par>
                              <p:par>
                                <p:cTn id="17" presetID="13" presetClass="entr" presetSubtype="16" fill="hold" nodeType="withEffect">
                                  <p:stCondLst>
                                    <p:cond delay="0"/>
                                  </p:stCondLst>
                                  <p:childTnLst>
                                    <p:set>
                                      <p:cBhvr>
                                        <p:cTn id="18" dur="1" fill="hold">
                                          <p:stCondLst>
                                            <p:cond delay="0"/>
                                          </p:stCondLst>
                                        </p:cTn>
                                        <p:tgtEl>
                                          <p:spTgt spid="409608"/>
                                        </p:tgtEl>
                                        <p:attrNameLst>
                                          <p:attrName>style.visibility</p:attrName>
                                        </p:attrNameLst>
                                      </p:cBhvr>
                                      <p:to>
                                        <p:strVal val="visible"/>
                                      </p:to>
                                    </p:set>
                                    <p:animEffect transition="in" filter="plus(in)">
                                      <p:cBhvr>
                                        <p:cTn id="19" dur="500"/>
                                        <p:tgtEl>
                                          <p:spTgt spid="409608"/>
                                        </p:tgtEl>
                                      </p:cBhvr>
                                    </p:animEffect>
                                  </p:childTnLst>
                                </p:cTn>
                              </p:par>
                              <p:par>
                                <p:cTn id="20" presetID="13" presetClass="entr" presetSubtype="16" fill="hold" nodeType="withEffect">
                                  <p:stCondLst>
                                    <p:cond delay="0"/>
                                  </p:stCondLst>
                                  <p:childTnLst>
                                    <p:set>
                                      <p:cBhvr>
                                        <p:cTn id="21" dur="1" fill="hold">
                                          <p:stCondLst>
                                            <p:cond delay="0"/>
                                          </p:stCondLst>
                                        </p:cTn>
                                        <p:tgtEl>
                                          <p:spTgt spid="409602">
                                            <p:txEl>
                                              <p:charRg st="84" end="122"/>
                                            </p:txEl>
                                          </p:spTgt>
                                        </p:tgtEl>
                                        <p:attrNameLst>
                                          <p:attrName>style.visibility</p:attrName>
                                        </p:attrNameLst>
                                      </p:cBhvr>
                                      <p:to>
                                        <p:strVal val="visible"/>
                                      </p:to>
                                    </p:set>
                                    <p:animEffect transition="in" filter="plus(in)">
                                      <p:cBhvr>
                                        <p:cTn id="22" dur="500"/>
                                        <p:tgtEl>
                                          <p:spTgt spid="409602">
                                            <p:txEl>
                                              <p:charRg st="84" end="122"/>
                                            </p:txEl>
                                          </p:spTgt>
                                        </p:tgtEl>
                                      </p:cBhvr>
                                    </p:animEffect>
                                  </p:childTnLst>
                                </p:cTn>
                              </p:par>
                              <p:par>
                                <p:cTn id="23" presetID="13" presetClass="entr" presetSubtype="16" fill="hold" nodeType="withEffect">
                                  <p:stCondLst>
                                    <p:cond delay="0"/>
                                  </p:stCondLst>
                                  <p:childTnLst>
                                    <p:set>
                                      <p:cBhvr>
                                        <p:cTn id="24" dur="1" fill="hold">
                                          <p:stCondLst>
                                            <p:cond delay="0"/>
                                          </p:stCondLst>
                                        </p:cTn>
                                        <p:tgtEl>
                                          <p:spTgt spid="409609"/>
                                        </p:tgtEl>
                                        <p:attrNameLst>
                                          <p:attrName>style.visibility</p:attrName>
                                        </p:attrNameLst>
                                      </p:cBhvr>
                                      <p:to>
                                        <p:strVal val="visible"/>
                                      </p:to>
                                    </p:set>
                                    <p:animEffect transition="in" filter="plus(in)">
                                      <p:cBhvr>
                                        <p:cTn id="25" dur="500"/>
                                        <p:tgtEl>
                                          <p:spTgt spid="409609"/>
                                        </p:tgtEl>
                                      </p:cBhvr>
                                    </p:animEffect>
                                  </p:childTnLst>
                                </p:cTn>
                              </p:par>
                              <p:par>
                                <p:cTn id="26" presetID="13" presetClass="entr" presetSubtype="16" fill="hold" nodeType="withEffect">
                                  <p:stCondLst>
                                    <p:cond delay="0"/>
                                  </p:stCondLst>
                                  <p:childTnLst>
                                    <p:set>
                                      <p:cBhvr>
                                        <p:cTn id="27" dur="1" fill="hold">
                                          <p:stCondLst>
                                            <p:cond delay="0"/>
                                          </p:stCondLst>
                                        </p:cTn>
                                        <p:tgtEl>
                                          <p:spTgt spid="409602">
                                            <p:txEl>
                                              <p:charRg st="122" end="137"/>
                                            </p:txEl>
                                          </p:spTgt>
                                        </p:tgtEl>
                                        <p:attrNameLst>
                                          <p:attrName>style.visibility</p:attrName>
                                        </p:attrNameLst>
                                      </p:cBhvr>
                                      <p:to>
                                        <p:strVal val="visible"/>
                                      </p:to>
                                    </p:set>
                                    <p:animEffect transition="in" filter="plus(in)">
                                      <p:cBhvr>
                                        <p:cTn id="28" dur="500"/>
                                        <p:tgtEl>
                                          <p:spTgt spid="409602">
                                            <p:txEl>
                                              <p:charRg st="122" end="137"/>
                                            </p:txEl>
                                          </p:spTgt>
                                        </p:tgtEl>
                                      </p:cBhvr>
                                    </p:animEffect>
                                  </p:childTnLst>
                                </p:cTn>
                              </p:par>
                              <p:par>
                                <p:cTn id="29" presetID="13" presetClass="entr" presetSubtype="16" fill="hold" nodeType="withEffect">
                                  <p:stCondLst>
                                    <p:cond delay="0"/>
                                  </p:stCondLst>
                                  <p:childTnLst>
                                    <p:set>
                                      <p:cBhvr>
                                        <p:cTn id="30" dur="1" fill="hold">
                                          <p:stCondLst>
                                            <p:cond delay="0"/>
                                          </p:stCondLst>
                                        </p:cTn>
                                        <p:tgtEl>
                                          <p:spTgt spid="409611"/>
                                        </p:tgtEl>
                                        <p:attrNameLst>
                                          <p:attrName>style.visibility</p:attrName>
                                        </p:attrNameLst>
                                      </p:cBhvr>
                                      <p:to>
                                        <p:strVal val="visible"/>
                                      </p:to>
                                    </p:set>
                                    <p:animEffect transition="in" filter="plus(in)">
                                      <p:cBhvr>
                                        <p:cTn id="31" dur="500"/>
                                        <p:tgtEl>
                                          <p:spTgt spid="409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0626" name="Rectangle 2"/>
          <p:cNvSpPr>
            <a:spLocks noGrp="1"/>
          </p:cNvSpPr>
          <p:nvPr>
            <p:ph idx="1"/>
          </p:nvPr>
        </p:nvSpPr>
        <p:spPr>
          <a:xfrm>
            <a:off x="381000" y="1524000"/>
            <a:ext cx="8229600" cy="4495800"/>
          </a:xfrm>
          <a:ln/>
        </p:spPr>
        <p:txBody>
          <a:bodyPr vert="horz" wrap="square" lIns="91440" tIns="45720" rIns="91440" bIns="45720" anchor="t"/>
          <a:p>
            <a:pPr eaLnBrk="1" hangingPunct="1">
              <a:lnSpc>
                <a:spcPct val="90000"/>
              </a:lnSpc>
              <a:buNone/>
            </a:pPr>
            <a:r>
              <a:rPr lang="en-US" altLang="zh-CN" sz="2400"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由于总的效益要尽量的大，而又要使风险尽量的小，所以通过乘除法建立考虑风险的经济效益修正模型：</a:t>
            </a: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endParaRPr lang="zh-CN" altLang="en-US" sz="2400" b="1">
              <a:solidFill>
                <a:srgbClr val="692AA2"/>
              </a:solidFill>
              <a:latin typeface="仿宋_GB2312" pitchFamily="49" charset="-122"/>
              <a:ea typeface="仿宋_GB2312" pitchFamily="49" charset="-122"/>
            </a:endParaRPr>
          </a:p>
          <a:p>
            <a:pPr eaLnBrk="1" hangingPunct="1">
              <a:lnSpc>
                <a:spcPct val="90000"/>
              </a:lnSpc>
              <a:buNone/>
            </a:pPr>
            <a:r>
              <a:rPr lang="zh-CN" altLang="en-US" sz="2400" b="1">
                <a:solidFill>
                  <a:srgbClr val="692AA2"/>
                </a:solidFill>
                <a:latin typeface="仿宋_GB2312" pitchFamily="49" charset="-122"/>
                <a:ea typeface="仿宋_GB2312" pitchFamily="49" charset="-122"/>
              </a:rPr>
              <a:t>      其中  </a:t>
            </a:r>
            <a:r>
              <a:rPr lang="zh-CN" altLang="en-US" sz="2400" b="1" i="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表示第</a:t>
            </a:r>
            <a:r>
              <a:rPr lang="en-US" altLang="zh-CN" sz="2400" b="1">
                <a:solidFill>
                  <a:srgbClr val="692AA2"/>
                </a:solidFill>
                <a:latin typeface="仿宋_GB2312" pitchFamily="49" charset="-122"/>
                <a:ea typeface="仿宋_GB2312" pitchFamily="49" charset="-122"/>
              </a:rPr>
              <a:t>i</a:t>
            </a:r>
            <a:r>
              <a:rPr lang="zh-CN" altLang="en-US" sz="2400" b="1">
                <a:solidFill>
                  <a:srgbClr val="692AA2"/>
                </a:solidFill>
                <a:latin typeface="仿宋_GB2312" pitchFamily="49" charset="-122"/>
                <a:ea typeface="仿宋_GB2312" pitchFamily="49" charset="-122"/>
              </a:rPr>
              <a:t>个分社所辖课程代码的最小值和最大值。 </a:t>
            </a:r>
            <a:endParaRPr lang="zh-CN" altLang="en-US" sz="2400" b="1">
              <a:solidFill>
                <a:srgbClr val="692AA2"/>
              </a:solidFill>
              <a:latin typeface="仿宋_GB2312" pitchFamily="49" charset="-122"/>
              <a:ea typeface="仿宋_GB2312" pitchFamily="49" charset="-122"/>
            </a:endParaRPr>
          </a:p>
        </p:txBody>
      </p:sp>
      <p:sp>
        <p:nvSpPr>
          <p:cNvPr id="175106" name="Rectangle 3"/>
          <p:cNvSpPr/>
          <p:nvPr/>
        </p:nvSpPr>
        <p:spPr>
          <a:xfrm>
            <a:off x="3460750" y="368935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10628" name="Object 4"/>
          <p:cNvGraphicFramePr>
            <a:graphicFrameLocks noChangeAspect="1"/>
          </p:cNvGraphicFramePr>
          <p:nvPr/>
        </p:nvGraphicFramePr>
        <p:xfrm>
          <a:off x="2895600" y="2286000"/>
          <a:ext cx="2860675" cy="2119313"/>
        </p:xfrm>
        <a:graphic>
          <a:graphicData uri="http://schemas.openxmlformats.org/presentationml/2006/ole">
            <mc:AlternateContent xmlns:mc="http://schemas.openxmlformats.org/markup-compatibility/2006">
              <mc:Choice xmlns:v="urn:schemas-microsoft-com:vml" Requires="v">
                <p:oleObj spid="_x0000_s3210" name="" r:id="rId1" imgW="1841500" imgH="1358900" progId="Equation.DSMT4">
                  <p:embed/>
                </p:oleObj>
              </mc:Choice>
              <mc:Fallback>
                <p:oleObj name="" r:id="rId1" imgW="1841500" imgH="1358900" progId="Equation.DSMT4">
                  <p:embed/>
                  <p:pic>
                    <p:nvPicPr>
                      <p:cNvPr id="0" name="图片 3209"/>
                      <p:cNvPicPr/>
                      <p:nvPr/>
                    </p:nvPicPr>
                    <p:blipFill>
                      <a:blip r:embed="rId2"/>
                      <a:stretch>
                        <a:fillRect/>
                      </a:stretch>
                    </p:blipFill>
                    <p:spPr>
                      <a:xfrm>
                        <a:off x="2895600" y="2286000"/>
                        <a:ext cx="2860675" cy="2119313"/>
                      </a:xfrm>
                      <a:prstGeom prst="rect">
                        <a:avLst/>
                      </a:prstGeom>
                      <a:noFill/>
                      <a:ln w="38100">
                        <a:noFill/>
                        <a:miter/>
                      </a:ln>
                    </p:spPr>
                  </p:pic>
                </p:oleObj>
              </mc:Fallback>
            </mc:AlternateContent>
          </a:graphicData>
        </a:graphic>
      </p:graphicFrame>
      <p:graphicFrame>
        <p:nvGraphicFramePr>
          <p:cNvPr id="410629" name="Object 5"/>
          <p:cNvGraphicFramePr>
            <a:graphicFrameLocks noChangeAspect="1"/>
          </p:cNvGraphicFramePr>
          <p:nvPr/>
        </p:nvGraphicFramePr>
        <p:xfrm>
          <a:off x="2057400" y="4343400"/>
          <a:ext cx="361950" cy="457200"/>
        </p:xfrm>
        <a:graphic>
          <a:graphicData uri="http://schemas.openxmlformats.org/presentationml/2006/ole">
            <mc:AlternateContent xmlns:mc="http://schemas.openxmlformats.org/markup-compatibility/2006">
              <mc:Choice xmlns:v="urn:schemas-microsoft-com:vml" Requires="v">
                <p:oleObj spid="_x0000_s3218" name="" r:id="rId3" imgW="139700" imgH="228600" progId="Equation.DSMT4">
                  <p:embed/>
                </p:oleObj>
              </mc:Choice>
              <mc:Fallback>
                <p:oleObj name="" r:id="rId3" imgW="139700" imgH="228600" progId="Equation.DSMT4">
                  <p:embed/>
                  <p:pic>
                    <p:nvPicPr>
                      <p:cNvPr id="0" name="图片 3217"/>
                      <p:cNvPicPr/>
                      <p:nvPr/>
                    </p:nvPicPr>
                    <p:blipFill>
                      <a:blip r:embed="rId4"/>
                      <a:stretch>
                        <a:fillRect/>
                      </a:stretch>
                    </p:blipFill>
                    <p:spPr>
                      <a:xfrm>
                        <a:off x="2057400" y="4343400"/>
                        <a:ext cx="361950" cy="457200"/>
                      </a:xfrm>
                      <a:prstGeom prst="rect">
                        <a:avLst/>
                      </a:prstGeom>
                      <a:noFill/>
                      <a:ln w="38100">
                        <a:noFill/>
                        <a:miter/>
                      </a:ln>
                    </p:spPr>
                  </p:pic>
                </p:oleObj>
              </mc:Fallback>
            </mc:AlternateContent>
          </a:graphicData>
        </a:graphic>
      </p:graphicFrame>
      <p:graphicFrame>
        <p:nvGraphicFramePr>
          <p:cNvPr id="410630" name="Object 6"/>
          <p:cNvGraphicFramePr>
            <a:graphicFrameLocks noChangeAspect="1"/>
          </p:cNvGraphicFramePr>
          <p:nvPr/>
        </p:nvGraphicFramePr>
        <p:xfrm>
          <a:off x="2590800" y="4343400"/>
          <a:ext cx="304800" cy="457200"/>
        </p:xfrm>
        <a:graphic>
          <a:graphicData uri="http://schemas.openxmlformats.org/presentationml/2006/ole">
            <mc:AlternateContent xmlns:mc="http://schemas.openxmlformats.org/markup-compatibility/2006">
              <mc:Choice xmlns:v="urn:schemas-microsoft-com:vml" Requires="v">
                <p:oleObj spid="_x0000_s3211" name="" r:id="rId5" imgW="152400" imgH="228600" progId="Equation.DSMT4">
                  <p:embed/>
                </p:oleObj>
              </mc:Choice>
              <mc:Fallback>
                <p:oleObj name="" r:id="rId5" imgW="152400" imgH="228600" progId="Equation.DSMT4">
                  <p:embed/>
                  <p:pic>
                    <p:nvPicPr>
                      <p:cNvPr id="0" name="图片 3210"/>
                      <p:cNvPicPr/>
                      <p:nvPr/>
                    </p:nvPicPr>
                    <p:blipFill>
                      <a:blip r:embed="rId6"/>
                      <a:stretch>
                        <a:fillRect/>
                      </a:stretch>
                    </p:blipFill>
                    <p:spPr>
                      <a:xfrm>
                        <a:off x="2590800" y="4343400"/>
                        <a:ext cx="304800" cy="45720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626">
                                            <p:txEl>
                                              <p:charRg st="0" end="53"/>
                                            </p:txEl>
                                          </p:spTgt>
                                        </p:tgtEl>
                                        <p:attrNameLst>
                                          <p:attrName>style.visibility</p:attrName>
                                        </p:attrNameLst>
                                      </p:cBhvr>
                                      <p:to>
                                        <p:strVal val="visible"/>
                                      </p:to>
                                    </p:set>
                                    <p:animEffect transition="in" filter="blinds(horizontal)">
                                      <p:cBhvr>
                                        <p:cTn id="7" dur="500"/>
                                        <p:tgtEl>
                                          <p:spTgt spid="410626">
                                            <p:txEl>
                                              <p:charRg st="0" end="5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0628"/>
                                        </p:tgtEl>
                                        <p:attrNameLst>
                                          <p:attrName>style.visibility</p:attrName>
                                        </p:attrNameLst>
                                      </p:cBhvr>
                                      <p:to>
                                        <p:strVal val="visible"/>
                                      </p:to>
                                    </p:set>
                                    <p:animEffect transition="in" filter="blinds(horizontal)">
                                      <p:cBhvr>
                                        <p:cTn id="10" dur="500"/>
                                        <p:tgtEl>
                                          <p:spTgt spid="410628"/>
                                        </p:tgtEl>
                                      </p:cBhvr>
                                    </p:animEffect>
                                  </p:childTnLst>
                                </p:cTn>
                              </p:par>
                              <p:par>
                                <p:cTn id="11" presetID="3" presetClass="entr" presetSubtype="10" fill="hold" nodeType="withEffect">
                                  <p:stCondLst>
                                    <p:cond delay="0"/>
                                  </p:stCondLst>
                                  <p:childTnLst>
                                    <p:set>
                                      <p:cBhvr>
                                        <p:cTn id="12" dur="1" fill="hold">
                                          <p:stCondLst>
                                            <p:cond delay="0"/>
                                          </p:stCondLst>
                                        </p:cTn>
                                        <p:tgtEl>
                                          <p:spTgt spid="410626">
                                            <p:txEl>
                                              <p:charRg st="59" end="96"/>
                                            </p:txEl>
                                          </p:spTgt>
                                        </p:tgtEl>
                                        <p:attrNameLst>
                                          <p:attrName>style.visibility</p:attrName>
                                        </p:attrNameLst>
                                      </p:cBhvr>
                                      <p:to>
                                        <p:strVal val="visible"/>
                                      </p:to>
                                    </p:set>
                                    <p:animEffect transition="in" filter="blinds(horizontal)">
                                      <p:cBhvr>
                                        <p:cTn id="13" dur="500"/>
                                        <p:tgtEl>
                                          <p:spTgt spid="410626">
                                            <p:txEl>
                                              <p:charRg st="59" end="9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10630"/>
                                        </p:tgtEl>
                                        <p:attrNameLst>
                                          <p:attrName>style.visibility</p:attrName>
                                        </p:attrNameLst>
                                      </p:cBhvr>
                                      <p:to>
                                        <p:strVal val="visible"/>
                                      </p:to>
                                    </p:set>
                                    <p:animEffect transition="in" filter="blinds(horizontal)">
                                      <p:cBhvr>
                                        <p:cTn id="16" dur="500"/>
                                        <p:tgtEl>
                                          <p:spTgt spid="410630"/>
                                        </p:tgtEl>
                                      </p:cBhvr>
                                    </p:animEffect>
                                  </p:childTnLst>
                                </p:cTn>
                              </p:par>
                              <p:par>
                                <p:cTn id="17" presetID="3" presetClass="entr" presetSubtype="10" fill="hold" nodeType="withEffect">
                                  <p:stCondLst>
                                    <p:cond delay="0"/>
                                  </p:stCondLst>
                                  <p:childTnLst>
                                    <p:set>
                                      <p:cBhvr>
                                        <p:cTn id="18" dur="1" fill="hold">
                                          <p:stCondLst>
                                            <p:cond delay="0"/>
                                          </p:stCondLst>
                                        </p:cTn>
                                        <p:tgtEl>
                                          <p:spTgt spid="410629"/>
                                        </p:tgtEl>
                                        <p:attrNameLst>
                                          <p:attrName>style.visibility</p:attrName>
                                        </p:attrNameLst>
                                      </p:cBhvr>
                                      <p:to>
                                        <p:strVal val="visible"/>
                                      </p:to>
                                    </p:set>
                                    <p:animEffect transition="in" filter="blinds(horizontal)">
                                      <p:cBhvr>
                                        <p:cTn id="19" dur="500"/>
                                        <p:tgtEl>
                                          <p:spTgt spid="410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1650" name="Rectangle 2"/>
          <p:cNvSpPr>
            <a:spLocks noGrp="1"/>
          </p:cNvSpPr>
          <p:nvPr>
            <p:ph idx="1"/>
          </p:nvPr>
        </p:nvSpPr>
        <p:spPr>
          <a:xfrm>
            <a:off x="304800" y="1524000"/>
            <a:ext cx="8229600" cy="4495800"/>
          </a:xfrm>
          <a:ln/>
        </p:spPr>
        <p:txBody>
          <a:bodyPr vert="horz" wrap="square" lIns="91440" tIns="45720" rIns="91440" bIns="45720" anchor="t"/>
          <a:p>
            <a:pPr eaLnBrk="1" hangingPunct="1">
              <a:lnSpc>
                <a:spcPct val="120000"/>
              </a:lnSpc>
              <a:buNone/>
            </a:pPr>
            <a:r>
              <a:rPr lang="en-US" altLang="zh-CN" b="1">
                <a:solidFill>
                  <a:srgbClr val="692AA2"/>
                </a:solidFill>
                <a:latin typeface="仿宋_GB2312" pitchFamily="49" charset="-122"/>
                <a:ea typeface="仿宋_GB2312" pitchFamily="49" charset="-122"/>
              </a:rPr>
              <a:t>     </a:t>
            </a:r>
            <a:r>
              <a:rPr lang="zh-CN" altLang="en-US" sz="2400" b="1">
                <a:solidFill>
                  <a:srgbClr val="692AA2"/>
                </a:solidFill>
                <a:latin typeface="仿宋_GB2312" pitchFamily="49" charset="-122"/>
                <a:ea typeface="仿宋_GB2312" pitchFamily="49" charset="-122"/>
              </a:rPr>
              <a:t>由于目标函数中</a:t>
            </a:r>
            <a:r>
              <a:rPr lang="en-US" altLang="zh-CN" sz="2400" b="1">
                <a:solidFill>
                  <a:srgbClr val="692AA2"/>
                </a:solidFill>
                <a:latin typeface="仿宋_GB2312" pitchFamily="49" charset="-122"/>
                <a:ea typeface="仿宋_GB2312" pitchFamily="49" charset="-122"/>
              </a:rPr>
              <a:t>V</a:t>
            </a:r>
            <a:r>
              <a:rPr lang="zh-CN" altLang="en-US" sz="2400" b="1">
                <a:solidFill>
                  <a:srgbClr val="692AA2"/>
                </a:solidFill>
                <a:latin typeface="仿宋_GB2312" pitchFamily="49" charset="-122"/>
                <a:ea typeface="仿宋_GB2312" pitchFamily="49" charset="-122"/>
              </a:rPr>
              <a:t>是决策变量的二次函数，</a:t>
            </a:r>
            <a:r>
              <a:rPr lang="en-US" altLang="zh-CN" sz="2400" b="1">
                <a:solidFill>
                  <a:srgbClr val="692AA2"/>
                </a:solidFill>
                <a:latin typeface="仿宋_GB2312" pitchFamily="49" charset="-122"/>
                <a:ea typeface="仿宋_GB2312" pitchFamily="49" charset="-122"/>
              </a:rPr>
              <a:t>S</a:t>
            </a:r>
            <a:r>
              <a:rPr lang="zh-CN" altLang="en-US" sz="2400" b="1">
                <a:solidFill>
                  <a:srgbClr val="692AA2"/>
                </a:solidFill>
                <a:latin typeface="仿宋_GB2312" pitchFamily="49" charset="-122"/>
                <a:ea typeface="仿宋_GB2312" pitchFamily="49" charset="-122"/>
              </a:rPr>
              <a:t>是一个一次函数，而约束条件是线性的函数，所以这是一个非线性模型。通过</a:t>
            </a:r>
            <a:r>
              <a:rPr lang="en-US" altLang="zh-CN" sz="2400" b="1">
                <a:solidFill>
                  <a:srgbClr val="692AA2"/>
                </a:solidFill>
                <a:latin typeface="仿宋_GB2312" pitchFamily="49" charset="-122"/>
                <a:ea typeface="仿宋_GB2312" pitchFamily="49" charset="-122"/>
              </a:rPr>
              <a:t>lingo</a:t>
            </a:r>
            <a:r>
              <a:rPr lang="zh-CN" altLang="en-US" sz="2400" b="1">
                <a:solidFill>
                  <a:srgbClr val="692AA2"/>
                </a:solidFill>
                <a:latin typeface="仿宋_GB2312" pitchFamily="49" charset="-122"/>
                <a:ea typeface="仿宋_GB2312" pitchFamily="49" charset="-122"/>
              </a:rPr>
              <a:t>软件求解，得到如下资源配置方案：</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得到目标函数值，即考虑风险情况下的，经济效益为          。</a:t>
            </a:r>
            <a:endParaRPr lang="zh-CN" altLang="en-US" sz="2400" b="1">
              <a:solidFill>
                <a:srgbClr val="692AA2"/>
              </a:solidFill>
              <a:latin typeface="仿宋_GB2312" pitchFamily="49" charset="-122"/>
              <a:ea typeface="仿宋_GB2312" pitchFamily="49" charset="-122"/>
            </a:endParaRPr>
          </a:p>
          <a:p>
            <a:pPr eaLnBrk="1" hangingPunct="1">
              <a:lnSpc>
                <a:spcPct val="120000"/>
              </a:lnSpc>
              <a:buNone/>
            </a:pPr>
            <a:r>
              <a:rPr lang="zh-CN" altLang="en-US" sz="2400" b="1">
                <a:solidFill>
                  <a:srgbClr val="692AA2"/>
                </a:solidFill>
                <a:latin typeface="仿宋_GB2312" pitchFamily="49" charset="-122"/>
                <a:ea typeface="仿宋_GB2312" pitchFamily="49" charset="-122"/>
              </a:rPr>
              <a:t>      这个值相对于前面几个模型的总体经济效益值偏小，这是因为为了减少风险，不得不以损失部分经济效益为代价。 </a:t>
            </a:r>
            <a:endParaRPr lang="zh-CN" altLang="en-US" sz="2400" b="1">
              <a:solidFill>
                <a:srgbClr val="692AA2"/>
              </a:solidFill>
              <a:latin typeface="仿宋_GB2312" pitchFamily="49" charset="-122"/>
              <a:ea typeface="仿宋_GB2312" pitchFamily="49" charset="-122"/>
            </a:endParaRPr>
          </a:p>
        </p:txBody>
      </p:sp>
      <p:sp>
        <p:nvSpPr>
          <p:cNvPr id="176130" name="Rectangle 3"/>
          <p:cNvSpPr/>
          <p:nvPr/>
        </p:nvSpPr>
        <p:spPr>
          <a:xfrm>
            <a:off x="2109788" y="39068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411652" name="Object 4"/>
          <p:cNvGraphicFramePr>
            <a:graphicFrameLocks noChangeAspect="1"/>
          </p:cNvGraphicFramePr>
          <p:nvPr/>
        </p:nvGraphicFramePr>
        <p:xfrm>
          <a:off x="1143000" y="3581400"/>
          <a:ext cx="1371600" cy="365125"/>
        </p:xfrm>
        <a:graphic>
          <a:graphicData uri="http://schemas.openxmlformats.org/presentationml/2006/ole">
            <mc:AlternateContent xmlns:mc="http://schemas.openxmlformats.org/markup-compatibility/2006">
              <mc:Choice xmlns:v="urn:schemas-microsoft-com:vml" Requires="v">
                <p:oleObj spid="_x0000_s3223" name="" r:id="rId1" imgW="901065" imgH="228600" progId="Equation.DSMT4">
                  <p:embed/>
                </p:oleObj>
              </mc:Choice>
              <mc:Fallback>
                <p:oleObj name="" r:id="rId1" imgW="901065" imgH="228600" progId="Equation.DSMT4">
                  <p:embed/>
                  <p:pic>
                    <p:nvPicPr>
                      <p:cNvPr id="0" name="图片 3222"/>
                      <p:cNvPicPr/>
                      <p:nvPr/>
                    </p:nvPicPr>
                    <p:blipFill>
                      <a:blip r:embed="rId2"/>
                      <a:stretch>
                        <a:fillRect/>
                      </a:stretch>
                    </p:blipFill>
                    <p:spPr>
                      <a:xfrm>
                        <a:off x="1143000" y="3581400"/>
                        <a:ext cx="1371600" cy="36512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11650">
                                            <p:txEl>
                                              <p:charRg st="0" end="81"/>
                                            </p:txEl>
                                          </p:spTgt>
                                        </p:tgtEl>
                                        <p:attrNameLst>
                                          <p:attrName>style.visibility</p:attrName>
                                        </p:attrNameLst>
                                      </p:cBhvr>
                                      <p:to>
                                        <p:strVal val="visible"/>
                                      </p:to>
                                    </p:set>
                                    <p:animEffect transition="in" filter="diamond(in)">
                                      <p:cBhvr>
                                        <p:cTn id="7" dur="500"/>
                                        <p:tgtEl>
                                          <p:spTgt spid="411650">
                                            <p:txEl>
                                              <p:charRg st="0" end="81"/>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11650">
                                            <p:txEl>
                                              <p:charRg st="81" end="122"/>
                                            </p:txEl>
                                          </p:spTgt>
                                        </p:tgtEl>
                                        <p:attrNameLst>
                                          <p:attrName>style.visibility</p:attrName>
                                        </p:attrNameLst>
                                      </p:cBhvr>
                                      <p:to>
                                        <p:strVal val="visible"/>
                                      </p:to>
                                    </p:set>
                                    <p:animEffect transition="in" filter="diamond(in)">
                                      <p:cBhvr>
                                        <p:cTn id="12" dur="500"/>
                                        <p:tgtEl>
                                          <p:spTgt spid="411650">
                                            <p:txEl>
                                              <p:charRg st="81" end="122"/>
                                            </p:txEl>
                                          </p:spTgt>
                                        </p:tgtEl>
                                      </p:cBhvr>
                                    </p:animEffect>
                                  </p:childTnLst>
                                </p:cTn>
                              </p:par>
                              <p:par>
                                <p:cTn id="13" presetID="8" presetClass="entr" presetSubtype="16" fill="hold" nodeType="withEffect">
                                  <p:stCondLst>
                                    <p:cond delay="0"/>
                                  </p:stCondLst>
                                  <p:childTnLst>
                                    <p:set>
                                      <p:cBhvr>
                                        <p:cTn id="14" dur="1" fill="hold">
                                          <p:stCondLst>
                                            <p:cond delay="0"/>
                                          </p:stCondLst>
                                        </p:cTn>
                                        <p:tgtEl>
                                          <p:spTgt spid="411652"/>
                                        </p:tgtEl>
                                        <p:attrNameLst>
                                          <p:attrName>style.visibility</p:attrName>
                                        </p:attrNameLst>
                                      </p:cBhvr>
                                      <p:to>
                                        <p:strVal val="visible"/>
                                      </p:to>
                                    </p:set>
                                    <p:animEffect transition="in" filter="diamond(in)">
                                      <p:cBhvr>
                                        <p:cTn id="15" dur="500"/>
                                        <p:tgtEl>
                                          <p:spTgt spid="411652"/>
                                        </p:tgtEl>
                                      </p:cBhvr>
                                    </p:animEffect>
                                  </p:childTnLst>
                                </p:cTn>
                              </p:par>
                              <p:par>
                                <p:cTn id="16" presetID="8" presetClass="entr" presetSubtype="16" fill="hold" nodeType="withEffect">
                                  <p:stCondLst>
                                    <p:cond delay="0"/>
                                  </p:stCondLst>
                                  <p:childTnLst>
                                    <p:set>
                                      <p:cBhvr>
                                        <p:cTn id="17" dur="1" fill="hold">
                                          <p:stCondLst>
                                            <p:cond delay="0"/>
                                          </p:stCondLst>
                                        </p:cTn>
                                        <p:tgtEl>
                                          <p:spTgt spid="411650">
                                            <p:txEl>
                                              <p:charRg st="122" end="180"/>
                                            </p:txEl>
                                          </p:spTgt>
                                        </p:tgtEl>
                                        <p:attrNameLst>
                                          <p:attrName>style.visibility</p:attrName>
                                        </p:attrNameLst>
                                      </p:cBhvr>
                                      <p:to>
                                        <p:strVal val="visible"/>
                                      </p:to>
                                    </p:set>
                                    <p:animEffect transition="in" filter="diamond(in)">
                                      <p:cBhvr>
                                        <p:cTn id="18" dur="500"/>
                                        <p:tgtEl>
                                          <p:spTgt spid="411650">
                                            <p:txEl>
                                              <p:charRg st="122" end="1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12674" name="Object 2"/>
          <p:cNvGraphicFramePr>
            <a:graphicFrameLocks noGrp="1" noChangeAspect="1"/>
          </p:cNvGraphicFramePr>
          <p:nvPr>
            <p:ph idx="1"/>
          </p:nvPr>
        </p:nvGraphicFramePr>
        <p:xfrm>
          <a:off x="1676400" y="533400"/>
          <a:ext cx="5867400" cy="5638800"/>
        </p:xfrm>
        <a:graphic>
          <a:graphicData uri="http://schemas.openxmlformats.org/presentationml/2006/ole">
            <mc:AlternateContent xmlns:mc="http://schemas.openxmlformats.org/markup-compatibility/2006">
              <mc:Choice xmlns:v="urn:schemas-microsoft-com:vml" Requires="v">
                <p:oleObj spid="_x0000_s3222" name="" r:id="rId1" imgW="5596255" imgH="8869680" progId="Word.Document.8">
                  <p:embed/>
                </p:oleObj>
              </mc:Choice>
              <mc:Fallback>
                <p:oleObj name="" r:id="rId1" imgW="5596255" imgH="8869680" progId="Word.Document.8">
                  <p:embed/>
                  <p:pic>
                    <p:nvPicPr>
                      <p:cNvPr id="0" name="图片 3221"/>
                      <p:cNvPicPr/>
                      <p:nvPr/>
                    </p:nvPicPr>
                    <p:blipFill>
                      <a:blip r:embed="rId2"/>
                      <a:stretch>
                        <a:fillRect/>
                      </a:stretch>
                    </p:blipFill>
                    <p:spPr>
                      <a:xfrm>
                        <a:off x="1676400" y="533400"/>
                        <a:ext cx="5867400" cy="5638800"/>
                      </a:xfrm>
                      <a:prstGeom prst="rect">
                        <a:avLst/>
                      </a:prstGeom>
                      <a:noFill/>
                      <a:ln w="38100">
                        <a:miter/>
                      </a:ln>
                    </p:spPr>
                  </p:pic>
                </p:oleObj>
              </mc:Fallback>
            </mc:AlternateContent>
          </a:graphicData>
        </a:graphic>
      </p:graphicFrame>
      <p:sp>
        <p:nvSpPr>
          <p:cNvPr id="412675" name="Rectangle 3"/>
          <p:cNvSpPr/>
          <p:nvPr/>
        </p:nvSpPr>
        <p:spPr>
          <a:xfrm>
            <a:off x="2209800" y="6324600"/>
            <a:ext cx="4478338" cy="366713"/>
          </a:xfrm>
          <a:prstGeom prst="rect">
            <a:avLst/>
          </a:prstGeom>
          <a:noFill/>
          <a:ln w="9525">
            <a:noFill/>
          </a:ln>
        </p:spPr>
        <p:txBody>
          <a:bodyPr wrap="none" anchor="ctr">
            <a:spAutoFit/>
          </a:bodyPr>
          <a:p>
            <a:r>
              <a:rPr lang="zh-CN" altLang="en-US" b="1">
                <a:solidFill>
                  <a:srgbClr val="692AA2"/>
                </a:solidFill>
                <a:latin typeface="Arial" panose="020B0604020202020204" pitchFamily="34" charset="0"/>
                <a:ea typeface="宋体" panose="02010600030101010101" pitchFamily="2" charset="-122"/>
              </a:rPr>
              <a:t>表</a:t>
            </a:r>
            <a:r>
              <a:rPr lang="en-US" altLang="zh-CN" b="1">
                <a:solidFill>
                  <a:srgbClr val="692AA2"/>
                </a:solidFill>
                <a:latin typeface="Arial" panose="020B0604020202020204" pitchFamily="34" charset="0"/>
                <a:ea typeface="宋体" panose="02010600030101010101" pitchFamily="2" charset="-122"/>
              </a:rPr>
              <a:t>7.8 </a:t>
            </a:r>
            <a:r>
              <a:rPr lang="zh-CN" altLang="en-US" b="1">
                <a:solidFill>
                  <a:srgbClr val="692AA2"/>
                </a:solidFill>
                <a:latin typeface="Arial" panose="020B0604020202020204" pitchFamily="34" charset="0"/>
                <a:ea typeface="宋体" panose="02010600030101010101" pitchFamily="2" charset="-122"/>
              </a:rPr>
              <a:t>考虑风险和经济效益的资源配置方案</a:t>
            </a:r>
            <a:endParaRPr lang="zh-CN" altLang="en-US" b="1">
              <a:solidFill>
                <a:srgbClr val="692AA2"/>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2675"/>
                                        </p:tgtEl>
                                        <p:attrNameLst>
                                          <p:attrName>style.visibility</p:attrName>
                                        </p:attrNameLst>
                                      </p:cBhvr>
                                      <p:to>
                                        <p:strVal val="visible"/>
                                      </p:to>
                                    </p:set>
                                    <p:animEffect transition="in" filter="blinds(horizontal)">
                                      <p:cBhvr>
                                        <p:cTn id="7" dur="500"/>
                                        <p:tgtEl>
                                          <p:spTgt spid="412675"/>
                                        </p:tgtEl>
                                      </p:cBhvr>
                                    </p:animEffect>
                                  </p:childTnLst>
                                </p:cTn>
                              </p:par>
                              <p:par>
                                <p:cTn id="8" presetID="3" presetClass="entr" presetSubtype="10" fill="hold" nodeType="withEffect">
                                  <p:stCondLst>
                                    <p:cond delay="0"/>
                                  </p:stCondLst>
                                  <p:childTnLst>
                                    <p:set>
                                      <p:cBhvr>
                                        <p:cTn id="9" dur="1" fill="hold">
                                          <p:stCondLst>
                                            <p:cond delay="0"/>
                                          </p:stCondLst>
                                        </p:cTn>
                                        <p:tgtEl>
                                          <p:spTgt spid="412674"/>
                                        </p:tgtEl>
                                        <p:attrNameLst>
                                          <p:attrName>style.visibility</p:attrName>
                                        </p:attrNameLst>
                                      </p:cBhvr>
                                      <p:to>
                                        <p:strVal val="visible"/>
                                      </p:to>
                                    </p:set>
                                    <p:animEffect transition="in" filter="blinds(horizontal)">
                                      <p:cBhvr>
                                        <p:cTn id="10" dur="500"/>
                                        <p:tgtEl>
                                          <p:spTgt spid="412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5"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3698" name="Rectangle 2"/>
          <p:cNvSpPr>
            <a:spLocks noGrp="1"/>
          </p:cNvSpPr>
          <p:nvPr>
            <p:ph idx="1"/>
          </p:nvPr>
        </p:nvSpPr>
        <p:spPr>
          <a:xfrm>
            <a:off x="533400" y="1447800"/>
            <a:ext cx="8229600" cy="4495800"/>
          </a:xfrm>
          <a:ln/>
        </p:spPr>
        <p:txBody>
          <a:bodyPr vert="horz" wrap="square" lIns="91440" tIns="45720" rIns="91440" bIns="45720" anchor="t"/>
          <a:p>
            <a:pPr eaLnBrk="1" hangingPunct="1">
              <a:lnSpc>
                <a:spcPct val="90000"/>
              </a:lnSpc>
              <a:buNone/>
            </a:pPr>
            <a:r>
              <a:rPr lang="en-US" altLang="zh-CN" sz="2000" b="1">
                <a:solidFill>
                  <a:srgbClr val="692AA2"/>
                </a:solidFill>
                <a:latin typeface="仿宋_GB2312" pitchFamily="49" charset="-122"/>
                <a:ea typeface="仿宋_GB2312" pitchFamily="49" charset="-122"/>
              </a:rPr>
              <a:t>   [1] </a:t>
            </a:r>
            <a:r>
              <a:rPr lang="zh-CN" altLang="en-US" sz="2000" b="1">
                <a:solidFill>
                  <a:srgbClr val="692AA2"/>
                </a:solidFill>
                <a:latin typeface="仿宋_GB2312" pitchFamily="49" charset="-122"/>
                <a:ea typeface="仿宋_GB2312" pitchFamily="49" charset="-122"/>
              </a:rPr>
              <a:t>薛嘉庆编，最优化原理与方法（修订本），北京：冶金工业出版社，</a:t>
            </a:r>
            <a:r>
              <a:rPr lang="en-US" altLang="zh-CN" sz="2000" b="1">
                <a:solidFill>
                  <a:srgbClr val="692AA2"/>
                </a:solidFill>
                <a:latin typeface="仿宋_GB2312" pitchFamily="49" charset="-122"/>
                <a:ea typeface="仿宋_GB2312" pitchFamily="49" charset="-122"/>
              </a:rPr>
              <a:t>1983.8</a:t>
            </a:r>
            <a:r>
              <a:rPr lang="zh-CN" altLang="en-US" sz="2000" b="1">
                <a:solidFill>
                  <a:srgbClr val="692AA2"/>
                </a:solidFill>
                <a:latin typeface="仿宋_GB2312" pitchFamily="49" charset="-122"/>
                <a:ea typeface="仿宋_GB2312" pitchFamily="49" charset="-122"/>
              </a:rPr>
              <a:t>；</a:t>
            </a:r>
            <a:endParaRPr lang="zh-CN" altLang="en-US" sz="2000" b="1">
              <a:solidFill>
                <a:srgbClr val="692AA2"/>
              </a:solidFill>
              <a:latin typeface="仿宋_GB2312" pitchFamily="49" charset="-122"/>
              <a:ea typeface="仿宋_GB2312" pitchFamily="49" charset="-122"/>
            </a:endParaRPr>
          </a:p>
          <a:p>
            <a:pPr eaLnBrk="1" hangingPunct="1">
              <a:lnSpc>
                <a:spcPct val="9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[2] </a:t>
            </a:r>
            <a:r>
              <a:rPr lang="zh-CN" altLang="en-US" sz="2000" b="1">
                <a:solidFill>
                  <a:srgbClr val="692AA2"/>
                </a:solidFill>
                <a:latin typeface="仿宋_GB2312" pitchFamily="49" charset="-122"/>
                <a:ea typeface="仿宋_GB2312" pitchFamily="49" charset="-122"/>
              </a:rPr>
              <a:t>李权，关于综合评价方法在岗位工作评估中的应用，</a:t>
            </a:r>
            <a:r>
              <a:rPr lang="en-US" altLang="zh-CN" sz="2000" b="1" u="sng">
                <a:solidFill>
                  <a:srgbClr val="692AA2"/>
                </a:solidFill>
                <a:latin typeface="仿宋_GB2312" pitchFamily="49" charset="-122"/>
                <a:ea typeface="仿宋_GB2312" pitchFamily="49" charset="-122"/>
              </a:rPr>
              <a:t>http://202.2012.208.57/dianjing/news/liquan.doc</a:t>
            </a:r>
            <a:endParaRPr lang="en-US" altLang="zh-CN" sz="2000" b="1">
              <a:solidFill>
                <a:srgbClr val="692AA2"/>
              </a:solidFill>
              <a:latin typeface="仿宋_GB2312" pitchFamily="49" charset="-122"/>
              <a:ea typeface="仿宋_GB2312" pitchFamily="49" charset="-122"/>
            </a:endParaRPr>
          </a:p>
          <a:p>
            <a:pPr eaLnBrk="1" hangingPunct="1">
              <a:lnSpc>
                <a:spcPct val="90000"/>
              </a:lnSpc>
              <a:buNone/>
            </a:pPr>
            <a:r>
              <a:rPr lang="en-US"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2006</a:t>
            </a:r>
            <a:r>
              <a:rPr lang="zh-CN" altLang="en-US" sz="2000" b="1">
                <a:solidFill>
                  <a:srgbClr val="692AA2"/>
                </a:solidFill>
                <a:latin typeface="仿宋_GB2312" pitchFamily="49" charset="-122"/>
                <a:ea typeface="仿宋_GB2312" pitchFamily="49" charset="-122"/>
              </a:rPr>
              <a:t>年</a:t>
            </a:r>
            <a:r>
              <a:rPr lang="en-US" altLang="zh-CN" sz="2000" b="1">
                <a:solidFill>
                  <a:srgbClr val="692AA2"/>
                </a:solidFill>
                <a:latin typeface="仿宋_GB2312" pitchFamily="49" charset="-122"/>
                <a:ea typeface="仿宋_GB2312" pitchFamily="49" charset="-122"/>
              </a:rPr>
              <a:t>9</a:t>
            </a:r>
            <a:r>
              <a:rPr lang="zh-CN" altLang="en-US" sz="2000" b="1">
                <a:solidFill>
                  <a:srgbClr val="692AA2"/>
                </a:solidFill>
                <a:latin typeface="仿宋_GB2312" pitchFamily="49" charset="-122"/>
                <a:ea typeface="仿宋_GB2312" pitchFamily="49" charset="-122"/>
              </a:rPr>
              <a:t>月</a:t>
            </a:r>
            <a:r>
              <a:rPr lang="en-US" altLang="zh-CN" sz="2000" b="1">
                <a:solidFill>
                  <a:srgbClr val="692AA2"/>
                </a:solidFill>
                <a:latin typeface="仿宋_GB2312" pitchFamily="49" charset="-122"/>
                <a:ea typeface="仿宋_GB2312" pitchFamily="49" charset="-122"/>
              </a:rPr>
              <a:t>15</a:t>
            </a:r>
            <a:r>
              <a:rPr lang="zh-CN" altLang="en-US" sz="2000" b="1">
                <a:solidFill>
                  <a:srgbClr val="692AA2"/>
                </a:solidFill>
                <a:latin typeface="仿宋_GB2312" pitchFamily="49" charset="-122"/>
                <a:ea typeface="仿宋_GB2312" pitchFamily="49" charset="-122"/>
              </a:rPr>
              <a:t>日；</a:t>
            </a:r>
            <a:endParaRPr lang="zh-CN" altLang="en-US" sz="2000" b="1">
              <a:solidFill>
                <a:srgbClr val="692AA2"/>
              </a:solidFill>
              <a:latin typeface="仿宋_GB2312" pitchFamily="49" charset="-122"/>
              <a:ea typeface="仿宋_GB2312" pitchFamily="49" charset="-122"/>
            </a:endParaRPr>
          </a:p>
          <a:p>
            <a:pPr eaLnBrk="1" hangingPunct="1">
              <a:lnSpc>
                <a:spcPct val="9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[3] </a:t>
            </a:r>
            <a:r>
              <a:rPr lang="zh-CN" altLang="en-US" sz="2000" b="1">
                <a:solidFill>
                  <a:srgbClr val="692AA2"/>
                </a:solidFill>
                <a:latin typeface="仿宋_GB2312" pitchFamily="49" charset="-122"/>
                <a:ea typeface="仿宋_GB2312" pitchFamily="49" charset="-122"/>
              </a:rPr>
              <a:t>谢金星、薛毅编著，优化建模与</a:t>
            </a:r>
            <a:r>
              <a:rPr lang="en-US" altLang="zh-CN" sz="2000" b="1">
                <a:solidFill>
                  <a:srgbClr val="692AA2"/>
                </a:solidFill>
                <a:latin typeface="仿宋_GB2312" pitchFamily="49" charset="-122"/>
                <a:ea typeface="仿宋_GB2312" pitchFamily="49" charset="-122"/>
              </a:rPr>
              <a:t>lingo/lindo</a:t>
            </a:r>
            <a:r>
              <a:rPr lang="zh-CN" altLang="en-US" sz="2000" b="1">
                <a:solidFill>
                  <a:srgbClr val="692AA2"/>
                </a:solidFill>
                <a:latin typeface="仿宋_GB2312" pitchFamily="49" charset="-122"/>
                <a:ea typeface="仿宋_GB2312" pitchFamily="49" charset="-122"/>
              </a:rPr>
              <a:t>软件，北京：清华大学出版社，</a:t>
            </a:r>
            <a:r>
              <a:rPr lang="en-US" altLang="zh-CN" sz="2000" b="1">
                <a:solidFill>
                  <a:srgbClr val="692AA2"/>
                </a:solidFill>
                <a:latin typeface="仿宋_GB2312" pitchFamily="49" charset="-122"/>
                <a:ea typeface="仿宋_GB2312" pitchFamily="49" charset="-122"/>
              </a:rPr>
              <a:t>2005.7</a:t>
            </a:r>
            <a:r>
              <a:rPr lang="zh-CN" altLang="en-US" sz="2000" b="1">
                <a:solidFill>
                  <a:srgbClr val="692AA2"/>
                </a:solidFill>
                <a:latin typeface="仿宋_GB2312" pitchFamily="49" charset="-122"/>
                <a:ea typeface="仿宋_GB2312" pitchFamily="49" charset="-122"/>
              </a:rPr>
              <a:t>；</a:t>
            </a:r>
            <a:endParaRPr lang="zh-CN" altLang="en-US" sz="2000" b="1">
              <a:solidFill>
                <a:srgbClr val="692AA2"/>
              </a:solidFill>
              <a:latin typeface="仿宋_GB2312" pitchFamily="49" charset="-122"/>
              <a:ea typeface="仿宋_GB2312" pitchFamily="49" charset="-122"/>
            </a:endParaRPr>
          </a:p>
          <a:p>
            <a:pPr eaLnBrk="1" hangingPunct="1">
              <a:lnSpc>
                <a:spcPct val="9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[4] </a:t>
            </a:r>
            <a:r>
              <a:rPr lang="zh-CN" altLang="en-US" sz="2000" b="1">
                <a:solidFill>
                  <a:srgbClr val="692AA2"/>
                </a:solidFill>
                <a:latin typeface="仿宋_GB2312" pitchFamily="49" charset="-122"/>
                <a:ea typeface="仿宋_GB2312" pitchFamily="49" charset="-122"/>
              </a:rPr>
              <a:t>邓聚龙，灰色系统基本方法，武昌：华中理工大学出版社，</a:t>
            </a:r>
            <a:r>
              <a:rPr lang="en-US" altLang="zh-CN" sz="2000" b="1">
                <a:solidFill>
                  <a:srgbClr val="692AA2"/>
                </a:solidFill>
                <a:latin typeface="仿宋_GB2312" pitchFamily="49" charset="-122"/>
                <a:ea typeface="仿宋_GB2312" pitchFamily="49" charset="-122"/>
              </a:rPr>
              <a:t>1987.1</a:t>
            </a:r>
            <a:r>
              <a:rPr lang="zh-CN" altLang="en-US" sz="2000" b="1">
                <a:solidFill>
                  <a:srgbClr val="692AA2"/>
                </a:solidFill>
                <a:latin typeface="仿宋_GB2312" pitchFamily="49" charset="-122"/>
                <a:ea typeface="仿宋_GB2312" pitchFamily="49" charset="-122"/>
              </a:rPr>
              <a:t>；</a:t>
            </a:r>
            <a:endParaRPr lang="zh-CN" altLang="en-US" sz="2000" b="1">
              <a:solidFill>
                <a:srgbClr val="692AA2"/>
              </a:solidFill>
              <a:latin typeface="仿宋_GB2312" pitchFamily="49" charset="-122"/>
              <a:ea typeface="仿宋_GB2312" pitchFamily="49" charset="-122"/>
            </a:endParaRPr>
          </a:p>
          <a:p>
            <a:pPr eaLnBrk="1" hangingPunct="1">
              <a:lnSpc>
                <a:spcPct val="9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[5] </a:t>
            </a:r>
            <a:r>
              <a:rPr lang="zh-CN" altLang="en-US" sz="2000" b="1">
                <a:solidFill>
                  <a:srgbClr val="692AA2"/>
                </a:solidFill>
                <a:latin typeface="仿宋_GB2312" pitchFamily="49" charset="-122"/>
                <a:ea typeface="仿宋_GB2312" pitchFamily="49" charset="-122"/>
              </a:rPr>
              <a:t>徐玖平、胡知能、王  委 编著，运筹学（第二版），科学出版社，</a:t>
            </a:r>
            <a:r>
              <a:rPr lang="en-US" altLang="zh-CN" sz="2000" b="1">
                <a:solidFill>
                  <a:srgbClr val="692AA2"/>
                </a:solidFill>
                <a:latin typeface="仿宋_GB2312" pitchFamily="49" charset="-122"/>
                <a:ea typeface="仿宋_GB2312" pitchFamily="49" charset="-122"/>
              </a:rPr>
              <a:t>2004.5</a:t>
            </a:r>
            <a:r>
              <a:rPr lang="zh-CN" altLang="en-US" sz="2000" b="1">
                <a:solidFill>
                  <a:srgbClr val="692AA2"/>
                </a:solidFill>
                <a:latin typeface="仿宋_GB2312" pitchFamily="49" charset="-122"/>
                <a:ea typeface="仿宋_GB2312" pitchFamily="49" charset="-122"/>
              </a:rPr>
              <a:t>；</a:t>
            </a:r>
            <a:endParaRPr lang="zh-CN" altLang="en-US" sz="2000" b="1">
              <a:solidFill>
                <a:srgbClr val="692AA2"/>
              </a:solidFill>
              <a:latin typeface="仿宋_GB2312" pitchFamily="49" charset="-122"/>
              <a:ea typeface="仿宋_GB2312" pitchFamily="49" charset="-122"/>
            </a:endParaRPr>
          </a:p>
          <a:p>
            <a:pPr eaLnBrk="1" hangingPunct="1">
              <a:lnSpc>
                <a:spcPct val="9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[6] </a:t>
            </a:r>
            <a:r>
              <a:rPr lang="zh-CN" altLang="en-US" sz="2000" b="1">
                <a:solidFill>
                  <a:srgbClr val="692AA2"/>
                </a:solidFill>
                <a:latin typeface="仿宋_GB2312" pitchFamily="49" charset="-122"/>
                <a:ea typeface="仿宋_GB2312" pitchFamily="49" charset="-122"/>
              </a:rPr>
              <a:t>韩旭里编著，数值分析，中南大学出版社，</a:t>
            </a:r>
            <a:r>
              <a:rPr lang="en-US" altLang="zh-CN" sz="2000" b="1">
                <a:solidFill>
                  <a:srgbClr val="692AA2"/>
                </a:solidFill>
                <a:latin typeface="仿宋_GB2312" pitchFamily="49" charset="-122"/>
                <a:ea typeface="仿宋_GB2312" pitchFamily="49" charset="-122"/>
              </a:rPr>
              <a:t>2003.3</a:t>
            </a:r>
            <a:r>
              <a:rPr lang="zh-CN" altLang="en-US" sz="2000" b="1">
                <a:solidFill>
                  <a:srgbClr val="692AA2"/>
                </a:solidFill>
                <a:latin typeface="仿宋_GB2312" pitchFamily="49" charset="-122"/>
                <a:ea typeface="仿宋_GB2312" pitchFamily="49" charset="-122"/>
              </a:rPr>
              <a:t>；</a:t>
            </a:r>
            <a:endParaRPr lang="zh-CN" altLang="en-US" sz="2000" b="1">
              <a:solidFill>
                <a:srgbClr val="692AA2"/>
              </a:solidFill>
              <a:latin typeface="仿宋_GB2312" pitchFamily="49" charset="-122"/>
              <a:ea typeface="仿宋_GB2312" pitchFamily="49" charset="-122"/>
            </a:endParaRPr>
          </a:p>
          <a:p>
            <a:pPr eaLnBrk="1" hangingPunct="1">
              <a:lnSpc>
                <a:spcPct val="90000"/>
              </a:lnSpc>
              <a:buNone/>
            </a:pP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[7] </a:t>
            </a:r>
            <a:r>
              <a:rPr lang="zh-CN" altLang="en-US" sz="2000" b="1">
                <a:solidFill>
                  <a:srgbClr val="692AA2"/>
                </a:solidFill>
                <a:latin typeface="仿宋_GB2312" pitchFamily="49" charset="-122"/>
                <a:ea typeface="仿宋_GB2312" pitchFamily="49" charset="-122"/>
              </a:rPr>
              <a:t>边馥萍、侯文华、梁冯珍 编著，数学模型方法与算法，高等教育出版社，</a:t>
            </a:r>
            <a:r>
              <a:rPr lang="en-US" altLang="zh-CN" sz="2000" b="1">
                <a:solidFill>
                  <a:srgbClr val="692AA2"/>
                </a:solidFill>
                <a:latin typeface="仿宋_GB2312" pitchFamily="49" charset="-122"/>
                <a:ea typeface="仿宋_GB2312" pitchFamily="49" charset="-122"/>
              </a:rPr>
              <a:t>2005.5</a:t>
            </a:r>
            <a:r>
              <a:rPr lang="zh-CN" altLang="en-US" sz="2000" b="1">
                <a:solidFill>
                  <a:srgbClr val="692AA2"/>
                </a:solidFill>
                <a:latin typeface="仿宋_GB2312" pitchFamily="49" charset="-122"/>
                <a:ea typeface="仿宋_GB2312" pitchFamily="49" charset="-122"/>
              </a:rPr>
              <a:t>； </a:t>
            </a:r>
            <a:endParaRPr lang="zh-CN" altLang="en-US" sz="2000" b="1">
              <a:solidFill>
                <a:srgbClr val="692AA2"/>
              </a:solidFill>
              <a:latin typeface="仿宋_GB2312" pitchFamily="49" charset="-122"/>
              <a:ea typeface="仿宋_GB2312" pitchFamily="49" charset="-122"/>
            </a:endParaRPr>
          </a:p>
        </p:txBody>
      </p:sp>
      <p:sp>
        <p:nvSpPr>
          <p:cNvPr id="178178" name="Rectangle 3"/>
          <p:cNvSpPr/>
          <p:nvPr/>
        </p:nvSpPr>
        <p:spPr>
          <a:xfrm>
            <a:off x="762000" y="609600"/>
            <a:ext cx="2819400" cy="365125"/>
          </a:xfrm>
          <a:prstGeom prst="rect">
            <a:avLst/>
          </a:prstGeom>
          <a:noFill/>
          <a:ln w="9525">
            <a:noFill/>
          </a:ln>
        </p:spPr>
        <p:txBody>
          <a:bodyPr lIns="0" tIns="0" rIns="0" bIns="0" anchor="t">
            <a:spAutoFit/>
          </a:bodyPr>
          <a:p>
            <a:pPr marL="342900" indent="-342900">
              <a:spcBef>
                <a:spcPct val="20000"/>
              </a:spcBef>
              <a:buClr>
                <a:schemeClr val="hlink"/>
              </a:buClr>
              <a:buFont typeface="Wingdings" panose="05000000000000000000" pitchFamily="2" charset="2"/>
              <a:buNone/>
            </a:pPr>
            <a:r>
              <a:rPr lang="en-US" altLang="zh-CN" sz="2400" b="1">
                <a:solidFill>
                  <a:srgbClr val="333399"/>
                </a:solidFill>
                <a:latin typeface="宋体" panose="02010600030101010101" pitchFamily="2" charset="-122"/>
                <a:ea typeface="宋体" panose="02010600030101010101" pitchFamily="2" charset="-122"/>
              </a:rPr>
              <a:t>9</a:t>
            </a:r>
            <a:r>
              <a:rPr lang="zh-CN" altLang="en-US" sz="2400" b="1">
                <a:solidFill>
                  <a:srgbClr val="333399"/>
                </a:solidFill>
                <a:latin typeface="宋体" panose="02010600030101010101" pitchFamily="2" charset="-122"/>
                <a:ea typeface="宋体" panose="02010600030101010101" pitchFamily="2" charset="-122"/>
              </a:rPr>
              <a:t>　参考文献</a:t>
            </a:r>
            <a:endParaRPr lang="zh-CN" altLang="en-US" sz="2400" b="1">
              <a:solidFill>
                <a:srgbClr val="3333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3698">
                                            <p:txEl>
                                              <p:charRg st="0" end="45"/>
                                            </p:txEl>
                                          </p:spTgt>
                                        </p:tgtEl>
                                        <p:attrNameLst>
                                          <p:attrName>style.visibility</p:attrName>
                                        </p:attrNameLst>
                                      </p:cBhvr>
                                      <p:to>
                                        <p:strVal val="visible"/>
                                      </p:to>
                                    </p:set>
                                    <p:animEffect transition="in" filter="blinds(horizontal)">
                                      <p:cBhvr>
                                        <p:cTn id="7" dur="500"/>
                                        <p:tgtEl>
                                          <p:spTgt spid="413698">
                                            <p:txEl>
                                              <p:charRg st="0" end="4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3698">
                                            <p:txEl>
                                              <p:charRg st="45" end="123"/>
                                            </p:txEl>
                                          </p:spTgt>
                                        </p:tgtEl>
                                        <p:attrNameLst>
                                          <p:attrName>style.visibility</p:attrName>
                                        </p:attrNameLst>
                                      </p:cBhvr>
                                      <p:to>
                                        <p:strVal val="visible"/>
                                      </p:to>
                                    </p:set>
                                    <p:animEffect transition="in" filter="blinds(horizontal)">
                                      <p:cBhvr>
                                        <p:cTn id="10" dur="500"/>
                                        <p:tgtEl>
                                          <p:spTgt spid="413698">
                                            <p:txEl>
                                              <p:charRg st="45" end="12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3698">
                                            <p:txEl>
                                              <p:charRg st="123" end="139"/>
                                            </p:txEl>
                                          </p:spTgt>
                                        </p:tgtEl>
                                        <p:attrNameLst>
                                          <p:attrName>style.visibility</p:attrName>
                                        </p:attrNameLst>
                                      </p:cBhvr>
                                      <p:to>
                                        <p:strVal val="visible"/>
                                      </p:to>
                                    </p:set>
                                    <p:animEffect transition="in" filter="blinds(horizontal)">
                                      <p:cBhvr>
                                        <p:cTn id="13" dur="500"/>
                                        <p:tgtEl>
                                          <p:spTgt spid="413698">
                                            <p:txEl>
                                              <p:charRg st="123" end="139"/>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13698">
                                            <p:txEl>
                                              <p:charRg st="139" end="193"/>
                                            </p:txEl>
                                          </p:spTgt>
                                        </p:tgtEl>
                                        <p:attrNameLst>
                                          <p:attrName>style.visibility</p:attrName>
                                        </p:attrNameLst>
                                      </p:cBhvr>
                                      <p:to>
                                        <p:strVal val="visible"/>
                                      </p:to>
                                    </p:set>
                                    <p:animEffect transition="in" filter="blinds(horizontal)">
                                      <p:cBhvr>
                                        <p:cTn id="16" dur="500"/>
                                        <p:tgtEl>
                                          <p:spTgt spid="413698">
                                            <p:txEl>
                                              <p:charRg st="139" end="19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13698">
                                            <p:txEl>
                                              <p:charRg st="193" end="234"/>
                                            </p:txEl>
                                          </p:spTgt>
                                        </p:tgtEl>
                                        <p:attrNameLst>
                                          <p:attrName>style.visibility</p:attrName>
                                        </p:attrNameLst>
                                      </p:cBhvr>
                                      <p:to>
                                        <p:strVal val="visible"/>
                                      </p:to>
                                    </p:set>
                                    <p:animEffect transition="in" filter="blinds(horizontal)">
                                      <p:cBhvr>
                                        <p:cTn id="19" dur="500"/>
                                        <p:tgtEl>
                                          <p:spTgt spid="413698">
                                            <p:txEl>
                                              <p:charRg st="193" end="23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13698">
                                            <p:txEl>
                                              <p:charRg st="234" end="280"/>
                                            </p:txEl>
                                          </p:spTgt>
                                        </p:tgtEl>
                                        <p:attrNameLst>
                                          <p:attrName>style.visibility</p:attrName>
                                        </p:attrNameLst>
                                      </p:cBhvr>
                                      <p:to>
                                        <p:strVal val="visible"/>
                                      </p:to>
                                    </p:set>
                                    <p:animEffect transition="in" filter="blinds(horizontal)">
                                      <p:cBhvr>
                                        <p:cTn id="22" dur="500"/>
                                        <p:tgtEl>
                                          <p:spTgt spid="413698">
                                            <p:txEl>
                                              <p:charRg st="234" end="280"/>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13698">
                                            <p:txEl>
                                              <p:charRg st="280" end="314"/>
                                            </p:txEl>
                                          </p:spTgt>
                                        </p:tgtEl>
                                        <p:attrNameLst>
                                          <p:attrName>style.visibility</p:attrName>
                                        </p:attrNameLst>
                                      </p:cBhvr>
                                      <p:to>
                                        <p:strVal val="visible"/>
                                      </p:to>
                                    </p:set>
                                    <p:animEffect transition="in" filter="blinds(horizontal)">
                                      <p:cBhvr>
                                        <p:cTn id="25" dur="500"/>
                                        <p:tgtEl>
                                          <p:spTgt spid="413698">
                                            <p:txEl>
                                              <p:charRg st="280" end="31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13698">
                                            <p:txEl>
                                              <p:charRg st="314" end="363"/>
                                            </p:txEl>
                                          </p:spTgt>
                                        </p:tgtEl>
                                        <p:attrNameLst>
                                          <p:attrName>style.visibility</p:attrName>
                                        </p:attrNameLst>
                                      </p:cBhvr>
                                      <p:to>
                                        <p:strVal val="visible"/>
                                      </p:to>
                                    </p:set>
                                    <p:animEffect transition="in" filter="blinds(horizontal)">
                                      <p:cBhvr>
                                        <p:cTn id="28" dur="500"/>
                                        <p:tgtEl>
                                          <p:spTgt spid="413698">
                                            <p:txEl>
                                              <p:charRg st="314" end="3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0578" name="Rectangle 2"/>
          <p:cNvSpPr>
            <a:spLocks noGrp="1"/>
          </p:cNvSpPr>
          <p:nvPr>
            <p:ph type="title"/>
          </p:nvPr>
        </p:nvSpPr>
        <p:spPr>
          <a:xfrm>
            <a:off x="457200" y="457200"/>
            <a:ext cx="8305800" cy="563563"/>
          </a:xfrm>
          <a:ln/>
        </p:spPr>
        <p:txBody>
          <a:bodyPr vert="horz" wrap="square" lIns="91440" tIns="45720" rIns="91440" bIns="45720" anchor="b"/>
          <a:p>
            <a:pPr eaLnBrk="1" hangingPunct="1"/>
            <a:r>
              <a:rPr lang="en-US" altLang="zh-CN" sz="2400">
                <a:solidFill>
                  <a:srgbClr val="01016F"/>
                </a:solidFill>
              </a:rPr>
              <a:t> </a:t>
            </a:r>
            <a:r>
              <a:rPr lang="zh-CN" altLang="en-US">
                <a:solidFill>
                  <a:schemeClr val="accent2"/>
                </a:solidFill>
              </a:rPr>
              <a:t>选讲二：长江水质的综合评价</a:t>
            </a:r>
            <a:r>
              <a:rPr lang="en-US" altLang="zh-CN" sz="1600">
                <a:solidFill>
                  <a:schemeClr val="accent2"/>
                </a:solidFill>
                <a:latin typeface="Arial" panose="020B0604020202020204" pitchFamily="34" charset="0"/>
              </a:rPr>
              <a:t>———</a:t>
            </a:r>
            <a:r>
              <a:rPr lang="zh-CN" altLang="en-US" sz="1600">
                <a:solidFill>
                  <a:schemeClr val="accent2"/>
                </a:solidFill>
              </a:rPr>
              <a:t>综合评价方法及其应用</a:t>
            </a:r>
            <a:endParaRPr lang="zh-CN" altLang="en-US" sz="1600">
              <a:solidFill>
                <a:schemeClr val="accent2"/>
              </a:solidFill>
            </a:endParaRPr>
          </a:p>
        </p:txBody>
      </p:sp>
      <p:grpSp>
        <p:nvGrpSpPr>
          <p:cNvPr id="2" name="Group 3"/>
          <p:cNvGrpSpPr/>
          <p:nvPr/>
        </p:nvGrpSpPr>
        <p:grpSpPr>
          <a:xfrm>
            <a:off x="1828800" y="1620838"/>
            <a:ext cx="762000" cy="665162"/>
            <a:chOff x="1110" y="2656"/>
            <a:chExt cx="1549" cy="1351"/>
          </a:xfrm>
        </p:grpSpPr>
        <p:sp>
          <p:nvSpPr>
            <p:cNvPr id="179203"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p>
              <a:endParaRPr lang="zh-CN" altLang="en-US">
                <a:latin typeface="Arial" panose="020B0604020202020204" pitchFamily="34" charset="0"/>
                <a:ea typeface="宋体" panose="02010600030101010101" pitchFamily="2" charset="-122"/>
              </a:endParaRPr>
            </a:p>
          </p:txBody>
        </p:sp>
        <p:sp>
          <p:nvSpPr>
            <p:cNvPr id="179204"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79205" name="AutoShape 6"/>
            <p:cNvSpPr/>
            <p:nvPr/>
          </p:nvSpPr>
          <p:spPr>
            <a:xfrm>
              <a:off x="1200" y="2737"/>
              <a:ext cx="1349" cy="1167"/>
            </a:xfrm>
            <a:prstGeom prst="hexagon">
              <a:avLst>
                <a:gd name="adj" fmla="val 28893"/>
                <a:gd name="vf" fmla="val 115470"/>
              </a:avLst>
            </a:prstGeom>
            <a:gradFill rotWithShape="1">
              <a:gsLst>
                <a:gs pos="0">
                  <a:srgbClr val="00182F"/>
                </a:gs>
                <a:gs pos="100000">
                  <a:schemeClr val="folHlink"/>
                </a:gs>
              </a:gsLst>
              <a:lin ang="2700000" scaled="1"/>
              <a:tileRect/>
            </a:gradFill>
            <a:ln w="9525" cap="flat" cmpd="sng">
              <a:solidFill>
                <a:schemeClr val="tx1"/>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grpSp>
      <p:grpSp>
        <p:nvGrpSpPr>
          <p:cNvPr id="3" name="Group 7"/>
          <p:cNvGrpSpPr/>
          <p:nvPr/>
        </p:nvGrpSpPr>
        <p:grpSpPr>
          <a:xfrm>
            <a:off x="1828800" y="2382838"/>
            <a:ext cx="762000" cy="665162"/>
            <a:chOff x="3174" y="2656"/>
            <a:chExt cx="1549" cy="1351"/>
          </a:xfrm>
        </p:grpSpPr>
        <p:sp>
          <p:nvSpPr>
            <p:cNvPr id="17920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p>
              <a:endParaRPr lang="zh-CN" altLang="en-US">
                <a:latin typeface="Arial" panose="020B0604020202020204" pitchFamily="34" charset="0"/>
                <a:ea typeface="宋体" panose="02010600030101010101" pitchFamily="2" charset="-122"/>
              </a:endParaRPr>
            </a:p>
          </p:txBody>
        </p:sp>
        <p:sp>
          <p:nvSpPr>
            <p:cNvPr id="17920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79209" name="AutoShape 10"/>
            <p:cNvSpPr/>
            <p:nvPr/>
          </p:nvSpPr>
          <p:spPr>
            <a:xfrm>
              <a:off x="3264" y="2737"/>
              <a:ext cx="1349" cy="1167"/>
            </a:xfrm>
            <a:prstGeom prst="hexagon">
              <a:avLst>
                <a:gd name="adj" fmla="val 28893"/>
                <a:gd name="vf" fmla="val 115470"/>
              </a:avLst>
            </a:prstGeom>
            <a:gradFill rotWithShape="1">
              <a:gsLst>
                <a:gs pos="0">
                  <a:srgbClr val="4B5259"/>
                </a:gs>
                <a:gs pos="100000">
                  <a:schemeClr val="accent1"/>
                </a:gs>
              </a:gsLst>
              <a:lin ang="2700000" scaled="1"/>
              <a:tileRect/>
            </a:gradFill>
            <a:ln w="9525" cap="flat" cmpd="sng">
              <a:solidFill>
                <a:schemeClr val="tx1"/>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grpSp>
      <p:sp>
        <p:nvSpPr>
          <p:cNvPr id="280587" name="Line 11"/>
          <p:cNvSpPr/>
          <p:nvPr/>
        </p:nvSpPr>
        <p:spPr>
          <a:xfrm>
            <a:off x="2590800" y="2230438"/>
            <a:ext cx="4800600" cy="0"/>
          </a:xfrm>
          <a:prstGeom prst="line">
            <a:avLst/>
          </a:prstGeom>
          <a:ln w="25400" cap="flat" cmpd="sng">
            <a:solidFill>
              <a:srgbClr val="C0C0C0"/>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280588" name="Text Box 12"/>
          <p:cNvSpPr txBox="1"/>
          <p:nvPr/>
        </p:nvSpPr>
        <p:spPr>
          <a:xfrm>
            <a:off x="2590800" y="1697038"/>
            <a:ext cx="4495800" cy="457200"/>
          </a:xfrm>
          <a:prstGeom prst="rect">
            <a:avLst/>
          </a:prstGeom>
          <a:noFill/>
          <a:ln w="9525">
            <a:noFill/>
          </a:ln>
        </p:spPr>
        <p:txBody>
          <a:bodyPr anchor="t">
            <a:spAutoFit/>
          </a:bodyPr>
          <a:p>
            <a:pPr algn="ctr" eaLnBrk="0" hangingPunct="0"/>
            <a:r>
              <a:rPr lang="zh-CN" altLang="en-US" sz="2400" b="1">
                <a:solidFill>
                  <a:srgbClr val="692AA2"/>
                </a:solidFill>
                <a:latin typeface="Arial" panose="020B0604020202020204" pitchFamily="34" charset="0"/>
                <a:ea typeface="宋体" panose="02010600030101010101" pitchFamily="2" charset="-122"/>
              </a:rPr>
              <a:t>长江水质的综合评价模型</a:t>
            </a:r>
            <a:endParaRPr lang="zh-CN" altLang="en-US" sz="2400" b="1">
              <a:solidFill>
                <a:srgbClr val="692AA2"/>
              </a:solidFill>
              <a:latin typeface="Arial" panose="020B0604020202020204" pitchFamily="34" charset="0"/>
              <a:ea typeface="宋体" panose="02010600030101010101" pitchFamily="2" charset="-122"/>
            </a:endParaRPr>
          </a:p>
        </p:txBody>
      </p:sp>
      <p:sp>
        <p:nvSpPr>
          <p:cNvPr id="280589" name="Text Box 13"/>
          <p:cNvSpPr txBox="1"/>
          <p:nvPr/>
        </p:nvSpPr>
        <p:spPr>
          <a:xfrm>
            <a:off x="2057400" y="1697038"/>
            <a:ext cx="354013" cy="457200"/>
          </a:xfrm>
          <a:prstGeom prst="rect">
            <a:avLst/>
          </a:prstGeom>
          <a:noFill/>
          <a:ln w="9525">
            <a:noFill/>
          </a:ln>
        </p:spPr>
        <p:txBody>
          <a:bodyPr wrap="none" anchor="t">
            <a:spAutoFit/>
          </a:bodyPr>
          <a:p>
            <a:pPr algn="ctr" eaLnBrk="0" hangingPunct="0"/>
            <a:r>
              <a:rPr lang="en-US" altLang="zh-CN" sz="2400" b="1">
                <a:solidFill>
                  <a:schemeClr val="bg1"/>
                </a:solidFill>
                <a:latin typeface="Arial" panose="020B0604020202020204" pitchFamily="34" charset="0"/>
                <a:ea typeface="宋体" panose="02010600030101010101" pitchFamily="2" charset="-122"/>
              </a:rPr>
              <a:t>1</a:t>
            </a:r>
            <a:endParaRPr lang="en-US" altLang="zh-CN" sz="2400" b="1">
              <a:solidFill>
                <a:schemeClr val="bg1"/>
              </a:solidFill>
              <a:latin typeface="Arial" panose="020B0604020202020204" pitchFamily="34" charset="0"/>
              <a:ea typeface="宋体" panose="02010600030101010101" pitchFamily="2" charset="-122"/>
            </a:endParaRPr>
          </a:p>
        </p:txBody>
      </p:sp>
      <p:sp>
        <p:nvSpPr>
          <p:cNvPr id="280590" name="Line 14"/>
          <p:cNvSpPr/>
          <p:nvPr/>
        </p:nvSpPr>
        <p:spPr>
          <a:xfrm>
            <a:off x="2590800" y="3068638"/>
            <a:ext cx="4800600" cy="0"/>
          </a:xfrm>
          <a:prstGeom prst="line">
            <a:avLst/>
          </a:prstGeom>
          <a:ln w="25400" cap="flat" cmpd="sng">
            <a:solidFill>
              <a:srgbClr val="C0C0C0"/>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280591" name="Text Box 15"/>
          <p:cNvSpPr txBox="1"/>
          <p:nvPr/>
        </p:nvSpPr>
        <p:spPr>
          <a:xfrm>
            <a:off x="2438400" y="2459038"/>
            <a:ext cx="4495800" cy="457200"/>
          </a:xfrm>
          <a:prstGeom prst="rect">
            <a:avLst/>
          </a:prstGeom>
          <a:noFill/>
          <a:ln w="9525">
            <a:noFill/>
          </a:ln>
        </p:spPr>
        <p:txBody>
          <a:bodyPr anchor="t">
            <a:spAutoFit/>
          </a:bodyPr>
          <a:p>
            <a:pPr algn="ctr" eaLnBrk="0" hangingPunct="0"/>
            <a:r>
              <a:rPr lang="en-US" altLang="zh-CN" sz="2400" b="1">
                <a:solidFill>
                  <a:srgbClr val="692AA2"/>
                </a:solidFill>
                <a:latin typeface="Arial" panose="020B0604020202020204" pitchFamily="34" charset="0"/>
                <a:ea typeface="宋体" panose="02010600030101010101" pitchFamily="2" charset="-122"/>
              </a:rPr>
              <a:t>    </a:t>
            </a:r>
            <a:r>
              <a:rPr lang="zh-CN" altLang="en-US" sz="2400" b="1">
                <a:solidFill>
                  <a:srgbClr val="692AA2"/>
                </a:solidFill>
                <a:latin typeface="Arial" panose="020B0604020202020204" pitchFamily="34" charset="0"/>
                <a:ea typeface="宋体" panose="02010600030101010101" pitchFamily="2" charset="-122"/>
              </a:rPr>
              <a:t>综合评价方法的基本概念</a:t>
            </a:r>
            <a:endParaRPr lang="zh-CN" altLang="en-US" sz="2400" b="1">
              <a:solidFill>
                <a:srgbClr val="692AA2"/>
              </a:solidFill>
              <a:latin typeface="Arial" panose="020B0604020202020204" pitchFamily="34" charset="0"/>
              <a:ea typeface="宋体" panose="02010600030101010101" pitchFamily="2" charset="-122"/>
            </a:endParaRPr>
          </a:p>
        </p:txBody>
      </p:sp>
      <p:sp>
        <p:nvSpPr>
          <p:cNvPr id="280592" name="Text Box 16"/>
          <p:cNvSpPr txBox="1"/>
          <p:nvPr/>
        </p:nvSpPr>
        <p:spPr>
          <a:xfrm>
            <a:off x="2057400" y="2459038"/>
            <a:ext cx="354013" cy="457200"/>
          </a:xfrm>
          <a:prstGeom prst="rect">
            <a:avLst/>
          </a:prstGeom>
          <a:noFill/>
          <a:ln w="9525">
            <a:noFill/>
          </a:ln>
        </p:spPr>
        <p:txBody>
          <a:bodyPr wrap="none" anchor="t">
            <a:spAutoFit/>
          </a:bodyPr>
          <a:p>
            <a:pPr algn="ctr" eaLnBrk="0" hangingPunct="0"/>
            <a:r>
              <a:rPr lang="en-US" altLang="zh-CN" sz="2400" b="1">
                <a:solidFill>
                  <a:schemeClr val="bg1"/>
                </a:solidFill>
                <a:latin typeface="Arial" panose="020B0604020202020204" pitchFamily="34" charset="0"/>
                <a:ea typeface="宋体" panose="02010600030101010101" pitchFamily="2" charset="-122"/>
              </a:rPr>
              <a:t>2</a:t>
            </a:r>
            <a:endParaRPr lang="en-US" altLang="zh-CN" sz="2400" b="1">
              <a:solidFill>
                <a:schemeClr val="bg1"/>
              </a:solidFill>
              <a:latin typeface="Arial" panose="020B0604020202020204" pitchFamily="34" charset="0"/>
              <a:ea typeface="宋体" panose="02010600030101010101" pitchFamily="2" charset="-122"/>
            </a:endParaRPr>
          </a:p>
        </p:txBody>
      </p:sp>
      <p:grpSp>
        <p:nvGrpSpPr>
          <p:cNvPr id="4" name="Group 21"/>
          <p:cNvGrpSpPr/>
          <p:nvPr/>
        </p:nvGrpSpPr>
        <p:grpSpPr>
          <a:xfrm>
            <a:off x="1828800" y="3200400"/>
            <a:ext cx="762000" cy="665163"/>
            <a:chOff x="3174" y="2656"/>
            <a:chExt cx="1549" cy="1351"/>
          </a:xfrm>
        </p:grpSpPr>
        <p:sp>
          <p:nvSpPr>
            <p:cNvPr id="179217" name="AutoShape 22"/>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p>
              <a:endParaRPr lang="zh-CN" altLang="en-US">
                <a:latin typeface="Arial" panose="020B0604020202020204" pitchFamily="34" charset="0"/>
                <a:ea typeface="宋体" panose="02010600030101010101" pitchFamily="2" charset="-122"/>
              </a:endParaRPr>
            </a:p>
          </p:txBody>
        </p:sp>
        <p:sp>
          <p:nvSpPr>
            <p:cNvPr id="179218" name="AutoShape 23"/>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79219" name="AutoShape 24"/>
            <p:cNvSpPr/>
            <p:nvPr/>
          </p:nvSpPr>
          <p:spPr>
            <a:xfrm>
              <a:off x="3264" y="2737"/>
              <a:ext cx="1349" cy="1167"/>
            </a:xfrm>
            <a:prstGeom prst="hexagon">
              <a:avLst>
                <a:gd name="adj" fmla="val 28893"/>
                <a:gd name="vf" fmla="val 115470"/>
              </a:avLst>
            </a:prstGeom>
            <a:gradFill rotWithShape="1">
              <a:gsLst>
                <a:gs pos="0">
                  <a:srgbClr val="4B5259"/>
                </a:gs>
                <a:gs pos="100000">
                  <a:schemeClr val="accent1"/>
                </a:gs>
              </a:gsLst>
              <a:lin ang="2700000" scaled="1"/>
              <a:tileRect/>
            </a:gradFill>
            <a:ln w="9525" cap="flat" cmpd="sng">
              <a:solidFill>
                <a:schemeClr val="tx1"/>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grpSp>
      <p:sp>
        <p:nvSpPr>
          <p:cNvPr id="280604" name="Line 28"/>
          <p:cNvSpPr/>
          <p:nvPr/>
        </p:nvSpPr>
        <p:spPr>
          <a:xfrm>
            <a:off x="2590800" y="3810000"/>
            <a:ext cx="4800600" cy="0"/>
          </a:xfrm>
          <a:prstGeom prst="line">
            <a:avLst/>
          </a:prstGeom>
          <a:ln w="25400" cap="flat" cmpd="sng">
            <a:solidFill>
              <a:srgbClr val="C0C0C0"/>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280605" name="Text Box 29"/>
          <p:cNvSpPr txBox="1"/>
          <p:nvPr/>
        </p:nvSpPr>
        <p:spPr>
          <a:xfrm>
            <a:off x="2057400" y="3276600"/>
            <a:ext cx="354013" cy="457200"/>
          </a:xfrm>
          <a:prstGeom prst="rect">
            <a:avLst/>
          </a:prstGeom>
          <a:noFill/>
          <a:ln w="9525">
            <a:noFill/>
          </a:ln>
        </p:spPr>
        <p:txBody>
          <a:bodyPr wrap="none" anchor="t">
            <a:spAutoFit/>
          </a:bodyPr>
          <a:p>
            <a:pPr algn="ctr" eaLnBrk="0" hangingPunct="0"/>
            <a:r>
              <a:rPr lang="en-US" altLang="zh-CN" sz="2400" b="1">
                <a:solidFill>
                  <a:schemeClr val="bg1"/>
                </a:solidFill>
                <a:latin typeface="Arial" panose="020B0604020202020204" pitchFamily="34" charset="0"/>
                <a:ea typeface="宋体" panose="02010600030101010101" pitchFamily="2" charset="-122"/>
              </a:rPr>
              <a:t>3</a:t>
            </a:r>
            <a:endParaRPr lang="en-US" altLang="zh-CN" sz="2400" b="1">
              <a:solidFill>
                <a:schemeClr val="bg1"/>
              </a:solidFill>
              <a:latin typeface="Arial" panose="020B0604020202020204" pitchFamily="34" charset="0"/>
              <a:ea typeface="宋体" panose="02010600030101010101" pitchFamily="2" charset="-122"/>
            </a:endParaRPr>
          </a:p>
        </p:txBody>
      </p:sp>
      <p:grpSp>
        <p:nvGrpSpPr>
          <p:cNvPr id="5" name="Group 30"/>
          <p:cNvGrpSpPr/>
          <p:nvPr/>
        </p:nvGrpSpPr>
        <p:grpSpPr>
          <a:xfrm>
            <a:off x="1828800" y="4038600"/>
            <a:ext cx="762000" cy="665163"/>
            <a:chOff x="1110" y="2656"/>
            <a:chExt cx="1549" cy="1351"/>
          </a:xfrm>
        </p:grpSpPr>
        <p:sp>
          <p:nvSpPr>
            <p:cNvPr id="179223" name="AutoShape 31"/>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p>
              <a:endParaRPr lang="zh-CN" altLang="en-US">
                <a:latin typeface="Arial" panose="020B0604020202020204" pitchFamily="34" charset="0"/>
                <a:ea typeface="宋体" panose="02010600030101010101" pitchFamily="2" charset="-122"/>
              </a:endParaRPr>
            </a:p>
          </p:txBody>
        </p:sp>
        <p:sp>
          <p:nvSpPr>
            <p:cNvPr id="179224" name="AutoShape 32"/>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179225" name="AutoShape 33"/>
            <p:cNvSpPr/>
            <p:nvPr/>
          </p:nvSpPr>
          <p:spPr>
            <a:xfrm>
              <a:off x="1200" y="2737"/>
              <a:ext cx="1349" cy="1167"/>
            </a:xfrm>
            <a:prstGeom prst="hexagon">
              <a:avLst>
                <a:gd name="adj" fmla="val 28893"/>
                <a:gd name="vf" fmla="val 115470"/>
              </a:avLst>
            </a:prstGeom>
            <a:gradFill rotWithShape="1">
              <a:gsLst>
                <a:gs pos="0">
                  <a:srgbClr val="00182F"/>
                </a:gs>
                <a:gs pos="100000">
                  <a:schemeClr val="folHlink"/>
                </a:gs>
              </a:gsLst>
              <a:lin ang="2700000" scaled="1"/>
              <a:tileRect/>
            </a:gradFill>
            <a:ln w="9525" cap="flat" cmpd="sng">
              <a:solidFill>
                <a:schemeClr val="tx1"/>
              </a:solidFill>
              <a:prstDash val="solid"/>
              <a:miter/>
              <a:headEnd type="none" w="med" len="med"/>
              <a:tailEnd type="none" w="med" len="med"/>
            </a:ln>
          </p:spPr>
          <p:txBody>
            <a:bodyPr wrap="none" anchor="ctr"/>
            <a:p>
              <a:endParaRPr lang="zh-CN" altLang="en-US">
                <a:latin typeface="Arial" panose="020B0604020202020204" pitchFamily="34" charset="0"/>
                <a:ea typeface="宋体" panose="02010600030101010101" pitchFamily="2" charset="-122"/>
              </a:endParaRPr>
            </a:p>
          </p:txBody>
        </p:sp>
      </p:grpSp>
      <p:sp>
        <p:nvSpPr>
          <p:cNvPr id="280610" name="Text Box 34"/>
          <p:cNvSpPr txBox="1"/>
          <p:nvPr/>
        </p:nvSpPr>
        <p:spPr>
          <a:xfrm>
            <a:off x="2057400" y="4114800"/>
            <a:ext cx="354013" cy="457200"/>
          </a:xfrm>
          <a:prstGeom prst="rect">
            <a:avLst/>
          </a:prstGeom>
          <a:noFill/>
          <a:ln w="9525">
            <a:noFill/>
          </a:ln>
        </p:spPr>
        <p:txBody>
          <a:bodyPr wrap="none" anchor="t">
            <a:spAutoFit/>
          </a:bodyPr>
          <a:p>
            <a:pPr algn="ctr"/>
            <a:r>
              <a:rPr lang="en-US" altLang="zh-CN" sz="2400" b="1">
                <a:solidFill>
                  <a:schemeClr val="bg1"/>
                </a:solidFill>
                <a:latin typeface="Arial" panose="020B0604020202020204" pitchFamily="34" charset="0"/>
                <a:ea typeface="宋体" panose="02010600030101010101" pitchFamily="2" charset="-122"/>
              </a:rPr>
              <a:t>4</a:t>
            </a:r>
            <a:endParaRPr lang="en-US" altLang="zh-CN">
              <a:latin typeface="Arial" panose="020B0604020202020204" pitchFamily="34" charset="0"/>
              <a:ea typeface="宋体" panose="02010600030101010101" pitchFamily="2" charset="-122"/>
            </a:endParaRPr>
          </a:p>
        </p:txBody>
      </p:sp>
      <p:sp>
        <p:nvSpPr>
          <p:cNvPr id="280611" name="Text Box 35"/>
          <p:cNvSpPr txBox="1"/>
          <p:nvPr/>
        </p:nvSpPr>
        <p:spPr>
          <a:xfrm>
            <a:off x="1981200" y="4627563"/>
            <a:ext cx="354013" cy="457200"/>
          </a:xfrm>
          <a:prstGeom prst="rect">
            <a:avLst/>
          </a:prstGeom>
          <a:noFill/>
          <a:ln w="9525">
            <a:noFill/>
          </a:ln>
        </p:spPr>
        <p:txBody>
          <a:bodyPr wrap="none" anchor="t">
            <a:spAutoFit/>
          </a:bodyPr>
          <a:p>
            <a:pPr algn="ctr"/>
            <a:r>
              <a:rPr lang="en-US" altLang="zh-CN" sz="2400" b="1">
                <a:solidFill>
                  <a:schemeClr val="bg1"/>
                </a:solidFill>
                <a:latin typeface="Arial" panose="020B0604020202020204" pitchFamily="34" charset="0"/>
                <a:ea typeface="宋体" panose="02010600030101010101" pitchFamily="2" charset="-122"/>
              </a:rPr>
              <a:t>6</a:t>
            </a:r>
            <a:endParaRPr lang="en-US" altLang="zh-CN">
              <a:latin typeface="Arial" panose="020B0604020202020204" pitchFamily="34" charset="0"/>
              <a:ea typeface="宋体" panose="02010600030101010101" pitchFamily="2" charset="-122"/>
            </a:endParaRPr>
          </a:p>
        </p:txBody>
      </p:sp>
      <p:sp>
        <p:nvSpPr>
          <p:cNvPr id="280612" name="Line 36"/>
          <p:cNvSpPr/>
          <p:nvPr/>
        </p:nvSpPr>
        <p:spPr>
          <a:xfrm>
            <a:off x="2590800" y="4648200"/>
            <a:ext cx="4800600" cy="0"/>
          </a:xfrm>
          <a:prstGeom prst="line">
            <a:avLst/>
          </a:prstGeom>
          <a:ln w="25400" cap="flat" cmpd="sng">
            <a:solidFill>
              <a:srgbClr val="C0C0C0"/>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280613" name="Text Box 37"/>
          <p:cNvSpPr txBox="1"/>
          <p:nvPr/>
        </p:nvSpPr>
        <p:spPr>
          <a:xfrm>
            <a:off x="2590800" y="4038600"/>
            <a:ext cx="4495800" cy="457200"/>
          </a:xfrm>
          <a:prstGeom prst="rect">
            <a:avLst/>
          </a:prstGeom>
          <a:noFill/>
          <a:ln w="9525">
            <a:noFill/>
          </a:ln>
        </p:spPr>
        <p:txBody>
          <a:bodyPr anchor="t">
            <a:spAutoFit/>
          </a:bodyPr>
          <a:p>
            <a:r>
              <a:rPr lang="en-US" altLang="zh-CN" sz="2400" b="1">
                <a:solidFill>
                  <a:srgbClr val="692AA2"/>
                </a:solidFill>
                <a:latin typeface="Arial" panose="020B0604020202020204" pitchFamily="34" charset="0"/>
                <a:ea typeface="宋体" panose="02010600030101010101" pitchFamily="2" charset="-122"/>
              </a:rPr>
              <a:t>      </a:t>
            </a:r>
            <a:r>
              <a:rPr lang="zh-CN" altLang="en-US" sz="2400" b="1">
                <a:solidFill>
                  <a:srgbClr val="692AA2"/>
                </a:solidFill>
                <a:latin typeface="Arial" panose="020B0604020202020204" pitchFamily="34" charset="0"/>
                <a:ea typeface="宋体" panose="02010600030101010101" pitchFamily="2" charset="-122"/>
              </a:rPr>
              <a:t>污染源的确定</a:t>
            </a:r>
            <a:endParaRPr lang="zh-CN" altLang="en-US" sz="2400" b="1">
              <a:solidFill>
                <a:srgbClr val="692AA2"/>
              </a:solidFill>
              <a:latin typeface="Arial" panose="020B0604020202020204" pitchFamily="34" charset="0"/>
              <a:ea typeface="宋体" panose="02010600030101010101" pitchFamily="2" charset="-122"/>
            </a:endParaRPr>
          </a:p>
        </p:txBody>
      </p:sp>
      <p:sp>
        <p:nvSpPr>
          <p:cNvPr id="280614" name="Text Box 38"/>
          <p:cNvSpPr txBox="1"/>
          <p:nvPr/>
        </p:nvSpPr>
        <p:spPr>
          <a:xfrm>
            <a:off x="2133600" y="3276600"/>
            <a:ext cx="4495800" cy="457200"/>
          </a:xfrm>
          <a:prstGeom prst="rect">
            <a:avLst/>
          </a:prstGeom>
          <a:noFill/>
          <a:ln w="9525">
            <a:noFill/>
          </a:ln>
        </p:spPr>
        <p:txBody>
          <a:bodyPr anchor="t">
            <a:spAutoFit/>
          </a:bodyPr>
          <a:p>
            <a:pPr algn="ctr"/>
            <a:r>
              <a:rPr lang="zh-CN" altLang="en-US" sz="2400" b="1">
                <a:solidFill>
                  <a:srgbClr val="692AA2"/>
                </a:solidFill>
                <a:latin typeface="Arial" panose="020B0604020202020204" pitchFamily="34" charset="0"/>
                <a:ea typeface="宋体" panose="02010600030101010101" pitchFamily="2" charset="-122"/>
              </a:rPr>
              <a:t>水质综合评价模型</a:t>
            </a:r>
            <a:endParaRPr lang="zh-CN" altLang="en-US" sz="2400" b="1">
              <a:solidFill>
                <a:srgbClr val="692AA2"/>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80578"/>
                                        </p:tgtEl>
                                        <p:attrNameLst>
                                          <p:attrName>style.visibility</p:attrName>
                                        </p:attrNameLst>
                                      </p:cBhvr>
                                      <p:to>
                                        <p:strVal val="visible"/>
                                      </p:to>
                                    </p:set>
                                    <p:anim calcmode="lin" valueType="num">
                                      <p:cBhvr>
                                        <p:cTn id="7" dur="1000" fill="hold"/>
                                        <p:tgtEl>
                                          <p:spTgt spid="280578"/>
                                        </p:tgtEl>
                                        <p:attrNameLst>
                                          <p:attrName>ppt_w</p:attrName>
                                        </p:attrNameLst>
                                      </p:cBhvr>
                                      <p:tavLst>
                                        <p:tav tm="0">
                                          <p:val>
                                            <p:strVal val="#ppt_w*0.70"/>
                                          </p:val>
                                        </p:tav>
                                        <p:tav tm="100000">
                                          <p:val>
                                            <p:strVal val="#ppt_w"/>
                                          </p:val>
                                        </p:tav>
                                      </p:tavLst>
                                    </p:anim>
                                    <p:anim calcmode="lin" valueType="num">
                                      <p:cBhvr>
                                        <p:cTn id="8" dur="1000" fill="hold"/>
                                        <p:tgtEl>
                                          <p:spTgt spid="280578"/>
                                        </p:tgtEl>
                                        <p:attrNameLst>
                                          <p:attrName>ppt_h</p:attrName>
                                        </p:attrNameLst>
                                      </p:cBhvr>
                                      <p:tavLst>
                                        <p:tav tm="0">
                                          <p:val>
                                            <p:strVal val="#ppt_h"/>
                                          </p:val>
                                        </p:tav>
                                        <p:tav tm="100000">
                                          <p:val>
                                            <p:strVal val="#ppt_h"/>
                                          </p:val>
                                        </p:tav>
                                      </p:tavLst>
                                    </p:anim>
                                    <p:animEffect transition="in" filter="fade">
                                      <p:cBhvr>
                                        <p:cTn id="9" dur="1000"/>
                                        <p:tgtEl>
                                          <p:spTgt spid="280578"/>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12"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strips(downLeft)">
                                      <p:cBhvr>
                                        <p:cTn id="14" dur="500"/>
                                        <p:tgtEl>
                                          <p:spTgt spid="2"/>
                                        </p:tgtEl>
                                      </p:cBhvr>
                                    </p:animEffect>
                                  </p:childTnLst>
                                </p:cTn>
                              </p:par>
                              <p:par>
                                <p:cTn id="15" presetID="18" presetClass="entr" presetSubtype="12" fill="hold" grpId="0" nodeType="withEffect">
                                  <p:stCondLst>
                                    <p:cond delay="0"/>
                                  </p:stCondLst>
                                  <p:childTnLst>
                                    <p:set>
                                      <p:cBhvr>
                                        <p:cTn id="16" dur="1" fill="hold">
                                          <p:stCondLst>
                                            <p:cond delay="0"/>
                                          </p:stCondLst>
                                        </p:cTn>
                                        <p:tgtEl>
                                          <p:spTgt spid="280587"/>
                                        </p:tgtEl>
                                        <p:attrNameLst>
                                          <p:attrName>style.visibility</p:attrName>
                                        </p:attrNameLst>
                                      </p:cBhvr>
                                      <p:to>
                                        <p:strVal val="visible"/>
                                      </p:to>
                                    </p:set>
                                    <p:animEffect transition="in" filter="strips(downLeft)">
                                      <p:cBhvr>
                                        <p:cTn id="17" dur="500"/>
                                        <p:tgtEl>
                                          <p:spTgt spid="280587"/>
                                        </p:tgtEl>
                                      </p:cBhvr>
                                    </p:animEffect>
                                  </p:childTnLst>
                                </p:cTn>
                              </p:par>
                              <p:par>
                                <p:cTn id="18" presetID="18" presetClass="entr" presetSubtype="12" fill="hold" grpId="0" nodeType="withEffect">
                                  <p:stCondLst>
                                    <p:cond delay="0"/>
                                  </p:stCondLst>
                                  <p:childTnLst>
                                    <p:set>
                                      <p:cBhvr>
                                        <p:cTn id="19" dur="1" fill="hold">
                                          <p:stCondLst>
                                            <p:cond delay="0"/>
                                          </p:stCondLst>
                                        </p:cTn>
                                        <p:tgtEl>
                                          <p:spTgt spid="280588"/>
                                        </p:tgtEl>
                                        <p:attrNameLst>
                                          <p:attrName>style.visibility</p:attrName>
                                        </p:attrNameLst>
                                      </p:cBhvr>
                                      <p:to>
                                        <p:strVal val="visible"/>
                                      </p:to>
                                    </p:set>
                                    <p:animEffect transition="in" filter="strips(downLeft)">
                                      <p:cBhvr>
                                        <p:cTn id="20" dur="500"/>
                                        <p:tgtEl>
                                          <p:spTgt spid="280588"/>
                                        </p:tgtEl>
                                      </p:cBhvr>
                                    </p:animEffect>
                                  </p:childTnLst>
                                </p:cTn>
                              </p:par>
                              <p:par>
                                <p:cTn id="21" presetID="18" presetClass="entr" presetSubtype="12" fill="hold" grpId="0" nodeType="withEffect">
                                  <p:stCondLst>
                                    <p:cond delay="0"/>
                                  </p:stCondLst>
                                  <p:childTnLst>
                                    <p:set>
                                      <p:cBhvr>
                                        <p:cTn id="22" dur="1" fill="hold">
                                          <p:stCondLst>
                                            <p:cond delay="0"/>
                                          </p:stCondLst>
                                        </p:cTn>
                                        <p:tgtEl>
                                          <p:spTgt spid="280589"/>
                                        </p:tgtEl>
                                        <p:attrNameLst>
                                          <p:attrName>style.visibility</p:attrName>
                                        </p:attrNameLst>
                                      </p:cBhvr>
                                      <p:to>
                                        <p:strVal val="visible"/>
                                      </p:to>
                                    </p:set>
                                    <p:animEffect transition="in" filter="strips(downLeft)">
                                      <p:cBhvr>
                                        <p:cTn id="23" dur="500"/>
                                        <p:tgtEl>
                                          <p:spTgt spid="280589"/>
                                        </p:tgtEl>
                                      </p:cBhvr>
                                    </p:animEffect>
                                  </p:childTnLst>
                                </p:cTn>
                              </p:par>
                              <p:par>
                                <p:cTn id="24" presetID="18" presetClass="entr" presetSubtype="12"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strips(downLeft)">
                                      <p:cBhvr>
                                        <p:cTn id="26" dur="500"/>
                                        <p:tgtEl>
                                          <p:spTgt spid="3"/>
                                        </p:tgtEl>
                                      </p:cBhvr>
                                    </p:animEffect>
                                  </p:childTnLst>
                                </p:cTn>
                              </p:par>
                              <p:par>
                                <p:cTn id="27" presetID="18" presetClass="entr" presetSubtype="12" fill="hold" grpId="0" nodeType="withEffect">
                                  <p:stCondLst>
                                    <p:cond delay="0"/>
                                  </p:stCondLst>
                                  <p:childTnLst>
                                    <p:set>
                                      <p:cBhvr>
                                        <p:cTn id="28" dur="1" fill="hold">
                                          <p:stCondLst>
                                            <p:cond delay="0"/>
                                          </p:stCondLst>
                                        </p:cTn>
                                        <p:tgtEl>
                                          <p:spTgt spid="280590"/>
                                        </p:tgtEl>
                                        <p:attrNameLst>
                                          <p:attrName>style.visibility</p:attrName>
                                        </p:attrNameLst>
                                      </p:cBhvr>
                                      <p:to>
                                        <p:strVal val="visible"/>
                                      </p:to>
                                    </p:set>
                                    <p:animEffect transition="in" filter="strips(downLeft)">
                                      <p:cBhvr>
                                        <p:cTn id="29" dur="500"/>
                                        <p:tgtEl>
                                          <p:spTgt spid="280590"/>
                                        </p:tgtEl>
                                      </p:cBhvr>
                                    </p:animEffect>
                                  </p:childTnLst>
                                </p:cTn>
                              </p:par>
                              <p:par>
                                <p:cTn id="30" presetID="18" presetClass="entr" presetSubtype="12" fill="hold" grpId="0" nodeType="withEffect">
                                  <p:stCondLst>
                                    <p:cond delay="0"/>
                                  </p:stCondLst>
                                  <p:childTnLst>
                                    <p:set>
                                      <p:cBhvr>
                                        <p:cTn id="31" dur="1" fill="hold">
                                          <p:stCondLst>
                                            <p:cond delay="0"/>
                                          </p:stCondLst>
                                        </p:cTn>
                                        <p:tgtEl>
                                          <p:spTgt spid="280591"/>
                                        </p:tgtEl>
                                        <p:attrNameLst>
                                          <p:attrName>style.visibility</p:attrName>
                                        </p:attrNameLst>
                                      </p:cBhvr>
                                      <p:to>
                                        <p:strVal val="visible"/>
                                      </p:to>
                                    </p:set>
                                    <p:animEffect transition="in" filter="strips(downLeft)">
                                      <p:cBhvr>
                                        <p:cTn id="32" dur="500"/>
                                        <p:tgtEl>
                                          <p:spTgt spid="280591"/>
                                        </p:tgtEl>
                                      </p:cBhvr>
                                    </p:animEffect>
                                  </p:childTnLst>
                                </p:cTn>
                              </p:par>
                              <p:par>
                                <p:cTn id="33" presetID="18" presetClass="entr" presetSubtype="12" fill="hold" grpId="0" nodeType="withEffect">
                                  <p:stCondLst>
                                    <p:cond delay="0"/>
                                  </p:stCondLst>
                                  <p:childTnLst>
                                    <p:set>
                                      <p:cBhvr>
                                        <p:cTn id="34" dur="1" fill="hold">
                                          <p:stCondLst>
                                            <p:cond delay="0"/>
                                          </p:stCondLst>
                                        </p:cTn>
                                        <p:tgtEl>
                                          <p:spTgt spid="280592"/>
                                        </p:tgtEl>
                                        <p:attrNameLst>
                                          <p:attrName>style.visibility</p:attrName>
                                        </p:attrNameLst>
                                      </p:cBhvr>
                                      <p:to>
                                        <p:strVal val="visible"/>
                                      </p:to>
                                    </p:set>
                                    <p:animEffect transition="in" filter="strips(downLeft)">
                                      <p:cBhvr>
                                        <p:cTn id="35" dur="500"/>
                                        <p:tgtEl>
                                          <p:spTgt spid="280592"/>
                                        </p:tgtEl>
                                      </p:cBhvr>
                                    </p:animEffect>
                                  </p:childTnLst>
                                </p:cTn>
                              </p:par>
                              <p:par>
                                <p:cTn id="36" presetID="18" presetClass="entr" presetSubtype="12" fill="hold"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strips(downLeft)">
                                      <p:cBhvr>
                                        <p:cTn id="38" dur="500"/>
                                        <p:tgtEl>
                                          <p:spTgt spid="4"/>
                                        </p:tgtEl>
                                      </p:cBhvr>
                                    </p:animEffect>
                                  </p:childTnLst>
                                </p:cTn>
                              </p:par>
                              <p:par>
                                <p:cTn id="39" presetID="18" presetClass="entr" presetSubtype="12" fill="hold" grpId="0" nodeType="withEffect">
                                  <p:stCondLst>
                                    <p:cond delay="0"/>
                                  </p:stCondLst>
                                  <p:childTnLst>
                                    <p:set>
                                      <p:cBhvr>
                                        <p:cTn id="40" dur="1" fill="hold">
                                          <p:stCondLst>
                                            <p:cond delay="0"/>
                                          </p:stCondLst>
                                        </p:cTn>
                                        <p:tgtEl>
                                          <p:spTgt spid="280604"/>
                                        </p:tgtEl>
                                        <p:attrNameLst>
                                          <p:attrName>style.visibility</p:attrName>
                                        </p:attrNameLst>
                                      </p:cBhvr>
                                      <p:to>
                                        <p:strVal val="visible"/>
                                      </p:to>
                                    </p:set>
                                    <p:animEffect transition="in" filter="strips(downLeft)">
                                      <p:cBhvr>
                                        <p:cTn id="41" dur="500"/>
                                        <p:tgtEl>
                                          <p:spTgt spid="280604"/>
                                        </p:tgtEl>
                                      </p:cBhvr>
                                    </p:animEffect>
                                  </p:childTnLst>
                                </p:cTn>
                              </p:par>
                              <p:par>
                                <p:cTn id="42" presetID="18" presetClass="entr" presetSubtype="12" fill="hold" grpId="0" nodeType="withEffect">
                                  <p:stCondLst>
                                    <p:cond delay="0"/>
                                  </p:stCondLst>
                                  <p:childTnLst>
                                    <p:set>
                                      <p:cBhvr>
                                        <p:cTn id="43" dur="1" fill="hold">
                                          <p:stCondLst>
                                            <p:cond delay="0"/>
                                          </p:stCondLst>
                                        </p:cTn>
                                        <p:tgtEl>
                                          <p:spTgt spid="280605"/>
                                        </p:tgtEl>
                                        <p:attrNameLst>
                                          <p:attrName>style.visibility</p:attrName>
                                        </p:attrNameLst>
                                      </p:cBhvr>
                                      <p:to>
                                        <p:strVal val="visible"/>
                                      </p:to>
                                    </p:set>
                                    <p:animEffect transition="in" filter="strips(downLeft)">
                                      <p:cBhvr>
                                        <p:cTn id="44" dur="500"/>
                                        <p:tgtEl>
                                          <p:spTgt spid="280605"/>
                                        </p:tgtEl>
                                      </p:cBhvr>
                                    </p:animEffect>
                                  </p:childTnLst>
                                </p:cTn>
                              </p:par>
                              <p:par>
                                <p:cTn id="45" presetID="18" presetClass="entr" presetSubtype="12" fill="hold" grpId="0" nodeType="withEffect">
                                  <p:stCondLst>
                                    <p:cond delay="0"/>
                                  </p:stCondLst>
                                  <p:childTnLst>
                                    <p:set>
                                      <p:cBhvr>
                                        <p:cTn id="46" dur="1" fill="hold">
                                          <p:stCondLst>
                                            <p:cond delay="0"/>
                                          </p:stCondLst>
                                        </p:cTn>
                                        <p:tgtEl>
                                          <p:spTgt spid="280614"/>
                                        </p:tgtEl>
                                        <p:attrNameLst>
                                          <p:attrName>style.visibility</p:attrName>
                                        </p:attrNameLst>
                                      </p:cBhvr>
                                      <p:to>
                                        <p:strVal val="visible"/>
                                      </p:to>
                                    </p:set>
                                    <p:animEffect transition="in" filter="strips(downLeft)">
                                      <p:cBhvr>
                                        <p:cTn id="47" dur="500"/>
                                        <p:tgtEl>
                                          <p:spTgt spid="280614"/>
                                        </p:tgtEl>
                                      </p:cBhvr>
                                    </p:animEffect>
                                  </p:childTnLst>
                                </p:cTn>
                              </p:par>
                              <p:par>
                                <p:cTn id="48" presetID="18" presetClass="entr" presetSubtype="12" fill="hold" nodeType="with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strips(downLeft)">
                                      <p:cBhvr>
                                        <p:cTn id="50" dur="500"/>
                                        <p:tgtEl>
                                          <p:spTgt spid="5"/>
                                        </p:tgtEl>
                                      </p:cBhvr>
                                    </p:animEffect>
                                  </p:childTnLst>
                                </p:cTn>
                              </p:par>
                              <p:par>
                                <p:cTn id="51" presetID="18" presetClass="entr" presetSubtype="12" fill="hold" grpId="0" nodeType="withEffect">
                                  <p:stCondLst>
                                    <p:cond delay="0"/>
                                  </p:stCondLst>
                                  <p:childTnLst>
                                    <p:set>
                                      <p:cBhvr>
                                        <p:cTn id="52" dur="1" fill="hold">
                                          <p:stCondLst>
                                            <p:cond delay="0"/>
                                          </p:stCondLst>
                                        </p:cTn>
                                        <p:tgtEl>
                                          <p:spTgt spid="280610"/>
                                        </p:tgtEl>
                                        <p:attrNameLst>
                                          <p:attrName>style.visibility</p:attrName>
                                        </p:attrNameLst>
                                      </p:cBhvr>
                                      <p:to>
                                        <p:strVal val="visible"/>
                                      </p:to>
                                    </p:set>
                                    <p:animEffect transition="in" filter="strips(downLeft)">
                                      <p:cBhvr>
                                        <p:cTn id="53" dur="500"/>
                                        <p:tgtEl>
                                          <p:spTgt spid="280610"/>
                                        </p:tgtEl>
                                      </p:cBhvr>
                                    </p:animEffect>
                                  </p:childTnLst>
                                </p:cTn>
                              </p:par>
                              <p:par>
                                <p:cTn id="54" presetID="18" presetClass="entr" presetSubtype="12" fill="hold" grpId="0" nodeType="withEffect">
                                  <p:stCondLst>
                                    <p:cond delay="0"/>
                                  </p:stCondLst>
                                  <p:childTnLst>
                                    <p:set>
                                      <p:cBhvr>
                                        <p:cTn id="55" dur="1" fill="hold">
                                          <p:stCondLst>
                                            <p:cond delay="0"/>
                                          </p:stCondLst>
                                        </p:cTn>
                                        <p:tgtEl>
                                          <p:spTgt spid="280612"/>
                                        </p:tgtEl>
                                        <p:attrNameLst>
                                          <p:attrName>style.visibility</p:attrName>
                                        </p:attrNameLst>
                                      </p:cBhvr>
                                      <p:to>
                                        <p:strVal val="visible"/>
                                      </p:to>
                                    </p:set>
                                    <p:animEffect transition="in" filter="strips(downLeft)">
                                      <p:cBhvr>
                                        <p:cTn id="56" dur="500"/>
                                        <p:tgtEl>
                                          <p:spTgt spid="280612"/>
                                        </p:tgtEl>
                                      </p:cBhvr>
                                    </p:animEffect>
                                  </p:childTnLst>
                                </p:cTn>
                              </p:par>
                              <p:par>
                                <p:cTn id="57" presetID="18" presetClass="entr" presetSubtype="12" fill="hold" grpId="0" nodeType="withEffect">
                                  <p:stCondLst>
                                    <p:cond delay="0"/>
                                  </p:stCondLst>
                                  <p:childTnLst>
                                    <p:set>
                                      <p:cBhvr>
                                        <p:cTn id="58" dur="1" fill="hold">
                                          <p:stCondLst>
                                            <p:cond delay="0"/>
                                          </p:stCondLst>
                                        </p:cTn>
                                        <p:tgtEl>
                                          <p:spTgt spid="280613"/>
                                        </p:tgtEl>
                                        <p:attrNameLst>
                                          <p:attrName>style.visibility</p:attrName>
                                        </p:attrNameLst>
                                      </p:cBhvr>
                                      <p:to>
                                        <p:strVal val="visible"/>
                                      </p:to>
                                    </p:set>
                                    <p:animEffect transition="in" filter="strips(downLeft)">
                                      <p:cBhvr>
                                        <p:cTn id="59" dur="500"/>
                                        <p:tgtEl>
                                          <p:spTgt spid="280613"/>
                                        </p:tgtEl>
                                      </p:cBhvr>
                                    </p:animEffect>
                                  </p:childTnLst>
                                </p:cTn>
                              </p:par>
                              <p:par>
                                <p:cTn id="60" presetID="18" presetClass="entr" presetSubtype="12" fill="hold" grpId="0" nodeType="withEffect">
                                  <p:stCondLst>
                                    <p:cond delay="0"/>
                                  </p:stCondLst>
                                  <p:childTnLst>
                                    <p:set>
                                      <p:cBhvr>
                                        <p:cTn id="61" dur="1" fill="hold">
                                          <p:stCondLst>
                                            <p:cond delay="0"/>
                                          </p:stCondLst>
                                        </p:cTn>
                                        <p:tgtEl>
                                          <p:spTgt spid="280611"/>
                                        </p:tgtEl>
                                        <p:attrNameLst>
                                          <p:attrName>style.visibility</p:attrName>
                                        </p:attrNameLst>
                                      </p:cBhvr>
                                      <p:to>
                                        <p:strVal val="visible"/>
                                      </p:to>
                                    </p:set>
                                    <p:animEffect transition="in" filter="strips(downLeft)">
                                      <p:cBhvr>
                                        <p:cTn id="62" dur="500"/>
                                        <p:tgtEl>
                                          <p:spTgt spid="280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8" grpId="0"/>
      <p:bldP spid="280587" grpId="0" animBg="1"/>
      <p:bldP spid="280588" grpId="0"/>
      <p:bldP spid="280589" grpId="0"/>
      <p:bldP spid="280590" grpId="0" animBg="1"/>
      <p:bldP spid="280591" grpId="0"/>
      <p:bldP spid="280592" grpId="0"/>
      <p:bldP spid="280604" grpId="0" animBg="1"/>
      <p:bldP spid="280605" grpId="0"/>
      <p:bldP spid="280610" grpId="0"/>
      <p:bldP spid="280611" grpId="0"/>
      <p:bldP spid="280612" grpId="0" animBg="1"/>
      <p:bldP spid="280613" grpId="0"/>
      <p:bldP spid="280614"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1602" name="Rectangle 2"/>
          <p:cNvSpPr>
            <a:spLocks noGrp="1"/>
          </p:cNvSpPr>
          <p:nvPr>
            <p:ph type="title"/>
          </p:nvPr>
        </p:nvSpPr>
        <p:spPr>
          <a:xfrm>
            <a:off x="914400" y="609600"/>
            <a:ext cx="7186613" cy="263525"/>
          </a:xfrm>
          <a:ln/>
        </p:spPr>
        <p:txBody>
          <a:bodyPr vert="horz" wrap="square" lIns="91440" tIns="45720" rIns="91440" bIns="45720" anchor="b"/>
          <a:p>
            <a:pPr eaLnBrk="1" hangingPunct="1"/>
            <a:r>
              <a:rPr lang="en-US" altLang="zh-CN" sz="2400">
                <a:solidFill>
                  <a:srgbClr val="01016F"/>
                </a:solidFill>
              </a:rPr>
              <a:t>§ 1     </a:t>
            </a:r>
            <a:r>
              <a:rPr lang="zh-CN" altLang="en-US" sz="2400">
                <a:solidFill>
                  <a:srgbClr val="01016F"/>
                </a:solidFill>
              </a:rPr>
              <a:t>长江水质的综合评价模型</a:t>
            </a:r>
            <a:endParaRPr lang="zh-CN" altLang="en-US" sz="2400">
              <a:solidFill>
                <a:srgbClr val="01016F"/>
              </a:solidFill>
            </a:endParaRPr>
          </a:p>
        </p:txBody>
      </p:sp>
      <p:sp>
        <p:nvSpPr>
          <p:cNvPr id="281603" name="Rectangle 3"/>
          <p:cNvSpPr>
            <a:spLocks noGrp="1"/>
          </p:cNvSpPr>
          <p:nvPr>
            <p:ph idx="1"/>
          </p:nvPr>
        </p:nvSpPr>
        <p:spPr>
          <a:xfrm>
            <a:off x="457200" y="1219200"/>
            <a:ext cx="8229600" cy="5486400"/>
          </a:xfrm>
          <a:ln/>
        </p:spPr>
        <p:txBody>
          <a:bodyPr vert="horz" wrap="square" lIns="91440" tIns="45720" rIns="91440" bIns="45720" anchor="t"/>
          <a:p>
            <a:pPr eaLnBrk="1" hangingPunct="1">
              <a:lnSpc>
                <a:spcPct val="110000"/>
              </a:lnSpc>
              <a:buNone/>
            </a:pPr>
            <a:r>
              <a:rPr lang="en-US" altLang="zh-CN" sz="1800" b="1">
                <a:solidFill>
                  <a:srgbClr val="692AA2"/>
                </a:solidFill>
                <a:latin typeface="仿宋_GB2312" pitchFamily="49" charset="-122"/>
                <a:ea typeface="仿宋_GB2312" pitchFamily="49" charset="-122"/>
              </a:rPr>
              <a:t>1.1</a:t>
            </a:r>
            <a:r>
              <a:rPr lang="zh-CN" altLang="en-US" sz="1800" b="1">
                <a:solidFill>
                  <a:srgbClr val="692AA2"/>
                </a:solidFill>
                <a:latin typeface="仿宋_GB2312" pitchFamily="49" charset="-122"/>
                <a:ea typeface="仿宋_GB2312" pitchFamily="49" charset="-122"/>
              </a:rPr>
              <a:t>长江水质的评价和预测（</a:t>
            </a:r>
            <a:r>
              <a:rPr lang="en-US" altLang="zh-CN" sz="1800" b="1">
                <a:solidFill>
                  <a:srgbClr val="692AA2"/>
                </a:solidFill>
                <a:latin typeface="仿宋_GB2312" pitchFamily="49" charset="-122"/>
                <a:ea typeface="仿宋_GB2312" pitchFamily="49" charset="-122"/>
              </a:rPr>
              <a:t>2005</a:t>
            </a:r>
            <a:r>
              <a:rPr lang="zh-CN" altLang="en-US" sz="1800" b="1">
                <a:solidFill>
                  <a:srgbClr val="692AA2"/>
                </a:solidFill>
                <a:latin typeface="仿宋_GB2312" pitchFamily="49" charset="-122"/>
                <a:ea typeface="仿宋_GB2312" pitchFamily="49" charset="-122"/>
              </a:rPr>
              <a:t>年大学数学建模</a:t>
            </a:r>
            <a:r>
              <a:rPr lang="en-US" altLang="zh-CN" sz="1800" b="1">
                <a:solidFill>
                  <a:srgbClr val="692AA2"/>
                </a:solidFill>
                <a:latin typeface="仿宋_GB2312" pitchFamily="49" charset="-122"/>
                <a:ea typeface="仿宋_GB2312" pitchFamily="49" charset="-122"/>
              </a:rPr>
              <a:t>A</a:t>
            </a:r>
            <a:r>
              <a:rPr lang="zh-CN" altLang="en-US" sz="1800" b="1">
                <a:solidFill>
                  <a:srgbClr val="692AA2"/>
                </a:solidFill>
                <a:latin typeface="仿宋_GB2312" pitchFamily="49" charset="-122"/>
                <a:ea typeface="仿宋_GB2312" pitchFamily="49" charset="-122"/>
              </a:rPr>
              <a:t>题）</a:t>
            </a:r>
            <a:endParaRPr lang="zh-CN" altLang="en-US" sz="1800" b="1">
              <a:solidFill>
                <a:srgbClr val="692AA2"/>
              </a:solidFill>
              <a:latin typeface="仿宋_GB2312" pitchFamily="49" charset="-122"/>
              <a:ea typeface="仿宋_GB2312" pitchFamily="49" charset="-122"/>
            </a:endParaRPr>
          </a:p>
          <a:p>
            <a:pPr eaLnBrk="1" hangingPunct="1">
              <a:lnSpc>
                <a:spcPct val="110000"/>
              </a:lnSpc>
              <a:buNone/>
            </a:pPr>
            <a:r>
              <a:rPr lang="zh-CN" altLang="en-US" sz="1800" b="1">
                <a:solidFill>
                  <a:srgbClr val="D00054"/>
                </a:solidFill>
                <a:ea typeface="仿宋_GB2312" pitchFamily="49" charset="-122"/>
              </a:rPr>
              <a:t>     </a:t>
            </a:r>
            <a:r>
              <a:rPr lang="en-US" altLang="zh-CN" sz="1800" b="1">
                <a:solidFill>
                  <a:srgbClr val="D00054"/>
                </a:solidFill>
                <a:ea typeface="仿宋_GB2312" pitchFamily="49" charset="-122"/>
              </a:rPr>
              <a:t>1</a:t>
            </a:r>
            <a:r>
              <a:rPr lang="zh-CN" altLang="en-US" sz="1800" b="1">
                <a:solidFill>
                  <a:srgbClr val="D00054"/>
                </a:solidFill>
                <a:ea typeface="仿宋_GB2312" pitchFamily="49" charset="-122"/>
              </a:rPr>
              <a:t>、问题</a:t>
            </a:r>
            <a:endParaRPr lang="zh-CN" altLang="en-US" sz="1800" b="1">
              <a:solidFill>
                <a:srgbClr val="D00054"/>
              </a:solidFill>
              <a:ea typeface="仿宋_GB2312" pitchFamily="49" charset="-122"/>
            </a:endParaRPr>
          </a:p>
          <a:p>
            <a:pPr eaLnBrk="1" hangingPunct="1">
              <a:lnSpc>
                <a:spcPct val="110000"/>
              </a:lnSpc>
              <a:buNone/>
            </a:pPr>
            <a:r>
              <a:rPr lang="zh-CN" altLang="en-US" sz="1800">
                <a:ea typeface="仿宋_GB2312" pitchFamily="49" charset="-122"/>
              </a:rPr>
              <a:t>            </a:t>
            </a:r>
            <a:r>
              <a:rPr lang="zh-CN" altLang="en-US" sz="1800" b="1">
                <a:solidFill>
                  <a:srgbClr val="692AA2"/>
                </a:solidFill>
                <a:ea typeface="仿宋_GB2312" pitchFamily="49" charset="-122"/>
              </a:rPr>
              <a:t>水是人类赖以生存的资源，保护水资源就是保护我们自己，对于我国大江大河水资源的保护和治理应是重中之重。专家们呼吁：</a:t>
            </a:r>
            <a:r>
              <a:rPr lang="zh-CN" altLang="en-US"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以人为本，建设文明和谐社会，改善人与自然的环境，减少污染。</a:t>
            </a:r>
            <a:r>
              <a:rPr lang="zh-CN" altLang="en-US"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 </a:t>
            </a:r>
            <a:endParaRPr lang="zh-CN" altLang="en-US" sz="1800" b="1">
              <a:solidFill>
                <a:srgbClr val="692AA2"/>
              </a:solidFill>
              <a:ea typeface="仿宋_GB2312" pitchFamily="49" charset="-122"/>
            </a:endParaRPr>
          </a:p>
          <a:p>
            <a:pPr eaLnBrk="1" hangingPunct="1">
              <a:lnSpc>
                <a:spcPct val="110000"/>
              </a:lnSpc>
              <a:buNone/>
            </a:pPr>
            <a:r>
              <a:rPr lang="zh-CN" altLang="en-US" sz="1800" b="1">
                <a:solidFill>
                  <a:srgbClr val="692AA2"/>
                </a:solidFill>
                <a:ea typeface="仿宋_GB2312" pitchFamily="49" charset="-122"/>
              </a:rPr>
              <a:t>     长江是我国第一、世界第三大河流，长江水质的污染程度日趋严重，已引起了相关政府部门和专家们的高度重视。</a:t>
            </a:r>
            <a:r>
              <a:rPr lang="en-US" altLang="zh-CN" sz="1800" b="1">
                <a:solidFill>
                  <a:srgbClr val="692AA2"/>
                </a:solidFill>
                <a:ea typeface="仿宋_GB2312" pitchFamily="49" charset="-122"/>
              </a:rPr>
              <a:t>2004</a:t>
            </a:r>
            <a:r>
              <a:rPr lang="zh-CN" altLang="en-US" sz="1800" b="1">
                <a:solidFill>
                  <a:srgbClr val="692AA2"/>
                </a:solidFill>
                <a:ea typeface="仿宋_GB2312" pitchFamily="49" charset="-122"/>
              </a:rPr>
              <a:t>年</a:t>
            </a:r>
            <a:r>
              <a:rPr lang="en-US" altLang="zh-CN" sz="1800" b="1">
                <a:solidFill>
                  <a:srgbClr val="692AA2"/>
                </a:solidFill>
                <a:ea typeface="仿宋_GB2312" pitchFamily="49" charset="-122"/>
              </a:rPr>
              <a:t>10</a:t>
            </a:r>
            <a:r>
              <a:rPr lang="zh-CN" altLang="en-US" sz="1800" b="1">
                <a:solidFill>
                  <a:srgbClr val="692AA2"/>
                </a:solidFill>
                <a:ea typeface="仿宋_GB2312" pitchFamily="49" charset="-122"/>
              </a:rPr>
              <a:t>月，由全国政协与中国发展研究院联合组成</a:t>
            </a:r>
            <a:r>
              <a:rPr lang="zh-CN" altLang="en-US"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保护长江万里行</a:t>
            </a:r>
            <a:r>
              <a:rPr lang="zh-CN" altLang="en-US"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考察团，从长江上游宜宾到下游上海，对沿线</a:t>
            </a:r>
            <a:r>
              <a:rPr lang="en-US" altLang="zh-CN" sz="1800" b="1">
                <a:solidFill>
                  <a:srgbClr val="692AA2"/>
                </a:solidFill>
                <a:ea typeface="仿宋_GB2312" pitchFamily="49" charset="-122"/>
              </a:rPr>
              <a:t>21</a:t>
            </a:r>
            <a:r>
              <a:rPr lang="zh-CN" altLang="en-US" sz="1800" b="1">
                <a:solidFill>
                  <a:srgbClr val="692AA2"/>
                </a:solidFill>
                <a:ea typeface="仿宋_GB2312" pitchFamily="49" charset="-122"/>
              </a:rPr>
              <a:t>个重点城市做了实地考察，揭示了一幅长江污染的真实画面，其污染程度让人触目惊心。为此，专家们提出</a:t>
            </a:r>
            <a:r>
              <a:rPr lang="zh-CN" altLang="en-US"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若不及时拯救，长江生态</a:t>
            </a:r>
            <a:r>
              <a:rPr lang="en-US" altLang="zh-CN" sz="1800" b="1">
                <a:solidFill>
                  <a:srgbClr val="692AA2"/>
                </a:solidFill>
                <a:ea typeface="仿宋_GB2312" pitchFamily="49" charset="-122"/>
              </a:rPr>
              <a:t>10</a:t>
            </a:r>
            <a:r>
              <a:rPr lang="zh-CN" altLang="en-US" sz="1800" b="1">
                <a:solidFill>
                  <a:srgbClr val="692AA2"/>
                </a:solidFill>
                <a:ea typeface="仿宋_GB2312" pitchFamily="49" charset="-122"/>
              </a:rPr>
              <a:t>年内将濒临崩溃</a:t>
            </a:r>
            <a:r>
              <a:rPr lang="zh-CN" altLang="en-US"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（附件１），并发出了</a:t>
            </a:r>
            <a:r>
              <a:rPr lang="zh-CN" altLang="en-US"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拿什么拯救癌变长江</a:t>
            </a:r>
            <a:r>
              <a:rPr lang="zh-CN" altLang="en-US"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的呼唤（附件</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10000"/>
              </a:lnSpc>
              <a:buNone/>
            </a:pPr>
            <a:r>
              <a:rPr lang="zh-CN" altLang="en-US" sz="1800" b="1">
                <a:solidFill>
                  <a:srgbClr val="692AA2"/>
                </a:solidFill>
                <a:ea typeface="仿宋_GB2312" pitchFamily="49" charset="-122"/>
              </a:rPr>
              <a:t>            附件</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给出了长江沿线</a:t>
            </a:r>
            <a:r>
              <a:rPr lang="en-US" altLang="zh-CN" sz="1800" b="1">
                <a:solidFill>
                  <a:srgbClr val="692AA2"/>
                </a:solidFill>
                <a:ea typeface="仿宋_GB2312" pitchFamily="49" charset="-122"/>
              </a:rPr>
              <a:t>17</a:t>
            </a:r>
            <a:r>
              <a:rPr lang="zh-CN" altLang="en-US" sz="1800" b="1">
                <a:solidFill>
                  <a:srgbClr val="692AA2"/>
                </a:solidFill>
                <a:ea typeface="仿宋_GB2312" pitchFamily="49" charset="-122"/>
              </a:rPr>
              <a:t>个观测站（地区）近两年多主要水质指标的检测数据，以及干流上７个观测站近一年多的基本数据（站点</a:t>
            </a:r>
            <a:endParaRPr lang="zh-CN" altLang="en-US" sz="1800" b="1">
              <a:solidFill>
                <a:srgbClr val="692AA2"/>
              </a:solidFill>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81602"/>
                                        </p:tgtEl>
                                        <p:attrNameLst>
                                          <p:attrName>style.visibility</p:attrName>
                                        </p:attrNameLst>
                                      </p:cBhvr>
                                      <p:to>
                                        <p:strVal val="visible"/>
                                      </p:to>
                                    </p:set>
                                    <p:anim calcmode="lin" valueType="num">
                                      <p:cBhvr>
                                        <p:cTn id="7" dur="1000" fill="hold"/>
                                        <p:tgtEl>
                                          <p:spTgt spid="281602"/>
                                        </p:tgtEl>
                                        <p:attrNameLst>
                                          <p:attrName>ppt_w</p:attrName>
                                        </p:attrNameLst>
                                      </p:cBhvr>
                                      <p:tavLst>
                                        <p:tav tm="0">
                                          <p:val>
                                            <p:strVal val="#ppt_w*0.70"/>
                                          </p:val>
                                        </p:tav>
                                        <p:tav tm="100000">
                                          <p:val>
                                            <p:strVal val="#ppt_w"/>
                                          </p:val>
                                        </p:tav>
                                      </p:tavLst>
                                    </p:anim>
                                    <p:anim calcmode="lin" valueType="num">
                                      <p:cBhvr>
                                        <p:cTn id="8" dur="1000" fill="hold"/>
                                        <p:tgtEl>
                                          <p:spTgt spid="281602"/>
                                        </p:tgtEl>
                                        <p:attrNameLst>
                                          <p:attrName>ppt_h</p:attrName>
                                        </p:attrNameLst>
                                      </p:cBhvr>
                                      <p:tavLst>
                                        <p:tav tm="0">
                                          <p:val>
                                            <p:strVal val="#ppt_h"/>
                                          </p:val>
                                        </p:tav>
                                        <p:tav tm="100000">
                                          <p:val>
                                            <p:strVal val="#ppt_h"/>
                                          </p:val>
                                        </p:tav>
                                      </p:tavLst>
                                    </p:anim>
                                    <p:animEffect transition="in" filter="fade">
                                      <p:cBhvr>
                                        <p:cTn id="9" dur="1000"/>
                                        <p:tgtEl>
                                          <p:spTgt spid="28160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281603">
                                            <p:txEl>
                                              <p:charRg st="0" end="29"/>
                                            </p:txEl>
                                          </p:spTgt>
                                        </p:tgtEl>
                                        <p:attrNameLst>
                                          <p:attrName>style.visibility</p:attrName>
                                        </p:attrNameLst>
                                      </p:cBhvr>
                                      <p:to>
                                        <p:strVal val="visible"/>
                                      </p:to>
                                    </p:set>
                                    <p:anim calcmode="lin" valueType="num">
                                      <p:cBhvr>
                                        <p:cTn id="14" dur="1000" fill="hold"/>
                                        <p:tgtEl>
                                          <p:spTgt spid="281603">
                                            <p:txEl>
                                              <p:charRg st="0" end="29"/>
                                            </p:txEl>
                                          </p:spTgt>
                                        </p:tgtEl>
                                        <p:attrNameLst>
                                          <p:attrName>ppt_w</p:attrName>
                                        </p:attrNameLst>
                                      </p:cBhvr>
                                      <p:tavLst>
                                        <p:tav tm="0">
                                          <p:val>
                                            <p:strVal val="#ppt_w*0.70"/>
                                          </p:val>
                                        </p:tav>
                                        <p:tav tm="100000">
                                          <p:val>
                                            <p:strVal val="#ppt_w"/>
                                          </p:val>
                                        </p:tav>
                                      </p:tavLst>
                                    </p:anim>
                                    <p:anim calcmode="lin" valueType="num">
                                      <p:cBhvr>
                                        <p:cTn id="15" dur="1000" fill="hold"/>
                                        <p:tgtEl>
                                          <p:spTgt spid="281603">
                                            <p:txEl>
                                              <p:charRg st="0" end="29"/>
                                            </p:txEl>
                                          </p:spTgt>
                                        </p:tgtEl>
                                        <p:attrNameLst>
                                          <p:attrName>ppt_h</p:attrName>
                                        </p:attrNameLst>
                                      </p:cBhvr>
                                      <p:tavLst>
                                        <p:tav tm="0">
                                          <p:val>
                                            <p:strVal val="#ppt_h"/>
                                          </p:val>
                                        </p:tav>
                                        <p:tav tm="100000">
                                          <p:val>
                                            <p:strVal val="#ppt_h"/>
                                          </p:val>
                                        </p:tav>
                                      </p:tavLst>
                                    </p:anim>
                                    <p:animEffect transition="in" filter="fade">
                                      <p:cBhvr>
                                        <p:cTn id="16" dur="1000"/>
                                        <p:tgtEl>
                                          <p:spTgt spid="281603">
                                            <p:txEl>
                                              <p:charRg st="0" end="2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281603">
                                            <p:txEl>
                                              <p:charRg st="29" end="39"/>
                                            </p:txEl>
                                          </p:spTgt>
                                        </p:tgtEl>
                                        <p:attrNameLst>
                                          <p:attrName>style.visibility</p:attrName>
                                        </p:attrNameLst>
                                      </p:cBhvr>
                                      <p:to>
                                        <p:strVal val="visible"/>
                                      </p:to>
                                    </p:set>
                                    <p:animEffect transition="in" filter="circle(in)">
                                      <p:cBhvr>
                                        <p:cTn id="21" dur="1000"/>
                                        <p:tgtEl>
                                          <p:spTgt spid="281603">
                                            <p:txEl>
                                              <p:charRg st="29" end="39"/>
                                            </p:txEl>
                                          </p:spTgt>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281603">
                                            <p:txEl>
                                              <p:charRg st="39" end="140"/>
                                            </p:txEl>
                                          </p:spTgt>
                                        </p:tgtEl>
                                        <p:attrNameLst>
                                          <p:attrName>style.visibility</p:attrName>
                                        </p:attrNameLst>
                                      </p:cBhvr>
                                      <p:to>
                                        <p:strVal val="visible"/>
                                      </p:to>
                                    </p:set>
                                    <p:animEffect transition="in" filter="circle(in)">
                                      <p:cBhvr>
                                        <p:cTn id="24" dur="1000"/>
                                        <p:tgtEl>
                                          <p:spTgt spid="281603">
                                            <p:txEl>
                                              <p:charRg st="39" end="140"/>
                                            </p:txEl>
                                          </p:spTgt>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281603">
                                            <p:txEl>
                                              <p:charRg st="140" end="352"/>
                                            </p:txEl>
                                          </p:spTgt>
                                        </p:tgtEl>
                                        <p:attrNameLst>
                                          <p:attrName>style.visibility</p:attrName>
                                        </p:attrNameLst>
                                      </p:cBhvr>
                                      <p:to>
                                        <p:strVal val="visible"/>
                                      </p:to>
                                    </p:set>
                                    <p:animEffect transition="in" filter="circle(in)">
                                      <p:cBhvr>
                                        <p:cTn id="27" dur="1000"/>
                                        <p:tgtEl>
                                          <p:spTgt spid="281603">
                                            <p:txEl>
                                              <p:charRg st="140" end="352"/>
                                            </p:txEl>
                                          </p:spTgt>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281603">
                                            <p:txEl>
                                              <p:charRg st="352" end="423"/>
                                            </p:txEl>
                                          </p:spTgt>
                                        </p:tgtEl>
                                        <p:attrNameLst>
                                          <p:attrName>style.visibility</p:attrName>
                                        </p:attrNameLst>
                                      </p:cBhvr>
                                      <p:to>
                                        <p:strVal val="visible"/>
                                      </p:to>
                                    </p:set>
                                    <p:animEffect transition="in" filter="circle(in)">
                                      <p:cBhvr>
                                        <p:cTn id="30" dur="1000"/>
                                        <p:tgtEl>
                                          <p:spTgt spid="281603">
                                            <p:txEl>
                                              <p:charRg st="352" end="4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1602" grpId="0"/>
      <p:bldP spid="281603" grpId="0" build="allAtOnce"/>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2626" name="Rectangle 2"/>
          <p:cNvSpPr>
            <a:spLocks noGrp="1"/>
          </p:cNvSpPr>
          <p:nvPr>
            <p:ph idx="1"/>
          </p:nvPr>
        </p:nvSpPr>
        <p:spPr>
          <a:xfrm>
            <a:off x="457200" y="1143000"/>
            <a:ext cx="8229600" cy="4419600"/>
          </a:xfrm>
          <a:ln/>
        </p:spPr>
        <p:txBody>
          <a:bodyPr vert="horz" wrap="square" lIns="91440" tIns="45720" rIns="91440" bIns="45720" anchor="t"/>
          <a:p>
            <a:pPr eaLnBrk="1" hangingPunct="1">
              <a:lnSpc>
                <a:spcPct val="80000"/>
              </a:lnSpc>
              <a:buNone/>
            </a:pPr>
            <a:r>
              <a:rPr lang="en-US" altLang="zh-CN" sz="1800"/>
              <a:t>     </a:t>
            </a:r>
            <a:endParaRPr lang="en-US" altLang="zh-CN" sz="1800"/>
          </a:p>
          <a:p>
            <a:pPr eaLnBrk="1" hangingPunct="1">
              <a:lnSpc>
                <a:spcPct val="110000"/>
              </a:lnSpc>
              <a:buNone/>
            </a:pPr>
            <a:r>
              <a:rPr lang="en-US" altLang="zh-CN" sz="2400" b="1">
                <a:solidFill>
                  <a:srgbClr val="692AA2"/>
                </a:solidFill>
                <a:ea typeface="仿宋_GB2312" pitchFamily="49" charset="-122"/>
              </a:rPr>
              <a:t>    </a:t>
            </a:r>
            <a:r>
              <a:rPr lang="zh-CN" altLang="en-US" sz="2000" b="1">
                <a:solidFill>
                  <a:srgbClr val="692AA2"/>
                </a:solidFill>
                <a:latin typeface="仿宋_GB2312" pitchFamily="49" charset="-122"/>
                <a:ea typeface="仿宋_GB2312" pitchFamily="49" charset="-122"/>
              </a:rPr>
              <a:t>距离、水流量和水流速）。通常认为一个观测站（地区）的水质污染主要来自于本地区的排污和上游的污水。一般说来，江河自身对污染物都有一定的自然净化能力，即污染物在水环境中通过物理降解、化学降解和生物降解等使水中污染物的浓度降低。反映江河自然净化能力的指标称为降解系数。事实上，长江干流的自然净化能力可以认为是近似均匀的，根据检测可知，主要污染物高锰酸盐指数和氨氮的降解系数通常介于</a:t>
            </a:r>
            <a:r>
              <a:rPr lang="en-US" altLang="zh-CN" sz="2000" b="1">
                <a:solidFill>
                  <a:srgbClr val="692AA2"/>
                </a:solidFill>
                <a:latin typeface="仿宋_GB2312" pitchFamily="49" charset="-122"/>
                <a:ea typeface="仿宋_GB2312" pitchFamily="49" charset="-122"/>
              </a:rPr>
              <a:t>0.1~0.5</a:t>
            </a:r>
            <a:r>
              <a:rPr lang="zh-CN" altLang="en-US" sz="2000" b="1">
                <a:solidFill>
                  <a:srgbClr val="692AA2"/>
                </a:solidFill>
                <a:latin typeface="仿宋_GB2312" pitchFamily="49" charset="-122"/>
                <a:ea typeface="仿宋_GB2312" pitchFamily="49" charset="-122"/>
              </a:rPr>
              <a:t>之间，比如可以考虑取</a:t>
            </a:r>
            <a:r>
              <a:rPr lang="en-US" altLang="zh-CN" sz="2000" b="1">
                <a:solidFill>
                  <a:srgbClr val="692AA2"/>
                </a:solidFill>
                <a:latin typeface="仿宋_GB2312" pitchFamily="49" charset="-122"/>
                <a:ea typeface="仿宋_GB2312" pitchFamily="49" charset="-122"/>
              </a:rPr>
              <a:t>0.2</a:t>
            </a:r>
            <a:r>
              <a:rPr lang="zh-CN" altLang="en-US" sz="2000" b="1">
                <a:solidFill>
                  <a:srgbClr val="692AA2"/>
                </a:solidFill>
                <a:latin typeface="仿宋_GB2312" pitchFamily="49" charset="-122"/>
                <a:ea typeface="仿宋_GB2312" pitchFamily="49" charset="-122"/>
              </a:rPr>
              <a:t>　</a:t>
            </a:r>
            <a:r>
              <a:rPr lang="en-US" altLang="zh-CN" sz="2000" b="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单位：</a:t>
            </a:r>
            <a:r>
              <a:rPr lang="en-US" altLang="zh-CN" sz="2000" b="1">
                <a:solidFill>
                  <a:srgbClr val="692AA2"/>
                </a:solidFill>
                <a:latin typeface="仿宋_GB2312" pitchFamily="49" charset="-122"/>
                <a:ea typeface="仿宋_GB2312" pitchFamily="49" charset="-122"/>
              </a:rPr>
              <a:t>1/</a:t>
            </a:r>
            <a:r>
              <a:rPr lang="zh-CN" altLang="en-US" sz="2000" b="1">
                <a:solidFill>
                  <a:srgbClr val="692AA2"/>
                </a:solidFill>
                <a:latin typeface="仿宋_GB2312" pitchFamily="49" charset="-122"/>
                <a:ea typeface="仿宋_GB2312" pitchFamily="49" charset="-122"/>
              </a:rPr>
              <a:t>天</a:t>
            </a:r>
            <a:r>
              <a:rPr lang="en-US" altLang="zh-CN" sz="2000" b="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。附件</a:t>
            </a:r>
            <a:r>
              <a:rPr lang="en-US" altLang="zh-CN" sz="2000" b="1">
                <a:solidFill>
                  <a:srgbClr val="692AA2"/>
                </a:solidFill>
                <a:latin typeface="仿宋_GB2312" pitchFamily="49" charset="-122"/>
                <a:ea typeface="仿宋_GB2312" pitchFamily="49" charset="-122"/>
              </a:rPr>
              <a:t>4</a:t>
            </a:r>
            <a:r>
              <a:rPr lang="zh-CN" altLang="en-US" sz="2000" b="1">
                <a:solidFill>
                  <a:srgbClr val="692AA2"/>
                </a:solidFill>
                <a:latin typeface="仿宋_GB2312" pitchFamily="49" charset="-122"/>
                <a:ea typeface="仿宋_GB2312" pitchFamily="49" charset="-122"/>
              </a:rPr>
              <a:t>是</a:t>
            </a:r>
            <a:r>
              <a:rPr lang="zh-CN" altLang="en-US" sz="2000" b="1">
                <a:solidFill>
                  <a:srgbClr val="692AA2"/>
                </a:solidFill>
                <a:latin typeface="宋体" panose="02010600030101010101" pitchFamily="2" charset="-122"/>
                <a:ea typeface="仿宋_GB2312" pitchFamily="49" charset="-122"/>
              </a:rPr>
              <a:t>“</a:t>
            </a:r>
            <a:r>
              <a:rPr lang="en-US" altLang="zh-CN" sz="2000" b="1">
                <a:solidFill>
                  <a:srgbClr val="692AA2"/>
                </a:solidFill>
                <a:latin typeface="仿宋_GB2312" pitchFamily="49" charset="-122"/>
                <a:ea typeface="仿宋_GB2312" pitchFamily="49" charset="-122"/>
              </a:rPr>
              <a:t>1995~2004</a:t>
            </a:r>
            <a:r>
              <a:rPr lang="zh-CN" altLang="en-US" sz="2000" b="1">
                <a:solidFill>
                  <a:srgbClr val="692AA2"/>
                </a:solidFill>
                <a:latin typeface="仿宋_GB2312" pitchFamily="49" charset="-122"/>
                <a:ea typeface="仿宋_GB2312" pitchFamily="49" charset="-122"/>
              </a:rPr>
              <a:t>年长江流域水质报告</a:t>
            </a:r>
            <a:r>
              <a:rPr lang="zh-CN" altLang="en-US" sz="2000" b="1">
                <a:solidFill>
                  <a:srgbClr val="692AA2"/>
                </a:solidFill>
                <a:latin typeface="宋体" panose="02010600030101010101" pitchFamily="2" charset="-122"/>
                <a:ea typeface="仿宋_GB2312" pitchFamily="49" charset="-122"/>
              </a:rPr>
              <a:t>”</a:t>
            </a:r>
            <a:r>
              <a:rPr lang="zh-CN" altLang="en-US" sz="2000" b="1">
                <a:solidFill>
                  <a:srgbClr val="692AA2"/>
                </a:solidFill>
                <a:latin typeface="仿宋_GB2312" pitchFamily="49" charset="-122"/>
                <a:ea typeface="仿宋_GB2312" pitchFamily="49" charset="-122"/>
              </a:rPr>
              <a:t>给出的主要统计数据。下面的附表是国标</a:t>
            </a:r>
            <a:r>
              <a:rPr lang="en-US" altLang="zh-CN" sz="2000" b="1">
                <a:solidFill>
                  <a:srgbClr val="692AA2"/>
                </a:solidFill>
                <a:latin typeface="仿宋_GB2312" pitchFamily="49" charset="-122"/>
                <a:ea typeface="仿宋_GB2312" pitchFamily="49" charset="-122"/>
              </a:rPr>
              <a:t>(GB3838-2002) </a:t>
            </a:r>
            <a:r>
              <a:rPr lang="zh-CN" altLang="en-US" sz="2000" b="1">
                <a:solidFill>
                  <a:srgbClr val="692AA2"/>
                </a:solidFill>
                <a:latin typeface="仿宋_GB2312" pitchFamily="49" charset="-122"/>
                <a:ea typeface="仿宋_GB2312" pitchFamily="49" charset="-122"/>
              </a:rPr>
              <a:t>给出的</a:t>
            </a:r>
            <a:r>
              <a:rPr lang="en-US" altLang="zh-CN" sz="2000" b="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地表水环境质量标准</a:t>
            </a:r>
            <a:r>
              <a:rPr lang="en-US" altLang="zh-CN" sz="2000" b="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中</a:t>
            </a:r>
            <a:r>
              <a:rPr lang="en-US" altLang="zh-CN" sz="2000" b="1">
                <a:solidFill>
                  <a:srgbClr val="692AA2"/>
                </a:solidFill>
                <a:latin typeface="仿宋_GB2312" pitchFamily="49" charset="-122"/>
                <a:ea typeface="仿宋_GB2312" pitchFamily="49" charset="-122"/>
              </a:rPr>
              <a:t>4</a:t>
            </a:r>
            <a:r>
              <a:rPr lang="zh-CN" altLang="en-US" sz="2000" b="1">
                <a:solidFill>
                  <a:srgbClr val="692AA2"/>
                </a:solidFill>
                <a:latin typeface="仿宋_GB2312" pitchFamily="49" charset="-122"/>
                <a:ea typeface="仿宋_GB2312" pitchFamily="49" charset="-122"/>
              </a:rPr>
              <a:t>个主要项目标准限值，其中</a:t>
            </a:r>
            <a:r>
              <a:rPr lang="en-US" altLang="zh-CN" sz="2000" b="1">
                <a:solidFill>
                  <a:srgbClr val="692AA2"/>
                </a:solidFill>
                <a:latin typeface="仿宋_GB2312" pitchFamily="49" charset="-122"/>
                <a:ea typeface="仿宋_GB2312" pitchFamily="49" charset="-122"/>
              </a:rPr>
              <a:t>Ⅰ</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Ⅱ</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Ⅲ</a:t>
            </a:r>
            <a:r>
              <a:rPr lang="zh-CN" altLang="en-US" sz="2000" b="1">
                <a:solidFill>
                  <a:srgbClr val="692AA2"/>
                </a:solidFill>
                <a:latin typeface="仿宋_GB2312" pitchFamily="49" charset="-122"/>
                <a:ea typeface="仿宋_GB2312" pitchFamily="49" charset="-122"/>
              </a:rPr>
              <a:t>类为可饮用水。</a:t>
            </a:r>
            <a:endParaRPr lang="zh-CN" altLang="en-US" sz="2000" b="1">
              <a:solidFill>
                <a:srgbClr val="692AA2"/>
              </a:solidFill>
              <a:latin typeface="仿宋_GB2312" pitchFamily="49" charset="-122"/>
              <a:ea typeface="仿宋_GB2312" pitchFamily="49" charset="-122"/>
            </a:endParaRPr>
          </a:p>
          <a:p>
            <a:pPr eaLnBrk="1" hangingPunct="1">
              <a:lnSpc>
                <a:spcPct val="80000"/>
              </a:lnSpc>
              <a:buNone/>
            </a:pPr>
            <a:r>
              <a:rPr lang="zh-CN" altLang="en-US" sz="2000" b="1">
                <a:solidFill>
                  <a:srgbClr val="692AA2"/>
                </a:solidFill>
                <a:latin typeface="仿宋_GB2312" pitchFamily="49" charset="-122"/>
                <a:ea typeface="仿宋_GB2312" pitchFamily="49" charset="-122"/>
              </a:rPr>
              <a:t>    </a:t>
            </a:r>
            <a:endParaRPr lang="zh-CN" altLang="en-US" sz="2000" b="1">
              <a:solidFill>
                <a:srgbClr val="692AA2"/>
              </a:solidFill>
              <a:latin typeface="仿宋_GB2312" pitchFamily="49" charset="-122"/>
              <a:ea typeface="仿宋_GB2312" pitchFamily="49" charset="-122"/>
            </a:endParaRPr>
          </a:p>
          <a:p>
            <a:pPr eaLnBrk="1" hangingPunct="1">
              <a:lnSpc>
                <a:spcPct val="80000"/>
              </a:lnSpc>
              <a:buNone/>
            </a:pPr>
            <a:r>
              <a:rPr lang="zh-CN" altLang="en-US" sz="2000" b="1">
                <a:solidFill>
                  <a:srgbClr val="692AA2"/>
                </a:solidFill>
                <a:ea typeface="仿宋_GB2312" pitchFamily="49" charset="-122"/>
              </a:rPr>
              <a:t>  </a:t>
            </a:r>
            <a:endParaRPr lang="zh-CN" altLang="en-US" sz="2000" b="1">
              <a:solidFill>
                <a:srgbClr val="692AA2"/>
              </a:solidFill>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82626">
                                            <p:txEl>
                                              <p:charRg st="6" end="324"/>
                                            </p:txEl>
                                          </p:spTgt>
                                        </p:tgtEl>
                                        <p:attrNameLst>
                                          <p:attrName>style.visibility</p:attrName>
                                        </p:attrNameLst>
                                      </p:cBhvr>
                                      <p:to>
                                        <p:strVal val="visible"/>
                                      </p:to>
                                    </p:set>
                                    <p:animEffect transition="in" filter="wedge">
                                      <p:cBhvr>
                                        <p:cTn id="7" dur="500"/>
                                        <p:tgtEl>
                                          <p:spTgt spid="282626">
                                            <p:txEl>
                                              <p:charRg st="6" end="3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6"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3650" name="Rectangle 2"/>
          <p:cNvSpPr>
            <a:spLocks noGrp="1"/>
          </p:cNvSpPr>
          <p:nvPr>
            <p:ph idx="1"/>
          </p:nvPr>
        </p:nvSpPr>
        <p:spPr>
          <a:xfrm>
            <a:off x="566738" y="1509713"/>
            <a:ext cx="8001000" cy="3452812"/>
          </a:xfrm>
          <a:ln/>
        </p:spPr>
        <p:txBody>
          <a:bodyPr vert="horz" wrap="square" lIns="91440" tIns="45720" rIns="91440" bIns="45720" anchor="t"/>
          <a:p>
            <a:pPr eaLnBrk="1" hangingPunct="1">
              <a:lnSpc>
                <a:spcPct val="110000"/>
              </a:lnSpc>
              <a:buNone/>
            </a:pPr>
            <a:r>
              <a:rPr lang="zh-CN" altLang="en-US" sz="2400" b="1">
                <a:solidFill>
                  <a:srgbClr val="692AA2"/>
                </a:solidFill>
                <a:ea typeface="仿宋_GB2312" pitchFamily="49" charset="-122"/>
              </a:rPr>
              <a:t>请你们研究下列问题：</a:t>
            </a:r>
            <a:endParaRPr lang="zh-CN" altLang="en-US" sz="2400" b="1">
              <a:solidFill>
                <a:srgbClr val="692AA2"/>
              </a:solidFill>
              <a:ea typeface="仿宋_GB2312" pitchFamily="49" charset="-122"/>
            </a:endParaRPr>
          </a:p>
          <a:p>
            <a:pPr eaLnBrk="1" hangingPunct="1">
              <a:lnSpc>
                <a:spcPct val="110000"/>
              </a:lnSpc>
              <a:buNone/>
            </a:pPr>
            <a:r>
              <a:rPr lang="zh-CN" altLang="en-US" sz="2400" b="1">
                <a:solidFill>
                  <a:srgbClr val="692AA2"/>
                </a:solidFill>
                <a:ea typeface="仿宋_GB2312" pitchFamily="49" charset="-122"/>
              </a:rPr>
              <a:t>  （</a:t>
            </a:r>
            <a:r>
              <a:rPr lang="en-US" altLang="zh-CN" sz="2400" b="1">
                <a:solidFill>
                  <a:srgbClr val="692AA2"/>
                </a:solidFill>
                <a:ea typeface="仿宋_GB2312" pitchFamily="49" charset="-122"/>
              </a:rPr>
              <a:t>1</a:t>
            </a:r>
            <a:r>
              <a:rPr lang="zh-CN" altLang="en-US" sz="2400" b="1">
                <a:solidFill>
                  <a:srgbClr val="692AA2"/>
                </a:solidFill>
                <a:ea typeface="仿宋_GB2312" pitchFamily="49" charset="-122"/>
              </a:rPr>
              <a:t>）对长江近两年多的水质情况做出定量的综合评价，并分析各地区水质的污染状况 </a:t>
            </a:r>
            <a:endParaRPr lang="zh-CN" altLang="en-US" sz="2400" b="1">
              <a:solidFill>
                <a:srgbClr val="692AA2"/>
              </a:solidFill>
              <a:ea typeface="仿宋_GB2312" pitchFamily="49" charset="-122"/>
            </a:endParaRPr>
          </a:p>
          <a:p>
            <a:pPr eaLnBrk="1" hangingPunct="1">
              <a:lnSpc>
                <a:spcPct val="110000"/>
              </a:lnSpc>
              <a:buNone/>
            </a:pPr>
            <a:r>
              <a:rPr lang="zh-CN" altLang="en-US" sz="2400" b="1">
                <a:solidFill>
                  <a:srgbClr val="692AA2"/>
                </a:solidFill>
                <a:ea typeface="仿宋_GB2312" pitchFamily="49" charset="-122"/>
              </a:rPr>
              <a:t>  （</a:t>
            </a:r>
            <a:r>
              <a:rPr lang="en-US" altLang="zh-CN" sz="2400" b="1">
                <a:solidFill>
                  <a:srgbClr val="692AA2"/>
                </a:solidFill>
                <a:ea typeface="仿宋_GB2312" pitchFamily="49" charset="-122"/>
              </a:rPr>
              <a:t>2</a:t>
            </a:r>
            <a:r>
              <a:rPr lang="zh-CN" altLang="en-US" sz="2400" b="1">
                <a:solidFill>
                  <a:srgbClr val="692AA2"/>
                </a:solidFill>
                <a:ea typeface="仿宋_GB2312" pitchFamily="49" charset="-122"/>
              </a:rPr>
              <a:t>）研究、分析长江干流近一年多主要污染物高锰酸盐指数和氨氮的污染源主要在哪些地区</a:t>
            </a:r>
            <a:r>
              <a:rPr lang="en-US" altLang="zh-CN" sz="2400" b="1">
                <a:solidFill>
                  <a:srgbClr val="692AA2"/>
                </a:solidFill>
                <a:ea typeface="仿宋_GB2312" pitchFamily="49" charset="-122"/>
              </a:rPr>
              <a:t>?</a:t>
            </a:r>
            <a:endParaRPr lang="en-US" altLang="zh-CN" sz="2400" b="1">
              <a:solidFill>
                <a:srgbClr val="692AA2"/>
              </a:solidFill>
              <a:ea typeface="仿宋_GB2312" pitchFamily="49" charset="-122"/>
            </a:endParaRPr>
          </a:p>
          <a:p>
            <a:pPr eaLnBrk="1" hangingPunct="1">
              <a:lnSpc>
                <a:spcPct val="110000"/>
              </a:lnSpc>
              <a:buNone/>
            </a:pPr>
            <a:r>
              <a:rPr lang="en-US" altLang="zh-CN" sz="2400" b="1">
                <a:solidFill>
                  <a:srgbClr val="692AA2"/>
                </a:solidFill>
                <a:ea typeface="仿宋_GB2312" pitchFamily="49" charset="-122"/>
              </a:rPr>
              <a:t>  </a:t>
            </a:r>
            <a:endParaRPr lang="en-US" altLang="zh-CN" sz="2400" b="1">
              <a:solidFill>
                <a:srgbClr val="692AA2"/>
              </a:solidFill>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3650">
                                            <p:txEl>
                                              <p:charRg st="0" end="11"/>
                                            </p:txEl>
                                          </p:spTgt>
                                        </p:tgtEl>
                                        <p:attrNameLst>
                                          <p:attrName>style.visibility</p:attrName>
                                        </p:attrNameLst>
                                      </p:cBhvr>
                                      <p:to>
                                        <p:strVal val="visible"/>
                                      </p:to>
                                    </p:set>
                                    <p:anim calcmode="lin" valueType="num">
                                      <p:cBhvr>
                                        <p:cTn id="7" dur="500" fill="hold"/>
                                        <p:tgtEl>
                                          <p:spTgt spid="283650">
                                            <p:txEl>
                                              <p:charRg st="0" end="11"/>
                                            </p:txEl>
                                          </p:spTgt>
                                        </p:tgtEl>
                                        <p:attrNameLst>
                                          <p:attrName>ppt_x</p:attrName>
                                        </p:attrNameLst>
                                      </p:cBhvr>
                                      <p:tavLst>
                                        <p:tav tm="0">
                                          <p:val>
                                            <p:strVal val="#ppt_x"/>
                                          </p:val>
                                        </p:tav>
                                        <p:tav tm="100000">
                                          <p:val>
                                            <p:strVal val="#ppt_x"/>
                                          </p:val>
                                        </p:tav>
                                      </p:tavLst>
                                    </p:anim>
                                    <p:anim calcmode="lin" valueType="num">
                                      <p:cBhvr>
                                        <p:cTn id="8" dur="500" fill="hold"/>
                                        <p:tgtEl>
                                          <p:spTgt spid="283650">
                                            <p:txEl>
                                              <p:charRg st="0" end="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283650">
                                            <p:txEl>
                                              <p:charRg st="11" end="53"/>
                                            </p:txEl>
                                          </p:spTgt>
                                        </p:tgtEl>
                                        <p:attrNameLst>
                                          <p:attrName>style.visibility</p:attrName>
                                        </p:attrNameLst>
                                      </p:cBhvr>
                                      <p:to>
                                        <p:strVal val="visible"/>
                                      </p:to>
                                    </p:set>
                                    <p:animEffect transition="in" filter="diamond(in)">
                                      <p:cBhvr>
                                        <p:cTn id="13" dur="500"/>
                                        <p:tgtEl>
                                          <p:spTgt spid="283650">
                                            <p:txEl>
                                              <p:charRg st="11" end="53"/>
                                            </p:txEl>
                                          </p:spTgt>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283650">
                                            <p:txEl>
                                              <p:charRg st="53" end="98"/>
                                            </p:txEl>
                                          </p:spTgt>
                                        </p:tgtEl>
                                        <p:attrNameLst>
                                          <p:attrName>style.visibility</p:attrName>
                                        </p:attrNameLst>
                                      </p:cBhvr>
                                      <p:to>
                                        <p:strVal val="visible"/>
                                      </p:to>
                                    </p:set>
                                    <p:animEffect transition="in" filter="diamond(in)">
                                      <p:cBhvr>
                                        <p:cTn id="16" dur="500"/>
                                        <p:tgtEl>
                                          <p:spTgt spid="283650">
                                            <p:txEl>
                                              <p:charRg st="53" end="98"/>
                                            </p:txEl>
                                          </p:spTgt>
                                        </p:tgtEl>
                                      </p:cBhvr>
                                    </p:animEffect>
                                  </p:childTnLst>
                                </p:cTn>
                              </p:par>
                              <p:par>
                                <p:cTn id="17" presetID="8" presetClass="entr" presetSubtype="16" fill="hold" grpId="0" nodeType="withEffect">
                                  <p:stCondLst>
                                    <p:cond delay="0"/>
                                  </p:stCondLst>
                                  <p:childTnLst>
                                    <p:set>
                                      <p:cBhvr>
                                        <p:cTn id="18" dur="1" fill="hold">
                                          <p:stCondLst>
                                            <p:cond delay="0"/>
                                          </p:stCondLst>
                                        </p:cTn>
                                        <p:tgtEl>
                                          <p:spTgt spid="283650">
                                            <p:txEl>
                                              <p:charRg st="98" end="101"/>
                                            </p:txEl>
                                          </p:spTgt>
                                        </p:tgtEl>
                                        <p:attrNameLst>
                                          <p:attrName>style.visibility</p:attrName>
                                        </p:attrNameLst>
                                      </p:cBhvr>
                                      <p:to>
                                        <p:strVal val="visible"/>
                                      </p:to>
                                    </p:set>
                                    <p:animEffect transition="in" filter="diamond(in)">
                                      <p:cBhvr>
                                        <p:cTn id="19" dur="500"/>
                                        <p:tgtEl>
                                          <p:spTgt spid="283650">
                                            <p:txEl>
                                              <p:charRg st="98"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0"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84674" name="Group 2"/>
          <p:cNvGraphicFramePr>
            <a:graphicFrameLocks noGrp="1"/>
          </p:cNvGraphicFramePr>
          <p:nvPr>
            <p:ph idx="1"/>
          </p:nvPr>
        </p:nvGraphicFramePr>
        <p:xfrm>
          <a:off x="863600" y="1927225"/>
          <a:ext cx="7704138" cy="4264025"/>
        </p:xfrm>
        <a:graphic>
          <a:graphicData uri="http://schemas.openxmlformats.org/drawingml/2006/table">
            <a:tbl>
              <a:tblPr/>
              <a:tblGrid>
                <a:gridCol w="771525"/>
                <a:gridCol w="1195388"/>
                <a:gridCol w="890587"/>
                <a:gridCol w="920750"/>
                <a:gridCol w="920750"/>
                <a:gridCol w="919163"/>
                <a:gridCol w="917575"/>
                <a:gridCol w="1168400"/>
              </a:tblGrid>
              <a:tr h="225425">
                <a:tc rowSpan="2">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序号</a:t>
                      </a:r>
                      <a:endPar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endParaRPr kumimoji="0" lang="zh-CN"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vert="eaVert"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chemeClr val="bg1"/>
                    </a:solidFill>
                  </a:tcPr>
                </a:tc>
                <a:tc rowSpan="2">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Ⅰ</a:t>
                      </a:r>
                      <a:r>
                        <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r>
                        <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gradFill rotWithShape="0">
                      <a:gsLst>
                        <a:gs pos="0">
                          <a:srgbClr val="2F4776"/>
                        </a:gs>
                        <a:gs pos="50000">
                          <a:srgbClr val="6699FF"/>
                        </a:gs>
                        <a:gs pos="100000">
                          <a:srgbClr val="2F4776"/>
                        </a:gs>
                      </a:gsLst>
                      <a:lin ang="5400000" scaled="1"/>
                    </a:gradFill>
                  </a:tcPr>
                </a:tc>
                <a:tc rowSpan="2">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Ⅱ</a:t>
                      </a:r>
                      <a:r>
                        <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endPar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2F4776"/>
                        </a:gs>
                        <a:gs pos="50000">
                          <a:srgbClr val="6699FF"/>
                        </a:gs>
                        <a:gs pos="100000">
                          <a:srgbClr val="2F4776"/>
                        </a:gs>
                      </a:gsLst>
                      <a:lin ang="5400000" scaled="1"/>
                    </a:gradFill>
                  </a:tcPr>
                </a:tc>
                <a:tc rowSpan="2">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Ⅲ</a:t>
                      </a:r>
                      <a:r>
                        <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r>
                        <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2F4776"/>
                        </a:gs>
                        <a:gs pos="50000">
                          <a:srgbClr val="6699FF"/>
                        </a:gs>
                        <a:gs pos="100000">
                          <a:srgbClr val="2F4776"/>
                        </a:gs>
                      </a:gsLst>
                      <a:lin ang="5400000" scaled="1"/>
                    </a:gradFill>
                  </a:tcPr>
                </a:tc>
                <a:tc rowSpan="2">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Ⅳ</a:t>
                      </a:r>
                      <a:r>
                        <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r>
                        <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2F4776"/>
                        </a:gs>
                        <a:gs pos="50000">
                          <a:srgbClr val="6699FF"/>
                        </a:gs>
                        <a:gs pos="100000">
                          <a:srgbClr val="2F4776"/>
                        </a:gs>
                      </a:gsLst>
                      <a:lin ang="5400000" scaled="1"/>
                    </a:gradFill>
                  </a:tcPr>
                </a:tc>
                <a:tc rowSpan="2">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Ⅴ</a:t>
                      </a:r>
                      <a:r>
                        <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endPar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2F4776"/>
                        </a:gs>
                        <a:gs pos="50000">
                          <a:srgbClr val="6699FF"/>
                        </a:gs>
                        <a:gs pos="100000">
                          <a:srgbClr val="2F4776"/>
                        </a:gs>
                      </a:gsLst>
                      <a:lin ang="5400000" scaled="1"/>
                    </a:gradFill>
                  </a:tcPr>
                </a:tc>
                <a:tc rowSpan="2">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劣</a:t>
                      </a:r>
                      <a:r>
                        <a:rPr kumimoji="0" lang="en-US" altLang="zh-CN"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Ⅴ</a:t>
                      </a:r>
                      <a:r>
                        <a:rPr kumimoji="0" lang="zh-CN" altLang="en-US" sz="2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r>
                        <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2F4776"/>
                        </a:gs>
                        <a:gs pos="50000">
                          <a:srgbClr val="6699FF"/>
                        </a:gs>
                        <a:gs pos="100000">
                          <a:srgbClr val="2F4776"/>
                        </a:gs>
                      </a:gsLst>
                      <a:lin ang="5400000" scaled="1"/>
                    </a:gradFill>
                  </a:tcPr>
                </a:tc>
              </a:tr>
              <a:tr h="155575">
                <a:tc vMerge="1">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endParaRPr kumimoji="0" lang="zh-CN"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vert="eaVert"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ysDot"/>
                      <a:round/>
                      <a:headEnd type="none" w="med" len="med"/>
                      <a:tailEnd type="none" w="med" len="med"/>
                    </a:lnTlToBr>
                    <a:lnBlToTr>
                      <a:noFill/>
                    </a:lnBlToTr>
                    <a:noFill/>
                  </a:tcPr>
                </a:tc>
                <a:tc vMerge="1">
                  <a:tcPr/>
                </a:tc>
                <a:tc vMerge="1">
                  <a:tcPr/>
                </a:tc>
                <a:tc vMerge="1">
                  <a:tcPr/>
                </a:tc>
                <a:tc vMerge="1">
                  <a:tcPr/>
                </a:tc>
                <a:tc vMerge="1">
                  <a:tcPr/>
                </a:tc>
                <a:tc vMerge="1">
                  <a:tcPr/>
                </a:tc>
              </a:tr>
              <a:tr h="1012825">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rgbClr val="7C96B0"/>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endParaRPr kumimoji="0" lang="zh-CN"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vert="eaVert"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l"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7.5</a:t>
                      </a:r>
                      <a:endParaRPr kumimoji="0" lang="en-US" altLang="zh-CN"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p>
                      <a:pPr marL="0" marR="0" lvl="0" indent="0" algn="l"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（或饱和率</a:t>
                      </a:r>
                      <a:r>
                        <a:rPr kumimoji="0" lang="en-US" altLang="zh-CN"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90%</a:t>
                      </a:r>
                      <a:r>
                        <a:rPr kumimoji="0" lang="zh-CN" altLang="en-US"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6</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5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3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0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r>
              <a:tr h="649288">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rgbClr val="7C96B0"/>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高锰酸盐指数</a:t>
                      </a:r>
                      <a:r>
                        <a:rPr kumimoji="0" lang="en-US" altLang="zh-CN"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(CODMn) ≤ </a:t>
                      </a:r>
                      <a:endParaRPr kumimoji="0" lang="en-US" altLang="zh-CN"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rgbClr val="7C96B0"/>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4</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6</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10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15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r>
              <a:tr h="466725">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rgbClr val="7C96B0"/>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氨氮（</a:t>
                      </a:r>
                      <a:r>
                        <a:rPr kumimoji="0" lang="en-US" altLang="zh-CN"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NH3-N</a:t>
                      </a:r>
                      <a:r>
                        <a:rPr kumimoji="0" lang="zh-CN" altLang="en-US"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a:t>
                      </a:r>
                      <a:r>
                        <a:rPr kumimoji="0" lang="zh-CN" altLang="en-US" sz="1400" b="1" i="0" u="none" strike="noStrike" cap="none" normalizeH="0" baseline="0" smtClean="0">
                          <a:ln>
                            <a:noFill/>
                          </a:ln>
                          <a:solidFill>
                            <a:srgbClr val="0000FF"/>
                          </a:solidFill>
                          <a:effectLst/>
                          <a:latin typeface="Arial" panose="020B0604020202020204" pitchFamily="34" charset="0"/>
                          <a:ea typeface="黑体" panose="02010609060101010101" pitchFamily="2" charset="-122"/>
                        </a:rPr>
                        <a:t>     </a:t>
                      </a:r>
                      <a:r>
                        <a:rPr kumimoji="0" lang="zh-CN" altLang="en-US"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r>
                        <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rgbClr val="7C96B0"/>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0.15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0.5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1.0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1.5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2.0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r>
              <a:tr h="180975">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rgbClr val="7C96B0"/>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PH</a:t>
                      </a:r>
                      <a:r>
                        <a:rPr kumimoji="0" lang="zh-CN" altLang="en-US" sz="14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值（无量纲</a:t>
                      </a:r>
                      <a:r>
                        <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rgbClr val="7C96B0"/>
                        </a:gs>
                      </a:gsLst>
                      <a:lin ang="5400000" scaled="1"/>
                    </a:gradFill>
                  </a:tcPr>
                </a:tc>
                <a:tc gridSpan="6">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6---9 </a:t>
                      </a:r>
                      <a:endParaRPr kumimoji="0" lang="en-US"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D8D8D8"/>
                        </a:gs>
                        <a:gs pos="100000">
                          <a:srgbClr val="FFFFFF"/>
                        </a:gs>
                      </a:gsLst>
                      <a:lin ang="2700000" scaled="1"/>
                    </a:gradFill>
                  </a:tcPr>
                </a:tc>
                <a:tc hMerge="1">
                  <a:tcPr/>
                </a:tc>
                <a:tc hMerge="1">
                  <a:tcPr/>
                </a:tc>
                <a:tc hMerge="1">
                  <a:tcPr/>
                </a:tc>
                <a:tc hMerge="1">
                  <a:tcPr/>
                </a:tc>
                <a:tc hMerge="1">
                  <a:tcPr/>
                </a:tc>
              </a:tr>
            </a:tbl>
          </a:graphicData>
        </a:graphic>
      </p:graphicFrame>
      <p:grpSp>
        <p:nvGrpSpPr>
          <p:cNvPr id="2" name="Group 67"/>
          <p:cNvGrpSpPr/>
          <p:nvPr/>
        </p:nvGrpSpPr>
        <p:grpSpPr>
          <a:xfrm>
            <a:off x="1720850" y="2057400"/>
            <a:ext cx="1403350" cy="1360488"/>
            <a:chOff x="1084" y="1296"/>
            <a:chExt cx="884" cy="857"/>
          </a:xfrm>
        </p:grpSpPr>
        <p:grpSp>
          <p:nvGrpSpPr>
            <p:cNvPr id="183358" name="Group 68"/>
            <p:cNvGrpSpPr/>
            <p:nvPr/>
          </p:nvGrpSpPr>
          <p:grpSpPr>
            <a:xfrm>
              <a:off x="1084" y="1296"/>
              <a:ext cx="884" cy="365"/>
              <a:chOff x="1084" y="1296"/>
              <a:chExt cx="884" cy="365"/>
            </a:xfrm>
          </p:grpSpPr>
          <p:sp>
            <p:nvSpPr>
              <p:cNvPr id="183359" name="Text Box 69"/>
              <p:cNvSpPr txBox="1"/>
              <p:nvPr/>
            </p:nvSpPr>
            <p:spPr>
              <a:xfrm>
                <a:off x="1439" y="1296"/>
                <a:ext cx="529" cy="173"/>
              </a:xfrm>
              <a:prstGeom prst="rect">
                <a:avLst/>
              </a:prstGeom>
              <a:noFill/>
              <a:ln w="9525">
                <a:noFill/>
              </a:ln>
            </p:spPr>
            <p:txBody>
              <a:bodyPr anchor="t">
                <a:spAutoFit/>
              </a:bodyPr>
              <a:p>
                <a:r>
                  <a:rPr lang="zh-CN" altLang="en-US" sz="1200" b="1">
                    <a:latin typeface="Arial" panose="020B0604020202020204" pitchFamily="34" charset="0"/>
                    <a:ea typeface="宋体" panose="02010600030101010101" pitchFamily="2" charset="-122"/>
                  </a:rPr>
                  <a:t>分类</a:t>
                </a:r>
                <a:endParaRPr lang="zh-CN" altLang="en-US" sz="1200" b="1">
                  <a:latin typeface="Arial" panose="020B0604020202020204" pitchFamily="34" charset="0"/>
                  <a:ea typeface="宋体" panose="02010600030101010101" pitchFamily="2" charset="-122"/>
                </a:endParaRPr>
              </a:p>
            </p:txBody>
          </p:sp>
          <p:sp>
            <p:nvSpPr>
              <p:cNvPr id="183360" name="Text Box 70"/>
              <p:cNvSpPr txBox="1"/>
              <p:nvPr/>
            </p:nvSpPr>
            <p:spPr>
              <a:xfrm>
                <a:off x="1084" y="1363"/>
                <a:ext cx="404" cy="173"/>
              </a:xfrm>
              <a:prstGeom prst="rect">
                <a:avLst/>
              </a:prstGeom>
              <a:noFill/>
              <a:ln w="9525">
                <a:noFill/>
              </a:ln>
            </p:spPr>
            <p:txBody>
              <a:bodyPr wrap="none" anchor="t">
                <a:spAutoFit/>
              </a:bodyPr>
              <a:p>
                <a:r>
                  <a:rPr lang="zh-CN" altLang="en-US" sz="1200" b="1">
                    <a:latin typeface="Arial" panose="020B0604020202020204" pitchFamily="34" charset="0"/>
                    <a:ea typeface="宋体" panose="02010600030101010101" pitchFamily="2" charset="-122"/>
                  </a:rPr>
                  <a:t>标准值</a:t>
                </a:r>
                <a:endParaRPr lang="zh-CN" altLang="en-US" sz="1200" b="1">
                  <a:latin typeface="Arial" panose="020B0604020202020204" pitchFamily="34" charset="0"/>
                  <a:ea typeface="宋体" panose="02010600030101010101" pitchFamily="2" charset="-122"/>
                </a:endParaRPr>
              </a:p>
            </p:txBody>
          </p:sp>
          <p:sp>
            <p:nvSpPr>
              <p:cNvPr id="183361" name="Text Box 71"/>
              <p:cNvSpPr txBox="1"/>
              <p:nvPr/>
            </p:nvSpPr>
            <p:spPr>
              <a:xfrm>
                <a:off x="1084" y="1488"/>
                <a:ext cx="308" cy="173"/>
              </a:xfrm>
              <a:prstGeom prst="rect">
                <a:avLst/>
              </a:prstGeom>
              <a:noFill/>
              <a:ln w="9525">
                <a:noFill/>
              </a:ln>
            </p:spPr>
            <p:txBody>
              <a:bodyPr wrap="none" anchor="t">
                <a:spAutoFit/>
              </a:bodyPr>
              <a:p>
                <a:r>
                  <a:rPr lang="zh-CN" altLang="en-US" sz="1200" b="1">
                    <a:latin typeface="Arial" panose="020B0604020202020204" pitchFamily="34" charset="0"/>
                    <a:ea typeface="宋体" panose="02010600030101010101" pitchFamily="2" charset="-122"/>
                  </a:rPr>
                  <a:t>项目</a:t>
                </a:r>
                <a:endParaRPr lang="zh-CN" altLang="en-US" sz="1200" b="1">
                  <a:latin typeface="Arial" panose="020B0604020202020204" pitchFamily="34" charset="0"/>
                  <a:ea typeface="宋体" panose="02010600030101010101" pitchFamily="2" charset="-122"/>
                </a:endParaRPr>
              </a:p>
            </p:txBody>
          </p:sp>
        </p:grpSp>
        <p:sp>
          <p:nvSpPr>
            <p:cNvPr id="183362" name="Text Box 72"/>
            <p:cNvSpPr txBox="1"/>
            <p:nvPr/>
          </p:nvSpPr>
          <p:spPr>
            <a:xfrm>
              <a:off x="1156" y="1827"/>
              <a:ext cx="668" cy="326"/>
            </a:xfrm>
            <a:prstGeom prst="rect">
              <a:avLst/>
            </a:prstGeom>
            <a:noFill/>
            <a:ln w="9525">
              <a:noFill/>
            </a:ln>
          </p:spPr>
          <p:txBody>
            <a:bodyPr anchor="t">
              <a:spAutoFit/>
            </a:bodyPr>
            <a:p>
              <a:r>
                <a:rPr lang="zh-CN" altLang="en-US" sz="1400" b="1">
                  <a:latin typeface="Arial" panose="020B0604020202020204" pitchFamily="34" charset="0"/>
                  <a:ea typeface="宋体" panose="02010600030101010101" pitchFamily="2" charset="-122"/>
                </a:rPr>
                <a:t>溶解</a:t>
              </a:r>
              <a:r>
                <a:rPr lang="en-US" altLang="zh-CN" sz="1400" b="1">
                  <a:latin typeface="Arial" panose="020B0604020202020204" pitchFamily="34" charset="0"/>
                  <a:ea typeface="宋体" panose="02010600030101010101" pitchFamily="2" charset="-122"/>
                </a:rPr>
                <a:t>(DO) </a:t>
              </a:r>
              <a:endParaRPr lang="en-US" altLang="zh-CN" sz="1400" b="1">
                <a:latin typeface="Arial" panose="020B0604020202020204" pitchFamily="34" charset="0"/>
                <a:ea typeface="宋体" panose="02010600030101010101" pitchFamily="2" charset="-122"/>
              </a:endParaRPr>
            </a:p>
            <a:p>
              <a:r>
                <a:rPr lang="en-US" altLang="zh-CN" sz="1400" b="1">
                  <a:latin typeface="Arial" panose="020B0604020202020204" pitchFamily="34" charset="0"/>
                  <a:ea typeface="宋体" panose="02010600030101010101" pitchFamily="2" charset="-122"/>
                </a:rPr>
                <a:t>  ≥ </a:t>
              </a:r>
              <a:endParaRPr lang="en-US" altLang="zh-CN" sz="1400" b="1">
                <a:latin typeface="Arial" panose="020B0604020202020204" pitchFamily="34" charset="0"/>
                <a:ea typeface="宋体" panose="02010600030101010101" pitchFamily="2" charset="-122"/>
              </a:endParaRPr>
            </a:p>
          </p:txBody>
        </p:sp>
      </p:grpSp>
      <p:sp>
        <p:nvSpPr>
          <p:cNvPr id="183363" name="Text Box 73"/>
          <p:cNvSpPr txBox="1"/>
          <p:nvPr/>
        </p:nvSpPr>
        <p:spPr>
          <a:xfrm>
            <a:off x="2894013" y="3509963"/>
            <a:ext cx="184150" cy="519112"/>
          </a:xfrm>
          <a:prstGeom prst="rect">
            <a:avLst/>
          </a:prstGeom>
          <a:noFill/>
          <a:ln w="9525">
            <a:noFill/>
          </a:ln>
        </p:spPr>
        <p:txBody>
          <a:bodyPr wrap="none" anchor="t">
            <a:spAutoFit/>
          </a:bodyPr>
          <a:p>
            <a:endParaRPr lang="zh-CN" altLang="zh-CN" sz="2800" b="1">
              <a:solidFill>
                <a:srgbClr val="832E9E"/>
              </a:solidFill>
              <a:latin typeface="Arial" panose="020B0604020202020204" pitchFamily="34" charset="0"/>
              <a:ea typeface="宋体" panose="02010600030101010101" pitchFamily="2" charset="-122"/>
            </a:endParaRPr>
          </a:p>
        </p:txBody>
      </p:sp>
      <p:sp>
        <p:nvSpPr>
          <p:cNvPr id="284746" name="Text Box 74"/>
          <p:cNvSpPr txBox="1"/>
          <p:nvPr/>
        </p:nvSpPr>
        <p:spPr>
          <a:xfrm>
            <a:off x="228600" y="1247775"/>
            <a:ext cx="8763000" cy="701675"/>
          </a:xfrm>
          <a:prstGeom prst="rect">
            <a:avLst/>
          </a:prstGeom>
          <a:noFill/>
          <a:ln w="9525">
            <a:noFill/>
          </a:ln>
        </p:spPr>
        <p:txBody>
          <a:bodyPr anchor="t">
            <a:spAutoFit/>
          </a:bodyPr>
          <a:p>
            <a:pPr algn="r"/>
            <a:r>
              <a:rPr lang="zh-CN" altLang="en-US" sz="2000" b="1">
                <a:solidFill>
                  <a:srgbClr val="692AA2"/>
                </a:solidFill>
                <a:latin typeface="仿宋_GB2312" pitchFamily="49" charset="-122"/>
                <a:ea typeface="仿宋_GB2312" pitchFamily="49" charset="-122"/>
              </a:rPr>
              <a:t>附表</a:t>
            </a:r>
            <a:r>
              <a:rPr lang="en-US" altLang="zh-CN" sz="2000" b="1">
                <a:solidFill>
                  <a:srgbClr val="692AA2"/>
                </a:solidFill>
                <a:latin typeface="仿宋_GB2312" pitchFamily="49" charset="-122"/>
                <a:ea typeface="仿宋_GB2312" pitchFamily="49" charset="-122"/>
              </a:rPr>
              <a:t>: 《</a:t>
            </a:r>
            <a:r>
              <a:rPr lang="zh-CN" altLang="en-US" sz="2000" b="1">
                <a:solidFill>
                  <a:srgbClr val="692AA2"/>
                </a:solidFill>
                <a:latin typeface="仿宋_GB2312" pitchFamily="49" charset="-122"/>
                <a:ea typeface="仿宋_GB2312" pitchFamily="49" charset="-122"/>
              </a:rPr>
              <a:t>地表水环境质量标准</a:t>
            </a:r>
            <a:r>
              <a:rPr lang="en-US" altLang="zh-CN" sz="2000" b="1">
                <a:solidFill>
                  <a:srgbClr val="692AA2"/>
                </a:solidFill>
                <a:latin typeface="仿宋_GB2312" pitchFamily="49" charset="-122"/>
                <a:ea typeface="仿宋_GB2312" pitchFamily="49" charset="-122"/>
              </a:rPr>
              <a:t>》</a:t>
            </a:r>
            <a:r>
              <a:rPr lang="zh-CN" altLang="en-US" sz="2000" b="1">
                <a:solidFill>
                  <a:srgbClr val="692AA2"/>
                </a:solidFill>
                <a:latin typeface="仿宋_GB2312" pitchFamily="49" charset="-122"/>
                <a:ea typeface="仿宋_GB2312" pitchFamily="49" charset="-122"/>
              </a:rPr>
              <a:t>（</a:t>
            </a:r>
            <a:r>
              <a:rPr lang="en-US" altLang="zh-CN" sz="2000" b="1">
                <a:solidFill>
                  <a:srgbClr val="692AA2"/>
                </a:solidFill>
                <a:latin typeface="仿宋_GB2312" pitchFamily="49" charset="-122"/>
                <a:ea typeface="仿宋_GB2312" pitchFamily="49" charset="-122"/>
              </a:rPr>
              <a:t>GB3838</a:t>
            </a:r>
            <a:r>
              <a:rPr lang="en-US" altLang="zh-CN" sz="2000" b="1">
                <a:solidFill>
                  <a:srgbClr val="692AA2"/>
                </a:solidFill>
                <a:latin typeface="宋体" panose="02010600030101010101" pitchFamily="2" charset="-122"/>
                <a:ea typeface="仿宋_GB2312" pitchFamily="49" charset="-122"/>
              </a:rPr>
              <a:t>—</a:t>
            </a:r>
            <a:r>
              <a:rPr lang="en-US" altLang="zh-CN" sz="2000" b="1">
                <a:solidFill>
                  <a:srgbClr val="692AA2"/>
                </a:solidFill>
                <a:latin typeface="仿宋_GB2312" pitchFamily="49" charset="-122"/>
                <a:ea typeface="仿宋_GB2312" pitchFamily="49" charset="-122"/>
              </a:rPr>
              <a:t>2002</a:t>
            </a:r>
            <a:r>
              <a:rPr lang="zh-CN" altLang="en-US" sz="2000" b="1">
                <a:solidFill>
                  <a:srgbClr val="692AA2"/>
                </a:solidFill>
                <a:latin typeface="仿宋_GB2312" pitchFamily="49" charset="-122"/>
                <a:ea typeface="仿宋_GB2312" pitchFamily="49" charset="-122"/>
              </a:rPr>
              <a:t>）中</a:t>
            </a:r>
            <a:r>
              <a:rPr lang="en-US" altLang="zh-CN" sz="2000" b="1">
                <a:solidFill>
                  <a:srgbClr val="692AA2"/>
                </a:solidFill>
                <a:latin typeface="仿宋_GB2312" pitchFamily="49" charset="-122"/>
                <a:ea typeface="仿宋_GB2312" pitchFamily="49" charset="-122"/>
              </a:rPr>
              <a:t>4</a:t>
            </a:r>
            <a:r>
              <a:rPr lang="zh-CN" altLang="en-US" sz="2000" b="1">
                <a:solidFill>
                  <a:srgbClr val="692AA2"/>
                </a:solidFill>
                <a:latin typeface="仿宋_GB2312" pitchFamily="49" charset="-122"/>
                <a:ea typeface="仿宋_GB2312" pitchFamily="49" charset="-122"/>
              </a:rPr>
              <a:t>个主要项目标准限值                                                                                                      单位：</a:t>
            </a:r>
            <a:r>
              <a:rPr lang="en-US" altLang="zh-CN" sz="2000" b="1">
                <a:solidFill>
                  <a:srgbClr val="692AA2"/>
                </a:solidFill>
                <a:latin typeface="仿宋_GB2312" pitchFamily="49" charset="-122"/>
                <a:ea typeface="仿宋_GB2312" pitchFamily="49" charset="-122"/>
              </a:rPr>
              <a:t>mg/L</a:t>
            </a:r>
            <a:endParaRPr lang="en-US" altLang="zh-CN" sz="2000" b="1">
              <a:solidFill>
                <a:srgbClr val="692AA2"/>
              </a:solidFill>
              <a:latin typeface="仿宋_GB2312" pitchFamily="49" charset="-122"/>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84746"/>
                                        </p:tgtEl>
                                        <p:attrNameLst>
                                          <p:attrName>style.visibility</p:attrName>
                                        </p:attrNameLst>
                                      </p:cBhvr>
                                      <p:to>
                                        <p:strVal val="visible"/>
                                      </p:to>
                                    </p:set>
                                    <p:anim calcmode="lin" valueType="num">
                                      <p:cBhvr>
                                        <p:cTn id="7" dur="500" fill="hold"/>
                                        <p:tgtEl>
                                          <p:spTgt spid="284746"/>
                                        </p:tgtEl>
                                        <p:attrNameLst>
                                          <p:attrName>ppt_w</p:attrName>
                                        </p:attrNameLst>
                                      </p:cBhvr>
                                      <p:tavLst>
                                        <p:tav tm="0">
                                          <p:val>
                                            <p:strVal val="#ppt_w*0.70"/>
                                          </p:val>
                                        </p:tav>
                                        <p:tav tm="100000">
                                          <p:val>
                                            <p:strVal val="#ppt_w"/>
                                          </p:val>
                                        </p:tav>
                                      </p:tavLst>
                                    </p:anim>
                                    <p:anim calcmode="lin" valueType="num">
                                      <p:cBhvr>
                                        <p:cTn id="8" dur="500" fill="hold"/>
                                        <p:tgtEl>
                                          <p:spTgt spid="284746"/>
                                        </p:tgtEl>
                                        <p:attrNameLst>
                                          <p:attrName>ppt_h</p:attrName>
                                        </p:attrNameLst>
                                      </p:cBhvr>
                                      <p:tavLst>
                                        <p:tav tm="0">
                                          <p:val>
                                            <p:strVal val="#ppt_h"/>
                                          </p:val>
                                        </p:tav>
                                        <p:tav tm="100000">
                                          <p:val>
                                            <p:strVal val="#ppt_h"/>
                                          </p:val>
                                        </p:tav>
                                      </p:tavLst>
                                    </p:anim>
                                    <p:animEffect transition="in" filter="fade">
                                      <p:cBhvr>
                                        <p:cTn id="9" dur="500"/>
                                        <p:tgtEl>
                                          <p:spTgt spid="284746"/>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284674"/>
                                        </p:tgtEl>
                                        <p:attrNameLst>
                                          <p:attrName>style.visibility</p:attrName>
                                        </p:attrNameLst>
                                      </p:cBhvr>
                                      <p:to>
                                        <p:strVal val="visible"/>
                                      </p:to>
                                    </p:set>
                                    <p:animEffect transition="in" filter="wipe(down)">
                                      <p:cBhvr>
                                        <p:cTn id="14" dur="145">
                                          <p:stCondLst>
                                            <p:cond delay="0"/>
                                          </p:stCondLst>
                                        </p:cTn>
                                        <p:tgtEl>
                                          <p:spTgt spid="284674"/>
                                        </p:tgtEl>
                                      </p:cBhvr>
                                    </p:animEffect>
                                    <p:anim calcmode="lin" valueType="num">
                                      <p:cBhvr>
                                        <p:cTn id="15" dur="457" tmFilter="0,0; 0.14,0.36; 0.43,0.73; 0.71,0.91; 1.0,1.0">
                                          <p:stCondLst>
                                            <p:cond delay="0"/>
                                          </p:stCondLst>
                                        </p:cTn>
                                        <p:tgtEl>
                                          <p:spTgt spid="284674"/>
                                        </p:tgtEl>
                                        <p:attrNameLst>
                                          <p:attrName>ppt_x</p:attrName>
                                        </p:attrNameLst>
                                      </p:cBhvr>
                                      <p:tavLst>
                                        <p:tav tm="0">
                                          <p:val>
                                            <p:strVal val="#ppt_x-0.25"/>
                                          </p:val>
                                        </p:tav>
                                        <p:tav tm="100000">
                                          <p:val>
                                            <p:strVal val="#ppt_x"/>
                                          </p:val>
                                        </p:tav>
                                      </p:tavLst>
                                    </p:anim>
                                    <p:anim calcmode="lin" valueType="num">
                                      <p:cBhvr>
                                        <p:cTn id="16" dur="166" tmFilter="0.0,0.0; 0.25,0.07; 0.50,0.2; 0.75,0.467; 1.0,1.0">
                                          <p:stCondLst>
                                            <p:cond delay="0"/>
                                          </p:stCondLst>
                                        </p:cTn>
                                        <p:tgtEl>
                                          <p:spTgt spid="284674"/>
                                        </p:tgtEl>
                                        <p:attrNameLst>
                                          <p:attrName>ppt_y</p:attrName>
                                        </p:attrNameLst>
                                      </p:cBhvr>
                                      <p:tavLst>
                                        <p:tav tm="0" fmla="#ppt_y-sin(pi*$)/3">
                                          <p:val>
                                            <p:fltVal val="0.500000"/>
                                          </p:val>
                                        </p:tav>
                                        <p:tav tm="100000">
                                          <p:val>
                                            <p:fltVal val="1.000000"/>
                                          </p:val>
                                        </p:tav>
                                      </p:tavLst>
                                    </p:anim>
                                    <p:anim calcmode="lin" valueType="num">
                                      <p:cBhvr>
                                        <p:cTn id="17" dur="166" tmFilter="0, 0; 0.125,0.2665; 0.25,0.4; 0.375,0.465; 0.5,0.5;  0.625,0.535; 0.75,0.6; 0.875,0.7335; 1,1">
                                          <p:stCondLst>
                                            <p:cond delay="166"/>
                                          </p:stCondLst>
                                        </p:cTn>
                                        <p:tgtEl>
                                          <p:spTgt spid="284674"/>
                                        </p:tgtEl>
                                        <p:attrNameLst>
                                          <p:attrName>ppt_y</p:attrName>
                                        </p:attrNameLst>
                                      </p:cBhvr>
                                      <p:tavLst>
                                        <p:tav tm="0" fmla="#ppt_y-sin(pi*$)/9">
                                          <p:val>
                                            <p:fltVal val="0.000000"/>
                                          </p:val>
                                        </p:tav>
                                        <p:tav tm="100000">
                                          <p:val>
                                            <p:fltVal val="1.000000"/>
                                          </p:val>
                                        </p:tav>
                                      </p:tavLst>
                                    </p:anim>
                                    <p:anim calcmode="lin" valueType="num">
                                      <p:cBhvr>
                                        <p:cTn id="18" dur="83" tmFilter="0, 0; 0.125,0.2665; 0.25,0.4; 0.375,0.465; 0.5,0.5;  0.625,0.535; 0.75,0.6; 0.875,0.7335; 1,1">
                                          <p:stCondLst>
                                            <p:cond delay="332"/>
                                          </p:stCondLst>
                                        </p:cTn>
                                        <p:tgtEl>
                                          <p:spTgt spid="284674"/>
                                        </p:tgtEl>
                                        <p:attrNameLst>
                                          <p:attrName>ppt_y</p:attrName>
                                        </p:attrNameLst>
                                      </p:cBhvr>
                                      <p:tavLst>
                                        <p:tav tm="0" fmla="#ppt_y-sin(pi*$)/27">
                                          <p:val>
                                            <p:fltVal val="0.000000"/>
                                          </p:val>
                                        </p:tav>
                                        <p:tav tm="100000">
                                          <p:val>
                                            <p:fltVal val="1.000000"/>
                                          </p:val>
                                        </p:tav>
                                      </p:tavLst>
                                    </p:anim>
                                    <p:anim calcmode="lin" valueType="num">
                                      <p:cBhvr>
                                        <p:cTn id="19" dur="41" tmFilter="0, 0; 0.125,0.2665; 0.25,0.4; 0.375,0.465; 0.5,0.5;  0.625,0.535; 0.75,0.6; 0.875,0.7335; 1,1">
                                          <p:stCondLst>
                                            <p:cond delay="415"/>
                                          </p:stCondLst>
                                        </p:cTn>
                                        <p:tgtEl>
                                          <p:spTgt spid="284674"/>
                                        </p:tgtEl>
                                        <p:attrNameLst>
                                          <p:attrName>ppt_y</p:attrName>
                                        </p:attrNameLst>
                                      </p:cBhvr>
                                      <p:tavLst>
                                        <p:tav tm="0" fmla="#ppt_y-sin(pi*$)/81">
                                          <p:val>
                                            <p:fltVal val="0.000000"/>
                                          </p:val>
                                        </p:tav>
                                        <p:tav tm="100000">
                                          <p:val>
                                            <p:fltVal val="1.000000"/>
                                          </p:val>
                                        </p:tav>
                                      </p:tavLst>
                                    </p:anim>
                                    <p:animScale>
                                      <p:cBhvr>
                                        <p:cTn id="20" dur="7">
                                          <p:stCondLst>
                                            <p:cond delay="162"/>
                                          </p:stCondLst>
                                        </p:cTn>
                                        <p:tgtEl>
                                          <p:spTgt spid="284674"/>
                                        </p:tgtEl>
                                      </p:cBhvr>
                                      <p:to x="100000" y="60000"/>
                                    </p:animScale>
                                    <p:animScale>
                                      <p:cBhvr>
                                        <p:cTn id="21" dur="41" decel="50000">
                                          <p:stCondLst>
                                            <p:cond delay="169"/>
                                          </p:stCondLst>
                                        </p:cTn>
                                        <p:tgtEl>
                                          <p:spTgt spid="284674"/>
                                        </p:tgtEl>
                                      </p:cBhvr>
                                      <p:to x="100000" y="100000"/>
                                    </p:animScale>
                                    <p:animScale>
                                      <p:cBhvr>
                                        <p:cTn id="22" dur="7">
                                          <p:stCondLst>
                                            <p:cond delay="329"/>
                                          </p:stCondLst>
                                        </p:cTn>
                                        <p:tgtEl>
                                          <p:spTgt spid="284674"/>
                                        </p:tgtEl>
                                      </p:cBhvr>
                                      <p:to x="100000" y="80000"/>
                                    </p:animScale>
                                    <p:animScale>
                                      <p:cBhvr>
                                        <p:cTn id="23" dur="41" decel="50000">
                                          <p:stCondLst>
                                            <p:cond delay="336"/>
                                          </p:stCondLst>
                                        </p:cTn>
                                        <p:tgtEl>
                                          <p:spTgt spid="284674"/>
                                        </p:tgtEl>
                                      </p:cBhvr>
                                      <p:to x="100000" y="100000"/>
                                    </p:animScale>
                                    <p:animScale>
                                      <p:cBhvr>
                                        <p:cTn id="24" dur="7">
                                          <p:stCondLst>
                                            <p:cond delay="411"/>
                                          </p:stCondLst>
                                        </p:cTn>
                                        <p:tgtEl>
                                          <p:spTgt spid="284674"/>
                                        </p:tgtEl>
                                      </p:cBhvr>
                                      <p:to x="100000" y="90000"/>
                                    </p:animScale>
                                    <p:animScale>
                                      <p:cBhvr>
                                        <p:cTn id="25" dur="41" decel="50000">
                                          <p:stCondLst>
                                            <p:cond delay="418"/>
                                          </p:stCondLst>
                                        </p:cTn>
                                        <p:tgtEl>
                                          <p:spTgt spid="284674"/>
                                        </p:tgtEl>
                                      </p:cBhvr>
                                      <p:to x="100000" y="100000"/>
                                    </p:animScale>
                                    <p:animScale>
                                      <p:cBhvr>
                                        <p:cTn id="26" dur="7">
                                          <p:stCondLst>
                                            <p:cond delay="453"/>
                                          </p:stCondLst>
                                        </p:cTn>
                                        <p:tgtEl>
                                          <p:spTgt spid="284674"/>
                                        </p:tgtEl>
                                      </p:cBhvr>
                                      <p:to x="100000" y="95000"/>
                                    </p:animScale>
                                    <p:animScale>
                                      <p:cBhvr>
                                        <p:cTn id="27" dur="41" decel="50000">
                                          <p:stCondLst>
                                            <p:cond delay="459"/>
                                          </p:stCondLst>
                                        </p:cTn>
                                        <p:tgtEl>
                                          <p:spTgt spid="284674"/>
                                        </p:tgtEl>
                                      </p:cBhvr>
                                      <p:to x="100000" y="100000"/>
                                    </p:animScale>
                                  </p:childTnLst>
                                </p:cTn>
                              </p:par>
                              <p:par>
                                <p:cTn id="28" presetID="26" presetClass="entr" presetSubtype="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down)">
                                      <p:cBhvr>
                                        <p:cTn id="30" dur="145">
                                          <p:stCondLst>
                                            <p:cond delay="0"/>
                                          </p:stCondLst>
                                        </p:cTn>
                                        <p:tgtEl>
                                          <p:spTgt spid="2"/>
                                        </p:tgtEl>
                                      </p:cBhvr>
                                    </p:animEffect>
                                    <p:anim calcmode="lin" valueType="num">
                                      <p:cBhvr>
                                        <p:cTn id="31" dur="457"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32" dur="166" tmFilter="0.0,0.0; 0.25,0.07; 0.50,0.2; 0.75,0.467; 1.0,1.0">
                                          <p:stCondLst>
                                            <p:cond delay="0"/>
                                          </p:stCondLst>
                                        </p:cTn>
                                        <p:tgtEl>
                                          <p:spTgt spid="2"/>
                                        </p:tgtEl>
                                        <p:attrNameLst>
                                          <p:attrName>ppt_y</p:attrName>
                                        </p:attrNameLst>
                                      </p:cBhvr>
                                      <p:tavLst>
                                        <p:tav tm="0" fmla="#ppt_y-sin(pi*$)/3">
                                          <p:val>
                                            <p:fltVal val="0.500000"/>
                                          </p:val>
                                        </p:tav>
                                        <p:tav tm="100000">
                                          <p:val>
                                            <p:fltVal val="1.000000"/>
                                          </p:val>
                                        </p:tav>
                                      </p:tavLst>
                                    </p:anim>
                                    <p:anim calcmode="lin" valueType="num">
                                      <p:cBhvr>
                                        <p:cTn id="33" dur="166" tmFilter="0, 0; 0.125,0.2665; 0.25,0.4; 0.375,0.465; 0.5,0.5;  0.625,0.535; 0.75,0.6; 0.875,0.7335; 1,1">
                                          <p:stCondLst>
                                            <p:cond delay="166"/>
                                          </p:stCondLst>
                                        </p:cTn>
                                        <p:tgtEl>
                                          <p:spTgt spid="2"/>
                                        </p:tgtEl>
                                        <p:attrNameLst>
                                          <p:attrName>ppt_y</p:attrName>
                                        </p:attrNameLst>
                                      </p:cBhvr>
                                      <p:tavLst>
                                        <p:tav tm="0" fmla="#ppt_y-sin(pi*$)/9">
                                          <p:val>
                                            <p:fltVal val="0.000000"/>
                                          </p:val>
                                        </p:tav>
                                        <p:tav tm="100000">
                                          <p:val>
                                            <p:fltVal val="1.000000"/>
                                          </p:val>
                                        </p:tav>
                                      </p:tavLst>
                                    </p:anim>
                                    <p:anim calcmode="lin" valueType="num">
                                      <p:cBhvr>
                                        <p:cTn id="34" dur="83" tmFilter="0, 0; 0.125,0.2665; 0.25,0.4; 0.375,0.465; 0.5,0.5;  0.625,0.535; 0.75,0.6; 0.875,0.7335; 1,1">
                                          <p:stCondLst>
                                            <p:cond delay="332"/>
                                          </p:stCondLst>
                                        </p:cTn>
                                        <p:tgtEl>
                                          <p:spTgt spid="2"/>
                                        </p:tgtEl>
                                        <p:attrNameLst>
                                          <p:attrName>ppt_y</p:attrName>
                                        </p:attrNameLst>
                                      </p:cBhvr>
                                      <p:tavLst>
                                        <p:tav tm="0" fmla="#ppt_y-sin(pi*$)/27">
                                          <p:val>
                                            <p:fltVal val="0.000000"/>
                                          </p:val>
                                        </p:tav>
                                        <p:tav tm="100000">
                                          <p:val>
                                            <p:fltVal val="1.000000"/>
                                          </p:val>
                                        </p:tav>
                                      </p:tavLst>
                                    </p:anim>
                                    <p:anim calcmode="lin" valueType="num">
                                      <p:cBhvr>
                                        <p:cTn id="35" dur="41" tmFilter="0, 0; 0.125,0.2665; 0.25,0.4; 0.375,0.465; 0.5,0.5;  0.625,0.535; 0.75,0.6; 0.875,0.7335; 1,1">
                                          <p:stCondLst>
                                            <p:cond delay="415"/>
                                          </p:stCondLst>
                                        </p:cTn>
                                        <p:tgtEl>
                                          <p:spTgt spid="2"/>
                                        </p:tgtEl>
                                        <p:attrNameLst>
                                          <p:attrName>ppt_y</p:attrName>
                                        </p:attrNameLst>
                                      </p:cBhvr>
                                      <p:tavLst>
                                        <p:tav tm="0" fmla="#ppt_y-sin(pi*$)/81">
                                          <p:val>
                                            <p:fltVal val="0.000000"/>
                                          </p:val>
                                        </p:tav>
                                        <p:tav tm="100000">
                                          <p:val>
                                            <p:fltVal val="1.000000"/>
                                          </p:val>
                                        </p:tav>
                                      </p:tavLst>
                                    </p:anim>
                                    <p:animScale>
                                      <p:cBhvr>
                                        <p:cTn id="36" dur="7">
                                          <p:stCondLst>
                                            <p:cond delay="162"/>
                                          </p:stCondLst>
                                        </p:cTn>
                                        <p:tgtEl>
                                          <p:spTgt spid="2"/>
                                        </p:tgtEl>
                                      </p:cBhvr>
                                      <p:to x="100000" y="60000"/>
                                    </p:animScale>
                                    <p:animScale>
                                      <p:cBhvr>
                                        <p:cTn id="37" dur="41" decel="50000">
                                          <p:stCondLst>
                                            <p:cond delay="169"/>
                                          </p:stCondLst>
                                        </p:cTn>
                                        <p:tgtEl>
                                          <p:spTgt spid="2"/>
                                        </p:tgtEl>
                                      </p:cBhvr>
                                      <p:to x="100000" y="100000"/>
                                    </p:animScale>
                                    <p:animScale>
                                      <p:cBhvr>
                                        <p:cTn id="38" dur="7">
                                          <p:stCondLst>
                                            <p:cond delay="329"/>
                                          </p:stCondLst>
                                        </p:cTn>
                                        <p:tgtEl>
                                          <p:spTgt spid="2"/>
                                        </p:tgtEl>
                                      </p:cBhvr>
                                      <p:to x="100000" y="80000"/>
                                    </p:animScale>
                                    <p:animScale>
                                      <p:cBhvr>
                                        <p:cTn id="39" dur="41" decel="50000">
                                          <p:stCondLst>
                                            <p:cond delay="336"/>
                                          </p:stCondLst>
                                        </p:cTn>
                                        <p:tgtEl>
                                          <p:spTgt spid="2"/>
                                        </p:tgtEl>
                                      </p:cBhvr>
                                      <p:to x="100000" y="100000"/>
                                    </p:animScale>
                                    <p:animScale>
                                      <p:cBhvr>
                                        <p:cTn id="40" dur="7">
                                          <p:stCondLst>
                                            <p:cond delay="411"/>
                                          </p:stCondLst>
                                        </p:cTn>
                                        <p:tgtEl>
                                          <p:spTgt spid="2"/>
                                        </p:tgtEl>
                                      </p:cBhvr>
                                      <p:to x="100000" y="90000"/>
                                    </p:animScale>
                                    <p:animScale>
                                      <p:cBhvr>
                                        <p:cTn id="41" dur="41" decel="50000">
                                          <p:stCondLst>
                                            <p:cond delay="418"/>
                                          </p:stCondLst>
                                        </p:cTn>
                                        <p:tgtEl>
                                          <p:spTgt spid="2"/>
                                        </p:tgtEl>
                                      </p:cBhvr>
                                      <p:to x="100000" y="100000"/>
                                    </p:animScale>
                                    <p:animScale>
                                      <p:cBhvr>
                                        <p:cTn id="42" dur="7">
                                          <p:stCondLst>
                                            <p:cond delay="453"/>
                                          </p:stCondLst>
                                        </p:cTn>
                                        <p:tgtEl>
                                          <p:spTgt spid="2"/>
                                        </p:tgtEl>
                                      </p:cBhvr>
                                      <p:to x="100000" y="95000"/>
                                    </p:animScale>
                                    <p:animScale>
                                      <p:cBhvr>
                                        <p:cTn id="43" dur="41" decel="50000">
                                          <p:stCondLst>
                                            <p:cond delay="459"/>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746"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p:cNvSpPr>
          <p:nvPr>
            <p:ph type="body" sz="half" idx="1"/>
          </p:nvPr>
        </p:nvSpPr>
        <p:spPr>
          <a:xfrm>
            <a:off x="0" y="990600"/>
            <a:ext cx="8839200" cy="2971800"/>
          </a:xfrm>
          <a:ln/>
        </p:spPr>
        <p:txBody>
          <a:bodyPr vert="horz" wrap="square" lIns="91440" tIns="45720" rIns="91440" bIns="45720" anchor="t"/>
          <a:p>
            <a:pPr eaLnBrk="1" hangingPunct="1">
              <a:buNone/>
            </a:pPr>
            <a:r>
              <a:rPr lang="en-US" altLang="zh-CN" sz="2000" b="1">
                <a:solidFill>
                  <a:srgbClr val="D00054"/>
                </a:solidFill>
                <a:ea typeface="仿宋_GB2312" pitchFamily="49" charset="-122"/>
              </a:rPr>
              <a:t>      2</a:t>
            </a:r>
            <a:r>
              <a:rPr lang="zh-CN" altLang="en-US" sz="2000" b="1">
                <a:solidFill>
                  <a:srgbClr val="D00054"/>
                </a:solidFill>
                <a:ea typeface="仿宋_GB2312" pitchFamily="49" charset="-122"/>
              </a:rPr>
              <a:t>、问题说明</a:t>
            </a:r>
            <a:endParaRPr lang="zh-CN" altLang="en-US" sz="2000" b="1">
              <a:solidFill>
                <a:srgbClr val="D00054"/>
              </a:solidFill>
              <a:ea typeface="仿宋_GB2312" pitchFamily="49" charset="-122"/>
            </a:endParaRPr>
          </a:p>
          <a:p>
            <a:pPr eaLnBrk="1" hangingPunct="1">
              <a:lnSpc>
                <a:spcPct val="120000"/>
              </a:lnSpc>
              <a:buNone/>
            </a:pPr>
            <a:r>
              <a:rPr lang="zh-CN" altLang="en-US" sz="2400">
                <a:ea typeface="仿宋_GB2312" pitchFamily="49" charset="-122"/>
              </a:rPr>
              <a:t>          </a:t>
            </a:r>
            <a:r>
              <a:rPr lang="zh-CN" altLang="en-US" sz="1800" b="1">
                <a:solidFill>
                  <a:srgbClr val="692AA2"/>
                </a:solidFill>
                <a:latin typeface="仿宋_GB2312" pitchFamily="49" charset="-122"/>
                <a:ea typeface="仿宋_GB2312" pitchFamily="49" charset="-122"/>
              </a:rPr>
              <a:t>针对长江水质的综合评价这一问题，采用动态加权综合评价方法来解决。假设</a:t>
            </a:r>
            <a:r>
              <a:rPr lang="en-US" altLang="zh-CN" sz="1800" b="1">
                <a:solidFill>
                  <a:srgbClr val="692AA2"/>
                </a:solidFill>
                <a:latin typeface="仿宋_GB2312" pitchFamily="49" charset="-122"/>
                <a:ea typeface="仿宋_GB2312" pitchFamily="49" charset="-122"/>
              </a:rPr>
              <a:t>17</a:t>
            </a:r>
            <a:r>
              <a:rPr lang="zh-CN" altLang="en-US" sz="1800" b="1">
                <a:solidFill>
                  <a:srgbClr val="692AA2"/>
                </a:solidFill>
                <a:latin typeface="仿宋_GB2312" pitchFamily="49" charset="-122"/>
                <a:ea typeface="仿宋_GB2312" pitchFamily="49" charset="-122"/>
              </a:rPr>
              <a:t>个城市为被评价对象              ，共有四项评价指标（或属性）</a:t>
            </a:r>
            <a:r>
              <a:rPr lang="en-US" altLang="zh-CN" sz="1800" b="1">
                <a:solidFill>
                  <a:srgbClr val="692AA2"/>
                </a:solidFill>
                <a:latin typeface="仿宋_GB2312" pitchFamily="49" charset="-122"/>
                <a:ea typeface="仿宋_GB2312" pitchFamily="49" charset="-122"/>
              </a:rPr>
              <a:t>DO</a:t>
            </a:r>
            <a:r>
              <a:rPr lang="zh-CN" altLang="en-US" sz="1800" b="1">
                <a:solidFill>
                  <a:srgbClr val="692AA2"/>
                </a:solidFill>
                <a:latin typeface="仿宋_GB2312" pitchFamily="49" charset="-122"/>
                <a:ea typeface="仿宋_GB2312" pitchFamily="49" charset="-122"/>
              </a:rPr>
              <a:t>、</a:t>
            </a:r>
            <a:r>
              <a:rPr lang="en-US" altLang="zh-CN" sz="1800" b="1">
                <a:solidFill>
                  <a:srgbClr val="692AA2"/>
                </a:solidFill>
                <a:latin typeface="仿宋_GB2312" pitchFamily="49" charset="-122"/>
                <a:ea typeface="仿宋_GB2312" pitchFamily="49" charset="-122"/>
              </a:rPr>
              <a:t>CODMn</a:t>
            </a:r>
            <a:r>
              <a:rPr lang="zh-CN" altLang="en-US" sz="1800" b="1">
                <a:solidFill>
                  <a:srgbClr val="692AA2"/>
                </a:solidFill>
                <a:latin typeface="仿宋_GB2312" pitchFamily="49" charset="-122"/>
                <a:ea typeface="仿宋_GB2312" pitchFamily="49" charset="-122"/>
              </a:rPr>
              <a:t>、</a:t>
            </a:r>
            <a:r>
              <a:rPr lang="en-US" altLang="zh-CN" sz="1800" b="1">
                <a:solidFill>
                  <a:srgbClr val="692AA2"/>
                </a:solidFill>
                <a:latin typeface="仿宋_GB2312" pitchFamily="49" charset="-122"/>
                <a:ea typeface="仿宋_GB2312" pitchFamily="49" charset="-122"/>
              </a:rPr>
              <a:t>NH3-N </a:t>
            </a:r>
            <a:r>
              <a:rPr lang="zh-CN" altLang="en-US" sz="1800" b="1">
                <a:solidFill>
                  <a:srgbClr val="692AA2"/>
                </a:solidFill>
                <a:latin typeface="仿宋_GB2312" pitchFamily="49" charset="-122"/>
                <a:ea typeface="仿宋_GB2312" pitchFamily="49" charset="-122"/>
              </a:rPr>
              <a:t>和</a:t>
            </a:r>
            <a:r>
              <a:rPr lang="en-US" altLang="zh-CN" sz="1800" b="1">
                <a:solidFill>
                  <a:srgbClr val="692AA2"/>
                </a:solidFill>
                <a:latin typeface="仿宋_GB2312" pitchFamily="49" charset="-122"/>
                <a:ea typeface="仿宋_GB2312" pitchFamily="49" charset="-122"/>
              </a:rPr>
              <a:t>PH</a:t>
            </a:r>
            <a:r>
              <a:rPr lang="zh-CN" altLang="en-US" sz="1800" b="1">
                <a:solidFill>
                  <a:srgbClr val="692AA2"/>
                </a:solidFill>
                <a:latin typeface="仿宋_GB2312" pitchFamily="49" charset="-122"/>
                <a:ea typeface="仿宋_GB2312" pitchFamily="49" charset="-122"/>
              </a:rPr>
              <a:t>值，分别记为       和   ，前三项指标都有</a:t>
            </a:r>
            <a:r>
              <a:rPr lang="en-US" altLang="zh-CN" sz="1800" b="1">
                <a:solidFill>
                  <a:srgbClr val="692AA2"/>
                </a:solidFill>
                <a:latin typeface="仿宋_GB2312" pitchFamily="49" charset="-122"/>
                <a:ea typeface="仿宋_GB2312" pitchFamily="49" charset="-122"/>
              </a:rPr>
              <a:t>6</a:t>
            </a:r>
            <a:r>
              <a:rPr lang="zh-CN" altLang="en-US" sz="1800" b="1">
                <a:solidFill>
                  <a:srgbClr val="692AA2"/>
                </a:solidFill>
                <a:latin typeface="仿宋_GB2312" pitchFamily="49" charset="-122"/>
                <a:ea typeface="仿宋_GB2312" pitchFamily="49" charset="-122"/>
              </a:rPr>
              <a:t>个等级             ，相应的分类区间值如表（</a:t>
            </a:r>
            <a:r>
              <a:rPr lang="en-US" altLang="zh-CN" sz="1800" b="1">
                <a:solidFill>
                  <a:srgbClr val="692AA2"/>
                </a:solidFill>
                <a:latin typeface="仿宋_GB2312" pitchFamily="49" charset="-122"/>
                <a:ea typeface="仿宋_GB2312" pitchFamily="49" charset="-122"/>
              </a:rPr>
              <a:t>1</a:t>
            </a:r>
            <a:r>
              <a:rPr lang="zh-CN" altLang="en-US" sz="1800" b="1">
                <a:solidFill>
                  <a:srgbClr val="692AA2"/>
                </a:solidFill>
                <a:latin typeface="仿宋_GB2312" pitchFamily="49" charset="-122"/>
                <a:ea typeface="仿宋_GB2312" pitchFamily="49" charset="-122"/>
              </a:rPr>
              <a:t>）所示，而</a:t>
            </a:r>
            <a:r>
              <a:rPr lang="en-US" altLang="zh-CN" sz="1800" b="1">
                <a:solidFill>
                  <a:srgbClr val="692AA2"/>
                </a:solidFill>
                <a:latin typeface="仿宋_GB2312" pitchFamily="49" charset="-122"/>
                <a:ea typeface="仿宋_GB2312" pitchFamily="49" charset="-122"/>
              </a:rPr>
              <a:t>PH</a:t>
            </a:r>
            <a:r>
              <a:rPr lang="zh-CN" altLang="en-US" sz="1800" b="1">
                <a:solidFill>
                  <a:srgbClr val="692AA2"/>
                </a:solidFill>
                <a:latin typeface="仿宋_GB2312" pitchFamily="49" charset="-122"/>
                <a:ea typeface="仿宋_GB2312" pitchFamily="49" charset="-122"/>
              </a:rPr>
              <a:t>值没有等级之分。</a:t>
            </a:r>
            <a:endParaRPr lang="zh-CN" altLang="en-US" sz="1800" b="1">
              <a:solidFill>
                <a:srgbClr val="692AA2"/>
              </a:solidFill>
              <a:latin typeface="仿宋_GB2312" pitchFamily="49" charset="-122"/>
              <a:ea typeface="仿宋_GB2312" pitchFamily="49" charset="-122"/>
            </a:endParaRPr>
          </a:p>
          <a:p>
            <a:pPr eaLnBrk="1" hangingPunct="1">
              <a:lnSpc>
                <a:spcPct val="120000"/>
              </a:lnSpc>
              <a:buNone/>
            </a:pPr>
            <a:r>
              <a:rPr lang="zh-CN" altLang="en-US" sz="1800" b="1">
                <a:solidFill>
                  <a:srgbClr val="692AA2"/>
                </a:solidFill>
                <a:latin typeface="仿宋_GB2312" pitchFamily="49" charset="-122"/>
                <a:ea typeface="仿宋_GB2312" pitchFamily="49" charset="-122"/>
              </a:rPr>
              <a:t>   </a:t>
            </a:r>
            <a:r>
              <a:rPr lang="en-US" altLang="zh-CN" sz="1800" b="1">
                <a:solidFill>
                  <a:srgbClr val="692AA2"/>
                </a:solidFill>
                <a:latin typeface="仿宋_GB2312" pitchFamily="49" charset="-122"/>
                <a:ea typeface="仿宋_GB2312" pitchFamily="49" charset="-122"/>
              </a:rPr>
              <a:t>《</a:t>
            </a:r>
            <a:r>
              <a:rPr lang="zh-CN" altLang="en-US" sz="1800" b="1">
                <a:solidFill>
                  <a:srgbClr val="692AA2"/>
                </a:solidFill>
                <a:latin typeface="仿宋_GB2312" pitchFamily="49" charset="-122"/>
                <a:ea typeface="仿宋_GB2312" pitchFamily="49" charset="-122"/>
              </a:rPr>
              <a:t>地表水环境质量标准</a:t>
            </a:r>
            <a:r>
              <a:rPr lang="en-US" altLang="zh-CN" sz="1800" b="1">
                <a:solidFill>
                  <a:srgbClr val="692AA2"/>
                </a:solidFill>
                <a:latin typeface="仿宋_GB2312" pitchFamily="49" charset="-122"/>
                <a:ea typeface="仿宋_GB2312" pitchFamily="49" charset="-122"/>
              </a:rPr>
              <a:t>》(GB3838</a:t>
            </a:r>
            <a:r>
              <a:rPr lang="en-US" altLang="zh-CN" sz="1800" b="1">
                <a:solidFill>
                  <a:srgbClr val="692AA2"/>
                </a:solidFill>
                <a:latin typeface="宋体" panose="02010600030101010101" pitchFamily="2" charset="-122"/>
                <a:ea typeface="仿宋_GB2312" pitchFamily="49" charset="-122"/>
              </a:rPr>
              <a:t>—</a:t>
            </a:r>
            <a:r>
              <a:rPr lang="en-US" altLang="zh-CN" sz="1800" b="1">
                <a:solidFill>
                  <a:srgbClr val="692AA2"/>
                </a:solidFill>
                <a:latin typeface="仿宋_GB2312" pitchFamily="49" charset="-122"/>
                <a:ea typeface="仿宋_GB2312" pitchFamily="49" charset="-122"/>
              </a:rPr>
              <a:t>2002)</a:t>
            </a:r>
            <a:r>
              <a:rPr lang="zh-CN" altLang="en-US" sz="1800" b="1">
                <a:solidFill>
                  <a:srgbClr val="692AA2"/>
                </a:solidFill>
                <a:latin typeface="仿宋_GB2312" pitchFamily="49" charset="-122"/>
                <a:ea typeface="仿宋_GB2312" pitchFamily="49" charset="-122"/>
              </a:rPr>
              <a:t>中</a:t>
            </a:r>
            <a:r>
              <a:rPr lang="en-US" altLang="zh-CN" sz="1800" b="1">
                <a:solidFill>
                  <a:srgbClr val="692AA2"/>
                </a:solidFill>
                <a:latin typeface="仿宋_GB2312" pitchFamily="49" charset="-122"/>
                <a:ea typeface="仿宋_GB2312" pitchFamily="49" charset="-122"/>
              </a:rPr>
              <a:t>4</a:t>
            </a:r>
            <a:r>
              <a:rPr lang="zh-CN" altLang="en-US" sz="1800" b="1">
                <a:solidFill>
                  <a:srgbClr val="692AA2"/>
                </a:solidFill>
                <a:latin typeface="仿宋_GB2312" pitchFamily="49" charset="-122"/>
                <a:ea typeface="仿宋_GB2312" pitchFamily="49" charset="-122"/>
              </a:rPr>
              <a:t>个主要项目标准限值   </a:t>
            </a:r>
            <a:r>
              <a:rPr lang="en-US" altLang="zh-CN" sz="1800" b="1">
                <a:solidFill>
                  <a:srgbClr val="692AA2"/>
                </a:solidFill>
                <a:latin typeface="仿宋_GB2312" pitchFamily="49" charset="-122"/>
                <a:ea typeface="仿宋_GB2312" pitchFamily="49" charset="-122"/>
              </a:rPr>
              <a:t>mg/L</a:t>
            </a:r>
            <a:endParaRPr lang="en-US" altLang="zh-CN" sz="1800" b="1">
              <a:solidFill>
                <a:srgbClr val="692AA2"/>
              </a:solidFill>
              <a:latin typeface="仿宋_GB2312" pitchFamily="49" charset="-122"/>
              <a:ea typeface="仿宋_GB2312" pitchFamily="49" charset="-122"/>
            </a:endParaRPr>
          </a:p>
        </p:txBody>
      </p:sp>
      <p:sp>
        <p:nvSpPr>
          <p:cNvPr id="184322" name="Rectangle 3"/>
          <p:cNvSpPr/>
          <p:nvPr/>
        </p:nvSpPr>
        <p:spPr>
          <a:xfrm>
            <a:off x="0" y="-76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84323" name="Rectangle 4"/>
          <p:cNvSpPr/>
          <p:nvPr/>
        </p:nvSpPr>
        <p:spPr>
          <a:xfrm>
            <a:off x="0" y="-76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84324" name="Rectangle 5"/>
          <p:cNvSpPr/>
          <p:nvPr/>
        </p:nvSpPr>
        <p:spPr>
          <a:xfrm>
            <a:off x="0" y="-76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84325" name="Rectangle 6"/>
          <p:cNvSpPr/>
          <p:nvPr/>
        </p:nvSpPr>
        <p:spPr>
          <a:xfrm>
            <a:off x="0" y="-762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85703" name="Object 7"/>
          <p:cNvGraphicFramePr>
            <a:graphicFrameLocks noChangeAspect="1"/>
          </p:cNvGraphicFramePr>
          <p:nvPr/>
        </p:nvGraphicFramePr>
        <p:xfrm>
          <a:off x="2895600" y="1828800"/>
          <a:ext cx="1905000" cy="384175"/>
        </p:xfrm>
        <a:graphic>
          <a:graphicData uri="http://schemas.openxmlformats.org/presentationml/2006/ole">
            <mc:AlternateContent xmlns:mc="http://schemas.openxmlformats.org/markup-compatibility/2006">
              <mc:Choice xmlns:v="urn:schemas-microsoft-com:vml" Requires="v">
                <p:oleObj spid="_x0000_s3343" name="" r:id="rId1" imgW="800100" imgH="228600" progId="Equation.3">
                  <p:embed/>
                </p:oleObj>
              </mc:Choice>
              <mc:Fallback>
                <p:oleObj name="" r:id="rId1" imgW="800100" imgH="228600" progId="Equation.3">
                  <p:embed/>
                  <p:pic>
                    <p:nvPicPr>
                      <p:cNvPr id="0" name="图片 3342"/>
                      <p:cNvPicPr/>
                      <p:nvPr/>
                    </p:nvPicPr>
                    <p:blipFill>
                      <a:blip r:embed="rId2"/>
                      <a:stretch>
                        <a:fillRect/>
                      </a:stretch>
                    </p:blipFill>
                    <p:spPr>
                      <a:xfrm>
                        <a:off x="2895600" y="1828800"/>
                        <a:ext cx="1905000" cy="384175"/>
                      </a:xfrm>
                      <a:prstGeom prst="rect">
                        <a:avLst/>
                      </a:prstGeom>
                      <a:noFill/>
                      <a:ln w="38100">
                        <a:noFill/>
                        <a:miter/>
                      </a:ln>
                    </p:spPr>
                  </p:pic>
                </p:oleObj>
              </mc:Fallback>
            </mc:AlternateContent>
          </a:graphicData>
        </a:graphic>
      </p:graphicFrame>
      <p:graphicFrame>
        <p:nvGraphicFramePr>
          <p:cNvPr id="285704" name="Object 8"/>
          <p:cNvGraphicFramePr>
            <a:graphicFrameLocks noChangeAspect="1"/>
          </p:cNvGraphicFramePr>
          <p:nvPr/>
        </p:nvGraphicFramePr>
        <p:xfrm>
          <a:off x="3886200" y="2133600"/>
          <a:ext cx="914400" cy="371475"/>
        </p:xfrm>
        <a:graphic>
          <a:graphicData uri="http://schemas.openxmlformats.org/presentationml/2006/ole">
            <mc:AlternateContent xmlns:mc="http://schemas.openxmlformats.org/markup-compatibility/2006">
              <mc:Choice xmlns:v="urn:schemas-microsoft-com:vml" Requires="v">
                <p:oleObj spid="_x0000_s3340" name="" r:id="rId3" imgW="558800" imgH="228600" progId="Equation.3">
                  <p:embed/>
                </p:oleObj>
              </mc:Choice>
              <mc:Fallback>
                <p:oleObj name="" r:id="rId3" imgW="558800" imgH="228600" progId="Equation.3">
                  <p:embed/>
                  <p:pic>
                    <p:nvPicPr>
                      <p:cNvPr id="0" name="图片 3339"/>
                      <p:cNvPicPr/>
                      <p:nvPr/>
                    </p:nvPicPr>
                    <p:blipFill>
                      <a:blip r:embed="rId4"/>
                      <a:stretch>
                        <a:fillRect/>
                      </a:stretch>
                    </p:blipFill>
                    <p:spPr>
                      <a:xfrm>
                        <a:off x="3886200" y="2133600"/>
                        <a:ext cx="914400" cy="371475"/>
                      </a:xfrm>
                      <a:prstGeom prst="rect">
                        <a:avLst/>
                      </a:prstGeom>
                      <a:noFill/>
                      <a:ln w="38100">
                        <a:noFill/>
                        <a:miter/>
                      </a:ln>
                    </p:spPr>
                  </p:pic>
                </p:oleObj>
              </mc:Fallback>
            </mc:AlternateContent>
          </a:graphicData>
        </a:graphic>
      </p:graphicFrame>
      <p:graphicFrame>
        <p:nvGraphicFramePr>
          <p:cNvPr id="285705" name="Object 9"/>
          <p:cNvGraphicFramePr>
            <a:graphicFrameLocks noChangeAspect="1"/>
          </p:cNvGraphicFramePr>
          <p:nvPr/>
        </p:nvGraphicFramePr>
        <p:xfrm>
          <a:off x="4953000" y="2133600"/>
          <a:ext cx="379413" cy="381000"/>
        </p:xfrm>
        <a:graphic>
          <a:graphicData uri="http://schemas.openxmlformats.org/presentationml/2006/ole">
            <mc:AlternateContent xmlns:mc="http://schemas.openxmlformats.org/markup-compatibility/2006">
              <mc:Choice xmlns:v="urn:schemas-microsoft-com:vml" Requires="v">
                <p:oleObj spid="_x0000_s3341" name="" r:id="rId5" imgW="177800" imgH="215900" progId="Equation.3">
                  <p:embed/>
                </p:oleObj>
              </mc:Choice>
              <mc:Fallback>
                <p:oleObj name="" r:id="rId5" imgW="177800" imgH="215900" progId="Equation.3">
                  <p:embed/>
                  <p:pic>
                    <p:nvPicPr>
                      <p:cNvPr id="0" name="图片 3340"/>
                      <p:cNvPicPr/>
                      <p:nvPr/>
                    </p:nvPicPr>
                    <p:blipFill>
                      <a:blip r:embed="rId6"/>
                      <a:stretch>
                        <a:fillRect/>
                      </a:stretch>
                    </p:blipFill>
                    <p:spPr>
                      <a:xfrm>
                        <a:off x="4953000" y="2133600"/>
                        <a:ext cx="379413" cy="381000"/>
                      </a:xfrm>
                      <a:prstGeom prst="rect">
                        <a:avLst/>
                      </a:prstGeom>
                      <a:noFill/>
                      <a:ln w="38100">
                        <a:noFill/>
                        <a:miter/>
                      </a:ln>
                    </p:spPr>
                  </p:pic>
                </p:oleObj>
              </mc:Fallback>
            </mc:AlternateContent>
          </a:graphicData>
        </a:graphic>
      </p:graphicFrame>
      <p:graphicFrame>
        <p:nvGraphicFramePr>
          <p:cNvPr id="285706" name="Object 10"/>
          <p:cNvGraphicFramePr>
            <a:graphicFrameLocks noChangeAspect="1"/>
          </p:cNvGraphicFramePr>
          <p:nvPr/>
        </p:nvGraphicFramePr>
        <p:xfrm>
          <a:off x="838200" y="2514600"/>
          <a:ext cx="1600200" cy="376238"/>
        </p:xfrm>
        <a:graphic>
          <a:graphicData uri="http://schemas.openxmlformats.org/presentationml/2006/ole">
            <mc:AlternateContent xmlns:mc="http://schemas.openxmlformats.org/markup-compatibility/2006">
              <mc:Choice xmlns:v="urn:schemas-microsoft-com:vml" Requires="v">
                <p:oleObj spid="_x0000_s3342" name="" r:id="rId7" imgW="787400" imgH="228600" progId="Equation.3">
                  <p:embed/>
                </p:oleObj>
              </mc:Choice>
              <mc:Fallback>
                <p:oleObj name="" r:id="rId7" imgW="787400" imgH="228600" progId="Equation.3">
                  <p:embed/>
                  <p:pic>
                    <p:nvPicPr>
                      <p:cNvPr id="0" name="图片 3341"/>
                      <p:cNvPicPr/>
                      <p:nvPr/>
                    </p:nvPicPr>
                    <p:blipFill>
                      <a:blip r:embed="rId8"/>
                      <a:stretch>
                        <a:fillRect/>
                      </a:stretch>
                    </p:blipFill>
                    <p:spPr>
                      <a:xfrm>
                        <a:off x="838200" y="2514600"/>
                        <a:ext cx="1600200" cy="376238"/>
                      </a:xfrm>
                      <a:prstGeom prst="rect">
                        <a:avLst/>
                      </a:prstGeom>
                      <a:noFill/>
                      <a:ln w="38100">
                        <a:noFill/>
                        <a:miter/>
                      </a:ln>
                    </p:spPr>
                  </p:pic>
                </p:oleObj>
              </mc:Fallback>
            </mc:AlternateContent>
          </a:graphicData>
        </a:graphic>
      </p:graphicFrame>
      <p:graphicFrame>
        <p:nvGraphicFramePr>
          <p:cNvPr id="285754" name="Group 58"/>
          <p:cNvGraphicFramePr>
            <a:graphicFrameLocks noGrp="1"/>
          </p:cNvGraphicFramePr>
          <p:nvPr>
            <p:ph sz="half" idx="2"/>
          </p:nvPr>
        </p:nvGraphicFramePr>
        <p:xfrm>
          <a:off x="533400" y="3581400"/>
          <a:ext cx="8001000" cy="2619375"/>
        </p:xfrm>
        <a:graphic>
          <a:graphicData uri="http://schemas.openxmlformats.org/drawingml/2006/table">
            <a:tbl>
              <a:tblPr/>
              <a:tblGrid>
                <a:gridCol w="2514600"/>
                <a:gridCol w="914400"/>
                <a:gridCol w="914400"/>
                <a:gridCol w="838200"/>
                <a:gridCol w="914400"/>
                <a:gridCol w="914400"/>
                <a:gridCol w="990600"/>
              </a:tblGrid>
              <a:tr h="619125">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600" b="0" i="0" u="none" strike="noStrike" cap="none" normalizeH="0" baseline="0" smtClean="0">
                          <a:ln>
                            <a:noFill/>
                          </a:ln>
                          <a:solidFill>
                            <a:srgbClr val="FF6600"/>
                          </a:solidFill>
                          <a:effectLst/>
                          <a:latin typeface="Times New Roman" panose="02020603050405020304" pitchFamily="18" charset="0"/>
                          <a:ea typeface="黑体" panose="02010609060101010101" pitchFamily="2" charset="-122"/>
                        </a:rPr>
                        <a:t>指  标</a:t>
                      </a:r>
                      <a:r>
                        <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cap="flat">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solidFill>
                      <a:srgbClr val="336699"/>
                    </a:soli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Ⅰ</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endParaRPr kumimoji="0" lang="zh-CN" altLang="en-US" sz="1600" b="1" i="0" u="none" strike="noStrike" cap="none" normalizeH="0" baseline="0" smtClean="0">
                        <a:ln>
                          <a:noFill/>
                        </a:ln>
                        <a:solidFill>
                          <a:schemeClr val="bg1"/>
                        </a:solidFill>
                        <a:effectLst/>
                        <a:latin typeface="Times New Roman" panose="02020603050405020304" pitchFamily="18" charset="0"/>
                        <a:ea typeface="黑体" panose="02010609060101010101" pitchFamily="2" charset="-122"/>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Ⅱ</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r>
                        <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Ⅲ</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r>
                        <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Ⅳ</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r>
                        <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Ⅴ</a:t>
                      </a:r>
                      <a:r>
                        <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 </a:t>
                      </a:r>
                      <a:endPar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劣</a:t>
                      </a: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Ⅴ</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类</a:t>
                      </a:r>
                      <a:r>
                        <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6699FF">
                            <a:gamma/>
                            <a:shade val="46275"/>
                            <a:invGamma/>
                          </a:srgbClr>
                        </a:gs>
                        <a:gs pos="50000">
                          <a:srgbClr val="6699FF"/>
                        </a:gs>
                        <a:gs pos="100000">
                          <a:srgbClr val="6699FF">
                            <a:gamma/>
                            <a:shade val="46275"/>
                            <a:invGamma/>
                          </a:srgbClr>
                        </a:gs>
                      </a:gsLst>
                      <a:lin ang="5400000" scaled="1"/>
                    </a:gradFill>
                  </a:tcPr>
                </a:tc>
              </a:tr>
              <a:tr h="207963">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溶解氧</a:t>
                      </a: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(DO)</a:t>
                      </a: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chemeClr val="folHlink">
                            <a:gamma/>
                            <a:tint val="51373"/>
                            <a:invGamma/>
                          </a:scheme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[7.5,∞)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[6,7.5)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[5,6)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[3,5)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[2,3)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[0,2]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r>
              <a:tr h="706438">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高锰酸盐指数</a:t>
                      </a: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(CODMn) </a:t>
                      </a:r>
                      <a:endPar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chemeClr val="folHlink">
                            <a:gamma/>
                            <a:tint val="51373"/>
                            <a:invGamma/>
                          </a:scheme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(0,2]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(2,4]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(4,6]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(6,10]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(10,15]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(15, ∞)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r>
              <a:tr h="466725">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氨氮（</a:t>
                      </a: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NH3-N</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a:t>
                      </a:r>
                      <a:r>
                        <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 </a:t>
                      </a:r>
                      <a:endParaRPr kumimoji="0" lang="zh-CN" altLang="en-US"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chemeClr val="folHlink">
                            <a:gamma/>
                            <a:tint val="51373"/>
                            <a:invGamma/>
                          </a:schemeClr>
                        </a:gs>
                      </a:gsLst>
                      <a:lin ang="54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(0,0.15]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(0.15,0.5]</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(0.5,1]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(1,1.5]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(1.5,2]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(2, ∞)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r>
              <a:tr h="492125">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PH</a:t>
                      </a:r>
                      <a:r>
                        <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值（无量纲 </a:t>
                      </a:r>
                      <a:endParaRPr kumimoji="0" lang="zh-CN" altLang="en-US" sz="1600" b="1"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folHlink"/>
                        </a:gs>
                        <a:gs pos="100000">
                          <a:schemeClr val="folHlink">
                            <a:gamma/>
                            <a:tint val="51373"/>
                            <a:invGamma/>
                          </a:schemeClr>
                        </a:gs>
                      </a:gsLst>
                      <a:lin ang="5400000" scaled="1"/>
                    </a:gradFill>
                  </a:tcPr>
                </a:tc>
                <a:tc gridSpan="6">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r>
                        <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rPr>
                        <a:t>[6 , 9] </a:t>
                      </a:r>
                      <a:endParaRPr kumimoji="0" lang="en-US" altLang="zh-CN" sz="16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0">
                          <a:srgbClr val="FFFFFF">
                            <a:gamma/>
                            <a:shade val="84706"/>
                            <a:invGamma/>
                          </a:srgbClr>
                        </a:gs>
                        <a:gs pos="100000">
                          <a:srgbClr val="FFFFFF"/>
                        </a:gs>
                      </a:gsLst>
                      <a:lin ang="2700000" scaled="1"/>
                    </a:gradFill>
                  </a:tcPr>
                </a:tc>
                <a:tc hMerge="1">
                  <a:tcPr/>
                </a:tc>
                <a:tc hMerge="1">
                  <a:tcPr/>
                </a:tc>
                <a:tc hMerge="1">
                  <a:tcPr/>
                </a:tc>
                <a:tc hMerge="1">
                  <a:tcPr/>
                </a:tc>
                <a:tc hMerge="1">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85698">
                                            <p:txEl>
                                              <p:charRg st="0" end="13"/>
                                            </p:txEl>
                                          </p:spTgt>
                                        </p:tgtEl>
                                        <p:attrNameLst>
                                          <p:attrName>style.visibility</p:attrName>
                                        </p:attrNameLst>
                                      </p:cBhvr>
                                      <p:to>
                                        <p:strVal val="visible"/>
                                      </p:to>
                                    </p:set>
                                    <p:animEffect transition="in" filter="barn(inHorizontal)">
                                      <p:cBhvr>
                                        <p:cTn id="7" dur="500"/>
                                        <p:tgtEl>
                                          <p:spTgt spid="285698">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85698">
                                            <p:txEl>
                                              <p:charRg st="13" end="185"/>
                                            </p:txEl>
                                          </p:spTgt>
                                        </p:tgtEl>
                                        <p:attrNameLst>
                                          <p:attrName>style.visibility</p:attrName>
                                        </p:attrNameLst>
                                      </p:cBhvr>
                                      <p:to>
                                        <p:strVal val="visible"/>
                                      </p:to>
                                    </p:set>
                                    <p:animEffect transition="in" filter="barn(inHorizontal)">
                                      <p:cBhvr>
                                        <p:cTn id="12" dur="500"/>
                                        <p:tgtEl>
                                          <p:spTgt spid="285698">
                                            <p:txEl>
                                              <p:charRg st="13" end="1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285698">
                                            <p:txEl>
                                              <p:charRg st="185" end="231"/>
                                            </p:txEl>
                                          </p:spTgt>
                                        </p:tgtEl>
                                        <p:attrNameLst>
                                          <p:attrName>style.visibility</p:attrName>
                                        </p:attrNameLst>
                                      </p:cBhvr>
                                      <p:to>
                                        <p:strVal val="visible"/>
                                      </p:to>
                                    </p:set>
                                    <p:animEffect transition="in" filter="barn(inHorizontal)">
                                      <p:cBhvr>
                                        <p:cTn id="17" dur="500"/>
                                        <p:tgtEl>
                                          <p:spTgt spid="285698">
                                            <p:txEl>
                                              <p:charRg st="185" end="231"/>
                                            </p:txEl>
                                          </p:spTgt>
                                        </p:tgtEl>
                                      </p:cBhvr>
                                    </p:animEffect>
                                  </p:childTnLst>
                                </p:cTn>
                              </p:par>
                            </p:childTnLst>
                          </p:cTn>
                        </p:par>
                        <p:par>
                          <p:cTn id="18" fill="hold">
                            <p:stCondLst>
                              <p:cond delay="500"/>
                            </p:stCondLst>
                            <p:childTnLst>
                              <p:par>
                                <p:cTn id="19" presetID="3" presetClass="entr" presetSubtype="10" fill="hold" nodeType="afterEffect">
                                  <p:stCondLst>
                                    <p:cond delay="0"/>
                                  </p:stCondLst>
                                  <p:childTnLst>
                                    <p:set>
                                      <p:cBhvr>
                                        <p:cTn id="20" dur="1" fill="hold">
                                          <p:stCondLst>
                                            <p:cond delay="0"/>
                                          </p:stCondLst>
                                        </p:cTn>
                                        <p:tgtEl>
                                          <p:spTgt spid="285703"/>
                                        </p:tgtEl>
                                        <p:attrNameLst>
                                          <p:attrName>style.visibility</p:attrName>
                                        </p:attrNameLst>
                                      </p:cBhvr>
                                      <p:to>
                                        <p:strVal val="visible"/>
                                      </p:to>
                                    </p:set>
                                    <p:animEffect transition="in" filter="blinds(horizontal)">
                                      <p:cBhvr>
                                        <p:cTn id="21" dur="500"/>
                                        <p:tgtEl>
                                          <p:spTgt spid="285703"/>
                                        </p:tgtEl>
                                      </p:cBhvr>
                                    </p:animEffect>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285704"/>
                                        </p:tgtEl>
                                        <p:attrNameLst>
                                          <p:attrName>style.visibility</p:attrName>
                                        </p:attrNameLst>
                                      </p:cBhvr>
                                      <p:to>
                                        <p:strVal val="visible"/>
                                      </p:to>
                                    </p:set>
                                    <p:animEffect transition="in" filter="blinds(horizontal)">
                                      <p:cBhvr>
                                        <p:cTn id="25" dur="500"/>
                                        <p:tgtEl>
                                          <p:spTgt spid="285704"/>
                                        </p:tgtEl>
                                      </p:cBhvr>
                                    </p:animEffect>
                                  </p:childTnLst>
                                </p:cTn>
                              </p:par>
                            </p:childTnLst>
                          </p:cTn>
                        </p:par>
                        <p:par>
                          <p:cTn id="26" fill="hold">
                            <p:stCondLst>
                              <p:cond delay="1500"/>
                            </p:stCondLst>
                            <p:childTnLst>
                              <p:par>
                                <p:cTn id="27" presetID="3" presetClass="entr" presetSubtype="10" fill="hold" nodeType="afterEffect">
                                  <p:stCondLst>
                                    <p:cond delay="0"/>
                                  </p:stCondLst>
                                  <p:childTnLst>
                                    <p:set>
                                      <p:cBhvr>
                                        <p:cTn id="28" dur="1" fill="hold">
                                          <p:stCondLst>
                                            <p:cond delay="0"/>
                                          </p:stCondLst>
                                        </p:cTn>
                                        <p:tgtEl>
                                          <p:spTgt spid="285705"/>
                                        </p:tgtEl>
                                        <p:attrNameLst>
                                          <p:attrName>style.visibility</p:attrName>
                                        </p:attrNameLst>
                                      </p:cBhvr>
                                      <p:to>
                                        <p:strVal val="visible"/>
                                      </p:to>
                                    </p:set>
                                    <p:animEffect transition="in" filter="blinds(horizontal)">
                                      <p:cBhvr>
                                        <p:cTn id="29" dur="500"/>
                                        <p:tgtEl>
                                          <p:spTgt spid="285705"/>
                                        </p:tgtEl>
                                      </p:cBhvr>
                                    </p:animEffect>
                                  </p:childTnLst>
                                </p:cTn>
                              </p:par>
                            </p:childTnLst>
                          </p:cTn>
                        </p:par>
                        <p:par>
                          <p:cTn id="30" fill="hold">
                            <p:stCondLst>
                              <p:cond delay="2000"/>
                            </p:stCondLst>
                            <p:childTnLst>
                              <p:par>
                                <p:cTn id="31" presetID="3" presetClass="entr" presetSubtype="10" fill="hold" nodeType="afterEffect">
                                  <p:stCondLst>
                                    <p:cond delay="0"/>
                                  </p:stCondLst>
                                  <p:childTnLst>
                                    <p:set>
                                      <p:cBhvr>
                                        <p:cTn id="32" dur="1" fill="hold">
                                          <p:stCondLst>
                                            <p:cond delay="0"/>
                                          </p:stCondLst>
                                        </p:cTn>
                                        <p:tgtEl>
                                          <p:spTgt spid="285706"/>
                                        </p:tgtEl>
                                        <p:attrNameLst>
                                          <p:attrName>style.visibility</p:attrName>
                                        </p:attrNameLst>
                                      </p:cBhvr>
                                      <p:to>
                                        <p:strVal val="visible"/>
                                      </p:to>
                                    </p:set>
                                    <p:animEffect transition="in" filter="blinds(horizontal)">
                                      <p:cBhvr>
                                        <p:cTn id="33" dur="500"/>
                                        <p:tgtEl>
                                          <p:spTgt spid="285706"/>
                                        </p:tgtEl>
                                      </p:cBhvr>
                                    </p:animEffect>
                                  </p:childTnLst>
                                </p:cTn>
                              </p:par>
                            </p:childTnLst>
                          </p:cTn>
                        </p:par>
                        <p:par>
                          <p:cTn id="34" fill="hold">
                            <p:stCondLst>
                              <p:cond delay="2500"/>
                            </p:stCondLst>
                            <p:childTnLst>
                              <p:par>
                                <p:cTn id="35" presetID="16" presetClass="entr" presetSubtype="26" fill="hold" nodeType="afterEffect">
                                  <p:stCondLst>
                                    <p:cond delay="0"/>
                                  </p:stCondLst>
                                  <p:childTnLst>
                                    <p:set>
                                      <p:cBhvr>
                                        <p:cTn id="36" dur="1" fill="hold">
                                          <p:stCondLst>
                                            <p:cond delay="0"/>
                                          </p:stCondLst>
                                        </p:cTn>
                                        <p:tgtEl>
                                          <p:spTgt spid="285754"/>
                                        </p:tgtEl>
                                        <p:attrNameLst>
                                          <p:attrName>style.visibility</p:attrName>
                                        </p:attrNameLst>
                                      </p:cBhvr>
                                      <p:to>
                                        <p:strVal val="visible"/>
                                      </p:to>
                                    </p:set>
                                    <p:animEffect transition="in" filter="barn(inHorizontal)">
                                      <p:cBhvr>
                                        <p:cTn id="37" dur="500"/>
                                        <p:tgtEl>
                                          <p:spTgt spid="285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8" grpId="0" build="p"/>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22" name="Rectangle 2"/>
          <p:cNvSpPr>
            <a:spLocks noGrp="1"/>
          </p:cNvSpPr>
          <p:nvPr>
            <p:ph type="title"/>
          </p:nvPr>
        </p:nvSpPr>
        <p:spPr>
          <a:xfrm>
            <a:off x="762000" y="533400"/>
            <a:ext cx="7186613" cy="415925"/>
          </a:xfrm>
          <a:ln/>
        </p:spPr>
        <p:txBody>
          <a:bodyPr vert="horz" wrap="square" lIns="91440" tIns="45720" rIns="91440" bIns="45720" anchor="b"/>
          <a:p>
            <a:pPr eaLnBrk="1" hangingPunct="1"/>
            <a:r>
              <a:rPr lang="en-US" altLang="zh-CN" sz="2400">
                <a:solidFill>
                  <a:srgbClr val="01016F"/>
                </a:solidFill>
              </a:rPr>
              <a:t>§2     </a:t>
            </a:r>
            <a:r>
              <a:rPr lang="zh-CN" altLang="en-US" sz="2400">
                <a:solidFill>
                  <a:srgbClr val="01016F"/>
                </a:solidFill>
              </a:rPr>
              <a:t>综合评价方法的基本概念</a:t>
            </a:r>
            <a:endParaRPr lang="zh-CN" altLang="en-US" sz="2400">
              <a:solidFill>
                <a:srgbClr val="01016F"/>
              </a:solidFill>
            </a:endParaRPr>
          </a:p>
        </p:txBody>
      </p:sp>
      <p:sp>
        <p:nvSpPr>
          <p:cNvPr id="286723" name="Rectangle 3"/>
          <p:cNvSpPr>
            <a:spLocks noGrp="1"/>
          </p:cNvSpPr>
          <p:nvPr>
            <p:ph idx="1"/>
          </p:nvPr>
        </p:nvSpPr>
        <p:spPr>
          <a:xfrm>
            <a:off x="533400" y="1447800"/>
            <a:ext cx="8001000" cy="4953000"/>
          </a:xfrm>
          <a:ln/>
        </p:spPr>
        <p:txBody>
          <a:bodyPr vert="horz" wrap="square" lIns="91440" tIns="45720" rIns="91440" bIns="45720" anchor="t"/>
          <a:p>
            <a:pPr eaLnBrk="1" hangingPunct="1">
              <a:lnSpc>
                <a:spcPct val="120000"/>
              </a:lnSpc>
              <a:buNone/>
            </a:pPr>
            <a:r>
              <a:rPr lang="en-US" altLang="zh-CN" sz="1800" b="1">
                <a:solidFill>
                  <a:srgbClr val="9900CC"/>
                </a:solidFill>
              </a:rPr>
              <a:t>            </a:t>
            </a:r>
            <a:r>
              <a:rPr lang="zh-CN" altLang="en-US" sz="1800" b="1">
                <a:solidFill>
                  <a:srgbClr val="692AA2"/>
                </a:solidFill>
                <a:latin typeface="仿宋_GB2312" pitchFamily="49" charset="-122"/>
                <a:ea typeface="仿宋_GB2312" pitchFamily="49" charset="-122"/>
              </a:rPr>
              <a:t>综合评价的问题</a:t>
            </a:r>
            <a:r>
              <a:rPr lang="en-US" altLang="zh-CN" sz="1800" b="1">
                <a:solidFill>
                  <a:srgbClr val="692AA2"/>
                </a:solidFill>
                <a:latin typeface="仿宋_GB2312" pitchFamily="49" charset="-122"/>
                <a:ea typeface="仿宋_GB2312" pitchFamily="49" charset="-122"/>
              </a:rPr>
              <a:t>:</a:t>
            </a:r>
            <a:r>
              <a:rPr lang="zh-CN" altLang="en-US" sz="1800" b="1">
                <a:solidFill>
                  <a:srgbClr val="692AA2"/>
                </a:solidFill>
                <a:latin typeface="仿宋_GB2312" pitchFamily="49" charset="-122"/>
                <a:ea typeface="仿宋_GB2312" pitchFamily="49" charset="-122"/>
              </a:rPr>
              <a:t>对被评价对象所进行的客观、公正、合理的全面评价。通常的综合评价问题都是有若干个同类的</a:t>
            </a:r>
            <a:r>
              <a:rPr lang="zh-CN" altLang="en-US" sz="1800" b="1">
                <a:solidFill>
                  <a:srgbClr val="D00054"/>
                </a:solidFill>
                <a:ea typeface="仿宋_GB2312" pitchFamily="49" charset="-122"/>
              </a:rPr>
              <a:t>被评价对象</a:t>
            </a:r>
            <a:r>
              <a:rPr lang="en-US" altLang="zh-CN" sz="1800" b="1">
                <a:solidFill>
                  <a:srgbClr val="692AA2"/>
                </a:solidFill>
                <a:latin typeface="仿宋_GB2312" pitchFamily="49" charset="-122"/>
                <a:ea typeface="仿宋_GB2312" pitchFamily="49" charset="-122"/>
              </a:rPr>
              <a:t>(</a:t>
            </a:r>
            <a:r>
              <a:rPr lang="zh-CN" altLang="en-US" sz="1800" b="1">
                <a:solidFill>
                  <a:srgbClr val="692AA2"/>
                </a:solidFill>
                <a:latin typeface="仿宋_GB2312" pitchFamily="49" charset="-122"/>
                <a:ea typeface="仿宋_GB2312" pitchFamily="49" charset="-122"/>
              </a:rPr>
              <a:t>或系统</a:t>
            </a:r>
            <a:r>
              <a:rPr lang="en-US" altLang="zh-CN" sz="1800" b="1">
                <a:solidFill>
                  <a:srgbClr val="692AA2"/>
                </a:solidFill>
                <a:latin typeface="仿宋_GB2312" pitchFamily="49" charset="-122"/>
                <a:ea typeface="仿宋_GB2312" pitchFamily="49" charset="-122"/>
              </a:rPr>
              <a:t>)</a:t>
            </a:r>
            <a:r>
              <a:rPr lang="zh-CN" altLang="en-US" sz="1800" b="1">
                <a:solidFill>
                  <a:srgbClr val="692AA2"/>
                </a:solidFill>
                <a:latin typeface="仿宋_GB2312" pitchFamily="49" charset="-122"/>
                <a:ea typeface="仿宋_GB2312" pitchFamily="49" charset="-122"/>
              </a:rPr>
              <a:t>，每个被评价对象往往都涉及到多个属性（或指标）。  </a:t>
            </a:r>
            <a:endParaRPr lang="zh-CN" altLang="en-US" sz="1800" b="1">
              <a:solidFill>
                <a:srgbClr val="692AA2"/>
              </a:solidFill>
              <a:latin typeface="仿宋_GB2312" pitchFamily="49" charset="-122"/>
              <a:ea typeface="仿宋_GB2312" pitchFamily="49" charset="-122"/>
            </a:endParaRPr>
          </a:p>
          <a:p>
            <a:pPr eaLnBrk="1" hangingPunct="1">
              <a:lnSpc>
                <a:spcPct val="120000"/>
              </a:lnSpc>
              <a:buNone/>
            </a:pPr>
            <a:r>
              <a:rPr lang="zh-CN" altLang="en-US" sz="1800" b="1">
                <a:solidFill>
                  <a:srgbClr val="692AA2"/>
                </a:solidFill>
                <a:latin typeface="仿宋_GB2312" pitchFamily="49" charset="-122"/>
                <a:ea typeface="仿宋_GB2312" pitchFamily="49" charset="-122"/>
              </a:rPr>
              <a:t>       综合评价的目的</a:t>
            </a:r>
            <a:r>
              <a:rPr lang="en-US" altLang="zh-CN" sz="1800" b="1">
                <a:solidFill>
                  <a:srgbClr val="692AA2"/>
                </a:solidFill>
                <a:latin typeface="仿宋_GB2312" pitchFamily="49" charset="-122"/>
                <a:ea typeface="仿宋_GB2312" pitchFamily="49" charset="-122"/>
              </a:rPr>
              <a:t>:</a:t>
            </a:r>
            <a:r>
              <a:rPr lang="zh-CN" altLang="en-US" sz="1800" b="1">
                <a:solidFill>
                  <a:srgbClr val="D00054"/>
                </a:solidFill>
                <a:ea typeface="仿宋_GB2312" pitchFamily="49" charset="-122"/>
              </a:rPr>
              <a:t>根据系统的属性判断确定这些系统的运行（或发展）状况哪个优，哪个劣，即按优劣对各被评价对象进排序或分类</a:t>
            </a:r>
            <a:r>
              <a:rPr lang="zh-CN" altLang="en-US" sz="1800" b="1">
                <a:solidFill>
                  <a:srgbClr val="9900CC"/>
                </a:solidFill>
              </a:rPr>
              <a:t>。</a:t>
            </a:r>
            <a:r>
              <a:rPr lang="zh-CN" altLang="en-US" sz="1800" b="1">
                <a:solidFill>
                  <a:srgbClr val="692AA2"/>
                </a:solidFill>
                <a:latin typeface="仿宋_GB2312" pitchFamily="49" charset="-122"/>
                <a:ea typeface="仿宋_GB2312" pitchFamily="49" charset="-122"/>
              </a:rPr>
              <a:t>这类问题又称为</a:t>
            </a:r>
            <a:r>
              <a:rPr lang="zh-CN" altLang="en-US" sz="1800" b="1">
                <a:solidFill>
                  <a:srgbClr val="D00054"/>
                </a:solidFill>
                <a:ea typeface="仿宋_GB2312" pitchFamily="49" charset="-122"/>
              </a:rPr>
              <a:t>多属性（或多指标）的综合评价问题</a:t>
            </a:r>
            <a:r>
              <a:rPr lang="zh-CN" altLang="en-US" sz="1800" b="1">
                <a:solidFill>
                  <a:srgbClr val="9900CC"/>
                </a:solidFill>
              </a:rPr>
              <a:t>。</a:t>
            </a:r>
            <a:endParaRPr lang="zh-CN" altLang="en-US" sz="1800" b="1">
              <a:solidFill>
                <a:srgbClr val="9900CC"/>
              </a:solidFill>
            </a:endParaRPr>
          </a:p>
          <a:p>
            <a:pPr eaLnBrk="1" hangingPunct="1">
              <a:lnSpc>
                <a:spcPct val="120000"/>
              </a:lnSpc>
              <a:buNone/>
            </a:pPr>
            <a:r>
              <a:rPr lang="zh-CN" altLang="en-US" sz="1800" b="1">
                <a:solidFill>
                  <a:srgbClr val="9900CC"/>
                </a:solidFill>
              </a:rPr>
              <a:t>            </a:t>
            </a:r>
            <a:r>
              <a:rPr lang="zh-CN" altLang="en-US" sz="1800" b="1">
                <a:solidFill>
                  <a:srgbClr val="692AA2"/>
                </a:solidFill>
                <a:latin typeface="仿宋_GB2312" pitchFamily="49" charset="-122"/>
                <a:ea typeface="仿宋_GB2312" pitchFamily="49" charset="-122"/>
              </a:rPr>
              <a:t>综合评价的应用</a:t>
            </a:r>
            <a:r>
              <a:rPr lang="en-US" altLang="zh-CN" sz="1800" b="1">
                <a:solidFill>
                  <a:srgbClr val="692AA2"/>
                </a:solidFill>
                <a:latin typeface="仿宋_GB2312" pitchFamily="49" charset="-122"/>
                <a:ea typeface="仿宋_GB2312" pitchFamily="49" charset="-122"/>
              </a:rPr>
              <a:t>:</a:t>
            </a:r>
            <a:r>
              <a:rPr lang="zh-CN" altLang="en-US" sz="1800" b="1">
                <a:solidFill>
                  <a:srgbClr val="692AA2"/>
                </a:solidFill>
                <a:latin typeface="仿宋_GB2312" pitchFamily="49" charset="-122"/>
                <a:ea typeface="仿宋_GB2312" pitchFamily="49" charset="-122"/>
              </a:rPr>
              <a:t>研究多目标决策问题的前提，因此研究解决这类问题在实际中是很有意义的，特别是在政治、经济、社会及军事管理、工程技术及科学决策等领域都有重要的应用价值。 </a:t>
            </a:r>
            <a:endParaRPr lang="zh-CN" altLang="en-US" sz="1800" b="1">
              <a:solidFill>
                <a:srgbClr val="692AA2"/>
              </a:solidFill>
              <a:latin typeface="仿宋_GB2312" pitchFamily="49" charset="-122"/>
              <a:ea typeface="仿宋_GB2312" pitchFamily="49" charset="-122"/>
            </a:endParaRPr>
          </a:p>
          <a:p>
            <a:pPr eaLnBrk="1" hangingPunct="1">
              <a:lnSpc>
                <a:spcPct val="120000"/>
              </a:lnSpc>
              <a:buNone/>
            </a:pPr>
            <a:r>
              <a:rPr lang="zh-CN" altLang="en-US" sz="1800" b="1">
                <a:solidFill>
                  <a:srgbClr val="692AA2"/>
                </a:solidFill>
                <a:latin typeface="仿宋_GB2312" pitchFamily="49" charset="-122"/>
                <a:ea typeface="仿宋_GB2312" pitchFamily="49" charset="-122"/>
              </a:rPr>
              <a:t>      构成综合评价问题的五个要素分别为</a:t>
            </a:r>
            <a:r>
              <a:rPr lang="en-US" altLang="zh-CN" sz="1800" b="1">
                <a:solidFill>
                  <a:srgbClr val="692AA2"/>
                </a:solidFill>
                <a:latin typeface="仿宋_GB2312" pitchFamily="49" charset="-122"/>
                <a:ea typeface="仿宋_GB2312" pitchFamily="49" charset="-122"/>
              </a:rPr>
              <a:t>:</a:t>
            </a:r>
            <a:r>
              <a:rPr lang="zh-CN" altLang="en-US" sz="1800" b="1">
                <a:solidFill>
                  <a:srgbClr val="D00054"/>
                </a:solidFill>
                <a:ea typeface="仿宋_GB2312" pitchFamily="49" charset="-122"/>
              </a:rPr>
              <a:t>被评价对象、评价指标、权重系数、综合评价模型和评价者。</a:t>
            </a:r>
            <a:endParaRPr lang="zh-CN" altLang="en-US" sz="1800" b="1">
              <a:solidFill>
                <a:srgbClr val="D00054"/>
              </a:solidFill>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86722"/>
                                        </p:tgtEl>
                                        <p:attrNameLst>
                                          <p:attrName>style.visibility</p:attrName>
                                        </p:attrNameLst>
                                      </p:cBhvr>
                                      <p:to>
                                        <p:strVal val="visible"/>
                                      </p:to>
                                    </p:set>
                                    <p:anim calcmode="lin" valueType="num">
                                      <p:cBhvr>
                                        <p:cTn id="7" dur="500" fill="hold"/>
                                        <p:tgtEl>
                                          <p:spTgt spid="286722"/>
                                        </p:tgtEl>
                                        <p:attrNameLst>
                                          <p:attrName>ppt_w</p:attrName>
                                        </p:attrNameLst>
                                      </p:cBhvr>
                                      <p:tavLst>
                                        <p:tav tm="0">
                                          <p:val>
                                            <p:strVal val="#ppt_w*0.70"/>
                                          </p:val>
                                        </p:tav>
                                        <p:tav tm="100000">
                                          <p:val>
                                            <p:strVal val="#ppt_w"/>
                                          </p:val>
                                        </p:tav>
                                      </p:tavLst>
                                    </p:anim>
                                    <p:anim calcmode="lin" valueType="num">
                                      <p:cBhvr>
                                        <p:cTn id="8" dur="500" fill="hold"/>
                                        <p:tgtEl>
                                          <p:spTgt spid="286722"/>
                                        </p:tgtEl>
                                        <p:attrNameLst>
                                          <p:attrName>ppt_h</p:attrName>
                                        </p:attrNameLst>
                                      </p:cBhvr>
                                      <p:tavLst>
                                        <p:tav tm="0">
                                          <p:val>
                                            <p:strVal val="#ppt_h"/>
                                          </p:val>
                                        </p:tav>
                                        <p:tav tm="100000">
                                          <p:val>
                                            <p:strVal val="#ppt_h"/>
                                          </p:val>
                                        </p:tav>
                                      </p:tavLst>
                                    </p:anim>
                                    <p:animEffect transition="in" filter="fade">
                                      <p:cBhvr>
                                        <p:cTn id="9" dur="500"/>
                                        <p:tgtEl>
                                          <p:spTgt spid="286722"/>
                                        </p:tgtEl>
                                      </p:cBhvr>
                                    </p:animEffect>
                                  </p:childTnLst>
                                </p:cTn>
                              </p:par>
                            </p:childTnLst>
                          </p:cTn>
                        </p:par>
                      </p:childTnLst>
                    </p:cTn>
                  </p:par>
                  <p:par>
                    <p:cTn id="10" fill="hold">
                      <p:stCondLst>
                        <p:cond delay="indefinite"/>
                      </p:stCondLst>
                      <p:childTnLst>
                        <p:par>
                          <p:cTn id="11" fill="hold">
                            <p:stCondLst>
                              <p:cond delay="0"/>
                            </p:stCondLst>
                            <p:childTnLst>
                              <p:par>
                                <p:cTn id="12" presetID="13" presetClass="entr" presetSubtype="16" fill="hold" nodeType="clickEffect">
                                  <p:stCondLst>
                                    <p:cond delay="0"/>
                                  </p:stCondLst>
                                  <p:childTnLst>
                                    <p:set>
                                      <p:cBhvr>
                                        <p:cTn id="13" dur="1" fill="hold">
                                          <p:stCondLst>
                                            <p:cond delay="0"/>
                                          </p:stCondLst>
                                        </p:cTn>
                                        <p:tgtEl>
                                          <p:spTgt spid="286723">
                                            <p:txEl>
                                              <p:charRg st="0" end="99"/>
                                            </p:txEl>
                                          </p:spTgt>
                                        </p:tgtEl>
                                        <p:attrNameLst>
                                          <p:attrName>style.visibility</p:attrName>
                                        </p:attrNameLst>
                                      </p:cBhvr>
                                      <p:to>
                                        <p:strVal val="visible"/>
                                      </p:to>
                                    </p:set>
                                    <p:animEffect transition="in" filter="plus(in)">
                                      <p:cBhvr>
                                        <p:cTn id="14" dur="500"/>
                                        <p:tgtEl>
                                          <p:spTgt spid="286723">
                                            <p:txEl>
                                              <p:charRg st="0" end="99"/>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nodeType="clickEffect">
                                  <p:stCondLst>
                                    <p:cond delay="0"/>
                                  </p:stCondLst>
                                  <p:childTnLst>
                                    <p:set>
                                      <p:cBhvr>
                                        <p:cTn id="18" dur="1" fill="hold">
                                          <p:stCondLst>
                                            <p:cond delay="0"/>
                                          </p:stCondLst>
                                        </p:cTn>
                                        <p:tgtEl>
                                          <p:spTgt spid="286723">
                                            <p:txEl>
                                              <p:charRg st="99" end="190"/>
                                            </p:txEl>
                                          </p:spTgt>
                                        </p:tgtEl>
                                        <p:attrNameLst>
                                          <p:attrName>style.visibility</p:attrName>
                                        </p:attrNameLst>
                                      </p:cBhvr>
                                      <p:to>
                                        <p:strVal val="visible"/>
                                      </p:to>
                                    </p:set>
                                    <p:animEffect transition="in" filter="plus(in)">
                                      <p:cBhvr>
                                        <p:cTn id="19" dur="500"/>
                                        <p:tgtEl>
                                          <p:spTgt spid="286723">
                                            <p:txEl>
                                              <p:charRg st="99" end="19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286723">
                                            <p:txEl>
                                              <p:charRg st="190" end="286"/>
                                            </p:txEl>
                                          </p:spTgt>
                                        </p:tgtEl>
                                        <p:attrNameLst>
                                          <p:attrName>style.visibility</p:attrName>
                                        </p:attrNameLst>
                                      </p:cBhvr>
                                      <p:to>
                                        <p:strVal val="visible"/>
                                      </p:to>
                                    </p:set>
                                    <p:animEffect transition="in" filter="circle(in)">
                                      <p:cBhvr>
                                        <p:cTn id="24" dur="500"/>
                                        <p:tgtEl>
                                          <p:spTgt spid="286723">
                                            <p:txEl>
                                              <p:charRg st="190" end="28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286723">
                                            <p:txEl>
                                              <p:charRg st="286" end="337"/>
                                            </p:txEl>
                                          </p:spTgt>
                                        </p:tgtEl>
                                        <p:attrNameLst>
                                          <p:attrName>style.visibility</p:attrName>
                                        </p:attrNameLst>
                                      </p:cBhvr>
                                      <p:to>
                                        <p:strVal val="visible"/>
                                      </p:to>
                                    </p:set>
                                    <p:animEffect transition="in" filter="checkerboard(across)">
                                      <p:cBhvr>
                                        <p:cTn id="29" dur="500"/>
                                        <p:tgtEl>
                                          <p:spTgt spid="286723">
                                            <p:txEl>
                                              <p:charRg st="286" end="3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1842" name="Text Box 2"/>
          <p:cNvSpPr txBox="1"/>
          <p:nvPr/>
        </p:nvSpPr>
        <p:spPr>
          <a:xfrm>
            <a:off x="1143000" y="1906588"/>
            <a:ext cx="6629400" cy="3351212"/>
          </a:xfrm>
          <a:prstGeom prst="rect">
            <a:avLst/>
          </a:prstGeom>
          <a:noFill/>
          <a:ln w="9525">
            <a:noFill/>
          </a:ln>
        </p:spPr>
        <p:txBody>
          <a:bodyPr anchor="t">
            <a:spAutoFit/>
          </a:bodyPr>
          <a:p>
            <a:r>
              <a:rPr lang="zh-CN" altLang="en-US" sz="2800" b="1">
                <a:solidFill>
                  <a:srgbClr val="D00054"/>
                </a:solidFill>
                <a:latin typeface="Arial" panose="020B0604020202020204" pitchFamily="34" charset="0"/>
                <a:ea typeface="仿宋_GB2312" pitchFamily="49" charset="-122"/>
              </a:rPr>
              <a:t>综合评价的一般步骤：</a:t>
            </a:r>
            <a:endParaRPr lang="zh-CN" altLang="en-US" sz="2800" b="1">
              <a:solidFill>
                <a:srgbClr val="D00054"/>
              </a:solidFill>
              <a:latin typeface="Arial" panose="020B0604020202020204" pitchFamily="34" charset="0"/>
              <a:ea typeface="仿宋_GB2312" pitchFamily="49" charset="-122"/>
            </a:endParaRPr>
          </a:p>
          <a:p>
            <a:pPr>
              <a:lnSpc>
                <a:spcPct val="150000"/>
              </a:lnSpc>
            </a:pPr>
            <a:r>
              <a:rPr lang="zh-CN" altLang="en-US" sz="2800" b="1">
                <a:latin typeface="Arial" panose="020B0604020202020204" pitchFamily="34" charset="0"/>
                <a:ea typeface="仿宋_GB2312" pitchFamily="49" charset="-122"/>
              </a:rPr>
              <a:t>   </a:t>
            </a:r>
            <a:r>
              <a:rPr lang="zh-CN" altLang="en-US" sz="2400" b="1">
                <a:solidFill>
                  <a:srgbClr val="692AA2"/>
                </a:solidFill>
                <a:latin typeface="仿宋_GB2312" pitchFamily="49" charset="-122"/>
                <a:ea typeface="仿宋_GB2312" pitchFamily="49" charset="-122"/>
              </a:rPr>
              <a:t>明确评价目的；确定被评价对象；建立评价指标体系（包括评价指标的原始值、评价指标的若干预处理等）；确定与各项评价指标相对应的权重系数；选择或构造综合评价模型；计算各系统的综合评价值</a:t>
            </a:r>
            <a:r>
              <a:rPr lang="en-US" altLang="zh-CN" sz="2400" b="1">
                <a:solidFill>
                  <a:srgbClr val="692AA2"/>
                </a:solidFill>
                <a:latin typeface="仿宋_GB2312" pitchFamily="49" charset="-122"/>
                <a:ea typeface="仿宋_GB2312" pitchFamily="49" charset="-122"/>
              </a:rPr>
              <a:t>,</a:t>
            </a:r>
            <a:r>
              <a:rPr lang="zh-CN" altLang="en-US" sz="2400" b="1">
                <a:solidFill>
                  <a:srgbClr val="692AA2"/>
                </a:solidFill>
                <a:latin typeface="仿宋_GB2312" pitchFamily="49" charset="-122"/>
                <a:ea typeface="仿宋_GB2312" pitchFamily="49" charset="-122"/>
              </a:rPr>
              <a:t>并给出综合评价结果。</a:t>
            </a:r>
            <a:endParaRPr lang="zh-CN" altLang="en-US" sz="2400" b="1">
              <a:solidFill>
                <a:srgbClr val="692AA2"/>
              </a:solidFill>
              <a:latin typeface="仿宋_GB2312" pitchFamily="49" charset="-122"/>
              <a:ea typeface="仿宋_GB2312" pitchFamily="49"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1842"/>
                                        </p:tgtEl>
                                        <p:attrNameLst>
                                          <p:attrName>style.visibility</p:attrName>
                                        </p:attrNameLst>
                                      </p:cBhvr>
                                      <p:to>
                                        <p:strVal val="visible"/>
                                      </p:to>
                                    </p:set>
                                    <p:animEffect transition="in" filter="box(in)">
                                      <p:cBhvr>
                                        <p:cTn id="7" dur="500"/>
                                        <p:tgtEl>
                                          <p:spTgt spid="291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3" name="Rectangle 2"/>
          <p:cNvSpPr>
            <a:spLocks noGrp="1"/>
          </p:cNvSpPr>
          <p:nvPr>
            <p:ph type="title"/>
          </p:nvPr>
        </p:nvSpPr>
        <p:spPr>
          <a:ln/>
        </p:spPr>
        <p:txBody>
          <a:bodyPr vert="horz" wrap="square" lIns="91440" tIns="45720" rIns="91440" bIns="45720" anchor="b"/>
          <a:p>
            <a:pPr eaLnBrk="1" hangingPunct="1"/>
            <a:r>
              <a:rPr lang="en-US" altLang="zh-CN" sz="2400">
                <a:solidFill>
                  <a:srgbClr val="01016F"/>
                </a:solidFill>
              </a:rPr>
              <a:t>§3    </a:t>
            </a:r>
            <a:r>
              <a:rPr lang="zh-CN" altLang="en-US" sz="2400">
                <a:solidFill>
                  <a:srgbClr val="01016F"/>
                </a:solidFill>
              </a:rPr>
              <a:t>水质综合评价模型</a:t>
            </a:r>
            <a:endParaRPr lang="zh-CN" altLang="en-US" sz="2400">
              <a:solidFill>
                <a:srgbClr val="01016F"/>
              </a:solidFill>
            </a:endParaRPr>
          </a:p>
        </p:txBody>
      </p:sp>
      <p:sp>
        <p:nvSpPr>
          <p:cNvPr id="187394"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3.1 </a:t>
            </a:r>
            <a:r>
              <a:rPr lang="zh-CN" altLang="en-US" sz="1800" b="1">
                <a:solidFill>
                  <a:srgbClr val="692AA2"/>
                </a:solidFill>
                <a:ea typeface="仿宋_GB2312" pitchFamily="49" charset="-122"/>
              </a:rPr>
              <a:t>基本假设</a:t>
            </a: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）本文只以长江流域中的</a:t>
            </a:r>
            <a:r>
              <a:rPr lang="en-US" altLang="zh-CN" sz="1800" b="1">
                <a:solidFill>
                  <a:srgbClr val="692AA2"/>
                </a:solidFill>
                <a:ea typeface="仿宋_GB2312" pitchFamily="49" charset="-122"/>
              </a:rPr>
              <a:t>17</a:t>
            </a:r>
            <a:r>
              <a:rPr lang="zh-CN" altLang="en-US" sz="1800" b="1">
                <a:solidFill>
                  <a:srgbClr val="692AA2"/>
                </a:solidFill>
                <a:ea typeface="仿宋_GB2312" pitchFamily="49" charset="-122"/>
              </a:rPr>
              <a:t>个观测点为研究对象，不考虑长江流域的其它部分和未提到的其它支流。</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）假设高锰酸盐和氨氮的降解系数都为</a:t>
            </a:r>
            <a:r>
              <a:rPr lang="en-US" altLang="zh-CN" sz="1800" b="1">
                <a:solidFill>
                  <a:srgbClr val="692AA2"/>
                </a:solidFill>
                <a:ea typeface="仿宋_GB2312" pitchFamily="49" charset="-122"/>
              </a:rPr>
              <a:t>0.2</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）各年的水质情况的检测数据互不影响。</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）各个污染指标不相关，互不影响。</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5</a:t>
            </a:r>
            <a:r>
              <a:rPr lang="zh-CN" altLang="en-US" sz="1800" b="1">
                <a:solidFill>
                  <a:srgbClr val="692AA2"/>
                </a:solidFill>
                <a:ea typeface="仿宋_GB2312" pitchFamily="49" charset="-122"/>
              </a:rPr>
              <a:t>）评价和预测水质时忽略其他环境因素。</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6</a:t>
            </a:r>
            <a:r>
              <a:rPr lang="zh-CN" altLang="en-US" sz="1800" b="1">
                <a:solidFill>
                  <a:srgbClr val="692AA2"/>
                </a:solidFill>
                <a:ea typeface="仿宋_GB2312" pitchFamily="49" charset="-122"/>
              </a:rPr>
              <a:t>）各监测站的监测数据代表该地区的水质情况</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7</a:t>
            </a:r>
            <a:r>
              <a:rPr lang="zh-CN" altLang="en-US" sz="1800" b="1">
                <a:solidFill>
                  <a:srgbClr val="692AA2"/>
                </a:solidFill>
                <a:ea typeface="仿宋_GB2312" pitchFamily="49" charset="-122"/>
              </a:rPr>
              <a:t>）长江干流的水流速度均匀变化。 </a:t>
            </a:r>
            <a:endParaRPr lang="zh-CN" altLang="en-US" sz="1800" b="1">
              <a:solidFill>
                <a:srgbClr val="692AA2"/>
              </a:solidFill>
              <a:ea typeface="仿宋_GB2312" pitchFamily="49" charset="-122"/>
            </a:endParaRPr>
          </a:p>
        </p:txBody>
      </p:sp>
    </p:spTree>
  </p:cSld>
  <p:clrMapOvr>
    <a:masterClrMapping/>
  </p:clrMapOvr>
  <p:transition>
    <p:comb/>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7"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400" b="1">
                <a:solidFill>
                  <a:srgbClr val="692AA2"/>
                </a:solidFill>
                <a:ea typeface="仿宋_GB2312" pitchFamily="49" charset="-122"/>
              </a:rPr>
              <a:t>3.2 </a:t>
            </a:r>
            <a:r>
              <a:rPr lang="zh-CN" altLang="en-US" sz="2400" b="1">
                <a:solidFill>
                  <a:srgbClr val="692AA2"/>
                </a:solidFill>
                <a:ea typeface="仿宋_GB2312" pitchFamily="49" charset="-122"/>
              </a:rPr>
              <a:t>符号说明</a:t>
            </a:r>
            <a:endParaRPr lang="zh-CN" altLang="en-US" sz="2400" b="1">
              <a:solidFill>
                <a:srgbClr val="692AA2"/>
              </a:solidFill>
              <a:ea typeface="仿宋_GB2312" pitchFamily="49" charset="-122"/>
            </a:endParaRPr>
          </a:p>
          <a:p>
            <a:pPr eaLnBrk="1" hangingPunct="1">
              <a:lnSpc>
                <a:spcPct val="120000"/>
              </a:lnSpc>
              <a:buNone/>
            </a:pPr>
            <a:endParaRPr lang="zh-CN" altLang="en-US" sz="24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1</a:t>
            </a:r>
            <a:r>
              <a:rPr lang="zh-CN" altLang="en-US" sz="2000" b="1">
                <a:solidFill>
                  <a:srgbClr val="692AA2"/>
                </a:solidFill>
                <a:ea typeface="仿宋_GB2312" pitchFamily="49" charset="-122"/>
              </a:rPr>
              <a:t>） </a:t>
            </a:r>
            <a:r>
              <a:rPr lang="en-US" altLang="zh-CN" sz="2000" b="1">
                <a:solidFill>
                  <a:srgbClr val="692AA2"/>
                </a:solidFill>
                <a:ea typeface="仿宋_GB2312" pitchFamily="49" charset="-122"/>
              </a:rPr>
              <a:t>DO</a:t>
            </a:r>
            <a:r>
              <a:rPr lang="en-US" altLang="zh-CN"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表示水中溶解氧</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2</a:t>
            </a:r>
            <a:r>
              <a:rPr lang="zh-CN" altLang="en-US" sz="2000" b="1">
                <a:solidFill>
                  <a:srgbClr val="692AA2"/>
                </a:solidFill>
                <a:ea typeface="仿宋_GB2312" pitchFamily="49" charset="-122"/>
              </a:rPr>
              <a:t>） </a:t>
            </a:r>
            <a:r>
              <a:rPr lang="en-US" altLang="zh-CN" sz="2000" b="1">
                <a:solidFill>
                  <a:srgbClr val="692AA2"/>
                </a:solidFill>
                <a:ea typeface="仿宋_GB2312" pitchFamily="49" charset="-122"/>
              </a:rPr>
              <a:t>CODMn</a:t>
            </a:r>
            <a:r>
              <a:rPr lang="en-US" altLang="zh-CN"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表示水中高锰酸盐指数</a:t>
            </a:r>
            <a:endParaRPr lang="zh-CN" altLang="pt-BR" sz="2000" b="1">
              <a:solidFill>
                <a:srgbClr val="692AA2"/>
              </a:solidFill>
              <a:ea typeface="仿宋_GB2312" pitchFamily="49" charset="-122"/>
            </a:endParaRPr>
          </a:p>
          <a:p>
            <a:pPr eaLnBrk="1" hangingPunct="1">
              <a:lnSpc>
                <a:spcPct val="120000"/>
              </a:lnSpc>
              <a:buNone/>
            </a:pPr>
            <a:r>
              <a:rPr lang="zh-CN" altLang="pt-BR" sz="2000" b="1">
                <a:solidFill>
                  <a:srgbClr val="692AA2"/>
                </a:solidFill>
                <a:ea typeface="仿宋_GB2312" pitchFamily="49" charset="-122"/>
              </a:rPr>
              <a:t>（</a:t>
            </a:r>
            <a:r>
              <a:rPr lang="pt-BR" altLang="zh-CN" sz="2000" b="1">
                <a:solidFill>
                  <a:srgbClr val="692AA2"/>
                </a:solidFill>
                <a:ea typeface="仿宋_GB2312" pitchFamily="49" charset="-122"/>
              </a:rPr>
              <a:t>3</a:t>
            </a:r>
            <a:r>
              <a:rPr lang="zh-CN" altLang="pt-BR" sz="2000" b="1">
                <a:solidFill>
                  <a:srgbClr val="692AA2"/>
                </a:solidFill>
                <a:ea typeface="仿宋_GB2312" pitchFamily="49" charset="-122"/>
              </a:rPr>
              <a:t>） </a:t>
            </a:r>
            <a:r>
              <a:rPr lang="pt-BR" altLang="zh-CN" sz="2000" b="1">
                <a:solidFill>
                  <a:srgbClr val="692AA2"/>
                </a:solidFill>
                <a:ea typeface="仿宋_GB2312" pitchFamily="49" charset="-122"/>
              </a:rPr>
              <a:t>NH3-N</a:t>
            </a:r>
            <a:r>
              <a:rPr lang="pt-BR" altLang="zh-CN" sz="2000" b="1">
                <a:solidFill>
                  <a:srgbClr val="692AA2"/>
                </a:solidFill>
                <a:latin typeface="宋体" panose="02010600030101010101" pitchFamily="2" charset="-122"/>
                <a:ea typeface="仿宋_GB2312" pitchFamily="49" charset="-122"/>
              </a:rPr>
              <a:t>————</a:t>
            </a:r>
            <a:r>
              <a:rPr lang="zh-CN" altLang="pt-BR" sz="2000" b="1">
                <a:solidFill>
                  <a:srgbClr val="692AA2"/>
                </a:solidFill>
                <a:ea typeface="仿宋_GB2312" pitchFamily="49" charset="-122"/>
              </a:rPr>
              <a:t>表示水中氨氮</a:t>
            </a:r>
            <a:endParaRPr lang="zh-CN" altLang="en-US" sz="2000" b="1">
              <a:solidFill>
                <a:srgbClr val="692AA2"/>
              </a:solidFill>
              <a:ea typeface="仿宋_GB2312" pitchFamily="49" charset="-122"/>
            </a:endParaRPr>
          </a:p>
        </p:txBody>
      </p:sp>
    </p:spTree>
  </p:cSld>
  <p:clrMapOvr>
    <a:masterClrMapping/>
  </p:clrMapOvr>
  <p:transition>
    <p:checke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1"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400" b="1">
                <a:solidFill>
                  <a:srgbClr val="692AA2"/>
                </a:solidFill>
                <a:ea typeface="仿宋_GB2312" pitchFamily="49" charset="-122"/>
              </a:rPr>
              <a:t>3. 3 </a:t>
            </a:r>
            <a:r>
              <a:rPr lang="zh-CN" altLang="en-US" sz="2400" b="1">
                <a:solidFill>
                  <a:srgbClr val="692AA2"/>
                </a:solidFill>
                <a:ea typeface="仿宋_GB2312" pitchFamily="49" charset="-122"/>
              </a:rPr>
              <a:t>问题分析</a:t>
            </a:r>
            <a:endParaRPr lang="zh-CN" altLang="en-US" sz="24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a:t>
            </a:r>
            <a:r>
              <a:rPr lang="zh-CN" altLang="en-US" sz="1800" b="1">
                <a:solidFill>
                  <a:srgbClr val="692AA2"/>
                </a:solidFill>
                <a:ea typeface="仿宋_GB2312" pitchFamily="49" charset="-122"/>
              </a:rPr>
              <a:t>整个水质评价工作应包括五个环节：</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、确定调查范围，设计检测站点；</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、水污染调查与监测，得到各站点的监测值；</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、确定评价指标与水质分级以及各指标在各等级的标准值；</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、建立数学模型，进行综合评价；</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5</a:t>
            </a:r>
            <a:r>
              <a:rPr lang="zh-CN" altLang="en-US" sz="1800" b="1">
                <a:solidFill>
                  <a:srgbClr val="692AA2"/>
                </a:solidFill>
                <a:ea typeface="仿宋_GB2312" pitchFamily="49" charset="-122"/>
              </a:rPr>
              <a:t>、划分水环境质量等级，并作出评价结论。</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可用下面的流程图（图</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）来表示，其中环节</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和环节</a:t>
            </a:r>
            <a:r>
              <a:rPr lang="en-US" altLang="zh-CN" sz="1800" b="1">
                <a:solidFill>
                  <a:srgbClr val="692AA2"/>
                </a:solidFill>
                <a:ea typeface="仿宋_GB2312" pitchFamily="49" charset="-122"/>
              </a:rPr>
              <a:t>5</a:t>
            </a:r>
            <a:r>
              <a:rPr lang="zh-CN" altLang="en-US" sz="1800" b="1">
                <a:solidFill>
                  <a:srgbClr val="692AA2"/>
                </a:solidFill>
                <a:ea typeface="仿宋_GB2312" pitchFamily="49" charset="-122"/>
              </a:rPr>
              <a:t>是本文要做的工作，即建立数学模型进行综合评价，并划分水环境质量等级，作出评价结论。</a:t>
            </a:r>
            <a:endParaRPr lang="zh-CN" altLang="en-US" sz="1800" b="1">
              <a:solidFill>
                <a:srgbClr val="692AA2"/>
              </a:solidFill>
              <a:ea typeface="仿宋_GB2312" pitchFamily="49" charset="-122"/>
            </a:endParaRPr>
          </a:p>
        </p:txBody>
      </p:sp>
    </p:spTree>
  </p:cSld>
  <p:clrMapOvr>
    <a:masterClrMapping/>
  </p:clrMapOvr>
  <p:transition>
    <p:checker dir="vert"/>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5" name="Rectangle 3"/>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0466" name="Object 4"/>
          <p:cNvGraphicFramePr>
            <a:graphicFrameLocks noChangeAspect="1"/>
          </p:cNvGraphicFramePr>
          <p:nvPr/>
        </p:nvGraphicFramePr>
        <p:xfrm>
          <a:off x="1371600" y="152400"/>
          <a:ext cx="4918075" cy="6705600"/>
        </p:xfrm>
        <a:graphic>
          <a:graphicData uri="http://schemas.openxmlformats.org/presentationml/2006/ole">
            <mc:AlternateContent xmlns:mc="http://schemas.openxmlformats.org/markup-compatibility/2006">
              <mc:Choice xmlns:v="urn:schemas-microsoft-com:vml" Requires="v">
                <p:oleObj spid="_x0000_s3344" name="" r:id="rId1" imgW="4458970" imgH="6074410" progId="Word.Picture.8">
                  <p:embed/>
                </p:oleObj>
              </mc:Choice>
              <mc:Fallback>
                <p:oleObj name="" r:id="rId1" imgW="4458970" imgH="6074410" progId="Word.Picture.8">
                  <p:embed/>
                  <p:pic>
                    <p:nvPicPr>
                      <p:cNvPr id="0" name="图片 3343"/>
                      <p:cNvPicPr/>
                      <p:nvPr/>
                    </p:nvPicPr>
                    <p:blipFill>
                      <a:blip r:embed="rId2"/>
                      <a:stretch>
                        <a:fillRect/>
                      </a:stretch>
                    </p:blipFill>
                    <p:spPr>
                      <a:xfrm>
                        <a:off x="1371600" y="152400"/>
                        <a:ext cx="4918075" cy="6705600"/>
                      </a:xfrm>
                      <a:prstGeom prst="rect">
                        <a:avLst/>
                      </a:prstGeom>
                      <a:noFill/>
                      <a:ln w="38100">
                        <a:noFill/>
                        <a:miter/>
                      </a:ln>
                    </p:spPr>
                  </p:pic>
                </p:oleObj>
              </mc:Fallback>
            </mc:AlternateContent>
          </a:graphicData>
        </a:graphic>
      </p:graphicFrame>
      <p:sp>
        <p:nvSpPr>
          <p:cNvPr id="190467" name="Rectangle 5"/>
          <p:cNvSpPr/>
          <p:nvPr/>
        </p:nvSpPr>
        <p:spPr>
          <a:xfrm>
            <a:off x="5105400" y="5715000"/>
            <a:ext cx="2355850" cy="519113"/>
          </a:xfrm>
          <a:prstGeom prst="rect">
            <a:avLst/>
          </a:prstGeom>
          <a:noFill/>
          <a:ln w="9525">
            <a:noFill/>
          </a:ln>
        </p:spPr>
        <p:txBody>
          <a:bodyPr wrap="none" anchor="ctr">
            <a:spAutoFit/>
          </a:bodyPr>
          <a:p>
            <a:r>
              <a:rPr lang="zh-CN" altLang="en-US" b="1">
                <a:solidFill>
                  <a:srgbClr val="832E9E"/>
                </a:solidFill>
                <a:latin typeface="仿宋_GB2312" pitchFamily="49" charset="-122"/>
                <a:ea typeface="仿宋_GB2312" pitchFamily="49" charset="-122"/>
              </a:rPr>
              <a:t>图</a:t>
            </a:r>
            <a:r>
              <a:rPr lang="en-US" altLang="zh-CN" b="1">
                <a:solidFill>
                  <a:srgbClr val="832E9E"/>
                </a:solidFill>
                <a:latin typeface="仿宋_GB2312" pitchFamily="49" charset="-122"/>
                <a:ea typeface="仿宋_GB2312" pitchFamily="49" charset="-122"/>
              </a:rPr>
              <a:t>1 </a:t>
            </a:r>
            <a:r>
              <a:rPr lang="zh-CN" altLang="en-US" b="1">
                <a:solidFill>
                  <a:srgbClr val="832E9E"/>
                </a:solidFill>
                <a:latin typeface="仿宋_GB2312" pitchFamily="49" charset="-122"/>
                <a:ea typeface="仿宋_GB2312" pitchFamily="49" charset="-122"/>
              </a:rPr>
              <a:t>水质评价流程图</a:t>
            </a:r>
            <a:r>
              <a:rPr lang="zh-CN" altLang="en-US" sz="2800" b="1">
                <a:solidFill>
                  <a:srgbClr val="832E9E"/>
                </a:solidFill>
                <a:latin typeface="Arial" panose="020B0604020202020204" pitchFamily="34" charset="0"/>
                <a:ea typeface="宋体" panose="02010600030101010101" pitchFamily="2" charset="-122"/>
              </a:rPr>
              <a:t> </a:t>
            </a:r>
            <a:endParaRPr lang="zh-CN" altLang="en-US" sz="2800" b="1">
              <a:solidFill>
                <a:srgbClr val="832E9E"/>
              </a:solidFill>
              <a:latin typeface="Arial" panose="020B0604020202020204" pitchFamily="34" charset="0"/>
              <a:ea typeface="宋体" panose="02010600030101010101" pitchFamily="2" charset="-122"/>
            </a:endParaRPr>
          </a:p>
        </p:txBody>
      </p:sp>
    </p:spTree>
  </p:cSld>
  <p:clrMapOvr>
    <a:masterClrMapping/>
  </p:clrMapOvr>
  <p:transition>
    <p:comb dir="vert"/>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89" name="Rectangle 3"/>
          <p:cNvSpPr>
            <a:spLocks noGrp="1"/>
          </p:cNvSpPr>
          <p:nvPr>
            <p:ph idx="1"/>
          </p:nvPr>
        </p:nvSpPr>
        <p:spPr>
          <a:xfrm>
            <a:off x="566738" y="1341438"/>
            <a:ext cx="8001000" cy="4298950"/>
          </a:xfrm>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3.4 </a:t>
            </a:r>
            <a:r>
              <a:rPr lang="zh-CN" altLang="en-US" sz="2000" b="1">
                <a:solidFill>
                  <a:srgbClr val="692AA2"/>
                </a:solidFill>
                <a:ea typeface="仿宋_GB2312" pitchFamily="49" charset="-122"/>
              </a:rPr>
              <a:t>各观测站点分布图</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a:t>
            </a:r>
            <a:r>
              <a:rPr lang="zh-CN" altLang="en-US" sz="1800" b="1">
                <a:solidFill>
                  <a:srgbClr val="692AA2"/>
                </a:solidFill>
                <a:ea typeface="仿宋_GB2312" pitchFamily="49" charset="-122"/>
              </a:rPr>
              <a:t>水质评价工作的第一步就是确定调查范围，设计检测站点。由题目中的附件</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可知此次水质评价工作的范围为长江中下游地区（从四川攀枝花到江苏扬州），在这之间设计了</a:t>
            </a:r>
            <a:r>
              <a:rPr lang="en-US" altLang="zh-CN" sz="1800" b="1">
                <a:solidFill>
                  <a:srgbClr val="692AA2"/>
                </a:solidFill>
                <a:ea typeface="仿宋_GB2312" pitchFamily="49" charset="-122"/>
              </a:rPr>
              <a:t>17</a:t>
            </a:r>
            <a:r>
              <a:rPr lang="zh-CN" altLang="en-US" sz="1800" b="1">
                <a:solidFill>
                  <a:srgbClr val="692AA2"/>
                </a:solidFill>
                <a:ea typeface="仿宋_GB2312" pitchFamily="49" charset="-122"/>
              </a:rPr>
              <a:t>个监测站点。</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参照中国地图册，画出长江中下游流域与各个观测站点（地区）的大致分布，如下面图</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所示：</a:t>
            </a:r>
            <a:endParaRPr lang="zh-CN" altLang="en-US" sz="1800" b="1">
              <a:solidFill>
                <a:srgbClr val="692AA2"/>
              </a:solidFill>
              <a:ea typeface="仿宋_GB2312" pitchFamily="49" charset="-122"/>
            </a:endParaRPr>
          </a:p>
        </p:txBody>
      </p:sp>
    </p:spTree>
  </p:cSld>
  <p:clrMapOvr>
    <a:masterClrMapping/>
  </p:clrMapOvr>
  <p:transition>
    <p:comb/>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2513" name="Picture 3" descr="tu1"/>
          <p:cNvPicPr>
            <a:picLocks noGrp="1" noChangeAspect="1"/>
          </p:cNvPicPr>
          <p:nvPr>
            <p:ph idx="1"/>
          </p:nvPr>
        </p:nvPicPr>
        <p:blipFill>
          <a:blip r:embed="rId1"/>
          <a:stretch>
            <a:fillRect/>
          </a:stretch>
        </p:blipFill>
        <p:spPr>
          <a:xfrm>
            <a:off x="990600" y="381000"/>
            <a:ext cx="7086600" cy="6224588"/>
          </a:xfrm>
          <a:ln/>
        </p:spPr>
      </p:pic>
    </p:spTree>
  </p:cSld>
  <p:clrMapOvr>
    <a:masterClrMapping/>
  </p:clrMapOvr>
  <p:transition>
    <p:checker dir="vert"/>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7"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400" b="1">
                <a:solidFill>
                  <a:srgbClr val="692AA2"/>
                </a:solidFill>
                <a:ea typeface="仿宋_GB2312" pitchFamily="49" charset="-122"/>
              </a:rPr>
              <a:t>3.5 </a:t>
            </a:r>
            <a:r>
              <a:rPr lang="zh-CN" altLang="en-US" sz="2400" b="1">
                <a:solidFill>
                  <a:srgbClr val="692AA2"/>
                </a:solidFill>
                <a:ea typeface="仿宋_GB2312" pitchFamily="49" charset="-122"/>
              </a:rPr>
              <a:t>监测数据的采取</a:t>
            </a:r>
            <a:endParaRPr lang="zh-CN" altLang="en-US" sz="24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水质评价工作的第二步是每隔一段时间对水质调查与监测，得到各个指标的监测值序列。题目中的附件</a:t>
            </a:r>
            <a:r>
              <a:rPr lang="en-US" altLang="zh-CN" sz="2000" b="1">
                <a:solidFill>
                  <a:srgbClr val="692AA2"/>
                </a:solidFill>
                <a:ea typeface="仿宋_GB2312" pitchFamily="49" charset="-122"/>
              </a:rPr>
              <a:t>3</a:t>
            </a:r>
            <a:r>
              <a:rPr lang="zh-CN" altLang="en-US" sz="2000" b="1">
                <a:solidFill>
                  <a:srgbClr val="692AA2"/>
                </a:solidFill>
                <a:ea typeface="仿宋_GB2312" pitchFamily="49" charset="-122"/>
              </a:rPr>
              <a:t>已给出了这</a:t>
            </a:r>
            <a:r>
              <a:rPr lang="en-US" altLang="zh-CN" sz="2000" b="1">
                <a:solidFill>
                  <a:srgbClr val="692AA2"/>
                </a:solidFill>
                <a:ea typeface="仿宋_GB2312" pitchFamily="49" charset="-122"/>
              </a:rPr>
              <a:t>17</a:t>
            </a:r>
            <a:r>
              <a:rPr lang="zh-CN" altLang="en-US" sz="2000" b="1">
                <a:solidFill>
                  <a:srgbClr val="692AA2"/>
                </a:solidFill>
                <a:ea typeface="仿宋_GB2312" pitchFamily="49" charset="-122"/>
              </a:rPr>
              <a:t>个检测站近两年多主要水质指标的监测数据。 </a:t>
            </a:r>
            <a:endParaRPr lang="zh-CN" altLang="en-US" sz="2000" b="1">
              <a:solidFill>
                <a:srgbClr val="692AA2"/>
              </a:solidFill>
              <a:ea typeface="仿宋_GB2312" pitchFamily="49" charset="-122"/>
            </a:endParaRPr>
          </a:p>
        </p:txBody>
      </p:sp>
    </p:spTree>
  </p:cSld>
  <p:clrMapOvr>
    <a:masterClrMapping/>
  </p:clrMapOvr>
  <p:transition>
    <p:checke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1"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400" b="1">
                <a:solidFill>
                  <a:srgbClr val="692AA2"/>
                </a:solidFill>
                <a:ea typeface="仿宋_GB2312" pitchFamily="49" charset="-122"/>
              </a:rPr>
              <a:t>3.6 </a:t>
            </a:r>
            <a:r>
              <a:rPr lang="zh-CN" altLang="en-US" sz="2400" b="1">
                <a:solidFill>
                  <a:srgbClr val="692AA2"/>
                </a:solidFill>
                <a:ea typeface="仿宋_GB2312" pitchFamily="49" charset="-122"/>
              </a:rPr>
              <a:t>标准的选取</a:t>
            </a:r>
            <a:endParaRPr lang="zh-CN" altLang="en-US" sz="24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水质评价工作的第三步是确定评价指标、水质分级以及质量标准值。这里质量标准值采用</a:t>
            </a:r>
            <a:r>
              <a:rPr lang="en-US" altLang="zh-CN" sz="2000" b="1">
                <a:solidFill>
                  <a:srgbClr val="692AA2"/>
                </a:solidFill>
                <a:ea typeface="仿宋_GB2312" pitchFamily="49" charset="-122"/>
              </a:rPr>
              <a:t>《</a:t>
            </a:r>
            <a:r>
              <a:rPr lang="zh-CN" altLang="en-US" sz="2000" b="1">
                <a:solidFill>
                  <a:srgbClr val="692AA2"/>
                </a:solidFill>
                <a:ea typeface="仿宋_GB2312" pitchFamily="49" charset="-122"/>
              </a:rPr>
              <a:t>地表水环境质量标准</a:t>
            </a:r>
            <a:r>
              <a:rPr lang="en-US" altLang="zh-CN" sz="2000" b="1">
                <a:solidFill>
                  <a:srgbClr val="692AA2"/>
                </a:solidFill>
                <a:ea typeface="仿宋_GB2312" pitchFamily="49" charset="-122"/>
              </a:rPr>
              <a:t>》(GB3838-2002)</a:t>
            </a:r>
            <a:r>
              <a:rPr lang="zh-CN" altLang="en-US" sz="2000" b="1">
                <a:solidFill>
                  <a:srgbClr val="692AA2"/>
                </a:solidFill>
                <a:ea typeface="仿宋_GB2312" pitchFamily="49" charset="-122"/>
              </a:rPr>
              <a:t>中的标准值。评价指标为水质的</a:t>
            </a:r>
            <a:r>
              <a:rPr lang="en-US" altLang="zh-CN" sz="2000" b="1">
                <a:solidFill>
                  <a:srgbClr val="692AA2"/>
                </a:solidFill>
                <a:ea typeface="仿宋_GB2312" pitchFamily="49" charset="-122"/>
              </a:rPr>
              <a:t>3</a:t>
            </a:r>
            <a:r>
              <a:rPr lang="zh-CN" altLang="en-US" sz="2000" b="1">
                <a:solidFill>
                  <a:srgbClr val="692AA2"/>
                </a:solidFill>
                <a:ea typeface="仿宋_GB2312" pitchFamily="49" charset="-122"/>
              </a:rPr>
              <a:t>个主要指标： </a:t>
            </a:r>
            <a:r>
              <a:rPr lang="en-US" altLang="zh-CN" sz="2000" b="1">
                <a:solidFill>
                  <a:srgbClr val="692AA2"/>
                </a:solidFill>
                <a:ea typeface="仿宋_GB2312" pitchFamily="49" charset="-122"/>
              </a:rPr>
              <a:t>DO</a:t>
            </a:r>
            <a:r>
              <a:rPr lang="zh-CN" altLang="en-US" sz="2000" b="1">
                <a:solidFill>
                  <a:srgbClr val="692AA2"/>
                </a:solidFill>
                <a:ea typeface="仿宋_GB2312" pitchFamily="49" charset="-122"/>
              </a:rPr>
              <a:t>（溶解氧）、</a:t>
            </a:r>
            <a:r>
              <a:rPr lang="en-US" altLang="zh-CN" sz="2000" b="1">
                <a:solidFill>
                  <a:srgbClr val="692AA2"/>
                </a:solidFill>
                <a:ea typeface="仿宋_GB2312" pitchFamily="49" charset="-122"/>
              </a:rPr>
              <a:t>CODMn</a:t>
            </a:r>
            <a:r>
              <a:rPr lang="zh-CN" altLang="en-US" sz="2000" b="1">
                <a:solidFill>
                  <a:srgbClr val="692AA2"/>
                </a:solidFill>
                <a:ea typeface="仿宋_GB2312" pitchFamily="49" charset="-122"/>
              </a:rPr>
              <a:t>（高锰酸盐指数）和</a:t>
            </a:r>
            <a:r>
              <a:rPr lang="en-US" altLang="zh-CN" sz="2000" b="1">
                <a:solidFill>
                  <a:srgbClr val="692AA2"/>
                </a:solidFill>
                <a:ea typeface="仿宋_GB2312" pitchFamily="49" charset="-122"/>
              </a:rPr>
              <a:t>NH3-N</a:t>
            </a:r>
            <a:r>
              <a:rPr lang="zh-CN" altLang="en-US" sz="2000" b="1">
                <a:solidFill>
                  <a:srgbClr val="692AA2"/>
                </a:solidFill>
                <a:ea typeface="仿宋_GB2312" pitchFamily="49" charset="-122"/>
              </a:rPr>
              <a:t>（氨氮）。评价等级设为</a:t>
            </a:r>
            <a:r>
              <a:rPr lang="en-US" altLang="zh-CN" sz="2000" b="1">
                <a:solidFill>
                  <a:srgbClr val="692AA2"/>
                </a:solidFill>
                <a:ea typeface="仿宋_GB2312" pitchFamily="49" charset="-122"/>
              </a:rPr>
              <a:t>6</a:t>
            </a:r>
            <a:r>
              <a:rPr lang="zh-CN" altLang="en-US" sz="2000" b="1">
                <a:solidFill>
                  <a:srgbClr val="692AA2"/>
                </a:solidFill>
                <a:ea typeface="仿宋_GB2312" pitchFamily="49" charset="-122"/>
              </a:rPr>
              <a:t>个等级：</a:t>
            </a:r>
            <a:r>
              <a:rPr lang="en-US" altLang="zh-CN" sz="2000" b="1">
                <a:solidFill>
                  <a:srgbClr val="692AA2"/>
                </a:solidFill>
                <a:ea typeface="仿宋_GB2312" pitchFamily="49" charset="-122"/>
              </a:rPr>
              <a:t>Ⅰ</a:t>
            </a:r>
            <a:r>
              <a:rPr lang="zh-CN" altLang="en-US" sz="2000" b="1">
                <a:solidFill>
                  <a:srgbClr val="692AA2"/>
                </a:solidFill>
                <a:ea typeface="仿宋_GB2312" pitchFamily="49" charset="-122"/>
              </a:rPr>
              <a:t>类、</a:t>
            </a:r>
            <a:r>
              <a:rPr lang="en-US" altLang="zh-CN" sz="2000" b="1">
                <a:solidFill>
                  <a:srgbClr val="692AA2"/>
                </a:solidFill>
                <a:ea typeface="仿宋_GB2312" pitchFamily="49" charset="-122"/>
              </a:rPr>
              <a:t>Ⅱ</a:t>
            </a:r>
            <a:r>
              <a:rPr lang="zh-CN" altLang="en-US" sz="2000" b="1">
                <a:solidFill>
                  <a:srgbClr val="692AA2"/>
                </a:solidFill>
                <a:ea typeface="仿宋_GB2312" pitchFamily="49" charset="-122"/>
              </a:rPr>
              <a:t>类、</a:t>
            </a:r>
            <a:r>
              <a:rPr lang="en-US" altLang="zh-CN" sz="2000" b="1">
                <a:solidFill>
                  <a:srgbClr val="692AA2"/>
                </a:solidFill>
                <a:ea typeface="仿宋_GB2312" pitchFamily="49" charset="-122"/>
              </a:rPr>
              <a:t>Ⅲ</a:t>
            </a:r>
            <a:r>
              <a:rPr lang="zh-CN" altLang="en-US" sz="2000" b="1">
                <a:solidFill>
                  <a:srgbClr val="692AA2"/>
                </a:solidFill>
                <a:ea typeface="仿宋_GB2312" pitchFamily="49" charset="-122"/>
              </a:rPr>
              <a:t>类、</a:t>
            </a:r>
            <a:r>
              <a:rPr lang="en-US" altLang="zh-CN" sz="2000" b="1">
                <a:solidFill>
                  <a:srgbClr val="692AA2"/>
                </a:solidFill>
                <a:ea typeface="仿宋_GB2312" pitchFamily="49" charset="-122"/>
              </a:rPr>
              <a:t>Ⅳ</a:t>
            </a:r>
            <a:r>
              <a:rPr lang="zh-CN" altLang="en-US" sz="2000" b="1">
                <a:solidFill>
                  <a:srgbClr val="692AA2"/>
                </a:solidFill>
                <a:ea typeface="仿宋_GB2312" pitchFamily="49" charset="-122"/>
              </a:rPr>
              <a:t>类、</a:t>
            </a:r>
            <a:r>
              <a:rPr lang="en-US" altLang="zh-CN" sz="2000" b="1">
                <a:solidFill>
                  <a:srgbClr val="692AA2"/>
                </a:solidFill>
                <a:ea typeface="仿宋_GB2312" pitchFamily="49" charset="-122"/>
              </a:rPr>
              <a:t>Ⅴ</a:t>
            </a:r>
            <a:r>
              <a:rPr lang="zh-CN" altLang="en-US" sz="2000" b="1">
                <a:solidFill>
                  <a:srgbClr val="692AA2"/>
                </a:solidFill>
                <a:ea typeface="仿宋_GB2312" pitchFamily="49" charset="-122"/>
              </a:rPr>
              <a:t>类和劣</a:t>
            </a:r>
            <a:r>
              <a:rPr lang="en-US" altLang="zh-CN" sz="2000" b="1">
                <a:solidFill>
                  <a:srgbClr val="692AA2"/>
                </a:solidFill>
                <a:ea typeface="仿宋_GB2312" pitchFamily="49" charset="-122"/>
              </a:rPr>
              <a:t>Ⅴ</a:t>
            </a:r>
            <a:r>
              <a:rPr lang="zh-CN" altLang="en-US" sz="2000" b="1">
                <a:solidFill>
                  <a:srgbClr val="692AA2"/>
                </a:solidFill>
                <a:ea typeface="仿宋_GB2312" pitchFamily="49" charset="-122"/>
              </a:rPr>
              <a:t>类。</a:t>
            </a:r>
            <a:endParaRPr lang="zh-CN" altLang="en-US" sz="2000" b="1">
              <a:solidFill>
                <a:srgbClr val="692AA2"/>
              </a:solidFill>
              <a:ea typeface="仿宋_GB2312" pitchFamily="49" charset="-122"/>
            </a:endParaRPr>
          </a:p>
        </p:txBody>
      </p:sp>
    </p:spTree>
  </p:cSld>
  <p:clrMapOvr>
    <a:masterClrMapping/>
  </p:clrMapOvr>
  <p:transition>
    <p:cover dir="d"/>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5"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400" b="1">
                <a:solidFill>
                  <a:srgbClr val="692AA2"/>
                </a:solidFill>
                <a:ea typeface="仿宋_GB2312" pitchFamily="49" charset="-122"/>
              </a:rPr>
              <a:t>3.7</a:t>
            </a:r>
            <a:r>
              <a:rPr lang="zh-CN" altLang="en-US" sz="2400" b="1">
                <a:solidFill>
                  <a:srgbClr val="692AA2"/>
                </a:solidFill>
                <a:ea typeface="仿宋_GB2312" pitchFamily="49" charset="-122"/>
              </a:rPr>
              <a:t>　模型建立</a:t>
            </a:r>
            <a:r>
              <a:rPr lang="zh-CN" altLang="en-US" sz="2000" b="1">
                <a:solidFill>
                  <a:srgbClr val="692AA2"/>
                </a:solidFill>
                <a:ea typeface="仿宋_GB2312" pitchFamily="49" charset="-122"/>
              </a:rPr>
              <a:t> </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水质评价工作的第三步是建立数学模型，进行综合评价。由于水质污染物浓度受水文流量及污染物排放因素的影响较大，存在随机性，而水质综合评价又存在模糊性。因此，本文提出了水质评价的模糊概率综合评价模型，把概率统计与模糊数学有机地结合起来，它能较全面地评价水质状况。</a:t>
            </a:r>
            <a:endParaRPr lang="zh-CN" altLang="en-US" sz="2000" b="1">
              <a:solidFill>
                <a:srgbClr val="692AA2"/>
              </a:solidFill>
              <a:ea typeface="仿宋_GB2312" pitchFamily="49" charset="-122"/>
            </a:endParaRPr>
          </a:p>
        </p:txBody>
      </p:sp>
    </p:spTree>
  </p:cSld>
  <p:clrMapOvr>
    <a:masterClrMapping/>
  </p:clrMapOvr>
  <p:transition>
    <p:cover dir="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09" name="Rectangle 3"/>
          <p:cNvSpPr>
            <a:spLocks noGrp="1"/>
          </p:cNvSpPr>
          <p:nvPr>
            <p:ph idx="1"/>
          </p:nvPr>
        </p:nvSpPr>
        <p:spPr>
          <a:xfrm>
            <a:off x="468313" y="1855788"/>
            <a:ext cx="8229600" cy="4525962"/>
          </a:xfrm>
          <a:ln/>
        </p:spPr>
        <p:txBody>
          <a:bodyPr vert="horz" wrap="square" lIns="91440" tIns="45720" rIns="91440" bIns="45720" anchor="t"/>
          <a:p>
            <a:pPr eaLnBrk="1" hangingPunct="1">
              <a:lnSpc>
                <a:spcPct val="15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 确定评价指标、水质分级与各指标标准值</a:t>
            </a:r>
            <a:endParaRPr lang="zh-CN" altLang="en-US" sz="1800" b="1">
              <a:solidFill>
                <a:srgbClr val="692AA2"/>
              </a:solidFill>
              <a:ea typeface="仿宋_GB2312" pitchFamily="49" charset="-122"/>
            </a:endParaRPr>
          </a:p>
          <a:p>
            <a:pPr eaLnBrk="1" hangingPunct="1">
              <a:lnSpc>
                <a:spcPct val="150000"/>
              </a:lnSpc>
              <a:buNone/>
            </a:pPr>
            <a:r>
              <a:rPr lang="zh-CN" altLang="en-US" sz="1800" b="1">
                <a:solidFill>
                  <a:srgbClr val="692AA2"/>
                </a:solidFill>
                <a:ea typeface="仿宋_GB2312" pitchFamily="49" charset="-122"/>
              </a:rPr>
              <a:t>            设评价指标有</a:t>
            </a:r>
            <a:r>
              <a:rPr lang="en-US" altLang="zh-CN" sz="1800" b="1">
                <a:solidFill>
                  <a:srgbClr val="692AA2"/>
                </a:solidFill>
                <a:ea typeface="仿宋_GB2312" pitchFamily="49" charset="-122"/>
              </a:rPr>
              <a:t>m</a:t>
            </a:r>
            <a:r>
              <a:rPr lang="zh-CN" altLang="en-US" sz="1800" b="1">
                <a:solidFill>
                  <a:srgbClr val="692AA2"/>
                </a:solidFill>
                <a:ea typeface="仿宋_GB2312" pitchFamily="49" charset="-122"/>
              </a:rPr>
              <a:t>个，水域水质分</a:t>
            </a:r>
            <a:r>
              <a:rPr lang="en-US" altLang="zh-CN" sz="1800" b="1">
                <a:solidFill>
                  <a:srgbClr val="692AA2"/>
                </a:solidFill>
                <a:ea typeface="仿宋_GB2312" pitchFamily="49" charset="-122"/>
              </a:rPr>
              <a:t>n</a:t>
            </a:r>
            <a:r>
              <a:rPr lang="zh-CN" altLang="en-US" sz="1800" b="1">
                <a:solidFill>
                  <a:srgbClr val="692AA2"/>
                </a:solidFill>
                <a:ea typeface="仿宋_GB2312" pitchFamily="49" charset="-122"/>
              </a:rPr>
              <a:t>级，则</a:t>
            </a:r>
            <a:endParaRPr lang="zh-CN" altLang="en-US" sz="1800" b="1">
              <a:solidFill>
                <a:srgbClr val="692AA2"/>
              </a:solidFill>
              <a:ea typeface="仿宋_GB2312" pitchFamily="49" charset="-122"/>
            </a:endParaRPr>
          </a:p>
          <a:p>
            <a:pPr eaLnBrk="1" hangingPunct="1">
              <a:lnSpc>
                <a:spcPct val="150000"/>
              </a:lnSpc>
              <a:buNone/>
            </a:pPr>
            <a:r>
              <a:rPr lang="zh-CN" altLang="en-US" sz="1800" b="1">
                <a:solidFill>
                  <a:srgbClr val="692AA2"/>
                </a:solidFill>
                <a:ea typeface="仿宋_GB2312" pitchFamily="49" charset="-122"/>
              </a:rPr>
              <a:t>            评价指标集合    </a:t>
            </a:r>
            <a:r>
              <a:rPr lang="en-US" altLang="zh-CN" sz="1800" b="1">
                <a:solidFill>
                  <a:srgbClr val="692AA2"/>
                </a:solidFill>
                <a:ea typeface="仿宋_GB2312" pitchFamily="49" charset="-122"/>
              </a:rPr>
              <a:t>U=                                                        </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50000"/>
              </a:lnSpc>
              <a:buNone/>
            </a:pPr>
            <a:r>
              <a:rPr lang="zh-CN" altLang="en-US" sz="1800" b="1">
                <a:solidFill>
                  <a:srgbClr val="692AA2"/>
                </a:solidFill>
                <a:ea typeface="仿宋_GB2312" pitchFamily="49" charset="-122"/>
              </a:rPr>
              <a:t>            水质分级集合    </a:t>
            </a:r>
            <a:r>
              <a:rPr lang="en-US" altLang="zh-CN" sz="1800" b="1">
                <a:solidFill>
                  <a:srgbClr val="692AA2"/>
                </a:solidFill>
                <a:ea typeface="仿宋_GB2312" pitchFamily="49" charset="-122"/>
              </a:rPr>
              <a:t>V=                                                         </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5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a:t>
            </a:r>
            <a:r>
              <a:rPr lang="en-US" altLang="zh-CN" sz="1800" b="1">
                <a:solidFill>
                  <a:srgbClr val="692AA2"/>
                </a:solidFill>
                <a:ea typeface="仿宋_GB2312" pitchFamily="49" charset="-122"/>
              </a:rPr>
              <a:t>i=1</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m</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j</a:t>
            </a:r>
            <a:r>
              <a:rPr lang="zh-CN" altLang="en-US" sz="1800" b="1">
                <a:solidFill>
                  <a:srgbClr val="692AA2"/>
                </a:solidFill>
                <a:ea typeface="仿宋_GB2312" pitchFamily="49" charset="-122"/>
              </a:rPr>
              <a:t>级水质（</a:t>
            </a:r>
            <a:r>
              <a:rPr lang="en-US" altLang="zh-CN" sz="1800" b="1">
                <a:solidFill>
                  <a:srgbClr val="692AA2"/>
                </a:solidFill>
                <a:ea typeface="仿宋_GB2312" pitchFamily="49" charset="-122"/>
              </a:rPr>
              <a:t>j=1</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n</a:t>
            </a:r>
            <a:r>
              <a:rPr lang="zh-CN" altLang="en-US" sz="1800" b="1">
                <a:solidFill>
                  <a:srgbClr val="692AA2"/>
                </a:solidFill>
                <a:ea typeface="仿宋_GB2312" pitchFamily="49" charset="-122"/>
              </a:rPr>
              <a:t>）   的指标标准值</a:t>
            </a:r>
            <a:endParaRPr lang="zh-CN" altLang="en-US" sz="1800" b="1">
              <a:solidFill>
                <a:srgbClr val="692AA2"/>
              </a:solidFill>
              <a:ea typeface="仿宋_GB2312" pitchFamily="49" charset="-122"/>
            </a:endParaRPr>
          </a:p>
          <a:p>
            <a:pPr eaLnBrk="1" hangingPunct="1">
              <a:lnSpc>
                <a:spcPct val="150000"/>
              </a:lnSpc>
              <a:buNone/>
            </a:pPr>
            <a:r>
              <a:rPr lang="zh-CN" altLang="en-US" sz="1800" b="1">
                <a:solidFill>
                  <a:srgbClr val="692AA2"/>
                </a:solidFill>
                <a:ea typeface="仿宋_GB2312" pitchFamily="49" charset="-122"/>
              </a:rPr>
              <a:t>参考</a:t>
            </a:r>
            <a:r>
              <a:rPr lang="en-US" altLang="zh-CN" sz="1800" b="1">
                <a:solidFill>
                  <a:srgbClr val="692AA2"/>
                </a:solidFill>
                <a:ea typeface="仿宋_GB2312" pitchFamily="49" charset="-122"/>
              </a:rPr>
              <a:t>《</a:t>
            </a:r>
            <a:r>
              <a:rPr lang="zh-CN" altLang="en-US" sz="1800" b="1">
                <a:solidFill>
                  <a:srgbClr val="692AA2"/>
                </a:solidFill>
                <a:ea typeface="仿宋_GB2312" pitchFamily="49" charset="-122"/>
              </a:rPr>
              <a:t>地表水环境质量标准</a:t>
            </a:r>
            <a:r>
              <a:rPr lang="en-US" altLang="zh-CN" sz="1800" b="1">
                <a:solidFill>
                  <a:srgbClr val="692AA2"/>
                </a:solidFill>
                <a:ea typeface="仿宋_GB2312" pitchFamily="49" charset="-122"/>
              </a:rPr>
              <a:t>》(GB3838-2002)</a:t>
            </a:r>
            <a:r>
              <a:rPr lang="zh-CN" altLang="en-US" sz="1800" b="1">
                <a:solidFill>
                  <a:srgbClr val="692AA2"/>
                </a:solidFill>
                <a:ea typeface="仿宋_GB2312" pitchFamily="49" charset="-122"/>
              </a:rPr>
              <a:t>中的相关数值。</a:t>
            </a:r>
            <a:endParaRPr lang="zh-CN" altLang="en-US" sz="1800" b="1">
              <a:solidFill>
                <a:srgbClr val="692AA2"/>
              </a:solidFill>
              <a:ea typeface="仿宋_GB2312" pitchFamily="49" charset="-122"/>
            </a:endParaRPr>
          </a:p>
        </p:txBody>
      </p:sp>
      <p:sp>
        <p:nvSpPr>
          <p:cNvPr id="196610" name="Rectangle 4"/>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6611" name="Object 5"/>
          <p:cNvGraphicFramePr>
            <a:graphicFrameLocks noChangeAspect="1"/>
          </p:cNvGraphicFramePr>
          <p:nvPr/>
        </p:nvGraphicFramePr>
        <p:xfrm>
          <a:off x="3429000" y="2743200"/>
          <a:ext cx="1828800" cy="482600"/>
        </p:xfrm>
        <a:graphic>
          <a:graphicData uri="http://schemas.openxmlformats.org/presentationml/2006/ole">
            <mc:AlternateContent xmlns:mc="http://schemas.openxmlformats.org/markup-compatibility/2006">
              <mc:Choice xmlns:v="urn:schemas-microsoft-com:vml" Requires="v">
                <p:oleObj spid="_x0000_s3345" name="" r:id="rId1" imgW="862965" imgH="228600" progId="Equation.DSMT4">
                  <p:embed/>
                </p:oleObj>
              </mc:Choice>
              <mc:Fallback>
                <p:oleObj name="" r:id="rId1" imgW="862965" imgH="228600" progId="Equation.DSMT4">
                  <p:embed/>
                  <p:pic>
                    <p:nvPicPr>
                      <p:cNvPr id="0" name="图片 3344"/>
                      <p:cNvPicPr/>
                      <p:nvPr/>
                    </p:nvPicPr>
                    <p:blipFill>
                      <a:blip r:embed="rId2"/>
                      <a:stretch>
                        <a:fillRect/>
                      </a:stretch>
                    </p:blipFill>
                    <p:spPr>
                      <a:xfrm>
                        <a:off x="3429000" y="2743200"/>
                        <a:ext cx="1828800" cy="482600"/>
                      </a:xfrm>
                      <a:prstGeom prst="rect">
                        <a:avLst/>
                      </a:prstGeom>
                      <a:noFill/>
                      <a:ln w="38100">
                        <a:noFill/>
                        <a:miter/>
                      </a:ln>
                    </p:spPr>
                  </p:pic>
                </p:oleObj>
              </mc:Fallback>
            </mc:AlternateContent>
          </a:graphicData>
        </a:graphic>
      </p:graphicFrame>
      <p:graphicFrame>
        <p:nvGraphicFramePr>
          <p:cNvPr id="196612" name="Object 6"/>
          <p:cNvGraphicFramePr>
            <a:graphicFrameLocks noChangeAspect="1"/>
          </p:cNvGraphicFramePr>
          <p:nvPr/>
        </p:nvGraphicFramePr>
        <p:xfrm>
          <a:off x="3429000" y="3276600"/>
          <a:ext cx="1752600" cy="479425"/>
        </p:xfrm>
        <a:graphic>
          <a:graphicData uri="http://schemas.openxmlformats.org/presentationml/2006/ole">
            <mc:AlternateContent xmlns:mc="http://schemas.openxmlformats.org/markup-compatibility/2006">
              <mc:Choice xmlns:v="urn:schemas-microsoft-com:vml" Requires="v">
                <p:oleObj spid="_x0000_s3346" name="" r:id="rId3" imgW="838200" imgH="228600" progId="Equation.DSMT4">
                  <p:embed/>
                </p:oleObj>
              </mc:Choice>
              <mc:Fallback>
                <p:oleObj name="" r:id="rId3" imgW="838200" imgH="228600" progId="Equation.DSMT4">
                  <p:embed/>
                  <p:pic>
                    <p:nvPicPr>
                      <p:cNvPr id="0" name="图片 3345"/>
                      <p:cNvPicPr/>
                      <p:nvPr/>
                    </p:nvPicPr>
                    <p:blipFill>
                      <a:blip r:embed="rId4"/>
                      <a:stretch>
                        <a:fillRect/>
                      </a:stretch>
                    </p:blipFill>
                    <p:spPr>
                      <a:xfrm>
                        <a:off x="3429000" y="3276600"/>
                        <a:ext cx="1752600" cy="479425"/>
                      </a:xfrm>
                      <a:prstGeom prst="rect">
                        <a:avLst/>
                      </a:prstGeom>
                      <a:noFill/>
                      <a:ln w="38100">
                        <a:noFill/>
                        <a:miter/>
                      </a:ln>
                    </p:spPr>
                  </p:pic>
                </p:oleObj>
              </mc:Fallback>
            </mc:AlternateContent>
          </a:graphicData>
        </a:graphic>
      </p:graphicFrame>
      <p:graphicFrame>
        <p:nvGraphicFramePr>
          <p:cNvPr id="196613" name="Object 7"/>
          <p:cNvGraphicFramePr>
            <a:graphicFrameLocks noChangeAspect="1"/>
          </p:cNvGraphicFramePr>
          <p:nvPr/>
        </p:nvGraphicFramePr>
        <p:xfrm>
          <a:off x="7696200" y="3733800"/>
          <a:ext cx="381000" cy="381000"/>
        </p:xfrm>
        <a:graphic>
          <a:graphicData uri="http://schemas.openxmlformats.org/presentationml/2006/ole">
            <mc:AlternateContent xmlns:mc="http://schemas.openxmlformats.org/markup-compatibility/2006">
              <mc:Choice xmlns:v="urn:schemas-microsoft-com:vml" Requires="v">
                <p:oleObj spid="_x0000_s3347" name="" r:id="rId5" imgW="241300" imgH="241300" progId="Equation.DSMT4">
                  <p:embed/>
                </p:oleObj>
              </mc:Choice>
              <mc:Fallback>
                <p:oleObj name="" r:id="rId5" imgW="241300" imgH="241300" progId="Equation.DSMT4">
                  <p:embed/>
                  <p:pic>
                    <p:nvPicPr>
                      <p:cNvPr id="0" name="图片 3346"/>
                      <p:cNvPicPr/>
                      <p:nvPr/>
                    </p:nvPicPr>
                    <p:blipFill>
                      <a:blip r:embed="rId6"/>
                      <a:stretch>
                        <a:fillRect/>
                      </a:stretch>
                    </p:blipFill>
                    <p:spPr>
                      <a:xfrm>
                        <a:off x="7696200" y="3733800"/>
                        <a:ext cx="381000" cy="381000"/>
                      </a:xfrm>
                      <a:prstGeom prst="rect">
                        <a:avLst/>
                      </a:prstGeom>
                      <a:noFill/>
                      <a:ln w="38100">
                        <a:noFill/>
                        <a:miter/>
                      </a:ln>
                    </p:spPr>
                  </p:pic>
                </p:oleObj>
              </mc:Fallback>
            </mc:AlternateContent>
          </a:graphicData>
        </a:graphic>
      </p:graphicFrame>
    </p:spTree>
  </p:cSld>
  <p:clrMapOvr>
    <a:masterClrMapping/>
  </p:clrMapOvr>
  <p:transition>
    <p:cover dir="d"/>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3" name="Rectangle 3"/>
          <p:cNvSpPr>
            <a:spLocks noGrp="1"/>
          </p:cNvSpPr>
          <p:nvPr>
            <p:ph idx="1"/>
          </p:nvPr>
        </p:nvSpPr>
        <p:spPr>
          <a:ln/>
        </p:spPr>
        <p:txBody>
          <a:bodyPr vert="horz" wrap="square" lIns="91440" tIns="45720" rIns="91440" bIns="45720" anchor="t"/>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 污染物监测值统计概率分析</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设</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指标污染物监测值共有     个，其中介于           至         之间的监测值有      个，那么，对于</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指标而言，介于至之间的监测值发生的统计概率为</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其中 </a:t>
            </a:r>
            <a:r>
              <a:rPr lang="en-US" altLang="zh-CN" sz="1800" b="1">
                <a:solidFill>
                  <a:srgbClr val="692AA2"/>
                </a:solidFill>
                <a:ea typeface="仿宋_GB2312" pitchFamily="49" charset="-122"/>
              </a:rPr>
              <a:t>i=1</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m</a:t>
            </a: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j=1</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n</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p:txBody>
      </p:sp>
      <p:sp>
        <p:nvSpPr>
          <p:cNvPr id="197634" name="Rectangle 4"/>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7635" name="Object 5"/>
          <p:cNvGraphicFramePr>
            <a:graphicFrameLocks noChangeAspect="1"/>
          </p:cNvGraphicFramePr>
          <p:nvPr/>
        </p:nvGraphicFramePr>
        <p:xfrm>
          <a:off x="3962400" y="2133600"/>
          <a:ext cx="254000" cy="381000"/>
        </p:xfrm>
        <a:graphic>
          <a:graphicData uri="http://schemas.openxmlformats.org/presentationml/2006/ole">
            <mc:AlternateContent xmlns:mc="http://schemas.openxmlformats.org/markup-compatibility/2006">
              <mc:Choice xmlns:v="urn:schemas-microsoft-com:vml" Requires="v">
                <p:oleObj spid="_x0000_s3350" name="" r:id="rId1" imgW="152400" imgH="228600" progId="Equation.DSMT4">
                  <p:embed/>
                </p:oleObj>
              </mc:Choice>
              <mc:Fallback>
                <p:oleObj name="" r:id="rId1" imgW="152400" imgH="228600" progId="Equation.DSMT4">
                  <p:embed/>
                  <p:pic>
                    <p:nvPicPr>
                      <p:cNvPr id="0" name="图片 3349"/>
                      <p:cNvPicPr/>
                      <p:nvPr/>
                    </p:nvPicPr>
                    <p:blipFill>
                      <a:blip r:embed="rId2"/>
                      <a:stretch>
                        <a:fillRect/>
                      </a:stretch>
                    </p:blipFill>
                    <p:spPr>
                      <a:xfrm>
                        <a:off x="3962400" y="2133600"/>
                        <a:ext cx="254000" cy="381000"/>
                      </a:xfrm>
                      <a:prstGeom prst="rect">
                        <a:avLst/>
                      </a:prstGeom>
                      <a:noFill/>
                      <a:ln w="38100">
                        <a:noFill/>
                        <a:miter/>
                      </a:ln>
                    </p:spPr>
                  </p:pic>
                </p:oleObj>
              </mc:Fallback>
            </mc:AlternateContent>
          </a:graphicData>
        </a:graphic>
      </p:graphicFrame>
      <p:sp>
        <p:nvSpPr>
          <p:cNvPr id="197636" name="Rectangle 6"/>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7637" name="Object 7"/>
          <p:cNvGraphicFramePr>
            <a:graphicFrameLocks noChangeAspect="1"/>
          </p:cNvGraphicFramePr>
          <p:nvPr/>
        </p:nvGraphicFramePr>
        <p:xfrm>
          <a:off x="5562600" y="2057400"/>
          <a:ext cx="609600" cy="436563"/>
        </p:xfrm>
        <a:graphic>
          <a:graphicData uri="http://schemas.openxmlformats.org/presentationml/2006/ole">
            <mc:AlternateContent xmlns:mc="http://schemas.openxmlformats.org/markup-compatibility/2006">
              <mc:Choice xmlns:v="urn:schemas-microsoft-com:vml" Requires="v">
                <p:oleObj spid="_x0000_s3358" name="" r:id="rId3" imgW="330200" imgH="241300" progId="Equation.DSMT4">
                  <p:embed/>
                </p:oleObj>
              </mc:Choice>
              <mc:Fallback>
                <p:oleObj name="" r:id="rId3" imgW="330200" imgH="241300" progId="Equation.DSMT4">
                  <p:embed/>
                  <p:pic>
                    <p:nvPicPr>
                      <p:cNvPr id="0" name="图片 3357"/>
                      <p:cNvPicPr/>
                      <p:nvPr/>
                    </p:nvPicPr>
                    <p:blipFill>
                      <a:blip r:embed="rId4"/>
                      <a:stretch>
                        <a:fillRect/>
                      </a:stretch>
                    </p:blipFill>
                    <p:spPr>
                      <a:xfrm>
                        <a:off x="5562600" y="2057400"/>
                        <a:ext cx="609600" cy="436563"/>
                      </a:xfrm>
                      <a:prstGeom prst="rect">
                        <a:avLst/>
                      </a:prstGeom>
                      <a:noFill/>
                      <a:ln w="38100">
                        <a:noFill/>
                        <a:miter/>
                      </a:ln>
                    </p:spPr>
                  </p:pic>
                </p:oleObj>
              </mc:Fallback>
            </mc:AlternateContent>
          </a:graphicData>
        </a:graphic>
      </p:graphicFrame>
      <p:sp>
        <p:nvSpPr>
          <p:cNvPr id="197638" name="Rectangle 8"/>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7639" name="Object 9"/>
          <p:cNvGraphicFramePr>
            <a:graphicFrameLocks noChangeAspect="1"/>
          </p:cNvGraphicFramePr>
          <p:nvPr/>
        </p:nvGraphicFramePr>
        <p:xfrm>
          <a:off x="6477000" y="2057400"/>
          <a:ext cx="457200" cy="457200"/>
        </p:xfrm>
        <a:graphic>
          <a:graphicData uri="http://schemas.openxmlformats.org/presentationml/2006/ole">
            <mc:AlternateContent xmlns:mc="http://schemas.openxmlformats.org/markup-compatibility/2006">
              <mc:Choice xmlns:v="urn:schemas-microsoft-com:vml" Requires="v">
                <p:oleObj spid="_x0000_s3355" name="" r:id="rId5" imgW="241300" imgH="241300" progId="Equation.DSMT4">
                  <p:embed/>
                </p:oleObj>
              </mc:Choice>
              <mc:Fallback>
                <p:oleObj name="" r:id="rId5" imgW="241300" imgH="241300" progId="Equation.DSMT4">
                  <p:embed/>
                  <p:pic>
                    <p:nvPicPr>
                      <p:cNvPr id="0" name="图片 3354"/>
                      <p:cNvPicPr/>
                      <p:nvPr/>
                    </p:nvPicPr>
                    <p:blipFill>
                      <a:blip r:embed="rId6"/>
                      <a:stretch>
                        <a:fillRect/>
                      </a:stretch>
                    </p:blipFill>
                    <p:spPr>
                      <a:xfrm>
                        <a:off x="6477000" y="2057400"/>
                        <a:ext cx="457200" cy="457200"/>
                      </a:xfrm>
                      <a:prstGeom prst="rect">
                        <a:avLst/>
                      </a:prstGeom>
                      <a:noFill/>
                      <a:ln w="38100">
                        <a:noFill/>
                        <a:miter/>
                      </a:ln>
                    </p:spPr>
                  </p:pic>
                </p:oleObj>
              </mc:Fallback>
            </mc:AlternateContent>
          </a:graphicData>
        </a:graphic>
      </p:graphicFrame>
      <p:graphicFrame>
        <p:nvGraphicFramePr>
          <p:cNvPr id="197640" name="Object 10"/>
          <p:cNvGraphicFramePr>
            <a:graphicFrameLocks noChangeAspect="1"/>
          </p:cNvGraphicFramePr>
          <p:nvPr/>
        </p:nvGraphicFramePr>
        <p:xfrm>
          <a:off x="1371600" y="2438400"/>
          <a:ext cx="304800" cy="381000"/>
        </p:xfrm>
        <a:graphic>
          <a:graphicData uri="http://schemas.openxmlformats.org/presentationml/2006/ole">
            <mc:AlternateContent xmlns:mc="http://schemas.openxmlformats.org/markup-compatibility/2006">
              <mc:Choice xmlns:v="urn:schemas-microsoft-com:vml" Requires="v">
                <p:oleObj spid="_x0000_s3348" name="" r:id="rId7" imgW="190500" imgH="241300" progId="Equation.DSMT4">
                  <p:embed/>
                </p:oleObj>
              </mc:Choice>
              <mc:Fallback>
                <p:oleObj name="" r:id="rId7" imgW="190500" imgH="241300" progId="Equation.DSMT4">
                  <p:embed/>
                  <p:pic>
                    <p:nvPicPr>
                      <p:cNvPr id="0" name="图片 3347"/>
                      <p:cNvPicPr/>
                      <p:nvPr/>
                    </p:nvPicPr>
                    <p:blipFill>
                      <a:blip r:embed="rId8"/>
                      <a:stretch>
                        <a:fillRect/>
                      </a:stretch>
                    </p:blipFill>
                    <p:spPr>
                      <a:xfrm>
                        <a:off x="1371600" y="2438400"/>
                        <a:ext cx="304800" cy="381000"/>
                      </a:xfrm>
                      <a:prstGeom prst="rect">
                        <a:avLst/>
                      </a:prstGeom>
                      <a:noFill/>
                      <a:ln w="38100">
                        <a:noFill/>
                        <a:miter/>
                      </a:ln>
                    </p:spPr>
                  </p:pic>
                </p:oleObj>
              </mc:Fallback>
            </mc:AlternateContent>
          </a:graphicData>
        </a:graphic>
      </p:graphicFrame>
      <p:graphicFrame>
        <p:nvGraphicFramePr>
          <p:cNvPr id="197641" name="Object 11"/>
          <p:cNvGraphicFramePr>
            <a:graphicFrameLocks noChangeAspect="1"/>
          </p:cNvGraphicFramePr>
          <p:nvPr/>
        </p:nvGraphicFramePr>
        <p:xfrm>
          <a:off x="3733800" y="2667000"/>
          <a:ext cx="1295400" cy="928688"/>
        </p:xfrm>
        <a:graphic>
          <a:graphicData uri="http://schemas.openxmlformats.org/presentationml/2006/ole">
            <mc:AlternateContent xmlns:mc="http://schemas.openxmlformats.org/markup-compatibility/2006">
              <mc:Choice xmlns:v="urn:schemas-microsoft-com:vml" Requires="v">
                <p:oleObj spid="_x0000_s3354" name="" r:id="rId9" imgW="635000" imgH="457200" progId="Equation.DSMT4">
                  <p:embed/>
                </p:oleObj>
              </mc:Choice>
              <mc:Fallback>
                <p:oleObj name="" r:id="rId9" imgW="635000" imgH="457200" progId="Equation.DSMT4">
                  <p:embed/>
                  <p:pic>
                    <p:nvPicPr>
                      <p:cNvPr id="0" name="图片 3353"/>
                      <p:cNvPicPr/>
                      <p:nvPr/>
                    </p:nvPicPr>
                    <p:blipFill>
                      <a:blip r:embed="rId10"/>
                      <a:stretch>
                        <a:fillRect/>
                      </a:stretch>
                    </p:blipFill>
                    <p:spPr>
                      <a:xfrm>
                        <a:off x="3733800" y="2667000"/>
                        <a:ext cx="1295400" cy="928688"/>
                      </a:xfrm>
                      <a:prstGeom prst="rect">
                        <a:avLst/>
                      </a:prstGeom>
                      <a:noFill/>
                      <a:ln w="38100">
                        <a:noFill/>
                        <a:miter/>
                      </a:ln>
                    </p:spPr>
                  </p:pic>
                </p:oleObj>
              </mc:Fallback>
            </mc:AlternateContent>
          </a:graphicData>
        </a:graphic>
      </p:graphicFrame>
    </p:spTree>
  </p:cSld>
  <p:clrMapOvr>
    <a:masterClrMapping/>
  </p:clrMapOvr>
  <p:transition>
    <p:cover dir="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7" name="Rectangle 3"/>
          <p:cNvSpPr>
            <a:spLocks noGrp="1"/>
          </p:cNvSpPr>
          <p:nvPr>
            <p:ph idx="1"/>
          </p:nvPr>
        </p:nvSpPr>
        <p:spPr>
          <a:xfrm>
            <a:off x="457200" y="1927225"/>
            <a:ext cx="8229600" cy="4525963"/>
          </a:xfrm>
          <a:ln/>
        </p:spPr>
        <p:txBody>
          <a:bodyPr vert="horz" wrap="square" lIns="91440" tIns="45720" rIns="91440" bIns="45720" anchor="t"/>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 隶属度刻划水质分级界限</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已知水质等级标准值为        ，</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指标污染物介于         至      之间的     个监测值的平均值为     ，则</a:t>
            </a: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algn="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式中，     为第</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指标污染物监测值中介于        至       之间的     个监测值的第</a:t>
            </a:r>
            <a:r>
              <a:rPr lang="en-US" altLang="zh-CN" sz="1800" b="1">
                <a:solidFill>
                  <a:srgbClr val="692AA2"/>
                </a:solidFill>
                <a:ea typeface="仿宋_GB2312" pitchFamily="49" charset="-122"/>
              </a:rPr>
              <a:t>k</a:t>
            </a:r>
            <a:r>
              <a:rPr lang="zh-CN" altLang="en-US" sz="1800" b="1">
                <a:solidFill>
                  <a:srgbClr val="692AA2"/>
                </a:solidFill>
                <a:ea typeface="仿宋_GB2312" pitchFamily="49" charset="-122"/>
              </a:rPr>
              <a:t>个。 </a:t>
            </a:r>
            <a:endParaRPr lang="zh-CN" altLang="en-US" sz="1800" b="1">
              <a:solidFill>
                <a:srgbClr val="692AA2"/>
              </a:solidFill>
              <a:ea typeface="仿宋_GB2312" pitchFamily="49" charset="-122"/>
            </a:endParaRPr>
          </a:p>
        </p:txBody>
      </p:sp>
      <p:sp>
        <p:nvSpPr>
          <p:cNvPr id="198658" name="Rectangle 4"/>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8659" name="Object 5"/>
          <p:cNvGraphicFramePr>
            <a:graphicFrameLocks noChangeAspect="1"/>
          </p:cNvGraphicFramePr>
          <p:nvPr/>
        </p:nvGraphicFramePr>
        <p:xfrm>
          <a:off x="3505200" y="2286000"/>
          <a:ext cx="381000" cy="381000"/>
        </p:xfrm>
        <a:graphic>
          <a:graphicData uri="http://schemas.openxmlformats.org/presentationml/2006/ole">
            <mc:AlternateContent xmlns:mc="http://schemas.openxmlformats.org/markup-compatibility/2006">
              <mc:Choice xmlns:v="urn:schemas-microsoft-com:vml" Requires="v">
                <p:oleObj spid="_x0000_s3357" name="" r:id="rId1" imgW="241300" imgH="241300" progId="Equation.DSMT4">
                  <p:embed/>
                </p:oleObj>
              </mc:Choice>
              <mc:Fallback>
                <p:oleObj name="" r:id="rId1" imgW="241300" imgH="241300" progId="Equation.DSMT4">
                  <p:embed/>
                  <p:pic>
                    <p:nvPicPr>
                      <p:cNvPr id="0" name="图片 3356"/>
                      <p:cNvPicPr/>
                      <p:nvPr/>
                    </p:nvPicPr>
                    <p:blipFill>
                      <a:blip r:embed="rId2"/>
                      <a:stretch>
                        <a:fillRect/>
                      </a:stretch>
                    </p:blipFill>
                    <p:spPr>
                      <a:xfrm>
                        <a:off x="3505200" y="2286000"/>
                        <a:ext cx="381000" cy="381000"/>
                      </a:xfrm>
                      <a:prstGeom prst="rect">
                        <a:avLst/>
                      </a:prstGeom>
                      <a:noFill/>
                      <a:ln w="38100">
                        <a:noFill/>
                        <a:miter/>
                      </a:ln>
                    </p:spPr>
                  </p:pic>
                </p:oleObj>
              </mc:Fallback>
            </mc:AlternateContent>
          </a:graphicData>
        </a:graphic>
      </p:graphicFrame>
      <p:sp>
        <p:nvSpPr>
          <p:cNvPr id="198660" name="Rectangle 6"/>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8661" name="Object 7"/>
          <p:cNvGraphicFramePr>
            <a:graphicFrameLocks noChangeAspect="1"/>
          </p:cNvGraphicFramePr>
          <p:nvPr/>
        </p:nvGraphicFramePr>
        <p:xfrm>
          <a:off x="5867400" y="2286000"/>
          <a:ext cx="533400" cy="381000"/>
        </p:xfrm>
        <a:graphic>
          <a:graphicData uri="http://schemas.openxmlformats.org/presentationml/2006/ole">
            <mc:AlternateContent xmlns:mc="http://schemas.openxmlformats.org/markup-compatibility/2006">
              <mc:Choice xmlns:v="urn:schemas-microsoft-com:vml" Requires="v">
                <p:oleObj spid="_x0000_s3356" name="" r:id="rId3" imgW="330200" imgH="241300" progId="Equation.DSMT4">
                  <p:embed/>
                </p:oleObj>
              </mc:Choice>
              <mc:Fallback>
                <p:oleObj name="" r:id="rId3" imgW="330200" imgH="241300" progId="Equation.DSMT4">
                  <p:embed/>
                  <p:pic>
                    <p:nvPicPr>
                      <p:cNvPr id="0" name="图片 3355"/>
                      <p:cNvPicPr/>
                      <p:nvPr/>
                    </p:nvPicPr>
                    <p:blipFill>
                      <a:blip r:embed="rId4"/>
                      <a:stretch>
                        <a:fillRect/>
                      </a:stretch>
                    </p:blipFill>
                    <p:spPr>
                      <a:xfrm>
                        <a:off x="5867400" y="2286000"/>
                        <a:ext cx="533400" cy="381000"/>
                      </a:xfrm>
                      <a:prstGeom prst="rect">
                        <a:avLst/>
                      </a:prstGeom>
                      <a:noFill/>
                      <a:ln w="38100">
                        <a:noFill/>
                        <a:miter/>
                      </a:ln>
                    </p:spPr>
                  </p:pic>
                </p:oleObj>
              </mc:Fallback>
            </mc:AlternateContent>
          </a:graphicData>
        </a:graphic>
      </p:graphicFrame>
      <p:sp>
        <p:nvSpPr>
          <p:cNvPr id="198662" name="Rectangle 8"/>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8663" name="Object 9"/>
          <p:cNvGraphicFramePr>
            <a:graphicFrameLocks noChangeAspect="1"/>
          </p:cNvGraphicFramePr>
          <p:nvPr/>
        </p:nvGraphicFramePr>
        <p:xfrm>
          <a:off x="6629400" y="2362200"/>
          <a:ext cx="381000" cy="381000"/>
        </p:xfrm>
        <a:graphic>
          <a:graphicData uri="http://schemas.openxmlformats.org/presentationml/2006/ole">
            <mc:AlternateContent xmlns:mc="http://schemas.openxmlformats.org/markup-compatibility/2006">
              <mc:Choice xmlns:v="urn:schemas-microsoft-com:vml" Requires="v">
                <p:oleObj spid="_x0000_s3353" name="" r:id="rId5" imgW="241300" imgH="241300" progId="Equation.DSMT4">
                  <p:embed/>
                </p:oleObj>
              </mc:Choice>
              <mc:Fallback>
                <p:oleObj name="" r:id="rId5" imgW="241300" imgH="241300" progId="Equation.DSMT4">
                  <p:embed/>
                  <p:pic>
                    <p:nvPicPr>
                      <p:cNvPr id="0" name="图片 3352"/>
                      <p:cNvPicPr/>
                      <p:nvPr/>
                    </p:nvPicPr>
                    <p:blipFill>
                      <a:blip r:embed="rId6"/>
                      <a:stretch>
                        <a:fillRect/>
                      </a:stretch>
                    </p:blipFill>
                    <p:spPr>
                      <a:xfrm>
                        <a:off x="6629400" y="2362200"/>
                        <a:ext cx="381000" cy="381000"/>
                      </a:xfrm>
                      <a:prstGeom prst="rect">
                        <a:avLst/>
                      </a:prstGeom>
                      <a:noFill/>
                      <a:ln w="38100">
                        <a:noFill/>
                        <a:miter/>
                      </a:ln>
                    </p:spPr>
                  </p:pic>
                </p:oleObj>
              </mc:Fallback>
            </mc:AlternateContent>
          </a:graphicData>
        </a:graphic>
      </p:graphicFrame>
      <p:sp>
        <p:nvSpPr>
          <p:cNvPr id="198664" name="Rectangle 10"/>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8665" name="Object 11"/>
          <p:cNvGraphicFramePr>
            <a:graphicFrameLocks noChangeAspect="1"/>
          </p:cNvGraphicFramePr>
          <p:nvPr/>
        </p:nvGraphicFramePr>
        <p:xfrm>
          <a:off x="2590800" y="2667000"/>
          <a:ext cx="350838" cy="381000"/>
        </p:xfrm>
        <a:graphic>
          <a:graphicData uri="http://schemas.openxmlformats.org/presentationml/2006/ole">
            <mc:AlternateContent xmlns:mc="http://schemas.openxmlformats.org/markup-compatibility/2006">
              <mc:Choice xmlns:v="urn:schemas-microsoft-com:vml" Requires="v">
                <p:oleObj spid="_x0000_s3351" name="" r:id="rId7" imgW="215900" imgH="241300" progId="Equation.DSMT4">
                  <p:embed/>
                </p:oleObj>
              </mc:Choice>
              <mc:Fallback>
                <p:oleObj name="" r:id="rId7" imgW="215900" imgH="241300" progId="Equation.DSMT4">
                  <p:embed/>
                  <p:pic>
                    <p:nvPicPr>
                      <p:cNvPr id="0" name="图片 3350"/>
                      <p:cNvPicPr/>
                      <p:nvPr/>
                    </p:nvPicPr>
                    <p:blipFill>
                      <a:blip r:embed="rId8"/>
                      <a:stretch>
                        <a:fillRect/>
                      </a:stretch>
                    </p:blipFill>
                    <p:spPr>
                      <a:xfrm>
                        <a:off x="2590800" y="2667000"/>
                        <a:ext cx="350838" cy="381000"/>
                      </a:xfrm>
                      <a:prstGeom prst="rect">
                        <a:avLst/>
                      </a:prstGeom>
                      <a:noFill/>
                      <a:ln w="38100">
                        <a:noFill/>
                        <a:miter/>
                      </a:ln>
                    </p:spPr>
                  </p:pic>
                </p:oleObj>
              </mc:Fallback>
            </mc:AlternateContent>
          </a:graphicData>
        </a:graphic>
      </p:graphicFrame>
      <p:sp>
        <p:nvSpPr>
          <p:cNvPr id="198666" name="Rectangle 12"/>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198667" name="Rectangle 13"/>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8668" name="Object 14"/>
          <p:cNvGraphicFramePr>
            <a:graphicFrameLocks noChangeAspect="1"/>
          </p:cNvGraphicFramePr>
          <p:nvPr/>
        </p:nvGraphicFramePr>
        <p:xfrm>
          <a:off x="7620000" y="2286000"/>
          <a:ext cx="365125" cy="457200"/>
        </p:xfrm>
        <a:graphic>
          <a:graphicData uri="http://schemas.openxmlformats.org/presentationml/2006/ole">
            <mc:AlternateContent xmlns:mc="http://schemas.openxmlformats.org/markup-compatibility/2006">
              <mc:Choice xmlns:v="urn:schemas-microsoft-com:vml" Requires="v">
                <p:oleObj spid="_x0000_s3359" name="" r:id="rId9" imgW="190500" imgH="241300" progId="Equation.DSMT4">
                  <p:embed/>
                </p:oleObj>
              </mc:Choice>
              <mc:Fallback>
                <p:oleObj name="" r:id="rId9" imgW="190500" imgH="241300" progId="Equation.DSMT4">
                  <p:embed/>
                  <p:pic>
                    <p:nvPicPr>
                      <p:cNvPr id="0" name="图片 3358"/>
                      <p:cNvPicPr/>
                      <p:nvPr/>
                    </p:nvPicPr>
                    <p:blipFill>
                      <a:blip r:embed="rId10"/>
                      <a:stretch>
                        <a:fillRect/>
                      </a:stretch>
                    </p:blipFill>
                    <p:spPr>
                      <a:xfrm>
                        <a:off x="7620000" y="2286000"/>
                        <a:ext cx="365125" cy="457200"/>
                      </a:xfrm>
                      <a:prstGeom prst="rect">
                        <a:avLst/>
                      </a:prstGeom>
                      <a:noFill/>
                      <a:ln w="38100">
                        <a:noFill/>
                        <a:miter/>
                      </a:ln>
                    </p:spPr>
                  </p:pic>
                </p:oleObj>
              </mc:Fallback>
            </mc:AlternateContent>
          </a:graphicData>
        </a:graphic>
      </p:graphicFrame>
      <p:graphicFrame>
        <p:nvGraphicFramePr>
          <p:cNvPr id="198669" name="Object 15"/>
          <p:cNvGraphicFramePr>
            <a:graphicFrameLocks noChangeAspect="1"/>
          </p:cNvGraphicFramePr>
          <p:nvPr/>
        </p:nvGraphicFramePr>
        <p:xfrm>
          <a:off x="3657600" y="2895600"/>
          <a:ext cx="1371600" cy="1062038"/>
        </p:xfrm>
        <a:graphic>
          <a:graphicData uri="http://schemas.openxmlformats.org/presentationml/2006/ole">
            <mc:AlternateContent xmlns:mc="http://schemas.openxmlformats.org/markup-compatibility/2006">
              <mc:Choice xmlns:v="urn:schemas-microsoft-com:vml" Requires="v">
                <p:oleObj spid="_x0000_s3352" name="" r:id="rId11" imgW="889000" imgH="685800" progId="Equation.DSMT4">
                  <p:embed/>
                </p:oleObj>
              </mc:Choice>
              <mc:Fallback>
                <p:oleObj name="" r:id="rId11" imgW="889000" imgH="685800" progId="Equation.DSMT4">
                  <p:embed/>
                  <p:pic>
                    <p:nvPicPr>
                      <p:cNvPr id="0" name="图片 3351"/>
                      <p:cNvPicPr/>
                      <p:nvPr/>
                    </p:nvPicPr>
                    <p:blipFill>
                      <a:blip r:embed="rId12"/>
                      <a:stretch>
                        <a:fillRect/>
                      </a:stretch>
                    </p:blipFill>
                    <p:spPr>
                      <a:xfrm>
                        <a:off x="3657600" y="2895600"/>
                        <a:ext cx="1371600" cy="1062038"/>
                      </a:xfrm>
                      <a:prstGeom prst="rect">
                        <a:avLst/>
                      </a:prstGeom>
                      <a:noFill/>
                      <a:ln w="38100">
                        <a:noFill/>
                        <a:miter/>
                      </a:ln>
                    </p:spPr>
                  </p:pic>
                </p:oleObj>
              </mc:Fallback>
            </mc:AlternateContent>
          </a:graphicData>
        </a:graphic>
      </p:graphicFrame>
      <p:sp>
        <p:nvSpPr>
          <p:cNvPr id="198670" name="Rectangle 16"/>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8671" name="Object 17"/>
          <p:cNvGraphicFramePr>
            <a:graphicFrameLocks noChangeAspect="1"/>
          </p:cNvGraphicFramePr>
          <p:nvPr/>
        </p:nvGraphicFramePr>
        <p:xfrm>
          <a:off x="1752600" y="4038600"/>
          <a:ext cx="438150" cy="457200"/>
        </p:xfrm>
        <a:graphic>
          <a:graphicData uri="http://schemas.openxmlformats.org/presentationml/2006/ole">
            <mc:AlternateContent xmlns:mc="http://schemas.openxmlformats.org/markup-compatibility/2006">
              <mc:Choice xmlns:v="urn:schemas-microsoft-com:vml" Requires="v">
                <p:oleObj spid="_x0000_s3360" name="" r:id="rId13" imgW="228600" imgH="241300" progId="Equation.DSMT4">
                  <p:embed/>
                </p:oleObj>
              </mc:Choice>
              <mc:Fallback>
                <p:oleObj name="" r:id="rId13" imgW="228600" imgH="241300" progId="Equation.DSMT4">
                  <p:embed/>
                  <p:pic>
                    <p:nvPicPr>
                      <p:cNvPr id="0" name="图片 3359"/>
                      <p:cNvPicPr/>
                      <p:nvPr/>
                    </p:nvPicPr>
                    <p:blipFill>
                      <a:blip r:embed="rId14"/>
                      <a:stretch>
                        <a:fillRect/>
                      </a:stretch>
                    </p:blipFill>
                    <p:spPr>
                      <a:xfrm>
                        <a:off x="1752600" y="4038600"/>
                        <a:ext cx="438150" cy="457200"/>
                      </a:xfrm>
                      <a:prstGeom prst="rect">
                        <a:avLst/>
                      </a:prstGeom>
                      <a:noFill/>
                      <a:ln w="38100">
                        <a:noFill/>
                        <a:miter/>
                      </a:ln>
                    </p:spPr>
                  </p:pic>
                </p:oleObj>
              </mc:Fallback>
            </mc:AlternateContent>
          </a:graphicData>
        </a:graphic>
      </p:graphicFrame>
      <p:sp>
        <p:nvSpPr>
          <p:cNvPr id="198672" name="Rectangle 18"/>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198673" name="Object 19"/>
          <p:cNvGraphicFramePr>
            <a:graphicFrameLocks noChangeAspect="1"/>
          </p:cNvGraphicFramePr>
          <p:nvPr/>
        </p:nvGraphicFramePr>
        <p:xfrm>
          <a:off x="5105400" y="4038600"/>
          <a:ext cx="609600" cy="434975"/>
        </p:xfrm>
        <a:graphic>
          <a:graphicData uri="http://schemas.openxmlformats.org/presentationml/2006/ole">
            <mc:AlternateContent xmlns:mc="http://schemas.openxmlformats.org/markup-compatibility/2006">
              <mc:Choice xmlns:v="urn:schemas-microsoft-com:vml" Requires="v">
                <p:oleObj spid="_x0000_s3361" name="" r:id="rId15" imgW="330200" imgH="241300" progId="Equation.DSMT4">
                  <p:embed/>
                </p:oleObj>
              </mc:Choice>
              <mc:Fallback>
                <p:oleObj name="" r:id="rId15" imgW="330200" imgH="241300" progId="Equation.DSMT4">
                  <p:embed/>
                  <p:pic>
                    <p:nvPicPr>
                      <p:cNvPr id="0" name="图片 3360"/>
                      <p:cNvPicPr/>
                      <p:nvPr/>
                    </p:nvPicPr>
                    <p:blipFill>
                      <a:blip r:embed="rId4"/>
                      <a:stretch>
                        <a:fillRect/>
                      </a:stretch>
                    </p:blipFill>
                    <p:spPr>
                      <a:xfrm>
                        <a:off x="5105400" y="4038600"/>
                        <a:ext cx="609600" cy="434975"/>
                      </a:xfrm>
                      <a:prstGeom prst="rect">
                        <a:avLst/>
                      </a:prstGeom>
                      <a:noFill/>
                      <a:ln w="38100">
                        <a:noFill/>
                        <a:miter/>
                      </a:ln>
                    </p:spPr>
                  </p:pic>
                </p:oleObj>
              </mc:Fallback>
            </mc:AlternateContent>
          </a:graphicData>
        </a:graphic>
      </p:graphicFrame>
      <p:graphicFrame>
        <p:nvGraphicFramePr>
          <p:cNvPr id="198674" name="Object 20"/>
          <p:cNvGraphicFramePr>
            <a:graphicFrameLocks noChangeAspect="1"/>
          </p:cNvGraphicFramePr>
          <p:nvPr/>
        </p:nvGraphicFramePr>
        <p:xfrm>
          <a:off x="5943600" y="4038600"/>
          <a:ext cx="457200" cy="457200"/>
        </p:xfrm>
        <a:graphic>
          <a:graphicData uri="http://schemas.openxmlformats.org/presentationml/2006/ole">
            <mc:AlternateContent xmlns:mc="http://schemas.openxmlformats.org/markup-compatibility/2006">
              <mc:Choice xmlns:v="urn:schemas-microsoft-com:vml" Requires="v">
                <p:oleObj spid="_x0000_s3362" name="" r:id="rId16" imgW="241300" imgH="241300" progId="Equation.DSMT4">
                  <p:embed/>
                </p:oleObj>
              </mc:Choice>
              <mc:Fallback>
                <p:oleObj name="" r:id="rId16" imgW="241300" imgH="241300" progId="Equation.DSMT4">
                  <p:embed/>
                  <p:pic>
                    <p:nvPicPr>
                      <p:cNvPr id="0" name="图片 3361"/>
                      <p:cNvPicPr/>
                      <p:nvPr/>
                    </p:nvPicPr>
                    <p:blipFill>
                      <a:blip r:embed="rId6"/>
                      <a:stretch>
                        <a:fillRect/>
                      </a:stretch>
                    </p:blipFill>
                    <p:spPr>
                      <a:xfrm>
                        <a:off x="5943600" y="4038600"/>
                        <a:ext cx="457200" cy="457200"/>
                      </a:xfrm>
                      <a:prstGeom prst="rect">
                        <a:avLst/>
                      </a:prstGeom>
                      <a:noFill/>
                      <a:ln w="38100">
                        <a:noFill/>
                        <a:miter/>
                      </a:ln>
                    </p:spPr>
                  </p:pic>
                </p:oleObj>
              </mc:Fallback>
            </mc:AlternateContent>
          </a:graphicData>
        </a:graphic>
      </p:graphicFrame>
      <p:graphicFrame>
        <p:nvGraphicFramePr>
          <p:cNvPr id="198675" name="Object 21"/>
          <p:cNvGraphicFramePr>
            <a:graphicFrameLocks noChangeAspect="1"/>
          </p:cNvGraphicFramePr>
          <p:nvPr/>
        </p:nvGraphicFramePr>
        <p:xfrm>
          <a:off x="7010400" y="4038600"/>
          <a:ext cx="365125" cy="457200"/>
        </p:xfrm>
        <a:graphic>
          <a:graphicData uri="http://schemas.openxmlformats.org/presentationml/2006/ole">
            <mc:AlternateContent xmlns:mc="http://schemas.openxmlformats.org/markup-compatibility/2006">
              <mc:Choice xmlns:v="urn:schemas-microsoft-com:vml" Requires="v">
                <p:oleObj spid="_x0000_s3349" name="" r:id="rId17" imgW="190500" imgH="241300" progId="Equation.DSMT4">
                  <p:embed/>
                </p:oleObj>
              </mc:Choice>
              <mc:Fallback>
                <p:oleObj name="" r:id="rId17" imgW="190500" imgH="241300" progId="Equation.DSMT4">
                  <p:embed/>
                  <p:pic>
                    <p:nvPicPr>
                      <p:cNvPr id="0" name="图片 3348"/>
                      <p:cNvPicPr/>
                      <p:nvPr/>
                    </p:nvPicPr>
                    <p:blipFill>
                      <a:blip r:embed="rId10"/>
                      <a:stretch>
                        <a:fillRect/>
                      </a:stretch>
                    </p:blipFill>
                    <p:spPr>
                      <a:xfrm>
                        <a:off x="7010400" y="4038600"/>
                        <a:ext cx="365125" cy="457200"/>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1" name="Rectangle 3"/>
          <p:cNvSpPr>
            <a:spLocks noGrp="1"/>
          </p:cNvSpPr>
          <p:nvPr>
            <p:ph type="body" sz="half" idx="1"/>
          </p:nvPr>
        </p:nvSpPr>
        <p:spPr>
          <a:xfrm>
            <a:off x="566738" y="1341438"/>
            <a:ext cx="7704137" cy="4967287"/>
          </a:xfrm>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则对</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指标而言，分别属于第</a:t>
            </a:r>
            <a:r>
              <a:rPr lang="en-US" altLang="zh-CN" sz="1800" b="1">
                <a:solidFill>
                  <a:srgbClr val="692AA2"/>
                </a:solidFill>
                <a:ea typeface="仿宋_GB2312" pitchFamily="49" charset="-122"/>
              </a:rPr>
              <a:t>j</a:t>
            </a:r>
            <a:r>
              <a:rPr lang="zh-CN" altLang="en-US" sz="1800" b="1">
                <a:solidFill>
                  <a:srgbClr val="692AA2"/>
                </a:solidFill>
                <a:ea typeface="仿宋_GB2312" pitchFamily="49" charset="-122"/>
              </a:rPr>
              <a:t>级水质和第</a:t>
            </a:r>
            <a:r>
              <a:rPr lang="en-US" altLang="zh-CN" sz="1800" b="1">
                <a:solidFill>
                  <a:srgbClr val="692AA2"/>
                </a:solidFill>
                <a:ea typeface="仿宋_GB2312" pitchFamily="49" charset="-122"/>
              </a:rPr>
              <a:t>j-1</a:t>
            </a:r>
            <a:r>
              <a:rPr lang="zh-CN" altLang="en-US" sz="1800" b="1">
                <a:solidFill>
                  <a:srgbClr val="692AA2"/>
                </a:solidFill>
                <a:ea typeface="仿宋_GB2312" pitchFamily="49" charset="-122"/>
              </a:rPr>
              <a:t>级水质的程度，即对第</a:t>
            </a:r>
            <a:r>
              <a:rPr lang="en-US" altLang="zh-CN" sz="1800" b="1">
                <a:solidFill>
                  <a:srgbClr val="692AA2"/>
                </a:solidFill>
                <a:ea typeface="仿宋_GB2312" pitchFamily="49" charset="-122"/>
              </a:rPr>
              <a:t>j</a:t>
            </a:r>
            <a:r>
              <a:rPr lang="zh-CN" altLang="en-US" sz="1800" b="1">
                <a:solidFill>
                  <a:srgbClr val="692AA2"/>
                </a:solidFill>
                <a:ea typeface="仿宋_GB2312" pitchFamily="49" charset="-122"/>
              </a:rPr>
              <a:t>级水质和第</a:t>
            </a:r>
            <a:r>
              <a:rPr lang="en-US" altLang="zh-CN" sz="1800" b="1">
                <a:solidFill>
                  <a:srgbClr val="692AA2"/>
                </a:solidFill>
                <a:ea typeface="仿宋_GB2312" pitchFamily="49" charset="-122"/>
              </a:rPr>
              <a:t>j-1</a:t>
            </a:r>
            <a:r>
              <a:rPr lang="zh-CN" altLang="en-US" sz="1800" b="1">
                <a:solidFill>
                  <a:srgbClr val="692AA2"/>
                </a:solidFill>
                <a:ea typeface="仿宋_GB2312" pitchFamily="49" charset="-122"/>
              </a:rPr>
              <a:t>级水质的隶属度可由下列各式推求，即 </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对</a:t>
            </a:r>
            <a:r>
              <a:rPr lang="en-US" altLang="zh-CN" sz="1800" b="1">
                <a:solidFill>
                  <a:srgbClr val="692AA2"/>
                </a:solidFill>
                <a:ea typeface="仿宋_GB2312" pitchFamily="49" charset="-122"/>
              </a:rPr>
              <a:t>DO</a:t>
            </a:r>
            <a:r>
              <a:rPr lang="zh-CN" altLang="en-US" sz="1800" b="1">
                <a:solidFill>
                  <a:srgbClr val="692AA2"/>
                </a:solidFill>
                <a:ea typeface="仿宋_GB2312" pitchFamily="49" charset="-122"/>
              </a:rPr>
              <a:t>，有</a:t>
            </a: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algn="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5</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20000"/>
              </a:lnSpc>
              <a:buNone/>
            </a:pPr>
            <a:endParaRPr lang="en-US" altLang="zh-CN" sz="1800" b="1">
              <a:solidFill>
                <a:srgbClr val="692AA2"/>
              </a:solidFill>
              <a:ea typeface="仿宋_GB2312" pitchFamily="49" charset="-122"/>
            </a:endParaRPr>
          </a:p>
        </p:txBody>
      </p:sp>
      <p:graphicFrame>
        <p:nvGraphicFramePr>
          <p:cNvPr id="199682" name="Object 4"/>
          <p:cNvGraphicFramePr>
            <a:graphicFrameLocks noGrp="1" noChangeAspect="1"/>
          </p:cNvGraphicFramePr>
          <p:nvPr>
            <p:ph sz="half" idx="2"/>
          </p:nvPr>
        </p:nvGraphicFramePr>
        <p:xfrm>
          <a:off x="2492375" y="2520950"/>
          <a:ext cx="3852863" cy="3768725"/>
        </p:xfrm>
        <a:graphic>
          <a:graphicData uri="http://schemas.openxmlformats.org/presentationml/2006/ole">
            <mc:AlternateContent xmlns:mc="http://schemas.openxmlformats.org/markup-compatibility/2006">
              <mc:Choice xmlns:v="urn:schemas-microsoft-com:vml" Requires="v">
                <p:oleObj spid="_x0000_s3368" name="" r:id="rId1" imgW="2743200" imgH="2362200" progId="Equation.DSMT4">
                  <p:embed/>
                </p:oleObj>
              </mc:Choice>
              <mc:Fallback>
                <p:oleObj name="" r:id="rId1" imgW="2743200" imgH="2362200" progId="Equation.DSMT4">
                  <p:embed/>
                  <p:pic>
                    <p:nvPicPr>
                      <p:cNvPr id="0" name="图片 3367"/>
                      <p:cNvPicPr/>
                      <p:nvPr/>
                    </p:nvPicPr>
                    <p:blipFill>
                      <a:blip r:embed="rId2"/>
                      <a:stretch>
                        <a:fillRect/>
                      </a:stretch>
                    </p:blipFill>
                    <p:spPr>
                      <a:xfrm>
                        <a:off x="2492375" y="2520950"/>
                        <a:ext cx="3852863" cy="3768725"/>
                      </a:xfrm>
                      <a:prstGeom prst="rect">
                        <a:avLst/>
                      </a:prstGeom>
                      <a:noFill/>
                      <a:ln w="38100">
                        <a:miter/>
                      </a:ln>
                    </p:spPr>
                  </p:pic>
                </p:oleObj>
              </mc:Fallback>
            </mc:AlternateContent>
          </a:graphicData>
        </a:graphic>
      </p:graphicFrame>
    </p:spTree>
  </p:cSld>
  <p:clrMapOvr>
    <a:masterClrMapping/>
  </p:clrMapOvr>
  <p:transition>
    <p:zoom dir="in"/>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5"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对其他指标（</a:t>
            </a:r>
            <a:r>
              <a:rPr lang="en-US" altLang="zh-CN" sz="2000" b="1">
                <a:solidFill>
                  <a:srgbClr val="692AA2"/>
                </a:solidFill>
                <a:ea typeface="仿宋_GB2312" pitchFamily="49" charset="-122"/>
              </a:rPr>
              <a:t>CODMn</a:t>
            </a: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NH3-N</a:t>
            </a:r>
            <a:r>
              <a:rPr lang="zh-CN" altLang="en-US" sz="2000" b="1">
                <a:solidFill>
                  <a:srgbClr val="692AA2"/>
                </a:solidFill>
                <a:ea typeface="仿宋_GB2312" pitchFamily="49" charset="-122"/>
              </a:rPr>
              <a:t>），正好与上述方法相反，即</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algn="r" eaLnBrk="1" hangingPunct="1">
              <a:lnSpc>
                <a:spcPct val="120000"/>
              </a:lnSpc>
              <a:buNone/>
            </a:pPr>
            <a:endParaRPr lang="zh-CN" altLang="en-US" sz="2000" b="1">
              <a:solidFill>
                <a:srgbClr val="692AA2"/>
              </a:solidFill>
              <a:ea typeface="仿宋_GB2312" pitchFamily="49" charset="-122"/>
            </a:endParaRPr>
          </a:p>
          <a:p>
            <a:pPr algn="r" eaLnBrk="1" hangingPunct="1">
              <a:lnSpc>
                <a:spcPct val="120000"/>
              </a:lnSpc>
              <a:buNone/>
            </a:pPr>
            <a:endParaRPr lang="zh-CN" altLang="en-US" sz="2000" b="1">
              <a:solidFill>
                <a:srgbClr val="692AA2"/>
              </a:solidFill>
              <a:ea typeface="仿宋_GB2312" pitchFamily="49" charset="-122"/>
            </a:endParaRPr>
          </a:p>
          <a:p>
            <a:pPr algn="r" eaLnBrk="1" hangingPunct="1">
              <a:lnSpc>
                <a:spcPct val="120000"/>
              </a:lnSpc>
              <a:buNone/>
            </a:pP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6</a:t>
            </a:r>
            <a:r>
              <a:rPr lang="zh-CN" altLang="en-US" sz="2000" b="1">
                <a:solidFill>
                  <a:srgbClr val="692AA2"/>
                </a:solidFill>
                <a:ea typeface="仿宋_GB2312" pitchFamily="49" charset="-122"/>
              </a:rPr>
              <a:t>）</a:t>
            </a:r>
            <a:endParaRPr lang="zh-CN" altLang="en-US" sz="2000" b="1">
              <a:solidFill>
                <a:srgbClr val="692AA2"/>
              </a:solidFill>
              <a:ea typeface="仿宋_GB2312" pitchFamily="49" charset="-122"/>
            </a:endParaRPr>
          </a:p>
        </p:txBody>
      </p:sp>
      <p:sp>
        <p:nvSpPr>
          <p:cNvPr id="200706" name="Rectangle 4"/>
          <p:cNvSpPr/>
          <p:nvPr/>
        </p:nvSpPr>
        <p:spPr>
          <a:xfrm>
            <a:off x="0" y="22479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0707" name="Object 5"/>
          <p:cNvGraphicFramePr>
            <a:graphicFrameLocks noChangeAspect="1"/>
          </p:cNvGraphicFramePr>
          <p:nvPr/>
        </p:nvGraphicFramePr>
        <p:xfrm>
          <a:off x="2209800" y="2667000"/>
          <a:ext cx="4114800" cy="3543300"/>
        </p:xfrm>
        <a:graphic>
          <a:graphicData uri="http://schemas.openxmlformats.org/presentationml/2006/ole">
            <mc:AlternateContent xmlns:mc="http://schemas.openxmlformats.org/markup-compatibility/2006">
              <mc:Choice xmlns:v="urn:schemas-microsoft-com:vml" Requires="v">
                <p:oleObj spid="_x0000_s3363" name="" r:id="rId1" imgW="2743200" imgH="2362200" progId="Equation.DSMT4">
                  <p:embed/>
                </p:oleObj>
              </mc:Choice>
              <mc:Fallback>
                <p:oleObj name="" r:id="rId1" imgW="2743200" imgH="2362200" progId="Equation.DSMT4">
                  <p:embed/>
                  <p:pic>
                    <p:nvPicPr>
                      <p:cNvPr id="0" name="图片 3362"/>
                      <p:cNvPicPr/>
                      <p:nvPr/>
                    </p:nvPicPr>
                    <p:blipFill>
                      <a:blip r:embed="rId2"/>
                      <a:stretch>
                        <a:fillRect/>
                      </a:stretch>
                    </p:blipFill>
                    <p:spPr>
                      <a:xfrm>
                        <a:off x="2209800" y="2667000"/>
                        <a:ext cx="4114800" cy="3543300"/>
                      </a:xfrm>
                      <a:prstGeom prst="rect">
                        <a:avLst/>
                      </a:prstGeom>
                      <a:noFill/>
                      <a:ln w="38100">
                        <a:noFill/>
                        <a:miter/>
                      </a:ln>
                    </p:spPr>
                  </p:pic>
                </p:oleObj>
              </mc:Fallback>
            </mc:AlternateContent>
          </a:graphicData>
        </a:graphic>
      </p:graphicFrame>
    </p:spTree>
  </p:cSld>
  <p:clrMapOvr>
    <a:masterClrMapping/>
  </p:clrMapOvr>
  <p:transition>
    <p:cove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29" name="Rectangle 3"/>
          <p:cNvSpPr>
            <a:spLocks noGrp="1"/>
          </p:cNvSpPr>
          <p:nvPr>
            <p:ph idx="1"/>
          </p:nvPr>
        </p:nvSpPr>
        <p:spPr>
          <a:xfrm>
            <a:off x="457200" y="1927225"/>
            <a:ext cx="8229600" cy="4525963"/>
          </a:xfrm>
          <a:ln/>
        </p:spPr>
        <p:txBody>
          <a:bodyPr vert="horz" wrap="square" lIns="91440" tIns="45720" rIns="91440" bIns="45720" anchor="t"/>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 相对距离法计算权重</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根据各评价参数超标情况进行加权，超标越多，加权越大，权重可采用下式计算，即</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对</a:t>
            </a:r>
            <a:r>
              <a:rPr lang="en-US" altLang="zh-CN" sz="1800" b="1">
                <a:solidFill>
                  <a:srgbClr val="692AA2"/>
                </a:solidFill>
                <a:ea typeface="仿宋_GB2312" pitchFamily="49" charset="-122"/>
              </a:rPr>
              <a:t>DO</a:t>
            </a: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7</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对其他指标（</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NH3-N</a:t>
            </a: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8</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式中      </a:t>
            </a:r>
            <a:r>
              <a:rPr lang="en-US" altLang="zh-CN"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第</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种污染物的监测值算术平均值</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latin typeface="宋体" panose="02010600030101010101" pitchFamily="2" charset="-122"/>
                <a:ea typeface="仿宋_GB2312" pitchFamily="49" charset="-122"/>
              </a:rPr>
              <a:t>——</a:t>
            </a:r>
            <a:r>
              <a:rPr lang="en-US" altLang="zh-CN" sz="1800" b="1">
                <a:solidFill>
                  <a:srgbClr val="692AA2"/>
                </a:solidFill>
                <a:ea typeface="仿宋_GB2312" pitchFamily="49" charset="-122"/>
              </a:rPr>
              <a:t>DO</a:t>
            </a:r>
            <a:r>
              <a:rPr lang="zh-CN" altLang="en-US" sz="1800" b="1">
                <a:solidFill>
                  <a:srgbClr val="692AA2"/>
                </a:solidFill>
                <a:ea typeface="仿宋_GB2312" pitchFamily="49" charset="-122"/>
              </a:rPr>
              <a:t>的饱和浓度</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第</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种污染物各级标准值算术平均值</a:t>
            </a:r>
            <a:endParaRPr lang="zh-CN" altLang="en-US" sz="1800" b="1">
              <a:solidFill>
                <a:srgbClr val="692AA2"/>
              </a:solidFill>
              <a:ea typeface="仿宋_GB2312" pitchFamily="49" charset="-122"/>
            </a:endParaRPr>
          </a:p>
        </p:txBody>
      </p:sp>
      <p:sp>
        <p:nvSpPr>
          <p:cNvPr id="201730" name="Rectangle 4"/>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1731" name="Object 5"/>
          <p:cNvGraphicFramePr>
            <a:graphicFrameLocks noChangeAspect="1"/>
          </p:cNvGraphicFramePr>
          <p:nvPr/>
        </p:nvGraphicFramePr>
        <p:xfrm>
          <a:off x="2743200" y="2895600"/>
          <a:ext cx="1066800" cy="608013"/>
        </p:xfrm>
        <a:graphic>
          <a:graphicData uri="http://schemas.openxmlformats.org/presentationml/2006/ole">
            <mc:AlternateContent xmlns:mc="http://schemas.openxmlformats.org/markup-compatibility/2006">
              <mc:Choice xmlns:v="urn:schemas-microsoft-com:vml" Requires="v">
                <p:oleObj spid="_x0000_s3365" name="" r:id="rId1" imgW="748665" imgH="431800" progId="Equation.DSMT4">
                  <p:embed/>
                </p:oleObj>
              </mc:Choice>
              <mc:Fallback>
                <p:oleObj name="" r:id="rId1" imgW="748665" imgH="431800" progId="Equation.DSMT4">
                  <p:embed/>
                  <p:pic>
                    <p:nvPicPr>
                      <p:cNvPr id="0" name="图片 3364"/>
                      <p:cNvPicPr/>
                      <p:nvPr/>
                    </p:nvPicPr>
                    <p:blipFill>
                      <a:blip r:embed="rId2"/>
                      <a:stretch>
                        <a:fillRect/>
                      </a:stretch>
                    </p:blipFill>
                    <p:spPr>
                      <a:xfrm>
                        <a:off x="2743200" y="2895600"/>
                        <a:ext cx="1066800" cy="608013"/>
                      </a:xfrm>
                      <a:prstGeom prst="rect">
                        <a:avLst/>
                      </a:prstGeom>
                      <a:noFill/>
                      <a:ln w="38100">
                        <a:noFill/>
                        <a:miter/>
                      </a:ln>
                    </p:spPr>
                  </p:pic>
                </p:oleObj>
              </mc:Fallback>
            </mc:AlternateContent>
          </a:graphicData>
        </a:graphic>
      </p:graphicFrame>
      <p:graphicFrame>
        <p:nvGraphicFramePr>
          <p:cNvPr id="201732" name="Object 6"/>
          <p:cNvGraphicFramePr>
            <a:graphicFrameLocks noChangeAspect="1"/>
          </p:cNvGraphicFramePr>
          <p:nvPr/>
        </p:nvGraphicFramePr>
        <p:xfrm>
          <a:off x="4876800" y="3200400"/>
          <a:ext cx="762000" cy="671513"/>
        </p:xfrm>
        <a:graphic>
          <a:graphicData uri="http://schemas.openxmlformats.org/presentationml/2006/ole">
            <mc:AlternateContent xmlns:mc="http://schemas.openxmlformats.org/markup-compatibility/2006">
              <mc:Choice xmlns:v="urn:schemas-microsoft-com:vml" Requires="v">
                <p:oleObj spid="_x0000_s3372" name="" r:id="rId3" imgW="482600" imgH="431800" progId="Equation.DSMT4">
                  <p:embed/>
                </p:oleObj>
              </mc:Choice>
              <mc:Fallback>
                <p:oleObj name="" r:id="rId3" imgW="482600" imgH="431800" progId="Equation.DSMT4">
                  <p:embed/>
                  <p:pic>
                    <p:nvPicPr>
                      <p:cNvPr id="0" name="图片 3371"/>
                      <p:cNvPicPr/>
                      <p:nvPr/>
                    </p:nvPicPr>
                    <p:blipFill>
                      <a:blip r:embed="rId4"/>
                      <a:stretch>
                        <a:fillRect/>
                      </a:stretch>
                    </p:blipFill>
                    <p:spPr>
                      <a:xfrm>
                        <a:off x="4876800" y="3200400"/>
                        <a:ext cx="762000" cy="671513"/>
                      </a:xfrm>
                      <a:prstGeom prst="rect">
                        <a:avLst/>
                      </a:prstGeom>
                      <a:noFill/>
                      <a:ln w="38100">
                        <a:noFill/>
                        <a:miter/>
                      </a:ln>
                    </p:spPr>
                  </p:pic>
                </p:oleObj>
              </mc:Fallback>
            </mc:AlternateContent>
          </a:graphicData>
        </a:graphic>
      </p:graphicFrame>
      <p:sp>
        <p:nvSpPr>
          <p:cNvPr id="201733" name="Rectangle 7"/>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1734" name="Object 8"/>
          <p:cNvGraphicFramePr>
            <a:graphicFrameLocks noChangeAspect="1"/>
          </p:cNvGraphicFramePr>
          <p:nvPr/>
        </p:nvGraphicFramePr>
        <p:xfrm>
          <a:off x="1600200" y="3657600"/>
          <a:ext cx="304800" cy="457200"/>
        </p:xfrm>
        <a:graphic>
          <a:graphicData uri="http://schemas.openxmlformats.org/presentationml/2006/ole">
            <mc:AlternateContent xmlns:mc="http://schemas.openxmlformats.org/markup-compatibility/2006">
              <mc:Choice xmlns:v="urn:schemas-microsoft-com:vml" Requires="v">
                <p:oleObj spid="_x0000_s3367" name="" r:id="rId5" imgW="152400" imgH="228600" progId="Equation.DSMT4">
                  <p:embed/>
                </p:oleObj>
              </mc:Choice>
              <mc:Fallback>
                <p:oleObj name="" r:id="rId5" imgW="152400" imgH="228600" progId="Equation.DSMT4">
                  <p:embed/>
                  <p:pic>
                    <p:nvPicPr>
                      <p:cNvPr id="0" name="图片 3366"/>
                      <p:cNvPicPr/>
                      <p:nvPr/>
                    </p:nvPicPr>
                    <p:blipFill>
                      <a:blip r:embed="rId6"/>
                      <a:stretch>
                        <a:fillRect/>
                      </a:stretch>
                    </p:blipFill>
                    <p:spPr>
                      <a:xfrm>
                        <a:off x="1600200" y="3657600"/>
                        <a:ext cx="304800" cy="457200"/>
                      </a:xfrm>
                      <a:prstGeom prst="rect">
                        <a:avLst/>
                      </a:prstGeom>
                      <a:noFill/>
                      <a:ln w="38100">
                        <a:noFill/>
                        <a:miter/>
                      </a:ln>
                    </p:spPr>
                  </p:pic>
                </p:oleObj>
              </mc:Fallback>
            </mc:AlternateContent>
          </a:graphicData>
        </a:graphic>
      </p:graphicFrame>
      <p:sp>
        <p:nvSpPr>
          <p:cNvPr id="201735" name="Rectangle 9"/>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1736" name="Object 10"/>
          <p:cNvGraphicFramePr>
            <a:graphicFrameLocks noChangeAspect="1"/>
          </p:cNvGraphicFramePr>
          <p:nvPr/>
        </p:nvGraphicFramePr>
        <p:xfrm>
          <a:off x="1581150" y="3962400"/>
          <a:ext cx="323850" cy="457200"/>
        </p:xfrm>
        <a:graphic>
          <a:graphicData uri="http://schemas.openxmlformats.org/presentationml/2006/ole">
            <mc:AlternateContent xmlns:mc="http://schemas.openxmlformats.org/markup-compatibility/2006">
              <mc:Choice xmlns:v="urn:schemas-microsoft-com:vml" Requires="v">
                <p:oleObj spid="_x0000_s3366" name="" r:id="rId7" imgW="165100" imgH="228600" progId="Equation.DSMT4">
                  <p:embed/>
                </p:oleObj>
              </mc:Choice>
              <mc:Fallback>
                <p:oleObj name="" r:id="rId7" imgW="165100" imgH="228600" progId="Equation.DSMT4">
                  <p:embed/>
                  <p:pic>
                    <p:nvPicPr>
                      <p:cNvPr id="0" name="图片 3365"/>
                      <p:cNvPicPr/>
                      <p:nvPr/>
                    </p:nvPicPr>
                    <p:blipFill>
                      <a:blip r:embed="rId8"/>
                      <a:stretch>
                        <a:fillRect/>
                      </a:stretch>
                    </p:blipFill>
                    <p:spPr>
                      <a:xfrm>
                        <a:off x="1581150" y="3962400"/>
                        <a:ext cx="323850" cy="457200"/>
                      </a:xfrm>
                      <a:prstGeom prst="rect">
                        <a:avLst/>
                      </a:prstGeom>
                      <a:noFill/>
                      <a:ln w="38100">
                        <a:noFill/>
                        <a:miter/>
                      </a:ln>
                    </p:spPr>
                  </p:pic>
                </p:oleObj>
              </mc:Fallback>
            </mc:AlternateContent>
          </a:graphicData>
        </a:graphic>
      </p:graphicFrame>
      <p:sp>
        <p:nvSpPr>
          <p:cNvPr id="201737" name="Rectangle 11"/>
          <p:cNvSpPr/>
          <p:nvPr/>
        </p:nvSpPr>
        <p:spPr>
          <a:xfrm>
            <a:off x="0" y="3314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1738" name="Object 12"/>
          <p:cNvGraphicFramePr>
            <a:graphicFrameLocks noChangeAspect="1"/>
          </p:cNvGraphicFramePr>
          <p:nvPr/>
        </p:nvGraphicFramePr>
        <p:xfrm>
          <a:off x="1543050" y="4343400"/>
          <a:ext cx="285750" cy="457200"/>
        </p:xfrm>
        <a:graphic>
          <a:graphicData uri="http://schemas.openxmlformats.org/presentationml/2006/ole">
            <mc:AlternateContent xmlns:mc="http://schemas.openxmlformats.org/markup-compatibility/2006">
              <mc:Choice xmlns:v="urn:schemas-microsoft-com:vml" Requires="v">
                <p:oleObj spid="_x0000_s3370" name="" r:id="rId9" imgW="139700" imgH="228600" progId="Equation.DSMT4">
                  <p:embed/>
                </p:oleObj>
              </mc:Choice>
              <mc:Fallback>
                <p:oleObj name="" r:id="rId9" imgW="139700" imgH="228600" progId="Equation.DSMT4">
                  <p:embed/>
                  <p:pic>
                    <p:nvPicPr>
                      <p:cNvPr id="0" name="图片 3369"/>
                      <p:cNvPicPr/>
                      <p:nvPr/>
                    </p:nvPicPr>
                    <p:blipFill>
                      <a:blip r:embed="rId10"/>
                      <a:stretch>
                        <a:fillRect/>
                      </a:stretch>
                    </p:blipFill>
                    <p:spPr>
                      <a:xfrm>
                        <a:off x="1543050" y="4343400"/>
                        <a:ext cx="285750" cy="457200"/>
                      </a:xfrm>
                      <a:prstGeom prst="rect">
                        <a:avLst/>
                      </a:prstGeom>
                      <a:noFill/>
                      <a:ln w="38100">
                        <a:noFill/>
                        <a:miter/>
                      </a:ln>
                    </p:spPr>
                  </p:pic>
                </p:oleObj>
              </mc:Fallback>
            </mc:AlternateContent>
          </a:graphicData>
        </a:graphic>
      </p:graphicFrame>
    </p:spTree>
  </p:cSld>
  <p:clrMapOvr>
    <a:masterClrMapping/>
  </p:clrMapOvr>
  <p:transition>
    <p:cover dir="u"/>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3"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为了避免这一现象的发生，可用相对距离法计算单项指标的权重。具体计算如下：</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对</a:t>
            </a:r>
            <a:r>
              <a:rPr lang="en-US" altLang="zh-CN" sz="2000" b="1">
                <a:solidFill>
                  <a:srgbClr val="692AA2"/>
                </a:solidFill>
                <a:ea typeface="仿宋_GB2312" pitchFamily="49" charset="-122"/>
              </a:rPr>
              <a:t>DO</a:t>
            </a:r>
            <a:r>
              <a:rPr lang="zh-CN" altLang="en-US" sz="2000" b="1">
                <a:solidFill>
                  <a:srgbClr val="692AA2"/>
                </a:solidFill>
                <a:ea typeface="仿宋_GB2312" pitchFamily="49" charset="-122"/>
              </a:rPr>
              <a:t>：</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algn="r" eaLnBrk="1" hangingPunct="1">
              <a:lnSpc>
                <a:spcPct val="120000"/>
              </a:lnSpc>
              <a:buNone/>
            </a:pP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9</a:t>
            </a:r>
            <a:r>
              <a:rPr lang="zh-CN" altLang="en-US" sz="2000" b="1">
                <a:solidFill>
                  <a:srgbClr val="692AA2"/>
                </a:solidFill>
                <a:ea typeface="仿宋_GB2312" pitchFamily="49" charset="-122"/>
              </a:rPr>
              <a:t>）</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其中 </a:t>
            </a:r>
            <a:r>
              <a:rPr lang="en-US" altLang="zh-CN" sz="2000" b="1">
                <a:solidFill>
                  <a:srgbClr val="692AA2"/>
                </a:solidFill>
                <a:ea typeface="仿宋_GB2312" pitchFamily="49" charset="-122"/>
              </a:rPr>
              <a:t>i= 1,2..m, j = 1,2</a:t>
            </a:r>
            <a:r>
              <a:rPr lang="en-US" altLang="zh-CN" sz="2000" b="1">
                <a:solidFill>
                  <a:srgbClr val="692AA2"/>
                </a:solidFill>
                <a:latin typeface="宋体" panose="02010600030101010101" pitchFamily="2" charset="-122"/>
                <a:ea typeface="仿宋_GB2312" pitchFamily="49" charset="-122"/>
              </a:rPr>
              <a:t>…</a:t>
            </a:r>
            <a:r>
              <a:rPr lang="en-US" altLang="zh-CN" sz="2000" b="1">
                <a:solidFill>
                  <a:srgbClr val="692AA2"/>
                </a:solidFill>
                <a:ea typeface="仿宋_GB2312" pitchFamily="49" charset="-122"/>
              </a:rPr>
              <a:t>.n.</a:t>
            </a:r>
            <a:endParaRPr lang="en-US" altLang="zh-CN" sz="2000" b="1">
              <a:solidFill>
                <a:srgbClr val="692AA2"/>
              </a:solidFill>
              <a:ea typeface="仿宋_GB2312" pitchFamily="49" charset="-122"/>
            </a:endParaRPr>
          </a:p>
        </p:txBody>
      </p:sp>
      <p:sp>
        <p:nvSpPr>
          <p:cNvPr id="202754" name="Rectangle 4"/>
          <p:cNvSpPr/>
          <p:nvPr/>
        </p:nvSpPr>
        <p:spPr>
          <a:xfrm>
            <a:off x="0" y="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2755" name="Object 5"/>
          <p:cNvGraphicFramePr>
            <a:graphicFrameLocks noChangeAspect="1"/>
          </p:cNvGraphicFramePr>
          <p:nvPr/>
        </p:nvGraphicFramePr>
        <p:xfrm>
          <a:off x="2286000" y="2590800"/>
          <a:ext cx="4114800" cy="1804988"/>
        </p:xfrm>
        <a:graphic>
          <a:graphicData uri="http://schemas.openxmlformats.org/presentationml/2006/ole">
            <mc:AlternateContent xmlns:mc="http://schemas.openxmlformats.org/markup-compatibility/2006">
              <mc:Choice xmlns:v="urn:schemas-microsoft-com:vml" Requires="v">
                <p:oleObj spid="_x0000_s3369" name="" r:id="rId1" imgW="2324100" imgH="1016000" progId="Equation.DSMT4">
                  <p:embed/>
                </p:oleObj>
              </mc:Choice>
              <mc:Fallback>
                <p:oleObj name="" r:id="rId1" imgW="2324100" imgH="1016000" progId="Equation.DSMT4">
                  <p:embed/>
                  <p:pic>
                    <p:nvPicPr>
                      <p:cNvPr id="0" name="图片 3368"/>
                      <p:cNvPicPr/>
                      <p:nvPr/>
                    </p:nvPicPr>
                    <p:blipFill>
                      <a:blip r:embed="rId2"/>
                      <a:stretch>
                        <a:fillRect/>
                      </a:stretch>
                    </p:blipFill>
                    <p:spPr>
                      <a:xfrm>
                        <a:off x="2286000" y="2590800"/>
                        <a:ext cx="4114800" cy="1804988"/>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7"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对其他指标（</a:t>
            </a:r>
            <a:r>
              <a:rPr lang="en-US" altLang="zh-CN" sz="2000" b="1">
                <a:solidFill>
                  <a:srgbClr val="692AA2"/>
                </a:solidFill>
                <a:ea typeface="仿宋_GB2312" pitchFamily="49" charset="-122"/>
              </a:rPr>
              <a:t>CODMn</a:t>
            </a: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NH3-N</a:t>
            </a:r>
            <a:r>
              <a:rPr lang="zh-CN" altLang="en-US" sz="2000" b="1">
                <a:solidFill>
                  <a:srgbClr val="692AA2"/>
                </a:solidFill>
                <a:ea typeface="仿宋_GB2312" pitchFamily="49" charset="-122"/>
              </a:rPr>
              <a:t>）：</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algn="r" eaLnBrk="1" hangingPunct="1">
              <a:lnSpc>
                <a:spcPct val="120000"/>
              </a:lnSpc>
              <a:buNone/>
            </a:pPr>
            <a:r>
              <a:rPr lang="zh-CN" altLang="en-US" sz="2000" b="1">
                <a:solidFill>
                  <a:srgbClr val="692AA2"/>
                </a:solidFill>
                <a:ea typeface="仿宋_GB2312" pitchFamily="49" charset="-122"/>
              </a:rPr>
              <a:t>                </a:t>
            </a:r>
            <a:r>
              <a:rPr lang="en-US" altLang="zh-CN" sz="2000" b="1">
                <a:solidFill>
                  <a:srgbClr val="692AA2"/>
                </a:solidFill>
                <a:ea typeface="仿宋_GB2312" pitchFamily="49" charset="-122"/>
              </a:rPr>
              <a:t>(10)</a:t>
            </a:r>
            <a:endParaRPr lang="en-US" altLang="zh-CN" sz="2000" b="1">
              <a:solidFill>
                <a:srgbClr val="692AA2"/>
              </a:solidFill>
              <a:ea typeface="仿宋_GB2312" pitchFamily="49" charset="-122"/>
            </a:endParaRPr>
          </a:p>
          <a:p>
            <a:pPr eaLnBrk="1" hangingPunct="1">
              <a:lnSpc>
                <a:spcPct val="120000"/>
              </a:lnSpc>
              <a:buNone/>
            </a:pPr>
            <a:endParaRPr lang="en-US" altLang="zh-CN" sz="2000" b="1">
              <a:solidFill>
                <a:srgbClr val="692AA2"/>
              </a:solidFill>
              <a:ea typeface="仿宋_GB2312" pitchFamily="49" charset="-122"/>
            </a:endParaRPr>
          </a:p>
          <a:p>
            <a:pPr eaLnBrk="1" hangingPunct="1">
              <a:lnSpc>
                <a:spcPct val="120000"/>
              </a:lnSpc>
              <a:buNone/>
            </a:pPr>
            <a:endParaRPr lang="en-US" altLang="zh-CN" sz="2000" b="1">
              <a:solidFill>
                <a:srgbClr val="692AA2"/>
              </a:solidFill>
              <a:ea typeface="仿宋_GB2312" pitchFamily="49" charset="-122"/>
            </a:endParaRPr>
          </a:p>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式中其中 </a:t>
            </a:r>
            <a:r>
              <a:rPr lang="en-US" altLang="zh-CN" sz="2000" b="1">
                <a:solidFill>
                  <a:srgbClr val="692AA2"/>
                </a:solidFill>
                <a:ea typeface="仿宋_GB2312" pitchFamily="49" charset="-122"/>
              </a:rPr>
              <a:t>i= 1,2..m, j = 1,2</a:t>
            </a:r>
            <a:r>
              <a:rPr lang="en-US" altLang="zh-CN" sz="2000" b="1">
                <a:solidFill>
                  <a:srgbClr val="692AA2"/>
                </a:solidFill>
                <a:latin typeface="宋体" panose="02010600030101010101" pitchFamily="2" charset="-122"/>
                <a:ea typeface="仿宋_GB2312" pitchFamily="49" charset="-122"/>
              </a:rPr>
              <a:t>…</a:t>
            </a:r>
            <a:r>
              <a:rPr lang="en-US" altLang="zh-CN" sz="2000" b="1">
                <a:solidFill>
                  <a:srgbClr val="692AA2"/>
                </a:solidFill>
                <a:ea typeface="仿宋_GB2312" pitchFamily="49" charset="-122"/>
              </a:rPr>
              <a:t>.n </a:t>
            </a:r>
            <a:endParaRPr lang="en-US" altLang="zh-CN" sz="2000" b="1">
              <a:solidFill>
                <a:srgbClr val="692AA2"/>
              </a:solidFill>
              <a:ea typeface="仿宋_GB2312" pitchFamily="49" charset="-122"/>
            </a:endParaRPr>
          </a:p>
          <a:p>
            <a:pPr eaLnBrk="1" hangingPunct="1">
              <a:lnSpc>
                <a:spcPct val="120000"/>
              </a:lnSpc>
              <a:buNone/>
            </a:pPr>
            <a:r>
              <a:rPr lang="en-US" altLang="zh-CN" sz="2000" b="1">
                <a:solidFill>
                  <a:srgbClr val="692AA2"/>
                </a:solidFill>
                <a:ea typeface="仿宋_GB2312" pitchFamily="49" charset="-122"/>
              </a:rPr>
              <a:t>                    </a:t>
            </a:r>
            <a:r>
              <a:rPr lang="en-US" altLang="zh-CN"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第</a:t>
            </a:r>
            <a:r>
              <a:rPr lang="en-US" altLang="zh-CN" sz="2000" b="1">
                <a:solidFill>
                  <a:srgbClr val="692AA2"/>
                </a:solidFill>
                <a:ea typeface="仿宋_GB2312" pitchFamily="49" charset="-122"/>
              </a:rPr>
              <a:t>i</a:t>
            </a:r>
            <a:r>
              <a:rPr lang="zh-CN" altLang="en-US" sz="2000" b="1">
                <a:solidFill>
                  <a:srgbClr val="692AA2"/>
                </a:solidFill>
                <a:ea typeface="仿宋_GB2312" pitchFamily="49" charset="-122"/>
              </a:rPr>
              <a:t>种污染物第</a:t>
            </a:r>
            <a:r>
              <a:rPr lang="en-US" altLang="zh-CN" sz="2000" b="1">
                <a:solidFill>
                  <a:srgbClr val="692AA2"/>
                </a:solidFill>
                <a:ea typeface="仿宋_GB2312" pitchFamily="49" charset="-122"/>
              </a:rPr>
              <a:t>j</a:t>
            </a:r>
            <a:r>
              <a:rPr lang="zh-CN" altLang="en-US" sz="2000" b="1">
                <a:solidFill>
                  <a:srgbClr val="692AA2"/>
                </a:solidFill>
                <a:ea typeface="仿宋_GB2312" pitchFamily="49" charset="-122"/>
              </a:rPr>
              <a:t>级标准值 </a:t>
            </a:r>
            <a:endParaRPr lang="zh-CN" altLang="en-US" sz="2000" b="1">
              <a:solidFill>
                <a:srgbClr val="692AA2"/>
              </a:solidFill>
              <a:ea typeface="仿宋_GB2312" pitchFamily="49" charset="-122"/>
            </a:endParaRPr>
          </a:p>
        </p:txBody>
      </p:sp>
      <p:sp>
        <p:nvSpPr>
          <p:cNvPr id="203778" name="Rectangle 4"/>
          <p:cNvSpPr/>
          <p:nvPr/>
        </p:nvSpPr>
        <p:spPr>
          <a:xfrm>
            <a:off x="0" y="29194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3779" name="Object 5"/>
          <p:cNvGraphicFramePr>
            <a:graphicFrameLocks noChangeAspect="1"/>
          </p:cNvGraphicFramePr>
          <p:nvPr/>
        </p:nvGraphicFramePr>
        <p:xfrm>
          <a:off x="2209800" y="1905000"/>
          <a:ext cx="3962400" cy="1738313"/>
        </p:xfrm>
        <a:graphic>
          <a:graphicData uri="http://schemas.openxmlformats.org/presentationml/2006/ole">
            <mc:AlternateContent xmlns:mc="http://schemas.openxmlformats.org/markup-compatibility/2006">
              <mc:Choice xmlns:v="urn:schemas-microsoft-com:vml" Requires="v">
                <p:oleObj spid="_x0000_s3371" name="" r:id="rId1" imgW="2324100" imgH="1016000" progId="Equation.DSMT4">
                  <p:embed/>
                </p:oleObj>
              </mc:Choice>
              <mc:Fallback>
                <p:oleObj name="" r:id="rId1" imgW="2324100" imgH="1016000" progId="Equation.DSMT4">
                  <p:embed/>
                  <p:pic>
                    <p:nvPicPr>
                      <p:cNvPr id="0" name="图片 3370"/>
                      <p:cNvPicPr/>
                      <p:nvPr/>
                    </p:nvPicPr>
                    <p:blipFill>
                      <a:blip r:embed="rId2"/>
                      <a:stretch>
                        <a:fillRect/>
                      </a:stretch>
                    </p:blipFill>
                    <p:spPr>
                      <a:xfrm>
                        <a:off x="2209800" y="1905000"/>
                        <a:ext cx="3962400" cy="1738313"/>
                      </a:xfrm>
                      <a:prstGeom prst="rect">
                        <a:avLst/>
                      </a:prstGeom>
                      <a:noFill/>
                      <a:ln w="38100">
                        <a:noFill/>
                        <a:miter/>
                      </a:ln>
                    </p:spPr>
                  </p:pic>
                </p:oleObj>
              </mc:Fallback>
            </mc:AlternateContent>
          </a:graphicData>
        </a:graphic>
      </p:graphicFrame>
      <p:sp>
        <p:nvSpPr>
          <p:cNvPr id="203780" name="Rectangle 6"/>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3781" name="Object 7"/>
          <p:cNvGraphicFramePr>
            <a:graphicFrameLocks noChangeAspect="1"/>
          </p:cNvGraphicFramePr>
          <p:nvPr/>
        </p:nvGraphicFramePr>
        <p:xfrm>
          <a:off x="1408113" y="4114800"/>
          <a:ext cx="420687" cy="457200"/>
        </p:xfrm>
        <a:graphic>
          <a:graphicData uri="http://schemas.openxmlformats.org/presentationml/2006/ole">
            <mc:AlternateContent xmlns:mc="http://schemas.openxmlformats.org/markup-compatibility/2006">
              <mc:Choice xmlns:v="urn:schemas-microsoft-com:vml" Requires="v">
                <p:oleObj spid="_x0000_s3364" name="" r:id="rId3" imgW="215900" imgH="241300" progId="Equation.DSMT4">
                  <p:embed/>
                </p:oleObj>
              </mc:Choice>
              <mc:Fallback>
                <p:oleObj name="" r:id="rId3" imgW="215900" imgH="241300" progId="Equation.DSMT4">
                  <p:embed/>
                  <p:pic>
                    <p:nvPicPr>
                      <p:cNvPr id="0" name="图片 3363"/>
                      <p:cNvPicPr/>
                      <p:nvPr/>
                    </p:nvPicPr>
                    <p:blipFill>
                      <a:blip r:embed="rId4"/>
                      <a:stretch>
                        <a:fillRect/>
                      </a:stretch>
                    </p:blipFill>
                    <p:spPr>
                      <a:xfrm>
                        <a:off x="1408113" y="4114800"/>
                        <a:ext cx="420687" cy="457200"/>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1" name="Rectangle 3"/>
          <p:cNvSpPr>
            <a:spLocks noGrp="1"/>
          </p:cNvSpPr>
          <p:nvPr>
            <p:ph idx="1"/>
          </p:nvPr>
        </p:nvSpPr>
        <p:spPr>
          <a:xfrm>
            <a:off x="457200" y="2209800"/>
            <a:ext cx="8229600" cy="4495800"/>
          </a:xfrm>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用（</a:t>
            </a:r>
            <a:r>
              <a:rPr lang="en-US" altLang="zh-CN" sz="1800" b="1">
                <a:solidFill>
                  <a:srgbClr val="692AA2"/>
                </a:solidFill>
                <a:ea typeface="仿宋_GB2312" pitchFamily="49" charset="-122"/>
              </a:rPr>
              <a:t>9</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10</a:t>
            </a:r>
            <a:r>
              <a:rPr lang="zh-CN" altLang="en-US" sz="1800" b="1">
                <a:solidFill>
                  <a:srgbClr val="692AA2"/>
                </a:solidFill>
                <a:ea typeface="仿宋_GB2312" pitchFamily="49" charset="-122"/>
              </a:rPr>
              <a:t>）式计算权重，方法简单客观，同时也肯定了污染超标大者其权重亦大的基本思想，但也存在如下的问题：</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按照国际（</a:t>
            </a:r>
            <a:r>
              <a:rPr lang="en-US" altLang="zh-CN" sz="1800" b="1">
                <a:solidFill>
                  <a:srgbClr val="692AA2"/>
                </a:solidFill>
                <a:ea typeface="仿宋_GB2312" pitchFamily="49" charset="-122"/>
              </a:rPr>
              <a:t>GB3838</a:t>
            </a:r>
            <a:r>
              <a:rPr lang="en-US" altLang="zh-CN" sz="1800" b="1">
                <a:solidFill>
                  <a:srgbClr val="692AA2"/>
                </a:solidFill>
                <a:latin typeface="宋体" panose="02010600030101010101" pitchFamily="2" charset="-122"/>
                <a:ea typeface="仿宋_GB2312" pitchFamily="49" charset="-122"/>
              </a:rPr>
              <a:t>—</a:t>
            </a:r>
            <a:r>
              <a:rPr lang="en-US" altLang="zh-CN" sz="1800" b="1">
                <a:solidFill>
                  <a:srgbClr val="692AA2"/>
                </a:solidFill>
                <a:ea typeface="仿宋_GB2312" pitchFamily="49" charset="-122"/>
              </a:rPr>
              <a:t>2002</a:t>
            </a:r>
            <a:r>
              <a:rPr lang="zh-CN" altLang="en-US" sz="1800" b="1">
                <a:solidFill>
                  <a:srgbClr val="692AA2"/>
                </a:solidFill>
                <a:ea typeface="仿宋_GB2312" pitchFamily="49" charset="-122"/>
              </a:rPr>
              <a:t>）给出的</a:t>
            </a:r>
            <a:r>
              <a:rPr lang="en-US" altLang="zh-CN" sz="1800" b="1">
                <a:solidFill>
                  <a:srgbClr val="692AA2"/>
                </a:solidFill>
                <a:ea typeface="仿宋_GB2312" pitchFamily="49" charset="-122"/>
              </a:rPr>
              <a:t>《</a:t>
            </a:r>
            <a:r>
              <a:rPr lang="zh-CN" altLang="en-US" sz="1800" b="1">
                <a:solidFill>
                  <a:srgbClr val="692AA2"/>
                </a:solidFill>
                <a:ea typeface="仿宋_GB2312" pitchFamily="49" charset="-122"/>
              </a:rPr>
              <a:t>地表水环境质量标准</a:t>
            </a:r>
            <a:r>
              <a:rPr lang="en-US" altLang="zh-CN" sz="1800" b="1">
                <a:solidFill>
                  <a:srgbClr val="692AA2"/>
                </a:solidFill>
                <a:ea typeface="仿宋_GB2312" pitchFamily="49" charset="-122"/>
              </a:rPr>
              <a:t>》</a:t>
            </a:r>
            <a:r>
              <a:rPr lang="zh-CN" altLang="en-US" sz="1800" b="1">
                <a:solidFill>
                  <a:srgbClr val="692AA2"/>
                </a:solidFill>
                <a:ea typeface="仿宋_GB2312" pitchFamily="49" charset="-122"/>
              </a:rPr>
              <a:t>，同一污染物的五类标准     是单向递增的，因此，如果两种指标分别属于</a:t>
            </a:r>
            <a:r>
              <a:rPr lang="en-US" altLang="zh-CN" sz="1800" b="1">
                <a:solidFill>
                  <a:srgbClr val="692AA2"/>
                </a:solidFill>
                <a:ea typeface="仿宋_GB2312" pitchFamily="49" charset="-122"/>
              </a:rPr>
              <a:t>k</a:t>
            </a:r>
            <a:r>
              <a:rPr lang="zh-CN" altLang="en-US" sz="1800" b="1">
                <a:solidFill>
                  <a:srgbClr val="692AA2"/>
                </a:solidFill>
                <a:ea typeface="仿宋_GB2312" pitchFamily="49" charset="-122"/>
              </a:rPr>
              <a:t>类和</a:t>
            </a:r>
            <a:r>
              <a:rPr lang="en-US" altLang="zh-CN" sz="1800" b="1">
                <a:solidFill>
                  <a:srgbClr val="692AA2"/>
                </a:solidFill>
                <a:ea typeface="仿宋_GB2312" pitchFamily="49" charset="-122"/>
              </a:rPr>
              <a:t>r</a:t>
            </a:r>
            <a:r>
              <a:rPr lang="zh-CN" altLang="en-US" sz="1800" b="1">
                <a:solidFill>
                  <a:srgbClr val="692AA2"/>
                </a:solidFill>
                <a:ea typeface="仿宋_GB2312" pitchFamily="49" charset="-122"/>
              </a:rPr>
              <a:t>类水质，设</a:t>
            </a:r>
            <a:r>
              <a:rPr lang="en-US" altLang="zh-CN" sz="1800" b="1">
                <a:solidFill>
                  <a:srgbClr val="692AA2"/>
                </a:solidFill>
                <a:ea typeface="仿宋_GB2312" pitchFamily="49" charset="-122"/>
              </a:rPr>
              <a:t>k&lt;r</a:t>
            </a:r>
            <a:r>
              <a:rPr lang="zh-CN" altLang="en-US" sz="1800" b="1">
                <a:solidFill>
                  <a:srgbClr val="692AA2"/>
                </a:solidFill>
                <a:ea typeface="仿宋_GB2312" pitchFamily="49" charset="-122"/>
              </a:rPr>
              <a:t>，按照污染超标大者其权重亦大，则应有              。但由于不同的污染指标的相邻两级标准值增长不同步，可能造成上述次序的混乱。</a:t>
            </a:r>
            <a:endParaRPr lang="zh-CN" altLang="en-US" sz="1800" b="1">
              <a:solidFill>
                <a:srgbClr val="692AA2"/>
              </a:solidFill>
              <a:ea typeface="仿宋_GB2312" pitchFamily="49" charset="-122"/>
            </a:endParaRPr>
          </a:p>
        </p:txBody>
      </p:sp>
      <p:sp>
        <p:nvSpPr>
          <p:cNvPr id="204802" name="Rectangle 4"/>
          <p:cNvSpPr/>
          <p:nvPr/>
        </p:nvSpPr>
        <p:spPr>
          <a:xfrm>
            <a:off x="0" y="3695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4803" name="Object 5"/>
          <p:cNvGraphicFramePr>
            <a:graphicFrameLocks noChangeAspect="1"/>
          </p:cNvGraphicFramePr>
          <p:nvPr/>
        </p:nvGraphicFramePr>
        <p:xfrm>
          <a:off x="2362200" y="3200400"/>
          <a:ext cx="285750" cy="457200"/>
        </p:xfrm>
        <a:graphic>
          <a:graphicData uri="http://schemas.openxmlformats.org/presentationml/2006/ole">
            <mc:AlternateContent xmlns:mc="http://schemas.openxmlformats.org/markup-compatibility/2006">
              <mc:Choice xmlns:v="urn:schemas-microsoft-com:vml" Requires="v">
                <p:oleObj spid="_x0000_s3376" name="" r:id="rId1" imgW="139700" imgH="228600" progId="Equation.DSMT4">
                  <p:embed/>
                </p:oleObj>
              </mc:Choice>
              <mc:Fallback>
                <p:oleObj name="" r:id="rId1" imgW="139700" imgH="228600" progId="Equation.DSMT4">
                  <p:embed/>
                  <p:pic>
                    <p:nvPicPr>
                      <p:cNvPr id="0" name="图片 3375"/>
                      <p:cNvPicPr/>
                      <p:nvPr/>
                    </p:nvPicPr>
                    <p:blipFill>
                      <a:blip r:embed="rId2"/>
                      <a:stretch>
                        <a:fillRect/>
                      </a:stretch>
                    </p:blipFill>
                    <p:spPr>
                      <a:xfrm>
                        <a:off x="2362200" y="3200400"/>
                        <a:ext cx="285750" cy="457200"/>
                      </a:xfrm>
                      <a:prstGeom prst="rect">
                        <a:avLst/>
                      </a:prstGeom>
                      <a:noFill/>
                      <a:ln w="38100">
                        <a:noFill/>
                        <a:miter/>
                      </a:ln>
                    </p:spPr>
                  </p:pic>
                </p:oleObj>
              </mc:Fallback>
            </mc:AlternateContent>
          </a:graphicData>
        </a:graphic>
      </p:graphicFrame>
      <p:sp>
        <p:nvSpPr>
          <p:cNvPr id="204804" name="Rectangle 6"/>
          <p:cNvSpPr/>
          <p:nvPr/>
        </p:nvSpPr>
        <p:spPr>
          <a:xfrm>
            <a:off x="0" y="36957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4805" name="Object 7"/>
          <p:cNvGraphicFramePr>
            <a:graphicFrameLocks noChangeAspect="1"/>
          </p:cNvGraphicFramePr>
          <p:nvPr/>
        </p:nvGraphicFramePr>
        <p:xfrm>
          <a:off x="6172200" y="3581400"/>
          <a:ext cx="838200" cy="387350"/>
        </p:xfrm>
        <a:graphic>
          <a:graphicData uri="http://schemas.openxmlformats.org/presentationml/2006/ole">
            <mc:AlternateContent xmlns:mc="http://schemas.openxmlformats.org/markup-compatibility/2006">
              <mc:Choice xmlns:v="urn:schemas-microsoft-com:vml" Requires="v">
                <p:oleObj spid="_x0000_s3373" name="" r:id="rId3" imgW="495300" imgH="228600" progId="Equation.DSMT4">
                  <p:embed/>
                </p:oleObj>
              </mc:Choice>
              <mc:Fallback>
                <p:oleObj name="" r:id="rId3" imgW="495300" imgH="228600" progId="Equation.DSMT4">
                  <p:embed/>
                  <p:pic>
                    <p:nvPicPr>
                      <p:cNvPr id="0" name="图片 3372"/>
                      <p:cNvPicPr/>
                      <p:nvPr/>
                    </p:nvPicPr>
                    <p:blipFill>
                      <a:blip r:embed="rId4"/>
                      <a:stretch>
                        <a:fillRect/>
                      </a:stretch>
                    </p:blipFill>
                    <p:spPr>
                      <a:xfrm>
                        <a:off x="6172200" y="3581400"/>
                        <a:ext cx="838200" cy="387350"/>
                      </a:xfrm>
                      <a:prstGeom prst="rect">
                        <a:avLst/>
                      </a:prstGeom>
                      <a:noFill/>
                      <a:ln w="38100">
                        <a:noFill/>
                        <a:miter/>
                      </a:ln>
                    </p:spPr>
                  </p:pic>
                </p:oleObj>
              </mc:Fallback>
            </mc:AlternateContent>
          </a:graphicData>
        </a:graphic>
      </p:graphicFrame>
    </p:spTree>
  </p:cSld>
  <p:clrMapOvr>
    <a:masterClrMapping/>
  </p:clrMapOvr>
  <p:transition>
    <p:comb/>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5"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为了进行模糊运算，各单项指标权重进行归一化处理，即 </a:t>
            </a: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(i = 1,2,..m)                                          (11)</a:t>
            </a:r>
            <a:endParaRPr lang="en-US" altLang="zh-CN" sz="1800" b="1">
              <a:solidFill>
                <a:srgbClr val="692AA2"/>
              </a:solidFill>
              <a:ea typeface="仿宋_GB2312" pitchFamily="49" charset="-122"/>
            </a:endParaRPr>
          </a:p>
          <a:p>
            <a:pPr eaLnBrk="1" hangingPunct="1">
              <a:lnSpc>
                <a:spcPct val="120000"/>
              </a:lnSpc>
              <a:buNone/>
            </a:pPr>
            <a:endParaRPr lang="en-US" altLang="zh-CN" sz="1800" b="1">
              <a:solidFill>
                <a:srgbClr val="692AA2"/>
              </a:solidFill>
              <a:ea typeface="仿宋_GB2312" pitchFamily="49" charset="-122"/>
            </a:endParaRPr>
          </a:p>
          <a:p>
            <a:pPr eaLnBrk="1" hangingPunct="1">
              <a:lnSpc>
                <a:spcPct val="120000"/>
              </a:lnSpc>
              <a:buNone/>
            </a:pPr>
            <a:r>
              <a:rPr lang="en-US" altLang="zh-CN" sz="1800" b="1">
                <a:solidFill>
                  <a:srgbClr val="692AA2"/>
                </a:solidFill>
                <a:ea typeface="仿宋_GB2312" pitchFamily="49" charset="-122"/>
              </a:rPr>
              <a:t>            m</a:t>
            </a:r>
            <a:r>
              <a:rPr lang="zh-CN" altLang="en-US" sz="1800" b="1">
                <a:solidFill>
                  <a:srgbClr val="692AA2"/>
                </a:solidFill>
                <a:ea typeface="仿宋_GB2312" pitchFamily="49" charset="-122"/>
              </a:rPr>
              <a:t>个指标权重构成权重矩阵，即</a:t>
            </a: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algn="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(12)</a:t>
            </a:r>
            <a:endParaRPr lang="en-US" altLang="zh-CN" sz="1800" b="1">
              <a:solidFill>
                <a:srgbClr val="692AA2"/>
              </a:solidFill>
              <a:ea typeface="仿宋_GB2312" pitchFamily="49" charset="-122"/>
            </a:endParaRPr>
          </a:p>
        </p:txBody>
      </p:sp>
      <p:sp>
        <p:nvSpPr>
          <p:cNvPr id="205826" name="Rectangle 4"/>
          <p:cNvSpPr/>
          <p:nvPr/>
        </p:nvSpPr>
        <p:spPr>
          <a:xfrm>
            <a:off x="0" y="320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5827" name="Object 5"/>
          <p:cNvGraphicFramePr>
            <a:graphicFrameLocks noChangeAspect="1"/>
          </p:cNvGraphicFramePr>
          <p:nvPr/>
        </p:nvGraphicFramePr>
        <p:xfrm>
          <a:off x="1905000" y="1828800"/>
          <a:ext cx="1219200" cy="784225"/>
        </p:xfrm>
        <a:graphic>
          <a:graphicData uri="http://schemas.openxmlformats.org/presentationml/2006/ole">
            <mc:AlternateContent xmlns:mc="http://schemas.openxmlformats.org/markup-compatibility/2006">
              <mc:Choice xmlns:v="urn:schemas-microsoft-com:vml" Requires="v">
                <p:oleObj spid="_x0000_s3380" name="" r:id="rId1" imgW="698500" imgH="444500" progId="Equation.DSMT4">
                  <p:embed/>
                </p:oleObj>
              </mc:Choice>
              <mc:Fallback>
                <p:oleObj name="" r:id="rId1" imgW="698500" imgH="444500" progId="Equation.DSMT4">
                  <p:embed/>
                  <p:pic>
                    <p:nvPicPr>
                      <p:cNvPr id="0" name="图片 3379"/>
                      <p:cNvPicPr/>
                      <p:nvPr/>
                    </p:nvPicPr>
                    <p:blipFill>
                      <a:blip r:embed="rId2"/>
                      <a:stretch>
                        <a:fillRect/>
                      </a:stretch>
                    </p:blipFill>
                    <p:spPr>
                      <a:xfrm>
                        <a:off x="1905000" y="1828800"/>
                        <a:ext cx="1219200" cy="784225"/>
                      </a:xfrm>
                      <a:prstGeom prst="rect">
                        <a:avLst/>
                      </a:prstGeom>
                      <a:noFill/>
                      <a:ln w="38100">
                        <a:noFill/>
                        <a:miter/>
                      </a:ln>
                    </p:spPr>
                  </p:pic>
                </p:oleObj>
              </mc:Fallback>
            </mc:AlternateContent>
          </a:graphicData>
        </a:graphic>
      </p:graphicFrame>
      <p:sp>
        <p:nvSpPr>
          <p:cNvPr id="205828" name="Rectangle 6"/>
          <p:cNvSpPr/>
          <p:nvPr/>
        </p:nvSpPr>
        <p:spPr>
          <a:xfrm>
            <a:off x="0" y="33004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5829" name="Object 7"/>
          <p:cNvGraphicFramePr>
            <a:graphicFrameLocks noChangeAspect="1"/>
          </p:cNvGraphicFramePr>
          <p:nvPr/>
        </p:nvGraphicFramePr>
        <p:xfrm>
          <a:off x="2438400" y="3505200"/>
          <a:ext cx="3048000" cy="517525"/>
        </p:xfrm>
        <a:graphic>
          <a:graphicData uri="http://schemas.openxmlformats.org/presentationml/2006/ole">
            <mc:AlternateContent xmlns:mc="http://schemas.openxmlformats.org/markup-compatibility/2006">
              <mc:Choice xmlns:v="urn:schemas-microsoft-com:vml" Requires="v">
                <p:oleObj spid="_x0000_s3374" name="" r:id="rId3" imgW="1396365" imgH="254000" progId="Equation.DSMT4">
                  <p:embed/>
                </p:oleObj>
              </mc:Choice>
              <mc:Fallback>
                <p:oleObj name="" r:id="rId3" imgW="1396365" imgH="254000" progId="Equation.DSMT4">
                  <p:embed/>
                  <p:pic>
                    <p:nvPicPr>
                      <p:cNvPr id="0" name="图片 3373"/>
                      <p:cNvPicPr/>
                      <p:nvPr/>
                    </p:nvPicPr>
                    <p:blipFill>
                      <a:blip r:embed="rId4"/>
                      <a:stretch>
                        <a:fillRect/>
                      </a:stretch>
                    </p:blipFill>
                    <p:spPr>
                      <a:xfrm>
                        <a:off x="2438400" y="3505200"/>
                        <a:ext cx="3048000" cy="517525"/>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49" name="Rectangle 3"/>
          <p:cNvSpPr>
            <a:spLocks noGrp="1"/>
          </p:cNvSpPr>
          <p:nvPr>
            <p:ph idx="1"/>
          </p:nvPr>
        </p:nvSpPr>
        <p:spPr>
          <a:xfrm>
            <a:off x="468313" y="1998663"/>
            <a:ext cx="8229600" cy="4525962"/>
          </a:xfrm>
          <a:ln/>
        </p:spPr>
        <p:txBody>
          <a:bodyPr vert="horz" wrap="square" lIns="91440" tIns="45720" rIns="91440" bIns="45720" anchor="t"/>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5</a:t>
            </a:r>
            <a:r>
              <a:rPr lang="zh-CN" altLang="en-US" sz="1800" b="1">
                <a:solidFill>
                  <a:srgbClr val="692AA2"/>
                </a:solidFill>
                <a:ea typeface="仿宋_GB2312" pitchFamily="49" charset="-122"/>
              </a:rPr>
              <a:t>） 单指标模糊概率评价</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根据上述方法，分别求出</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指标，并分别统计</a:t>
            </a:r>
            <a:r>
              <a:rPr lang="en-US" altLang="zh-CN" sz="1800" b="1">
                <a:solidFill>
                  <a:srgbClr val="692AA2"/>
                </a:solidFill>
                <a:ea typeface="仿宋_GB2312" pitchFamily="49" charset="-122"/>
              </a:rPr>
              <a:t>j</a:t>
            </a:r>
            <a:r>
              <a:rPr lang="zh-CN" altLang="en-US" sz="1800" b="1">
                <a:solidFill>
                  <a:srgbClr val="692AA2"/>
                </a:solidFill>
                <a:ea typeface="仿宋_GB2312" pitchFamily="49" charset="-122"/>
              </a:rPr>
              <a:t>级水和</a:t>
            </a:r>
            <a:r>
              <a:rPr lang="en-US" altLang="zh-CN" sz="1800" b="1">
                <a:solidFill>
                  <a:srgbClr val="692AA2"/>
                </a:solidFill>
                <a:ea typeface="仿宋_GB2312" pitchFamily="49" charset="-122"/>
              </a:rPr>
              <a:t>j-1</a:t>
            </a:r>
            <a:r>
              <a:rPr lang="zh-CN" altLang="en-US" sz="1800" b="1">
                <a:solidFill>
                  <a:srgbClr val="692AA2"/>
                </a:solidFill>
                <a:ea typeface="仿宋_GB2312" pitchFamily="49" charset="-122"/>
              </a:rPr>
              <a:t>级水的隶属度和，以及介于至之间的</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指标监测值发生的统计概率，就可以应用模糊概率方法对</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指标进行单指标评价。</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指标发生各级水质的模糊概率分别为</a:t>
            </a:r>
            <a:endParaRPr lang="zh-CN" altLang="en-US" sz="1800" b="1">
              <a:solidFill>
                <a:srgbClr val="692AA2"/>
              </a:solidFill>
              <a:ea typeface="仿宋_GB2312" pitchFamily="49" charset="-122"/>
            </a:endParaRPr>
          </a:p>
          <a:p>
            <a:pPr eaLnBrk="1" hangingPunct="1">
              <a:lnSpc>
                <a:spcPct val="120000"/>
              </a:lnSpc>
              <a:buNone/>
            </a:pPr>
            <a:endParaRPr lang="zh-CN" altLang="en-US" sz="1800" b="1">
              <a:solidFill>
                <a:srgbClr val="692AA2"/>
              </a:solidFill>
              <a:ea typeface="仿宋_GB2312" pitchFamily="49" charset="-122"/>
            </a:endParaRPr>
          </a:p>
          <a:p>
            <a:pPr algn="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(13)</a:t>
            </a:r>
            <a:endParaRPr lang="en-US" altLang="zh-CN" sz="1800" b="1">
              <a:solidFill>
                <a:srgbClr val="692AA2"/>
              </a:solidFill>
              <a:ea typeface="仿宋_GB2312" pitchFamily="49" charset="-122"/>
            </a:endParaRPr>
          </a:p>
          <a:p>
            <a:pPr eaLnBrk="1" hangingPunct="1">
              <a:lnSpc>
                <a:spcPct val="120000"/>
              </a:lnSpc>
              <a:buNone/>
            </a:pPr>
            <a:endParaRPr lang="en-US" altLang="zh-CN" sz="1800" b="1">
              <a:solidFill>
                <a:srgbClr val="692AA2"/>
              </a:solidFill>
              <a:ea typeface="仿宋_GB2312" pitchFamily="49" charset="-122"/>
            </a:endParaRPr>
          </a:p>
          <a:p>
            <a:pPr eaLnBrk="1" hangingPunct="1">
              <a:lnSpc>
                <a:spcPct val="120000"/>
              </a:lnSpc>
              <a:buNone/>
            </a:pPr>
            <a:endParaRPr lang="en-US" altLang="zh-CN" sz="1800" b="1">
              <a:solidFill>
                <a:srgbClr val="692AA2"/>
              </a:solidFill>
              <a:ea typeface="仿宋_GB2312" pitchFamily="49" charset="-122"/>
            </a:endParaRPr>
          </a:p>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其中</a:t>
            </a:r>
            <a:r>
              <a:rPr lang="en-US" altLang="zh-CN" sz="1800" b="1">
                <a:solidFill>
                  <a:srgbClr val="692AA2"/>
                </a:solidFill>
                <a:ea typeface="仿宋_GB2312" pitchFamily="49" charset="-122"/>
              </a:rPr>
              <a:t>i=1</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m</a:t>
            </a:r>
            <a:r>
              <a:rPr lang="zh-CN" altLang="en-US" sz="1800" b="1">
                <a:solidFill>
                  <a:srgbClr val="692AA2"/>
                </a:solidFill>
                <a:ea typeface="仿宋_GB2312" pitchFamily="49" charset="-122"/>
              </a:rPr>
              <a:t>。 </a:t>
            </a:r>
            <a:endParaRPr lang="zh-CN" altLang="en-US" sz="1800" b="1">
              <a:solidFill>
                <a:srgbClr val="692AA2"/>
              </a:solidFill>
              <a:ea typeface="仿宋_GB2312" pitchFamily="49" charset="-122"/>
            </a:endParaRPr>
          </a:p>
        </p:txBody>
      </p:sp>
      <p:graphicFrame>
        <p:nvGraphicFramePr>
          <p:cNvPr id="206850" name="Object 4"/>
          <p:cNvGraphicFramePr>
            <a:graphicFrameLocks noChangeAspect="1"/>
          </p:cNvGraphicFramePr>
          <p:nvPr/>
        </p:nvGraphicFramePr>
        <p:xfrm>
          <a:off x="1371600" y="3886200"/>
          <a:ext cx="5867400" cy="993775"/>
        </p:xfrm>
        <a:graphic>
          <a:graphicData uri="http://schemas.openxmlformats.org/presentationml/2006/ole">
            <mc:AlternateContent xmlns:mc="http://schemas.openxmlformats.org/markup-compatibility/2006">
              <mc:Choice xmlns:v="urn:schemas-microsoft-com:vml" Requires="v">
                <p:oleObj spid="_x0000_s3381" name="" r:id="rId1" imgW="2984500" imgH="508000" progId="Equation.DSMT4">
                  <p:embed/>
                </p:oleObj>
              </mc:Choice>
              <mc:Fallback>
                <p:oleObj name="" r:id="rId1" imgW="2984500" imgH="508000" progId="Equation.DSMT4">
                  <p:embed/>
                  <p:pic>
                    <p:nvPicPr>
                      <p:cNvPr id="0" name="图片 3380"/>
                      <p:cNvPicPr/>
                      <p:nvPr/>
                    </p:nvPicPr>
                    <p:blipFill>
                      <a:blip r:embed="rId2"/>
                      <a:stretch>
                        <a:fillRect/>
                      </a:stretch>
                    </p:blipFill>
                    <p:spPr>
                      <a:xfrm>
                        <a:off x="1371600" y="3886200"/>
                        <a:ext cx="5867400" cy="993775"/>
                      </a:xfrm>
                      <a:prstGeom prst="rect">
                        <a:avLst/>
                      </a:prstGeom>
                      <a:noFill/>
                      <a:ln w="38100">
                        <a:noFill/>
                        <a:miter/>
                      </a:ln>
                    </p:spPr>
                  </p:pic>
                </p:oleObj>
              </mc:Fallback>
            </mc:AlternateContent>
          </a:graphicData>
        </a:graphic>
      </p:graphicFrame>
    </p:spTree>
  </p:cSld>
  <p:clrMapOvr>
    <a:masterClrMapping/>
  </p:clrMapOvr>
  <p:transition>
    <p:comb/>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3"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            i</a:t>
            </a:r>
            <a:r>
              <a:rPr lang="zh-CN" altLang="en-US" sz="2000" b="1">
                <a:solidFill>
                  <a:srgbClr val="692AA2"/>
                </a:solidFill>
                <a:ea typeface="仿宋_GB2312" pitchFamily="49" charset="-122"/>
              </a:rPr>
              <a:t>指标分别发生</a:t>
            </a:r>
            <a:r>
              <a:rPr lang="en-US" altLang="zh-CN" sz="2000" b="1">
                <a:solidFill>
                  <a:srgbClr val="692AA2"/>
                </a:solidFill>
                <a:ea typeface="仿宋_GB2312" pitchFamily="49" charset="-122"/>
              </a:rPr>
              <a:t>n</a:t>
            </a:r>
            <a:r>
              <a:rPr lang="zh-CN" altLang="en-US" sz="2000" b="1">
                <a:solidFill>
                  <a:srgbClr val="692AA2"/>
                </a:solidFill>
                <a:ea typeface="仿宋_GB2312" pitchFamily="49" charset="-122"/>
              </a:rPr>
              <a:t>级水质的概率就构成</a:t>
            </a:r>
            <a:r>
              <a:rPr lang="en-US" altLang="zh-CN" sz="2000" b="1">
                <a:solidFill>
                  <a:srgbClr val="692AA2"/>
                </a:solidFill>
                <a:ea typeface="仿宋_GB2312" pitchFamily="49" charset="-122"/>
              </a:rPr>
              <a:t>i</a:t>
            </a:r>
            <a:r>
              <a:rPr lang="zh-CN" altLang="en-US" sz="2000" b="1">
                <a:solidFill>
                  <a:srgbClr val="692AA2"/>
                </a:solidFill>
                <a:ea typeface="仿宋_GB2312" pitchFamily="49" charset="-122"/>
              </a:rPr>
              <a:t>指标单指标模糊概率评价矩阵，即</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a:t>
            </a:r>
            <a:r>
              <a:rPr lang="en-US" altLang="zh-CN" sz="2000" b="1">
                <a:solidFill>
                  <a:srgbClr val="692AA2"/>
                </a:solidFill>
                <a:ea typeface="仿宋_GB2312" pitchFamily="49" charset="-122"/>
              </a:rPr>
              <a:t>m</a:t>
            </a:r>
            <a:r>
              <a:rPr lang="zh-CN" altLang="en-US" sz="2000" b="1">
                <a:solidFill>
                  <a:srgbClr val="692AA2"/>
                </a:solidFill>
                <a:ea typeface="仿宋_GB2312" pitchFamily="49" charset="-122"/>
              </a:rPr>
              <a:t>个指标的单指标模糊概率矩阵就构成模糊概率关系矩阵，即</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algn="r" eaLnBrk="1" hangingPunct="1">
              <a:lnSpc>
                <a:spcPct val="120000"/>
              </a:lnSpc>
              <a:buNone/>
            </a:pPr>
            <a:endParaRPr lang="zh-CN" altLang="en-US" sz="2000" b="1">
              <a:solidFill>
                <a:srgbClr val="692AA2"/>
              </a:solidFill>
              <a:ea typeface="仿宋_GB2312" pitchFamily="49" charset="-122"/>
            </a:endParaRPr>
          </a:p>
          <a:p>
            <a:pPr algn="r" eaLnBrk="1" hangingPunct="1">
              <a:lnSpc>
                <a:spcPct val="120000"/>
              </a:lnSpc>
              <a:buNone/>
            </a:pPr>
            <a:r>
              <a:rPr lang="zh-CN" altLang="en-US" sz="2000" b="1">
                <a:solidFill>
                  <a:srgbClr val="692AA2"/>
                </a:solidFill>
                <a:ea typeface="仿宋_GB2312" pitchFamily="49" charset="-122"/>
              </a:rPr>
              <a:t>           </a:t>
            </a:r>
            <a:r>
              <a:rPr lang="en-US" altLang="zh-CN" sz="2000" b="1">
                <a:solidFill>
                  <a:srgbClr val="692AA2"/>
                </a:solidFill>
                <a:ea typeface="仿宋_GB2312" pitchFamily="49" charset="-122"/>
              </a:rPr>
              <a:t>(14)</a:t>
            </a:r>
            <a:endParaRPr lang="en-US" altLang="zh-CN" sz="2000" b="1">
              <a:solidFill>
                <a:srgbClr val="692AA2"/>
              </a:solidFill>
              <a:ea typeface="仿宋_GB2312" pitchFamily="49" charset="-122"/>
            </a:endParaRPr>
          </a:p>
        </p:txBody>
      </p:sp>
      <p:sp>
        <p:nvSpPr>
          <p:cNvPr id="207874" name="Rectangle 4"/>
          <p:cNvSpPr/>
          <p:nvPr/>
        </p:nvSpPr>
        <p:spPr>
          <a:xfrm>
            <a:off x="0" y="295751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75" name="Object 5"/>
          <p:cNvGraphicFramePr>
            <a:graphicFrameLocks noChangeAspect="1"/>
          </p:cNvGraphicFramePr>
          <p:nvPr/>
        </p:nvGraphicFramePr>
        <p:xfrm>
          <a:off x="2057400" y="3810000"/>
          <a:ext cx="4114800" cy="1514475"/>
        </p:xfrm>
        <a:graphic>
          <a:graphicData uri="http://schemas.openxmlformats.org/presentationml/2006/ole">
            <mc:AlternateContent xmlns:mc="http://schemas.openxmlformats.org/markup-compatibility/2006">
              <mc:Choice xmlns:v="urn:schemas-microsoft-com:vml" Requires="v">
                <p:oleObj spid="_x0000_s3378" name="" r:id="rId1" imgW="2565400" imgH="939800" progId="Equation.DSMT4">
                  <p:embed/>
                </p:oleObj>
              </mc:Choice>
              <mc:Fallback>
                <p:oleObj name="" r:id="rId1" imgW="2565400" imgH="939800" progId="Equation.DSMT4">
                  <p:embed/>
                  <p:pic>
                    <p:nvPicPr>
                      <p:cNvPr id="0" name="图片 3377"/>
                      <p:cNvPicPr/>
                      <p:nvPr/>
                    </p:nvPicPr>
                    <p:blipFill>
                      <a:blip r:embed="rId2"/>
                      <a:stretch>
                        <a:fillRect/>
                      </a:stretch>
                    </p:blipFill>
                    <p:spPr>
                      <a:xfrm>
                        <a:off x="2057400" y="3810000"/>
                        <a:ext cx="4114800" cy="1514475"/>
                      </a:xfrm>
                      <a:prstGeom prst="rect">
                        <a:avLst/>
                      </a:prstGeom>
                      <a:noFill/>
                      <a:ln w="38100">
                        <a:noFill/>
                        <a:miter/>
                      </a:ln>
                    </p:spPr>
                  </p:pic>
                </p:oleObj>
              </mc:Fallback>
            </mc:AlternateContent>
          </a:graphicData>
        </a:graphic>
      </p:graphicFrame>
      <p:sp>
        <p:nvSpPr>
          <p:cNvPr id="207876" name="Rectangle 6"/>
          <p:cNvSpPr/>
          <p:nvPr/>
        </p:nvSpPr>
        <p:spPr>
          <a:xfrm>
            <a:off x="0" y="330993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7877" name="Object 7"/>
          <p:cNvGraphicFramePr>
            <a:graphicFrameLocks noChangeAspect="1"/>
          </p:cNvGraphicFramePr>
          <p:nvPr/>
        </p:nvGraphicFramePr>
        <p:xfrm>
          <a:off x="2514600" y="1905000"/>
          <a:ext cx="3352800" cy="508000"/>
        </p:xfrm>
        <a:graphic>
          <a:graphicData uri="http://schemas.openxmlformats.org/presentationml/2006/ole">
            <mc:AlternateContent xmlns:mc="http://schemas.openxmlformats.org/markup-compatibility/2006">
              <mc:Choice xmlns:v="urn:schemas-microsoft-com:vml" Requires="v">
                <p:oleObj spid="_x0000_s3375" name="" r:id="rId3" imgW="1574800" imgH="241300" progId="Equation.DSMT4">
                  <p:embed/>
                </p:oleObj>
              </mc:Choice>
              <mc:Fallback>
                <p:oleObj name="" r:id="rId3" imgW="1574800" imgH="241300" progId="Equation.DSMT4">
                  <p:embed/>
                  <p:pic>
                    <p:nvPicPr>
                      <p:cNvPr id="0" name="图片 3374"/>
                      <p:cNvPicPr/>
                      <p:nvPr/>
                    </p:nvPicPr>
                    <p:blipFill>
                      <a:blip r:embed="rId4"/>
                      <a:stretch>
                        <a:fillRect/>
                      </a:stretch>
                    </p:blipFill>
                    <p:spPr>
                      <a:xfrm>
                        <a:off x="2514600" y="1905000"/>
                        <a:ext cx="3352800" cy="508000"/>
                      </a:xfrm>
                      <a:prstGeom prst="rect">
                        <a:avLst/>
                      </a:prstGeom>
                      <a:noFill/>
                      <a:ln w="38100">
                        <a:noFill/>
                        <a:miter/>
                      </a:ln>
                    </p:spPr>
                  </p:pic>
                </p:oleObj>
              </mc:Fallback>
            </mc:AlternateContent>
          </a:graphicData>
        </a:graphic>
      </p:graphicFrame>
    </p:spTree>
  </p:cSld>
  <p:clrMapOvr>
    <a:masterClrMapping/>
  </p:clrMapOvr>
  <p:transition>
    <p:checke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7" name="Rectangle 3"/>
          <p:cNvSpPr>
            <a:spLocks noGrp="1"/>
          </p:cNvSpPr>
          <p:nvPr>
            <p:ph idx="1"/>
          </p:nvPr>
        </p:nvSpPr>
        <p:spPr>
          <a:ln/>
        </p:spPr>
        <p:txBody>
          <a:bodyPr vert="horz" wrap="square" lIns="91440" tIns="45720" rIns="91440" bIns="45720" anchor="t"/>
          <a:p>
            <a:pPr eaLnBrk="1" hangingPunct="1">
              <a:lnSpc>
                <a:spcPct val="120000"/>
              </a:lnSpc>
              <a:buNone/>
            </a:pP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6</a:t>
            </a:r>
            <a:r>
              <a:rPr lang="zh-CN" altLang="en-US" sz="2000" b="1">
                <a:solidFill>
                  <a:srgbClr val="692AA2"/>
                </a:solidFill>
                <a:ea typeface="仿宋_GB2312" pitchFamily="49" charset="-122"/>
              </a:rPr>
              <a:t>） 多指标模糊概率综合评价</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已求出权重矩阵及模糊概率关系矩阵，则对</a:t>
            </a:r>
            <a:r>
              <a:rPr lang="en-US" altLang="zh-CN" sz="2000" b="1">
                <a:solidFill>
                  <a:srgbClr val="692AA2"/>
                </a:solidFill>
                <a:ea typeface="仿宋_GB2312" pitchFamily="49" charset="-122"/>
              </a:rPr>
              <a:t>m</a:t>
            </a:r>
            <a:r>
              <a:rPr lang="zh-CN" altLang="en-US" sz="2000" b="1">
                <a:solidFill>
                  <a:srgbClr val="692AA2"/>
                </a:solidFill>
                <a:ea typeface="仿宋_GB2312" pitchFamily="49" charset="-122"/>
              </a:rPr>
              <a:t>个评价指标综合评价，得到多指标模糊概率综合评价矩阵，即</a:t>
            </a:r>
            <a:endParaRPr lang="zh-CN" altLang="en-US" sz="2000" b="1">
              <a:solidFill>
                <a:srgbClr val="692AA2"/>
              </a:solidFill>
              <a:ea typeface="仿宋_GB2312" pitchFamily="49" charset="-122"/>
            </a:endParaRPr>
          </a:p>
          <a:p>
            <a:pPr algn="r" eaLnBrk="1" hangingPunct="1">
              <a:lnSpc>
                <a:spcPct val="120000"/>
              </a:lnSpc>
              <a:buNone/>
            </a:pPr>
            <a:r>
              <a:rPr lang="zh-CN" altLang="en-US" sz="2000" b="1">
                <a:solidFill>
                  <a:srgbClr val="692AA2"/>
                </a:solidFill>
                <a:ea typeface="仿宋_GB2312" pitchFamily="49" charset="-122"/>
              </a:rPr>
              <a:t> </a:t>
            </a:r>
            <a:r>
              <a:rPr lang="en-US" altLang="zh-CN" sz="2000" b="1">
                <a:solidFill>
                  <a:srgbClr val="692AA2"/>
                </a:solidFill>
                <a:ea typeface="仿宋_GB2312" pitchFamily="49" charset="-122"/>
              </a:rPr>
              <a:t>(15)</a:t>
            </a:r>
            <a:endParaRPr lang="en-US" altLang="zh-CN" sz="2000" b="1">
              <a:solidFill>
                <a:srgbClr val="692AA2"/>
              </a:solidFill>
              <a:ea typeface="仿宋_GB2312" pitchFamily="49" charset="-122"/>
            </a:endParaRPr>
          </a:p>
          <a:p>
            <a:pPr algn="r" eaLnBrk="1" hangingPunct="1">
              <a:lnSpc>
                <a:spcPct val="120000"/>
              </a:lnSpc>
              <a:buNone/>
            </a:pPr>
            <a:endParaRPr lang="en-US" altLang="zh-CN" sz="2000" b="1">
              <a:solidFill>
                <a:srgbClr val="692AA2"/>
              </a:solidFill>
              <a:ea typeface="仿宋_GB2312" pitchFamily="49" charset="-122"/>
            </a:endParaRPr>
          </a:p>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其中，                                                             </a:t>
            </a:r>
            <a:r>
              <a:rPr lang="en-US" altLang="zh-CN" sz="2000" b="1">
                <a:solidFill>
                  <a:srgbClr val="692AA2"/>
                </a:solidFill>
                <a:ea typeface="仿宋_GB2312" pitchFamily="49" charset="-122"/>
              </a:rPr>
              <a:t>(16)</a:t>
            </a:r>
            <a:endParaRPr lang="en-US" altLang="zh-CN" sz="2000" b="1">
              <a:solidFill>
                <a:srgbClr val="692AA2"/>
              </a:solidFill>
              <a:ea typeface="仿宋_GB2312" pitchFamily="49" charset="-122"/>
            </a:endParaRPr>
          </a:p>
          <a:p>
            <a:pPr eaLnBrk="1" hangingPunct="1">
              <a:lnSpc>
                <a:spcPct val="120000"/>
              </a:lnSpc>
              <a:buNone/>
            </a:pPr>
            <a:endParaRPr lang="en-US" altLang="zh-CN" sz="2000" b="1">
              <a:solidFill>
                <a:srgbClr val="692AA2"/>
              </a:solidFill>
              <a:ea typeface="仿宋_GB2312" pitchFamily="49" charset="-122"/>
            </a:endParaRPr>
          </a:p>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即为水域水体出现</a:t>
            </a:r>
            <a:r>
              <a:rPr lang="en-US" altLang="zh-CN" sz="2000" b="1">
                <a:solidFill>
                  <a:srgbClr val="692AA2"/>
                </a:solidFill>
                <a:ea typeface="仿宋_GB2312" pitchFamily="49" charset="-122"/>
              </a:rPr>
              <a:t>j</a:t>
            </a:r>
            <a:r>
              <a:rPr lang="zh-CN" altLang="en-US" sz="2000" b="1">
                <a:solidFill>
                  <a:srgbClr val="692AA2"/>
                </a:solidFill>
                <a:ea typeface="仿宋_GB2312" pitchFamily="49" charset="-122"/>
              </a:rPr>
              <a:t>级水质的模糊综合概率。</a:t>
            </a:r>
            <a:endParaRPr lang="zh-CN" altLang="en-US" sz="2000" b="1">
              <a:solidFill>
                <a:srgbClr val="692AA2"/>
              </a:solidFill>
              <a:ea typeface="仿宋_GB2312" pitchFamily="49" charset="-122"/>
            </a:endParaRPr>
          </a:p>
        </p:txBody>
      </p:sp>
      <p:graphicFrame>
        <p:nvGraphicFramePr>
          <p:cNvPr id="208898" name="Object 4"/>
          <p:cNvGraphicFramePr>
            <a:graphicFrameLocks noChangeAspect="1"/>
          </p:cNvGraphicFramePr>
          <p:nvPr/>
        </p:nvGraphicFramePr>
        <p:xfrm>
          <a:off x="2209800" y="2667000"/>
          <a:ext cx="4679950" cy="431800"/>
        </p:xfrm>
        <a:graphic>
          <a:graphicData uri="http://schemas.openxmlformats.org/presentationml/2006/ole">
            <mc:AlternateContent xmlns:mc="http://schemas.openxmlformats.org/markup-compatibility/2006">
              <mc:Choice xmlns:v="urn:schemas-microsoft-com:vml" Requires="v">
                <p:oleObj spid="_x0000_s3377" name="" r:id="rId1" imgW="2578100" imgH="241300" progId="Equation.DSMT4">
                  <p:embed/>
                </p:oleObj>
              </mc:Choice>
              <mc:Fallback>
                <p:oleObj name="" r:id="rId1" imgW="2578100" imgH="241300" progId="Equation.DSMT4">
                  <p:embed/>
                  <p:pic>
                    <p:nvPicPr>
                      <p:cNvPr id="0" name="图片 3376"/>
                      <p:cNvPicPr/>
                      <p:nvPr/>
                    </p:nvPicPr>
                    <p:blipFill>
                      <a:blip r:embed="rId2"/>
                      <a:stretch>
                        <a:fillRect/>
                      </a:stretch>
                    </p:blipFill>
                    <p:spPr>
                      <a:xfrm>
                        <a:off x="2209800" y="2667000"/>
                        <a:ext cx="4679950" cy="431800"/>
                      </a:xfrm>
                      <a:prstGeom prst="rect">
                        <a:avLst/>
                      </a:prstGeom>
                      <a:noFill/>
                      <a:ln w="38100">
                        <a:noFill/>
                        <a:miter/>
                      </a:ln>
                    </p:spPr>
                  </p:pic>
                </p:oleObj>
              </mc:Fallback>
            </mc:AlternateContent>
          </a:graphicData>
        </a:graphic>
      </p:graphicFrame>
      <p:sp>
        <p:nvSpPr>
          <p:cNvPr id="208899" name="Rectangle 5"/>
          <p:cNvSpPr/>
          <p:nvPr/>
        </p:nvSpPr>
        <p:spPr>
          <a:xfrm>
            <a:off x="0" y="3214688"/>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8900" name="Object 6"/>
          <p:cNvGraphicFramePr>
            <a:graphicFrameLocks noChangeAspect="1"/>
          </p:cNvGraphicFramePr>
          <p:nvPr/>
        </p:nvGraphicFramePr>
        <p:xfrm>
          <a:off x="2819400" y="3200400"/>
          <a:ext cx="1516063" cy="717550"/>
        </p:xfrm>
        <a:graphic>
          <a:graphicData uri="http://schemas.openxmlformats.org/presentationml/2006/ole">
            <mc:AlternateContent xmlns:mc="http://schemas.openxmlformats.org/markup-compatibility/2006">
              <mc:Choice xmlns:v="urn:schemas-microsoft-com:vml" Requires="v">
                <p:oleObj spid="_x0000_s3379" name="" r:id="rId3" imgW="901065" imgH="431800" progId="Equation.DSMT4">
                  <p:embed/>
                </p:oleObj>
              </mc:Choice>
              <mc:Fallback>
                <p:oleObj name="" r:id="rId3" imgW="901065" imgH="431800" progId="Equation.DSMT4">
                  <p:embed/>
                  <p:pic>
                    <p:nvPicPr>
                      <p:cNvPr id="0" name="图片 3378"/>
                      <p:cNvPicPr/>
                      <p:nvPr/>
                    </p:nvPicPr>
                    <p:blipFill>
                      <a:blip r:embed="rId4"/>
                      <a:stretch>
                        <a:fillRect/>
                      </a:stretch>
                    </p:blipFill>
                    <p:spPr>
                      <a:xfrm>
                        <a:off x="2819400" y="3200400"/>
                        <a:ext cx="1516063" cy="717550"/>
                      </a:xfrm>
                      <a:prstGeom prst="rect">
                        <a:avLst/>
                      </a:prstGeom>
                      <a:noFill/>
                      <a:ln w="38100">
                        <a:noFill/>
                        <a:miter/>
                      </a:ln>
                    </p:spPr>
                  </p:pic>
                </p:oleObj>
              </mc:Fallback>
            </mc:AlternateContent>
          </a:graphicData>
        </a:graphic>
      </p:graphicFrame>
    </p:spTree>
  </p:cSld>
  <p:clrMapOvr>
    <a:masterClrMapping/>
  </p:clrMapOvr>
  <p:transition>
    <p:zoom dir="in"/>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1" name="Rectangle 3"/>
          <p:cNvSpPr>
            <a:spLocks noGrp="1"/>
          </p:cNvSpPr>
          <p:nvPr>
            <p:ph idx="1"/>
          </p:nvPr>
        </p:nvSpPr>
        <p:spPr>
          <a:ln/>
        </p:spPr>
        <p:txBody>
          <a:bodyPr vert="horz" wrap="square" lIns="91440" tIns="45720" rIns="91440" bIns="45720" anchor="t"/>
          <a:p>
            <a:pPr eaLnBrk="1" hangingPunct="1">
              <a:lnSpc>
                <a:spcPct val="120000"/>
              </a:lnSpc>
              <a:buNone/>
            </a:pP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7</a:t>
            </a:r>
            <a:r>
              <a:rPr lang="zh-CN" altLang="en-US" sz="2000" b="1">
                <a:solidFill>
                  <a:srgbClr val="692AA2"/>
                </a:solidFill>
                <a:ea typeface="仿宋_GB2312" pitchFamily="49" charset="-122"/>
              </a:rPr>
              <a:t>） 综合评价指数</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定义水域水质综合评价指数</a:t>
            </a:r>
            <a:r>
              <a:rPr lang="en-US" altLang="zh-CN" sz="2000" b="1">
                <a:solidFill>
                  <a:srgbClr val="692AA2"/>
                </a:solidFill>
                <a:ea typeface="仿宋_GB2312" pitchFamily="49" charset="-122"/>
              </a:rPr>
              <a:t>P</a:t>
            </a:r>
            <a:r>
              <a:rPr lang="zh-CN" altLang="en-US" sz="2000" b="1">
                <a:solidFill>
                  <a:srgbClr val="692AA2"/>
                </a:solidFill>
                <a:ea typeface="仿宋_GB2312" pitchFamily="49" charset="-122"/>
              </a:rPr>
              <a:t>为各个等级水质出现的概率与等级序号相乘在求和（类似于概率论中的全概率公式），即为：</a:t>
            </a:r>
            <a:endParaRPr lang="zh-CN" altLang="en-US" sz="20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algn="r" eaLnBrk="1" hangingPunct="1">
              <a:lnSpc>
                <a:spcPct val="120000"/>
              </a:lnSpc>
              <a:buNone/>
            </a:pPr>
            <a:r>
              <a:rPr lang="zh-CN" altLang="en-US" sz="2000" b="1">
                <a:solidFill>
                  <a:srgbClr val="692AA2"/>
                </a:solidFill>
                <a:ea typeface="仿宋_GB2312" pitchFamily="49" charset="-122"/>
              </a:rPr>
              <a:t>                                 </a:t>
            </a:r>
            <a:r>
              <a:rPr lang="en-US" altLang="zh-CN" sz="2000" b="1">
                <a:solidFill>
                  <a:srgbClr val="692AA2"/>
                </a:solidFill>
                <a:ea typeface="仿宋_GB2312" pitchFamily="49" charset="-122"/>
              </a:rPr>
              <a:t>(17)</a:t>
            </a:r>
            <a:endParaRPr lang="en-US" altLang="zh-CN" sz="2000" b="1">
              <a:solidFill>
                <a:srgbClr val="692AA2"/>
              </a:solidFill>
              <a:ea typeface="仿宋_GB2312" pitchFamily="49" charset="-122"/>
            </a:endParaRPr>
          </a:p>
        </p:txBody>
      </p:sp>
      <p:sp>
        <p:nvSpPr>
          <p:cNvPr id="209922" name="Rectangle 4"/>
          <p:cNvSpPr/>
          <p:nvPr/>
        </p:nvSpPr>
        <p:spPr>
          <a:xfrm>
            <a:off x="0" y="320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09923" name="Object 5"/>
          <p:cNvGraphicFramePr>
            <a:graphicFrameLocks noChangeAspect="1"/>
          </p:cNvGraphicFramePr>
          <p:nvPr/>
        </p:nvGraphicFramePr>
        <p:xfrm>
          <a:off x="3581400" y="2819400"/>
          <a:ext cx="1219200" cy="881063"/>
        </p:xfrm>
        <a:graphic>
          <a:graphicData uri="http://schemas.openxmlformats.org/presentationml/2006/ole">
            <mc:AlternateContent xmlns:mc="http://schemas.openxmlformats.org/markup-compatibility/2006">
              <mc:Choice xmlns:v="urn:schemas-microsoft-com:vml" Requires="v">
                <p:oleObj spid="_x0000_s3382" name="" r:id="rId1" imgW="622300" imgH="444500" progId="Equation.DSMT4">
                  <p:embed/>
                </p:oleObj>
              </mc:Choice>
              <mc:Fallback>
                <p:oleObj name="" r:id="rId1" imgW="622300" imgH="444500" progId="Equation.DSMT4">
                  <p:embed/>
                  <p:pic>
                    <p:nvPicPr>
                      <p:cNvPr id="0" name="图片 3381"/>
                      <p:cNvPicPr/>
                      <p:nvPr/>
                    </p:nvPicPr>
                    <p:blipFill>
                      <a:blip r:embed="rId2"/>
                      <a:stretch>
                        <a:fillRect/>
                      </a:stretch>
                    </p:blipFill>
                    <p:spPr>
                      <a:xfrm>
                        <a:off x="3581400" y="2819400"/>
                        <a:ext cx="1219200" cy="881063"/>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5" name="Rectangle 2"/>
          <p:cNvSpPr>
            <a:spLocks noGrp="1"/>
          </p:cNvSpPr>
          <p:nvPr>
            <p:ph type="body" sz="half" idx="1"/>
          </p:nvPr>
        </p:nvSpPr>
        <p:spPr>
          <a:xfrm>
            <a:off x="457200" y="188913"/>
            <a:ext cx="8001000" cy="2209800"/>
          </a:xfrm>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3.8</a:t>
            </a:r>
            <a:r>
              <a:rPr lang="zh-CN" altLang="en-US" sz="1800" b="1">
                <a:solidFill>
                  <a:srgbClr val="692AA2"/>
                </a:solidFill>
                <a:ea typeface="仿宋_GB2312" pitchFamily="49" charset="-122"/>
              </a:rPr>
              <a:t>　模型求解</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把水质评价工作中的第二步工作所采集的监测数据代入模型，经过计算可求得结果如下表：</a:t>
            </a:r>
            <a:endParaRPr lang="zh-CN" altLang="en-US" sz="1800" b="1">
              <a:solidFill>
                <a:srgbClr val="692AA2"/>
              </a:solidFill>
              <a:ea typeface="仿宋_GB2312" pitchFamily="49" charset="-122"/>
            </a:endParaRPr>
          </a:p>
          <a:p>
            <a:pPr eaLnBrk="1" hangingPunct="1">
              <a:lnSpc>
                <a:spcPct val="120000"/>
              </a:lnSpc>
              <a:buNone/>
            </a:pPr>
            <a:endParaRPr lang="en-US" altLang="zh-CN" sz="1800" b="1">
              <a:solidFill>
                <a:srgbClr val="692AA2"/>
              </a:solidFill>
              <a:ea typeface="仿宋_GB2312" pitchFamily="49" charset="-122"/>
            </a:endParaRPr>
          </a:p>
        </p:txBody>
      </p:sp>
      <p:graphicFrame>
        <p:nvGraphicFramePr>
          <p:cNvPr id="321712" name="Group 176"/>
          <p:cNvGraphicFramePr>
            <a:graphicFrameLocks noGrp="1"/>
          </p:cNvGraphicFramePr>
          <p:nvPr>
            <p:ph sz="half" idx="2"/>
          </p:nvPr>
        </p:nvGraphicFramePr>
        <p:xfrm>
          <a:off x="395288" y="1412875"/>
          <a:ext cx="8424863" cy="4602163"/>
        </p:xfrm>
        <a:graphic>
          <a:graphicData uri="http://schemas.openxmlformats.org/drawingml/2006/table">
            <a:tbl>
              <a:tblPr/>
              <a:tblGrid>
                <a:gridCol w="1509712"/>
                <a:gridCol w="914400"/>
                <a:gridCol w="914400"/>
                <a:gridCol w="990600"/>
                <a:gridCol w="990600"/>
                <a:gridCol w="990600"/>
                <a:gridCol w="928688"/>
                <a:gridCol w="1185862"/>
              </a:tblGrid>
              <a:tr h="0">
                <a:tc>
                  <a:txBody>
                    <a:bodyPr/>
                    <a:lstStyle/>
                    <a:p>
                      <a:pPr marL="0" marR="0" lvl="0" indent="0" algn="l"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endParaRPr kumimoji="0" lang="zh-CN"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Ⅰ</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Ⅱ</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Ⅲ</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Ⅳ</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Ⅴ</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ⅤⅠ</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综合评价指数</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四川攀枝花</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0.8404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0.0986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0.0555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0.0055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1.2261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重庆朱沱</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0.7404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0.2459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0.0137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1.2737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湖北宜昌南津关</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0.7087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0.2663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0.0250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1.3163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湖南岳阳城陵矶</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0.4840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0.4662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0.0499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1.5659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江西九江河西水厂</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0.8136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0.1864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1.1864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97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安徽安庆皖河口</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0.7220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0.2715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0.0065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1.2845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江苏南京林山</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0.7680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0.2306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0.0014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1.2335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四川乐山岷江大桥</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0.1592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0.3774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0.2658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0.1420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0.0556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2.5573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四川宜宾凉姜沟</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0.7039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0.2021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0.04186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0.0287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0.0234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1.4657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四川泸州沱江二桥</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0.5027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0.2759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0.1288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0.0416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0.0510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0.0492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2.1575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湖北丹江口胡家岭</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0.9876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0.0124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1.0124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湖南长沙新港</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0.3080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0.2995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0.2908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0.1018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2.1864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湖南岳阳岳阳楼</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0.4267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0.4203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0.1441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0.0090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1.7355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97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湖北武汉宗关</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0.5857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0.3627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0.0485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0.0030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1.4688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江西南昌滁槎</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0.1758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0.1299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0.2678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0.1164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0.3102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0.3051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5.0859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江西九江蛤蟆石</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0.5753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0.3152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0.0836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0.0259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1.5601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江苏扬州三江营</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0.5827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0.3664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0.0486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0.0023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1.4706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zoom/>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69"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结果分析：由上表可以发现，长江流域干流上监测站点水质都在第一等级和第二等级之间，水质情况较好。长江流域支流上部分监测点水质处于第一等级和第二等级之间，水质情况较好；部分监测点（四川乐山岷江大桥、四川泸州沱江二桥</a:t>
            </a:r>
            <a:r>
              <a:rPr lang="zh-CN" altLang="en-US" sz="1800" b="1">
                <a:solidFill>
                  <a:srgbClr val="692AA2"/>
                </a:solidFill>
                <a:latin typeface="宋体" panose="02010600030101010101" pitchFamily="2" charset="-122"/>
                <a:ea typeface="仿宋_GB2312" pitchFamily="49" charset="-122"/>
              </a:rPr>
              <a:t> </a:t>
            </a:r>
            <a:r>
              <a:rPr lang="zh-CN" altLang="en-US" sz="1800" b="1">
                <a:solidFill>
                  <a:srgbClr val="692AA2"/>
                </a:solidFill>
                <a:ea typeface="仿宋_GB2312" pitchFamily="49" charset="-122"/>
              </a:rPr>
              <a:t>和湖南长沙新港）</a:t>
            </a:r>
            <a:r>
              <a:rPr lang="zh-CN" altLang="en-US" sz="1800" b="1">
                <a:solidFill>
                  <a:srgbClr val="692AA2"/>
                </a:solidFill>
                <a:latin typeface="宋体" panose="02010600030101010101" pitchFamily="2" charset="-122"/>
                <a:ea typeface="仿宋_GB2312" pitchFamily="49" charset="-122"/>
              </a:rPr>
              <a:t> </a:t>
            </a:r>
            <a:r>
              <a:rPr lang="zh-CN" altLang="en-US" sz="1800" b="1">
                <a:solidFill>
                  <a:srgbClr val="692AA2"/>
                </a:solidFill>
                <a:ea typeface="仿宋_GB2312" pitchFamily="49" charset="-122"/>
              </a:rPr>
              <a:t>处于第二与第三等级之间，水质受到轻度污染；但在监测站江西南昌滁槎（赣江）水质处于劣五级，污染十分严重。通过查阅资料发现</a:t>
            </a:r>
            <a:r>
              <a:rPr lang="zh-CN" altLang="en-US" sz="1800" b="1">
                <a:solidFill>
                  <a:srgbClr val="692AA2"/>
                </a:solidFill>
                <a:latin typeface="宋体" panose="02010600030101010101" pitchFamily="2" charset="-122"/>
                <a:ea typeface="仿宋_GB2312" pitchFamily="49" charset="-122"/>
              </a:rPr>
              <a:t> </a:t>
            </a:r>
            <a:r>
              <a:rPr lang="zh-CN" altLang="en-US" sz="1800" b="1">
                <a:solidFill>
                  <a:srgbClr val="692AA2"/>
                </a:solidFill>
                <a:ea typeface="仿宋_GB2312" pitchFamily="49" charset="-122"/>
              </a:rPr>
              <a:t>：由于目前赣江的主要流经城市南昌市内大量工业废水和生活废水不经处理就排入江内，造成氨氮、粪大肠菌群浓度过高，而南昌市只建有一个日处理污水能力</a:t>
            </a:r>
            <a:r>
              <a:rPr lang="en-US" altLang="zh-CN" sz="1800" b="1">
                <a:solidFill>
                  <a:srgbClr val="692AA2"/>
                </a:solidFill>
                <a:ea typeface="仿宋_GB2312" pitchFamily="49" charset="-122"/>
              </a:rPr>
              <a:t>8</a:t>
            </a:r>
            <a:r>
              <a:rPr lang="zh-CN" altLang="en-US" sz="1800" b="1">
                <a:solidFill>
                  <a:srgbClr val="692AA2"/>
                </a:solidFill>
                <a:ea typeface="仿宋_GB2312" pitchFamily="49" charset="-122"/>
              </a:rPr>
              <a:t>万吨的朝阳污水处理厂，但对于目前市内每日</a:t>
            </a:r>
            <a:r>
              <a:rPr lang="en-US" altLang="zh-CN" sz="1800" b="1">
                <a:solidFill>
                  <a:srgbClr val="692AA2"/>
                </a:solidFill>
                <a:ea typeface="仿宋_GB2312" pitchFamily="49" charset="-122"/>
              </a:rPr>
              <a:t>100</a:t>
            </a:r>
            <a:r>
              <a:rPr lang="zh-CN" altLang="en-US" sz="1800" b="1">
                <a:solidFill>
                  <a:srgbClr val="692AA2"/>
                </a:solidFill>
                <a:ea typeface="仿宋_GB2312" pitchFamily="49" charset="-122"/>
              </a:rPr>
              <a:t>万吨的污水排放量，城市处理污水能力远远跟不上工业的的发展，造成现在赣江的水体质量严重超标，达到重度污染级，这里是改善长江水质的重点处理区之一。</a:t>
            </a:r>
            <a:endParaRPr lang="zh-CN" altLang="en-US" sz="1800" b="1">
              <a:solidFill>
                <a:srgbClr val="692AA2"/>
              </a:solidFill>
              <a:ea typeface="仿宋_GB2312" pitchFamily="49" charset="-122"/>
            </a:endParaRPr>
          </a:p>
        </p:txBody>
      </p:sp>
    </p:spTree>
  </p:cSld>
  <p:clrMapOvr>
    <a:masterClrMapping/>
  </p:clrMapOvr>
  <p:transition>
    <p:checke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3"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总的说来，长江流域（干流及支流）的大部分水质情况还是比较理想的，但是个别地区污染比较严重，不容忽视。</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河流的水质污染程度随径污比变化。河流的径流量和排入河流的污水、污物量决定了径污比。排污量相同，河流的径流量大则污染轻，反之就重。河流的径流量随时间变化，因此河水污染程度也随时间变化。这点在模型求解过程中没有考虑到，将在下面的模型的进一步求解中给出。</a:t>
            </a:r>
            <a:endParaRPr lang="zh-CN" altLang="en-US" sz="1800" b="1">
              <a:solidFill>
                <a:srgbClr val="692AA2"/>
              </a:solidFill>
              <a:ea typeface="仿宋_GB2312" pitchFamily="49" charset="-122"/>
            </a:endParaRPr>
          </a:p>
        </p:txBody>
      </p:sp>
    </p:spTree>
  </p:cSld>
  <p:clrMapOvr>
    <a:masterClrMapping/>
  </p:clrMapOvr>
  <p:transition>
    <p:checke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7" name="Rectangle 2"/>
          <p:cNvSpPr>
            <a:spLocks noGrp="1"/>
          </p:cNvSpPr>
          <p:nvPr>
            <p:ph type="title"/>
          </p:nvPr>
        </p:nvSpPr>
        <p:spPr>
          <a:ln/>
        </p:spPr>
        <p:txBody>
          <a:bodyPr vert="horz" wrap="square" lIns="91440" tIns="45720" rIns="91440" bIns="45720" anchor="b"/>
          <a:p>
            <a:pPr eaLnBrk="1" hangingPunct="1"/>
            <a:r>
              <a:rPr lang="en-US" altLang="zh-CN" sz="2800"/>
              <a:t> </a:t>
            </a:r>
            <a:endParaRPr lang="en-US" altLang="zh-CN" sz="2800"/>
          </a:p>
        </p:txBody>
      </p:sp>
      <p:sp>
        <p:nvSpPr>
          <p:cNvPr id="214018"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39</a:t>
            </a:r>
            <a:r>
              <a:rPr lang="zh-CN" altLang="en-US" sz="2000" b="1">
                <a:solidFill>
                  <a:srgbClr val="692AA2"/>
                </a:solidFill>
                <a:ea typeface="仿宋_GB2312" pitchFamily="49" charset="-122"/>
              </a:rPr>
              <a:t>　模型的进一步求解：</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a:t>
            </a:r>
            <a:r>
              <a:rPr lang="en-US" altLang="zh-CN" sz="2000" b="1">
                <a:solidFill>
                  <a:srgbClr val="692AA2"/>
                </a:solidFill>
                <a:ea typeface="仿宋_GB2312" pitchFamily="49" charset="-122"/>
              </a:rPr>
              <a:t>1</a:t>
            </a:r>
            <a:r>
              <a:rPr lang="zh-CN" altLang="en-US" sz="2000" b="1">
                <a:solidFill>
                  <a:srgbClr val="692AA2"/>
                </a:solidFill>
                <a:ea typeface="仿宋_GB2312" pitchFamily="49" charset="-122"/>
              </a:rPr>
              <a:t>）时间的分段处理</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现在先对时间进行分段处理，即分为丰水期（</a:t>
            </a:r>
            <a:r>
              <a:rPr lang="en-US" altLang="zh-CN" sz="2000" b="1">
                <a:solidFill>
                  <a:srgbClr val="692AA2"/>
                </a:solidFill>
                <a:ea typeface="仿宋_GB2312" pitchFamily="49" charset="-122"/>
              </a:rPr>
              <a:t>5</a:t>
            </a:r>
            <a:r>
              <a:rPr lang="zh-CN" altLang="en-US" sz="2000" b="1">
                <a:solidFill>
                  <a:srgbClr val="692AA2"/>
                </a:solidFill>
                <a:ea typeface="仿宋_GB2312" pitchFamily="49" charset="-122"/>
              </a:rPr>
              <a:t>月到</a:t>
            </a:r>
            <a:r>
              <a:rPr lang="en-US" altLang="zh-CN" sz="2000" b="1">
                <a:solidFill>
                  <a:srgbClr val="692AA2"/>
                </a:solidFill>
                <a:ea typeface="仿宋_GB2312" pitchFamily="49" charset="-122"/>
              </a:rPr>
              <a:t>10</a:t>
            </a:r>
            <a:r>
              <a:rPr lang="zh-CN" altLang="en-US" sz="2000" b="1">
                <a:solidFill>
                  <a:srgbClr val="692AA2"/>
                </a:solidFill>
                <a:ea typeface="仿宋_GB2312" pitchFamily="49" charset="-122"/>
              </a:rPr>
              <a:t>月）、枯水期（</a:t>
            </a:r>
            <a:r>
              <a:rPr lang="en-US" altLang="zh-CN" sz="2000" b="1">
                <a:solidFill>
                  <a:srgbClr val="692AA2"/>
                </a:solidFill>
                <a:ea typeface="仿宋_GB2312" pitchFamily="49" charset="-122"/>
              </a:rPr>
              <a:t>1</a:t>
            </a:r>
            <a:r>
              <a:rPr lang="zh-CN" altLang="en-US" sz="2000" b="1">
                <a:solidFill>
                  <a:srgbClr val="692AA2"/>
                </a:solidFill>
                <a:ea typeface="仿宋_GB2312" pitchFamily="49" charset="-122"/>
              </a:rPr>
              <a:t>月到</a:t>
            </a:r>
            <a:r>
              <a:rPr lang="en-US" altLang="zh-CN" sz="2000" b="1">
                <a:solidFill>
                  <a:srgbClr val="692AA2"/>
                </a:solidFill>
                <a:ea typeface="仿宋_GB2312" pitchFamily="49" charset="-122"/>
              </a:rPr>
              <a:t>4</a:t>
            </a:r>
            <a:r>
              <a:rPr lang="zh-CN" altLang="en-US" sz="2000" b="1">
                <a:solidFill>
                  <a:srgbClr val="692AA2"/>
                </a:solidFill>
                <a:ea typeface="仿宋_GB2312" pitchFamily="49" charset="-122"/>
              </a:rPr>
              <a:t>月）和平水期（</a:t>
            </a:r>
            <a:r>
              <a:rPr lang="en-US" altLang="zh-CN" sz="2000" b="1">
                <a:solidFill>
                  <a:srgbClr val="692AA2"/>
                </a:solidFill>
                <a:ea typeface="仿宋_GB2312" pitchFamily="49" charset="-122"/>
              </a:rPr>
              <a:t>11</a:t>
            </a:r>
            <a:r>
              <a:rPr lang="zh-CN" altLang="en-US" sz="2000" b="1">
                <a:solidFill>
                  <a:srgbClr val="692AA2"/>
                </a:solidFill>
                <a:ea typeface="仿宋_GB2312" pitchFamily="49" charset="-122"/>
              </a:rPr>
              <a:t>月到</a:t>
            </a:r>
            <a:r>
              <a:rPr lang="en-US" altLang="zh-CN" sz="2000" b="1">
                <a:solidFill>
                  <a:srgbClr val="692AA2"/>
                </a:solidFill>
                <a:ea typeface="仿宋_GB2312" pitchFamily="49" charset="-122"/>
              </a:rPr>
              <a:t>12</a:t>
            </a:r>
            <a:r>
              <a:rPr lang="zh-CN" altLang="en-US" sz="2000" b="1">
                <a:solidFill>
                  <a:srgbClr val="692AA2"/>
                </a:solidFill>
                <a:ea typeface="仿宋_GB2312" pitchFamily="49" charset="-122"/>
              </a:rPr>
              <a:t>月）三个时期。然后对各个时期的监测数据进行模糊概率综合评价，计算得到的结果如下表： </a:t>
            </a:r>
            <a:endParaRPr lang="zh-CN" altLang="en-US" sz="2000" b="1">
              <a:solidFill>
                <a:srgbClr val="692AA2"/>
              </a:solidFill>
              <a:ea typeface="仿宋_GB2312" pitchFamily="49" charset="-122"/>
            </a:endParaRPr>
          </a:p>
        </p:txBody>
      </p:sp>
    </p:spTree>
  </p:cSld>
  <p:clrMapOvr>
    <a:masterClrMapping/>
  </p:clrMapOvr>
  <p:transition>
    <p:checker dir="vert"/>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1" name="Rectangle 2"/>
          <p:cNvSpPr>
            <a:spLocks noGrp="1"/>
          </p:cNvSpPr>
          <p:nvPr>
            <p:ph type="body" sz="half" idx="1"/>
          </p:nvPr>
        </p:nvSpPr>
        <p:spPr>
          <a:xfrm>
            <a:off x="762000" y="685800"/>
            <a:ext cx="8382000" cy="762000"/>
          </a:xfrm>
          <a:ln/>
        </p:spPr>
        <p:txBody>
          <a:bodyPr vert="horz" wrap="square" lIns="91440" tIns="45720" rIns="91440" bIns="45720" anchor="t"/>
          <a:p>
            <a:pPr eaLnBrk="1" hangingPunct="1">
              <a:lnSpc>
                <a:spcPct val="120000"/>
              </a:lnSpc>
              <a:buNone/>
            </a:pPr>
            <a:r>
              <a:rPr lang="zh-CN" altLang="en-US" sz="1800" b="1">
                <a:solidFill>
                  <a:srgbClr val="692AA2"/>
                </a:solidFill>
                <a:ea typeface="仿宋_GB2312" pitchFamily="49" charset="-122"/>
              </a:rPr>
              <a:t>表</a:t>
            </a:r>
            <a:r>
              <a:rPr lang="en-US" altLang="zh-CN" sz="1800" b="1">
                <a:solidFill>
                  <a:srgbClr val="692AA2"/>
                </a:solidFill>
                <a:ea typeface="仿宋_GB2312" pitchFamily="49" charset="-122"/>
              </a:rPr>
              <a:t>2  </a:t>
            </a:r>
            <a:r>
              <a:rPr lang="zh-CN" altLang="en-US" sz="1800" b="1">
                <a:solidFill>
                  <a:srgbClr val="692AA2"/>
                </a:solidFill>
                <a:ea typeface="仿宋_GB2312" pitchFamily="49" charset="-122"/>
              </a:rPr>
              <a:t>各监测点各时期污染等级分布 </a:t>
            </a:r>
            <a:endParaRPr lang="zh-CN" altLang="en-US" sz="1800" b="1">
              <a:solidFill>
                <a:srgbClr val="692AA2"/>
              </a:solidFill>
              <a:ea typeface="仿宋_GB2312" pitchFamily="49" charset="-122"/>
            </a:endParaRPr>
          </a:p>
        </p:txBody>
      </p:sp>
      <p:graphicFrame>
        <p:nvGraphicFramePr>
          <p:cNvPr id="325635" name="Group 3"/>
          <p:cNvGraphicFramePr>
            <a:graphicFrameLocks noGrp="1"/>
          </p:cNvGraphicFramePr>
          <p:nvPr>
            <p:ph sz="half" idx="2"/>
          </p:nvPr>
        </p:nvGraphicFramePr>
        <p:xfrm>
          <a:off x="609600" y="1600200"/>
          <a:ext cx="7620000" cy="4937125"/>
        </p:xfrm>
        <a:graphic>
          <a:graphicData uri="http://schemas.openxmlformats.org/drawingml/2006/table">
            <a:tbl>
              <a:tblPr/>
              <a:tblGrid>
                <a:gridCol w="2379663"/>
                <a:gridCol w="1311275"/>
                <a:gridCol w="1311275"/>
                <a:gridCol w="1311275"/>
                <a:gridCol w="1306512"/>
              </a:tblGrid>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监测点</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丰水期</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平水期</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枯水期</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水文年</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367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四川攀枝花</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1.3218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1.0559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1.1971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1.2261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重庆朱沱</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1.1739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1.3572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1.5102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1.2737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367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湖北宜昌南津关</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1.4482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1.1248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1.1901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1.3163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湖南岳阳城陵矶</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1.5685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1.5178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1.6029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1.5659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367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江西九江河西水厂</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1.2422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1.106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1.1438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1.1864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安徽安庆皖河口</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1.3767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1.1524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1.1972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1.2845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江苏南京林山</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1.3846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1.168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1.124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1.2335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四川乐山岷江大桥</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2.2179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2.3715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3.4049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2.5573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367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四川宜宾凉姜沟</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1.2883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1.7812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1.9645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1.4657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四川泸州沱江二桥</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1.6673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1.8294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3.8049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2.1575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湖北丹江口胡家岭</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1.0164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1.0217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1.0021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1.0124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367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湖南长沙新港</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2.0002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2.6642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2.43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2.1864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湖南岳阳岳阳楼</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1.6613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1.7074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1.9298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1.7355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湖北武汉宗关</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1.5723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1.519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1.3145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1.4688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江西南昌滁槎</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4.2858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7.433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5.6331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5.0859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367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江西九江蛤蟆石</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1.3538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2.4318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1.6669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1.5601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526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江苏扬州三江营</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1.6588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1.2878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1.2629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1.4706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hecker dir="vert"/>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5" name="Rectangle 2"/>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结果分析：由表</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可以发现，三个时期（丰水期、平水期和枯水期）各监测站的污染等级分布与前面模型求解得到的全年的综合评价等级基本一致，三个时期之间的等级分布也基本相同，说明该河流的水质情况不会随季节发生非常显著性的变化。当是还是存在一定的变化， </a:t>
            </a:r>
            <a:r>
              <a:rPr lang="en-US" altLang="zh-CN" sz="1800" b="1">
                <a:solidFill>
                  <a:srgbClr val="692AA2"/>
                </a:solidFill>
                <a:ea typeface="仿宋_GB2312" pitchFamily="49" charset="-122"/>
              </a:rPr>
              <a:t>17</a:t>
            </a:r>
            <a:r>
              <a:rPr lang="zh-CN" altLang="en-US" sz="1800" b="1">
                <a:solidFill>
                  <a:srgbClr val="692AA2"/>
                </a:solidFill>
                <a:ea typeface="仿宋_GB2312" pitchFamily="49" charset="-122"/>
              </a:rPr>
              <a:t>个监测站大致的可以分为丰水期污染程度小于枯水期的污染程度和丰水期污染程度大于枯水期的污染程度两个类别：</a:t>
            </a:r>
            <a:endParaRPr lang="zh-CN" altLang="en-US" sz="1800" b="1">
              <a:solidFill>
                <a:srgbClr val="692AA2"/>
              </a:solidFill>
              <a:ea typeface="仿宋_GB2312" pitchFamily="49" charset="-122"/>
            </a:endParaRPr>
          </a:p>
        </p:txBody>
      </p:sp>
    </p:spTree>
  </p:cSld>
  <p:clrMapOvr>
    <a:masterClrMapping/>
  </p:clrMapOvr>
  <p:transition>
    <p:checke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89" name="Rectangle 2"/>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、丰水期污染</a:t>
            </a:r>
            <a:r>
              <a:rPr lang="en-US" altLang="zh-CN" sz="1800" b="1">
                <a:solidFill>
                  <a:srgbClr val="692AA2"/>
                </a:solidFill>
                <a:ea typeface="仿宋_GB2312" pitchFamily="49" charset="-122"/>
              </a:rPr>
              <a:t>&lt;</a:t>
            </a:r>
            <a:r>
              <a:rPr lang="zh-CN" altLang="en-US" sz="1800" b="1">
                <a:solidFill>
                  <a:srgbClr val="692AA2"/>
                </a:solidFill>
                <a:ea typeface="仿宋_GB2312" pitchFamily="49" charset="-122"/>
              </a:rPr>
              <a:t>枯水期污染</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原因：丰水期河流的径流量比枯水期大，如果排污量不变，则河流的丰水期污染少于枯水期污染。</a:t>
            </a:r>
            <a:endParaRPr lang="zh-CN" altLang="en-US" sz="1800" b="1">
              <a:solidFill>
                <a:srgbClr val="692AA2"/>
              </a:solidFill>
              <a:ea typeface="仿宋_GB2312" pitchFamily="49" charset="-122"/>
            </a:endParaRPr>
          </a:p>
          <a:p>
            <a:pPr eaLnBrk="1" hangingPunct="1">
              <a:lnSpc>
                <a:spcPct val="120000"/>
              </a:lnSpc>
              <a:buNone/>
            </a:pP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、丰水期污染</a:t>
            </a:r>
            <a:r>
              <a:rPr lang="en-US" altLang="zh-CN" sz="1800" b="1">
                <a:solidFill>
                  <a:srgbClr val="692AA2"/>
                </a:solidFill>
                <a:ea typeface="仿宋_GB2312" pitchFamily="49" charset="-122"/>
              </a:rPr>
              <a:t>&gt;</a:t>
            </a:r>
            <a:r>
              <a:rPr lang="zh-CN" altLang="en-US" sz="1800" b="1">
                <a:solidFill>
                  <a:srgbClr val="692AA2"/>
                </a:solidFill>
                <a:ea typeface="仿宋_GB2312" pitchFamily="49" charset="-122"/>
              </a:rPr>
              <a:t>枯水期污染</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原因：丰水期雨量充足，水流量大，容易从上游或河流周边地区带来大量污染物而污染下游水质，如果这个负面作用过强就会超过因径流量大而使径污比减少的正面作用，因此丰水期污染反而更加严重。特别是如果雨量过大在河流流经地区发生洪涝灾害，则污染将更加严重。 </a:t>
            </a:r>
            <a:endParaRPr lang="zh-CN" altLang="en-US" sz="1800" b="1">
              <a:solidFill>
                <a:srgbClr val="692AA2"/>
              </a:solidFill>
              <a:ea typeface="仿宋_GB2312" pitchFamily="49" charset="-122"/>
            </a:endParaRPr>
          </a:p>
        </p:txBody>
      </p:sp>
    </p:spTree>
  </p:cSld>
  <p:clrMapOvr>
    <a:masterClrMapping/>
  </p:clrMapOvr>
  <p:transition>
    <p:checker dir="vert"/>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3" name="Rectangle 3"/>
          <p:cNvSpPr>
            <a:spLocks noGrp="1"/>
          </p:cNvSpPr>
          <p:nvPr>
            <p:ph idx="1"/>
          </p:nvPr>
        </p:nvSpPr>
        <p:spPr>
          <a:xfrm>
            <a:off x="566738" y="1341438"/>
            <a:ext cx="8001000" cy="4933950"/>
          </a:xfrm>
          <a:ln/>
        </p:spPr>
        <p:txBody>
          <a:bodyPr vert="horz" wrap="square" lIns="91440" tIns="45720" rIns="91440" bIns="45720" anchor="t"/>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）污染范围与污染历时评价</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全面的水质状况，本来应从三个方面来评定：第一是污染强度，即各种污染物在水体中的浓度；第二是污染范围，即在水域中各种污染物所影响的空间大小；第三是污染历时，即各种污染物在水域中污染所持续的时间。</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上面只对污染强度一个方面进行了评价，其实模糊概率综合模型也可以容易地得到另外两个方面的评价。下面举例来说明用模糊概率综合模型是如何来评价污染物的污染范围的（对污染历时的评价也类似可得）。 </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以污染物</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为例来对其污染范围进行评价：</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用单指标模糊概率评价法对长江流域</a:t>
            </a:r>
            <a:r>
              <a:rPr lang="en-US" altLang="zh-CN" sz="1800" b="1">
                <a:solidFill>
                  <a:srgbClr val="692AA2"/>
                </a:solidFill>
                <a:ea typeface="仿宋_GB2312" pitchFamily="49" charset="-122"/>
              </a:rPr>
              <a:t>17</a:t>
            </a:r>
            <a:r>
              <a:rPr lang="zh-CN" altLang="en-US" sz="1800" b="1">
                <a:solidFill>
                  <a:srgbClr val="692AA2"/>
                </a:solidFill>
                <a:ea typeface="仿宋_GB2312" pitchFamily="49" charset="-122"/>
              </a:rPr>
              <a:t>个观测站的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污染状况进行评价，结果如下表： </a:t>
            </a:r>
            <a:endParaRPr lang="zh-CN" altLang="en-US" sz="1800" b="1">
              <a:solidFill>
                <a:srgbClr val="692AA2"/>
              </a:solidFill>
              <a:ea typeface="仿宋_GB2312" pitchFamily="49" charset="-122"/>
            </a:endParaRPr>
          </a:p>
        </p:txBody>
      </p:sp>
    </p:spTree>
  </p:cSld>
  <p:clrMapOvr>
    <a:masterClrMapping/>
  </p:clrMapOvr>
  <p:transition>
    <p:blinds dir="vert"/>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7" name="Rectangle 2"/>
          <p:cNvSpPr>
            <a:spLocks noGrp="1"/>
          </p:cNvSpPr>
          <p:nvPr>
            <p:ph type="title"/>
          </p:nvPr>
        </p:nvSpPr>
        <p:spPr>
          <a:xfrm>
            <a:off x="574675" y="635000"/>
            <a:ext cx="8001000" cy="203200"/>
          </a:xfrm>
          <a:ln/>
        </p:spPr>
        <p:txBody>
          <a:bodyPr vert="horz" wrap="square" lIns="91440" tIns="45720" rIns="91440" bIns="45720" anchor="b"/>
          <a:p>
            <a:pPr eaLnBrk="1" hangingPunct="1"/>
            <a:r>
              <a:rPr lang="zh-CN" altLang="en-US" sz="1400" b="1">
                <a:solidFill>
                  <a:srgbClr val="692AA2"/>
                </a:solidFill>
                <a:ea typeface="仿宋_GB2312" pitchFamily="49" charset="-122"/>
              </a:rPr>
              <a:t>表</a:t>
            </a:r>
            <a:r>
              <a:rPr lang="en-US" altLang="zh-CN" sz="1400" b="1">
                <a:solidFill>
                  <a:srgbClr val="692AA2"/>
                </a:solidFill>
                <a:ea typeface="仿宋_GB2312" pitchFamily="49" charset="-122"/>
              </a:rPr>
              <a:t>3 </a:t>
            </a:r>
            <a:r>
              <a:rPr lang="zh-CN" altLang="en-US" sz="1400" b="1">
                <a:solidFill>
                  <a:srgbClr val="692AA2"/>
                </a:solidFill>
                <a:ea typeface="仿宋_GB2312" pitchFamily="49" charset="-122"/>
              </a:rPr>
              <a:t>各监测点</a:t>
            </a:r>
            <a:r>
              <a:rPr lang="en-US" altLang="zh-CN" sz="1400" b="1">
                <a:solidFill>
                  <a:srgbClr val="692AA2"/>
                </a:solidFill>
                <a:ea typeface="仿宋_GB2312" pitchFamily="49" charset="-122"/>
              </a:rPr>
              <a:t>CODMn</a:t>
            </a:r>
            <a:r>
              <a:rPr lang="zh-CN" altLang="en-US" sz="1400" b="1">
                <a:solidFill>
                  <a:srgbClr val="692AA2"/>
                </a:solidFill>
                <a:ea typeface="仿宋_GB2312" pitchFamily="49" charset="-122"/>
              </a:rPr>
              <a:t>污染状况</a:t>
            </a:r>
            <a:r>
              <a:rPr lang="zh-CN" altLang="en-US" sz="2800"/>
              <a:t> </a:t>
            </a:r>
            <a:endParaRPr lang="zh-CN" altLang="en-US" sz="2800"/>
          </a:p>
        </p:txBody>
      </p:sp>
      <p:graphicFrame>
        <p:nvGraphicFramePr>
          <p:cNvPr id="329731" name="Group 3"/>
          <p:cNvGraphicFramePr>
            <a:graphicFrameLocks noGrp="1"/>
          </p:cNvGraphicFramePr>
          <p:nvPr>
            <p:ph idx="1"/>
          </p:nvPr>
        </p:nvGraphicFramePr>
        <p:xfrm>
          <a:off x="457200" y="1828800"/>
          <a:ext cx="8229600" cy="4602163"/>
        </p:xfrm>
        <a:graphic>
          <a:graphicData uri="http://schemas.openxmlformats.org/drawingml/2006/table">
            <a:tbl>
              <a:tblPr/>
              <a:tblGrid>
                <a:gridCol w="1814513"/>
                <a:gridCol w="903287"/>
                <a:gridCol w="854075"/>
                <a:gridCol w="855663"/>
                <a:gridCol w="854075"/>
                <a:gridCol w="854075"/>
                <a:gridCol w="1047750"/>
                <a:gridCol w="1046162"/>
              </a:tblGrid>
              <a:tr h="244475">
                <a:tc>
                  <a:txBody>
                    <a:bodyPr/>
                    <a:lstStyle/>
                    <a:p>
                      <a:pPr marL="0" marR="0" lvl="0" indent="0" algn="l"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endParaRPr kumimoji="0" lang="zh-CN" altLang="zh-CN" sz="2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Ⅰ</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Ⅱ</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Ⅲ</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Ⅳ</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Ⅴ</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0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ⅤⅠ</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综合等级</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四川攀枝花</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0.6804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0.2179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0.1009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1.4223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重庆朱沱</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0.8250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0.1679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0.0071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1.1821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湖北宜昌南津关</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0.5946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0.3518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0.0536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1.4589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湖南岳阳城陵矶</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0.2232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0.6607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0.1161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1.8929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江西九江河西水厂</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0.7732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0.2268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1.2268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97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安徽安庆皖河口</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0.7018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0.2804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0.0179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1.3161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江苏南京林山</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0.8500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0.1500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四川乐山岷江大桥</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0.1536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0.4179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0.2554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0.1732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2.4482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四川宜宾凉姜沟</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0.6411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0.3125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0.0286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0.0179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1.4232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四川泸州沱江二桥</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0.4339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0.4071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0.1536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0.0054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1.7304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湖北丹江口胡家岭</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0.975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1.025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湖南长沙新港</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0.71796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0.2411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0.0411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1.3232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湖南岳阳岳阳楼</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0.2179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0.4982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0.2634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0.0205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2.0866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97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湖北武汉宗关</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0.3929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0.5518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0.0554</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1.6625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江西南昌滁槎</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0.7643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0.15</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0.0491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0.0366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1.358</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江西九江蛤蟆石</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0.4643</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0.3071</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0.1696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0.0589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1.8232</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江苏扬州三江营</a:t>
                      </a:r>
                      <a:endParaRPr kumimoji="0" lang="zh-CN" altLang="en-US"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0.5179</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0.4036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0.0786</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0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1.5607</a:t>
                      </a:r>
                      <a:endParaRPr kumimoji="0" lang="en-US" altLang="zh-CN" sz="18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blinds dir="vert"/>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1"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结果分析：由上表可以发现，长江中下游流域的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污染主要分布在四川岷江上游（与大渡河汇合前）、湖南洞庭湖和江西鄱阳湖地区。由于岷江上游距长江干流较远，所以它对长江干流的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污染影响较小，而洞庭湖和鄱阳湖都与长江相接，它们的污染直接影响到长江干流的污染，例如湖南岳阳城陵矶的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污染就比较严重。</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因此，总的来讲，长江干流的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污染范围不是很大，主要是分布在长江与洞庭湖、鄱阳湖相接的河段及其附近河段。 </a:t>
            </a:r>
            <a:endParaRPr lang="zh-CN" altLang="en-US" sz="1800" b="1">
              <a:solidFill>
                <a:srgbClr val="692AA2"/>
              </a:solidFill>
              <a:ea typeface="仿宋_GB2312" pitchFamily="49" charset="-122"/>
            </a:endParaRPr>
          </a:p>
        </p:txBody>
      </p:sp>
    </p:spTree>
  </p:cSld>
  <p:clrMapOvr>
    <a:masterClrMapping/>
  </p:clrMapOvr>
  <p:transition>
    <p:blinds/>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5"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3.10 </a:t>
            </a:r>
            <a:r>
              <a:rPr lang="zh-CN" altLang="en-US" sz="2000" b="1">
                <a:solidFill>
                  <a:srgbClr val="692AA2"/>
                </a:solidFill>
                <a:ea typeface="仿宋_GB2312" pitchFamily="49" charset="-122"/>
              </a:rPr>
              <a:t>模型的优点</a:t>
            </a:r>
            <a:endParaRPr lang="zh-CN" altLang="en-US" sz="20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）把水污染监测浓度看成一个离散的随机变量，用概率统计方法进行统计，可以反映出其污染强度在时间上的分布规律，既可以推求某种污染强度出现的概率，又可以建立某种等级水体保证率的概念。</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）用隶属度描述水质分界界限，注意到了实际上界限的模糊性，使评价结果更接近实际。</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）从指标评价的基本单元出发，根据各项参数在总体中的作用给予不同的权重，避免了人为确定的任意性。</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）在综合评价中采用模糊逻辑推理的方法，避免了主观判断的不足，使得评价结果更接近了客观实际。 </a:t>
            </a:r>
            <a:endParaRPr lang="zh-CN" altLang="en-US" sz="1800" b="1">
              <a:solidFill>
                <a:srgbClr val="692AA2"/>
              </a:solidFill>
              <a:ea typeface="仿宋_GB2312" pitchFamily="49" charset="-122"/>
            </a:endParaRPr>
          </a:p>
        </p:txBody>
      </p:sp>
    </p:spTree>
  </p:cSld>
  <p:clrMapOvr>
    <a:masterClrMapping/>
  </p:clrMapOvr>
  <p:transition>
    <p:zoom/>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09" name="Rectangle 3"/>
          <p:cNvSpPr>
            <a:spLocks noGrp="1"/>
          </p:cNvSpPr>
          <p:nvPr>
            <p:ph idx="1"/>
          </p:nvPr>
        </p:nvSpPr>
        <p:spPr>
          <a:ln/>
        </p:spPr>
        <p:txBody>
          <a:bodyPr vert="horz" wrap="square" lIns="91440" tIns="45720" rIns="91440" bIns="45720" anchor="t"/>
          <a:p>
            <a:pPr eaLnBrk="1" hangingPunct="1">
              <a:lnSpc>
                <a:spcPct val="120000"/>
              </a:lnSpc>
              <a:buNone/>
            </a:pPr>
            <a:r>
              <a:rPr lang="zh-CN" altLang="en-US" sz="2000" b="1">
                <a:solidFill>
                  <a:srgbClr val="692AA2"/>
                </a:solidFill>
                <a:ea typeface="仿宋_GB2312" pitchFamily="49" charset="-122"/>
              </a:rPr>
              <a:t>评价结论的有效性</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水质评价工作的最后一步是对评价结论的有效性进行分析。</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经过查找资料，了解到四川岷江、湘江与赣江最近几年的污染都比较严重，而长江下游（南京、江苏地区）的污染较轻。这与模型求解得到的结论相符合，初略地验证了模型的评价结论的有效性。</a:t>
            </a:r>
            <a:endParaRPr lang="zh-CN" altLang="en-US" sz="2000" b="1">
              <a:solidFill>
                <a:srgbClr val="692AA2"/>
              </a:solidFill>
              <a:ea typeface="仿宋_GB2312" pitchFamily="49" charset="-122"/>
            </a:endParaRPr>
          </a:p>
        </p:txBody>
      </p:sp>
    </p:spTree>
  </p:cSld>
  <p:clrMapOvr>
    <a:masterClrMapping/>
  </p:clrMapOvr>
  <p:transition>
    <p:checker dir="vert"/>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3" name="Rectangle 2"/>
          <p:cNvSpPr>
            <a:spLocks noGrp="1"/>
          </p:cNvSpPr>
          <p:nvPr>
            <p:ph type="title"/>
          </p:nvPr>
        </p:nvSpPr>
        <p:spPr>
          <a:ln/>
        </p:spPr>
        <p:txBody>
          <a:bodyPr vert="horz" wrap="square" lIns="91440" tIns="45720" rIns="91440" bIns="45720" anchor="b"/>
          <a:p>
            <a:pPr eaLnBrk="1" hangingPunct="1"/>
            <a:r>
              <a:rPr lang="en-US" altLang="zh-CN" sz="2400">
                <a:solidFill>
                  <a:srgbClr val="01016F"/>
                </a:solidFill>
              </a:rPr>
              <a:t>§ 5 </a:t>
            </a:r>
            <a:r>
              <a:rPr lang="zh-CN" altLang="en-US" sz="2400">
                <a:solidFill>
                  <a:srgbClr val="01016F"/>
                </a:solidFill>
              </a:rPr>
              <a:t>　污染源的确定</a:t>
            </a:r>
            <a:endParaRPr lang="zh-CN" altLang="en-US" sz="2400">
              <a:solidFill>
                <a:srgbClr val="01016F"/>
              </a:solidFill>
            </a:endParaRPr>
          </a:p>
        </p:txBody>
      </p:sp>
      <p:sp>
        <p:nvSpPr>
          <p:cNvPr id="223234"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400" b="1">
                <a:solidFill>
                  <a:srgbClr val="692AA2"/>
                </a:solidFill>
                <a:ea typeface="仿宋_GB2312" pitchFamily="49" charset="-122"/>
              </a:rPr>
              <a:t>5.1 </a:t>
            </a:r>
            <a:r>
              <a:rPr lang="zh-CN" altLang="en-US" sz="2400" b="1">
                <a:solidFill>
                  <a:srgbClr val="692AA2"/>
                </a:solidFill>
                <a:ea typeface="仿宋_GB2312" pitchFamily="49" charset="-122"/>
              </a:rPr>
              <a:t>问题分析</a:t>
            </a:r>
            <a:endParaRPr lang="zh-CN" altLang="en-US" sz="24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找出长江干流主要污染物的污染源头即是找出造成长江污染的</a:t>
            </a:r>
            <a:r>
              <a:rPr lang="zh-CN" altLang="en-US"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罪魁祸首</a:t>
            </a:r>
            <a:r>
              <a:rPr lang="zh-CN" altLang="en-US"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。这对污染的防治起到很大的帮助，是很有必要的一个工作。</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一个观测站（地区）的水质污染主要来自于上游的污水和本地区的排污，其中上游污水包括干流污水和支流污水。同时河流自身对污染物也有一定的净化能力。因此，一个观测站点的污染物浓度形成过程可由下列流程图表示： </a:t>
            </a:r>
            <a:endParaRPr lang="zh-CN" altLang="en-US" sz="2000" b="1">
              <a:solidFill>
                <a:srgbClr val="692AA2"/>
              </a:solidFill>
              <a:ea typeface="仿宋_GB2312" pitchFamily="49" charset="-122"/>
            </a:endParaRPr>
          </a:p>
        </p:txBody>
      </p:sp>
    </p:spTree>
  </p:cSld>
  <p:clrMapOvr>
    <a:masterClrMapping/>
  </p:clrMapOvr>
  <p:transition>
    <p:blinds/>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7" name="Rectangle 3"/>
          <p:cNvSpPr/>
          <p:nvPr/>
        </p:nvSpPr>
        <p:spPr>
          <a:xfrm>
            <a:off x="0" y="2466975"/>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24258" name="Object 4"/>
          <p:cNvGraphicFramePr>
            <a:graphicFrameLocks noChangeAspect="1"/>
          </p:cNvGraphicFramePr>
          <p:nvPr/>
        </p:nvGraphicFramePr>
        <p:xfrm>
          <a:off x="533400" y="1676400"/>
          <a:ext cx="8077200" cy="2444750"/>
        </p:xfrm>
        <a:graphic>
          <a:graphicData uri="http://schemas.openxmlformats.org/presentationml/2006/ole">
            <mc:AlternateContent xmlns:mc="http://schemas.openxmlformats.org/markup-compatibility/2006">
              <mc:Choice xmlns:v="urn:schemas-microsoft-com:vml" Requires="v">
                <p:oleObj spid="_x0000_s3383" name="" r:id="rId1" imgW="6516370" imgH="1923415" progId="Word.Picture.8">
                  <p:embed/>
                </p:oleObj>
              </mc:Choice>
              <mc:Fallback>
                <p:oleObj name="" r:id="rId1" imgW="6516370" imgH="1923415" progId="Word.Picture.8">
                  <p:embed/>
                  <p:pic>
                    <p:nvPicPr>
                      <p:cNvPr id="0" name="图片 3382"/>
                      <p:cNvPicPr/>
                      <p:nvPr/>
                    </p:nvPicPr>
                    <p:blipFill>
                      <a:blip r:embed="rId2"/>
                      <a:stretch>
                        <a:fillRect/>
                      </a:stretch>
                    </p:blipFill>
                    <p:spPr>
                      <a:xfrm>
                        <a:off x="533400" y="1676400"/>
                        <a:ext cx="8077200" cy="2444750"/>
                      </a:xfrm>
                      <a:prstGeom prst="rect">
                        <a:avLst/>
                      </a:prstGeom>
                      <a:noFill/>
                      <a:ln w="38100">
                        <a:noFill/>
                        <a:miter/>
                      </a:ln>
                    </p:spPr>
                  </p:pic>
                </p:oleObj>
              </mc:Fallback>
            </mc:AlternateContent>
          </a:graphicData>
        </a:graphic>
      </p:graphicFrame>
      <p:sp>
        <p:nvSpPr>
          <p:cNvPr id="224259" name="Rectangle 5"/>
          <p:cNvSpPr/>
          <p:nvPr/>
        </p:nvSpPr>
        <p:spPr>
          <a:xfrm>
            <a:off x="2286000" y="4572000"/>
            <a:ext cx="4810125" cy="457200"/>
          </a:xfrm>
          <a:prstGeom prst="rect">
            <a:avLst/>
          </a:prstGeom>
          <a:noFill/>
          <a:ln w="9525">
            <a:noFill/>
          </a:ln>
        </p:spPr>
        <p:txBody>
          <a:bodyPr wrap="none" anchor="ctr">
            <a:spAutoFit/>
          </a:bodyPr>
          <a:p>
            <a:pPr marL="342900" indent="-342900">
              <a:lnSpc>
                <a:spcPct val="120000"/>
              </a:lnSpc>
              <a:spcBef>
                <a:spcPct val="20000"/>
              </a:spcBef>
              <a:buClr>
                <a:schemeClr val="hlink"/>
              </a:buClr>
              <a:buFont typeface="Wingdings" panose="05000000000000000000" pitchFamily="2" charset="2"/>
              <a:buNone/>
            </a:pPr>
            <a:r>
              <a:rPr lang="zh-CN" altLang="en-US" sz="2000" b="1">
                <a:solidFill>
                  <a:srgbClr val="692AA2"/>
                </a:solidFill>
                <a:latin typeface="Arial" panose="020B0604020202020204" pitchFamily="34" charset="0"/>
                <a:ea typeface="仿宋_GB2312" pitchFamily="49" charset="-122"/>
              </a:rPr>
              <a:t>图</a:t>
            </a:r>
            <a:r>
              <a:rPr lang="en-US" altLang="zh-CN" sz="2000" b="1">
                <a:solidFill>
                  <a:srgbClr val="692AA2"/>
                </a:solidFill>
                <a:latin typeface="Arial" panose="020B0604020202020204" pitchFamily="34" charset="0"/>
                <a:ea typeface="仿宋_GB2312" pitchFamily="49" charset="-122"/>
              </a:rPr>
              <a:t>3 </a:t>
            </a:r>
            <a:r>
              <a:rPr lang="zh-CN" altLang="en-US" sz="2000" b="1">
                <a:solidFill>
                  <a:srgbClr val="692AA2"/>
                </a:solidFill>
                <a:latin typeface="Arial" panose="020B0604020202020204" pitchFamily="34" charset="0"/>
                <a:ea typeface="仿宋_GB2312" pitchFamily="49" charset="-122"/>
              </a:rPr>
              <a:t>各监测站污染物浓度行成过程流程图 </a:t>
            </a:r>
            <a:endParaRPr lang="zh-CN" altLang="en-US" sz="2000" b="1">
              <a:solidFill>
                <a:srgbClr val="692AA2"/>
              </a:solidFill>
              <a:latin typeface="Arial" panose="020B0604020202020204" pitchFamily="34" charset="0"/>
              <a:ea typeface="仿宋_GB2312" pitchFamily="49" charset="-122"/>
            </a:endParaRPr>
          </a:p>
        </p:txBody>
      </p:sp>
    </p:spTree>
  </p:cSld>
  <p:clrMapOvr>
    <a:masterClrMapping/>
  </p:clrMapOvr>
  <p:transition>
    <p:blinds/>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1"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由上图可以看出，一个观测站（干流上的观测站）的污染可能是由上一个观测站的污水带来，也可能是由上游的支流污水带来，也可能是本地区排污（本地区排污是指上一个观测站与这个观测站之间河段的排污）造成的。</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如果是由这个地区排污造成的污染，则污染源就在这个地区；如果是由上游的支流污水带来的污染，则污染源在支流上，再在支流上可以寻找到污染源；如果是由上一个观测站污水带来的污染，则污染源与上一个观测站的污染源相同。</a:t>
            </a:r>
            <a:endParaRPr lang="zh-CN" altLang="en-US" sz="2000" b="1">
              <a:solidFill>
                <a:srgbClr val="692AA2"/>
              </a:solidFill>
              <a:ea typeface="仿宋_GB2312" pitchFamily="49" charset="-122"/>
            </a:endParaRPr>
          </a:p>
        </p:txBody>
      </p:sp>
    </p:spTree>
  </p:cSld>
  <p:clrMapOvr>
    <a:masterClrMapping/>
  </p:clrMapOvr>
  <p:transition>
    <p:blinds dir="vert"/>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5"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400" b="1">
                <a:solidFill>
                  <a:srgbClr val="692AA2"/>
                </a:solidFill>
                <a:ea typeface="仿宋_GB2312" pitchFamily="49" charset="-122"/>
              </a:rPr>
              <a:t>5.2</a:t>
            </a:r>
            <a:r>
              <a:rPr lang="zh-CN" altLang="en-US" sz="2400" b="1">
                <a:solidFill>
                  <a:srgbClr val="692AA2"/>
                </a:solidFill>
                <a:ea typeface="仿宋_GB2312" pitchFamily="49" charset="-122"/>
              </a:rPr>
              <a:t>　河流自净作用</a:t>
            </a:r>
            <a:endParaRPr lang="zh-CN" altLang="en-US" sz="2400" b="1">
              <a:solidFill>
                <a:srgbClr val="692AA2"/>
              </a:solidFill>
              <a:ea typeface="仿宋_GB2312" pitchFamily="49" charset="-122"/>
            </a:endParaRPr>
          </a:p>
          <a:p>
            <a:pPr eaLnBrk="1" hangingPunct="1">
              <a:lnSpc>
                <a:spcPct val="120000"/>
              </a:lnSpc>
              <a:buNone/>
            </a:pPr>
            <a:endParaRPr lang="zh-CN" altLang="en-US" sz="2000" b="1">
              <a:solidFill>
                <a:srgbClr val="692AA2"/>
              </a:solidFill>
              <a:ea typeface="仿宋_GB2312" pitchFamily="49" charset="-122"/>
            </a:endParaRPr>
          </a:p>
          <a:p>
            <a:pPr eaLnBrk="1" hangingPunct="1">
              <a:lnSpc>
                <a:spcPct val="120000"/>
              </a:lnSpc>
              <a:buNone/>
            </a:pPr>
            <a:r>
              <a:rPr lang="en-US" altLang="zh-CN" sz="2000" b="1">
                <a:solidFill>
                  <a:srgbClr val="692AA2"/>
                </a:solidFill>
                <a:ea typeface="仿宋_GB2312" pitchFamily="49" charset="-122"/>
              </a:rPr>
              <a:t>1</a:t>
            </a:r>
            <a:r>
              <a:rPr lang="zh-CN" altLang="en-US" sz="2000" b="1">
                <a:solidFill>
                  <a:srgbClr val="692AA2"/>
                </a:solidFill>
                <a:ea typeface="仿宋_GB2312" pitchFamily="49" charset="-122"/>
              </a:rPr>
              <a:t>、污染物到达浓度</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污染物到达浓度的定义为：第</a:t>
            </a:r>
            <a:r>
              <a:rPr lang="en-US" altLang="zh-CN" sz="2000" b="1">
                <a:solidFill>
                  <a:srgbClr val="692AA2"/>
                </a:solidFill>
                <a:ea typeface="仿宋_GB2312" pitchFamily="49" charset="-122"/>
              </a:rPr>
              <a:t>i</a:t>
            </a:r>
            <a:r>
              <a:rPr lang="zh-CN" altLang="en-US" sz="2000" b="1">
                <a:solidFill>
                  <a:srgbClr val="692AA2"/>
                </a:solidFill>
                <a:ea typeface="仿宋_GB2312" pitchFamily="49" charset="-122"/>
              </a:rPr>
              <a:t>站点污染物实测浓度，经过河流自然净化作用，到达第</a:t>
            </a:r>
            <a:r>
              <a:rPr lang="en-US" altLang="zh-CN" sz="2000" b="1">
                <a:solidFill>
                  <a:srgbClr val="692AA2"/>
                </a:solidFill>
                <a:ea typeface="仿宋_GB2312" pitchFamily="49" charset="-122"/>
              </a:rPr>
              <a:t>i+1</a:t>
            </a:r>
            <a:r>
              <a:rPr lang="zh-CN" altLang="en-US" sz="2000" b="1">
                <a:solidFill>
                  <a:srgbClr val="692AA2"/>
                </a:solidFill>
                <a:ea typeface="仿宋_GB2312" pitchFamily="49" charset="-122"/>
              </a:rPr>
              <a:t>站点时，污染物浓度减少到，则称为第</a:t>
            </a:r>
            <a:r>
              <a:rPr lang="en-US" altLang="zh-CN" sz="2000" b="1">
                <a:solidFill>
                  <a:srgbClr val="692AA2"/>
                </a:solidFill>
                <a:ea typeface="仿宋_GB2312" pitchFamily="49" charset="-122"/>
              </a:rPr>
              <a:t>i+1</a:t>
            </a:r>
            <a:r>
              <a:rPr lang="zh-CN" altLang="en-US" sz="2000" b="1">
                <a:solidFill>
                  <a:srgbClr val="692AA2"/>
                </a:solidFill>
                <a:ea typeface="仿宋_GB2312" pitchFamily="49" charset="-122"/>
              </a:rPr>
              <a:t>站点污染物的到达浓度。 </a:t>
            </a:r>
            <a:endParaRPr lang="zh-CN" altLang="en-US" sz="2000" b="1">
              <a:solidFill>
                <a:srgbClr val="692AA2"/>
              </a:solidFill>
              <a:ea typeface="仿宋_GB2312" pitchFamily="49" charset="-122"/>
            </a:endParaRPr>
          </a:p>
        </p:txBody>
      </p:sp>
    </p:spTree>
  </p:cSld>
  <p:clrMapOvr>
    <a:masterClrMapping/>
  </p:clrMapOvr>
  <p:transition>
    <p:blinds/>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29" name="Rectangle 3"/>
          <p:cNvSpPr>
            <a:spLocks noGrp="1"/>
          </p:cNvSpPr>
          <p:nvPr>
            <p:ph idx="1"/>
          </p:nvPr>
        </p:nvSpPr>
        <p:spPr>
          <a:xfrm>
            <a:off x="468313" y="1927225"/>
            <a:ext cx="8229600" cy="4525963"/>
          </a:xfrm>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根据参考文献中的计算公式，可得污染物到达浓度计算公式：</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endParaRPr lang="zh-CN" altLang="en-US" sz="1800" b="1">
              <a:solidFill>
                <a:srgbClr val="692AA2"/>
              </a:solidFill>
              <a:ea typeface="仿宋_GB2312" pitchFamily="49" charset="-122"/>
            </a:endParaRPr>
          </a:p>
          <a:p>
            <a:pPr algn="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18</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式中           </a:t>
            </a:r>
            <a:r>
              <a:rPr lang="en-US" altLang="zh-CN"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第</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站点污染物实测浓度</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经河流自净，第</a:t>
            </a:r>
            <a:r>
              <a:rPr lang="en-US" altLang="zh-CN" sz="1800" b="1">
                <a:solidFill>
                  <a:srgbClr val="692AA2"/>
                </a:solidFill>
                <a:ea typeface="仿宋_GB2312" pitchFamily="49" charset="-122"/>
              </a:rPr>
              <a:t>i+1</a:t>
            </a:r>
            <a:r>
              <a:rPr lang="zh-CN" altLang="en-US" sz="1800" b="1">
                <a:solidFill>
                  <a:srgbClr val="692AA2"/>
                </a:solidFill>
                <a:ea typeface="仿宋_GB2312" pitchFamily="49" charset="-122"/>
              </a:rPr>
              <a:t>站点污染物的到达浓度</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K</a:t>
            </a:r>
            <a:r>
              <a:rPr lang="en-US" altLang="zh-CN"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污染物的降解系数</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第</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站点与第</a:t>
            </a:r>
            <a:r>
              <a:rPr lang="en-US" altLang="zh-CN" sz="1800" b="1">
                <a:solidFill>
                  <a:srgbClr val="692AA2"/>
                </a:solidFill>
                <a:ea typeface="仿宋_GB2312" pitchFamily="49" charset="-122"/>
              </a:rPr>
              <a:t>i+1</a:t>
            </a:r>
            <a:r>
              <a:rPr lang="zh-CN" altLang="en-US" sz="1800" b="1">
                <a:solidFill>
                  <a:srgbClr val="692AA2"/>
                </a:solidFill>
                <a:ea typeface="仿宋_GB2312" pitchFamily="49" charset="-122"/>
              </a:rPr>
              <a:t>站点的距离</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u</a:t>
            </a:r>
            <a:r>
              <a:rPr lang="en-US" altLang="zh-CN"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第</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站点与第</a:t>
            </a:r>
            <a:r>
              <a:rPr lang="en-US" altLang="zh-CN" sz="1800" b="1">
                <a:solidFill>
                  <a:srgbClr val="692AA2"/>
                </a:solidFill>
                <a:ea typeface="仿宋_GB2312" pitchFamily="49" charset="-122"/>
              </a:rPr>
              <a:t>i+1</a:t>
            </a:r>
            <a:r>
              <a:rPr lang="zh-CN" altLang="en-US" sz="1800" b="1">
                <a:solidFill>
                  <a:srgbClr val="692AA2"/>
                </a:solidFill>
                <a:ea typeface="仿宋_GB2312" pitchFamily="49" charset="-122"/>
              </a:rPr>
              <a:t>站点间河流的平均速度</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latin typeface="宋体" panose="02010600030101010101" pitchFamily="2" charset="-122"/>
                <a:ea typeface="仿宋_GB2312" pitchFamily="49" charset="-122"/>
              </a:rPr>
              <a:t>——</a:t>
            </a:r>
            <a:r>
              <a:rPr lang="zh-CN" altLang="en-US" sz="1800" b="1">
                <a:solidFill>
                  <a:srgbClr val="692AA2"/>
                </a:solidFill>
                <a:ea typeface="仿宋_GB2312" pitchFamily="49" charset="-122"/>
              </a:rPr>
              <a:t>第</a:t>
            </a:r>
            <a:r>
              <a:rPr lang="en-US" altLang="zh-CN" sz="1800" b="1">
                <a:solidFill>
                  <a:srgbClr val="692AA2"/>
                </a:solidFill>
                <a:ea typeface="仿宋_GB2312" pitchFamily="49" charset="-122"/>
              </a:rPr>
              <a:t>i</a:t>
            </a:r>
            <a:r>
              <a:rPr lang="zh-CN" altLang="en-US" sz="1800" b="1">
                <a:solidFill>
                  <a:srgbClr val="692AA2"/>
                </a:solidFill>
                <a:ea typeface="仿宋_GB2312" pitchFamily="49" charset="-122"/>
              </a:rPr>
              <a:t>站点的水流量</a:t>
            </a:r>
            <a:endParaRPr lang="zh-CN" altLang="en-US" sz="1800" b="1">
              <a:solidFill>
                <a:srgbClr val="692AA2"/>
              </a:solidFill>
              <a:ea typeface="仿宋_GB2312" pitchFamily="49" charset="-122"/>
            </a:endParaRPr>
          </a:p>
        </p:txBody>
      </p:sp>
      <p:sp>
        <p:nvSpPr>
          <p:cNvPr id="227330" name="Rectangle 4"/>
          <p:cNvSpPr/>
          <p:nvPr/>
        </p:nvSpPr>
        <p:spPr>
          <a:xfrm>
            <a:off x="0" y="3205163"/>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27331" name="Object 5"/>
          <p:cNvGraphicFramePr>
            <a:graphicFrameLocks noChangeAspect="1"/>
          </p:cNvGraphicFramePr>
          <p:nvPr/>
        </p:nvGraphicFramePr>
        <p:xfrm>
          <a:off x="1905000" y="2362200"/>
          <a:ext cx="3886200" cy="735013"/>
        </p:xfrm>
        <a:graphic>
          <a:graphicData uri="http://schemas.openxmlformats.org/presentationml/2006/ole">
            <mc:AlternateContent xmlns:mc="http://schemas.openxmlformats.org/markup-compatibility/2006">
              <mc:Choice xmlns:v="urn:schemas-microsoft-com:vml" Requires="v">
                <p:oleObj spid="_x0000_s3389" name="" r:id="rId1" imgW="1955165" imgH="444500" progId="Equation.DSMT4">
                  <p:embed/>
                </p:oleObj>
              </mc:Choice>
              <mc:Fallback>
                <p:oleObj name="" r:id="rId1" imgW="1955165" imgH="444500" progId="Equation.DSMT4">
                  <p:embed/>
                  <p:pic>
                    <p:nvPicPr>
                      <p:cNvPr id="0" name="图片 3388"/>
                      <p:cNvPicPr/>
                      <p:nvPr/>
                    </p:nvPicPr>
                    <p:blipFill>
                      <a:blip r:embed="rId2"/>
                      <a:stretch>
                        <a:fillRect/>
                      </a:stretch>
                    </p:blipFill>
                    <p:spPr>
                      <a:xfrm>
                        <a:off x="1905000" y="2362200"/>
                        <a:ext cx="3886200" cy="735013"/>
                      </a:xfrm>
                      <a:prstGeom prst="rect">
                        <a:avLst/>
                      </a:prstGeom>
                      <a:noFill/>
                      <a:ln w="38100">
                        <a:noFill/>
                        <a:miter/>
                      </a:ln>
                    </p:spPr>
                  </p:pic>
                </p:oleObj>
              </mc:Fallback>
            </mc:AlternateContent>
          </a:graphicData>
        </a:graphic>
      </p:graphicFrame>
      <p:graphicFrame>
        <p:nvGraphicFramePr>
          <p:cNvPr id="227332" name="Object 6"/>
          <p:cNvGraphicFramePr>
            <a:graphicFrameLocks noChangeAspect="1"/>
          </p:cNvGraphicFramePr>
          <p:nvPr/>
        </p:nvGraphicFramePr>
        <p:xfrm>
          <a:off x="1219200" y="2971800"/>
          <a:ext cx="285750" cy="457200"/>
        </p:xfrm>
        <a:graphic>
          <a:graphicData uri="http://schemas.openxmlformats.org/presentationml/2006/ole">
            <mc:AlternateContent xmlns:mc="http://schemas.openxmlformats.org/markup-compatibility/2006">
              <mc:Choice xmlns:v="urn:schemas-microsoft-com:vml" Requires="v">
                <p:oleObj spid="_x0000_s3384" name="" r:id="rId3" imgW="139700" imgH="228600" progId="Equation.DSMT4">
                  <p:embed/>
                </p:oleObj>
              </mc:Choice>
              <mc:Fallback>
                <p:oleObj name="" r:id="rId3" imgW="139700" imgH="228600" progId="Equation.DSMT4">
                  <p:embed/>
                  <p:pic>
                    <p:nvPicPr>
                      <p:cNvPr id="0" name="图片 3383"/>
                      <p:cNvPicPr/>
                      <p:nvPr/>
                    </p:nvPicPr>
                    <p:blipFill>
                      <a:blip r:embed="rId4"/>
                      <a:stretch>
                        <a:fillRect/>
                      </a:stretch>
                    </p:blipFill>
                    <p:spPr>
                      <a:xfrm>
                        <a:off x="1219200" y="2971800"/>
                        <a:ext cx="285750" cy="457200"/>
                      </a:xfrm>
                      <a:prstGeom prst="rect">
                        <a:avLst/>
                      </a:prstGeom>
                      <a:noFill/>
                      <a:ln w="38100">
                        <a:noFill/>
                        <a:miter/>
                      </a:ln>
                    </p:spPr>
                  </p:pic>
                </p:oleObj>
              </mc:Fallback>
            </mc:AlternateContent>
          </a:graphicData>
        </a:graphic>
      </p:graphicFrame>
      <p:sp>
        <p:nvSpPr>
          <p:cNvPr id="227333" name="Rectangle 7"/>
          <p:cNvSpPr/>
          <p:nvPr/>
        </p:nvSpPr>
        <p:spPr>
          <a:xfrm>
            <a:off x="0" y="3200400"/>
            <a:ext cx="9144000" cy="0"/>
          </a:xfrm>
          <a:prstGeom prst="rect">
            <a:avLst/>
          </a:prstGeom>
          <a:noFill/>
          <a:ln w="9525">
            <a:noFill/>
          </a:ln>
        </p:spPr>
        <p:txBody>
          <a:bodyPr wrap="none" anchor="ctr">
            <a:spAutoFit/>
          </a:bodyPr>
          <a:p>
            <a:endParaRPr lang="zh-CN" altLang="en-US">
              <a:latin typeface="Arial" panose="020B0604020202020204" pitchFamily="34" charset="0"/>
              <a:ea typeface="宋体" panose="02010600030101010101" pitchFamily="2" charset="-122"/>
            </a:endParaRPr>
          </a:p>
        </p:txBody>
      </p:sp>
      <p:graphicFrame>
        <p:nvGraphicFramePr>
          <p:cNvPr id="227334" name="Object 8"/>
          <p:cNvGraphicFramePr>
            <a:graphicFrameLocks noChangeAspect="1"/>
          </p:cNvGraphicFramePr>
          <p:nvPr/>
        </p:nvGraphicFramePr>
        <p:xfrm>
          <a:off x="1143000" y="3276600"/>
          <a:ext cx="533400" cy="476250"/>
        </p:xfrm>
        <a:graphic>
          <a:graphicData uri="http://schemas.openxmlformats.org/presentationml/2006/ole">
            <mc:AlternateContent xmlns:mc="http://schemas.openxmlformats.org/markup-compatibility/2006">
              <mc:Choice xmlns:v="urn:schemas-microsoft-com:vml" Requires="v">
                <p:oleObj spid="_x0000_s3387" name="" r:id="rId5" imgW="266700" imgH="241300" progId="Equation.DSMT4">
                  <p:embed/>
                </p:oleObj>
              </mc:Choice>
              <mc:Fallback>
                <p:oleObj name="" r:id="rId5" imgW="266700" imgH="241300" progId="Equation.DSMT4">
                  <p:embed/>
                  <p:pic>
                    <p:nvPicPr>
                      <p:cNvPr id="0" name="图片 3386"/>
                      <p:cNvPicPr/>
                      <p:nvPr/>
                    </p:nvPicPr>
                    <p:blipFill>
                      <a:blip r:embed="rId6"/>
                      <a:stretch>
                        <a:fillRect/>
                      </a:stretch>
                    </p:blipFill>
                    <p:spPr>
                      <a:xfrm>
                        <a:off x="1143000" y="3276600"/>
                        <a:ext cx="533400" cy="476250"/>
                      </a:xfrm>
                      <a:prstGeom prst="rect">
                        <a:avLst/>
                      </a:prstGeom>
                      <a:noFill/>
                      <a:ln w="38100">
                        <a:noFill/>
                        <a:miter/>
                      </a:ln>
                    </p:spPr>
                  </p:pic>
                </p:oleObj>
              </mc:Fallback>
            </mc:AlternateContent>
          </a:graphicData>
        </a:graphic>
      </p:graphicFrame>
      <p:graphicFrame>
        <p:nvGraphicFramePr>
          <p:cNvPr id="227335" name="Object 9"/>
          <p:cNvGraphicFramePr>
            <a:graphicFrameLocks noChangeAspect="1"/>
          </p:cNvGraphicFramePr>
          <p:nvPr/>
        </p:nvGraphicFramePr>
        <p:xfrm>
          <a:off x="1066800" y="4038600"/>
          <a:ext cx="533400" cy="430213"/>
        </p:xfrm>
        <a:graphic>
          <a:graphicData uri="http://schemas.openxmlformats.org/presentationml/2006/ole">
            <mc:AlternateContent xmlns:mc="http://schemas.openxmlformats.org/markup-compatibility/2006">
              <mc:Choice xmlns:v="urn:schemas-microsoft-com:vml" Requires="v">
                <p:oleObj spid="_x0000_s3386" name="" r:id="rId7" imgW="292100" imgH="241300" progId="Equation.DSMT4">
                  <p:embed/>
                </p:oleObj>
              </mc:Choice>
              <mc:Fallback>
                <p:oleObj name="" r:id="rId7" imgW="292100" imgH="241300" progId="Equation.DSMT4">
                  <p:embed/>
                  <p:pic>
                    <p:nvPicPr>
                      <p:cNvPr id="0" name="图片 3385"/>
                      <p:cNvPicPr/>
                      <p:nvPr/>
                    </p:nvPicPr>
                    <p:blipFill>
                      <a:blip r:embed="rId8"/>
                      <a:stretch>
                        <a:fillRect/>
                      </a:stretch>
                    </p:blipFill>
                    <p:spPr>
                      <a:xfrm>
                        <a:off x="1066800" y="4038600"/>
                        <a:ext cx="533400" cy="430213"/>
                      </a:xfrm>
                      <a:prstGeom prst="rect">
                        <a:avLst/>
                      </a:prstGeom>
                      <a:noFill/>
                      <a:ln w="38100">
                        <a:noFill/>
                        <a:miter/>
                      </a:ln>
                    </p:spPr>
                  </p:pic>
                </p:oleObj>
              </mc:Fallback>
            </mc:AlternateContent>
          </a:graphicData>
        </a:graphic>
      </p:graphicFrame>
      <p:graphicFrame>
        <p:nvGraphicFramePr>
          <p:cNvPr id="227336" name="Object 10"/>
          <p:cNvGraphicFramePr>
            <a:graphicFrameLocks noChangeAspect="1"/>
          </p:cNvGraphicFramePr>
          <p:nvPr/>
        </p:nvGraphicFramePr>
        <p:xfrm>
          <a:off x="1143000" y="4724400"/>
          <a:ext cx="361950" cy="457200"/>
        </p:xfrm>
        <a:graphic>
          <a:graphicData uri="http://schemas.openxmlformats.org/presentationml/2006/ole">
            <mc:AlternateContent xmlns:mc="http://schemas.openxmlformats.org/markup-compatibility/2006">
              <mc:Choice xmlns:v="urn:schemas-microsoft-com:vml" Requires="v">
                <p:oleObj spid="_x0000_s3385" name="" r:id="rId9" imgW="177800" imgH="228600" progId="Equation.DSMT4">
                  <p:embed/>
                </p:oleObj>
              </mc:Choice>
              <mc:Fallback>
                <p:oleObj name="" r:id="rId9" imgW="177800" imgH="228600" progId="Equation.DSMT4">
                  <p:embed/>
                  <p:pic>
                    <p:nvPicPr>
                      <p:cNvPr id="0" name="图片 3384"/>
                      <p:cNvPicPr/>
                      <p:nvPr/>
                    </p:nvPicPr>
                    <p:blipFill>
                      <a:blip r:embed="rId10"/>
                      <a:stretch>
                        <a:fillRect/>
                      </a:stretch>
                    </p:blipFill>
                    <p:spPr>
                      <a:xfrm>
                        <a:off x="1143000" y="4724400"/>
                        <a:ext cx="361950" cy="4572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3"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2</a:t>
            </a:r>
            <a:r>
              <a:rPr lang="zh-CN" altLang="en-US" sz="2000" b="1">
                <a:solidFill>
                  <a:srgbClr val="692AA2"/>
                </a:solidFill>
                <a:ea typeface="仿宋_GB2312" pitchFamily="49" charset="-122"/>
              </a:rPr>
              <a:t>、污染物净增浓度</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污染物净增浓度定义为：第</a:t>
            </a:r>
            <a:r>
              <a:rPr lang="en-US" altLang="zh-CN" sz="2000" b="1">
                <a:solidFill>
                  <a:srgbClr val="692AA2"/>
                </a:solidFill>
                <a:ea typeface="仿宋_GB2312" pitchFamily="49" charset="-122"/>
              </a:rPr>
              <a:t>i</a:t>
            </a:r>
            <a:r>
              <a:rPr lang="zh-CN" altLang="en-US" sz="2000" b="1">
                <a:solidFill>
                  <a:srgbClr val="692AA2"/>
                </a:solidFill>
                <a:ea typeface="仿宋_GB2312" pitchFamily="49" charset="-122"/>
              </a:rPr>
              <a:t>站点污染物实测浓度减去第</a:t>
            </a:r>
            <a:r>
              <a:rPr lang="en-US" altLang="zh-CN" sz="2000" b="1">
                <a:solidFill>
                  <a:srgbClr val="692AA2"/>
                </a:solidFill>
                <a:ea typeface="仿宋_GB2312" pitchFamily="49" charset="-122"/>
              </a:rPr>
              <a:t>i</a:t>
            </a:r>
            <a:r>
              <a:rPr lang="zh-CN" altLang="en-US" sz="2000" b="1">
                <a:solidFill>
                  <a:srgbClr val="692AA2"/>
                </a:solidFill>
                <a:ea typeface="仿宋_GB2312" pitchFamily="49" charset="-122"/>
              </a:rPr>
              <a:t>站点污染物到达浓度得到的值称之为第</a:t>
            </a:r>
            <a:r>
              <a:rPr lang="en-US" altLang="zh-CN" sz="2000" b="1">
                <a:solidFill>
                  <a:srgbClr val="692AA2"/>
                </a:solidFill>
                <a:ea typeface="仿宋_GB2312" pitchFamily="49" charset="-122"/>
              </a:rPr>
              <a:t>i</a:t>
            </a:r>
            <a:r>
              <a:rPr lang="zh-CN" altLang="en-US" sz="2000" b="1">
                <a:solidFill>
                  <a:srgbClr val="692AA2"/>
                </a:solidFill>
                <a:ea typeface="仿宋_GB2312" pitchFamily="49" charset="-122"/>
              </a:rPr>
              <a:t>站点污染物净增浓度，即 </a:t>
            </a:r>
            <a:endParaRPr lang="zh-CN" altLang="en-US" sz="2000" b="1">
              <a:solidFill>
                <a:srgbClr val="692AA2"/>
              </a:solidFill>
              <a:ea typeface="仿宋_GB2312" pitchFamily="49" charset="-122"/>
            </a:endParaRPr>
          </a:p>
          <a:p>
            <a:pPr algn="r" eaLnBrk="1" hangingPunct="1">
              <a:lnSpc>
                <a:spcPct val="120000"/>
              </a:lnSpc>
              <a:buNone/>
            </a:pPr>
            <a:r>
              <a:rPr lang="zh-CN" altLang="en-US" sz="2000" b="1">
                <a:solidFill>
                  <a:srgbClr val="692AA2"/>
                </a:solidFill>
                <a:ea typeface="仿宋_GB2312" pitchFamily="49" charset="-122"/>
              </a:rPr>
              <a:t>                                        （</a:t>
            </a:r>
            <a:r>
              <a:rPr lang="en-US" altLang="zh-CN" sz="2000" b="1">
                <a:solidFill>
                  <a:srgbClr val="692AA2"/>
                </a:solidFill>
                <a:ea typeface="仿宋_GB2312" pitchFamily="49" charset="-122"/>
              </a:rPr>
              <a:t>19</a:t>
            </a:r>
            <a:r>
              <a:rPr lang="zh-CN" altLang="en-US" sz="2000" b="1">
                <a:solidFill>
                  <a:srgbClr val="692AA2"/>
                </a:solidFill>
                <a:ea typeface="仿宋_GB2312" pitchFamily="49" charset="-122"/>
              </a:rPr>
              <a:t>）   </a:t>
            </a:r>
            <a:endParaRPr lang="zh-CN" altLang="en-US" sz="2000" b="1">
              <a:solidFill>
                <a:srgbClr val="692AA2"/>
              </a:solidFill>
              <a:ea typeface="仿宋_GB2312" pitchFamily="49" charset="-122"/>
            </a:endParaRPr>
          </a:p>
          <a:p>
            <a:pPr eaLnBrk="1" hangingPunct="1">
              <a:lnSpc>
                <a:spcPct val="120000"/>
              </a:lnSpc>
              <a:buNone/>
            </a:pPr>
            <a:r>
              <a:rPr lang="zh-CN" altLang="en-US" sz="2000" b="1">
                <a:solidFill>
                  <a:srgbClr val="692AA2"/>
                </a:solidFill>
                <a:ea typeface="仿宋_GB2312" pitchFamily="49" charset="-122"/>
              </a:rPr>
              <a:t>          由于长江支流观测站的基本数据（站点距离、水流量和水流速）没有给出，所以这个</a:t>
            </a:r>
            <a:r>
              <a:rPr lang="zh-CN" altLang="en-US"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净增</a:t>
            </a:r>
            <a:r>
              <a:rPr lang="zh-CN" altLang="en-US"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并不是真正意义上的净增。如果这个观测站与上一个观测站之间有支流，则它还包括支流流下来的污水带来的增加。 </a:t>
            </a:r>
            <a:endParaRPr lang="zh-CN" altLang="en-US" sz="2000" b="1">
              <a:solidFill>
                <a:srgbClr val="692AA2"/>
              </a:solidFill>
              <a:ea typeface="仿宋_GB2312" pitchFamily="49" charset="-122"/>
            </a:endParaRPr>
          </a:p>
        </p:txBody>
      </p:sp>
      <p:graphicFrame>
        <p:nvGraphicFramePr>
          <p:cNvPr id="228354" name="Object 4"/>
          <p:cNvGraphicFramePr>
            <a:graphicFrameLocks noChangeAspect="1"/>
          </p:cNvGraphicFramePr>
          <p:nvPr/>
        </p:nvGraphicFramePr>
        <p:xfrm>
          <a:off x="3200400" y="2514600"/>
          <a:ext cx="1371600" cy="469900"/>
        </p:xfrm>
        <a:graphic>
          <a:graphicData uri="http://schemas.openxmlformats.org/presentationml/2006/ole">
            <mc:AlternateContent xmlns:mc="http://schemas.openxmlformats.org/markup-compatibility/2006">
              <mc:Choice xmlns:v="urn:schemas-microsoft-com:vml" Requires="v">
                <p:oleObj spid="_x0000_s3388" name="" r:id="rId1" imgW="698500" imgH="241300" progId="Equation.DSMT4">
                  <p:embed/>
                </p:oleObj>
              </mc:Choice>
              <mc:Fallback>
                <p:oleObj name="" r:id="rId1" imgW="698500" imgH="241300" progId="Equation.DSMT4">
                  <p:embed/>
                  <p:pic>
                    <p:nvPicPr>
                      <p:cNvPr id="0" name="图片 3387"/>
                      <p:cNvPicPr/>
                      <p:nvPr/>
                    </p:nvPicPr>
                    <p:blipFill>
                      <a:blip r:embed="rId2"/>
                      <a:stretch>
                        <a:fillRect/>
                      </a:stretch>
                    </p:blipFill>
                    <p:spPr>
                      <a:xfrm>
                        <a:off x="3200400" y="2514600"/>
                        <a:ext cx="1371600" cy="469900"/>
                      </a:xfrm>
                      <a:prstGeom prst="rect">
                        <a:avLst/>
                      </a:prstGeom>
                      <a:noFill/>
                      <a:ln w="38100">
                        <a:noFill/>
                        <a:miter/>
                      </a:ln>
                    </p:spPr>
                  </p:pic>
                </p:oleObj>
              </mc:Fallback>
            </mc:AlternateContent>
          </a:graphicData>
        </a:graphic>
      </p:graphicFrame>
    </p:spTree>
  </p:cSld>
  <p:clrMapOvr>
    <a:masterClrMapping/>
  </p:clrMapOvr>
  <p:transition>
    <p:blinds dir="vert"/>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7" name="Rectangle 3"/>
          <p:cNvSpPr>
            <a:spLocks noGrp="1"/>
          </p:cNvSpPr>
          <p:nvPr>
            <p:ph idx="1"/>
          </p:nvPr>
        </p:nvSpPr>
        <p:spPr>
          <a:xfrm>
            <a:off x="304800" y="1828800"/>
            <a:ext cx="8229600" cy="4495800"/>
          </a:xfrm>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显然，根据污染物净增浓度的大小，可以判断该站点的污染是否是由上一个观测站带来的。如果污染物净增浓度很小，即该地区的污染主要由上一个观测站污水流下来造成的，则可以肯定该地区的污染源不在该地区内，也不在支流上（如果有支流）。它的污染是由上一个观测站带来的，污染源的寻找应该转到上一个观测站。</a:t>
            </a:r>
            <a:endParaRPr lang="zh-CN" altLang="en-US" sz="2000" b="1">
              <a:solidFill>
                <a:srgbClr val="692AA2"/>
              </a:solidFill>
              <a:ea typeface="仿宋_GB2312" pitchFamily="49" charset="-122"/>
            </a:endParaRPr>
          </a:p>
        </p:txBody>
      </p:sp>
    </p:spTree>
  </p:cSld>
  <p:clrMapOvr>
    <a:masterClrMapping/>
  </p:clrMapOvr>
  <p:transition>
    <p:zoom/>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1" name="Rectangle 2"/>
          <p:cNvSpPr>
            <a:spLocks noGrp="1"/>
          </p:cNvSpPr>
          <p:nvPr>
            <p:ph type="title"/>
          </p:nvPr>
        </p:nvSpPr>
        <p:spPr>
          <a:xfrm>
            <a:off x="533400" y="2027238"/>
            <a:ext cx="7391400" cy="563562"/>
          </a:xfrm>
          <a:ln/>
        </p:spPr>
        <p:txBody>
          <a:bodyPr vert="horz" wrap="square" lIns="91440" tIns="45720" rIns="91440" bIns="45720" anchor="b"/>
          <a:p>
            <a:pPr marL="342900" indent="-342900" eaLnBrk="1" hangingPunct="1">
              <a:lnSpc>
                <a:spcPct val="120000"/>
              </a:lnSpc>
              <a:spcBef>
                <a:spcPct val="20000"/>
              </a:spcBef>
              <a:buClr>
                <a:schemeClr val="hlink"/>
              </a:buClr>
              <a:buFont typeface="Wingdings" panose="05000000000000000000" pitchFamily="2" charset="2"/>
              <a:buNone/>
            </a:pPr>
            <a:r>
              <a:rPr lang="en-US" altLang="zh-CN" sz="2000">
                <a:solidFill>
                  <a:srgbClr val="692AA2"/>
                </a:solidFill>
                <a:ea typeface="仿宋_GB2312" pitchFamily="49" charset="-122"/>
              </a:rPr>
              <a:t>5.3</a:t>
            </a:r>
            <a:r>
              <a:rPr lang="zh-CN" altLang="en-US" sz="2000">
                <a:solidFill>
                  <a:srgbClr val="692AA2"/>
                </a:solidFill>
                <a:ea typeface="仿宋_GB2312" pitchFamily="49" charset="-122"/>
              </a:rPr>
              <a:t>　</a:t>
            </a:r>
            <a:r>
              <a:rPr lang="en-US" altLang="zh-CN" sz="2000">
                <a:solidFill>
                  <a:srgbClr val="692AA2"/>
                </a:solidFill>
                <a:ea typeface="仿宋_GB2312" pitchFamily="49" charset="-122"/>
              </a:rPr>
              <a:t>CODMn</a:t>
            </a:r>
            <a:r>
              <a:rPr lang="zh-CN" altLang="en-US" sz="2000">
                <a:solidFill>
                  <a:srgbClr val="692AA2"/>
                </a:solidFill>
                <a:ea typeface="仿宋_GB2312" pitchFamily="49" charset="-122"/>
              </a:rPr>
              <a:t>的污染源分析</a:t>
            </a:r>
            <a:endParaRPr lang="zh-CN" altLang="en-US" sz="2000">
              <a:solidFill>
                <a:srgbClr val="692AA2"/>
              </a:solidFill>
              <a:ea typeface="仿宋_GB2312" pitchFamily="49" charset="-122"/>
            </a:endParaRPr>
          </a:p>
        </p:txBody>
      </p:sp>
      <p:sp>
        <p:nvSpPr>
          <p:cNvPr id="230402" name="Rectangle 3"/>
          <p:cNvSpPr>
            <a:spLocks noGrp="1"/>
          </p:cNvSpPr>
          <p:nvPr>
            <p:ph idx="1"/>
          </p:nvPr>
        </p:nvSpPr>
        <p:spPr>
          <a:xfrm>
            <a:off x="381000" y="2819400"/>
            <a:ext cx="8229600" cy="1447800"/>
          </a:xfrm>
          <a:ln/>
        </p:spPr>
        <p:txBody>
          <a:bodyPr vert="horz" wrap="square" lIns="91440" tIns="45720" rIns="91440" bIns="45720" anchor="t"/>
          <a:p>
            <a:pPr eaLnBrk="1" hangingPunct="1">
              <a:lnSpc>
                <a:spcPct val="120000"/>
              </a:lnSpc>
              <a:buNone/>
            </a:pPr>
            <a:r>
              <a:rPr lang="en-US" altLang="zh-CN" sz="2000" b="1">
                <a:solidFill>
                  <a:srgbClr val="692AA2"/>
                </a:solidFill>
                <a:ea typeface="仿宋_GB2312" pitchFamily="49" charset="-122"/>
              </a:rPr>
              <a:t>            </a:t>
            </a:r>
            <a:r>
              <a:rPr lang="zh-CN" altLang="en-US" sz="2000" b="1">
                <a:solidFill>
                  <a:srgbClr val="692AA2"/>
                </a:solidFill>
                <a:ea typeface="仿宋_GB2312" pitchFamily="49" charset="-122"/>
              </a:rPr>
              <a:t>用单指标模糊概率评价法对长江流域</a:t>
            </a:r>
            <a:r>
              <a:rPr lang="en-US" altLang="zh-CN" sz="2000" b="1">
                <a:solidFill>
                  <a:srgbClr val="692AA2"/>
                </a:solidFill>
                <a:ea typeface="仿宋_GB2312" pitchFamily="49" charset="-122"/>
              </a:rPr>
              <a:t>17</a:t>
            </a:r>
            <a:r>
              <a:rPr lang="zh-CN" altLang="en-US" sz="2000" b="1">
                <a:solidFill>
                  <a:srgbClr val="692AA2"/>
                </a:solidFill>
                <a:ea typeface="仿宋_GB2312" pitchFamily="49" charset="-122"/>
              </a:rPr>
              <a:t>个观测站近一年多（从</a:t>
            </a:r>
            <a:r>
              <a:rPr lang="en-US" altLang="zh-CN" sz="2000" b="1">
                <a:solidFill>
                  <a:srgbClr val="692AA2"/>
                </a:solidFill>
                <a:ea typeface="仿宋_GB2312" pitchFamily="49" charset="-122"/>
              </a:rPr>
              <a:t>2004</a:t>
            </a:r>
            <a:r>
              <a:rPr lang="zh-CN" altLang="en-US" sz="2000" b="1">
                <a:solidFill>
                  <a:srgbClr val="692AA2"/>
                </a:solidFill>
                <a:ea typeface="仿宋_GB2312" pitchFamily="49" charset="-122"/>
              </a:rPr>
              <a:t>年</a:t>
            </a:r>
            <a:r>
              <a:rPr lang="en-US" altLang="zh-CN" sz="2000" b="1">
                <a:solidFill>
                  <a:srgbClr val="692AA2"/>
                </a:solidFill>
                <a:ea typeface="仿宋_GB2312" pitchFamily="49" charset="-122"/>
              </a:rPr>
              <a:t>4</a:t>
            </a:r>
            <a:r>
              <a:rPr lang="zh-CN" altLang="en-US" sz="2000" b="1">
                <a:solidFill>
                  <a:srgbClr val="692AA2"/>
                </a:solidFill>
                <a:ea typeface="仿宋_GB2312" pitchFamily="49" charset="-122"/>
              </a:rPr>
              <a:t>月到</a:t>
            </a:r>
            <a:r>
              <a:rPr lang="en-US" altLang="zh-CN" sz="2000" b="1">
                <a:solidFill>
                  <a:srgbClr val="692AA2"/>
                </a:solidFill>
                <a:ea typeface="仿宋_GB2312" pitchFamily="49" charset="-122"/>
              </a:rPr>
              <a:t>2005</a:t>
            </a:r>
            <a:r>
              <a:rPr lang="zh-CN" altLang="en-US" sz="2000" b="1">
                <a:solidFill>
                  <a:srgbClr val="692AA2"/>
                </a:solidFill>
                <a:ea typeface="仿宋_GB2312" pitchFamily="49" charset="-122"/>
              </a:rPr>
              <a:t>年</a:t>
            </a:r>
            <a:r>
              <a:rPr lang="en-US" altLang="zh-CN" sz="2000" b="1">
                <a:solidFill>
                  <a:srgbClr val="692AA2"/>
                </a:solidFill>
                <a:ea typeface="仿宋_GB2312" pitchFamily="49" charset="-122"/>
              </a:rPr>
              <a:t>4</a:t>
            </a:r>
            <a:r>
              <a:rPr lang="zh-CN" altLang="en-US" sz="2000" b="1">
                <a:solidFill>
                  <a:srgbClr val="692AA2"/>
                </a:solidFill>
                <a:ea typeface="仿宋_GB2312" pitchFamily="49" charset="-122"/>
              </a:rPr>
              <a:t>月）的</a:t>
            </a:r>
            <a:r>
              <a:rPr lang="en-US" altLang="zh-CN" sz="2000" b="1">
                <a:solidFill>
                  <a:srgbClr val="692AA2"/>
                </a:solidFill>
                <a:ea typeface="仿宋_GB2312" pitchFamily="49" charset="-122"/>
              </a:rPr>
              <a:t>CODMn</a:t>
            </a:r>
            <a:r>
              <a:rPr lang="zh-CN" altLang="en-US" sz="2000" b="1">
                <a:solidFill>
                  <a:srgbClr val="692AA2"/>
                </a:solidFill>
                <a:ea typeface="仿宋_GB2312" pitchFamily="49" charset="-122"/>
              </a:rPr>
              <a:t>污染状况进行评价，结果如下表：</a:t>
            </a:r>
            <a:endParaRPr lang="zh-CN" altLang="en-US" sz="2000" b="1">
              <a:solidFill>
                <a:srgbClr val="692AA2"/>
              </a:solidFill>
              <a:ea typeface="仿宋_GB2312" pitchFamily="49" charset="-122"/>
            </a:endParaRPr>
          </a:p>
          <a:p>
            <a:pPr eaLnBrk="1" hangingPunct="1">
              <a:lnSpc>
                <a:spcPct val="120000"/>
              </a:lnSpc>
              <a:buNone/>
            </a:pPr>
            <a:endParaRPr lang="en-US" altLang="zh-CN" sz="2000" b="1">
              <a:solidFill>
                <a:srgbClr val="692AA2"/>
              </a:solidFill>
              <a:ea typeface="仿宋_GB2312" pitchFamily="49" charset="-122"/>
            </a:endParaRPr>
          </a:p>
        </p:txBody>
      </p:sp>
    </p:spTree>
  </p:cSld>
  <p:clrMapOvr>
    <a:masterClrMapping/>
  </p:clrMapOvr>
  <p:transition>
    <p:checker/>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5" name="Rectangle 2"/>
          <p:cNvSpPr>
            <a:spLocks noGrp="1"/>
          </p:cNvSpPr>
          <p:nvPr>
            <p:ph type="title"/>
          </p:nvPr>
        </p:nvSpPr>
        <p:spPr>
          <a:ln/>
        </p:spPr>
        <p:txBody>
          <a:bodyPr vert="horz" wrap="square" lIns="91440" tIns="45720" rIns="91440" bIns="45720" anchor="b"/>
          <a:p>
            <a:pPr marL="342900" indent="-342900" eaLnBrk="1" hangingPunct="1">
              <a:lnSpc>
                <a:spcPct val="120000"/>
              </a:lnSpc>
              <a:spcBef>
                <a:spcPct val="20000"/>
              </a:spcBef>
              <a:buClr>
                <a:schemeClr val="hlink"/>
              </a:buClr>
              <a:buFont typeface="Wingdings" panose="05000000000000000000" pitchFamily="2" charset="2"/>
              <a:buNone/>
            </a:pPr>
            <a:r>
              <a:rPr lang="zh-CN" altLang="en-US" sz="1400" b="1">
                <a:solidFill>
                  <a:srgbClr val="692AA2"/>
                </a:solidFill>
                <a:ea typeface="仿宋_GB2312" pitchFamily="49" charset="-122"/>
              </a:rPr>
              <a:t>表</a:t>
            </a:r>
            <a:r>
              <a:rPr lang="en-US" altLang="zh-CN" sz="1400" b="1">
                <a:solidFill>
                  <a:srgbClr val="692AA2"/>
                </a:solidFill>
                <a:ea typeface="仿宋_GB2312" pitchFamily="49" charset="-122"/>
              </a:rPr>
              <a:t>4  </a:t>
            </a:r>
            <a:r>
              <a:rPr lang="zh-CN" altLang="en-US" sz="1400" b="1">
                <a:solidFill>
                  <a:srgbClr val="692AA2"/>
                </a:solidFill>
                <a:ea typeface="仿宋_GB2312" pitchFamily="49" charset="-122"/>
              </a:rPr>
              <a:t>近一年多各地区</a:t>
            </a:r>
            <a:r>
              <a:rPr lang="en-US" altLang="zh-CN" sz="1400" b="1">
                <a:solidFill>
                  <a:srgbClr val="692AA2"/>
                </a:solidFill>
                <a:ea typeface="仿宋_GB2312" pitchFamily="49" charset="-122"/>
              </a:rPr>
              <a:t>CODMn</a:t>
            </a:r>
            <a:r>
              <a:rPr lang="zh-CN" altLang="en-US" sz="1400" b="1">
                <a:solidFill>
                  <a:srgbClr val="692AA2"/>
                </a:solidFill>
                <a:ea typeface="仿宋_GB2312" pitchFamily="49" charset="-122"/>
              </a:rPr>
              <a:t>的污染状况</a:t>
            </a:r>
            <a:endParaRPr lang="zh-CN" altLang="en-US" sz="1400" b="1">
              <a:solidFill>
                <a:srgbClr val="692AA2"/>
              </a:solidFill>
              <a:ea typeface="仿宋_GB2312" pitchFamily="49" charset="-122"/>
            </a:endParaRPr>
          </a:p>
        </p:txBody>
      </p:sp>
      <p:graphicFrame>
        <p:nvGraphicFramePr>
          <p:cNvPr id="342192" name="Group 176"/>
          <p:cNvGraphicFramePr>
            <a:graphicFrameLocks noGrp="1"/>
          </p:cNvGraphicFramePr>
          <p:nvPr>
            <p:ph idx="1"/>
          </p:nvPr>
        </p:nvGraphicFramePr>
        <p:xfrm>
          <a:off x="250825" y="1268413"/>
          <a:ext cx="8512175" cy="4937125"/>
        </p:xfrm>
        <a:graphic>
          <a:graphicData uri="http://schemas.openxmlformats.org/drawingml/2006/table">
            <a:tbl>
              <a:tblPr/>
              <a:tblGrid>
                <a:gridCol w="1657350"/>
                <a:gridCol w="1014413"/>
                <a:gridCol w="1055687"/>
                <a:gridCol w="1055688"/>
                <a:gridCol w="909637"/>
                <a:gridCol w="788988"/>
                <a:gridCol w="1008062"/>
                <a:gridCol w="1022350"/>
              </a:tblGrid>
              <a:tr h="244475">
                <a:tc>
                  <a:txBody>
                    <a:bodyPr/>
                    <a:lstStyle/>
                    <a:p>
                      <a:pPr marL="0" marR="0" lvl="0" indent="0" algn="l"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endParaRPr kumimoji="0" lang="zh-CN"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2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Ⅰ</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2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Ⅱ</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2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Ⅲ</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2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Ⅳ</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2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Ⅴ</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等级</a:t>
                      </a:r>
                      <a:r>
                        <a:rPr kumimoji="0" lang="en-US" altLang="zh-CN" sz="1200" b="0" i="0" u="none" strike="noStrike" cap="none" normalizeH="0" baseline="0" smtClean="0">
                          <a:ln>
                            <a:noFill/>
                          </a:ln>
                          <a:solidFill>
                            <a:srgbClr val="0000FF"/>
                          </a:solidFill>
                          <a:effectLst/>
                          <a:latin typeface="宋体" panose="02010600030101010101" pitchFamily="2" charset="-122"/>
                          <a:ea typeface="黑体" panose="02010609060101010101" pitchFamily="2" charset="-122"/>
                          <a:cs typeface="Times New Roman" panose="02020603050405020304" pitchFamily="18" charset="0"/>
                        </a:rPr>
                        <a:t>ⅤⅠ</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综合等级</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四川攀枝花</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0.6923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,0.1558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0.0019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1.4673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重庆朱沱</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0.7692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0.2154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0.0154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1.2462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湖北宜昌南津关</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0.6423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0.3577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1.3577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湖南岳阳城陵矶</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0.2308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0.7154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0.0538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1.8231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江西九江河西水厂</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0.7885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0.2115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1.2115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97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安徽安庆皖河口</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0.8231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0.1769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1.1769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江苏南京林山</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0.9577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0.0423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1.0423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四川乐山岷江大桥</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0.5308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0.2058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0.0635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2.1327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四川宜宾凉姜沟</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0.7385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0.2385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0.0231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1.2846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四川泸州沱江二桥</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0.5808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0.3654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0.0538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0.005357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1.4731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湖北丹江口胡家岭</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0.9962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0.2615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0.0769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1.0038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湖南长沙新港</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0.6615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0.2615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0.0769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1.4154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湖南岳阳岳阳楼</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0.0923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0.3615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0.5019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0.0442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2.4981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97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湖北武汉宗关</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0.4039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0.5769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0.0192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1.6154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江西南昌滁槎</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0.6885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0.2039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0.0865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0.0212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1.4404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江西九江蛤蟆石</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0.5115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0.2577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0.1192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0.1115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1.8308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1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江苏扬州三江营</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0.3192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0.5615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0.1192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hecke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49"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从上表中可以发现：</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、观测站</a:t>
            </a:r>
            <a:r>
              <a:rPr lang="en-US" altLang="zh-CN" sz="1800" b="1">
                <a:solidFill>
                  <a:srgbClr val="692AA2"/>
                </a:solidFill>
                <a:ea typeface="仿宋_GB2312" pitchFamily="49" charset="-122"/>
              </a:rPr>
              <a:t>13</a:t>
            </a:r>
            <a:r>
              <a:rPr lang="zh-CN" altLang="en-US" sz="1800" b="1">
                <a:solidFill>
                  <a:srgbClr val="692AA2"/>
                </a:solidFill>
                <a:ea typeface="仿宋_GB2312" pitchFamily="49" charset="-122"/>
              </a:rPr>
              <a:t>（洞庭湖出口）的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污染情况严重，而观测站</a:t>
            </a:r>
            <a:r>
              <a:rPr lang="en-US" altLang="zh-CN" sz="1800" b="1">
                <a:solidFill>
                  <a:srgbClr val="692AA2"/>
                </a:solidFill>
                <a:ea typeface="仿宋_GB2312" pitchFamily="49" charset="-122"/>
              </a:rPr>
              <a:t>12</a:t>
            </a:r>
            <a:r>
              <a:rPr lang="zh-CN" altLang="en-US" sz="1800" b="1">
                <a:solidFill>
                  <a:srgbClr val="692AA2"/>
                </a:solidFill>
                <a:ea typeface="仿宋_GB2312" pitchFamily="49" charset="-122"/>
              </a:rPr>
              <a:t>（湘江流入洞庭湖前）的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污染情况很轻，即从湘江流入洞庭湖水质的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污染很轻，而从洞庭湖流入长江水质的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污染却很严重。这说明了洞庭湖是长江干流</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污染的一个污染源。再分析观测站</a:t>
            </a:r>
            <a:r>
              <a:rPr lang="en-US" altLang="zh-CN" sz="1800" b="1">
                <a:solidFill>
                  <a:srgbClr val="692AA2"/>
                </a:solidFill>
                <a:ea typeface="仿宋_GB2312" pitchFamily="49" charset="-122"/>
              </a:rPr>
              <a:t>16</a:t>
            </a:r>
            <a:r>
              <a:rPr lang="zh-CN" altLang="en-US" sz="1800" b="1">
                <a:solidFill>
                  <a:srgbClr val="692AA2"/>
                </a:solidFill>
                <a:ea typeface="仿宋_GB2312" pitchFamily="49" charset="-122"/>
              </a:rPr>
              <a:t>（赣江在流入鄱阳湖前）与观测站</a:t>
            </a:r>
            <a:r>
              <a:rPr lang="en-US" altLang="zh-CN" sz="1800" b="1">
                <a:solidFill>
                  <a:srgbClr val="692AA2"/>
                </a:solidFill>
                <a:ea typeface="仿宋_GB2312" pitchFamily="49" charset="-122"/>
              </a:rPr>
              <a:t>15</a:t>
            </a:r>
            <a:r>
              <a:rPr lang="zh-CN" altLang="en-US" sz="1800" b="1">
                <a:solidFill>
                  <a:srgbClr val="692AA2"/>
                </a:solidFill>
                <a:ea typeface="仿宋_GB2312" pitchFamily="49" charset="-122"/>
              </a:rPr>
              <a:t>（鄱阳湖出口）的数据，同样可以发现鄱阳湖也是长江干流</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污染的一个污染源。 </a:t>
            </a:r>
            <a:endParaRPr lang="zh-CN" altLang="en-US" sz="1800" b="1">
              <a:solidFill>
                <a:srgbClr val="692AA2"/>
              </a:solidFill>
              <a:ea typeface="仿宋_GB2312" pitchFamily="49" charset="-122"/>
            </a:endParaRPr>
          </a:p>
        </p:txBody>
      </p:sp>
    </p:spTree>
  </p:cSld>
  <p:clrMapOvr>
    <a:masterClrMapping/>
  </p:clrMapOvr>
  <p:transition>
    <p:checker dir="vert"/>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3" name="Rectangle 3"/>
          <p:cNvSpPr>
            <a:spLocks noGrp="1"/>
          </p:cNvSpPr>
          <p:nvPr>
            <p:ph idx="1"/>
          </p:nvPr>
        </p:nvSpPr>
        <p:spPr>
          <a:xfrm>
            <a:off x="457200" y="1981200"/>
            <a:ext cx="8229600" cy="4495800"/>
          </a:xfrm>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2</a:t>
            </a:r>
            <a:r>
              <a:rPr lang="zh-CN" altLang="en-US" sz="1800" b="1">
                <a:solidFill>
                  <a:srgbClr val="692AA2"/>
                </a:solidFill>
                <a:ea typeface="仿宋_GB2312" pitchFamily="49" charset="-122"/>
              </a:rPr>
              <a:t>、站点</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、站点</a:t>
            </a:r>
            <a:r>
              <a:rPr lang="en-US" altLang="zh-CN" sz="1800" b="1">
                <a:solidFill>
                  <a:srgbClr val="692AA2"/>
                </a:solidFill>
                <a:ea typeface="仿宋_GB2312" pitchFamily="49" charset="-122"/>
              </a:rPr>
              <a:t>8</a:t>
            </a:r>
            <a:r>
              <a:rPr lang="zh-CN" altLang="en-US" sz="1800" b="1">
                <a:solidFill>
                  <a:srgbClr val="692AA2"/>
                </a:solidFill>
                <a:ea typeface="仿宋_GB2312" pitchFamily="49" charset="-122"/>
              </a:rPr>
              <a:t>和站点</a:t>
            </a:r>
            <a:r>
              <a:rPr lang="en-US" altLang="zh-CN" sz="1800" b="1">
                <a:solidFill>
                  <a:srgbClr val="692AA2"/>
                </a:solidFill>
                <a:ea typeface="仿宋_GB2312" pitchFamily="49" charset="-122"/>
              </a:rPr>
              <a:t>17</a:t>
            </a:r>
            <a:r>
              <a:rPr lang="zh-CN" altLang="en-US" sz="1800" b="1">
                <a:solidFill>
                  <a:srgbClr val="692AA2"/>
                </a:solidFill>
                <a:ea typeface="仿宋_GB2312" pitchFamily="49" charset="-122"/>
              </a:rPr>
              <a:t>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污染也较为严重，它们的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污染的污染源还不能确定。</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下面通过计算污染物</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在各个站点的到达浓度和净增浓度来进行分析：</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根据上面的污染物到达浓度和净增浓度的定义与计算公式，对</a:t>
            </a:r>
            <a:r>
              <a:rPr lang="en-US" altLang="zh-CN" sz="1800" b="1">
                <a:solidFill>
                  <a:srgbClr val="692AA2"/>
                </a:solidFill>
                <a:ea typeface="仿宋_GB2312" pitchFamily="49" charset="-122"/>
              </a:rPr>
              <a:t>2004</a:t>
            </a:r>
            <a:r>
              <a:rPr lang="zh-CN" altLang="en-US" sz="1800" b="1">
                <a:solidFill>
                  <a:srgbClr val="692AA2"/>
                </a:solidFill>
                <a:ea typeface="仿宋_GB2312" pitchFamily="49" charset="-122"/>
              </a:rPr>
              <a:t>年</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月到</a:t>
            </a:r>
            <a:r>
              <a:rPr lang="en-US" altLang="zh-CN" sz="1800" b="1">
                <a:solidFill>
                  <a:srgbClr val="692AA2"/>
                </a:solidFill>
                <a:ea typeface="仿宋_GB2312" pitchFamily="49" charset="-122"/>
              </a:rPr>
              <a:t>2005</a:t>
            </a:r>
            <a:r>
              <a:rPr lang="zh-CN" altLang="en-US" sz="1800" b="1">
                <a:solidFill>
                  <a:srgbClr val="692AA2"/>
                </a:solidFill>
                <a:ea typeface="仿宋_GB2312" pitchFamily="49" charset="-122"/>
              </a:rPr>
              <a:t>年</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月的长江干流</a:t>
            </a:r>
            <a:r>
              <a:rPr lang="en-US" altLang="zh-CN" sz="1800" b="1">
                <a:solidFill>
                  <a:srgbClr val="692AA2"/>
                </a:solidFill>
                <a:ea typeface="仿宋_GB2312" pitchFamily="49" charset="-122"/>
              </a:rPr>
              <a:t>7</a:t>
            </a:r>
            <a:r>
              <a:rPr lang="zh-CN" altLang="en-US" sz="1800" b="1">
                <a:solidFill>
                  <a:srgbClr val="692AA2"/>
                </a:solidFill>
                <a:ea typeface="仿宋_GB2312" pitchFamily="49" charset="-122"/>
              </a:rPr>
              <a:t>个观测站的污染物</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进行计算，得到计算结果如下面的表</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与表</a:t>
            </a:r>
            <a:r>
              <a:rPr lang="en-US" altLang="zh-CN" sz="1800" b="1">
                <a:solidFill>
                  <a:srgbClr val="692AA2"/>
                </a:solidFill>
                <a:ea typeface="仿宋_GB2312" pitchFamily="49" charset="-122"/>
              </a:rPr>
              <a:t>4 </a:t>
            </a:r>
            <a:r>
              <a:rPr lang="zh-CN" altLang="en-US" sz="1800" b="1">
                <a:solidFill>
                  <a:srgbClr val="692AA2"/>
                </a:solidFill>
                <a:ea typeface="仿宋_GB2312" pitchFamily="49" charset="-122"/>
              </a:rPr>
              <a:t>：</a:t>
            </a:r>
            <a:endParaRPr lang="zh-CN" altLang="en-US" sz="1800" b="1">
              <a:solidFill>
                <a:srgbClr val="692AA2"/>
              </a:solidFill>
              <a:ea typeface="仿宋_GB2312" pitchFamily="49" charset="-122"/>
            </a:endParaRPr>
          </a:p>
        </p:txBody>
      </p:sp>
    </p:spTree>
  </p:cSld>
  <p:clrMapOvr>
    <a:masterClrMapping/>
  </p:clrMapOvr>
  <p:transition>
    <p:comb/>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7" name="Rectangle 2"/>
          <p:cNvSpPr>
            <a:spLocks noGrp="1"/>
          </p:cNvSpPr>
          <p:nvPr>
            <p:ph type="title"/>
          </p:nvPr>
        </p:nvSpPr>
        <p:spPr>
          <a:xfrm>
            <a:off x="944563" y="365125"/>
            <a:ext cx="7186612" cy="192088"/>
          </a:xfrm>
          <a:ln/>
        </p:spPr>
        <p:txBody>
          <a:bodyPr vert="horz" wrap="square" lIns="91440" tIns="45720" rIns="91440" bIns="45720" anchor="b"/>
          <a:p>
            <a:pPr marL="342900" indent="-342900" eaLnBrk="1" hangingPunct="1">
              <a:lnSpc>
                <a:spcPct val="120000"/>
              </a:lnSpc>
              <a:spcBef>
                <a:spcPct val="20000"/>
              </a:spcBef>
              <a:buClr>
                <a:schemeClr val="hlink"/>
              </a:buClr>
              <a:buFont typeface="Wingdings" panose="05000000000000000000" pitchFamily="2" charset="2"/>
              <a:buNone/>
            </a:pPr>
            <a:r>
              <a:rPr lang="zh-CN" altLang="en-US" sz="1400" b="1">
                <a:solidFill>
                  <a:srgbClr val="692AA2"/>
                </a:solidFill>
                <a:ea typeface="仿宋_GB2312" pitchFamily="49" charset="-122"/>
              </a:rPr>
              <a:t>表</a:t>
            </a:r>
            <a:r>
              <a:rPr lang="en-US" altLang="zh-CN" sz="1400" b="1">
                <a:solidFill>
                  <a:srgbClr val="692AA2"/>
                </a:solidFill>
                <a:ea typeface="仿宋_GB2312" pitchFamily="49" charset="-122"/>
              </a:rPr>
              <a:t>5 </a:t>
            </a:r>
            <a:r>
              <a:rPr lang="zh-CN" altLang="en-US" sz="1400" b="1">
                <a:solidFill>
                  <a:srgbClr val="692AA2"/>
                </a:solidFill>
                <a:ea typeface="仿宋_GB2312" pitchFamily="49" charset="-122"/>
              </a:rPr>
              <a:t>各站点</a:t>
            </a:r>
            <a:r>
              <a:rPr lang="en-US" altLang="zh-CN" sz="1400" b="1">
                <a:solidFill>
                  <a:srgbClr val="692AA2"/>
                </a:solidFill>
                <a:ea typeface="仿宋_GB2312" pitchFamily="49" charset="-122"/>
              </a:rPr>
              <a:t>CODMn</a:t>
            </a:r>
            <a:r>
              <a:rPr lang="zh-CN" altLang="en-US" sz="1400" b="1">
                <a:solidFill>
                  <a:srgbClr val="692AA2"/>
                </a:solidFill>
                <a:ea typeface="仿宋_GB2312" pitchFamily="49" charset="-122"/>
              </a:rPr>
              <a:t>到达浓度 </a:t>
            </a:r>
            <a:r>
              <a:rPr lang="en-US" altLang="zh-CN" sz="1400" b="1">
                <a:solidFill>
                  <a:srgbClr val="692AA2"/>
                </a:solidFill>
                <a:ea typeface="仿宋_GB2312" pitchFamily="49" charset="-122"/>
              </a:rPr>
              <a:t>mg/L</a:t>
            </a:r>
            <a:endParaRPr lang="en-US" altLang="zh-CN" sz="1400" b="1">
              <a:solidFill>
                <a:srgbClr val="692AA2"/>
              </a:solidFill>
              <a:ea typeface="仿宋_GB2312" pitchFamily="49" charset="-122"/>
            </a:endParaRPr>
          </a:p>
        </p:txBody>
      </p:sp>
      <p:graphicFrame>
        <p:nvGraphicFramePr>
          <p:cNvPr id="345091" name="Group 3"/>
          <p:cNvGraphicFramePr>
            <a:graphicFrameLocks noGrp="1"/>
          </p:cNvGraphicFramePr>
          <p:nvPr>
            <p:ph idx="1"/>
          </p:nvPr>
        </p:nvGraphicFramePr>
        <p:xfrm>
          <a:off x="457200" y="1231900"/>
          <a:ext cx="8458200" cy="4538663"/>
        </p:xfrm>
        <a:graphic>
          <a:graphicData uri="http://schemas.openxmlformats.org/drawingml/2006/table">
            <a:tbl>
              <a:tblPr/>
              <a:tblGrid>
                <a:gridCol w="914400"/>
                <a:gridCol w="1112838"/>
                <a:gridCol w="1249362"/>
                <a:gridCol w="1125538"/>
                <a:gridCol w="1389062"/>
                <a:gridCol w="1455738"/>
                <a:gridCol w="1211262"/>
              </a:tblGrid>
              <a:tr h="576263">
                <a:tc>
                  <a:txBody>
                    <a:bodyPr/>
                    <a:lstStyle/>
                    <a:p>
                      <a:pPr marL="0" marR="0" lvl="0" indent="0" algn="ctr"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endParaRPr kumimoji="0" lang="zh-CN"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重庆朱沱</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湖北宜</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昌南津关</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城陵矶</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河西水厂</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安徽安庆</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皖河口</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江苏南京</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林山</a:t>
                      </a:r>
                      <a:endParaRPr kumimoji="0" lang="zh-CN" altLang="en-US"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0.2881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0.69232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0.6534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0.88907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1.9243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1.0893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0.55674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0.38342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0.98823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0.77837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1.924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1.2393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0.33919</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0.70452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1.6425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1.173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1.8551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0.77598</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0.34301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0.90065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1.6043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1.733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1.7226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0.88111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2004.8</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0.97107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0.31564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1.495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1.4528</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1.7436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0.96117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2004.9</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0.51611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2.2493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2.0344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1.6158</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1.6238</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1.0687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2004.10</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0.071297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0.52596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1.7569</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1.5267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1.2076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0.93348</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2004.11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0.1976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0.38575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0.4592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0.54757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1.2392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0.61603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2004.12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0.089294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0.22383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0.49045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0.66766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1.3397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0.45467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2005.1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0.06264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0.18885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0.20109</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0.64582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1.2365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0.53035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2005.2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0.035288</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0.10976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0.18155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0.41783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1.355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0.585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2005.3</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0.30056</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0.10887</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0.24819</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0.38631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0.74835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0.75955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2005.4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0.051029</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0.14232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0.23465</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0.20202</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0.90121</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0.54904</a:t>
                      </a:r>
                      <a:endParaRPr kumimoji="0" lang="en-US" altLang="zh-CN" sz="14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hecker dir="vert"/>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1" name="Rectangle 2"/>
          <p:cNvSpPr>
            <a:spLocks noGrp="1"/>
          </p:cNvSpPr>
          <p:nvPr>
            <p:ph type="title"/>
          </p:nvPr>
        </p:nvSpPr>
        <p:spPr>
          <a:xfrm>
            <a:off x="1019175" y="635000"/>
            <a:ext cx="7186613" cy="192088"/>
          </a:xfrm>
          <a:ln/>
        </p:spPr>
        <p:txBody>
          <a:bodyPr vert="horz" wrap="square" lIns="91440" tIns="45720" rIns="91440" bIns="45720" anchor="b"/>
          <a:p>
            <a:pPr eaLnBrk="1" hangingPunct="1"/>
            <a:r>
              <a:rPr lang="zh-CN" altLang="en-US" sz="1400" b="1">
                <a:solidFill>
                  <a:srgbClr val="692AA2"/>
                </a:solidFill>
                <a:ea typeface="仿宋_GB2312" pitchFamily="49" charset="-122"/>
              </a:rPr>
              <a:t>表</a:t>
            </a:r>
            <a:r>
              <a:rPr lang="en-US" altLang="zh-CN" sz="1400" b="1">
                <a:solidFill>
                  <a:srgbClr val="692AA2"/>
                </a:solidFill>
                <a:ea typeface="仿宋_GB2312" pitchFamily="49" charset="-122"/>
              </a:rPr>
              <a:t>6  </a:t>
            </a:r>
            <a:r>
              <a:rPr lang="zh-CN" altLang="en-US" sz="1400" b="1">
                <a:solidFill>
                  <a:srgbClr val="692AA2"/>
                </a:solidFill>
                <a:ea typeface="仿宋_GB2312" pitchFamily="49" charset="-122"/>
              </a:rPr>
              <a:t>各站点</a:t>
            </a:r>
            <a:r>
              <a:rPr lang="en-US" altLang="zh-CN" sz="1400" b="1">
                <a:solidFill>
                  <a:srgbClr val="692AA2"/>
                </a:solidFill>
                <a:ea typeface="仿宋_GB2312" pitchFamily="49" charset="-122"/>
              </a:rPr>
              <a:t>CODMn</a:t>
            </a:r>
            <a:r>
              <a:rPr lang="zh-CN" altLang="en-US" sz="1400" b="1">
                <a:solidFill>
                  <a:srgbClr val="692AA2"/>
                </a:solidFill>
                <a:ea typeface="仿宋_GB2312" pitchFamily="49" charset="-122"/>
              </a:rPr>
              <a:t>净增浓度</a:t>
            </a:r>
            <a:r>
              <a:rPr lang="en-US" altLang="zh-CN" sz="1400" b="1">
                <a:solidFill>
                  <a:srgbClr val="692AA2"/>
                </a:solidFill>
                <a:ea typeface="仿宋_GB2312" pitchFamily="49" charset="-122"/>
              </a:rPr>
              <a:t>mg/L</a:t>
            </a:r>
            <a:r>
              <a:rPr lang="en-US" altLang="zh-CN" sz="2800"/>
              <a:t> </a:t>
            </a:r>
            <a:endParaRPr lang="en-US" altLang="zh-CN" sz="2800"/>
          </a:p>
        </p:txBody>
      </p:sp>
      <p:graphicFrame>
        <p:nvGraphicFramePr>
          <p:cNvPr id="346115" name="Group 3"/>
          <p:cNvGraphicFramePr>
            <a:graphicFrameLocks noGrp="1"/>
          </p:cNvGraphicFramePr>
          <p:nvPr>
            <p:ph idx="1"/>
          </p:nvPr>
        </p:nvGraphicFramePr>
        <p:xfrm>
          <a:off x="566738" y="1341438"/>
          <a:ext cx="8001000" cy="4495800"/>
        </p:xfrm>
        <a:graphic>
          <a:graphicData uri="http://schemas.openxmlformats.org/drawingml/2006/table">
            <a:tbl>
              <a:tblPr/>
              <a:tblGrid>
                <a:gridCol w="1141412"/>
                <a:gridCol w="1144588"/>
                <a:gridCol w="1141412"/>
                <a:gridCol w="1143000"/>
                <a:gridCol w="1143000"/>
                <a:gridCol w="1143000"/>
                <a:gridCol w="1144588"/>
              </a:tblGrid>
              <a:tr h="563563">
                <a:tc>
                  <a:txBody>
                    <a:bodyPr/>
                    <a:lstStyle/>
                    <a:p>
                      <a:pPr marL="0" marR="0" lvl="0" indent="0" algn="l" defTabSz="914400" rtl="0" eaLnBrk="1" fontAlgn="base" latinLnBrk="0" hangingPunct="1">
                        <a:lnSpc>
                          <a:spcPct val="100000"/>
                        </a:lnSpc>
                        <a:spcBef>
                          <a:spcPct val="10000"/>
                        </a:spcBef>
                        <a:spcAft>
                          <a:spcPct val="0"/>
                        </a:spcAft>
                        <a:buClr>
                          <a:schemeClr val="accent2"/>
                        </a:buClr>
                        <a:buSzTx/>
                        <a:buFont typeface="Wingdings" panose="05000000000000000000" pitchFamily="2" charset="2"/>
                        <a:buNone/>
                      </a:pPr>
                      <a:endParaRPr kumimoji="0" lang="zh-CN"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重庆朱沱</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湖北宜昌南津关</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湖南岳阳城陵矶</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江西九江河西水厂</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安徽安庆皖河口</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江苏南京林山</a:t>
                      </a:r>
                      <a:endParaRPr kumimoji="0" lang="zh-CN" altLang="en-US"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3.2119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1.5077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2.6466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2.0109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0.87515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0.41071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1.6433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2.6166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2.6118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2.3216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1.276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5.06067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2.6608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3.0955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1.8575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1.427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0.25514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1.244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20957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2.2993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2.5957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0.867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0.022574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0.91889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1.0289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2.7844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2.505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0.84723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0.15642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0.73883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3.8839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1.1507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1.8656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0.2842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0.023783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1.2313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2004.10</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1.5287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3.174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1.7431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0.37327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0.8924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0.96652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2004.11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1.8024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1.5142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2.1041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1.6524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0.96081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1.184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2004.12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1.2107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2.1762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3.0095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1.6323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0.36034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1.5453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2005.1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1.2374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1.7111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4.8989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1.7542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1.3635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1.9696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2005.2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1.7647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1.8902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3.0184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2.6822</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1.345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1.715</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1625">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2005.3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1.8699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1.9911</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3.8518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1.4137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1.9516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1.0404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2005.4</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1.949</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2.2577</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2.6653</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1.798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1.3988</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chemeClr val="accent2"/>
                        </a:buClr>
                        <a:buSzTx/>
                        <a:buFont typeface="Wingdings" panose="05000000000000000000" pitchFamily="2" charset="2"/>
                        <a:buNone/>
                      </a:pPr>
                      <a:r>
                        <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rPr>
                        <a:t>0.95096</a:t>
                      </a:r>
                      <a:endParaRPr kumimoji="0" lang="en-US" altLang="zh-CN" sz="1200" b="0" i="0" u="none" strike="noStrike" cap="none" normalizeH="0" baseline="0" smtClean="0">
                        <a:ln>
                          <a:noFill/>
                        </a:ln>
                        <a:solidFill>
                          <a:srgbClr val="0000FF"/>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hecke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5"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a:t>
            </a:r>
            <a:r>
              <a:rPr lang="zh-CN" altLang="en-US" sz="1800" b="1">
                <a:solidFill>
                  <a:srgbClr val="692AA2"/>
                </a:solidFill>
                <a:ea typeface="仿宋_GB2312" pitchFamily="49" charset="-122"/>
              </a:rPr>
              <a:t>由上面的表</a:t>
            </a:r>
            <a:r>
              <a:rPr lang="en-US" altLang="zh-CN" sz="1800" b="1">
                <a:solidFill>
                  <a:srgbClr val="692AA2"/>
                </a:solidFill>
                <a:ea typeface="仿宋_GB2312" pitchFamily="49" charset="-122"/>
              </a:rPr>
              <a:t>5</a:t>
            </a:r>
            <a:r>
              <a:rPr lang="zh-CN" altLang="en-US" sz="1800" b="1">
                <a:solidFill>
                  <a:srgbClr val="692AA2"/>
                </a:solidFill>
                <a:ea typeface="仿宋_GB2312" pitchFamily="49" charset="-122"/>
              </a:rPr>
              <a:t>可以发现：</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、站点</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（重庆朱沱）的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净增浓度较大而</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到达浓度较小，这说明站点</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的污染不是从上一个站点带来的，这时考虑到它与站点</a:t>
            </a:r>
            <a:r>
              <a:rPr lang="en-US" altLang="zh-CN" sz="1800" b="1">
                <a:solidFill>
                  <a:srgbClr val="692AA2"/>
                </a:solidFill>
                <a:ea typeface="仿宋_GB2312" pitchFamily="49" charset="-122"/>
              </a:rPr>
              <a:t>1</a:t>
            </a:r>
            <a:r>
              <a:rPr lang="zh-CN" altLang="en-US" sz="1800" b="1">
                <a:solidFill>
                  <a:srgbClr val="692AA2"/>
                </a:solidFill>
                <a:ea typeface="仿宋_GB2312" pitchFamily="49" charset="-122"/>
              </a:rPr>
              <a:t>之间有两条支流（岷江和沱江）（见图</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），因此它的污染可能是由支流带来的。由表</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可以发现站点</a:t>
            </a:r>
            <a:r>
              <a:rPr lang="en-US" altLang="zh-CN" sz="1800" b="1">
                <a:solidFill>
                  <a:srgbClr val="692AA2"/>
                </a:solidFill>
                <a:ea typeface="仿宋_GB2312" pitchFamily="49" charset="-122"/>
              </a:rPr>
              <a:t>8</a:t>
            </a:r>
            <a:r>
              <a:rPr lang="zh-CN" altLang="en-US" sz="1800" b="1">
                <a:solidFill>
                  <a:srgbClr val="692AA2"/>
                </a:solidFill>
                <a:ea typeface="仿宋_GB2312" pitchFamily="49" charset="-122"/>
              </a:rPr>
              <a:t>（岷江）的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污染严重，所以站点</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的污染源可能是岷江（当然也可能站点</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本地区排污也比较严重）</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、站点</a:t>
            </a:r>
            <a:r>
              <a:rPr lang="en-US" altLang="zh-CN" sz="1800" b="1">
                <a:solidFill>
                  <a:srgbClr val="692AA2"/>
                </a:solidFill>
                <a:ea typeface="仿宋_GB2312" pitchFamily="49" charset="-122"/>
              </a:rPr>
              <a:t>3</a:t>
            </a:r>
            <a:r>
              <a:rPr lang="zh-CN" altLang="en-US" sz="1800" b="1">
                <a:solidFill>
                  <a:srgbClr val="692AA2"/>
                </a:solidFill>
                <a:ea typeface="仿宋_GB2312" pitchFamily="49" charset="-122"/>
              </a:rPr>
              <a:t>（湖北宜昌南津关）的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净增浓度较大而</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到达浓度较小，即知它的污染不是从上一个站点带来的，而它与上一个站点间又没有支流，所以它的污染源就在这个站点地区（包括它与上一个站点之间河段附近）。</a:t>
            </a:r>
            <a:endParaRPr lang="zh-CN" altLang="en-US" sz="1800" b="1">
              <a:solidFill>
                <a:srgbClr val="692AA2"/>
              </a:solidFill>
              <a:ea typeface="仿宋_GB2312" pitchFamily="49" charset="-122"/>
            </a:endParaRPr>
          </a:p>
        </p:txBody>
      </p:sp>
    </p:spTree>
  </p:cSld>
  <p:clrMapOvr>
    <a:masterClrMapping/>
  </p:clrMapOvr>
  <p:transition>
    <p:zoom dir="in"/>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69"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3</a:t>
            </a:r>
            <a:r>
              <a:rPr lang="zh-CN" altLang="en-US" sz="1800" b="1">
                <a:solidFill>
                  <a:srgbClr val="692AA2"/>
                </a:solidFill>
                <a:ea typeface="仿宋_GB2312" pitchFamily="49" charset="-122"/>
              </a:rPr>
              <a:t>、站点</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（湖南岳阳城陵矶）的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净增浓度都很大（有的超过</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）而</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到达浓度大部分都较小，这说明站点四的污染不是从上一个站点带来的，又考虑到它位于长江与洞庭湖相接的口子上（见图</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），而洞庭湖是</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污染的一个污染源，所以站点</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的污染源是洞庭湖地区。</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a:t>
            </a:r>
            <a:r>
              <a:rPr lang="en-US" altLang="zh-CN" sz="1800" b="1">
                <a:solidFill>
                  <a:srgbClr val="692AA2"/>
                </a:solidFill>
                <a:ea typeface="仿宋_GB2312" pitchFamily="49" charset="-122"/>
              </a:rPr>
              <a:t>4</a:t>
            </a:r>
            <a:r>
              <a:rPr lang="zh-CN" altLang="en-US" sz="1800" b="1">
                <a:solidFill>
                  <a:srgbClr val="692AA2"/>
                </a:solidFill>
                <a:ea typeface="仿宋_GB2312" pitchFamily="49" charset="-122"/>
              </a:rPr>
              <a:t>、站点</a:t>
            </a:r>
            <a:r>
              <a:rPr lang="en-US" altLang="zh-CN" sz="1800" b="1">
                <a:solidFill>
                  <a:srgbClr val="692AA2"/>
                </a:solidFill>
                <a:ea typeface="仿宋_GB2312" pitchFamily="49" charset="-122"/>
              </a:rPr>
              <a:t>5</a:t>
            </a:r>
            <a:r>
              <a:rPr lang="zh-CN" altLang="en-US" sz="1800" b="1">
                <a:solidFill>
                  <a:srgbClr val="692AA2"/>
                </a:solidFill>
                <a:ea typeface="仿宋_GB2312" pitchFamily="49" charset="-122"/>
              </a:rPr>
              <a:t>（江西九江河西水厂）的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净增浓度和到达浓度受丰水期和枯水期影响明显，在丰水期</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净增浓度较小而到达浓度较大，在枯水期则刚好相反。考虑到它的上一个站点（湖南岳阳城陵矶）</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污染比较严重，所以在丰水期它的污染主要是由上一个站点带来，而在枯水期，上游对它的影响明显减少，这时它的污染主要是本地区排污造成的。</a:t>
            </a:r>
            <a:endParaRPr lang="zh-CN" altLang="en-US" sz="1800" b="1">
              <a:solidFill>
                <a:srgbClr val="692AA2"/>
              </a:solidFill>
              <a:ea typeface="仿宋_GB2312" pitchFamily="49" charset="-122"/>
            </a:endParaRPr>
          </a:p>
        </p:txBody>
      </p:sp>
    </p:spTree>
  </p:cSld>
  <p:clrMapOvr>
    <a:masterClrMapping/>
  </p:clrMapOvr>
  <p:transition>
    <p:zoom/>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3"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sz="1800" b="1">
                <a:solidFill>
                  <a:srgbClr val="692AA2"/>
                </a:solidFill>
                <a:ea typeface="仿宋_GB2312" pitchFamily="49" charset="-122"/>
              </a:rPr>
              <a:t>            5</a:t>
            </a:r>
            <a:r>
              <a:rPr lang="zh-CN" altLang="en-US" sz="1800" b="1">
                <a:solidFill>
                  <a:srgbClr val="692AA2"/>
                </a:solidFill>
                <a:ea typeface="仿宋_GB2312" pitchFamily="49" charset="-122"/>
              </a:rPr>
              <a:t>、站点</a:t>
            </a:r>
            <a:r>
              <a:rPr lang="en-US" altLang="zh-CN" sz="1800" b="1">
                <a:solidFill>
                  <a:srgbClr val="692AA2"/>
                </a:solidFill>
                <a:ea typeface="仿宋_GB2312" pitchFamily="49" charset="-122"/>
              </a:rPr>
              <a:t>6</a:t>
            </a:r>
            <a:r>
              <a:rPr lang="zh-CN" altLang="en-US" sz="1800" b="1">
                <a:solidFill>
                  <a:srgbClr val="692AA2"/>
                </a:solidFill>
                <a:ea typeface="仿宋_GB2312" pitchFamily="49" charset="-122"/>
              </a:rPr>
              <a:t>（安徽安庆皖河口）与站点</a:t>
            </a:r>
            <a:r>
              <a:rPr lang="en-US" altLang="zh-CN" sz="1800" b="1">
                <a:solidFill>
                  <a:srgbClr val="692AA2"/>
                </a:solidFill>
                <a:ea typeface="仿宋_GB2312" pitchFamily="49" charset="-122"/>
              </a:rPr>
              <a:t>7</a:t>
            </a:r>
            <a:r>
              <a:rPr lang="zh-CN" altLang="en-US" sz="1800" b="1">
                <a:solidFill>
                  <a:srgbClr val="692AA2"/>
                </a:solidFill>
                <a:ea typeface="仿宋_GB2312" pitchFamily="49" charset="-122"/>
              </a:rPr>
              <a:t>（江苏南京林山）的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净增浓度都很小（不超过</a:t>
            </a:r>
            <a:r>
              <a:rPr lang="en-US" altLang="zh-CN" sz="1800" b="1">
                <a:solidFill>
                  <a:srgbClr val="692AA2"/>
                </a:solidFill>
                <a:ea typeface="仿宋_GB2312" pitchFamily="49" charset="-122"/>
              </a:rPr>
              <a:t>2</a:t>
            </a:r>
            <a:r>
              <a:rPr lang="zh-CN" altLang="en-US" sz="1800" b="1">
                <a:solidFill>
                  <a:srgbClr val="692AA2"/>
                </a:solidFill>
                <a:ea typeface="仿宋_GB2312" pitchFamily="49" charset="-122"/>
              </a:rPr>
              <a:t>），这说明了这两个站点的</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污染是由上游站点带来的。</a:t>
            </a:r>
            <a:endParaRPr lang="zh-CN" altLang="en-US" sz="1800" b="1">
              <a:solidFill>
                <a:srgbClr val="692AA2"/>
              </a:solidFill>
              <a:ea typeface="仿宋_GB2312" pitchFamily="49" charset="-122"/>
            </a:endParaRPr>
          </a:p>
          <a:p>
            <a:pPr eaLnBrk="1" hangingPunct="1">
              <a:lnSpc>
                <a:spcPct val="120000"/>
              </a:lnSpc>
              <a:buNone/>
            </a:pPr>
            <a:r>
              <a:rPr lang="zh-CN" altLang="en-US" sz="1800" b="1">
                <a:solidFill>
                  <a:srgbClr val="692AA2"/>
                </a:solidFill>
                <a:ea typeface="仿宋_GB2312" pitchFamily="49" charset="-122"/>
              </a:rPr>
              <a:t>            综上分析，长江干流近一年多</a:t>
            </a:r>
            <a:r>
              <a:rPr lang="en-US" altLang="zh-CN" sz="1800" b="1">
                <a:solidFill>
                  <a:srgbClr val="692AA2"/>
                </a:solidFill>
                <a:ea typeface="仿宋_GB2312" pitchFamily="49" charset="-122"/>
              </a:rPr>
              <a:t>CODMn</a:t>
            </a:r>
            <a:r>
              <a:rPr lang="zh-CN" altLang="en-US" sz="1800" b="1">
                <a:solidFill>
                  <a:srgbClr val="692AA2"/>
                </a:solidFill>
                <a:ea typeface="仿宋_GB2312" pitchFamily="49" charset="-122"/>
              </a:rPr>
              <a:t>污染的污染源主要分布在岷江上游（与大渡河汇合前）、洞庭湖和鄱阳湖地区。其他地方也会有一些小污染源，但不是主要的，对整个长江流域影响较小。</a:t>
            </a:r>
            <a:endParaRPr lang="zh-CN" altLang="en-US" sz="1800" b="1">
              <a:solidFill>
                <a:srgbClr val="692AA2"/>
              </a:solidFill>
              <a:ea typeface="仿宋_GB2312" pitchFamily="49" charset="-122"/>
            </a:endParaRPr>
          </a:p>
        </p:txBody>
      </p:sp>
    </p:spTree>
  </p:cSld>
  <p:clrMapOvr>
    <a:masterClrMapping/>
  </p:clrMapOvr>
  <p:transition>
    <p:blinds dir="vert"/>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7" name="Rectangle 3"/>
          <p:cNvSpPr>
            <a:spLocks noGrp="1"/>
          </p:cNvSpPr>
          <p:nvPr>
            <p:ph idx="1"/>
          </p:nvPr>
        </p:nvSpPr>
        <p:spPr>
          <a:ln/>
        </p:spPr>
        <p:txBody>
          <a:bodyPr vert="horz" wrap="square" lIns="91440" tIns="45720" rIns="91440" bIns="45720" anchor="t"/>
          <a:p>
            <a:pPr eaLnBrk="1" hangingPunct="1">
              <a:lnSpc>
                <a:spcPct val="120000"/>
              </a:lnSpc>
              <a:buNone/>
            </a:pPr>
            <a:r>
              <a:rPr lang="en-US" altLang="zh-CN" b="1">
                <a:solidFill>
                  <a:srgbClr val="692AA2"/>
                </a:solidFill>
                <a:ea typeface="仿宋_GB2312" pitchFamily="49" charset="-122"/>
              </a:rPr>
              <a:t>5.4</a:t>
            </a:r>
            <a:r>
              <a:rPr lang="zh-CN" altLang="en-US" b="1">
                <a:solidFill>
                  <a:srgbClr val="692AA2"/>
                </a:solidFill>
                <a:ea typeface="仿宋_GB2312" pitchFamily="49" charset="-122"/>
              </a:rPr>
              <a:t>　</a:t>
            </a:r>
            <a:r>
              <a:rPr lang="en-US" altLang="zh-CN" b="1">
                <a:solidFill>
                  <a:srgbClr val="692AA2"/>
                </a:solidFill>
                <a:ea typeface="仿宋_GB2312" pitchFamily="49" charset="-122"/>
              </a:rPr>
              <a:t>NH3-N</a:t>
            </a:r>
            <a:r>
              <a:rPr lang="zh-CN" altLang="en-US" b="1">
                <a:solidFill>
                  <a:srgbClr val="692AA2"/>
                </a:solidFill>
                <a:ea typeface="仿宋_GB2312" pitchFamily="49" charset="-122"/>
              </a:rPr>
              <a:t>的污染源分析</a:t>
            </a:r>
            <a:endParaRPr lang="zh-CN" altLang="en-US" b="1">
              <a:solidFill>
                <a:srgbClr val="692AA2"/>
              </a:solidFill>
              <a:ea typeface="仿宋_GB2312" pitchFamily="49" charset="-122"/>
            </a:endParaRPr>
          </a:p>
          <a:p>
            <a:pPr eaLnBrk="1" hangingPunct="1">
              <a:lnSpc>
                <a:spcPct val="120000"/>
              </a:lnSpc>
              <a:buNone/>
            </a:pPr>
            <a:endParaRPr lang="zh-CN" altLang="en-US" sz="2400" b="1">
              <a:solidFill>
                <a:srgbClr val="692AA2"/>
              </a:solidFill>
              <a:ea typeface="仿宋_GB2312" pitchFamily="49" charset="-122"/>
            </a:endParaRPr>
          </a:p>
          <a:p>
            <a:pPr eaLnBrk="1" hangingPunct="1">
              <a:lnSpc>
                <a:spcPct val="120000"/>
              </a:lnSpc>
              <a:buNone/>
            </a:pPr>
            <a:r>
              <a:rPr lang="zh-CN" altLang="en-US" sz="2400" b="1">
                <a:solidFill>
                  <a:srgbClr val="692AA2"/>
                </a:solidFill>
                <a:ea typeface="仿宋_GB2312" pitchFamily="49" charset="-122"/>
              </a:rPr>
              <a:t>           </a:t>
            </a:r>
            <a:r>
              <a:rPr lang="zh-CN" altLang="en-US" sz="2000" b="1">
                <a:solidFill>
                  <a:srgbClr val="692AA2"/>
                </a:solidFill>
                <a:ea typeface="仿宋_GB2312" pitchFamily="49" charset="-122"/>
              </a:rPr>
              <a:t>使用与上一节</a:t>
            </a:r>
            <a:r>
              <a:rPr lang="en-US" altLang="zh-CN" sz="2000" b="1">
                <a:solidFill>
                  <a:srgbClr val="692AA2"/>
                </a:solidFill>
                <a:ea typeface="仿宋_GB2312" pitchFamily="49" charset="-122"/>
              </a:rPr>
              <a:t>CODMn</a:t>
            </a:r>
            <a:r>
              <a:rPr lang="zh-CN" altLang="en-US" sz="2000" b="1">
                <a:solidFill>
                  <a:srgbClr val="692AA2"/>
                </a:solidFill>
                <a:ea typeface="仿宋_GB2312" pitchFamily="49" charset="-122"/>
              </a:rPr>
              <a:t>的污染源分析相同的方法与步骤，即可以求出长江干流近一年多污染物</a:t>
            </a:r>
            <a:r>
              <a:rPr lang="en-US" altLang="zh-CN" sz="2000" b="1">
                <a:solidFill>
                  <a:srgbClr val="692AA2"/>
                </a:solidFill>
                <a:ea typeface="仿宋_GB2312" pitchFamily="49" charset="-122"/>
              </a:rPr>
              <a:t>NH3-N</a:t>
            </a:r>
            <a:r>
              <a:rPr lang="zh-CN" altLang="en-US" sz="2000" b="1">
                <a:solidFill>
                  <a:srgbClr val="692AA2"/>
                </a:solidFill>
                <a:ea typeface="仿宋_GB2312" pitchFamily="49" charset="-122"/>
              </a:rPr>
              <a:t>的污染源主要分布在以下四个支流上：岷江上游（与大渡河汇合前）、沱江、湘江和赣江。具体分析过程这里不再详述，相关表格见附录中的表</a:t>
            </a:r>
            <a:r>
              <a:rPr lang="en-US" altLang="zh-CN" sz="2000" b="1">
                <a:solidFill>
                  <a:srgbClr val="692AA2"/>
                </a:solidFill>
                <a:ea typeface="仿宋_GB2312" pitchFamily="49" charset="-122"/>
              </a:rPr>
              <a:t>16</a:t>
            </a:r>
            <a:r>
              <a:rPr lang="zh-CN" altLang="en-US" sz="2000" b="1">
                <a:solidFill>
                  <a:srgbClr val="692AA2"/>
                </a:solidFill>
                <a:ea typeface="仿宋_GB2312" pitchFamily="49" charset="-122"/>
              </a:rPr>
              <a:t>、表</a:t>
            </a:r>
            <a:r>
              <a:rPr lang="en-US" altLang="zh-CN" sz="2000" b="1">
                <a:solidFill>
                  <a:srgbClr val="692AA2"/>
                </a:solidFill>
                <a:ea typeface="仿宋_GB2312" pitchFamily="49" charset="-122"/>
              </a:rPr>
              <a:t>17</a:t>
            </a:r>
            <a:r>
              <a:rPr lang="zh-CN" altLang="en-US" sz="2000" b="1">
                <a:solidFill>
                  <a:srgbClr val="692AA2"/>
                </a:solidFill>
                <a:ea typeface="仿宋_GB2312" pitchFamily="49" charset="-122"/>
              </a:rPr>
              <a:t>和表</a:t>
            </a:r>
            <a:r>
              <a:rPr lang="en-US" altLang="zh-CN" sz="2000" b="1">
                <a:solidFill>
                  <a:srgbClr val="692AA2"/>
                </a:solidFill>
                <a:ea typeface="仿宋_GB2312" pitchFamily="49" charset="-122"/>
              </a:rPr>
              <a:t>18</a:t>
            </a:r>
            <a:r>
              <a:rPr lang="zh-CN" altLang="en-US" sz="2000" b="1">
                <a:solidFill>
                  <a:srgbClr val="692AA2"/>
                </a:solidFill>
                <a:ea typeface="仿宋_GB2312" pitchFamily="49" charset="-122"/>
              </a:rPr>
              <a:t>。其中特别突出的是赣江上的</a:t>
            </a:r>
            <a:r>
              <a:rPr lang="en-US" altLang="zh-CN" sz="2000" b="1">
                <a:solidFill>
                  <a:srgbClr val="692AA2"/>
                </a:solidFill>
                <a:ea typeface="仿宋_GB2312" pitchFamily="49" charset="-122"/>
              </a:rPr>
              <a:t>NH3-N</a:t>
            </a:r>
            <a:r>
              <a:rPr lang="zh-CN" altLang="en-US" sz="2000" b="1">
                <a:solidFill>
                  <a:srgbClr val="692AA2"/>
                </a:solidFill>
                <a:ea typeface="仿宋_GB2312" pitchFamily="49" charset="-122"/>
              </a:rPr>
              <a:t>污染，它的污染程度达到了劣</a:t>
            </a:r>
            <a:r>
              <a:rPr lang="en-US" altLang="zh-CN" sz="2000" b="1">
                <a:solidFill>
                  <a:srgbClr val="692AA2"/>
                </a:solidFill>
                <a:ea typeface="仿宋_GB2312" pitchFamily="49" charset="-122"/>
              </a:rPr>
              <a:t>Ⅴ</a:t>
            </a:r>
            <a:r>
              <a:rPr lang="zh-CN" altLang="en-US" sz="2000" b="1">
                <a:solidFill>
                  <a:srgbClr val="692AA2"/>
                </a:solidFill>
                <a:ea typeface="仿宋_GB2312" pitchFamily="49" charset="-122"/>
              </a:rPr>
              <a:t>级，是整个长江流域</a:t>
            </a:r>
            <a:r>
              <a:rPr lang="en-US" altLang="zh-CN" sz="2000" b="1">
                <a:solidFill>
                  <a:srgbClr val="692AA2"/>
                </a:solidFill>
                <a:ea typeface="仿宋_GB2312" pitchFamily="49" charset="-122"/>
              </a:rPr>
              <a:t>NH3-N</a:t>
            </a:r>
            <a:r>
              <a:rPr lang="zh-CN" altLang="en-US" sz="2000" b="1">
                <a:solidFill>
                  <a:srgbClr val="692AA2"/>
                </a:solidFill>
                <a:ea typeface="仿宋_GB2312" pitchFamily="49" charset="-122"/>
              </a:rPr>
              <a:t>污染的</a:t>
            </a:r>
            <a:r>
              <a:rPr lang="zh-CN" altLang="en-US"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首要功臣</a:t>
            </a:r>
            <a:r>
              <a:rPr lang="zh-CN" altLang="en-US" sz="2000" b="1">
                <a:solidFill>
                  <a:srgbClr val="692AA2"/>
                </a:solidFill>
                <a:latin typeface="宋体" panose="02010600030101010101" pitchFamily="2" charset="-122"/>
                <a:ea typeface="仿宋_GB2312" pitchFamily="49" charset="-122"/>
              </a:rPr>
              <a:t>”</a:t>
            </a:r>
            <a:r>
              <a:rPr lang="zh-CN" altLang="en-US" sz="2000" b="1">
                <a:solidFill>
                  <a:srgbClr val="692AA2"/>
                </a:solidFill>
                <a:ea typeface="仿宋_GB2312" pitchFamily="49" charset="-122"/>
              </a:rPr>
              <a:t>。 </a:t>
            </a:r>
            <a:endParaRPr lang="zh-CN" altLang="en-US" sz="2000" b="1">
              <a:solidFill>
                <a:srgbClr val="692AA2"/>
              </a:solidFill>
              <a:ea typeface="仿宋_GB2312" pitchFamily="49" charset="-122"/>
            </a:endParaRPr>
          </a:p>
        </p:txBody>
      </p:sp>
    </p:spTree>
  </p:cSld>
  <p:clrMapOvr>
    <a:masterClrMapping/>
  </p:clrMapOvr>
  <p:transition>
    <p:zoom/>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1" name="Rectangle 3"/>
          <p:cNvSpPr>
            <a:spLocks noGrp="1"/>
          </p:cNvSpPr>
          <p:nvPr>
            <p:ph idx="1"/>
          </p:nvPr>
        </p:nvSpPr>
        <p:spPr>
          <a:ln/>
        </p:spPr>
        <p:txBody>
          <a:bodyPr vert="horz" wrap="square" lIns="91440" tIns="45720" rIns="91440" bIns="45720" anchor="t"/>
          <a:p>
            <a:pPr eaLnBrk="1" hangingPunct="1">
              <a:lnSpc>
                <a:spcPct val="120000"/>
              </a:lnSpc>
              <a:buNone/>
            </a:pPr>
            <a:r>
              <a:rPr lang="zh-CN" altLang="en-US" sz="2400" b="1">
                <a:solidFill>
                  <a:srgbClr val="692AA2"/>
                </a:solidFill>
                <a:ea typeface="仿宋_GB2312" pitchFamily="49" charset="-122"/>
              </a:rPr>
              <a:t>参考文献</a:t>
            </a:r>
            <a:endParaRPr lang="zh-CN" altLang="en-US" sz="2400" b="1">
              <a:solidFill>
                <a:srgbClr val="692AA2"/>
              </a:solidFill>
              <a:ea typeface="仿宋_GB2312" pitchFamily="49" charset="-122"/>
            </a:endParaRPr>
          </a:p>
          <a:p>
            <a:pPr eaLnBrk="1" hangingPunct="1">
              <a:lnSpc>
                <a:spcPct val="120000"/>
              </a:lnSpc>
              <a:buNone/>
            </a:pPr>
            <a:r>
              <a:rPr lang="en-US" altLang="zh-CN" sz="2400" b="1">
                <a:solidFill>
                  <a:srgbClr val="692AA2"/>
                </a:solidFill>
                <a:ea typeface="仿宋_GB2312" pitchFamily="49" charset="-122"/>
              </a:rPr>
              <a:t>[1]</a:t>
            </a:r>
            <a:r>
              <a:rPr lang="zh-CN" altLang="en-US" sz="2400" b="1">
                <a:solidFill>
                  <a:srgbClr val="692AA2"/>
                </a:solidFill>
                <a:ea typeface="仿宋_GB2312" pitchFamily="49" charset="-122"/>
              </a:rPr>
              <a:t>韩中庚  综合评价方法及其应用　海南数学建模培训  </a:t>
            </a:r>
            <a:r>
              <a:rPr lang="en-US" altLang="zh-CN" sz="2400" b="1">
                <a:solidFill>
                  <a:srgbClr val="692AA2"/>
                </a:solidFill>
                <a:ea typeface="仿宋_GB2312" pitchFamily="49" charset="-122"/>
              </a:rPr>
              <a:t>2006</a:t>
            </a:r>
            <a:endParaRPr lang="en-US" altLang="zh-CN" sz="2400" b="1">
              <a:solidFill>
                <a:srgbClr val="692AA2"/>
              </a:solidFill>
              <a:ea typeface="仿宋_GB2312" pitchFamily="49" charset="-122"/>
            </a:endParaRPr>
          </a:p>
          <a:p>
            <a:pPr eaLnBrk="1" hangingPunct="1">
              <a:lnSpc>
                <a:spcPct val="120000"/>
              </a:lnSpc>
              <a:buNone/>
            </a:pPr>
            <a:r>
              <a:rPr lang="en-US" altLang="zh-CN" sz="2400" b="1">
                <a:solidFill>
                  <a:srgbClr val="692AA2"/>
                </a:solidFill>
                <a:ea typeface="仿宋_GB2312" pitchFamily="49" charset="-122"/>
              </a:rPr>
              <a:t>[2]</a:t>
            </a:r>
            <a:r>
              <a:rPr lang="zh-CN" altLang="en-US" sz="2400" b="1">
                <a:solidFill>
                  <a:srgbClr val="692AA2"/>
                </a:solidFill>
                <a:ea typeface="仿宋_GB2312" pitchFamily="49" charset="-122"/>
              </a:rPr>
              <a:t>韩中庚  长江水质综合评价与预测的数学模型 工程数学学报 </a:t>
            </a:r>
            <a:r>
              <a:rPr lang="en-US" altLang="zh-CN" sz="2400" b="1">
                <a:solidFill>
                  <a:srgbClr val="692AA2"/>
                </a:solidFill>
                <a:ea typeface="仿宋_GB2312" pitchFamily="49" charset="-122"/>
              </a:rPr>
              <a:t>2005</a:t>
            </a:r>
            <a:r>
              <a:rPr lang="zh-CN" altLang="en-US" sz="2400" b="1">
                <a:solidFill>
                  <a:srgbClr val="692AA2"/>
                </a:solidFill>
                <a:ea typeface="仿宋_GB2312" pitchFamily="49" charset="-122"/>
              </a:rPr>
              <a:t>年 </a:t>
            </a:r>
            <a:r>
              <a:rPr lang="en-US" altLang="zh-CN" sz="2400" b="1">
                <a:solidFill>
                  <a:srgbClr val="692AA2"/>
                </a:solidFill>
                <a:ea typeface="仿宋_GB2312" pitchFamily="49" charset="-122"/>
              </a:rPr>
              <a:t>22</a:t>
            </a:r>
            <a:r>
              <a:rPr lang="zh-CN" altLang="en-US" sz="2400" b="1">
                <a:solidFill>
                  <a:srgbClr val="692AA2"/>
                </a:solidFill>
                <a:ea typeface="仿宋_GB2312" pitchFamily="49" charset="-122"/>
              </a:rPr>
              <a:t>卷 </a:t>
            </a:r>
            <a:r>
              <a:rPr lang="en-US" altLang="zh-CN" sz="2400" b="1">
                <a:solidFill>
                  <a:srgbClr val="692AA2"/>
                </a:solidFill>
                <a:ea typeface="仿宋_GB2312" pitchFamily="49" charset="-122"/>
              </a:rPr>
              <a:t>7</a:t>
            </a:r>
            <a:r>
              <a:rPr lang="zh-CN" altLang="en-US" sz="2400" b="1">
                <a:solidFill>
                  <a:srgbClr val="692AA2"/>
                </a:solidFill>
                <a:ea typeface="仿宋_GB2312" pitchFamily="49" charset="-122"/>
              </a:rPr>
              <a:t>期 </a:t>
            </a:r>
            <a:r>
              <a:rPr lang="en-US" altLang="zh-CN" sz="2400" b="1">
                <a:solidFill>
                  <a:srgbClr val="692AA2"/>
                </a:solidFill>
                <a:ea typeface="仿宋_GB2312" pitchFamily="49" charset="-122"/>
              </a:rPr>
              <a:t>65-75</a:t>
            </a:r>
            <a:endParaRPr lang="en-US" altLang="zh-CN" sz="2400" b="1">
              <a:solidFill>
                <a:srgbClr val="692AA2"/>
              </a:solidFill>
              <a:ea typeface="仿宋_GB2312" pitchFamily="49" charset="-122"/>
            </a:endParaRPr>
          </a:p>
          <a:p>
            <a:pPr eaLnBrk="1" hangingPunct="1">
              <a:lnSpc>
                <a:spcPct val="120000"/>
              </a:lnSpc>
              <a:buNone/>
            </a:pPr>
            <a:r>
              <a:rPr lang="en-US" altLang="zh-CN" sz="2400" b="1">
                <a:solidFill>
                  <a:srgbClr val="692AA2"/>
                </a:solidFill>
                <a:ea typeface="仿宋_GB2312" pitchFamily="49" charset="-122"/>
              </a:rPr>
              <a:t>[3]</a:t>
            </a:r>
            <a:r>
              <a:rPr lang="zh-CN" altLang="en-US" sz="2400" b="1">
                <a:solidFill>
                  <a:srgbClr val="692AA2"/>
                </a:solidFill>
                <a:ea typeface="仿宋_GB2312" pitchFamily="49" charset="-122"/>
              </a:rPr>
              <a:t>韩中庚　基于动态加权方法的水质综合评价模型  中国运筹学会第八届学术交流会中国运筹学会第八届学术交流会论文集 </a:t>
            </a:r>
            <a:r>
              <a:rPr lang="en-US" altLang="zh-CN" sz="2400" b="1">
                <a:solidFill>
                  <a:srgbClr val="692AA2"/>
                </a:solidFill>
                <a:ea typeface="仿宋_GB2312" pitchFamily="49" charset="-122"/>
              </a:rPr>
              <a:t>2006</a:t>
            </a:r>
            <a:r>
              <a:rPr lang="zh-CN" altLang="en-US" sz="2400" b="1">
                <a:solidFill>
                  <a:srgbClr val="692AA2"/>
                </a:solidFill>
                <a:ea typeface="仿宋_GB2312" pitchFamily="49" charset="-122"/>
              </a:rPr>
              <a:t>年</a:t>
            </a:r>
            <a:endParaRPr lang="zh-CN" altLang="en-US" sz="2400" b="1">
              <a:solidFill>
                <a:srgbClr val="692AA2"/>
              </a:solidFill>
              <a:ea typeface="仿宋_GB2312" pitchFamily="49" charset="-122"/>
            </a:endParaRPr>
          </a:p>
        </p:txBody>
      </p:sp>
    </p:spTree>
  </p:cSld>
  <p:clrMapOvr>
    <a:masterClrMapping/>
  </p:clrMapOvr>
  <p:transition>
    <p:zoom dir="in"/>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41665" name="Group 2"/>
          <p:cNvGrpSpPr/>
          <p:nvPr/>
        </p:nvGrpSpPr>
        <p:grpSpPr>
          <a:xfrm>
            <a:off x="1981200" y="1676400"/>
            <a:ext cx="5311775" cy="3300413"/>
            <a:chOff x="1262" y="1323"/>
            <a:chExt cx="3346" cy="2079"/>
          </a:xfrm>
        </p:grpSpPr>
        <p:grpSp>
          <p:nvGrpSpPr>
            <p:cNvPr id="241666" name="Group 3"/>
            <p:cNvGrpSpPr/>
            <p:nvPr/>
          </p:nvGrpSpPr>
          <p:grpSpPr>
            <a:xfrm>
              <a:off x="1263" y="1881"/>
              <a:ext cx="384" cy="384"/>
              <a:chOff x="816" y="1872"/>
              <a:chExt cx="384" cy="384"/>
            </a:xfrm>
          </p:grpSpPr>
          <p:sp>
            <p:nvSpPr>
              <p:cNvPr id="241667" name="Oval 4"/>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241668" name="Oval 5"/>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241669" name="Oval 6"/>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670" name="Oval 7"/>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671" name="Oval 8"/>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672" name="Oval 9"/>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673" name="Oval 10"/>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674" name="Oval 11"/>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675" name="Oval 12"/>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241676" name="Line 13"/>
            <p:cNvSpPr/>
            <p:nvPr/>
          </p:nvSpPr>
          <p:spPr>
            <a:xfrm>
              <a:off x="1584" y="2235"/>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241677" name="Text Box 14"/>
            <p:cNvSpPr txBox="1"/>
            <p:nvPr/>
          </p:nvSpPr>
          <p:spPr>
            <a:xfrm>
              <a:off x="1728" y="1899"/>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建模一般步骤及范例</a:t>
              </a:r>
              <a:endParaRPr lang="zh-CN" altLang="en-US" sz="2800" b="1">
                <a:solidFill>
                  <a:srgbClr val="3333FF"/>
                </a:solidFill>
                <a:latin typeface="Arial" panose="020B0604020202020204" pitchFamily="34" charset="0"/>
                <a:ea typeface="黑体" panose="02010609060101010101" pitchFamily="2" charset="-122"/>
              </a:endParaRPr>
            </a:p>
          </p:txBody>
        </p:sp>
        <p:sp>
          <p:nvSpPr>
            <p:cNvPr id="241678" name="Text Box 15"/>
            <p:cNvSpPr txBox="1"/>
            <p:nvPr/>
          </p:nvSpPr>
          <p:spPr>
            <a:xfrm>
              <a:off x="1344" y="1934"/>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2</a:t>
              </a:r>
              <a:endParaRPr lang="en-US" altLang="zh-CN" sz="2400" b="1">
                <a:solidFill>
                  <a:srgbClr val="000000"/>
                </a:solidFill>
                <a:latin typeface="Arial" panose="020B0604020202020204" pitchFamily="34" charset="0"/>
                <a:ea typeface="宋体" panose="02010600030101010101" pitchFamily="2" charset="-122"/>
              </a:endParaRPr>
            </a:p>
          </p:txBody>
        </p:sp>
        <p:grpSp>
          <p:nvGrpSpPr>
            <p:cNvPr id="241679" name="Group 16"/>
            <p:cNvGrpSpPr/>
            <p:nvPr/>
          </p:nvGrpSpPr>
          <p:grpSpPr>
            <a:xfrm>
              <a:off x="1275" y="3015"/>
              <a:ext cx="384" cy="384"/>
              <a:chOff x="816" y="1872"/>
              <a:chExt cx="384" cy="384"/>
            </a:xfrm>
          </p:grpSpPr>
          <p:sp>
            <p:nvSpPr>
              <p:cNvPr id="241680" name="Oval 17"/>
              <p:cNvSpPr/>
              <p:nvPr/>
            </p:nvSpPr>
            <p:spPr>
              <a:xfrm>
                <a:off x="816" y="1872"/>
                <a:ext cx="384" cy="384"/>
              </a:xfrm>
              <a:prstGeom prst="ellipse">
                <a:avLst/>
              </a:prstGeom>
              <a:gradFill rotWithShape="1">
                <a:gsLst>
                  <a:gs pos="0">
                    <a:srgbClr val="FFFFFF"/>
                  </a:gs>
                  <a:gs pos="50000">
                    <a:schemeClr val="accent2"/>
                  </a:gs>
                  <a:gs pos="100000">
                    <a:srgbClr val="FFFFFF"/>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241681" name="Oval 18"/>
              <p:cNvSpPr/>
              <p:nvPr/>
            </p:nvSpPr>
            <p:spPr>
              <a:xfrm>
                <a:off x="816" y="1872"/>
                <a:ext cx="384" cy="384"/>
              </a:xfrm>
              <a:prstGeom prst="ellipse">
                <a:avLst/>
              </a:prstGeom>
              <a:gradFill rotWithShape="1">
                <a:gsLst>
                  <a:gs pos="0">
                    <a:schemeClr val="accent2">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241682" name="Oval 19"/>
              <p:cNvSpPr/>
              <p:nvPr/>
            </p:nvSpPr>
            <p:spPr>
              <a:xfrm>
                <a:off x="841" y="1897"/>
                <a:ext cx="334" cy="334"/>
              </a:xfrm>
              <a:prstGeom prst="ellipse">
                <a:avLst/>
              </a:prstGeom>
              <a:gradFill rotWithShape="1">
                <a:gsLst>
                  <a:gs pos="0">
                    <a:srgbClr val="6E0000"/>
                  </a:gs>
                  <a:gs pos="50000">
                    <a:schemeClr val="accent2"/>
                  </a:gs>
                  <a:gs pos="100000">
                    <a:srgbClr val="6E0000"/>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683" name="Oval 20"/>
              <p:cNvSpPr/>
              <p:nvPr/>
            </p:nvSpPr>
            <p:spPr>
              <a:xfrm>
                <a:off x="866" y="1922"/>
                <a:ext cx="334" cy="334"/>
              </a:xfrm>
              <a:prstGeom prst="ellipse">
                <a:avLst/>
              </a:prstGeom>
              <a:gradFill rotWithShape="1">
                <a:gsLst>
                  <a:gs pos="0">
                    <a:srgbClr val="820000"/>
                  </a:gs>
                  <a:gs pos="100000">
                    <a:schemeClr val="accent2">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684" name="Oval 21"/>
              <p:cNvSpPr/>
              <p:nvPr/>
            </p:nvSpPr>
            <p:spPr>
              <a:xfrm>
                <a:off x="859" y="1914"/>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685" name="Oval 22"/>
              <p:cNvSpPr/>
              <p:nvPr/>
            </p:nvSpPr>
            <p:spPr>
              <a:xfrm>
                <a:off x="864" y="1919"/>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686" name="Oval 23"/>
              <p:cNvSpPr/>
              <p:nvPr/>
            </p:nvSpPr>
            <p:spPr>
              <a:xfrm>
                <a:off x="868" y="1921"/>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687" name="Oval 24"/>
              <p:cNvSpPr/>
              <p:nvPr/>
            </p:nvSpPr>
            <p:spPr>
              <a:xfrm>
                <a:off x="871" y="1923"/>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688" name="Oval 25"/>
              <p:cNvSpPr/>
              <p:nvPr/>
            </p:nvSpPr>
            <p:spPr>
              <a:xfrm>
                <a:off x="886" y="1931"/>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241689" name="Line 26"/>
            <p:cNvSpPr/>
            <p:nvPr/>
          </p:nvSpPr>
          <p:spPr>
            <a:xfrm>
              <a:off x="1584" y="3373"/>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241690" name="Text Box 27"/>
            <p:cNvSpPr txBox="1"/>
            <p:nvPr/>
          </p:nvSpPr>
          <p:spPr>
            <a:xfrm>
              <a:off x="1728" y="3037"/>
              <a:ext cx="2736" cy="365"/>
            </a:xfrm>
            <a:prstGeom prst="rect">
              <a:avLst/>
            </a:prstGeom>
            <a:noFill/>
            <a:ln w="9525">
              <a:noFill/>
            </a:ln>
          </p:spPr>
          <p:txBody>
            <a:bodyPr anchor="t">
              <a:spAutoFit/>
            </a:bodyPr>
            <a:p>
              <a:pPr algn="ctr" eaLnBrk="0" hangingPunct="0"/>
              <a:r>
                <a:rPr lang="zh-CN" altLang="en-US" sz="3200" b="1">
                  <a:solidFill>
                    <a:schemeClr val="accent2"/>
                  </a:solidFill>
                  <a:latin typeface="Arial" panose="020B0604020202020204" pitchFamily="34" charset="0"/>
                  <a:ea typeface="黑体" panose="02010609060101010101" pitchFamily="2" charset="-122"/>
                </a:rPr>
                <a:t>评阅标准及论文写作</a:t>
              </a:r>
              <a:endParaRPr lang="zh-CN" altLang="en-US" sz="3200" b="1">
                <a:solidFill>
                  <a:schemeClr val="accent2"/>
                </a:solidFill>
                <a:latin typeface="Arial" panose="020B0604020202020204" pitchFamily="34" charset="0"/>
                <a:ea typeface="黑体" panose="02010609060101010101" pitchFamily="2" charset="-122"/>
              </a:endParaRPr>
            </a:p>
          </p:txBody>
        </p:sp>
        <p:sp>
          <p:nvSpPr>
            <p:cNvPr id="241691" name="Text Box 28"/>
            <p:cNvSpPr txBox="1"/>
            <p:nvPr/>
          </p:nvSpPr>
          <p:spPr>
            <a:xfrm>
              <a:off x="1362" y="3058"/>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4</a:t>
              </a:r>
              <a:endParaRPr lang="en-US" altLang="zh-CN" sz="2400" b="1">
                <a:solidFill>
                  <a:srgbClr val="000000"/>
                </a:solidFill>
                <a:latin typeface="Arial" panose="020B0604020202020204" pitchFamily="34" charset="0"/>
                <a:ea typeface="宋体" panose="02010600030101010101" pitchFamily="2" charset="-122"/>
              </a:endParaRPr>
            </a:p>
          </p:txBody>
        </p:sp>
        <p:sp>
          <p:nvSpPr>
            <p:cNvPr id="241692" name="Line 29"/>
            <p:cNvSpPr/>
            <p:nvPr/>
          </p:nvSpPr>
          <p:spPr>
            <a:xfrm>
              <a:off x="1584" y="2797"/>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241693" name="Text Box 30"/>
            <p:cNvSpPr txBox="1"/>
            <p:nvPr/>
          </p:nvSpPr>
          <p:spPr>
            <a:xfrm>
              <a:off x="1728" y="2461"/>
              <a:ext cx="2736" cy="327"/>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试题分析及论文导读</a:t>
              </a:r>
              <a:endParaRPr lang="zh-CN" altLang="en-US" sz="2800" b="1">
                <a:solidFill>
                  <a:srgbClr val="3333FF"/>
                </a:solidFill>
                <a:latin typeface="Arial" panose="020B0604020202020204" pitchFamily="34" charset="0"/>
                <a:ea typeface="黑体" panose="02010609060101010101" pitchFamily="2" charset="-122"/>
              </a:endParaRPr>
            </a:p>
          </p:txBody>
        </p:sp>
        <p:grpSp>
          <p:nvGrpSpPr>
            <p:cNvPr id="241694" name="Group 31"/>
            <p:cNvGrpSpPr/>
            <p:nvPr/>
          </p:nvGrpSpPr>
          <p:grpSpPr>
            <a:xfrm>
              <a:off x="1274" y="2437"/>
              <a:ext cx="384" cy="384"/>
              <a:chOff x="1274" y="2437"/>
              <a:chExt cx="384" cy="384"/>
            </a:xfrm>
          </p:grpSpPr>
          <p:sp>
            <p:nvSpPr>
              <p:cNvPr id="241695" name="Text Box 32"/>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241696" name="Oval 33"/>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241697" name="Oval 34"/>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241698" name="Oval 35"/>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699" name="Oval 36"/>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700" name="Oval 37"/>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701" name="Oval 38"/>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702" name="Oval 39"/>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703" name="Oval 40"/>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704" name="Oval 41"/>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241705" name="Text Box 42"/>
            <p:cNvSpPr txBox="1"/>
            <p:nvPr/>
          </p:nvSpPr>
          <p:spPr>
            <a:xfrm>
              <a:off x="1353" y="2496"/>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241706" name="Line 43"/>
            <p:cNvSpPr/>
            <p:nvPr/>
          </p:nvSpPr>
          <p:spPr>
            <a:xfrm>
              <a:off x="1584" y="1659"/>
              <a:ext cx="3024" cy="1"/>
            </a:xfrm>
            <a:prstGeom prst="line">
              <a:avLst/>
            </a:prstGeom>
            <a:ln w="25400" cap="flat" cmpd="sng">
              <a:solidFill>
                <a:schemeClr val="tx2"/>
              </a:solidFill>
              <a:prstDash val="sysDot"/>
              <a:round/>
              <a:headEnd type="none" w="med" len="med"/>
              <a:tailEnd type="oval" w="med" len="med"/>
            </a:ln>
          </p:spPr>
          <p:txBody>
            <a:bodyPr wrap="none" anchor="ctr"/>
            <a:p>
              <a:endParaRPr lang="zh-CN" altLang="en-US">
                <a:latin typeface="Arial" panose="020B0604020202020204" pitchFamily="34" charset="0"/>
                <a:ea typeface="宋体" panose="02010600030101010101" pitchFamily="2" charset="-122"/>
              </a:endParaRPr>
            </a:p>
          </p:txBody>
        </p:sp>
        <p:sp>
          <p:nvSpPr>
            <p:cNvPr id="241707" name="Text Box 44"/>
            <p:cNvSpPr txBox="1"/>
            <p:nvPr/>
          </p:nvSpPr>
          <p:spPr>
            <a:xfrm>
              <a:off x="1728" y="1323"/>
              <a:ext cx="2736" cy="596"/>
            </a:xfrm>
            <a:prstGeom prst="rect">
              <a:avLst/>
            </a:prstGeom>
            <a:noFill/>
            <a:ln w="9525">
              <a:noFill/>
            </a:ln>
          </p:spPr>
          <p:txBody>
            <a:bodyPr anchor="t">
              <a:spAutoFit/>
            </a:bodyPr>
            <a:p>
              <a:pPr algn="ctr" eaLnBrk="0" hangingPunct="0"/>
              <a:r>
                <a:rPr lang="zh-CN" altLang="en-US" sz="2800" b="1">
                  <a:solidFill>
                    <a:srgbClr val="3333FF"/>
                  </a:solidFill>
                  <a:latin typeface="Arial" panose="020B0604020202020204" pitchFamily="34" charset="0"/>
                  <a:ea typeface="黑体" panose="02010609060101010101" pitchFamily="2" charset="-122"/>
                </a:rPr>
                <a:t>建模一般思维方法</a:t>
              </a:r>
              <a:endParaRPr lang="zh-CN" altLang="en-US" sz="2800" b="1">
                <a:solidFill>
                  <a:srgbClr val="3333FF"/>
                </a:solidFill>
                <a:latin typeface="Arial" panose="020B0604020202020204" pitchFamily="34" charset="0"/>
                <a:ea typeface="黑体" panose="02010609060101010101" pitchFamily="2" charset="-122"/>
              </a:endParaRPr>
            </a:p>
            <a:p>
              <a:pPr algn="ctr" eaLnBrk="0" hangingPunct="0"/>
              <a:endParaRPr lang="en-US" altLang="zh-CN" sz="2800" b="1">
                <a:solidFill>
                  <a:srgbClr val="3333FF"/>
                </a:solidFill>
                <a:latin typeface="Arial" panose="020B0604020202020204" pitchFamily="34" charset="0"/>
                <a:ea typeface="黑体" panose="02010609060101010101" pitchFamily="2" charset="-122"/>
              </a:endParaRPr>
            </a:p>
          </p:txBody>
        </p:sp>
        <p:grpSp>
          <p:nvGrpSpPr>
            <p:cNvPr id="241708" name="Group 45"/>
            <p:cNvGrpSpPr/>
            <p:nvPr/>
          </p:nvGrpSpPr>
          <p:grpSpPr>
            <a:xfrm>
              <a:off x="1262" y="1344"/>
              <a:ext cx="384" cy="384"/>
              <a:chOff x="1274" y="2437"/>
              <a:chExt cx="384" cy="384"/>
            </a:xfrm>
          </p:grpSpPr>
          <p:sp>
            <p:nvSpPr>
              <p:cNvPr id="241709" name="Text Box 46"/>
              <p:cNvSpPr txBox="1"/>
              <p:nvPr/>
            </p:nvSpPr>
            <p:spPr>
              <a:xfrm>
                <a:off x="1352" y="2485"/>
                <a:ext cx="223" cy="288"/>
              </a:xfrm>
              <a:prstGeom prst="rect">
                <a:avLst/>
              </a:prstGeom>
              <a:noFill/>
              <a:ln w="9525">
                <a:noFill/>
              </a:ln>
            </p:spPr>
            <p:txBody>
              <a:bodyPr wrap="none"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3</a:t>
                </a:r>
                <a:endParaRPr lang="en-US" altLang="zh-CN" sz="2400" b="1">
                  <a:solidFill>
                    <a:srgbClr val="000000"/>
                  </a:solidFill>
                  <a:latin typeface="Arial" panose="020B0604020202020204" pitchFamily="34" charset="0"/>
                  <a:ea typeface="宋体" panose="02010600030101010101" pitchFamily="2" charset="-122"/>
                </a:endParaRPr>
              </a:p>
            </p:txBody>
          </p:sp>
          <p:sp>
            <p:nvSpPr>
              <p:cNvPr id="241710" name="Oval 47"/>
              <p:cNvSpPr/>
              <p:nvPr/>
            </p:nvSpPr>
            <p:spPr>
              <a:xfrm>
                <a:off x="1274" y="2437"/>
                <a:ext cx="384" cy="384"/>
              </a:xfrm>
              <a:prstGeom prst="ellipse">
                <a:avLst/>
              </a:prstGeom>
              <a:solidFill>
                <a:schemeClr val="accent1"/>
              </a:soli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241711" name="Oval 48"/>
              <p:cNvSpPr/>
              <p:nvPr/>
            </p:nvSpPr>
            <p:spPr>
              <a:xfrm>
                <a:off x="1274" y="2437"/>
                <a:ext cx="384" cy="384"/>
              </a:xfrm>
              <a:prstGeom prst="ellipse">
                <a:avLst/>
              </a:prstGeom>
              <a:gradFill rotWithShape="1">
                <a:gsLst>
                  <a:gs pos="0">
                    <a:schemeClr val="accent1">
                      <a:alpha val="32001"/>
                    </a:schemeClr>
                  </a:gs>
                  <a:gs pos="100000">
                    <a:srgbClr val="000000">
                      <a:alpha val="89998"/>
                    </a:srgbClr>
                  </a:gs>
                </a:gsLst>
                <a:lin ang="2700000" scaled="1"/>
                <a:tileRect/>
              </a:gradFill>
              <a:ln w="38100">
                <a:noFill/>
              </a:ln>
            </p:spPr>
            <p:txBody>
              <a:bodyPr wrap="none" anchor="ctr">
                <a:spAutoFit/>
              </a:bodyPr>
              <a:p>
                <a:endParaRPr lang="zh-CN" altLang="en-US">
                  <a:latin typeface="Arial" panose="020B0604020202020204" pitchFamily="34" charset="0"/>
                  <a:ea typeface="宋体" panose="02010600030101010101" pitchFamily="2" charset="-122"/>
                </a:endParaRPr>
              </a:p>
            </p:txBody>
          </p:sp>
          <p:sp>
            <p:nvSpPr>
              <p:cNvPr id="241712" name="Oval 49"/>
              <p:cNvSpPr/>
              <p:nvPr/>
            </p:nvSpPr>
            <p:spPr>
              <a:xfrm>
                <a:off x="1299" y="2462"/>
                <a:ext cx="334" cy="334"/>
              </a:xfrm>
              <a:prstGeom prst="ellipse">
                <a:avLst/>
              </a:prstGeom>
              <a:gradFill rotWithShape="1">
                <a:gsLst>
                  <a:gs pos="0">
                    <a:srgbClr val="586068"/>
                  </a:gs>
                  <a:gs pos="50000">
                    <a:schemeClr val="accent1"/>
                  </a:gs>
                  <a:gs pos="100000">
                    <a:srgbClr val="586068"/>
                  </a:gs>
                </a:gsLst>
                <a:lin ang="189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713" name="Oval 50"/>
              <p:cNvSpPr/>
              <p:nvPr/>
            </p:nvSpPr>
            <p:spPr>
              <a:xfrm>
                <a:off x="1299" y="2463"/>
                <a:ext cx="334" cy="334"/>
              </a:xfrm>
              <a:prstGeom prst="ellipse">
                <a:avLst/>
              </a:prstGeom>
              <a:gradFill rotWithShape="1">
                <a:gsLst>
                  <a:gs pos="0">
                    <a:srgbClr val="68717B"/>
                  </a:gs>
                  <a:gs pos="100000">
                    <a:schemeClr val="accent1">
                      <a:alpha val="0"/>
                    </a:schemeClr>
                  </a:gs>
                </a:gsLst>
                <a:lin ang="2700000" scaled="1"/>
                <a:tileRect/>
              </a:gra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714" name="Oval 51"/>
              <p:cNvSpPr/>
              <p:nvPr/>
            </p:nvSpPr>
            <p:spPr>
              <a:xfrm>
                <a:off x="1317" y="2479"/>
                <a:ext cx="300" cy="300"/>
              </a:xfrm>
              <a:prstGeom prst="ellipse">
                <a:avLst/>
              </a:prstGeom>
              <a:solidFill>
                <a:srgbClr val="333333"/>
              </a:solidFill>
              <a:ln w="38100">
                <a:noFill/>
              </a:ln>
            </p:spPr>
            <p:txBody>
              <a:bodyPr anchor="ctr">
                <a:spAutoFit/>
              </a:bodyPr>
              <a:p>
                <a:endParaRPr lang="zh-CN" altLang="en-US">
                  <a:latin typeface="Arial" panose="020B0604020202020204" pitchFamily="34" charset="0"/>
                  <a:ea typeface="宋体" panose="02010600030101010101" pitchFamily="2" charset="-122"/>
                </a:endParaRPr>
              </a:p>
            </p:txBody>
          </p:sp>
          <p:sp>
            <p:nvSpPr>
              <p:cNvPr id="241715" name="Oval 52"/>
              <p:cNvSpPr/>
              <p:nvPr/>
            </p:nvSpPr>
            <p:spPr>
              <a:xfrm>
                <a:off x="1322" y="2484"/>
                <a:ext cx="291" cy="291"/>
              </a:xfrm>
              <a:prstGeom prst="ellipse">
                <a:avLst/>
              </a:prstGeom>
              <a:gradFill rotWithShape="1">
                <a:gsLst>
                  <a:gs pos="0">
                    <a:srgbClr val="595959"/>
                  </a:gs>
                  <a:gs pos="100000">
                    <a:srgbClr val="C0C0C0"/>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716" name="Oval 53"/>
              <p:cNvSpPr/>
              <p:nvPr/>
            </p:nvSpPr>
            <p:spPr>
              <a:xfrm>
                <a:off x="1326" y="2486"/>
                <a:ext cx="283" cy="283"/>
              </a:xfrm>
              <a:prstGeom prst="ellipse">
                <a:avLst/>
              </a:prstGeom>
              <a:gradFill rotWithShape="1">
                <a:gsLst>
                  <a:gs pos="0">
                    <a:srgbClr val="C0C0C0">
                      <a:alpha val="0"/>
                    </a:srgbClr>
                  </a:gs>
                  <a:gs pos="100000">
                    <a:srgbClr val="E9E9E9"/>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717" name="Oval 54"/>
              <p:cNvSpPr/>
              <p:nvPr/>
            </p:nvSpPr>
            <p:spPr>
              <a:xfrm>
                <a:off x="1329" y="2488"/>
                <a:ext cx="270" cy="265"/>
              </a:xfrm>
              <a:prstGeom prst="ellipse">
                <a:avLst/>
              </a:prstGeom>
              <a:gradFill rotWithShape="1">
                <a:gsLst>
                  <a:gs pos="0">
                    <a:srgbClr val="989898"/>
                  </a:gs>
                  <a:gs pos="100000">
                    <a:srgbClr val="C0C0C0">
                      <a:alpha val="48000"/>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sp>
            <p:nvSpPr>
              <p:cNvPr id="241718" name="Oval 55"/>
              <p:cNvSpPr/>
              <p:nvPr/>
            </p:nvSpPr>
            <p:spPr>
              <a:xfrm>
                <a:off x="1344" y="2496"/>
                <a:ext cx="240" cy="215"/>
              </a:xfrm>
              <a:prstGeom prst="ellipse">
                <a:avLst/>
              </a:prstGeom>
              <a:gradFill rotWithShape="1">
                <a:gsLst>
                  <a:gs pos="0">
                    <a:srgbClr val="FFFFFF"/>
                  </a:gs>
                  <a:gs pos="100000">
                    <a:srgbClr val="C0C0C0">
                      <a:alpha val="37999"/>
                    </a:srgbClr>
                  </a:gs>
                </a:gsLst>
                <a:lin ang="5400000" scaled="1"/>
                <a:tileRect/>
              </a:gradFill>
              <a:ln w="9525">
                <a:noFill/>
              </a:ln>
            </p:spPr>
            <p:txBody>
              <a:bodyPr vert="eaVert" wrap="none" anchor="ctr"/>
              <a:p>
                <a:endParaRPr lang="zh-CN" altLang="en-US">
                  <a:latin typeface="Arial" panose="020B0604020202020204" pitchFamily="34" charset="0"/>
                  <a:ea typeface="宋体" panose="02010600030101010101" pitchFamily="2" charset="-122"/>
                </a:endParaRPr>
              </a:p>
            </p:txBody>
          </p:sp>
        </p:grpSp>
        <p:sp>
          <p:nvSpPr>
            <p:cNvPr id="241719" name="Text Box 56"/>
            <p:cNvSpPr txBox="1"/>
            <p:nvPr/>
          </p:nvSpPr>
          <p:spPr>
            <a:xfrm>
              <a:off x="1341" y="1403"/>
              <a:ext cx="223" cy="288"/>
            </a:xfrm>
            <a:prstGeom prst="rect">
              <a:avLst/>
            </a:prstGeom>
            <a:noFill/>
            <a:ln w="9525">
              <a:noFill/>
            </a:ln>
          </p:spPr>
          <p:txBody>
            <a:bodyPr anchor="t">
              <a:spAutoFit/>
            </a:bodyPr>
            <a:p>
              <a:pPr algn="ctr" eaLnBrk="0" hangingPunct="0"/>
              <a:r>
                <a:rPr lang="en-US" altLang="zh-CN" sz="2400" b="1">
                  <a:solidFill>
                    <a:srgbClr val="000000"/>
                  </a:solidFill>
                  <a:latin typeface="Arial" panose="020B0604020202020204" pitchFamily="34" charset="0"/>
                  <a:ea typeface="宋体" panose="02010600030101010101" pitchFamily="2" charset="-122"/>
                </a:rPr>
                <a:t>1</a:t>
              </a:r>
              <a:endParaRPr lang="en-US" altLang="zh-CN" sz="2400" b="1">
                <a:solidFill>
                  <a:srgbClr val="000000"/>
                </a:solidFill>
                <a:latin typeface="Arial" panose="020B0604020202020204" pitchFamily="34" charset="0"/>
                <a:ea typeface="宋体" panose="02010600030101010101" pitchFamily="2" charset="-122"/>
              </a:endParaRPr>
            </a:p>
          </p:txBody>
        </p:sp>
      </p:grpSp>
    </p:spTree>
  </p:cSld>
  <p:clrMapOvr>
    <a:masterClrMapping/>
  </p:clrMapOv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89" name="Rectangle 2"/>
          <p:cNvSpPr/>
          <p:nvPr/>
        </p:nvSpPr>
        <p:spPr>
          <a:xfrm>
            <a:off x="1331913" y="404813"/>
            <a:ext cx="5181600" cy="685800"/>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p>
            <a:pPr algn="ctr"/>
            <a:r>
              <a:rPr lang="en-US" altLang="zh-CN" sz="3600" b="1">
                <a:latin typeface="宋体" panose="02010600030101010101" pitchFamily="2" charset="-122"/>
                <a:ea typeface="宋体" panose="02010600030101010101" pitchFamily="2" charset="-122"/>
              </a:rPr>
              <a:t>CUMCM</a:t>
            </a:r>
            <a:r>
              <a:rPr lang="zh-CN" altLang="en-US" sz="3600" b="1">
                <a:latin typeface="Times New Roman" panose="02020603050405020304" pitchFamily="18" charset="0"/>
                <a:ea typeface="宋体" panose="02010600030101010101" pitchFamily="2" charset="-122"/>
              </a:rPr>
              <a:t>评阅标准</a:t>
            </a:r>
            <a:endParaRPr lang="zh-CN" altLang="en-US" sz="3600" b="1">
              <a:latin typeface="Times New Roman" panose="02020603050405020304" pitchFamily="18" charset="0"/>
              <a:ea typeface="楷体_GB2312" pitchFamily="49" charset="-122"/>
            </a:endParaRPr>
          </a:p>
        </p:txBody>
      </p:sp>
      <p:sp>
        <p:nvSpPr>
          <p:cNvPr id="32771" name="Rectangle 3"/>
          <p:cNvSpPr/>
          <p:nvPr/>
        </p:nvSpPr>
        <p:spPr>
          <a:xfrm>
            <a:off x="457200" y="4572000"/>
            <a:ext cx="8305800" cy="2057400"/>
          </a:xfrm>
          <a:prstGeom prst="rect">
            <a:avLst/>
          </a:prstGeom>
          <a:noFill/>
          <a:ln w="9525">
            <a:noFill/>
          </a:ln>
        </p:spPr>
        <p:txBody>
          <a:bodyPr wrap="none" anchor="ctr"/>
          <a:p>
            <a:r>
              <a:rPr lang="zh-CN" altLang="en-US" sz="2800" b="1">
                <a:solidFill>
                  <a:srgbClr val="FF3300"/>
                </a:solidFill>
                <a:latin typeface="Times New Roman" panose="02020603050405020304" pitchFamily="18" charset="0"/>
                <a:ea typeface="宋体" panose="02010600030101010101" pitchFamily="2" charset="-122"/>
              </a:rPr>
              <a:t>清晰性：摘要应理解为详细摘要，提纲挈领</a:t>
            </a:r>
            <a:endParaRPr lang="zh-CN" altLang="en-US" sz="2800" b="1">
              <a:solidFill>
                <a:srgbClr val="FF3300"/>
              </a:solidFill>
              <a:latin typeface="Times New Roman" panose="02020603050405020304" pitchFamily="18" charset="0"/>
              <a:ea typeface="宋体" panose="02010600030101010101" pitchFamily="2" charset="-122"/>
            </a:endParaRPr>
          </a:p>
          <a:p>
            <a:r>
              <a:rPr lang="zh-CN" altLang="en-US" sz="2800" b="1">
                <a:solidFill>
                  <a:srgbClr val="FF3300"/>
                </a:solidFill>
                <a:latin typeface="Times New Roman" panose="02020603050405020304" pitchFamily="18" charset="0"/>
                <a:ea typeface="宋体" panose="02010600030101010101" pitchFamily="2" charset="-122"/>
              </a:rPr>
              <a:t>                </a:t>
            </a:r>
            <a:r>
              <a:rPr lang="zh-CN" altLang="en-US" sz="2800" b="1">
                <a:solidFill>
                  <a:srgbClr val="FF3300"/>
                </a:solidFill>
                <a:latin typeface="宋体" panose="02010600030101010101" pitchFamily="2" charset="-122"/>
                <a:ea typeface="宋体" panose="02010600030101010101" pitchFamily="2" charset="-122"/>
              </a:rPr>
              <a:t>表达严谨、简捷，思路清新</a:t>
            </a:r>
            <a:endParaRPr lang="zh-CN" altLang="en-US" sz="2800" b="1">
              <a:solidFill>
                <a:srgbClr val="FF3300"/>
              </a:solidFill>
              <a:latin typeface="宋体" panose="02010600030101010101" pitchFamily="2" charset="-122"/>
              <a:ea typeface="宋体" panose="02010600030101010101" pitchFamily="2" charset="-122"/>
            </a:endParaRPr>
          </a:p>
          <a:p>
            <a:r>
              <a:rPr lang="zh-CN" altLang="en-US" sz="2800" b="1">
                <a:solidFill>
                  <a:srgbClr val="FF3300"/>
                </a:solidFill>
                <a:latin typeface="宋体" panose="02010600030101010101" pitchFamily="2" charset="-122"/>
                <a:ea typeface="宋体" panose="02010600030101010101" pitchFamily="2" charset="-122"/>
              </a:rPr>
              <a:t>        格式符合规范，严禁暴露身份</a:t>
            </a:r>
            <a:endParaRPr lang="zh-CN" altLang="en-US" sz="2800" b="1">
              <a:solidFill>
                <a:srgbClr val="FF3300"/>
              </a:solidFill>
              <a:latin typeface="宋体" panose="02010600030101010101" pitchFamily="2" charset="-122"/>
              <a:ea typeface="宋体" panose="02010600030101010101" pitchFamily="2" charset="-122"/>
            </a:endParaRPr>
          </a:p>
        </p:txBody>
      </p:sp>
      <p:sp>
        <p:nvSpPr>
          <p:cNvPr id="32772" name="Rectangle 4"/>
          <p:cNvSpPr/>
          <p:nvPr/>
        </p:nvSpPr>
        <p:spPr>
          <a:xfrm>
            <a:off x="457200" y="3052763"/>
            <a:ext cx="8382000" cy="609600"/>
          </a:xfrm>
          <a:prstGeom prst="rect">
            <a:avLst/>
          </a:prstGeom>
          <a:noFill/>
          <a:ln w="9525">
            <a:noFill/>
          </a:ln>
        </p:spPr>
        <p:txBody>
          <a:bodyPr wrap="none" anchor="ctr"/>
          <a:p>
            <a:r>
              <a:rPr lang="zh-CN" altLang="en-US" sz="2800" b="1">
                <a:solidFill>
                  <a:srgbClr val="FF3300"/>
                </a:solidFill>
                <a:latin typeface="宋体" panose="02010600030101010101" pitchFamily="2" charset="-122"/>
                <a:ea typeface="宋体" panose="02010600030101010101" pitchFamily="2" charset="-122"/>
              </a:rPr>
              <a:t>创造性：特别欣赏独树一帜、标新立异，但要合理</a:t>
            </a:r>
            <a:endParaRPr lang="zh-CN" altLang="en-US" sz="2800" b="1">
              <a:solidFill>
                <a:srgbClr val="FF3300"/>
              </a:solidFill>
              <a:latin typeface="宋体" panose="02010600030101010101" pitchFamily="2" charset="-122"/>
              <a:ea typeface="宋体" panose="02010600030101010101" pitchFamily="2" charset="-122"/>
            </a:endParaRPr>
          </a:p>
        </p:txBody>
      </p:sp>
      <p:sp>
        <p:nvSpPr>
          <p:cNvPr id="32773" name="Text Box 5"/>
          <p:cNvSpPr txBox="1"/>
          <p:nvPr/>
        </p:nvSpPr>
        <p:spPr>
          <a:xfrm>
            <a:off x="1547813" y="1125538"/>
            <a:ext cx="5545137" cy="1331912"/>
          </a:xfrm>
          <a:prstGeom prst="rect">
            <a:avLst/>
          </a:prstGeom>
          <a:noFill/>
          <a:ln w="9525">
            <a:noFill/>
          </a:ln>
        </p:spPr>
        <p:txBody>
          <a:bodyPr anchor="t">
            <a:spAutoFit/>
          </a:bodyPr>
          <a:p>
            <a:pPr>
              <a:lnSpc>
                <a:spcPct val="120000"/>
              </a:lnSpc>
              <a:spcBef>
                <a:spcPct val="50000"/>
              </a:spcBef>
            </a:pPr>
            <a:r>
              <a:rPr lang="zh-CN" altLang="en-US" sz="2800" b="1">
                <a:solidFill>
                  <a:schemeClr val="accent2"/>
                </a:solidFill>
                <a:latin typeface="Times New Roman" panose="02020603050405020304" pitchFamily="18" charset="0"/>
                <a:ea typeface="宋体" panose="02010600030101010101" pitchFamily="2" charset="-122"/>
              </a:rPr>
              <a:t>假设的合理性，建模的创造性，</a:t>
            </a:r>
            <a:endParaRPr lang="zh-CN" altLang="en-US" sz="2800" b="1">
              <a:solidFill>
                <a:schemeClr val="accent2"/>
              </a:solidFill>
              <a:latin typeface="Times New Roman" panose="02020603050405020304" pitchFamily="18" charset="0"/>
              <a:ea typeface="宋体" panose="02010600030101010101" pitchFamily="2" charset="-122"/>
            </a:endParaRPr>
          </a:p>
          <a:p>
            <a:pPr>
              <a:lnSpc>
                <a:spcPct val="120000"/>
              </a:lnSpc>
              <a:spcBef>
                <a:spcPct val="50000"/>
              </a:spcBef>
            </a:pPr>
            <a:r>
              <a:rPr lang="zh-CN" altLang="en-US" sz="2800" b="1">
                <a:solidFill>
                  <a:schemeClr val="accent2"/>
                </a:solidFill>
                <a:latin typeface="Times New Roman" panose="02020603050405020304" pitchFamily="18" charset="0"/>
                <a:ea typeface="宋体" panose="02010600030101010101" pitchFamily="2" charset="-122"/>
              </a:rPr>
              <a:t>结果的正确性，表述的清晰性。</a:t>
            </a:r>
            <a:endParaRPr lang="zh-CN" altLang="en-US" sz="2800" b="1">
              <a:solidFill>
                <a:schemeClr val="accent2"/>
              </a:solidFill>
              <a:latin typeface="Times New Roman" panose="02020603050405020304" pitchFamily="18" charset="0"/>
              <a:ea typeface="宋体" panose="02010600030101010101" pitchFamily="2" charset="-122"/>
            </a:endParaRPr>
          </a:p>
        </p:txBody>
      </p:sp>
      <p:sp>
        <p:nvSpPr>
          <p:cNvPr id="32774" name="Rectangle 6"/>
          <p:cNvSpPr/>
          <p:nvPr/>
        </p:nvSpPr>
        <p:spPr>
          <a:xfrm>
            <a:off x="457200" y="3789363"/>
            <a:ext cx="8305800" cy="838200"/>
          </a:xfrm>
          <a:prstGeom prst="rect">
            <a:avLst/>
          </a:prstGeom>
          <a:noFill/>
          <a:ln w="9525">
            <a:noFill/>
          </a:ln>
        </p:spPr>
        <p:txBody>
          <a:bodyPr wrap="none" anchor="ctr"/>
          <a:p>
            <a:r>
              <a:rPr lang="zh-CN" altLang="en-US" sz="2800" b="1">
                <a:latin typeface="宋体" panose="02010600030101010101" pitchFamily="2" charset="-122"/>
                <a:ea typeface="宋体" panose="02010600030101010101" pitchFamily="2" charset="-122"/>
              </a:rPr>
              <a:t>正确性：</a:t>
            </a:r>
            <a:r>
              <a:rPr lang="zh-CN" altLang="en-US" sz="2800" b="1">
                <a:latin typeface="Times New Roman" panose="02020603050405020304" pitchFamily="18" charset="0"/>
                <a:ea typeface="宋体" panose="02010600030101010101" pitchFamily="2" charset="-122"/>
              </a:rPr>
              <a:t>不强调与“参考答案”的一致性和结果的精度；</a:t>
            </a:r>
            <a:endParaRPr lang="zh-CN" altLang="en-US" sz="2800" b="1">
              <a:latin typeface="Times New Roman" panose="02020603050405020304" pitchFamily="18" charset="0"/>
              <a:ea typeface="宋体" panose="02010600030101010101" pitchFamily="2" charset="-122"/>
            </a:endParaRPr>
          </a:p>
          <a:p>
            <a:r>
              <a:rPr lang="zh-CN" altLang="en-US" sz="2800" b="1">
                <a:latin typeface="宋体" panose="02010600030101010101" pitchFamily="2" charset="-122"/>
                <a:ea typeface="宋体" panose="02010600030101010101" pitchFamily="2" charset="-122"/>
              </a:rPr>
              <a:t>        好方法的结果一般比较好；但不一定是最好的</a:t>
            </a:r>
            <a:endParaRPr lang="zh-CN" altLang="en-US" sz="2800" b="1">
              <a:latin typeface="宋体" panose="02010600030101010101" pitchFamily="2" charset="-122"/>
              <a:ea typeface="宋体" panose="02010600030101010101" pitchFamily="2" charset="-122"/>
            </a:endParaRPr>
          </a:p>
        </p:txBody>
      </p:sp>
      <p:sp>
        <p:nvSpPr>
          <p:cNvPr id="32775" name="Rectangle 7"/>
          <p:cNvSpPr/>
          <p:nvPr/>
        </p:nvSpPr>
        <p:spPr>
          <a:xfrm>
            <a:off x="468313" y="2492375"/>
            <a:ext cx="8382000" cy="609600"/>
          </a:xfrm>
          <a:prstGeom prst="rect">
            <a:avLst/>
          </a:prstGeom>
          <a:noFill/>
          <a:ln w="9525">
            <a:noFill/>
          </a:ln>
        </p:spPr>
        <p:txBody>
          <a:bodyPr wrap="none" anchor="ctr"/>
          <a:p>
            <a:r>
              <a:rPr lang="zh-CN" altLang="en-US" sz="2800" b="1">
                <a:latin typeface="宋体" panose="02010600030101010101" pitchFamily="2" charset="-122"/>
                <a:ea typeface="宋体" panose="02010600030101010101" pitchFamily="2" charset="-122"/>
              </a:rPr>
              <a:t>合理性：关键假设；不欣赏罗列大量无关紧要的假设 </a:t>
            </a:r>
            <a:endParaRPr lang="zh-CN" altLang="en-US" sz="2800" b="1">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animEffect transition="in" filter="box(in)">
                                      <p:cBhvr>
                                        <p:cTn id="7" dur="500"/>
                                        <p:tgtEl>
                                          <p:spTgt spid="3277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32775"/>
                                        </p:tgtEl>
                                        <p:attrNameLst>
                                          <p:attrName>style.visibility</p:attrName>
                                        </p:attrNameLst>
                                      </p:cBhvr>
                                      <p:to>
                                        <p:strVal val="visible"/>
                                      </p:to>
                                    </p:set>
                                    <p:animEffect transition="in" filter="slide(fromLeft)">
                                      <p:cBhvr>
                                        <p:cTn id="12" dur="500"/>
                                        <p:tgtEl>
                                          <p:spTgt spid="3277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32772"/>
                                        </p:tgtEl>
                                        <p:attrNameLst>
                                          <p:attrName>style.visibility</p:attrName>
                                        </p:attrNameLst>
                                      </p:cBhvr>
                                      <p:to>
                                        <p:strVal val="visible"/>
                                      </p:to>
                                    </p:set>
                                    <p:animEffect transition="in" filter="slide(fromLeft)">
                                      <p:cBhvr>
                                        <p:cTn id="17" dur="500"/>
                                        <p:tgtEl>
                                          <p:spTgt spid="3277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32774">
                                            <p:txEl>
                                              <p:charRg st="0" end="26"/>
                                            </p:txEl>
                                          </p:spTgt>
                                        </p:tgtEl>
                                        <p:attrNameLst>
                                          <p:attrName>style.visibility</p:attrName>
                                        </p:attrNameLst>
                                      </p:cBhvr>
                                      <p:to>
                                        <p:strVal val="visible"/>
                                      </p:to>
                                    </p:set>
                                    <p:animEffect transition="in" filter="slide(fromLeft)">
                                      <p:cBhvr>
                                        <p:cTn id="22" dur="500"/>
                                        <p:tgtEl>
                                          <p:spTgt spid="32774">
                                            <p:txEl>
                                              <p:charRg st="0" end="2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2774">
                                            <p:txEl>
                                              <p:charRg st="26" end="55"/>
                                            </p:txEl>
                                          </p:spTgt>
                                        </p:tgtEl>
                                        <p:attrNameLst>
                                          <p:attrName>style.visibility</p:attrName>
                                        </p:attrNameLst>
                                      </p:cBhvr>
                                      <p:to>
                                        <p:strVal val="visible"/>
                                      </p:to>
                                    </p:set>
                                    <p:animEffect transition="in" filter="slide(fromLeft)">
                                      <p:cBhvr>
                                        <p:cTn id="27" dur="500"/>
                                        <p:tgtEl>
                                          <p:spTgt spid="32774">
                                            <p:txEl>
                                              <p:charRg st="26" end="5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32771">
                                            <p:txEl>
                                              <p:charRg st="0" end="20"/>
                                            </p:txEl>
                                          </p:spTgt>
                                        </p:tgtEl>
                                        <p:attrNameLst>
                                          <p:attrName>style.visibility</p:attrName>
                                        </p:attrNameLst>
                                      </p:cBhvr>
                                      <p:to>
                                        <p:strVal val="visible"/>
                                      </p:to>
                                    </p:set>
                                    <p:animEffect transition="in" filter="slide(fromLeft)">
                                      <p:cBhvr>
                                        <p:cTn id="32" dur="500"/>
                                        <p:tgtEl>
                                          <p:spTgt spid="32771">
                                            <p:txEl>
                                              <p:charRg st="0" end="2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32771">
                                            <p:txEl>
                                              <p:charRg st="20" end="49"/>
                                            </p:txEl>
                                          </p:spTgt>
                                        </p:tgtEl>
                                        <p:attrNameLst>
                                          <p:attrName>style.visibility</p:attrName>
                                        </p:attrNameLst>
                                      </p:cBhvr>
                                      <p:to>
                                        <p:strVal val="visible"/>
                                      </p:to>
                                    </p:set>
                                    <p:animEffect transition="in" filter="slide(fromLeft)">
                                      <p:cBhvr>
                                        <p:cTn id="37" dur="500"/>
                                        <p:tgtEl>
                                          <p:spTgt spid="32771">
                                            <p:txEl>
                                              <p:charRg st="20" end="4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32771">
                                            <p:txEl>
                                              <p:charRg st="49" end="71"/>
                                            </p:txEl>
                                          </p:spTgt>
                                        </p:tgtEl>
                                        <p:attrNameLst>
                                          <p:attrName>style.visibility</p:attrName>
                                        </p:attrNameLst>
                                      </p:cBhvr>
                                      <p:to>
                                        <p:strVal val="visible"/>
                                      </p:to>
                                    </p:set>
                                    <p:animEffect transition="in" filter="slide(fromLeft)">
                                      <p:cBhvr>
                                        <p:cTn id="42" dur="500"/>
                                        <p:tgtEl>
                                          <p:spTgt spid="32771">
                                            <p:txEl>
                                              <p:charRg st="49" end="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P spid="32772" grpId="0"/>
      <p:bldP spid="32773" grpId="0"/>
      <p:bldP spid="32774" grpId="0" build="p"/>
      <p:bldP spid="32775"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3" name="Rectangle 2"/>
          <p:cNvSpPr/>
          <p:nvPr/>
        </p:nvSpPr>
        <p:spPr>
          <a:xfrm>
            <a:off x="1331913" y="620713"/>
            <a:ext cx="6481762" cy="1008062"/>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p>
            <a:pPr algn="ctr"/>
            <a:r>
              <a:rPr lang="en-US" altLang="zh-CN" sz="3600" b="1">
                <a:latin typeface="宋体" panose="02010600030101010101" pitchFamily="2" charset="-122"/>
                <a:ea typeface="宋体" panose="02010600030101010101" pitchFamily="2" charset="-122"/>
              </a:rPr>
              <a:t>CUMCM</a:t>
            </a:r>
            <a:r>
              <a:rPr lang="zh-CN" altLang="en-US" sz="3600" b="1">
                <a:latin typeface="Times New Roman" panose="02020603050405020304" pitchFamily="18" charset="0"/>
                <a:ea typeface="宋体" panose="02010600030101010101" pitchFamily="2" charset="-122"/>
              </a:rPr>
              <a:t>评阅标准</a:t>
            </a:r>
            <a:r>
              <a:rPr lang="en-US" altLang="zh-CN" sz="3600" b="1">
                <a:latin typeface="Times New Roman" panose="02020603050405020304" pitchFamily="18" charset="0"/>
                <a:ea typeface="宋体" panose="02010600030101010101" pitchFamily="2" charset="-122"/>
              </a:rPr>
              <a:t>: </a:t>
            </a:r>
            <a:r>
              <a:rPr lang="zh-CN" altLang="en-US" sz="3600" b="1">
                <a:latin typeface="Times New Roman" panose="02020603050405020304" pitchFamily="18" charset="0"/>
                <a:ea typeface="宋体" panose="02010600030101010101" pitchFamily="2" charset="-122"/>
              </a:rPr>
              <a:t>一些常见问题</a:t>
            </a:r>
            <a:endParaRPr lang="zh-CN" altLang="en-US" sz="3600" b="1">
              <a:latin typeface="Times New Roman" panose="02020603050405020304" pitchFamily="18" charset="0"/>
              <a:ea typeface="楷体_GB2312" pitchFamily="49" charset="-122"/>
            </a:endParaRPr>
          </a:p>
        </p:txBody>
      </p:sp>
      <p:sp>
        <p:nvSpPr>
          <p:cNvPr id="33795" name="Rectangle 3"/>
          <p:cNvSpPr/>
          <p:nvPr/>
        </p:nvSpPr>
        <p:spPr>
          <a:xfrm>
            <a:off x="323850" y="3573463"/>
            <a:ext cx="8534400" cy="914400"/>
          </a:xfrm>
          <a:prstGeom prst="rect">
            <a:avLst/>
          </a:prstGeom>
          <a:noFill/>
          <a:ln w="9525">
            <a:noFill/>
          </a:ln>
        </p:spPr>
        <p:txBody>
          <a:bodyPr wrap="none" anchor="ctr"/>
          <a:p>
            <a:r>
              <a:rPr lang="zh-CN" altLang="en-US" sz="2800" b="1">
                <a:latin typeface="宋体" panose="02010600030101010101" pitchFamily="2" charset="-122"/>
                <a:ea typeface="宋体" panose="02010600030101010101" pitchFamily="2" charset="-122"/>
              </a:rPr>
              <a:t>有的论文过于简单，该交代的内容省略了，难以看懂</a:t>
            </a:r>
            <a:endParaRPr lang="zh-CN" altLang="en-US" sz="2800" b="1">
              <a:latin typeface="宋体" panose="02010600030101010101" pitchFamily="2" charset="-122"/>
              <a:ea typeface="宋体" panose="02010600030101010101" pitchFamily="2" charset="-122"/>
            </a:endParaRPr>
          </a:p>
        </p:txBody>
      </p:sp>
      <p:sp>
        <p:nvSpPr>
          <p:cNvPr id="33796" name="Rectangle 4"/>
          <p:cNvSpPr/>
          <p:nvPr/>
        </p:nvSpPr>
        <p:spPr>
          <a:xfrm>
            <a:off x="323850" y="4508500"/>
            <a:ext cx="8458200" cy="990600"/>
          </a:xfrm>
          <a:prstGeom prst="rect">
            <a:avLst/>
          </a:prstGeom>
          <a:noFill/>
          <a:ln w="9525">
            <a:noFill/>
          </a:ln>
        </p:spPr>
        <p:txBody>
          <a:bodyPr wrap="none" anchor="ctr"/>
          <a:p>
            <a:pPr eaLnBrk="0" hangingPunct="0"/>
            <a:r>
              <a:rPr lang="zh-CN" altLang="en-US" sz="2800" b="1">
                <a:latin typeface="宋体" panose="02010600030101010101" pitchFamily="2" charset="-122"/>
                <a:ea typeface="宋体" panose="02010600030101010101" pitchFamily="2" charset="-122"/>
              </a:rPr>
              <a:t>有的队罗列一系列假设或模型，又不作比较、评价，</a:t>
            </a:r>
            <a:endParaRPr lang="zh-CN" altLang="en-US" sz="2800" b="1">
              <a:latin typeface="宋体" panose="02010600030101010101" pitchFamily="2" charset="-122"/>
              <a:ea typeface="宋体" panose="02010600030101010101" pitchFamily="2" charset="-122"/>
            </a:endParaRPr>
          </a:p>
          <a:p>
            <a:pPr eaLnBrk="0" hangingPunct="0"/>
            <a:r>
              <a:rPr lang="zh-CN" altLang="en-US" sz="2800" b="1">
                <a:latin typeface="宋体" panose="02010600030101010101" pitchFamily="2" charset="-122"/>
                <a:ea typeface="宋体" panose="02010600030101010101" pitchFamily="2" charset="-122"/>
              </a:rPr>
              <a:t>希望碰上</a:t>
            </a:r>
            <a:r>
              <a:rPr lang="zh-CN" altLang="en-US" sz="2800" b="1">
                <a:latin typeface="Times New Roman" panose="02020603050405020304" pitchFamily="18" charset="0"/>
                <a:ea typeface="宋体" panose="02010600030101010101" pitchFamily="2" charset="-122"/>
              </a:rPr>
              <a:t>“</a:t>
            </a:r>
            <a:r>
              <a:rPr lang="zh-CN" altLang="en-US" sz="2800" b="1">
                <a:latin typeface="宋体" panose="02010600030101010101" pitchFamily="2" charset="-122"/>
                <a:ea typeface="宋体" panose="02010600030101010101" pitchFamily="2" charset="-122"/>
              </a:rPr>
              <a:t>参考答案</a:t>
            </a:r>
            <a:r>
              <a:rPr lang="zh-CN" altLang="en-US" sz="2800" b="1">
                <a:latin typeface="Times New Roman" panose="02020603050405020304" pitchFamily="18" charset="0"/>
                <a:ea typeface="宋体" panose="02010600030101010101" pitchFamily="2" charset="-122"/>
              </a:rPr>
              <a:t>”</a:t>
            </a:r>
            <a:r>
              <a:rPr lang="zh-CN" altLang="en-US" sz="2800" b="1">
                <a:latin typeface="宋体" panose="02010600030101010101" pitchFamily="2" charset="-122"/>
                <a:ea typeface="宋体" panose="02010600030101010101" pitchFamily="2" charset="-122"/>
              </a:rPr>
              <a:t>或</a:t>
            </a:r>
            <a:r>
              <a:rPr lang="zh-CN" altLang="en-US" sz="2800" b="1">
                <a:latin typeface="Times New Roman" panose="02020603050405020304" pitchFamily="18" charset="0"/>
                <a:ea typeface="宋体" panose="02010600030101010101" pitchFamily="2" charset="-122"/>
              </a:rPr>
              <a:t>“</a:t>
            </a:r>
            <a:r>
              <a:rPr lang="zh-CN" altLang="en-US" sz="2800" b="1">
                <a:latin typeface="宋体" panose="02010600030101010101" pitchFamily="2" charset="-122"/>
                <a:ea typeface="宋体" panose="02010600030101010101" pitchFamily="2" charset="-122"/>
              </a:rPr>
              <a:t>评阅思路</a:t>
            </a:r>
            <a:r>
              <a:rPr lang="zh-CN" altLang="en-US" sz="2800" b="1">
                <a:latin typeface="Times New Roman" panose="02020603050405020304" pitchFamily="18" charset="0"/>
                <a:ea typeface="宋体" panose="02010600030101010101" pitchFamily="2" charset="-122"/>
              </a:rPr>
              <a:t>”</a:t>
            </a:r>
            <a:r>
              <a:rPr lang="zh-CN" altLang="en-US" sz="2800" b="1">
                <a:latin typeface="宋体" panose="02010600030101010101" pitchFamily="2" charset="-122"/>
                <a:ea typeface="宋体" panose="02010600030101010101" pitchFamily="2" charset="-122"/>
              </a:rPr>
              <a:t>，弄巧成拙</a:t>
            </a:r>
            <a:endParaRPr lang="zh-CN" altLang="en-US" sz="2800" b="1">
              <a:latin typeface="宋体" panose="02010600030101010101" pitchFamily="2" charset="-122"/>
              <a:ea typeface="宋体" panose="02010600030101010101" pitchFamily="2" charset="-122"/>
            </a:endParaRPr>
          </a:p>
        </p:txBody>
      </p:sp>
      <p:sp>
        <p:nvSpPr>
          <p:cNvPr id="33797" name="Text Box 5"/>
          <p:cNvSpPr txBox="1"/>
          <p:nvPr/>
        </p:nvSpPr>
        <p:spPr>
          <a:xfrm>
            <a:off x="304800" y="1676400"/>
            <a:ext cx="8534400" cy="1800225"/>
          </a:xfrm>
          <a:prstGeom prst="rect">
            <a:avLst/>
          </a:prstGeom>
          <a:noFill/>
          <a:ln w="9525">
            <a:noFill/>
          </a:ln>
        </p:spPr>
        <p:txBody>
          <a:bodyPr anchor="t">
            <a:spAutoFit/>
          </a:bodyPr>
          <a:p>
            <a:pPr eaLnBrk="0" hangingPunct="0"/>
            <a:r>
              <a:rPr lang="zh-CN" altLang="en-US" sz="2800" b="1">
                <a:latin typeface="宋体" panose="02010600030101010101" pitchFamily="2" charset="-122"/>
                <a:ea typeface="宋体" panose="02010600030101010101" pitchFamily="2" charset="-122"/>
              </a:rPr>
              <a:t>数学模型最好</a:t>
            </a:r>
            <a:r>
              <a:rPr lang="zh-CN" altLang="en-US" sz="2800" b="1">
                <a:solidFill>
                  <a:srgbClr val="FF3300"/>
                </a:solidFill>
                <a:latin typeface="宋体" panose="02010600030101010101" pitchFamily="2" charset="-122"/>
                <a:ea typeface="宋体" panose="02010600030101010101" pitchFamily="2" charset="-122"/>
              </a:rPr>
              <a:t>明确、合理、简洁：</a:t>
            </a:r>
            <a:endParaRPr lang="zh-CN" altLang="en-US" sz="2800" b="1">
              <a:latin typeface="宋体" panose="02010600030101010101" pitchFamily="2" charset="-122"/>
              <a:ea typeface="宋体" panose="02010600030101010101" pitchFamily="2" charset="-122"/>
            </a:endParaRPr>
          </a:p>
          <a:p>
            <a:pPr eaLnBrk="0" hangingPunct="0"/>
            <a:r>
              <a:rPr lang="zh-CN" altLang="en-US" sz="2800" b="1">
                <a:latin typeface="宋体" panose="02010600030101010101" pitchFamily="2" charset="-122"/>
                <a:ea typeface="宋体" panose="02010600030101010101" pitchFamily="2" charset="-122"/>
              </a:rPr>
              <a:t>有些论文不给出明确的模型，只是根据赛题的情况，</a:t>
            </a:r>
            <a:endParaRPr lang="zh-CN" altLang="en-US" sz="2800" b="1">
              <a:latin typeface="宋体" panose="02010600030101010101" pitchFamily="2" charset="-122"/>
              <a:ea typeface="宋体" panose="02010600030101010101" pitchFamily="2" charset="-122"/>
            </a:endParaRPr>
          </a:p>
          <a:p>
            <a:pPr eaLnBrk="0" hangingPunct="0"/>
            <a:r>
              <a:rPr lang="zh-CN" altLang="en-US" sz="2800" b="1">
                <a:latin typeface="宋体" panose="02010600030101010101" pitchFamily="2" charset="-122"/>
                <a:ea typeface="宋体" panose="02010600030101010101" pitchFamily="2" charset="-122"/>
              </a:rPr>
              <a:t>实际上是用</a:t>
            </a:r>
            <a:r>
              <a:rPr lang="zh-CN" altLang="en-US" sz="2800" b="1">
                <a:latin typeface="Times New Roman" panose="02020603050405020304" pitchFamily="18" charset="0"/>
                <a:ea typeface="宋体" panose="02010600030101010101" pitchFamily="2" charset="-122"/>
              </a:rPr>
              <a:t>“</a:t>
            </a:r>
            <a:r>
              <a:rPr lang="zh-CN" altLang="en-US" sz="2800" b="1">
                <a:latin typeface="宋体" panose="02010600030101010101" pitchFamily="2" charset="-122"/>
                <a:ea typeface="宋体" panose="02010600030101010101" pitchFamily="2" charset="-122"/>
              </a:rPr>
              <a:t>凑</a:t>
            </a:r>
            <a:r>
              <a:rPr lang="zh-CN" altLang="en-US" sz="2800" b="1">
                <a:latin typeface="Times New Roman" panose="02020603050405020304" pitchFamily="18" charset="0"/>
                <a:ea typeface="宋体" panose="02010600030101010101" pitchFamily="2" charset="-122"/>
              </a:rPr>
              <a:t>”</a:t>
            </a:r>
            <a:r>
              <a:rPr lang="zh-CN" altLang="en-US" sz="2800" b="1">
                <a:latin typeface="宋体" panose="02010600030101010101" pitchFamily="2" charset="-122"/>
                <a:ea typeface="宋体" panose="02010600030101010101" pitchFamily="2" charset="-122"/>
              </a:rPr>
              <a:t>的方法给出结果，虽然结果大致是对</a:t>
            </a:r>
            <a:endParaRPr lang="zh-CN" altLang="en-US" sz="2800" b="1">
              <a:latin typeface="宋体" panose="02010600030101010101" pitchFamily="2" charset="-122"/>
              <a:ea typeface="宋体" panose="02010600030101010101" pitchFamily="2" charset="-122"/>
            </a:endParaRPr>
          </a:p>
          <a:p>
            <a:pPr eaLnBrk="0" hangingPunct="0"/>
            <a:r>
              <a:rPr lang="zh-CN" altLang="en-US" sz="2800" b="1">
                <a:latin typeface="宋体" panose="02010600030101010101" pitchFamily="2" charset="-122"/>
                <a:ea typeface="宋体" panose="02010600030101010101" pitchFamily="2" charset="-122"/>
              </a:rPr>
              <a:t>的，没有一般性，不是数学建模的正确思路。</a:t>
            </a:r>
            <a:endParaRPr lang="zh-CN" altLang="en-US" sz="2800" b="1">
              <a:latin typeface="宋体" panose="02010600030101010101" pitchFamily="2" charset="-122"/>
              <a:ea typeface="宋体" panose="02010600030101010101" pitchFamily="2" charset="-122"/>
            </a:endParaRPr>
          </a:p>
        </p:txBody>
      </p:sp>
      <p:sp>
        <p:nvSpPr>
          <p:cNvPr id="33798" name="Rectangle 6"/>
          <p:cNvSpPr/>
          <p:nvPr/>
        </p:nvSpPr>
        <p:spPr>
          <a:xfrm>
            <a:off x="323850" y="5661025"/>
            <a:ext cx="8458200" cy="762000"/>
          </a:xfrm>
          <a:prstGeom prst="rect">
            <a:avLst/>
          </a:prstGeom>
          <a:noFill/>
          <a:ln w="9525">
            <a:noFill/>
          </a:ln>
        </p:spPr>
        <p:txBody>
          <a:bodyPr wrap="none" anchor="ctr"/>
          <a:p>
            <a:pPr eaLnBrk="0" hangingPunct="0"/>
            <a:r>
              <a:rPr lang="zh-CN" altLang="en-US" sz="2800" b="1">
                <a:latin typeface="宋体" panose="02010600030101010101" pitchFamily="2" charset="-122"/>
                <a:ea typeface="宋体" panose="02010600030101010101" pitchFamily="2" charset="-122"/>
              </a:rPr>
              <a:t>有的论文参考文献不全，或引用他人结果不作交代</a:t>
            </a:r>
            <a:endParaRPr lang="zh-CN" altLang="en-US" sz="2800" b="1">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797">
                                            <p:txEl>
                                              <p:charRg st="0" end="16"/>
                                            </p:txEl>
                                          </p:spTgt>
                                        </p:tgtEl>
                                        <p:attrNameLst>
                                          <p:attrName>style.visibility</p:attrName>
                                        </p:attrNameLst>
                                      </p:cBhvr>
                                      <p:to>
                                        <p:strVal val="visible"/>
                                      </p:to>
                                    </p:set>
                                    <p:animEffect transition="in" filter="box(in)">
                                      <p:cBhvr>
                                        <p:cTn id="7" dur="500"/>
                                        <p:tgtEl>
                                          <p:spTgt spid="33797">
                                            <p:txEl>
                                              <p:charRg st="0"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3797">
                                            <p:txEl>
                                              <p:charRg st="16" end="40"/>
                                            </p:txEl>
                                          </p:spTgt>
                                        </p:tgtEl>
                                        <p:attrNameLst>
                                          <p:attrName>style.visibility</p:attrName>
                                        </p:attrNameLst>
                                      </p:cBhvr>
                                      <p:to>
                                        <p:strVal val="visible"/>
                                      </p:to>
                                    </p:set>
                                    <p:animEffect transition="in" filter="box(in)">
                                      <p:cBhvr>
                                        <p:cTn id="12" dur="500"/>
                                        <p:tgtEl>
                                          <p:spTgt spid="33797">
                                            <p:txEl>
                                              <p:charRg st="16"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3797">
                                            <p:txEl>
                                              <p:charRg st="40" end="65"/>
                                            </p:txEl>
                                          </p:spTgt>
                                        </p:tgtEl>
                                        <p:attrNameLst>
                                          <p:attrName>style.visibility</p:attrName>
                                        </p:attrNameLst>
                                      </p:cBhvr>
                                      <p:to>
                                        <p:strVal val="visible"/>
                                      </p:to>
                                    </p:set>
                                    <p:animEffect transition="in" filter="box(in)">
                                      <p:cBhvr>
                                        <p:cTn id="17" dur="500"/>
                                        <p:tgtEl>
                                          <p:spTgt spid="33797">
                                            <p:txEl>
                                              <p:charRg st="40" end="6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3797">
                                            <p:txEl>
                                              <p:charRg st="65" end="86"/>
                                            </p:txEl>
                                          </p:spTgt>
                                        </p:tgtEl>
                                        <p:attrNameLst>
                                          <p:attrName>style.visibility</p:attrName>
                                        </p:attrNameLst>
                                      </p:cBhvr>
                                      <p:to>
                                        <p:strVal val="visible"/>
                                      </p:to>
                                    </p:set>
                                    <p:animEffect transition="in" filter="box(in)">
                                      <p:cBhvr>
                                        <p:cTn id="22" dur="500"/>
                                        <p:tgtEl>
                                          <p:spTgt spid="33797">
                                            <p:txEl>
                                              <p:charRg st="65" end="8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3795"/>
                                        </p:tgtEl>
                                        <p:attrNameLst>
                                          <p:attrName>style.visibility</p:attrName>
                                        </p:attrNameLst>
                                      </p:cBhvr>
                                      <p:to>
                                        <p:strVal val="visible"/>
                                      </p:to>
                                    </p:set>
                                    <p:animEffect transition="in" filter="slide(fromLeft)">
                                      <p:cBhvr>
                                        <p:cTn id="27" dur="500"/>
                                        <p:tgtEl>
                                          <p:spTgt spid="33795"/>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33796">
                                            <p:txEl>
                                              <p:charRg st="0" end="24"/>
                                            </p:txEl>
                                          </p:spTgt>
                                        </p:tgtEl>
                                        <p:attrNameLst>
                                          <p:attrName>style.visibility</p:attrName>
                                        </p:attrNameLst>
                                      </p:cBhvr>
                                      <p:to>
                                        <p:strVal val="visible"/>
                                      </p:to>
                                    </p:set>
                                    <p:animEffect transition="in" filter="slide(fromLeft)">
                                      <p:cBhvr>
                                        <p:cTn id="32" dur="500"/>
                                        <p:tgtEl>
                                          <p:spTgt spid="33796">
                                            <p:txEl>
                                              <p:charRg st="0" end="2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33796">
                                            <p:txEl>
                                              <p:charRg st="24" end="47"/>
                                            </p:txEl>
                                          </p:spTgt>
                                        </p:tgtEl>
                                        <p:attrNameLst>
                                          <p:attrName>style.visibility</p:attrName>
                                        </p:attrNameLst>
                                      </p:cBhvr>
                                      <p:to>
                                        <p:strVal val="visible"/>
                                      </p:to>
                                    </p:set>
                                    <p:animEffect transition="in" filter="slide(fromLeft)">
                                      <p:cBhvr>
                                        <p:cTn id="37" dur="500"/>
                                        <p:tgtEl>
                                          <p:spTgt spid="33796">
                                            <p:txEl>
                                              <p:charRg st="24" end="4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33798">
                                            <p:txEl>
                                              <p:charRg st="0" end="23"/>
                                            </p:txEl>
                                          </p:spTgt>
                                        </p:tgtEl>
                                        <p:attrNameLst>
                                          <p:attrName>style.visibility</p:attrName>
                                        </p:attrNameLst>
                                      </p:cBhvr>
                                      <p:to>
                                        <p:strVal val="visible"/>
                                      </p:to>
                                    </p:set>
                                    <p:animEffect transition="in" filter="slide(fromLeft)">
                                      <p:cBhvr>
                                        <p:cTn id="42" dur="500"/>
                                        <p:tgtEl>
                                          <p:spTgt spid="33798">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6" grpId="0" build="p"/>
      <p:bldP spid="33797" grpId="0" build="p"/>
      <p:bldP spid="33798" grpId="0" build="p"/>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7" name="Rectangle 2"/>
          <p:cNvSpPr>
            <a:spLocks noGrp="1"/>
          </p:cNvSpPr>
          <p:nvPr>
            <p:ph type="title"/>
          </p:nvPr>
        </p:nvSpPr>
        <p:spPr>
          <a:xfrm>
            <a:off x="609600" y="381000"/>
            <a:ext cx="8001000" cy="533400"/>
          </a:xfrm>
          <a:ln/>
        </p:spPr>
        <p:txBody>
          <a:bodyPr vert="horz" wrap="square" lIns="91440" tIns="45720" rIns="91440" bIns="45720" anchor="b"/>
          <a:p>
            <a:pPr eaLnBrk="1" hangingPunct="1"/>
            <a:r>
              <a:rPr lang="zh-CN" altLang="en-US"/>
              <a:t>任务分工</a:t>
            </a:r>
            <a:endParaRPr lang="zh-CN" altLang="en-US"/>
          </a:p>
        </p:txBody>
      </p:sp>
      <p:sp>
        <p:nvSpPr>
          <p:cNvPr id="244738" name="Rectangle 3"/>
          <p:cNvSpPr>
            <a:spLocks noGrp="1"/>
          </p:cNvSpPr>
          <p:nvPr>
            <p:ph idx="1"/>
          </p:nvPr>
        </p:nvSpPr>
        <p:spPr>
          <a:ln/>
        </p:spPr>
        <p:txBody>
          <a:bodyPr vert="horz" wrap="square" lIns="91440" tIns="45720" rIns="91440" bIns="45720" anchor="t"/>
          <a:p>
            <a:pPr eaLnBrk="1" hangingPunct="1"/>
            <a:r>
              <a:rPr lang="zh-CN" altLang="en-US" b="1">
                <a:solidFill>
                  <a:schemeClr val="tx1"/>
                </a:solidFill>
              </a:rPr>
              <a:t>三个人侧重点不同</a:t>
            </a:r>
            <a:r>
              <a:rPr lang="en-US" altLang="zh-CN" b="1">
                <a:solidFill>
                  <a:schemeClr val="tx1"/>
                </a:solidFill>
              </a:rPr>
              <a:t>:</a:t>
            </a:r>
            <a:endParaRPr lang="en-US" altLang="zh-CN" b="1">
              <a:solidFill>
                <a:schemeClr val="tx1"/>
              </a:solidFill>
            </a:endParaRPr>
          </a:p>
          <a:p>
            <a:pPr eaLnBrk="1" hangingPunct="1"/>
            <a:endParaRPr lang="en-US" altLang="zh-CN" b="1">
              <a:solidFill>
                <a:schemeClr val="tx1"/>
              </a:solidFill>
            </a:endParaRPr>
          </a:p>
          <a:p>
            <a:pPr eaLnBrk="1" hangingPunct="1"/>
            <a:r>
              <a:rPr lang="zh-CN" altLang="en-US" b="1">
                <a:solidFill>
                  <a:schemeClr val="tx1"/>
                </a:solidFill>
              </a:rPr>
              <a:t>建模：推导数学模型，数学能力强</a:t>
            </a:r>
            <a:endParaRPr lang="zh-CN" altLang="en-US" b="1">
              <a:solidFill>
                <a:schemeClr val="tx1"/>
              </a:solidFill>
            </a:endParaRPr>
          </a:p>
          <a:p>
            <a:pPr eaLnBrk="1" hangingPunct="1"/>
            <a:r>
              <a:rPr lang="zh-CN" altLang="en-US" b="1">
                <a:solidFill>
                  <a:schemeClr val="tx1"/>
                </a:solidFill>
              </a:rPr>
              <a:t>编程：计算机能力强</a:t>
            </a:r>
            <a:endParaRPr lang="zh-CN" altLang="en-US" b="1">
              <a:solidFill>
                <a:schemeClr val="tx1"/>
              </a:solidFill>
            </a:endParaRPr>
          </a:p>
          <a:p>
            <a:pPr eaLnBrk="1" hangingPunct="1"/>
            <a:r>
              <a:rPr lang="zh-CN" altLang="en-US" b="1">
                <a:solidFill>
                  <a:schemeClr val="tx1"/>
                </a:solidFill>
              </a:rPr>
              <a:t>论文写作：写作能力强</a:t>
            </a:r>
            <a:endParaRPr lang="zh-CN" altLang="en-US" b="1">
              <a:solidFill>
                <a:schemeClr val="tx1"/>
              </a:solidFill>
            </a:endParaRPr>
          </a:p>
          <a:p>
            <a:pPr eaLnBrk="1" hangingPunct="1"/>
            <a:endParaRPr lang="en-US" altLang="zh-CN">
              <a:solidFill>
                <a:schemeClr val="tx1"/>
              </a:solidFill>
            </a:endParaRPr>
          </a:p>
        </p:txBody>
      </p:sp>
    </p:spTree>
  </p:cSld>
  <p:clrMapOvr>
    <a:masterClrMapping/>
  </p:clrMapOvr>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1" name="Rectangle 2"/>
          <p:cNvSpPr>
            <a:spLocks noGrp="1"/>
          </p:cNvSpPr>
          <p:nvPr>
            <p:ph type="title"/>
          </p:nvPr>
        </p:nvSpPr>
        <p:spPr>
          <a:xfrm>
            <a:off x="685800" y="304800"/>
            <a:ext cx="7772400" cy="762000"/>
          </a:xfrm>
          <a:ln/>
        </p:spPr>
        <p:txBody>
          <a:bodyPr vert="horz" wrap="square" lIns="91440" tIns="45720" rIns="91440" bIns="45720" anchor="b"/>
          <a:p>
            <a:pPr eaLnBrk="1" hangingPunct="1"/>
            <a:r>
              <a:rPr lang="zh-CN" altLang="en-US"/>
              <a:t>竞赛论文的结构</a:t>
            </a:r>
            <a:endParaRPr lang="zh-CN" altLang="en-US"/>
          </a:p>
        </p:txBody>
      </p:sp>
      <p:sp>
        <p:nvSpPr>
          <p:cNvPr id="245762" name="Rectangle 6"/>
          <p:cNvSpPr>
            <a:spLocks noGrp="1"/>
          </p:cNvSpPr>
          <p:nvPr>
            <p:ph idx="1"/>
          </p:nvPr>
        </p:nvSpPr>
        <p:spPr>
          <a:xfrm>
            <a:off x="566738" y="1341438"/>
            <a:ext cx="2786062" cy="4967287"/>
          </a:xfrm>
          <a:ln/>
        </p:spPr>
        <p:txBody>
          <a:bodyPr vert="horz" wrap="square" lIns="91440" tIns="45720" rIns="91440" bIns="45720" anchor="t"/>
          <a:p>
            <a:pPr eaLnBrk="1" hangingPunct="1"/>
            <a:r>
              <a:rPr lang="en-US" altLang="zh-CN" b="1"/>
              <a:t>1</a:t>
            </a:r>
            <a:r>
              <a:rPr lang="zh-CN" altLang="en-US" b="1"/>
              <a:t>、摘要</a:t>
            </a:r>
            <a:endParaRPr lang="zh-CN" altLang="en-US"/>
          </a:p>
          <a:p>
            <a:pPr eaLnBrk="1" hangingPunct="1"/>
            <a:r>
              <a:rPr lang="en-US" altLang="zh-CN" b="1"/>
              <a:t>2</a:t>
            </a:r>
            <a:r>
              <a:rPr lang="zh-CN" altLang="en-US" b="1"/>
              <a:t>、问题重述</a:t>
            </a:r>
            <a:endParaRPr lang="zh-CN" altLang="en-US"/>
          </a:p>
          <a:p>
            <a:pPr eaLnBrk="1" hangingPunct="1"/>
            <a:r>
              <a:rPr lang="en-US" altLang="zh-CN" b="1"/>
              <a:t>3</a:t>
            </a:r>
            <a:r>
              <a:rPr lang="zh-CN" altLang="en-US" b="1"/>
              <a:t>、问题分析</a:t>
            </a:r>
            <a:endParaRPr lang="zh-CN" altLang="en-US"/>
          </a:p>
          <a:p>
            <a:pPr eaLnBrk="1" hangingPunct="1"/>
            <a:r>
              <a:rPr lang="en-US" altLang="zh-CN" b="1"/>
              <a:t>4</a:t>
            </a:r>
            <a:r>
              <a:rPr lang="zh-CN" altLang="en-US" b="1"/>
              <a:t>、符号说明</a:t>
            </a:r>
            <a:endParaRPr lang="zh-CN" altLang="en-US"/>
          </a:p>
          <a:p>
            <a:pPr eaLnBrk="1" hangingPunct="1"/>
            <a:r>
              <a:rPr lang="en-US" altLang="zh-CN" b="1"/>
              <a:t>5</a:t>
            </a:r>
            <a:r>
              <a:rPr lang="zh-CN" altLang="en-US" b="1"/>
              <a:t>、模型假设</a:t>
            </a:r>
            <a:endParaRPr lang="zh-CN" altLang="en-US"/>
          </a:p>
          <a:p>
            <a:pPr eaLnBrk="1" hangingPunct="1"/>
            <a:r>
              <a:rPr lang="en-US" altLang="zh-CN" b="1"/>
              <a:t>6</a:t>
            </a:r>
            <a:r>
              <a:rPr lang="zh-CN" altLang="en-US" b="1"/>
              <a:t>、模型建立</a:t>
            </a:r>
            <a:endParaRPr lang="zh-CN" altLang="en-US"/>
          </a:p>
        </p:txBody>
      </p:sp>
      <p:sp>
        <p:nvSpPr>
          <p:cNvPr id="245763" name="Rectangle 7"/>
          <p:cNvSpPr/>
          <p:nvPr/>
        </p:nvSpPr>
        <p:spPr>
          <a:xfrm>
            <a:off x="3886200" y="1371600"/>
            <a:ext cx="3733800" cy="4967288"/>
          </a:xfrm>
          <a:prstGeom prst="rect">
            <a:avLst/>
          </a:prstGeom>
          <a:noFill/>
          <a:ln w="9525">
            <a:noFill/>
          </a:ln>
        </p:spPr>
        <p:txBody>
          <a:bodyPr anchor="t"/>
          <a:p>
            <a:pPr marL="469900" indent="-469900">
              <a:spcBef>
                <a:spcPct val="10000"/>
              </a:spcBef>
              <a:buClr>
                <a:schemeClr val="accent2"/>
              </a:buClr>
              <a:buFont typeface="Wingdings" panose="05000000000000000000" pitchFamily="2" charset="2"/>
              <a:buChar char="o"/>
            </a:pPr>
            <a:r>
              <a:rPr lang="en-US" altLang="zh-CN" sz="2800" b="1">
                <a:solidFill>
                  <a:srgbClr val="0000FF"/>
                </a:solidFill>
                <a:latin typeface="Times New Roman" panose="02020603050405020304" pitchFamily="18" charset="0"/>
                <a:ea typeface="黑体" panose="02010609060101010101" pitchFamily="2" charset="-122"/>
              </a:rPr>
              <a:t>7</a:t>
            </a:r>
            <a:r>
              <a:rPr lang="zh-CN" altLang="en-US" sz="2800">
                <a:solidFill>
                  <a:srgbClr val="0000FF"/>
                </a:solidFill>
                <a:latin typeface="Times New Roman" panose="02020603050405020304" pitchFamily="18" charset="0"/>
                <a:ea typeface="黑体" panose="02010609060101010101" pitchFamily="2" charset="-122"/>
              </a:rPr>
              <a:t>、模型求解</a:t>
            </a:r>
            <a:endParaRPr lang="zh-CN" altLang="en-US" sz="2800">
              <a:solidFill>
                <a:srgbClr val="0000FF"/>
              </a:solidFill>
              <a:latin typeface="Times New Roman" panose="02020603050405020304" pitchFamily="18" charset="0"/>
              <a:ea typeface="黑体" panose="02010609060101010101" pitchFamily="2" charset="-122"/>
            </a:endParaRPr>
          </a:p>
          <a:p>
            <a:pPr marL="469900" indent="-469900">
              <a:spcBef>
                <a:spcPct val="10000"/>
              </a:spcBef>
              <a:buClr>
                <a:schemeClr val="accent2"/>
              </a:buClr>
              <a:buFont typeface="Wingdings" panose="05000000000000000000" pitchFamily="2" charset="2"/>
              <a:buChar char="o"/>
            </a:pPr>
            <a:r>
              <a:rPr lang="en-US" altLang="zh-CN" sz="2800" b="1">
                <a:solidFill>
                  <a:srgbClr val="0000FF"/>
                </a:solidFill>
                <a:latin typeface="Times New Roman" panose="02020603050405020304" pitchFamily="18" charset="0"/>
                <a:ea typeface="黑体" panose="02010609060101010101" pitchFamily="2" charset="-122"/>
              </a:rPr>
              <a:t>8</a:t>
            </a:r>
            <a:r>
              <a:rPr lang="zh-CN" altLang="en-US" sz="2800">
                <a:solidFill>
                  <a:srgbClr val="0000FF"/>
                </a:solidFill>
                <a:latin typeface="Times New Roman" panose="02020603050405020304" pitchFamily="18" charset="0"/>
                <a:ea typeface="黑体" panose="02010609060101010101" pitchFamily="2" charset="-122"/>
              </a:rPr>
              <a:t>、模型结果分析</a:t>
            </a:r>
            <a:r>
              <a:rPr lang="en-US" altLang="zh-CN" sz="2800" b="1">
                <a:solidFill>
                  <a:srgbClr val="0000FF"/>
                </a:solidFill>
                <a:latin typeface="Times New Roman" panose="02020603050405020304" pitchFamily="18" charset="0"/>
                <a:ea typeface="黑体" panose="02010609060101010101" pitchFamily="2" charset="-122"/>
              </a:rPr>
              <a:t>9</a:t>
            </a:r>
            <a:r>
              <a:rPr lang="zh-CN" altLang="en-US" sz="2800">
                <a:solidFill>
                  <a:srgbClr val="0000FF"/>
                </a:solidFill>
                <a:latin typeface="Times New Roman" panose="02020603050405020304" pitchFamily="18" charset="0"/>
                <a:ea typeface="黑体" panose="02010609060101010101" pitchFamily="2" charset="-122"/>
              </a:rPr>
              <a:t>、模型优缺点</a:t>
            </a:r>
            <a:endParaRPr lang="zh-CN" altLang="en-US" sz="2800">
              <a:solidFill>
                <a:srgbClr val="0000FF"/>
              </a:solidFill>
              <a:latin typeface="Times New Roman" panose="02020603050405020304" pitchFamily="18" charset="0"/>
              <a:ea typeface="黑体" panose="02010609060101010101" pitchFamily="2" charset="-122"/>
            </a:endParaRPr>
          </a:p>
          <a:p>
            <a:pPr marL="469900" indent="-469900">
              <a:spcBef>
                <a:spcPct val="10000"/>
              </a:spcBef>
              <a:buClr>
                <a:schemeClr val="accent2"/>
              </a:buClr>
              <a:buFont typeface="Wingdings" panose="05000000000000000000" pitchFamily="2" charset="2"/>
              <a:buChar char="o"/>
            </a:pPr>
            <a:r>
              <a:rPr lang="en-US" altLang="zh-CN" sz="2800" b="1">
                <a:solidFill>
                  <a:srgbClr val="0000FF"/>
                </a:solidFill>
                <a:latin typeface="Times New Roman" panose="02020603050405020304" pitchFamily="18" charset="0"/>
                <a:ea typeface="黑体" panose="02010609060101010101" pitchFamily="2" charset="-122"/>
              </a:rPr>
              <a:t>10</a:t>
            </a:r>
            <a:r>
              <a:rPr lang="zh-CN" altLang="en-US" sz="2800">
                <a:solidFill>
                  <a:srgbClr val="0000FF"/>
                </a:solidFill>
                <a:latin typeface="Times New Roman" panose="02020603050405020304" pitchFamily="18" charset="0"/>
                <a:ea typeface="黑体" panose="02010609060101010101" pitchFamily="2" charset="-122"/>
              </a:rPr>
              <a:t>、改进方向</a:t>
            </a:r>
            <a:endParaRPr lang="zh-CN" altLang="en-US" sz="2800">
              <a:solidFill>
                <a:srgbClr val="0000FF"/>
              </a:solidFill>
              <a:latin typeface="Times New Roman" panose="02020603050405020304" pitchFamily="18" charset="0"/>
              <a:ea typeface="黑体" panose="02010609060101010101" pitchFamily="2" charset="-122"/>
            </a:endParaRPr>
          </a:p>
          <a:p>
            <a:pPr marL="469900" indent="-469900">
              <a:spcBef>
                <a:spcPct val="10000"/>
              </a:spcBef>
              <a:buClr>
                <a:schemeClr val="accent2"/>
              </a:buClr>
              <a:buFont typeface="Wingdings" panose="05000000000000000000" pitchFamily="2" charset="2"/>
              <a:buChar char="o"/>
            </a:pPr>
            <a:r>
              <a:rPr lang="en-US" altLang="zh-CN" sz="2800" b="1">
                <a:solidFill>
                  <a:srgbClr val="0000FF"/>
                </a:solidFill>
                <a:latin typeface="Times New Roman" panose="02020603050405020304" pitchFamily="18" charset="0"/>
                <a:ea typeface="黑体" panose="02010609060101010101" pitchFamily="2" charset="-122"/>
              </a:rPr>
              <a:t>11</a:t>
            </a:r>
            <a:r>
              <a:rPr lang="zh-CN" altLang="en-US" sz="2800">
                <a:solidFill>
                  <a:srgbClr val="0000FF"/>
                </a:solidFill>
                <a:latin typeface="Times New Roman" panose="02020603050405020304" pitchFamily="18" charset="0"/>
                <a:ea typeface="黑体" panose="02010609060101010101" pitchFamily="2" charset="-122"/>
              </a:rPr>
              <a:t>、参考文献</a:t>
            </a:r>
            <a:endParaRPr lang="zh-CN" altLang="en-US" sz="2800">
              <a:solidFill>
                <a:srgbClr val="0000FF"/>
              </a:solidFill>
              <a:latin typeface="Times New Roman" panose="02020603050405020304" pitchFamily="18" charset="0"/>
              <a:ea typeface="黑体" panose="02010609060101010101" pitchFamily="2" charset="-122"/>
            </a:endParaRPr>
          </a:p>
          <a:p>
            <a:pPr marL="469900" indent="-469900">
              <a:spcBef>
                <a:spcPct val="10000"/>
              </a:spcBef>
              <a:buClr>
                <a:schemeClr val="accent2"/>
              </a:buClr>
              <a:buFont typeface="Wingdings" panose="05000000000000000000" pitchFamily="2" charset="2"/>
              <a:buChar char="o"/>
            </a:pPr>
            <a:r>
              <a:rPr lang="en-US" altLang="zh-CN" sz="2800" b="1">
                <a:solidFill>
                  <a:srgbClr val="0000FF"/>
                </a:solidFill>
                <a:latin typeface="Times New Roman" panose="02020603050405020304" pitchFamily="18" charset="0"/>
                <a:ea typeface="黑体" panose="02010609060101010101" pitchFamily="2" charset="-122"/>
              </a:rPr>
              <a:t>12</a:t>
            </a:r>
            <a:r>
              <a:rPr lang="zh-CN" altLang="en-US" sz="2800">
                <a:solidFill>
                  <a:srgbClr val="0000FF"/>
                </a:solidFill>
                <a:latin typeface="Times New Roman" panose="02020603050405020304" pitchFamily="18" charset="0"/>
                <a:ea typeface="黑体" panose="02010609060101010101" pitchFamily="2" charset="-122"/>
              </a:rPr>
              <a:t>、附录</a:t>
            </a:r>
            <a:endParaRPr lang="zh-CN" altLang="en-US" sz="2800">
              <a:solidFill>
                <a:srgbClr val="0000FF"/>
              </a:solidFill>
              <a:latin typeface="Times New Roman" panose="02020603050405020304" pitchFamily="18" charset="0"/>
              <a:ea typeface="黑体" panose="02010609060101010101" pitchFamily="2" charset="-122"/>
            </a:endParaRPr>
          </a:p>
        </p:txBody>
      </p:sp>
    </p:spTree>
  </p:cSld>
  <p:clrMapOvr>
    <a:masterClrMapping/>
  </p:clrMapOv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5" name="Rectangle 3"/>
          <p:cNvSpPr>
            <a:spLocks noGrp="1"/>
          </p:cNvSpPr>
          <p:nvPr>
            <p:ph idx="1"/>
          </p:nvPr>
        </p:nvSpPr>
        <p:spPr>
          <a:ln/>
        </p:spPr>
        <p:txBody>
          <a:bodyPr vert="horz" wrap="square" lIns="91440" tIns="45720" rIns="91440" bIns="45720" anchor="t"/>
          <a:p>
            <a:pPr eaLnBrk="1" hangingPunct="1">
              <a:buNone/>
            </a:pPr>
            <a:r>
              <a:rPr lang="zh-CN" altLang="en-US"/>
              <a:t>竞赛论文好不好写？</a:t>
            </a:r>
            <a:endParaRPr lang="zh-CN" altLang="en-US"/>
          </a:p>
          <a:p>
            <a:pPr eaLnBrk="1" hangingPunct="1">
              <a:buNone/>
            </a:pPr>
            <a:r>
              <a:rPr lang="zh-CN" altLang="en-US"/>
              <a:t>很简单，竞赛论文是八股文，按要求写就行了。</a:t>
            </a:r>
            <a:endParaRPr lang="zh-CN" altLang="en-US"/>
          </a:p>
          <a:p>
            <a:pPr eaLnBrk="1" hangingPunct="1">
              <a:buNone/>
            </a:pPr>
            <a:r>
              <a:rPr lang="zh-CN" altLang="en-US"/>
              <a:t>很不简单，要写成优秀论文就不容易了。</a:t>
            </a:r>
            <a:endParaRPr lang="zh-CN" altLang="en-US"/>
          </a:p>
          <a:p>
            <a:pPr eaLnBrk="1" hangingPunct="1">
              <a:buNone/>
            </a:pPr>
            <a:r>
              <a:rPr lang="zh-CN" altLang="en-US"/>
              <a:t>下面就基本结构分各部分详细介绍：</a:t>
            </a:r>
            <a:endParaRPr lang="zh-CN" altLang="en-US"/>
          </a:p>
        </p:txBody>
      </p:sp>
    </p:spTree>
  </p:cSld>
  <p:clrMapOvr>
    <a:masterClrMapping/>
  </p:clrMapOvr>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09"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1</a:t>
            </a:r>
            <a:r>
              <a:rPr lang="zh-CN" altLang="en-US" sz="2800" b="1"/>
              <a:t>、摘要写作要求：</a:t>
            </a:r>
            <a:endParaRPr lang="zh-CN" altLang="en-US" sz="2800" b="1"/>
          </a:p>
        </p:txBody>
      </p:sp>
      <p:sp>
        <p:nvSpPr>
          <p:cNvPr id="247810" name="Rectangle 3"/>
          <p:cNvSpPr>
            <a:spLocks noGrp="1"/>
          </p:cNvSpPr>
          <p:nvPr>
            <p:ph idx="1"/>
          </p:nvPr>
        </p:nvSpPr>
        <p:spPr>
          <a:ln/>
        </p:spPr>
        <p:txBody>
          <a:bodyPr vert="horz" wrap="square" lIns="91440" tIns="45720" rIns="91440" bIns="45720" anchor="t"/>
          <a:p>
            <a:pPr eaLnBrk="1" hangingPunct="1"/>
            <a:r>
              <a:rPr lang="zh-CN" altLang="en-US"/>
              <a:t>内容：简要论述本文所要解决的问题及意义，解决问题的思路与方法、主要结果（数值结果或结论），建模的创新之处与特色等。</a:t>
            </a:r>
            <a:endParaRPr lang="zh-CN" altLang="en-US"/>
          </a:p>
          <a:p>
            <a:pPr eaLnBrk="1" hangingPunct="1"/>
            <a:r>
              <a:rPr lang="zh-CN" altLang="en-US"/>
              <a:t>注</a:t>
            </a:r>
            <a:r>
              <a:rPr lang="en-US" altLang="zh-CN" b="1"/>
              <a:t>1</a:t>
            </a:r>
            <a:r>
              <a:rPr lang="zh-CN" altLang="en-US"/>
              <a:t>：全国竞赛组委会已加大对摘要在评奖中的比重。</a:t>
            </a:r>
            <a:endParaRPr lang="zh-CN" altLang="en-US"/>
          </a:p>
          <a:p>
            <a:pPr eaLnBrk="1" hangingPunct="1"/>
            <a:r>
              <a:rPr lang="zh-CN" altLang="en-US"/>
              <a:t>注</a:t>
            </a:r>
            <a:r>
              <a:rPr lang="en-US" altLang="zh-CN"/>
              <a:t>2</a:t>
            </a:r>
            <a:r>
              <a:rPr lang="zh-CN" altLang="en-US"/>
              <a:t>：摘要通常不超过一页</a:t>
            </a:r>
            <a:endParaRPr lang="zh-CN" altLang="en-US"/>
          </a:p>
          <a:p>
            <a:pPr eaLnBrk="1" hangingPunct="1"/>
            <a:r>
              <a:rPr lang="zh-CN" altLang="en-US"/>
              <a:t>注</a:t>
            </a:r>
            <a:r>
              <a:rPr lang="en-US" altLang="zh-CN" b="1"/>
              <a:t>3</a:t>
            </a:r>
            <a:r>
              <a:rPr lang="zh-CN" altLang="en-US"/>
              <a:t>：摘要要能吸引评委的眼球，能表达全文的概貌、要点、特色，要回答题目要求的全部问题。</a:t>
            </a:r>
            <a:endParaRPr lang="zh-CN" altLang="en-US"/>
          </a:p>
        </p:txBody>
      </p:sp>
    </p:spTree>
  </p:cSld>
  <p:clrMapOvr>
    <a:masterClrMapping/>
  </p:clrMapOv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3"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2</a:t>
            </a:r>
            <a:r>
              <a:rPr lang="zh-CN" altLang="en-US" sz="2800" b="1"/>
              <a:t>、问题重述</a:t>
            </a:r>
            <a:endParaRPr lang="zh-CN" altLang="en-US" sz="2800" b="1"/>
          </a:p>
        </p:txBody>
      </p:sp>
      <p:sp>
        <p:nvSpPr>
          <p:cNvPr id="248834" name="Rectangle 3"/>
          <p:cNvSpPr>
            <a:spLocks noGrp="1"/>
          </p:cNvSpPr>
          <p:nvPr>
            <p:ph idx="1"/>
          </p:nvPr>
        </p:nvSpPr>
        <p:spPr>
          <a:ln/>
        </p:spPr>
        <p:txBody>
          <a:bodyPr vert="horz" wrap="square" lIns="91440" tIns="45720" rIns="91440" bIns="45720" anchor="t"/>
          <a:p>
            <a:pPr eaLnBrk="1" hangingPunct="1"/>
            <a:r>
              <a:rPr lang="zh-CN" altLang="en-US"/>
              <a:t>问题重述部分是要保持全文的完整性，要求用自己的语言将赛题重述一遍，可以简单地有删有增地重述。</a:t>
            </a:r>
            <a:endParaRPr lang="zh-CN" altLang="en-US"/>
          </a:p>
          <a:p>
            <a:pPr eaLnBrk="1" hangingPunct="1"/>
            <a:r>
              <a:rPr lang="zh-CN" altLang="en-US"/>
              <a:t>这一部分相对不太重要，有的论文只是将题目</a:t>
            </a:r>
            <a:r>
              <a:rPr lang="en-US" altLang="zh-CN" b="1"/>
              <a:t>copy</a:t>
            </a:r>
            <a:r>
              <a:rPr lang="zh-CN" altLang="en-US"/>
              <a:t>上去就完了。</a:t>
            </a:r>
            <a:endParaRPr lang="zh-CN" altLang="en-US"/>
          </a:p>
        </p:txBody>
      </p:sp>
    </p:spTree>
  </p:cSld>
  <p:clrMapOvr>
    <a:masterClrMapping/>
  </p:clrMapOvr>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7"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3</a:t>
            </a:r>
            <a:r>
              <a:rPr lang="zh-CN" altLang="en-US" sz="2800" b="1"/>
              <a:t>、问题分析</a:t>
            </a:r>
            <a:endParaRPr lang="zh-CN" altLang="en-US" sz="2800" b="1"/>
          </a:p>
        </p:txBody>
      </p:sp>
      <p:sp>
        <p:nvSpPr>
          <p:cNvPr id="249858" name="Rectangle 3"/>
          <p:cNvSpPr>
            <a:spLocks noGrp="1"/>
          </p:cNvSpPr>
          <p:nvPr>
            <p:ph idx="1"/>
          </p:nvPr>
        </p:nvSpPr>
        <p:spPr>
          <a:ln/>
        </p:spPr>
        <p:txBody>
          <a:bodyPr vert="horz" wrap="square" lIns="91440" tIns="45720" rIns="91440" bIns="45720" anchor="t"/>
          <a:p>
            <a:pPr eaLnBrk="1" hangingPunct="1"/>
            <a:r>
              <a:rPr lang="zh-CN" altLang="en-US"/>
              <a:t>这一部分的任务是对赛题作一全面的分析，说明题目要求解决的是什么问题，解决问题的关键是什么，解决问题的思路、大致步骤，是建立模型之前的必要准备。要点：</a:t>
            </a:r>
            <a:endParaRPr lang="zh-CN" altLang="en-US"/>
          </a:p>
          <a:p>
            <a:pPr eaLnBrk="1" hangingPunct="1"/>
            <a:r>
              <a:rPr lang="zh-CN" altLang="en-US"/>
              <a:t>弄清题意，梳理解决问题的思路。</a:t>
            </a:r>
            <a:endParaRPr lang="zh-CN" altLang="en-US"/>
          </a:p>
          <a:p>
            <a:pPr lvl="1" indent="-436245" eaLnBrk="1" hangingPunct="1"/>
            <a:r>
              <a:rPr lang="zh-CN" altLang="en-US"/>
              <a:t>注：也可将这一部分归入模型建立。</a:t>
            </a:r>
            <a:endParaRPr lang="zh-CN" altLang="en-US"/>
          </a:p>
        </p:txBody>
      </p:sp>
    </p:spTree>
  </p:cSld>
  <p:clrMapOvr>
    <a:masterClrMapping/>
  </p:clrMapOvr>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0881" name="Rectangle 3"/>
          <p:cNvSpPr>
            <a:spLocks noGrp="1"/>
          </p:cNvSpPr>
          <p:nvPr>
            <p:ph idx="1"/>
          </p:nvPr>
        </p:nvSpPr>
        <p:spPr>
          <a:ln/>
        </p:spPr>
        <p:txBody>
          <a:bodyPr vert="horz" wrap="square" lIns="91440" tIns="45720" rIns="91440" bIns="45720" anchor="t"/>
          <a:p>
            <a:pPr eaLnBrk="1" hangingPunct="1"/>
            <a:r>
              <a:rPr lang="zh-CN" altLang="en-US"/>
              <a:t>在问题分析推导过程要注意的问题：</a:t>
            </a:r>
            <a:endParaRPr lang="zh-CN" altLang="en-US"/>
          </a:p>
          <a:p>
            <a:pPr lvl="1" indent="-436245" eaLnBrk="1" hangingPunct="1"/>
            <a:r>
              <a:rPr lang="zh-CN" altLang="en-US"/>
              <a:t>（</a:t>
            </a:r>
            <a:r>
              <a:rPr lang="en-US" altLang="zh-CN"/>
              <a:t>1</a:t>
            </a:r>
            <a:r>
              <a:rPr lang="zh-CN" altLang="en-US"/>
              <a:t>）分析：中肯、确切；</a:t>
            </a:r>
            <a:endParaRPr lang="zh-CN" altLang="en-US"/>
          </a:p>
          <a:p>
            <a:pPr lvl="1" indent="-436245" eaLnBrk="1" hangingPunct="1"/>
            <a:r>
              <a:rPr lang="zh-CN" altLang="en-US"/>
              <a:t>（</a:t>
            </a:r>
            <a:r>
              <a:rPr lang="en-US" altLang="zh-CN"/>
              <a:t>2</a:t>
            </a:r>
            <a:r>
              <a:rPr lang="zh-CN" altLang="en-US"/>
              <a:t>）术语：专业、内行；</a:t>
            </a:r>
            <a:endParaRPr lang="zh-CN" altLang="en-US"/>
          </a:p>
          <a:p>
            <a:pPr lvl="1" indent="-436245" eaLnBrk="1" hangingPunct="1"/>
            <a:r>
              <a:rPr lang="zh-CN" altLang="en-US"/>
              <a:t>（</a:t>
            </a:r>
            <a:r>
              <a:rPr lang="en-US" altLang="zh-CN"/>
              <a:t>3</a:t>
            </a:r>
            <a:r>
              <a:rPr lang="zh-CN" altLang="en-US"/>
              <a:t>）原理、依据：正确、明确；</a:t>
            </a:r>
            <a:endParaRPr lang="zh-CN" altLang="en-US"/>
          </a:p>
          <a:p>
            <a:pPr lvl="1" indent="-436245" eaLnBrk="1" hangingPunct="1"/>
            <a:r>
              <a:rPr lang="zh-CN" altLang="en-US"/>
              <a:t>（</a:t>
            </a:r>
            <a:r>
              <a:rPr lang="en-US" altLang="zh-CN"/>
              <a:t>4</a:t>
            </a:r>
            <a:r>
              <a:rPr lang="zh-CN" altLang="en-US"/>
              <a:t>）表述：简明，关键步骤要列出</a:t>
            </a:r>
            <a:endParaRPr lang="zh-CN" altLang="en-US"/>
          </a:p>
          <a:p>
            <a:pPr eaLnBrk="1" hangingPunct="1"/>
            <a:r>
              <a:rPr lang="zh-CN" altLang="en-US"/>
              <a:t>忌：</a:t>
            </a:r>
            <a:endParaRPr lang="zh-CN" altLang="en-US"/>
          </a:p>
          <a:p>
            <a:pPr lvl="1" indent="-436245" eaLnBrk="1" hangingPunct="1"/>
            <a:r>
              <a:rPr lang="zh-CN" altLang="en-US"/>
              <a:t>外行话，专业术语不明确，表述混乱，冗长。</a:t>
            </a:r>
            <a:endParaRPr lang="zh-CN" altLang="en-US"/>
          </a:p>
        </p:txBody>
      </p:sp>
    </p:spTree>
  </p:cSld>
  <p:clrMapOvr>
    <a:masterClrMapping/>
  </p:clrMapOvr>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5"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4</a:t>
            </a:r>
            <a:r>
              <a:rPr lang="zh-CN" altLang="en-US" sz="2800" b="1"/>
              <a:t>、符号说明</a:t>
            </a:r>
            <a:endParaRPr lang="zh-CN" altLang="en-US" sz="2800" b="1"/>
          </a:p>
        </p:txBody>
      </p:sp>
      <p:sp>
        <p:nvSpPr>
          <p:cNvPr id="251906" name="Rectangle 3"/>
          <p:cNvSpPr>
            <a:spLocks noGrp="1"/>
          </p:cNvSpPr>
          <p:nvPr>
            <p:ph idx="1"/>
          </p:nvPr>
        </p:nvSpPr>
        <p:spPr>
          <a:ln/>
        </p:spPr>
        <p:txBody>
          <a:bodyPr vert="horz" wrap="square" lIns="91440" tIns="45720" rIns="91440" bIns="45720" anchor="t"/>
          <a:p>
            <a:pPr eaLnBrk="1" hangingPunct="1"/>
            <a:r>
              <a:rPr lang="zh-CN" altLang="en-US"/>
              <a:t>论文中所用到每一个数学符号，都必须在此说明它们各自的含义，一个符号说明用一个自然段，全部符号说明形成一个自然节。</a:t>
            </a:r>
            <a:endParaRPr lang="zh-CN" altLang="en-US"/>
          </a:p>
          <a:p>
            <a:pPr eaLnBrk="1" hangingPunct="1"/>
            <a:r>
              <a:rPr lang="zh-CN" altLang="en-US"/>
              <a:t>例： </a:t>
            </a:r>
            <a:r>
              <a:rPr lang="en-US" altLang="zh-CN"/>
              <a:t>Y</a:t>
            </a:r>
            <a:r>
              <a:rPr lang="en-US" altLang="zh-CN" baseline="-25000"/>
              <a:t>i</a:t>
            </a:r>
            <a:r>
              <a:rPr lang="zh-CN" altLang="en-US"/>
              <a:t>－第</a:t>
            </a:r>
            <a:r>
              <a:rPr lang="en-US" altLang="zh-CN" b="1"/>
              <a:t>i</a:t>
            </a:r>
            <a:r>
              <a:rPr lang="zh-CN" altLang="en-US"/>
              <a:t>年的产值。</a:t>
            </a:r>
            <a:endParaRPr lang="zh-CN" altLang="en-US"/>
          </a:p>
          <a:p>
            <a:pPr eaLnBrk="1" hangingPunct="1"/>
            <a:r>
              <a:rPr lang="zh-CN" altLang="en-US"/>
              <a:t>         </a:t>
            </a:r>
            <a:r>
              <a:rPr lang="en-US" altLang="zh-CN"/>
              <a:t>X</a:t>
            </a:r>
            <a:r>
              <a:rPr lang="en-US" altLang="zh-CN" baseline="-25000"/>
              <a:t>j </a:t>
            </a:r>
            <a:r>
              <a:rPr lang="zh-CN" altLang="en-US"/>
              <a:t>－第</a:t>
            </a:r>
            <a:r>
              <a:rPr lang="en-US" altLang="zh-CN" b="1"/>
              <a:t>i</a:t>
            </a:r>
            <a:r>
              <a:rPr lang="zh-CN" altLang="en-US"/>
              <a:t>年的成本。</a:t>
            </a:r>
            <a:endParaRPr lang="zh-CN" altLang="en-US"/>
          </a:p>
        </p:txBody>
      </p:sp>
    </p:spTree>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29"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5</a:t>
            </a:r>
            <a:r>
              <a:rPr lang="zh-CN" altLang="en-US" sz="2800" b="1"/>
              <a:t>、模型假设</a:t>
            </a:r>
            <a:endParaRPr lang="zh-CN" altLang="en-US" sz="2800" b="1"/>
          </a:p>
        </p:txBody>
      </p:sp>
      <p:sp>
        <p:nvSpPr>
          <p:cNvPr id="252930" name="Rectangle 3"/>
          <p:cNvSpPr>
            <a:spLocks noGrp="1"/>
          </p:cNvSpPr>
          <p:nvPr>
            <p:ph idx="1"/>
          </p:nvPr>
        </p:nvSpPr>
        <p:spPr>
          <a:ln/>
        </p:spPr>
        <p:txBody>
          <a:bodyPr vert="horz" wrap="square" lIns="91440" tIns="45720" rIns="91440" bIns="45720" anchor="t"/>
          <a:p>
            <a:pPr eaLnBrk="1" hangingPunct="1"/>
            <a:r>
              <a:rPr lang="zh-CN" altLang="en-US"/>
              <a:t>假设的合理性是评阅的一个重要指标，</a:t>
            </a:r>
            <a:endParaRPr lang="zh-CN" altLang="en-US"/>
          </a:p>
          <a:p>
            <a:pPr lvl="1" indent="-436245" eaLnBrk="1" hangingPunct="1"/>
            <a:r>
              <a:rPr lang="zh-CN" altLang="en-US"/>
              <a:t>如何作假设？</a:t>
            </a:r>
            <a:endParaRPr lang="zh-CN" altLang="en-US"/>
          </a:p>
          <a:p>
            <a:pPr lvl="2" indent="-394970" eaLnBrk="1" hangingPunct="1"/>
            <a:r>
              <a:rPr lang="zh-CN" altLang="en-US"/>
              <a:t>从题目所给条件中作假设</a:t>
            </a:r>
            <a:endParaRPr lang="zh-CN" altLang="en-US"/>
          </a:p>
          <a:p>
            <a:pPr lvl="2" indent="-394970" eaLnBrk="1" hangingPunct="1"/>
            <a:r>
              <a:rPr lang="zh-CN" altLang="en-US"/>
              <a:t>从题目的要求中作假设</a:t>
            </a:r>
            <a:endParaRPr lang="zh-CN" altLang="en-US"/>
          </a:p>
          <a:p>
            <a:pPr eaLnBrk="1" hangingPunct="1"/>
            <a:r>
              <a:rPr lang="zh-CN" altLang="en-US"/>
              <a:t>注：作假设要切合题意，</a:t>
            </a:r>
            <a:endParaRPr lang="zh-CN" altLang="en-US"/>
          </a:p>
          <a:p>
            <a:pPr lvl="1" indent="-436245" eaLnBrk="1" hangingPunct="1"/>
            <a:r>
              <a:rPr lang="zh-CN" altLang="en-US"/>
              <a:t>关键性假设不可缺，</a:t>
            </a:r>
            <a:endParaRPr lang="zh-CN" altLang="en-US"/>
          </a:p>
          <a:p>
            <a:pPr lvl="1" indent="-436245" eaLnBrk="1" hangingPunct="1"/>
            <a:r>
              <a:rPr lang="zh-CN" altLang="en-US"/>
              <a:t>不要罗列一大堆无用的假设。</a:t>
            </a:r>
            <a:endParaRPr lang="zh-CN" altLang="en-US"/>
          </a:p>
        </p:txBody>
      </p:sp>
    </p:spTree>
  </p:cSld>
  <p:clrMapOvr>
    <a:masterClrMapping/>
  </p:clrMapOvr>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3"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6</a:t>
            </a:r>
            <a:r>
              <a:rPr lang="zh-CN" altLang="en-US" sz="2800" b="1"/>
              <a:t>、模型建立</a:t>
            </a:r>
            <a:endParaRPr lang="zh-CN" altLang="en-US" sz="2800" b="1"/>
          </a:p>
        </p:txBody>
      </p:sp>
      <p:sp>
        <p:nvSpPr>
          <p:cNvPr id="253954" name="Rectangle 3"/>
          <p:cNvSpPr>
            <a:spLocks noGrp="1"/>
          </p:cNvSpPr>
          <p:nvPr>
            <p:ph idx="1"/>
          </p:nvPr>
        </p:nvSpPr>
        <p:spPr>
          <a:ln/>
        </p:spPr>
        <p:txBody>
          <a:bodyPr vert="horz" wrap="square" lIns="91440" tIns="45720" rIns="91440" bIns="45720" anchor="t"/>
          <a:p>
            <a:pPr eaLnBrk="1" hangingPunct="1"/>
            <a:r>
              <a:rPr lang="zh-CN" altLang="en-US"/>
              <a:t>基本模型</a:t>
            </a:r>
            <a:endParaRPr lang="zh-CN" altLang="en-US"/>
          </a:p>
          <a:p>
            <a:pPr eaLnBrk="1" hangingPunct="1"/>
            <a:r>
              <a:rPr lang="zh-CN" altLang="en-US"/>
              <a:t>每一篇论文都必须有一个模型！</a:t>
            </a:r>
            <a:endParaRPr lang="zh-CN" altLang="en-US"/>
          </a:p>
          <a:p>
            <a:pPr eaLnBrk="1" hangingPunct="1"/>
            <a:r>
              <a:rPr lang="zh-CN" altLang="en-US"/>
              <a:t>常见问题：很多参赛队的论文通篇没有一个模型，只是用凑的办法弄出一个结果。</a:t>
            </a:r>
            <a:endParaRPr lang="zh-CN" altLang="en-US"/>
          </a:p>
          <a:p>
            <a:pPr eaLnBrk="1" hangingPunct="1"/>
            <a:r>
              <a:rPr lang="zh-CN" altLang="en-US"/>
              <a:t>数学模型：可以是一个（组）公式、算法、图表等数学结构。</a:t>
            </a:r>
            <a:endParaRPr lang="zh-CN" altLang="en-US"/>
          </a:p>
          <a:p>
            <a:pPr eaLnBrk="1" hangingPunct="1"/>
            <a:r>
              <a:rPr lang="zh-CN" altLang="en-US">
                <a:solidFill>
                  <a:schemeClr val="accent2"/>
                </a:solidFill>
              </a:rPr>
              <a:t>强调：模型意识。</a:t>
            </a:r>
            <a:endParaRPr lang="zh-CN" altLang="en-US">
              <a:solidFill>
                <a:schemeClr val="accent2"/>
              </a:solidFill>
            </a:endParaRPr>
          </a:p>
        </p:txBody>
      </p:sp>
    </p:spTree>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7" name="Rectangle 3"/>
          <p:cNvSpPr>
            <a:spLocks noGrp="1"/>
          </p:cNvSpPr>
          <p:nvPr>
            <p:ph idx="1"/>
          </p:nvPr>
        </p:nvSpPr>
        <p:spPr>
          <a:ln/>
        </p:spPr>
        <p:txBody>
          <a:bodyPr vert="horz" wrap="square" lIns="91440" tIns="45720" rIns="91440" bIns="45720" anchor="t"/>
          <a:p>
            <a:pPr eaLnBrk="1" hangingPunct="1"/>
            <a:r>
              <a:rPr lang="zh-CN" altLang="en-US"/>
              <a:t>基本模型：通常是解决问题的一般模型。基本模型要求正确、完整、简洁。</a:t>
            </a:r>
            <a:endParaRPr lang="zh-CN" altLang="en-US"/>
          </a:p>
          <a:p>
            <a:pPr eaLnBrk="1" hangingPunct="1"/>
            <a:r>
              <a:rPr lang="zh-CN" altLang="en-US"/>
              <a:t>简化模型</a:t>
            </a:r>
            <a:endParaRPr lang="zh-CN" altLang="en-US"/>
          </a:p>
          <a:p>
            <a:pPr lvl="1" indent="-436245" eaLnBrk="1" hangingPunct="1"/>
            <a:r>
              <a:rPr lang="zh-CN" altLang="en-US"/>
              <a:t>当基本模型过于复杂难于求解时，可采用简化模型。</a:t>
            </a:r>
            <a:endParaRPr lang="zh-CN" altLang="en-US"/>
          </a:p>
          <a:p>
            <a:pPr lvl="2" indent="-394970" eaLnBrk="1" hangingPunct="1"/>
            <a:r>
              <a:rPr lang="en-US" altLang="zh-CN"/>
              <a:t>1</a:t>
            </a:r>
            <a:r>
              <a:rPr lang="zh-CN" altLang="en-US"/>
              <a:t>）要明确说明：简化思想，依据</a:t>
            </a:r>
            <a:endParaRPr lang="zh-CN" altLang="en-US"/>
          </a:p>
          <a:p>
            <a:pPr lvl="2" indent="-394970" eaLnBrk="1" hangingPunct="1"/>
            <a:r>
              <a:rPr lang="en-US" altLang="zh-CN"/>
              <a:t>2</a:t>
            </a:r>
            <a:r>
              <a:rPr lang="zh-CN" altLang="en-US"/>
              <a:t>）简化后模型，尽可能完整给出</a:t>
            </a:r>
            <a:endParaRPr lang="zh-CN" altLang="en-US"/>
          </a:p>
        </p:txBody>
      </p:sp>
    </p:spTree>
  </p:cSld>
  <p:clrMapOvr>
    <a:masterClrMapping/>
  </p:clrMapOvr>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1" name="Rectangle 3"/>
          <p:cNvSpPr>
            <a:spLocks noGrp="1"/>
          </p:cNvSpPr>
          <p:nvPr>
            <p:ph idx="1"/>
          </p:nvPr>
        </p:nvSpPr>
        <p:spPr>
          <a:ln/>
        </p:spPr>
        <p:txBody>
          <a:bodyPr vert="horz" wrap="square" lIns="91440" tIns="45720" rIns="91440" bIns="45720" anchor="t"/>
          <a:p>
            <a:pPr eaLnBrk="1" hangingPunct="1"/>
            <a:r>
              <a:rPr lang="zh-CN" altLang="en-US"/>
              <a:t>模型的选择</a:t>
            </a:r>
            <a:endParaRPr lang="zh-CN" altLang="en-US"/>
          </a:p>
          <a:p>
            <a:pPr lvl="1" indent="-436245" eaLnBrk="1" hangingPunct="1"/>
            <a:r>
              <a:rPr lang="zh-CN" altLang="en-US"/>
              <a:t>模型要实用，有效，以解决问题有效为原则。</a:t>
            </a:r>
            <a:endParaRPr lang="zh-CN" altLang="en-US"/>
          </a:p>
          <a:p>
            <a:pPr lvl="1" indent="-436245" eaLnBrk="1" hangingPunct="1"/>
            <a:r>
              <a:rPr lang="zh-CN" altLang="en-US"/>
              <a:t>数学建模要解决的是实际问题，不追求数学上：高（级）、深（刻）、难（度大）。能用初等方法解决的，就不用高等方法；</a:t>
            </a:r>
            <a:endParaRPr lang="zh-CN" altLang="en-US"/>
          </a:p>
          <a:p>
            <a:pPr eaLnBrk="1" hangingPunct="1"/>
            <a:r>
              <a:rPr lang="zh-CN" altLang="en-US"/>
              <a:t>能用简单方法解决的，就不用复杂方法；</a:t>
            </a:r>
            <a:endParaRPr lang="zh-CN" altLang="en-US"/>
          </a:p>
          <a:p>
            <a:pPr eaLnBrk="1" hangingPunct="1"/>
            <a:r>
              <a:rPr lang="zh-CN" altLang="en-US"/>
              <a:t>能用被更多人看懂、理解的方法，就不用只能少数人看懂、理解的方法。</a:t>
            </a:r>
            <a:endParaRPr lang="zh-CN" altLang="en-US"/>
          </a:p>
        </p:txBody>
      </p:sp>
    </p:spTree>
  </p:cSld>
  <p:clrMapOvr>
    <a:masterClrMapping/>
  </p:clrMapOvr>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5" name="Rectangle 3"/>
          <p:cNvSpPr>
            <a:spLocks noGrp="1"/>
          </p:cNvSpPr>
          <p:nvPr>
            <p:ph idx="1"/>
          </p:nvPr>
        </p:nvSpPr>
        <p:spPr>
          <a:ln/>
        </p:spPr>
        <p:txBody>
          <a:bodyPr vert="horz" wrap="square" lIns="91440" tIns="45720" rIns="91440" bIns="45720" anchor="t"/>
          <a:p>
            <a:pPr eaLnBrk="1" hangingPunct="1"/>
            <a:r>
              <a:rPr lang="zh-CN" altLang="en-US"/>
              <a:t>竞赛中常见的模型</a:t>
            </a:r>
            <a:endParaRPr lang="zh-CN" altLang="en-US"/>
          </a:p>
          <a:p>
            <a:pPr lvl="1" indent="-436245" eaLnBrk="1" hangingPunct="1"/>
            <a:r>
              <a:rPr lang="zh-CN" altLang="en-US"/>
              <a:t>优化模型、预测模型、描述模型、仿真模型、效用模型、层次分析模型、随机模型、离散模型。</a:t>
            </a:r>
            <a:endParaRPr lang="zh-CN" altLang="en-US"/>
          </a:p>
          <a:p>
            <a:pPr eaLnBrk="1" hangingPunct="1"/>
            <a:r>
              <a:rPr lang="zh-CN" altLang="en-US"/>
              <a:t>赛题趋势：开放性更强，没有标准答案，对计算机的要求越来越高。</a:t>
            </a:r>
            <a:endParaRPr lang="zh-CN" altLang="en-US"/>
          </a:p>
        </p:txBody>
      </p:sp>
    </p:spTree>
  </p:cSld>
  <p:clrMapOvr>
    <a:masterClrMapping/>
  </p:clrMapOvr>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8049"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6</a:t>
            </a:r>
            <a:r>
              <a:rPr lang="zh-CN" altLang="en-US" sz="2800" b="1"/>
              <a:t>、模型求解</a:t>
            </a:r>
            <a:endParaRPr lang="zh-CN" altLang="en-US" sz="2800" b="1"/>
          </a:p>
        </p:txBody>
      </p:sp>
      <p:sp>
        <p:nvSpPr>
          <p:cNvPr id="258050" name="Rectangle 3"/>
          <p:cNvSpPr>
            <a:spLocks noGrp="1"/>
          </p:cNvSpPr>
          <p:nvPr>
            <p:ph idx="1"/>
          </p:nvPr>
        </p:nvSpPr>
        <p:spPr>
          <a:ln/>
        </p:spPr>
        <p:txBody>
          <a:bodyPr vert="horz" wrap="square" lIns="91440" tIns="45720" rIns="91440" bIns="45720" anchor="t"/>
          <a:p>
            <a:pPr eaLnBrk="1" hangingPunct="1"/>
            <a:r>
              <a:rPr lang="zh-CN" altLang="en-US"/>
              <a:t>计算方法设计或选择；算法设计或选择，算法思想依据，步骤及实现，计算框图；所采用的软件名称；</a:t>
            </a:r>
            <a:endParaRPr lang="zh-CN" altLang="en-US"/>
          </a:p>
          <a:p>
            <a:pPr eaLnBrk="1" hangingPunct="1"/>
            <a:r>
              <a:rPr lang="zh-CN" altLang="en-US"/>
              <a:t>引用或建立必要的数学命题和定理；</a:t>
            </a:r>
            <a:endParaRPr lang="zh-CN" altLang="en-US"/>
          </a:p>
          <a:p>
            <a:pPr eaLnBrk="1" hangingPunct="1"/>
            <a:r>
              <a:rPr lang="zh-CN" altLang="en-US"/>
              <a:t>求解方案及流程</a:t>
            </a:r>
            <a:endParaRPr lang="zh-CN" altLang="en-US"/>
          </a:p>
        </p:txBody>
      </p:sp>
    </p:spTree>
  </p:cSld>
  <p:clrMapOvr>
    <a:masterClrMapping/>
  </p:clrMapOvr>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9073" name="Rectangle 3"/>
          <p:cNvSpPr>
            <a:spLocks noGrp="1"/>
          </p:cNvSpPr>
          <p:nvPr>
            <p:ph idx="1"/>
          </p:nvPr>
        </p:nvSpPr>
        <p:spPr>
          <a:ln/>
        </p:spPr>
        <p:txBody>
          <a:bodyPr vert="horz" wrap="square" lIns="91440" tIns="45720" rIns="91440" bIns="45720" anchor="t"/>
          <a:p>
            <a:pPr eaLnBrk="1" hangingPunct="1"/>
            <a:r>
              <a:rPr lang="zh-CN" altLang="en-US"/>
              <a:t>模型求解时注意事项：</a:t>
            </a:r>
            <a:endParaRPr lang="zh-CN" altLang="en-US"/>
          </a:p>
          <a:p>
            <a:pPr lvl="1" indent="-436245" eaLnBrk="1" hangingPunct="1"/>
            <a:r>
              <a:rPr lang="zh-CN" altLang="en-US"/>
              <a:t>需要建立数学命题时，命题叙述要符合数学命题的表述规范，尽可能论证严密。</a:t>
            </a:r>
            <a:endParaRPr lang="zh-CN" altLang="en-US"/>
          </a:p>
          <a:p>
            <a:pPr lvl="1" indent="-436245" eaLnBrk="1" hangingPunct="1"/>
            <a:r>
              <a:rPr lang="zh-CN" altLang="en-US"/>
              <a:t>需要说明计算方法或算法的原理、思想、依据、步骤。若采用现有软件，说明采用此软件的理由，软件名称。</a:t>
            </a:r>
            <a:endParaRPr lang="zh-CN" altLang="en-US"/>
          </a:p>
          <a:p>
            <a:pPr lvl="1" indent="-436245" eaLnBrk="1" hangingPunct="1"/>
            <a:r>
              <a:rPr lang="zh-CN" altLang="en-US"/>
              <a:t>计算过程，中间结果可要可不要的，不要列出，但关键结果不可少。</a:t>
            </a:r>
            <a:endParaRPr lang="zh-CN" altLang="en-US"/>
          </a:p>
          <a:p>
            <a:pPr lvl="1" indent="-436245" eaLnBrk="1" hangingPunct="1"/>
            <a:r>
              <a:rPr lang="zh-CN" altLang="en-US"/>
              <a:t>设法算出合理的数值结果。</a:t>
            </a:r>
            <a:endParaRPr lang="zh-CN" altLang="en-US"/>
          </a:p>
        </p:txBody>
      </p:sp>
    </p:spTree>
  </p:cSld>
  <p:clrMapOvr>
    <a:masterClrMapping/>
  </p:clrMapOvr>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0097" name="Rectangle 2"/>
          <p:cNvSpPr>
            <a:spLocks noGrp="1"/>
          </p:cNvSpPr>
          <p:nvPr>
            <p:ph type="title"/>
          </p:nvPr>
        </p:nvSpPr>
        <p:spPr>
          <a:xfrm>
            <a:off x="609600" y="533400"/>
            <a:ext cx="8001000" cy="533400"/>
          </a:xfrm>
          <a:ln/>
        </p:spPr>
        <p:txBody>
          <a:bodyPr vert="horz" wrap="square" lIns="91440" tIns="45720" rIns="91440" bIns="45720" anchor="b"/>
          <a:p>
            <a:pPr eaLnBrk="1" hangingPunct="1"/>
            <a:r>
              <a:rPr lang="en-US" altLang="zh-CN" sz="2800" b="1"/>
              <a:t>8</a:t>
            </a:r>
            <a:r>
              <a:rPr lang="zh-CN" altLang="en-US" sz="2800" b="1"/>
              <a:t>、模型结果分析</a:t>
            </a:r>
            <a:endParaRPr lang="zh-CN" altLang="en-US" sz="2800" b="1"/>
          </a:p>
        </p:txBody>
      </p:sp>
      <p:sp>
        <p:nvSpPr>
          <p:cNvPr id="260098" name="Rectangle 3"/>
          <p:cNvSpPr>
            <a:spLocks noGrp="1"/>
          </p:cNvSpPr>
          <p:nvPr>
            <p:ph idx="1"/>
          </p:nvPr>
        </p:nvSpPr>
        <p:spPr>
          <a:ln/>
        </p:spPr>
        <p:txBody>
          <a:bodyPr vert="horz" wrap="square" lIns="91440" tIns="45720" rIns="91440" bIns="45720" anchor="t"/>
          <a:p>
            <a:pPr eaLnBrk="1" hangingPunct="1"/>
            <a:r>
              <a:rPr lang="zh-CN" altLang="en-US"/>
              <a:t>包括：结果表示；结果分析、检验；模型检验及模型修正；灵敏度分析，稳定性分析等等。</a:t>
            </a:r>
            <a:endParaRPr lang="zh-CN" altLang="en-US"/>
          </a:p>
          <a:p>
            <a:pPr lvl="1" indent="-436245" eaLnBrk="1" hangingPunct="1"/>
            <a:r>
              <a:rPr lang="zh-CN" altLang="en-US"/>
              <a:t>最终数值结果的正确性或合理性是第一位的；</a:t>
            </a:r>
            <a:endParaRPr lang="zh-CN" altLang="en-US"/>
          </a:p>
          <a:p>
            <a:pPr lvl="1" indent="-436245" eaLnBrk="1" hangingPunct="1"/>
            <a:r>
              <a:rPr lang="zh-CN" altLang="en-US"/>
              <a:t>对数值结果或模拟结果进行必要的检验。结果不正确、不合理、或误差大时，分析原因，对算法、计算方法、或模型进行修正、改进；</a:t>
            </a:r>
            <a:endParaRPr lang="zh-CN" altLang="en-US"/>
          </a:p>
        </p:txBody>
      </p:sp>
    </p:spTree>
  </p:cSld>
  <p:clrMapOvr>
    <a:masterClrMapping/>
  </p:clrMapOvr>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1121" name="Rectangle 3"/>
          <p:cNvSpPr>
            <a:spLocks noGrp="1"/>
          </p:cNvSpPr>
          <p:nvPr>
            <p:ph idx="1"/>
          </p:nvPr>
        </p:nvSpPr>
        <p:spPr>
          <a:ln/>
        </p:spPr>
        <p:txBody>
          <a:bodyPr vert="horz" wrap="square" lIns="91440" tIns="45720" rIns="91440" bIns="45720" anchor="t"/>
          <a:p>
            <a:pPr lvl="1" indent="-436245" eaLnBrk="1" hangingPunct="1">
              <a:lnSpc>
                <a:spcPct val="90000"/>
              </a:lnSpc>
            </a:pPr>
            <a:r>
              <a:rPr lang="zh-CN" altLang="en-US"/>
              <a:t>题目中要求回答的问题，数值结果，结论，须一一列出；</a:t>
            </a:r>
            <a:endParaRPr lang="zh-CN" altLang="en-US"/>
          </a:p>
          <a:p>
            <a:pPr lvl="1" indent="-436245" eaLnBrk="1" hangingPunct="1">
              <a:lnSpc>
                <a:spcPct val="90000"/>
              </a:lnSpc>
            </a:pPr>
            <a:r>
              <a:rPr lang="zh-CN" altLang="en-US"/>
              <a:t>列数据问题：考虑是否需要列出多组数据，或额外数据，对数据进行比较、分析，为各种方案的提出提供依据；（</a:t>
            </a:r>
            <a:r>
              <a:rPr lang="en-US" altLang="zh-CN"/>
              <a:t>5</a:t>
            </a:r>
            <a:r>
              <a:rPr lang="zh-CN" altLang="en-US"/>
              <a:t>）结果表示：要集中，一目了然，直观，便于比较分析</a:t>
            </a:r>
            <a:endParaRPr lang="zh-CN" altLang="en-US"/>
          </a:p>
          <a:p>
            <a:pPr lvl="1" indent="-436245" eaLnBrk="1" hangingPunct="1">
              <a:lnSpc>
                <a:spcPct val="90000"/>
              </a:lnSpc>
            </a:pPr>
            <a:r>
              <a:rPr lang="zh-CN" altLang="en-US"/>
              <a:t>▲数值结果表示：精心设计表格；可能的话，用图形图表形式</a:t>
            </a:r>
            <a:endParaRPr lang="zh-CN" altLang="en-US"/>
          </a:p>
          <a:p>
            <a:pPr lvl="1" indent="-436245" eaLnBrk="1" hangingPunct="1">
              <a:lnSpc>
                <a:spcPct val="90000"/>
              </a:lnSpc>
            </a:pPr>
            <a:r>
              <a:rPr lang="zh-CN" altLang="en-US"/>
              <a:t>▲求解方案，用图示更好</a:t>
            </a:r>
            <a:endParaRPr lang="zh-CN" altLang="en-US"/>
          </a:p>
          <a:p>
            <a:pPr lvl="1" indent="-436245" eaLnBrk="1" hangingPunct="1">
              <a:lnSpc>
                <a:spcPct val="90000"/>
              </a:lnSpc>
            </a:pPr>
            <a:r>
              <a:rPr lang="zh-CN" altLang="en-US"/>
              <a:t>必要时对问题解答，作定性或规律性的讨论。</a:t>
            </a:r>
            <a:endParaRPr lang="zh-CN" altLang="en-US"/>
          </a:p>
          <a:p>
            <a:pPr lvl="1" indent="-436245" eaLnBrk="1" hangingPunct="1">
              <a:lnSpc>
                <a:spcPct val="90000"/>
              </a:lnSpc>
            </a:pPr>
            <a:r>
              <a:rPr lang="zh-CN" altLang="en-US"/>
              <a:t>灵敏度分析与稳定性分析。对于结果对原始数据依赖性强的情况，还必须进行灵敏度分析与稳定性分析。但并非所有的模型都需要作灵敏度分析与稳定性分析的。</a:t>
            </a:r>
            <a:endParaRPr lang="zh-CN" altLang="en-US"/>
          </a:p>
        </p:txBody>
      </p:sp>
    </p:spTree>
  </p:cSld>
  <p:clrMapOvr>
    <a:masterClrMapping/>
  </p:clrMapOvr>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5"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9</a:t>
            </a:r>
            <a:r>
              <a:rPr lang="zh-CN" altLang="en-US" sz="2800" b="1"/>
              <a:t>、模型优缺点（或模型评价）</a:t>
            </a:r>
            <a:endParaRPr lang="zh-CN" altLang="en-US" sz="2800" b="1"/>
          </a:p>
        </p:txBody>
      </p:sp>
      <p:sp>
        <p:nvSpPr>
          <p:cNvPr id="262146" name="Rectangle 3"/>
          <p:cNvSpPr>
            <a:spLocks noGrp="1"/>
          </p:cNvSpPr>
          <p:nvPr>
            <p:ph idx="1"/>
          </p:nvPr>
        </p:nvSpPr>
        <p:spPr>
          <a:ln/>
        </p:spPr>
        <p:txBody>
          <a:bodyPr vert="horz" wrap="square" lIns="91440" tIns="45720" rIns="91440" bIns="45720" anchor="t"/>
          <a:p>
            <a:pPr eaLnBrk="1" hangingPunct="1"/>
            <a:r>
              <a:rPr lang="zh-CN" altLang="en-US"/>
              <a:t>自我评价优点要突出，缺点不回避。优点从哪找？</a:t>
            </a:r>
            <a:endParaRPr lang="zh-CN" altLang="en-US"/>
          </a:p>
          <a:p>
            <a:pPr eaLnBrk="1" hangingPunct="1"/>
            <a:r>
              <a:rPr lang="zh-CN" altLang="en-US"/>
              <a:t>假设合理，建模方法创新，求解特色等</a:t>
            </a:r>
            <a:endParaRPr lang="zh-CN" altLang="en-US"/>
          </a:p>
          <a:p>
            <a:pPr lvl="1" indent="-436245" eaLnBrk="1" hangingPunct="1"/>
            <a:r>
              <a:rPr lang="zh-CN" altLang="en-US"/>
              <a:t>注：这里的优点简化后可在摘要引用；缺点仅在此说明，摘要中就不要引用了。</a:t>
            </a:r>
            <a:endParaRPr lang="zh-CN" altLang="en-US"/>
          </a:p>
        </p:txBody>
      </p:sp>
    </p:spTree>
  </p:cSld>
  <p:clrMapOvr>
    <a:masterClrMapping/>
  </p:clrMapOvr>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3169"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10</a:t>
            </a:r>
            <a:r>
              <a:rPr lang="zh-CN" altLang="en-US" sz="2800" b="1"/>
              <a:t>、模型改进方向</a:t>
            </a:r>
            <a:endParaRPr lang="zh-CN" altLang="en-US" sz="2800" b="1"/>
          </a:p>
        </p:txBody>
      </p:sp>
      <p:sp>
        <p:nvSpPr>
          <p:cNvPr id="263170" name="Rectangle 3"/>
          <p:cNvSpPr>
            <a:spLocks noGrp="1"/>
          </p:cNvSpPr>
          <p:nvPr>
            <p:ph idx="1"/>
          </p:nvPr>
        </p:nvSpPr>
        <p:spPr>
          <a:ln/>
        </p:spPr>
        <p:txBody>
          <a:bodyPr vert="horz" wrap="square" lIns="91440" tIns="45720" rIns="91440" bIns="45720" anchor="t"/>
          <a:p>
            <a:pPr eaLnBrk="1" hangingPunct="1"/>
            <a:r>
              <a:rPr lang="zh-CN" altLang="en-US"/>
              <a:t>由于时间关系，一些改进的思路来不及实现，可指出改进方向。</a:t>
            </a:r>
            <a:endParaRPr lang="zh-CN" altLang="en-US"/>
          </a:p>
          <a:p>
            <a:pPr eaLnBrk="1" hangingPunct="1"/>
            <a:r>
              <a:rPr lang="zh-CN" altLang="en-US"/>
              <a:t>改变原题要求，重新建模可在此做。</a:t>
            </a:r>
            <a:endParaRPr lang="zh-CN" altLang="en-US"/>
          </a:p>
          <a:p>
            <a:pPr eaLnBrk="1" hangingPunct="1"/>
            <a:r>
              <a:rPr lang="zh-CN" altLang="en-US"/>
              <a:t>推广或改进方向时，不要玩弄新数学术语。</a:t>
            </a:r>
            <a:endParaRPr lang="zh-CN" altLang="en-US"/>
          </a:p>
        </p:txBody>
      </p:sp>
    </p:spTree>
  </p:cSld>
  <p:clrMapOvr>
    <a:masterClrMapping/>
  </p:clrMapOvr>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3" name="Rectangle 2"/>
          <p:cNvSpPr>
            <a:spLocks noGrp="1"/>
          </p:cNvSpPr>
          <p:nvPr>
            <p:ph type="title"/>
          </p:nvPr>
        </p:nvSpPr>
        <p:spPr>
          <a:xfrm>
            <a:off x="609600" y="457200"/>
            <a:ext cx="8001000" cy="533400"/>
          </a:xfrm>
          <a:ln/>
        </p:spPr>
        <p:txBody>
          <a:bodyPr vert="horz" wrap="square" lIns="91440" tIns="45720" rIns="91440" bIns="45720" anchor="b"/>
          <a:p>
            <a:pPr eaLnBrk="1" hangingPunct="1"/>
            <a:r>
              <a:rPr lang="en-US" altLang="zh-CN" sz="2800" b="1"/>
              <a:t>11</a:t>
            </a:r>
            <a:r>
              <a:rPr lang="zh-CN" altLang="en-US" sz="2800" b="1"/>
              <a:t>、参考文献</a:t>
            </a:r>
            <a:endParaRPr lang="zh-CN" altLang="en-US" sz="2800" b="1"/>
          </a:p>
        </p:txBody>
      </p:sp>
      <p:sp>
        <p:nvSpPr>
          <p:cNvPr id="264194" name="Rectangle 3"/>
          <p:cNvSpPr>
            <a:spLocks noGrp="1"/>
          </p:cNvSpPr>
          <p:nvPr>
            <p:ph idx="1"/>
          </p:nvPr>
        </p:nvSpPr>
        <p:spPr>
          <a:ln/>
        </p:spPr>
        <p:txBody>
          <a:bodyPr vert="horz" wrap="square" lIns="91440" tIns="45720" rIns="91440" bIns="45720" anchor="t"/>
          <a:p>
            <a:pPr eaLnBrk="1" hangingPunct="1"/>
            <a:r>
              <a:rPr lang="zh-CN" altLang="en-US"/>
              <a:t>引用别人的成果必须说明，这是学术诚信问题。参考文献要列主要的。</a:t>
            </a:r>
            <a:endParaRPr lang="zh-CN" altLang="en-US"/>
          </a:p>
          <a:p>
            <a:pPr eaLnBrk="1" hangingPunct="1"/>
            <a:r>
              <a:rPr lang="zh-CN" altLang="en-US"/>
              <a:t>参考文献格式</a:t>
            </a:r>
            <a:endParaRPr lang="zh-CN" altLang="en-US"/>
          </a:p>
          <a:p>
            <a:pPr lvl="1" indent="-436245" eaLnBrk="1" hangingPunct="1"/>
            <a:r>
              <a:rPr lang="zh-CN" altLang="en-US"/>
              <a:t>参考文献</a:t>
            </a:r>
            <a:endParaRPr lang="zh-CN" altLang="en-US"/>
          </a:p>
          <a:p>
            <a:pPr eaLnBrk="1" hangingPunct="1">
              <a:buNone/>
            </a:pPr>
            <a:r>
              <a:rPr lang="zh-CN" altLang="en-US" b="1"/>
              <a:t>     </a:t>
            </a:r>
            <a:r>
              <a:rPr lang="en-US" altLang="zh-CN" b="1"/>
              <a:t>[1]</a:t>
            </a:r>
            <a:r>
              <a:rPr lang="zh-CN" altLang="en-US"/>
              <a:t>舒康，梁镇韩</a:t>
            </a:r>
            <a:r>
              <a:rPr lang="en-US" altLang="zh-CN" b="1"/>
              <a:t>.AHP</a:t>
            </a:r>
            <a:r>
              <a:rPr lang="zh-CN" altLang="en-US"/>
              <a:t>中的指数标度法</a:t>
            </a:r>
            <a:r>
              <a:rPr lang="en-US" altLang="zh-CN" b="1"/>
              <a:t>[J].</a:t>
            </a:r>
            <a:r>
              <a:rPr lang="zh-CN" altLang="en-US"/>
              <a:t>系统  工程理论与实践，</a:t>
            </a:r>
            <a:r>
              <a:rPr lang="en-US" altLang="zh-CN" b="1"/>
              <a:t>1990</a:t>
            </a:r>
            <a:r>
              <a:rPr lang="zh-CN" altLang="en-US"/>
              <a:t>，</a:t>
            </a:r>
            <a:r>
              <a:rPr lang="en-US" altLang="zh-CN" b="1"/>
              <a:t>10</a:t>
            </a:r>
            <a:r>
              <a:rPr lang="zh-CN" altLang="en-US"/>
              <a:t>（</a:t>
            </a:r>
            <a:r>
              <a:rPr lang="en-US" altLang="zh-CN" b="1"/>
              <a:t>1</a:t>
            </a:r>
            <a:r>
              <a:rPr lang="zh-CN" altLang="en-US"/>
              <a:t>）：</a:t>
            </a:r>
            <a:r>
              <a:rPr lang="en-US" altLang="zh-CN" b="1"/>
              <a:t>6~8</a:t>
            </a:r>
            <a:endParaRPr lang="en-US" altLang="zh-CN"/>
          </a:p>
          <a:p>
            <a:pPr eaLnBrk="1" hangingPunct="1">
              <a:buNone/>
            </a:pPr>
            <a:r>
              <a:rPr lang="en-US" altLang="zh-CN" b="1"/>
              <a:t>     [2]</a:t>
            </a:r>
            <a:r>
              <a:rPr lang="zh-CN" altLang="en-US"/>
              <a:t>姜启源等</a:t>
            </a:r>
            <a:r>
              <a:rPr lang="en-US" altLang="zh-CN" b="1"/>
              <a:t>.</a:t>
            </a:r>
            <a:r>
              <a:rPr lang="zh-CN" altLang="en-US"/>
              <a:t>数学模型</a:t>
            </a:r>
            <a:r>
              <a:rPr lang="en-US" altLang="zh-CN" b="1"/>
              <a:t>[M].</a:t>
            </a:r>
            <a:r>
              <a:rPr lang="zh-CN" altLang="en-US"/>
              <a:t>北京：高等教育出版社，</a:t>
            </a:r>
            <a:r>
              <a:rPr lang="en-US" altLang="zh-CN" b="1"/>
              <a:t>2003</a:t>
            </a:r>
            <a:endParaRPr lang="en-US" altLang="zh-CN" b="1"/>
          </a:p>
        </p:txBody>
      </p:sp>
    </p:spTree>
  </p:cSld>
  <p:clrMapOvr>
    <a:masterClrMapping/>
  </p:clrMapOvr>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5217" name="Rectangle 2"/>
          <p:cNvSpPr>
            <a:spLocks noGrp="1"/>
          </p:cNvSpPr>
          <p:nvPr>
            <p:ph type="title"/>
          </p:nvPr>
        </p:nvSpPr>
        <p:spPr>
          <a:xfrm>
            <a:off x="609600" y="533400"/>
            <a:ext cx="8001000" cy="533400"/>
          </a:xfrm>
          <a:ln/>
        </p:spPr>
        <p:txBody>
          <a:bodyPr vert="horz" wrap="square" lIns="91440" tIns="45720" rIns="91440" bIns="45720" anchor="b"/>
          <a:p>
            <a:pPr eaLnBrk="1" hangingPunct="1"/>
            <a:r>
              <a:rPr lang="en-US" altLang="zh-CN" sz="2800" b="1"/>
              <a:t>12</a:t>
            </a:r>
            <a:r>
              <a:rPr lang="zh-CN" altLang="en-US" sz="2800" b="1"/>
              <a:t>、附录</a:t>
            </a:r>
            <a:endParaRPr lang="zh-CN" altLang="en-US" sz="2800" b="1"/>
          </a:p>
        </p:txBody>
      </p:sp>
      <p:sp>
        <p:nvSpPr>
          <p:cNvPr id="265218" name="Rectangle 3"/>
          <p:cNvSpPr>
            <a:spLocks noGrp="1"/>
          </p:cNvSpPr>
          <p:nvPr>
            <p:ph idx="1"/>
          </p:nvPr>
        </p:nvSpPr>
        <p:spPr>
          <a:ln/>
        </p:spPr>
        <p:txBody>
          <a:bodyPr vert="horz" wrap="square" lIns="91440" tIns="45720" rIns="91440" bIns="45720" anchor="t"/>
          <a:p>
            <a:pPr eaLnBrk="1" hangingPunct="1"/>
            <a:r>
              <a:rPr lang="zh-CN" altLang="en-US"/>
              <a:t>附录内容：程序清单，详细数值结果，详细公式推导、定理证明，更多的图表等等注意事项：</a:t>
            </a:r>
            <a:endParaRPr lang="zh-CN" altLang="en-US"/>
          </a:p>
          <a:p>
            <a:pPr eaLnBrk="1" hangingPunct="1"/>
            <a:r>
              <a:rPr lang="zh-CN" altLang="en-US"/>
              <a:t>结果，数据表格，不要错，错的宁可不列。主要结果数据，应在正文中列出，不怕重复。</a:t>
            </a:r>
            <a:endParaRPr lang="zh-CN" altLang="en-US"/>
          </a:p>
        </p:txBody>
      </p:sp>
    </p:spTree>
  </p:cSld>
  <p:clrMapOvr>
    <a:masterClrMapping/>
  </p:clrMapOvr>
  <p:transition/>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45152</Words>
  <Application>WPS 演示</Application>
  <PresentationFormat>全屏显示(4:3)</PresentationFormat>
  <Paragraphs>3736</Paragraphs>
  <Slides>232</Slides>
  <Notes>23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312</vt:i4>
      </vt:variant>
      <vt:variant>
        <vt:lpstr>幻灯片标题</vt:lpstr>
      </vt:variant>
      <vt:variant>
        <vt:i4>232</vt:i4>
      </vt:variant>
    </vt:vector>
  </HeadingPairs>
  <TitlesOfParts>
    <vt:vector size="559" baseType="lpstr">
      <vt:lpstr>Arial</vt:lpstr>
      <vt:lpstr>宋体</vt:lpstr>
      <vt:lpstr>Wingdings</vt:lpstr>
      <vt:lpstr>Times New Roman</vt:lpstr>
      <vt:lpstr>黑体</vt:lpstr>
      <vt:lpstr>楷体_GB2312</vt:lpstr>
      <vt:lpstr>微软雅黑</vt:lpstr>
      <vt:lpstr>Arial Unicode MS</vt:lpstr>
      <vt:lpstr>隶书</vt:lpstr>
      <vt:lpstr>Tahoma</vt:lpstr>
      <vt:lpstr>Arial</vt:lpstr>
      <vt:lpstr>仿宋_GB2312</vt:lpstr>
      <vt:lpstr>新宋体</vt:lpstr>
      <vt:lpstr>仿宋</vt:lpstr>
      <vt:lpstr>Profile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Equation.3</vt:lpstr>
      <vt:lpstr>Equation.3</vt:lpstr>
      <vt:lpstr>Equation.3</vt:lpstr>
      <vt:lpstr>Equation.DSMT4</vt:lpstr>
      <vt:lpstr>Equation.3</vt:lpstr>
      <vt:lpstr>Equation.DSMT4</vt:lpstr>
      <vt:lpstr>Equation.3</vt:lpstr>
      <vt:lpstr>Equation.3</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Excel.Chart.8</vt:lpstr>
      <vt:lpstr>Equation.DSMT4</vt:lpstr>
      <vt:lpstr>Equation.DSMT4</vt:lpstr>
      <vt:lpstr>Equation.DSMT4</vt:lpstr>
      <vt:lpstr>Equation.DSMT4</vt:lpstr>
      <vt:lpstr>Equation.DSMT4</vt:lpstr>
      <vt:lpstr>Equation.DSMT4</vt:lpstr>
      <vt:lpstr>Equation.DSMT4</vt:lpstr>
      <vt:lpstr>Equation.DSMT4</vt:lpstr>
      <vt:lpstr>Equation.DSMT4</vt:lpstr>
      <vt:lpstr>Word.Document.8</vt:lpstr>
      <vt:lpstr>Equation.DSMT4</vt:lpstr>
      <vt:lpstr>Equation.DSMT4</vt:lpstr>
      <vt:lpstr>Equation.DSMT4</vt:lpstr>
      <vt:lpstr>Equation.DSMT4</vt:lpstr>
      <vt:lpstr>Equation.DSMT4</vt:lpstr>
      <vt:lpstr>Word.Document.8</vt:lpstr>
      <vt:lpstr>Equation.DSMT4</vt:lpstr>
      <vt:lpstr>Equation.DSMT4</vt:lpstr>
      <vt:lpstr>Equation.DSMT4</vt:lpstr>
      <vt:lpstr>Equation.DSMT4</vt:lpstr>
      <vt:lpstr>Equation.3</vt:lpstr>
      <vt:lpstr>Equation.3</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Word.Document.8</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Word.Document.8</vt:lpstr>
      <vt:lpstr>Equation.DSMT4</vt:lpstr>
      <vt:lpstr>Equation.DSMT4</vt:lpstr>
      <vt:lpstr>Equation.DSMT4</vt:lpstr>
      <vt:lpstr>Equation.3</vt:lpstr>
      <vt:lpstr>Equation.DSMT4</vt:lpstr>
      <vt:lpstr>Equation.DSMT4</vt:lpstr>
      <vt:lpstr>Equation.DSMT4</vt:lpstr>
      <vt:lpstr>Equation.DSMT4</vt:lpstr>
      <vt:lpstr>Word.Document.8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Word.Document.8</vt:lpstr>
      <vt:lpstr>Equation.3</vt:lpstr>
      <vt:lpstr>Equation.3</vt:lpstr>
      <vt:lpstr>Equation.3</vt:lpstr>
      <vt:lpstr>Equation.3</vt:lpstr>
      <vt:lpstr>Word.Picture.8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Word.Picture.8</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gongzuo123456789</cp:lastModifiedBy>
  <cp:revision>251</cp:revision>
  <cp:lastPrinted>2113-01-01T00:00:00Z</cp:lastPrinted>
  <dcterms:created xsi:type="dcterms:W3CDTF">2113-01-01T00:00:00Z</dcterms:created>
  <dcterms:modified xsi:type="dcterms:W3CDTF">2018-07-08T13:56:10Z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2052-10.1.0.7400</vt:lpwstr>
  </property>
</Properties>
</file>