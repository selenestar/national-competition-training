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92" r:id="rId5"/>
    <p:sldId id="364" r:id="rId6"/>
    <p:sldId id="365" r:id="rId7"/>
    <p:sldId id="366" r:id="rId8"/>
    <p:sldId id="367" r:id="rId9"/>
    <p:sldId id="368" r:id="rId10"/>
    <p:sldId id="369" r:id="rId11"/>
    <p:sldId id="370" r:id="rId12"/>
    <p:sldId id="391" r:id="rId13"/>
    <p:sldId id="392" r:id="rId15"/>
    <p:sldId id="266" r:id="rId16"/>
    <p:sldId id="267" r:id="rId17"/>
    <p:sldId id="268" r:id="rId18"/>
    <p:sldId id="269" r:id="rId19"/>
    <p:sldId id="270" r:id="rId20"/>
    <p:sldId id="271" r:id="rId21"/>
    <p:sldId id="389" r:id="rId22"/>
    <p:sldId id="390" r:id="rId23"/>
    <p:sldId id="272" r:id="rId24"/>
    <p:sldId id="274" r:id="rId25"/>
    <p:sldId id="280" r:id="rId26"/>
    <p:sldId id="281" r:id="rId27"/>
    <p:sldId id="284" r:id="rId28"/>
    <p:sldId id="285" r:id="rId29"/>
    <p:sldId id="286" r:id="rId30"/>
    <p:sldId id="287" r:id="rId31"/>
    <p:sldId id="288" r:id="rId32"/>
    <p:sldId id="289" r:id="rId33"/>
    <p:sldId id="290" r:id="rId34"/>
    <p:sldId id="315" r:id="rId35"/>
    <p:sldId id="316" r:id="rId36"/>
    <p:sldId id="321" r:id="rId37"/>
    <p:sldId id="324" r:id="rId38"/>
    <p:sldId id="323" r:id="rId39"/>
    <p:sldId id="322" r:id="rId40"/>
    <p:sldId id="325" r:id="rId41"/>
    <p:sldId id="326" r:id="rId42"/>
    <p:sldId id="327" r:id="rId43"/>
    <p:sldId id="329" r:id="rId44"/>
    <p:sldId id="330" r:id="rId45"/>
    <p:sldId id="332" r:id="rId46"/>
    <p:sldId id="331" r:id="rId47"/>
    <p:sldId id="333" r:id="rId48"/>
    <p:sldId id="339" r:id="rId49"/>
    <p:sldId id="340" r:id="rId50"/>
    <p:sldId id="334" r:id="rId51"/>
    <p:sldId id="335" r:id="rId52"/>
    <p:sldId id="336" r:id="rId53"/>
    <p:sldId id="337" r:id="rId54"/>
    <p:sldId id="341" r:id="rId55"/>
    <p:sldId id="342" r:id="rId56"/>
    <p:sldId id="343" r:id="rId57"/>
    <p:sldId id="344" r:id="rId58"/>
    <p:sldId id="361" r:id="rId5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8" autoAdjust="0"/>
    <p:restoredTop sz="79704" autoAdjust="0"/>
  </p:normalViewPr>
  <p:slideViewPr>
    <p:cSldViewPr>
      <p:cViewPr>
        <p:scale>
          <a:sx n="66" d="100"/>
          <a:sy n="66" d="100"/>
        </p:scale>
        <p:origin x="-2094" y="-198"/>
      </p:cViewPr>
      <p:guideLst>
        <p:guide orient="horz" pos="2160"/>
        <p:guide pos="2880"/>
      </p:guideLst>
    </p:cSldViewPr>
  </p:slideViewPr>
  <p:outlineViewPr>
    <p:cViewPr>
      <p:scale>
        <a:sx n="33" d="100"/>
        <a:sy n="33" d="100"/>
      </p:scale>
      <p:origin x="0" y="1007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29.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E94CE3-72D1-451F-9E4B-AC1DBDC8DF2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349AED-1012-46EB-9A5A-45901F2CCD5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0" dirty="0" smtClean="0"/>
              <a:t>x1~xn</a:t>
            </a:r>
            <a:r>
              <a:rPr lang="zh-CN" altLang="en-US" sz="1200" kern="0" dirty="0" smtClean="0"/>
              <a:t>是从其他神经元传来的输入信号</a:t>
            </a:r>
            <a:endParaRPr lang="en-US" altLang="zh-CN" sz="1200" kern="0" dirty="0" smtClean="0"/>
          </a:p>
          <a:p>
            <a:r>
              <a:rPr lang="en-US" altLang="zh-CN" sz="1200" kern="0" dirty="0" err="1" smtClean="0"/>
              <a:t>wij</a:t>
            </a:r>
            <a:r>
              <a:rPr lang="zh-CN" altLang="en-US" sz="1200" kern="0" dirty="0" smtClean="0"/>
              <a:t>表示表示从神经元</a:t>
            </a:r>
            <a:r>
              <a:rPr lang="en-US" altLang="zh-CN" sz="1200" kern="0" dirty="0" smtClean="0"/>
              <a:t>j</a:t>
            </a:r>
            <a:r>
              <a:rPr lang="zh-CN" altLang="en-US" sz="1200" kern="0" dirty="0" smtClean="0"/>
              <a:t>到神经元</a:t>
            </a:r>
            <a:r>
              <a:rPr lang="en-US" altLang="zh-CN" sz="1200" kern="0" dirty="0" err="1" smtClean="0"/>
              <a:t>i</a:t>
            </a:r>
            <a:r>
              <a:rPr lang="zh-CN" altLang="en-US" sz="1200" kern="0" dirty="0" smtClean="0"/>
              <a:t>的连接权值</a:t>
            </a:r>
            <a:endParaRPr lang="en-US" altLang="zh-CN" sz="1200" kern="0" dirty="0" smtClean="0"/>
          </a:p>
          <a:p>
            <a:r>
              <a:rPr lang="en-US" altLang="zh-CN" sz="1200" kern="0" dirty="0" smtClean="0"/>
              <a:t>θ</a:t>
            </a:r>
            <a:r>
              <a:rPr lang="zh-CN" altLang="en-US" sz="1200" kern="0" dirty="0" smtClean="0"/>
              <a:t>表示一个阈值 </a:t>
            </a:r>
            <a:r>
              <a:rPr lang="en-US" altLang="zh-CN" sz="1200" kern="0" dirty="0" smtClean="0"/>
              <a:t>( threshold )</a:t>
            </a:r>
            <a:r>
              <a:rPr lang="zh-CN" altLang="en-US" sz="1200" kern="0" dirty="0" smtClean="0"/>
              <a:t>，或称为偏置</a:t>
            </a:r>
            <a:r>
              <a:rPr lang="en-US" altLang="zh-CN" sz="1200" kern="0" dirty="0" smtClean="0"/>
              <a:t>( bias )</a:t>
            </a:r>
            <a:r>
              <a:rPr lang="zh-CN" altLang="en-US" sz="1200" kern="0" dirty="0" smtClean="0"/>
              <a:t>。</a:t>
            </a:r>
            <a:endParaRPr lang="zh-CN" altLang="en-US" sz="1200" kern="0" dirty="0" smtClean="0"/>
          </a:p>
          <a:p>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en-US" b="0" dirty="0" smtClean="0"/>
              <a:t>函数</a:t>
            </a:r>
            <a:r>
              <a:rPr lang="en-US" altLang="zh-CN" b="0" dirty="0" smtClean="0"/>
              <a:t>f</a:t>
            </a:r>
            <a:r>
              <a:rPr lang="zh-CN" altLang="en-US" b="0" dirty="0" smtClean="0"/>
              <a:t>称为</a:t>
            </a:r>
            <a:r>
              <a:rPr lang="zh-CN" altLang="en-US" dirty="0" smtClean="0"/>
              <a:t>激活函数</a:t>
            </a:r>
            <a:r>
              <a:rPr lang="zh-CN" altLang="en-US" b="0" dirty="0" smtClean="0"/>
              <a:t> </a:t>
            </a:r>
            <a:r>
              <a:rPr lang="en-US" altLang="zh-CN" b="0" dirty="0" smtClean="0"/>
              <a:t>( Activation Function )</a:t>
            </a:r>
            <a:r>
              <a:rPr lang="zh-CN" altLang="en-US" b="0" dirty="0" smtClean="0"/>
              <a:t>或转移函数 </a:t>
            </a:r>
            <a:r>
              <a:rPr lang="en-US" altLang="zh-CN" b="0" dirty="0" smtClean="0"/>
              <a:t>( Transfer Function ) </a:t>
            </a:r>
            <a:r>
              <a:rPr lang="zh-CN" altLang="en-US" b="0" dirty="0" smtClean="0"/>
              <a:t>，</a:t>
            </a:r>
            <a:r>
              <a:rPr lang="en-US" altLang="zh-CN" b="0" dirty="0" smtClean="0"/>
              <a:t>net</a:t>
            </a:r>
            <a:r>
              <a:rPr lang="zh-CN" altLang="en-US" b="0" dirty="0" smtClean="0"/>
              <a:t>称为净激活</a:t>
            </a:r>
            <a:r>
              <a:rPr lang="en-US" altLang="zh-CN" b="0" dirty="0" smtClean="0"/>
              <a:t>(net activation)</a:t>
            </a:r>
            <a:endParaRPr lang="zh-CN" altLang="en-US" kern="0" dirty="0" smtClean="0"/>
          </a:p>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二者的区别在于值域上。</a:t>
            </a:r>
            <a:endParaRPr lang="en-US" altLang="zh-CN" dirty="0" smtClean="0"/>
          </a:p>
          <a:p>
            <a:r>
              <a:rPr lang="zh-CN" altLang="en-US" dirty="0" smtClean="0"/>
              <a:t>特点</a:t>
            </a:r>
            <a:r>
              <a:rPr lang="zh-CN" altLang="en-US" baseline="0" dirty="0" smtClean="0"/>
              <a:t>是二者都是可导的（导函数是连续函数）</a:t>
            </a:r>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349AED-1012-46EB-9A5A-45901F2CCD5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6" name="矩形 5"/>
          <p:cNvSpPr/>
          <p:nvPr userDrawn="1"/>
        </p:nvSpPr>
        <p:spPr bwMode="auto">
          <a:xfrm>
            <a:off x="0" y="0"/>
            <a:ext cx="9144000" cy="9087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2" name="Object 10"/>
          <p:cNvGraphicFramePr>
            <a:graphicFrameLocks noChangeAspect="1"/>
          </p:cNvGraphicFramePr>
          <p:nvPr/>
        </p:nvGraphicFramePr>
        <p:xfrm>
          <a:off x="0" y="6381750"/>
          <a:ext cx="9144000" cy="503238"/>
        </p:xfrm>
        <a:graphic>
          <a:graphicData uri="http://schemas.openxmlformats.org/presentationml/2006/ole">
            <mc:AlternateContent xmlns:mc="http://schemas.openxmlformats.org/markup-compatibility/2006">
              <mc:Choice xmlns:v="urn:schemas-microsoft-com:vml" Requires="v">
                <p:oleObj spid="_x0000_s2107" name="Image" r:id="rId2" imgW="5816600" imgH="317500" progId="Photoshop.Image.8">
                  <p:embed/>
                </p:oleObj>
              </mc:Choice>
              <mc:Fallback>
                <p:oleObj name="Image" r:id="rId2" imgW="5816600" imgH="317500" progId="Photoshop.Image.8">
                  <p:embed/>
                  <p:pic>
                    <p:nvPicPr>
                      <p:cNvPr id="0" name="图片 21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381750"/>
                        <a:ext cx="9144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 name="Picture 2" descr="lib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588" y="4668838"/>
            <a:ext cx="2411412"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750" y="981075"/>
            <a:ext cx="3956050" cy="5145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81075"/>
            <a:ext cx="3956050" cy="5145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3188" y="0"/>
            <a:ext cx="2151062" cy="61261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0"/>
            <a:ext cx="6300788" cy="612616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300788" cy="83661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9750" y="981075"/>
            <a:ext cx="3956050" cy="51450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81075"/>
            <a:ext cx="3956050" cy="51450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defRPr/>
            </a:lvl1p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a:xfrm>
            <a:off x="3124200" y="6245225"/>
            <a:ext cx="2895600" cy="476250"/>
          </a:xfrm>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a:xfrm>
            <a:off x="6553200" y="6245225"/>
            <a:ext cx="2133600" cy="476250"/>
          </a:xfrm>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2.vml"/><Relationship Id="rId16" Type="http://schemas.openxmlformats.org/officeDocument/2006/relationships/image" Target="../media/image1.png"/><Relationship Id="rId15" Type="http://schemas.openxmlformats.org/officeDocument/2006/relationships/oleObject" Target="../embeddings/oleObject2.bin"/><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bwMode="auto">
          <a:xfrm>
            <a:off x="0" y="0"/>
            <a:ext cx="9144000" cy="83671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1027" name="Object 3"/>
          <p:cNvGraphicFramePr>
            <a:graphicFrameLocks noChangeAspect="1"/>
          </p:cNvGraphicFramePr>
          <p:nvPr/>
        </p:nvGraphicFramePr>
        <p:xfrm>
          <a:off x="0" y="6381750"/>
          <a:ext cx="9144000" cy="503238"/>
        </p:xfrm>
        <a:graphic>
          <a:graphicData uri="http://schemas.openxmlformats.org/presentationml/2006/ole">
            <mc:AlternateContent xmlns:mc="http://schemas.openxmlformats.org/markup-compatibility/2006">
              <mc:Choice xmlns:v="urn:schemas-microsoft-com:vml" Requires="v">
                <p:oleObj spid="_x0000_s1083" name="Image" r:id="rId15" imgW="5816600" imgH="317500" progId="Photoshop.Image.8">
                  <p:embed/>
                </p:oleObj>
              </mc:Choice>
              <mc:Fallback>
                <p:oleObj name="Image" r:id="rId15" imgW="5816600" imgH="317500" progId="Photoshop.Image.8">
                  <p:embed/>
                  <p:pic>
                    <p:nvPicPr>
                      <p:cNvPr id="0" name="图片 108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381750"/>
                        <a:ext cx="9144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6"/>
          <p:cNvSpPr>
            <a:spLocks noGrp="1" noChangeArrowheads="1"/>
          </p:cNvSpPr>
          <p:nvPr>
            <p:ph type="title"/>
          </p:nvPr>
        </p:nvSpPr>
        <p:spPr bwMode="auto">
          <a:xfrm>
            <a:off x="0" y="0"/>
            <a:ext cx="6300788"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31" name="Rectangle 7"/>
          <p:cNvSpPr>
            <a:spLocks noGrp="1" noChangeArrowheads="1"/>
          </p:cNvSpPr>
          <p:nvPr>
            <p:ph type="body" idx="1"/>
          </p:nvPr>
        </p:nvSpPr>
        <p:spPr bwMode="auto">
          <a:xfrm>
            <a:off x="539750" y="981075"/>
            <a:ext cx="8064500" cy="51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1" fontAlgn="base" hangingPunct="1">
        <a:spcBef>
          <a:spcPct val="0"/>
        </a:spcBef>
        <a:spcAft>
          <a:spcPct val="0"/>
        </a:spcAft>
        <a:defRPr sz="3600">
          <a:solidFill>
            <a:srgbClr val="FC1C04"/>
          </a:solidFill>
          <a:latin typeface="+mj-lt"/>
          <a:ea typeface="+mj-ea"/>
          <a:cs typeface="+mj-cs"/>
        </a:defRPr>
      </a:lvl1pPr>
      <a:lvl2pPr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2pPr>
      <a:lvl3pPr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3pPr>
      <a:lvl4pPr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4pPr>
      <a:lvl5pPr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5pPr>
      <a:lvl6pPr marL="457200"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3600">
          <a:solidFill>
            <a:srgbClr val="FC1C04"/>
          </a:solidFill>
          <a:latin typeface="Arial" panose="020B0604020202020204" pitchFamily="34" charset="0"/>
          <a:ea typeface="华文新魏" panose="02010800040101010101" pitchFamily="2"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10.wmf"/><Relationship Id="rId7" Type="http://schemas.openxmlformats.org/officeDocument/2006/relationships/oleObject" Target="../embeddings/oleObject6.bin"/><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3" Type="http://schemas.openxmlformats.org/officeDocument/2006/relationships/notesSlide" Target="../notesSlides/notesSlide2.xml"/><Relationship Id="rId12" Type="http://schemas.openxmlformats.org/officeDocument/2006/relationships/vmlDrawing" Target="../drawings/vmlDrawing3.vml"/><Relationship Id="rId11" Type="http://schemas.openxmlformats.org/officeDocument/2006/relationships/slideLayout" Target="../slideLayouts/slideLayout12.xml"/><Relationship Id="rId10" Type="http://schemas.openxmlformats.org/officeDocument/2006/relationships/image" Target="../media/image11.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wmf"/><Relationship Id="rId7" Type="http://schemas.openxmlformats.org/officeDocument/2006/relationships/oleObject" Target="../embeddings/oleObject11.bin"/><Relationship Id="rId6" Type="http://schemas.openxmlformats.org/officeDocument/2006/relationships/image" Target="../media/image14.wmf"/><Relationship Id="rId5" Type="http://schemas.openxmlformats.org/officeDocument/2006/relationships/oleObject" Target="../embeddings/oleObject10.bin"/><Relationship Id="rId4" Type="http://schemas.openxmlformats.org/officeDocument/2006/relationships/image" Target="../media/image13.wmf"/><Relationship Id="rId3" Type="http://schemas.openxmlformats.org/officeDocument/2006/relationships/oleObject" Target="../embeddings/oleObject9.bin"/><Relationship Id="rId2" Type="http://schemas.openxmlformats.org/officeDocument/2006/relationships/image" Target="../media/image12.wmf"/><Relationship Id="rId11" Type="http://schemas.openxmlformats.org/officeDocument/2006/relationships/notesSlide" Target="../notesSlides/notesSlide3.xml"/><Relationship Id="rId10" Type="http://schemas.openxmlformats.org/officeDocument/2006/relationships/vmlDrawing" Target="../drawings/vmlDrawing4.vml"/><Relationship Id="rId1"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4.xml"/><Relationship Id="rId2" Type="http://schemas.openxmlformats.org/officeDocument/2006/relationships/image" Target="../media/image20.emf"/><Relationship Id="rId1" Type="http://schemas.openxmlformats.org/officeDocument/2006/relationships/oleObject" Target="../embeddings/oleObject12.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26.wmf"/><Relationship Id="rId7" Type="http://schemas.openxmlformats.org/officeDocument/2006/relationships/oleObject" Target="../embeddings/oleObject17.bin"/><Relationship Id="rId6" Type="http://schemas.openxmlformats.org/officeDocument/2006/relationships/image" Target="../media/image25.wmf"/><Relationship Id="rId5" Type="http://schemas.openxmlformats.org/officeDocument/2006/relationships/oleObject" Target="../embeddings/oleObject16.bin"/><Relationship Id="rId4" Type="http://schemas.openxmlformats.org/officeDocument/2006/relationships/image" Target="../media/image24.wmf"/><Relationship Id="rId3" Type="http://schemas.openxmlformats.org/officeDocument/2006/relationships/oleObject" Target="../embeddings/oleObject15.bin"/><Relationship Id="rId2" Type="http://schemas.openxmlformats.org/officeDocument/2006/relationships/image" Target="../media/image23.wmf"/><Relationship Id="rId16" Type="http://schemas.openxmlformats.org/officeDocument/2006/relationships/vmlDrawing" Target="../drawings/vmlDrawing7.vml"/><Relationship Id="rId15" Type="http://schemas.openxmlformats.org/officeDocument/2006/relationships/slideLayout" Target="../slideLayouts/slideLayout2.xml"/><Relationship Id="rId14" Type="http://schemas.openxmlformats.org/officeDocument/2006/relationships/image" Target="../media/image29.wmf"/><Relationship Id="rId13" Type="http://schemas.openxmlformats.org/officeDocument/2006/relationships/oleObject" Target="../embeddings/oleObject20.bin"/><Relationship Id="rId12" Type="http://schemas.openxmlformats.org/officeDocument/2006/relationships/image" Target="../media/image28.wmf"/><Relationship Id="rId11" Type="http://schemas.openxmlformats.org/officeDocument/2006/relationships/oleObject" Target="../embeddings/oleObject19.bin"/><Relationship Id="rId10" Type="http://schemas.openxmlformats.org/officeDocument/2006/relationships/image" Target="../media/image27.wmf"/><Relationship Id="rId1" Type="http://schemas.openxmlformats.org/officeDocument/2006/relationships/oleObject" Target="../embeddings/oleObject14.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wmf"/><Relationship Id="rId7" Type="http://schemas.openxmlformats.org/officeDocument/2006/relationships/oleObject" Target="../embeddings/oleObject24.bin"/><Relationship Id="rId6" Type="http://schemas.openxmlformats.org/officeDocument/2006/relationships/image" Target="../media/image32.wmf"/><Relationship Id="rId5" Type="http://schemas.openxmlformats.org/officeDocument/2006/relationships/oleObject" Target="../embeddings/oleObject23.bin"/><Relationship Id="rId4" Type="http://schemas.openxmlformats.org/officeDocument/2006/relationships/image" Target="../media/image31.wmf"/><Relationship Id="rId3" Type="http://schemas.openxmlformats.org/officeDocument/2006/relationships/oleObject" Target="../embeddings/oleObject22.bin"/><Relationship Id="rId2" Type="http://schemas.openxmlformats.org/officeDocument/2006/relationships/image" Target="../media/image30.wmf"/><Relationship Id="rId10" Type="http://schemas.openxmlformats.org/officeDocument/2006/relationships/vmlDrawing" Target="../drawings/vmlDrawing8.vml"/><Relationship Id="rId1" Type="http://schemas.openxmlformats.org/officeDocument/2006/relationships/oleObject" Target="../embeddings/oleObject21.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27.bin"/><Relationship Id="rId4" Type="http://schemas.openxmlformats.org/officeDocument/2006/relationships/image" Target="../media/image35.wmf"/><Relationship Id="rId3" Type="http://schemas.openxmlformats.org/officeDocument/2006/relationships/oleObject" Target="../embeddings/oleObject26.bin"/><Relationship Id="rId2" Type="http://schemas.openxmlformats.org/officeDocument/2006/relationships/image" Target="../media/image34.wmf"/><Relationship Id="rId1"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wmf"/><Relationship Id="rId7" Type="http://schemas.openxmlformats.org/officeDocument/2006/relationships/oleObject" Target="../embeddings/oleObject31.bin"/><Relationship Id="rId6" Type="http://schemas.openxmlformats.org/officeDocument/2006/relationships/image" Target="../media/image39.wmf"/><Relationship Id="rId5" Type="http://schemas.openxmlformats.org/officeDocument/2006/relationships/oleObject" Target="../embeddings/oleObject30.bin"/><Relationship Id="rId4" Type="http://schemas.openxmlformats.org/officeDocument/2006/relationships/image" Target="../media/image38.wmf"/><Relationship Id="rId3" Type="http://schemas.openxmlformats.org/officeDocument/2006/relationships/oleObject" Target="../embeddings/oleObject29.bin"/><Relationship Id="rId2" Type="http://schemas.openxmlformats.org/officeDocument/2006/relationships/image" Target="../media/image37.wmf"/><Relationship Id="rId10" Type="http://schemas.openxmlformats.org/officeDocument/2006/relationships/vmlDrawing" Target="../drawings/vmlDrawing10.vml"/><Relationship Id="rId1" Type="http://schemas.openxmlformats.org/officeDocument/2006/relationships/oleObject" Target="../embeddings/oleObject28.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42.wmf"/><Relationship Id="rId3" Type="http://schemas.openxmlformats.org/officeDocument/2006/relationships/oleObject" Target="../embeddings/oleObject33.bin"/><Relationship Id="rId2" Type="http://schemas.openxmlformats.org/officeDocument/2006/relationships/image" Target="../media/image41.wmf"/><Relationship Id="rId1"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6.wmf"/><Relationship Id="rId7" Type="http://schemas.openxmlformats.org/officeDocument/2006/relationships/oleObject" Target="../embeddings/oleObject37.bin"/><Relationship Id="rId6" Type="http://schemas.openxmlformats.org/officeDocument/2006/relationships/image" Target="../media/image45.wmf"/><Relationship Id="rId5" Type="http://schemas.openxmlformats.org/officeDocument/2006/relationships/oleObject" Target="../embeddings/oleObject36.bin"/><Relationship Id="rId4" Type="http://schemas.openxmlformats.org/officeDocument/2006/relationships/image" Target="../media/image44.wmf"/><Relationship Id="rId3" Type="http://schemas.openxmlformats.org/officeDocument/2006/relationships/oleObject" Target="../embeddings/oleObject35.bin"/><Relationship Id="rId2" Type="http://schemas.openxmlformats.org/officeDocument/2006/relationships/image" Target="../media/image43.wmf"/><Relationship Id="rId10" Type="http://schemas.openxmlformats.org/officeDocument/2006/relationships/vmlDrawing" Target="../drawings/vmlDrawing12.vml"/><Relationship Id="rId1"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48.wmf"/><Relationship Id="rId3" Type="http://schemas.openxmlformats.org/officeDocument/2006/relationships/oleObject" Target="../embeddings/oleObject39.bin"/><Relationship Id="rId2" Type="http://schemas.openxmlformats.org/officeDocument/2006/relationships/image" Target="../media/image47.wmf"/><Relationship Id="rId1" Type="http://schemas.openxmlformats.org/officeDocument/2006/relationships/oleObject" Target="../embeddings/oleObject38.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40.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9" Type="http://schemas.openxmlformats.org/officeDocument/2006/relationships/image" Target="../media/image60.jpeg"/><Relationship Id="rId8" Type="http://schemas.openxmlformats.org/officeDocument/2006/relationships/image" Target="../media/image59.jpeg"/><Relationship Id="rId7" Type="http://schemas.openxmlformats.org/officeDocument/2006/relationships/image" Target="../media/image58.jpeg"/><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 Id="rId31" Type="http://schemas.openxmlformats.org/officeDocument/2006/relationships/notesSlide" Target="../notesSlides/notesSlide10.xml"/><Relationship Id="rId30" Type="http://schemas.openxmlformats.org/officeDocument/2006/relationships/slideLayout" Target="../slideLayouts/slideLayout2.xml"/><Relationship Id="rId3" Type="http://schemas.openxmlformats.org/officeDocument/2006/relationships/image" Target="../media/image54.jpeg"/><Relationship Id="rId29" Type="http://schemas.openxmlformats.org/officeDocument/2006/relationships/image" Target="../media/image80.png"/><Relationship Id="rId28" Type="http://schemas.openxmlformats.org/officeDocument/2006/relationships/image" Target="../media/image79.png"/><Relationship Id="rId27" Type="http://schemas.openxmlformats.org/officeDocument/2006/relationships/image" Target="../media/image78.jpeg"/><Relationship Id="rId26" Type="http://schemas.openxmlformats.org/officeDocument/2006/relationships/image" Target="../media/image77.jpeg"/><Relationship Id="rId25" Type="http://schemas.openxmlformats.org/officeDocument/2006/relationships/image" Target="../media/image76.jpeg"/><Relationship Id="rId24" Type="http://schemas.openxmlformats.org/officeDocument/2006/relationships/image" Target="../media/image75.jpeg"/><Relationship Id="rId23" Type="http://schemas.openxmlformats.org/officeDocument/2006/relationships/image" Target="../media/image74.jpeg"/><Relationship Id="rId22" Type="http://schemas.openxmlformats.org/officeDocument/2006/relationships/image" Target="../media/image73.png"/><Relationship Id="rId21" Type="http://schemas.openxmlformats.org/officeDocument/2006/relationships/image" Target="../media/image72.png"/><Relationship Id="rId20" Type="http://schemas.openxmlformats.org/officeDocument/2006/relationships/image" Target="../media/image71.png"/><Relationship Id="rId2" Type="http://schemas.openxmlformats.org/officeDocument/2006/relationships/image" Target="../media/image53.jpeg"/><Relationship Id="rId19" Type="http://schemas.openxmlformats.org/officeDocument/2006/relationships/image" Target="../media/image70.png"/><Relationship Id="rId18" Type="http://schemas.openxmlformats.org/officeDocument/2006/relationships/image" Target="../media/image69.png"/><Relationship Id="rId17" Type="http://schemas.openxmlformats.org/officeDocument/2006/relationships/image" Target="../media/image68.png"/><Relationship Id="rId16" Type="http://schemas.openxmlformats.org/officeDocument/2006/relationships/image" Target="../media/image67.png"/><Relationship Id="rId15" Type="http://schemas.openxmlformats.org/officeDocument/2006/relationships/image" Target="../media/image66.png"/><Relationship Id="rId14" Type="http://schemas.openxmlformats.org/officeDocument/2006/relationships/image" Target="../media/image65.png"/><Relationship Id="rId13" Type="http://schemas.openxmlformats.org/officeDocument/2006/relationships/image" Target="../media/image64.png"/><Relationship Id="rId12" Type="http://schemas.openxmlformats.org/officeDocument/2006/relationships/image" Target="../media/image63.png"/><Relationship Id="rId11" Type="http://schemas.openxmlformats.org/officeDocument/2006/relationships/image" Target="../media/image62.jpeg"/><Relationship Id="rId10" Type="http://schemas.openxmlformats.org/officeDocument/2006/relationships/image" Target="../media/image61.jpeg"/><Relationship Id="rId1" Type="http://schemas.openxmlformats.org/officeDocument/2006/relationships/image" Target="../media/image52.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83.wmf"/><Relationship Id="rId1" Type="http://schemas.openxmlformats.org/officeDocument/2006/relationships/oleObject" Target="../embeddings/oleObject41.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jpeg"/><Relationship Id="rId1" Type="http://schemas.openxmlformats.org/officeDocument/2006/relationships/image" Target="../media/image87.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1916832"/>
            <a:ext cx="7772400" cy="1470025"/>
          </a:xfrm>
        </p:spPr>
        <p:txBody>
          <a:bodyPr>
            <a:noAutofit/>
          </a:bodyPr>
          <a:lstStyle/>
          <a:p>
            <a:br>
              <a:rPr lang="zh-CN" altLang="zh-CN" sz="3200" b="1" dirty="0" smtClean="0">
                <a:latin typeface="楷体" panose="02010609060101010101" pitchFamily="49" charset="-122"/>
                <a:ea typeface="楷体" panose="02010609060101010101" pitchFamily="49" charset="-122"/>
              </a:rPr>
            </a:br>
            <a:r>
              <a:rPr lang="zh-CN" altLang="zh-CN" sz="3200" b="1" dirty="0" smtClean="0">
                <a:latin typeface="楷体" panose="02010609060101010101" pitchFamily="49" charset="-122"/>
                <a:ea typeface="楷体" panose="02010609060101010101" pitchFamily="49" charset="-122"/>
              </a:rPr>
              <a:t>数模智能算法：</a:t>
            </a:r>
            <a:r>
              <a:rPr lang="en-US" altLang="zh-CN" sz="3200" b="1" dirty="0" smtClean="0">
                <a:latin typeface="楷体" panose="02010609060101010101" pitchFamily="49" charset="-122"/>
                <a:ea typeface="楷体" panose="02010609060101010101" pitchFamily="49" charset="-122"/>
              </a:rPr>
              <a:t>BP</a:t>
            </a:r>
            <a:r>
              <a:rPr lang="zh-CN" altLang="en-US" sz="3200" b="1" dirty="0" smtClean="0">
                <a:latin typeface="楷体" panose="02010609060101010101" pitchFamily="49" charset="-122"/>
                <a:ea typeface="楷体" panose="02010609060101010101" pitchFamily="49" charset="-122"/>
              </a:rPr>
              <a:t>神经网络基本原理简介</a:t>
            </a:r>
            <a:br>
              <a:rPr lang="zh-CN" altLang="en-US" sz="3200" b="1" dirty="0" smtClean="0">
                <a:latin typeface="楷体" panose="02010609060101010101" pitchFamily="49" charset="-122"/>
                <a:ea typeface="楷体" panose="02010609060101010101" pitchFamily="49" charset="-122"/>
              </a:rPr>
            </a:br>
            <a:br>
              <a:rPr lang="zh-CN" altLang="en-US" sz="3200" b="1" dirty="0" smtClean="0">
                <a:latin typeface="楷体" panose="02010609060101010101" pitchFamily="49" charset="-122"/>
                <a:ea typeface="楷体" panose="02010609060101010101" pitchFamily="49" charset="-122"/>
              </a:rPr>
            </a:br>
            <a:r>
              <a:rPr lang="zh-CN" altLang="en-US" sz="1800" b="1" dirty="0" smtClean="0">
                <a:solidFill>
                  <a:schemeClr val="tx1"/>
                </a:solidFill>
                <a:latin typeface="楷体" panose="02010609060101010101" pitchFamily="49" charset="-122"/>
                <a:ea typeface="楷体" panose="02010609060101010101" pitchFamily="49" charset="-122"/>
              </a:rPr>
              <a:t>主讲人：老教练</a:t>
            </a:r>
            <a:endParaRPr lang="zh-CN" altLang="en-US" sz="1800" b="1" dirty="0" smtClean="0">
              <a:solidFill>
                <a:schemeClr val="tx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8123" y="909012"/>
            <a:ext cx="5630061" cy="554432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3"/>
          <p:cNvGrpSpPr/>
          <p:nvPr/>
        </p:nvGrpSpPr>
        <p:grpSpPr bwMode="auto">
          <a:xfrm>
            <a:off x="650787" y="1922162"/>
            <a:ext cx="7612063" cy="4244975"/>
            <a:chOff x="576" y="806"/>
            <a:chExt cx="4795" cy="3029"/>
          </a:xfrm>
        </p:grpSpPr>
        <p:grpSp>
          <p:nvGrpSpPr>
            <p:cNvPr id="6" name="Group 4"/>
            <p:cNvGrpSpPr/>
            <p:nvPr/>
          </p:nvGrpSpPr>
          <p:grpSpPr bwMode="auto">
            <a:xfrm>
              <a:off x="576" y="864"/>
              <a:ext cx="4704" cy="2602"/>
              <a:chOff x="576" y="864"/>
              <a:chExt cx="3187" cy="2602"/>
            </a:xfrm>
          </p:grpSpPr>
          <p:sp>
            <p:nvSpPr>
              <p:cNvPr id="20" name="Oval 5"/>
              <p:cNvSpPr>
                <a:spLocks noChangeArrowheads="1"/>
              </p:cNvSpPr>
              <p:nvPr/>
            </p:nvSpPr>
            <p:spPr bwMode="auto">
              <a:xfrm>
                <a:off x="1183" y="953"/>
                <a:ext cx="152" cy="186"/>
              </a:xfrm>
              <a:prstGeom prst="ellipse">
                <a:avLst/>
              </a:prstGeom>
              <a:solidFill>
                <a:srgbClr val="FFFFFF"/>
              </a:solidFill>
              <a:ln w="9525">
                <a:solidFill>
                  <a:srgbClr val="000000"/>
                </a:solidFill>
                <a:rou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1" name="Oval 6"/>
              <p:cNvSpPr>
                <a:spLocks noChangeArrowheads="1"/>
              </p:cNvSpPr>
              <p:nvPr/>
            </p:nvSpPr>
            <p:spPr bwMode="auto">
              <a:xfrm>
                <a:off x="1183" y="1715"/>
                <a:ext cx="152" cy="186"/>
              </a:xfrm>
              <a:prstGeom prst="ellipse">
                <a:avLst/>
              </a:prstGeom>
              <a:solidFill>
                <a:srgbClr val="FFFFFF"/>
              </a:solidFill>
              <a:ln w="9525">
                <a:solidFill>
                  <a:srgbClr val="000000"/>
                </a:solidFill>
                <a:rou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2" name="Oval 7"/>
              <p:cNvSpPr>
                <a:spLocks noChangeArrowheads="1"/>
              </p:cNvSpPr>
              <p:nvPr/>
            </p:nvSpPr>
            <p:spPr bwMode="auto">
              <a:xfrm>
                <a:off x="1183" y="3202"/>
                <a:ext cx="152" cy="185"/>
              </a:xfrm>
              <a:prstGeom prst="ellipse">
                <a:avLst/>
              </a:prstGeom>
              <a:solidFill>
                <a:srgbClr val="FFFFFF"/>
              </a:solidFill>
              <a:ln w="9525">
                <a:solidFill>
                  <a:srgbClr val="000000"/>
                </a:solidFill>
                <a:rou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3" name="Rectangle 8"/>
              <p:cNvSpPr>
                <a:spLocks noChangeArrowheads="1"/>
              </p:cNvSpPr>
              <p:nvPr/>
            </p:nvSpPr>
            <p:spPr bwMode="auto">
              <a:xfrm>
                <a:off x="2245" y="864"/>
                <a:ext cx="152"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4" name="Rectangle 9"/>
              <p:cNvSpPr>
                <a:spLocks noChangeArrowheads="1"/>
              </p:cNvSpPr>
              <p:nvPr/>
            </p:nvSpPr>
            <p:spPr bwMode="auto">
              <a:xfrm>
                <a:off x="2245" y="1607"/>
                <a:ext cx="152"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5" name="Rectangle 10"/>
              <p:cNvSpPr>
                <a:spLocks noChangeArrowheads="1"/>
              </p:cNvSpPr>
              <p:nvPr/>
            </p:nvSpPr>
            <p:spPr bwMode="auto">
              <a:xfrm>
                <a:off x="2245" y="3094"/>
                <a:ext cx="152"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6" name="Rectangle 11"/>
              <p:cNvSpPr>
                <a:spLocks noChangeArrowheads="1"/>
              </p:cNvSpPr>
              <p:nvPr/>
            </p:nvSpPr>
            <p:spPr bwMode="auto">
              <a:xfrm>
                <a:off x="3156" y="864"/>
                <a:ext cx="151"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7" name="Rectangle 12"/>
              <p:cNvSpPr>
                <a:spLocks noChangeArrowheads="1"/>
              </p:cNvSpPr>
              <p:nvPr/>
            </p:nvSpPr>
            <p:spPr bwMode="auto">
              <a:xfrm>
                <a:off x="3156" y="1607"/>
                <a:ext cx="151"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8" name="Rectangle 13"/>
              <p:cNvSpPr>
                <a:spLocks noChangeArrowheads="1"/>
              </p:cNvSpPr>
              <p:nvPr/>
            </p:nvSpPr>
            <p:spPr bwMode="auto">
              <a:xfrm>
                <a:off x="3156" y="3094"/>
                <a:ext cx="151" cy="372"/>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 name="Line 14"/>
              <p:cNvSpPr>
                <a:spLocks noChangeShapeType="1"/>
              </p:cNvSpPr>
              <p:nvPr/>
            </p:nvSpPr>
            <p:spPr bwMode="auto">
              <a:xfrm>
                <a:off x="576" y="1050"/>
                <a:ext cx="60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5"/>
              <p:cNvSpPr>
                <a:spLocks noChangeShapeType="1"/>
              </p:cNvSpPr>
              <p:nvPr/>
            </p:nvSpPr>
            <p:spPr bwMode="auto">
              <a:xfrm>
                <a:off x="576" y="1793"/>
                <a:ext cx="60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16"/>
              <p:cNvSpPr>
                <a:spLocks noChangeShapeType="1"/>
              </p:cNvSpPr>
              <p:nvPr/>
            </p:nvSpPr>
            <p:spPr bwMode="auto">
              <a:xfrm>
                <a:off x="576" y="3280"/>
                <a:ext cx="60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7"/>
              <p:cNvSpPr>
                <a:spLocks noChangeShapeType="1"/>
              </p:cNvSpPr>
              <p:nvPr/>
            </p:nvSpPr>
            <p:spPr bwMode="auto">
              <a:xfrm>
                <a:off x="1335" y="1050"/>
                <a:ext cx="91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18"/>
              <p:cNvSpPr>
                <a:spLocks noChangeShapeType="1"/>
              </p:cNvSpPr>
              <p:nvPr/>
            </p:nvSpPr>
            <p:spPr bwMode="auto">
              <a:xfrm>
                <a:off x="1335" y="1793"/>
                <a:ext cx="91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19"/>
              <p:cNvSpPr>
                <a:spLocks noChangeShapeType="1"/>
              </p:cNvSpPr>
              <p:nvPr/>
            </p:nvSpPr>
            <p:spPr bwMode="auto">
              <a:xfrm>
                <a:off x="1335" y="3280"/>
                <a:ext cx="91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20"/>
              <p:cNvSpPr>
                <a:spLocks noChangeShapeType="1"/>
              </p:cNvSpPr>
              <p:nvPr/>
            </p:nvSpPr>
            <p:spPr bwMode="auto">
              <a:xfrm>
                <a:off x="1335" y="1050"/>
                <a:ext cx="910" cy="55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Line 21"/>
              <p:cNvSpPr>
                <a:spLocks noChangeShapeType="1"/>
              </p:cNvSpPr>
              <p:nvPr/>
            </p:nvSpPr>
            <p:spPr bwMode="auto">
              <a:xfrm>
                <a:off x="1335" y="1050"/>
                <a:ext cx="910" cy="20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22"/>
              <p:cNvSpPr>
                <a:spLocks noChangeShapeType="1"/>
              </p:cNvSpPr>
              <p:nvPr/>
            </p:nvSpPr>
            <p:spPr bwMode="auto">
              <a:xfrm flipV="1">
                <a:off x="1335" y="1050"/>
                <a:ext cx="910" cy="74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3"/>
              <p:cNvSpPr>
                <a:spLocks noChangeShapeType="1"/>
              </p:cNvSpPr>
              <p:nvPr/>
            </p:nvSpPr>
            <p:spPr bwMode="auto">
              <a:xfrm flipV="1">
                <a:off x="1335" y="1236"/>
                <a:ext cx="910" cy="20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24"/>
              <p:cNvSpPr>
                <a:spLocks noChangeShapeType="1"/>
              </p:cNvSpPr>
              <p:nvPr/>
            </p:nvSpPr>
            <p:spPr bwMode="auto">
              <a:xfrm>
                <a:off x="1335" y="1793"/>
                <a:ext cx="910" cy="14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25"/>
              <p:cNvSpPr>
                <a:spLocks noChangeShapeType="1"/>
              </p:cNvSpPr>
              <p:nvPr/>
            </p:nvSpPr>
            <p:spPr bwMode="auto">
              <a:xfrm flipV="1">
                <a:off x="1335" y="1979"/>
                <a:ext cx="910" cy="130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26"/>
              <p:cNvSpPr>
                <a:spLocks noChangeShapeType="1"/>
              </p:cNvSpPr>
              <p:nvPr/>
            </p:nvSpPr>
            <p:spPr bwMode="auto">
              <a:xfrm>
                <a:off x="2397" y="1050"/>
                <a:ext cx="75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27"/>
              <p:cNvSpPr>
                <a:spLocks noChangeShapeType="1"/>
              </p:cNvSpPr>
              <p:nvPr/>
            </p:nvSpPr>
            <p:spPr bwMode="auto">
              <a:xfrm>
                <a:off x="2397" y="1793"/>
                <a:ext cx="75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28"/>
              <p:cNvSpPr>
                <a:spLocks noChangeShapeType="1"/>
              </p:cNvSpPr>
              <p:nvPr/>
            </p:nvSpPr>
            <p:spPr bwMode="auto">
              <a:xfrm>
                <a:off x="2397" y="3280"/>
                <a:ext cx="75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29"/>
              <p:cNvSpPr>
                <a:spLocks noChangeShapeType="1"/>
              </p:cNvSpPr>
              <p:nvPr/>
            </p:nvSpPr>
            <p:spPr bwMode="auto">
              <a:xfrm>
                <a:off x="2397" y="1050"/>
                <a:ext cx="759" cy="55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30"/>
              <p:cNvSpPr>
                <a:spLocks noChangeShapeType="1"/>
              </p:cNvSpPr>
              <p:nvPr/>
            </p:nvSpPr>
            <p:spPr bwMode="auto">
              <a:xfrm>
                <a:off x="2397" y="1050"/>
                <a:ext cx="759" cy="20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31"/>
              <p:cNvSpPr>
                <a:spLocks noChangeShapeType="1"/>
              </p:cNvSpPr>
              <p:nvPr/>
            </p:nvSpPr>
            <p:spPr bwMode="auto">
              <a:xfrm flipV="1">
                <a:off x="2397" y="1050"/>
                <a:ext cx="759" cy="74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32"/>
              <p:cNvSpPr>
                <a:spLocks noChangeShapeType="1"/>
              </p:cNvSpPr>
              <p:nvPr/>
            </p:nvSpPr>
            <p:spPr bwMode="auto">
              <a:xfrm>
                <a:off x="2397" y="1793"/>
                <a:ext cx="759" cy="14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33"/>
              <p:cNvSpPr>
                <a:spLocks noChangeShapeType="1"/>
              </p:cNvSpPr>
              <p:nvPr/>
            </p:nvSpPr>
            <p:spPr bwMode="auto">
              <a:xfrm flipV="1">
                <a:off x="2397" y="1236"/>
                <a:ext cx="759" cy="20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34"/>
              <p:cNvSpPr>
                <a:spLocks noChangeShapeType="1"/>
              </p:cNvSpPr>
              <p:nvPr/>
            </p:nvSpPr>
            <p:spPr bwMode="auto">
              <a:xfrm flipV="1">
                <a:off x="2397" y="1979"/>
                <a:ext cx="759" cy="130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35"/>
              <p:cNvSpPr>
                <a:spLocks noChangeShapeType="1"/>
              </p:cNvSpPr>
              <p:nvPr/>
            </p:nvSpPr>
            <p:spPr bwMode="auto">
              <a:xfrm>
                <a:off x="3307" y="1050"/>
                <a:ext cx="45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36"/>
              <p:cNvSpPr>
                <a:spLocks noChangeShapeType="1"/>
              </p:cNvSpPr>
              <p:nvPr/>
            </p:nvSpPr>
            <p:spPr bwMode="auto">
              <a:xfrm>
                <a:off x="3307" y="1793"/>
                <a:ext cx="45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37"/>
              <p:cNvSpPr>
                <a:spLocks noChangeShapeType="1"/>
              </p:cNvSpPr>
              <p:nvPr/>
            </p:nvSpPr>
            <p:spPr bwMode="auto">
              <a:xfrm>
                <a:off x="3307" y="3280"/>
                <a:ext cx="45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 name="Rectangle 38"/>
            <p:cNvSpPr>
              <a:spLocks noChangeArrowheads="1"/>
            </p:cNvSpPr>
            <p:nvPr/>
          </p:nvSpPr>
          <p:spPr bwMode="auto">
            <a:xfrm>
              <a:off x="595" y="816"/>
              <a:ext cx="24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x</a:t>
              </a:r>
              <a:r>
                <a:rPr kumimoji="1" lang="en-US" altLang="zh-CN" sz="2000" b="1" baseline="-30000">
                  <a:latin typeface="Times New Roman" panose="02020603050405020304" pitchFamily="18" charset="0"/>
                </a:rPr>
                <a:t>1</a:t>
              </a:r>
              <a:endParaRPr kumimoji="1" lang="en-US" altLang="zh-CN" sz="2000" b="1" baseline="-30000">
                <a:latin typeface="Times New Roman" panose="02020603050405020304" pitchFamily="18" charset="0"/>
              </a:endParaRPr>
            </a:p>
          </p:txBody>
        </p:sp>
        <p:sp>
          <p:nvSpPr>
            <p:cNvPr id="8" name="Rectangle 39"/>
            <p:cNvSpPr>
              <a:spLocks noChangeArrowheads="1"/>
            </p:cNvSpPr>
            <p:nvPr/>
          </p:nvSpPr>
          <p:spPr bwMode="auto">
            <a:xfrm>
              <a:off x="5088" y="806"/>
              <a:ext cx="24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o</a:t>
              </a:r>
              <a:r>
                <a:rPr kumimoji="1" lang="en-US" altLang="zh-CN" sz="2000" b="1" baseline="-30000">
                  <a:latin typeface="Times New Roman" panose="02020603050405020304" pitchFamily="18" charset="0"/>
                </a:rPr>
                <a:t>1</a:t>
              </a:r>
              <a:endParaRPr kumimoji="1" lang="en-US" altLang="zh-CN" sz="2000" b="1" baseline="-30000">
                <a:latin typeface="Times New Roman" panose="02020603050405020304" pitchFamily="18" charset="0"/>
              </a:endParaRPr>
            </a:p>
          </p:txBody>
        </p:sp>
        <p:sp>
          <p:nvSpPr>
            <p:cNvPr id="9" name="Rectangle 40"/>
            <p:cNvSpPr>
              <a:spLocks noChangeArrowheads="1"/>
            </p:cNvSpPr>
            <p:nvPr/>
          </p:nvSpPr>
          <p:spPr bwMode="auto">
            <a:xfrm>
              <a:off x="4272" y="3552"/>
              <a:ext cx="59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latin typeface="Times New Roman" panose="02020603050405020304" pitchFamily="18" charset="0"/>
                </a:rPr>
                <a:t>输出层</a:t>
              </a:r>
              <a:endParaRPr kumimoji="1" lang="zh-CN" altLang="en-US" sz="2000" b="1">
                <a:latin typeface="Times New Roman" panose="02020603050405020304" pitchFamily="18" charset="0"/>
              </a:endParaRPr>
            </a:p>
          </p:txBody>
        </p:sp>
        <p:sp>
          <p:nvSpPr>
            <p:cNvPr id="10" name="Rectangle 41"/>
            <p:cNvSpPr>
              <a:spLocks noChangeArrowheads="1"/>
            </p:cNvSpPr>
            <p:nvPr/>
          </p:nvSpPr>
          <p:spPr bwMode="auto">
            <a:xfrm>
              <a:off x="2832" y="3552"/>
              <a:ext cx="59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latin typeface="Times New Roman" panose="02020603050405020304" pitchFamily="18" charset="0"/>
                </a:rPr>
                <a:t>隐藏层</a:t>
              </a:r>
              <a:endParaRPr kumimoji="1" lang="zh-CN" altLang="en-US" sz="2000" b="1">
                <a:latin typeface="Times New Roman" panose="02020603050405020304" pitchFamily="18" charset="0"/>
              </a:endParaRPr>
            </a:p>
          </p:txBody>
        </p:sp>
        <p:sp>
          <p:nvSpPr>
            <p:cNvPr id="11" name="Rectangle 42"/>
            <p:cNvSpPr>
              <a:spLocks noChangeArrowheads="1"/>
            </p:cNvSpPr>
            <p:nvPr/>
          </p:nvSpPr>
          <p:spPr bwMode="auto">
            <a:xfrm>
              <a:off x="960" y="3542"/>
              <a:ext cx="59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latin typeface="Times New Roman" panose="02020603050405020304" pitchFamily="18" charset="0"/>
                </a:rPr>
                <a:t>输入层</a:t>
              </a:r>
              <a:endParaRPr kumimoji="1" lang="zh-CN" altLang="en-US" sz="2000" b="1">
                <a:latin typeface="Times New Roman" panose="02020603050405020304" pitchFamily="18" charset="0"/>
              </a:endParaRPr>
            </a:p>
          </p:txBody>
        </p:sp>
        <p:sp>
          <p:nvSpPr>
            <p:cNvPr id="12" name="Rectangle 43"/>
            <p:cNvSpPr>
              <a:spLocks noChangeArrowheads="1"/>
            </p:cNvSpPr>
            <p:nvPr/>
          </p:nvSpPr>
          <p:spPr bwMode="auto">
            <a:xfrm>
              <a:off x="604" y="1584"/>
              <a:ext cx="24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x</a:t>
              </a:r>
              <a:r>
                <a:rPr kumimoji="1" lang="en-US" altLang="zh-CN" sz="2000" b="1" baseline="-30000">
                  <a:latin typeface="Times New Roman" panose="02020603050405020304" pitchFamily="18" charset="0"/>
                </a:rPr>
                <a:t>2</a:t>
              </a:r>
              <a:endParaRPr kumimoji="1" lang="en-US" altLang="zh-CN" sz="2000" b="1" baseline="-30000">
                <a:latin typeface="Times New Roman" panose="02020603050405020304" pitchFamily="18" charset="0"/>
              </a:endParaRPr>
            </a:p>
          </p:txBody>
        </p:sp>
        <p:sp>
          <p:nvSpPr>
            <p:cNvPr id="13" name="Rectangle 44"/>
            <p:cNvSpPr>
              <a:spLocks noChangeArrowheads="1"/>
            </p:cNvSpPr>
            <p:nvPr/>
          </p:nvSpPr>
          <p:spPr bwMode="auto">
            <a:xfrm>
              <a:off x="5080" y="1537"/>
              <a:ext cx="24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o</a:t>
              </a:r>
              <a:r>
                <a:rPr kumimoji="1" lang="en-US" altLang="zh-CN" sz="2000" b="1" baseline="-30000">
                  <a:latin typeface="Times New Roman" panose="02020603050405020304" pitchFamily="18" charset="0"/>
                </a:rPr>
                <a:t>2</a:t>
              </a:r>
              <a:endParaRPr kumimoji="1" lang="en-US" altLang="zh-CN" sz="2000" b="1" baseline="-30000">
                <a:latin typeface="Times New Roman" panose="02020603050405020304" pitchFamily="18" charset="0"/>
              </a:endParaRPr>
            </a:p>
          </p:txBody>
        </p:sp>
        <p:sp>
          <p:nvSpPr>
            <p:cNvPr id="14" name="Rectangle 45"/>
            <p:cNvSpPr>
              <a:spLocks noChangeArrowheads="1"/>
            </p:cNvSpPr>
            <p:nvPr/>
          </p:nvSpPr>
          <p:spPr bwMode="auto">
            <a:xfrm>
              <a:off x="5088" y="3024"/>
              <a:ext cx="28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o</a:t>
              </a:r>
              <a:r>
                <a:rPr kumimoji="1" lang="en-US" altLang="zh-CN" sz="2000" b="1" baseline="-30000">
                  <a:latin typeface="Times New Roman" panose="02020603050405020304" pitchFamily="18" charset="0"/>
                </a:rPr>
                <a:t>m</a:t>
              </a:r>
              <a:endParaRPr kumimoji="1" lang="en-US" altLang="zh-CN" sz="2000" b="1" baseline="-30000">
                <a:latin typeface="Times New Roman" panose="02020603050405020304" pitchFamily="18" charset="0"/>
              </a:endParaRPr>
            </a:p>
          </p:txBody>
        </p:sp>
        <p:sp>
          <p:nvSpPr>
            <p:cNvPr id="15" name="Rectangle 46"/>
            <p:cNvSpPr>
              <a:spLocks noChangeArrowheads="1"/>
            </p:cNvSpPr>
            <p:nvPr/>
          </p:nvSpPr>
          <p:spPr bwMode="auto">
            <a:xfrm>
              <a:off x="604" y="3024"/>
              <a:ext cx="25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x</a:t>
              </a:r>
              <a:r>
                <a:rPr kumimoji="1" lang="en-US" altLang="zh-CN" sz="2000" b="1" baseline="-30000">
                  <a:latin typeface="Times New Roman" panose="02020603050405020304" pitchFamily="18" charset="0"/>
                </a:rPr>
                <a:t>n</a:t>
              </a:r>
              <a:endParaRPr kumimoji="1" lang="en-US" altLang="zh-CN" sz="2000" b="1" baseline="-30000">
                <a:latin typeface="Times New Roman" panose="02020603050405020304" pitchFamily="18" charset="0"/>
              </a:endParaRPr>
            </a:p>
          </p:txBody>
        </p:sp>
        <p:sp>
          <p:nvSpPr>
            <p:cNvPr id="16" name="Rectangle 47"/>
            <p:cNvSpPr>
              <a:spLocks noChangeArrowheads="1"/>
            </p:cNvSpPr>
            <p:nvPr/>
          </p:nvSpPr>
          <p:spPr bwMode="auto">
            <a:xfrm>
              <a:off x="1114" y="2483"/>
              <a:ext cx="27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a:t>
              </a:r>
              <a:endParaRPr kumimoji="1" lang="en-US" altLang="zh-CN" sz="2000" b="1">
                <a:latin typeface="Times New Roman" panose="02020603050405020304" pitchFamily="18" charset="0"/>
              </a:endParaRPr>
            </a:p>
          </p:txBody>
        </p:sp>
        <p:sp>
          <p:nvSpPr>
            <p:cNvPr id="17" name="Rectangle 48"/>
            <p:cNvSpPr>
              <a:spLocks noChangeArrowheads="1"/>
            </p:cNvSpPr>
            <p:nvPr/>
          </p:nvSpPr>
          <p:spPr bwMode="auto">
            <a:xfrm>
              <a:off x="2208" y="2495"/>
              <a:ext cx="27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a:t>
              </a:r>
              <a:endParaRPr kumimoji="1" lang="en-US" altLang="zh-CN" sz="2000" b="1">
                <a:latin typeface="Times New Roman" panose="02020603050405020304" pitchFamily="18" charset="0"/>
              </a:endParaRPr>
            </a:p>
          </p:txBody>
        </p:sp>
        <p:sp>
          <p:nvSpPr>
            <p:cNvPr id="18" name="Rectangle 49"/>
            <p:cNvSpPr>
              <a:spLocks noChangeArrowheads="1"/>
            </p:cNvSpPr>
            <p:nvPr/>
          </p:nvSpPr>
          <p:spPr bwMode="auto">
            <a:xfrm>
              <a:off x="3120" y="2495"/>
              <a:ext cx="27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a:t>
              </a:r>
              <a:endParaRPr kumimoji="1" lang="en-US" altLang="zh-CN" sz="2000" b="1">
                <a:latin typeface="Times New Roman" panose="02020603050405020304" pitchFamily="18" charset="0"/>
              </a:endParaRPr>
            </a:p>
          </p:txBody>
        </p:sp>
        <p:sp>
          <p:nvSpPr>
            <p:cNvPr id="19" name="Rectangle 50"/>
            <p:cNvSpPr>
              <a:spLocks noChangeArrowheads="1"/>
            </p:cNvSpPr>
            <p:nvPr/>
          </p:nvSpPr>
          <p:spPr bwMode="auto">
            <a:xfrm>
              <a:off x="576" y="2493"/>
              <a:ext cx="27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latin typeface="Times New Roman" panose="02020603050405020304" pitchFamily="18" charset="0"/>
                </a:rPr>
                <a:t>…</a:t>
              </a:r>
              <a:endParaRPr kumimoji="1" lang="en-US" altLang="zh-CN" sz="2000" b="1">
                <a:latin typeface="Times New Roman" panose="02020603050405020304" pitchFamily="18" charset="0"/>
              </a:endParaRPr>
            </a:p>
          </p:txBody>
        </p:sp>
      </p:grpSp>
      <p:sp>
        <p:nvSpPr>
          <p:cNvPr id="54" name="文本占位符 2"/>
          <p:cNvSpPr txBox="1"/>
          <p:nvPr/>
        </p:nvSpPr>
        <p:spPr bwMode="auto">
          <a:xfrm>
            <a:off x="-27767" y="980728"/>
            <a:ext cx="914400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r>
              <a:rPr lang="zh-CN" altLang="en-US" kern="0" dirty="0" smtClean="0">
                <a:latin typeface="楷体" panose="02010609060101010101" pitchFamily="49" charset="-122"/>
                <a:ea typeface="楷体" panose="02010609060101010101" pitchFamily="49" charset="-122"/>
              </a:rPr>
              <a:t>一个神经网络的典型结构：</a:t>
            </a:r>
            <a:endParaRPr lang="en-US" altLang="zh-CN" kern="0" dirty="0" smtClean="0">
              <a:latin typeface="楷体" panose="02010609060101010101" pitchFamily="49" charset="-122"/>
              <a:ea typeface="楷体" panose="02010609060101010101" pitchFamily="49" charset="-122"/>
            </a:endParaRPr>
          </a:p>
          <a:p>
            <a:endParaRPr lang="zh-CN" altLang="en-US" kern="0" dirty="0">
              <a:latin typeface="楷体" panose="02010609060101010101" pitchFamily="49" charset="-122"/>
              <a:ea typeface="楷体" panose="02010609060101010101" pitchFamily="49" charset="-122"/>
            </a:endParaRPr>
          </a:p>
        </p:txBody>
      </p:sp>
      <p:sp>
        <p:nvSpPr>
          <p:cNvPr id="3" name="标题 2"/>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91137"/>
          <p:cNvSpPr>
            <a:spLocks noGrp="1"/>
          </p:cNvSpPr>
          <p:nvPr>
            <p:ph type="title"/>
          </p:nvPr>
        </p:nvSpPr>
        <p:spPr/>
        <p:txBody>
          <a:bodyPr anchor="ctr"/>
          <a:p>
            <a:pPr algn="l">
              <a:lnSpc>
                <a:spcPct val="120000"/>
              </a:lnSpc>
            </a:pPr>
            <a:r>
              <a:rPr lang="zh-CN" altLang="en-US" dirty="0"/>
              <a:t>一</a:t>
            </a:r>
            <a:r>
              <a:rPr lang="en-US" altLang="zh-CN" dirty="0"/>
              <a:t>.</a:t>
            </a:r>
            <a:r>
              <a:rPr lang="zh-CN" altLang="en-US" dirty="0"/>
              <a:t>什么是人工神经网络</a:t>
            </a:r>
            <a:endParaRPr lang="zh-CN" altLang="en-US" dirty="0"/>
          </a:p>
        </p:txBody>
      </p:sp>
      <p:sp>
        <p:nvSpPr>
          <p:cNvPr id="91139" name="文本占位符 91138"/>
          <p:cNvSpPr>
            <a:spLocks noGrp="1"/>
          </p:cNvSpPr>
          <p:nvPr>
            <p:ph type="body" idx="1"/>
          </p:nvPr>
        </p:nvSpPr>
        <p:spPr>
          <a:xfrm>
            <a:off x="539750" y="1167765"/>
            <a:ext cx="8064500" cy="5145088"/>
          </a:xfrm>
        </p:spPr>
        <p:txBody>
          <a:bodyPr/>
          <a:p>
            <a:pPr>
              <a:lnSpc>
                <a:spcPct val="120000"/>
              </a:lnSpc>
            </a:pPr>
            <a:r>
              <a:rPr lang="en-US" altLang="zh-CN" sz="2300" dirty="0">
                <a:sym typeface="+mn-ea"/>
              </a:rPr>
              <a:t>“</a:t>
            </a:r>
            <a:r>
              <a:rPr lang="zh-CN" altLang="en-US" sz="2300" dirty="0">
                <a:sym typeface="+mn-ea"/>
              </a:rPr>
              <a:t>人工神经网络是由具有适应性的简单单元组成的广泛并行互连的网络，它的组织能够模拟生物神经神经系统对真实世界物体所作出的交互反应”。</a:t>
            </a:r>
            <a:endParaRPr lang="zh-CN" altLang="en-US" sz="2300" dirty="0"/>
          </a:p>
          <a:p>
            <a:pPr>
              <a:lnSpc>
                <a:spcPct val="120000"/>
              </a:lnSpc>
            </a:pPr>
            <a:r>
              <a:rPr lang="zh-CN" altLang="en-US" sz="2300" dirty="0"/>
              <a:t>人工神经网络</a:t>
            </a:r>
            <a:r>
              <a:rPr lang="en-US" altLang="zh-CN" sz="2300" dirty="0"/>
              <a:t>(ANN)</a:t>
            </a:r>
            <a:r>
              <a:rPr lang="zh-CN" altLang="en-US" sz="2300" dirty="0"/>
              <a:t>具有自学习、自组织、较好的容错性和优良的非线性逼近能力。</a:t>
            </a:r>
            <a:endParaRPr lang="zh-CN" altLang="en-US" sz="2300" dirty="0"/>
          </a:p>
          <a:p>
            <a:pPr>
              <a:lnSpc>
                <a:spcPct val="120000"/>
              </a:lnSpc>
            </a:pPr>
            <a:r>
              <a:rPr lang="zh-CN" altLang="en-US" sz="2300" dirty="0"/>
              <a:t>在实际应用中，</a:t>
            </a:r>
            <a:r>
              <a:rPr lang="en-US" altLang="zh-CN" sz="2300" dirty="0"/>
              <a:t>80%</a:t>
            </a:r>
            <a:r>
              <a:rPr lang="zh-CN" altLang="en-US" sz="2300" dirty="0"/>
              <a:t>～</a:t>
            </a:r>
            <a:r>
              <a:rPr lang="en-US" altLang="zh-CN" sz="2300" dirty="0"/>
              <a:t>90%</a:t>
            </a:r>
            <a:r>
              <a:rPr lang="zh-CN" altLang="en-US" sz="2300" dirty="0"/>
              <a:t>的人工神经网络模型是采用误差反传算法或其变化形式的网络模型。</a:t>
            </a:r>
            <a:endParaRPr lang="zh-CN" alt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9">
                                            <p:txEl>
                                              <p:charRg st="0" end="0"/>
                                            </p:txEl>
                                          </p:spTgt>
                                        </p:tgtEl>
                                        <p:attrNameLst>
                                          <p:attrName>style.visibility</p:attrName>
                                        </p:attrNameLst>
                                      </p:cBhvr>
                                      <p:to>
                                        <p:strVal val="visible"/>
                                      </p:to>
                                    </p:set>
                                    <p:animEffect transition="in" filter="blinds(horizontal)">
                                      <p:cBhvr>
                                        <p:cTn id="7" dur="500"/>
                                        <p:tgtEl>
                                          <p:spTgt spid="91139">
                                            <p:txEl>
                                              <p:char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39">
                                            <p:txEl>
                                              <p:charRg st="0" end="40"/>
                                            </p:txEl>
                                          </p:spTgt>
                                        </p:tgtEl>
                                        <p:attrNameLst>
                                          <p:attrName>style.visibility</p:attrName>
                                        </p:attrNameLst>
                                      </p:cBhvr>
                                      <p:to>
                                        <p:strVal val="visible"/>
                                      </p:to>
                                    </p:set>
                                    <p:animEffect transition="in" filter="blinds(horizontal)">
                                      <p:cBhvr>
                                        <p:cTn id="12" dur="500"/>
                                        <p:tgtEl>
                                          <p:spTgt spid="91139">
                                            <p:txEl>
                                              <p:charRg st="0"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39">
                                            <p:txEl>
                                              <p:charRg st="41" end="86"/>
                                            </p:txEl>
                                          </p:spTgt>
                                        </p:tgtEl>
                                        <p:attrNameLst>
                                          <p:attrName>style.visibility</p:attrName>
                                        </p:attrNameLst>
                                      </p:cBhvr>
                                      <p:to>
                                        <p:strVal val="visible"/>
                                      </p:to>
                                    </p:set>
                                    <p:animEffect transition="in" filter="blinds(horizontal)">
                                      <p:cBhvr>
                                        <p:cTn id="17" dur="500"/>
                                        <p:tgtEl>
                                          <p:spTgt spid="91139">
                                            <p:txEl>
                                              <p:charRg st="41"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92161"/>
          <p:cNvSpPr>
            <a:spLocks noGrp="1"/>
          </p:cNvSpPr>
          <p:nvPr>
            <p:ph type="title"/>
          </p:nvPr>
        </p:nvSpPr>
        <p:spPr>
          <a:xfrm>
            <a:off x="159385" y="-225425"/>
            <a:ext cx="6233160" cy="1143000"/>
          </a:xfrm>
        </p:spPr>
        <p:txBody>
          <a:bodyPr anchor="ctr"/>
          <a:p>
            <a:pPr algn="l">
              <a:lnSpc>
                <a:spcPct val="120000"/>
              </a:lnSpc>
            </a:pPr>
            <a:r>
              <a:rPr lang="zh-CN" altLang="en-US" dirty="0"/>
              <a:t>二</a:t>
            </a:r>
            <a:r>
              <a:rPr lang="en-US" altLang="zh-CN" dirty="0"/>
              <a:t>.ANN</a:t>
            </a:r>
            <a:r>
              <a:rPr lang="zh-CN" altLang="en-US" dirty="0"/>
              <a:t>能干什么？</a:t>
            </a:r>
            <a:endParaRPr lang="zh-CN" altLang="en-US" dirty="0"/>
          </a:p>
        </p:txBody>
      </p:sp>
      <p:sp>
        <p:nvSpPr>
          <p:cNvPr id="92166" name="燕尾形箭头 92165"/>
          <p:cNvSpPr/>
          <p:nvPr/>
        </p:nvSpPr>
        <p:spPr>
          <a:xfrm>
            <a:off x="3492500" y="3077845"/>
            <a:ext cx="576263" cy="217488"/>
          </a:xfrm>
          <a:prstGeom prst="notchedRightArrow">
            <a:avLst>
              <a:gd name="adj1" fmla="val 50000"/>
              <a:gd name="adj2" fmla="val 66240"/>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2167" name="左大括号 92166"/>
          <p:cNvSpPr/>
          <p:nvPr/>
        </p:nvSpPr>
        <p:spPr>
          <a:xfrm>
            <a:off x="4067175" y="1998345"/>
            <a:ext cx="287338" cy="2303463"/>
          </a:xfrm>
          <a:prstGeom prst="leftBrace">
            <a:avLst>
              <a:gd name="adj1" fmla="val 66804"/>
              <a:gd name="adj2" fmla="val 50000"/>
            </a:avLst>
          </a:prstGeom>
          <a:noFill/>
          <a:ln w="9525" cap="flat" cmpd="sng">
            <a:solidFill>
              <a:schemeClr val="tx1"/>
            </a:solidFill>
            <a:prstDash val="solid"/>
            <a:headEnd type="none" w="med" len="med"/>
            <a:tailEnd type="none" w="med" len="med"/>
          </a:ln>
        </p:spPr>
        <p:txBody>
          <a:bodyPr/>
          <a:p>
            <a:endParaRPr lang="zh-CN" altLang="en-US"/>
          </a:p>
        </p:txBody>
      </p:sp>
      <p:grpSp>
        <p:nvGrpSpPr>
          <p:cNvPr id="92171" name="组合 92170"/>
          <p:cNvGrpSpPr/>
          <p:nvPr/>
        </p:nvGrpSpPr>
        <p:grpSpPr>
          <a:xfrm>
            <a:off x="4356100" y="2141220"/>
            <a:ext cx="3024188" cy="519113"/>
            <a:chOff x="1247" y="1570"/>
            <a:chExt cx="1905" cy="327"/>
          </a:xfrm>
        </p:grpSpPr>
        <p:sp>
          <p:nvSpPr>
            <p:cNvPr id="92169" name="文本框 92168"/>
            <p:cNvSpPr txBox="1"/>
            <p:nvPr/>
          </p:nvSpPr>
          <p:spPr>
            <a:xfrm>
              <a:off x="1247" y="1570"/>
              <a:ext cx="1905" cy="327"/>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拟合         预测</a:t>
              </a:r>
              <a:endParaRPr lang="zh-CN" altLang="en-US" sz="2800">
                <a:latin typeface="Arial" panose="020B0604020202020204" pitchFamily="34" charset="0"/>
              </a:endParaRPr>
            </a:p>
          </p:txBody>
        </p:sp>
        <p:sp>
          <p:nvSpPr>
            <p:cNvPr id="92170" name="直接连接符 92169"/>
            <p:cNvSpPr/>
            <p:nvPr/>
          </p:nvSpPr>
          <p:spPr>
            <a:xfrm>
              <a:off x="1882" y="1752"/>
              <a:ext cx="272" cy="0"/>
            </a:xfrm>
            <a:prstGeom prst="line">
              <a:avLst/>
            </a:prstGeom>
            <a:ln w="9525" cap="flat" cmpd="sng">
              <a:solidFill>
                <a:schemeClr val="tx1"/>
              </a:solidFill>
              <a:prstDash val="solid"/>
              <a:headEnd type="none" w="med" len="med"/>
              <a:tailEnd type="triangle" w="med" len="med"/>
            </a:ln>
          </p:spPr>
        </p:sp>
      </p:grpSp>
      <p:grpSp>
        <p:nvGrpSpPr>
          <p:cNvPr id="92178" name="组合 92177"/>
          <p:cNvGrpSpPr/>
          <p:nvPr/>
        </p:nvGrpSpPr>
        <p:grpSpPr>
          <a:xfrm>
            <a:off x="4354513" y="3638233"/>
            <a:ext cx="3529012" cy="519112"/>
            <a:chOff x="1247" y="2024"/>
            <a:chExt cx="2223" cy="327"/>
          </a:xfrm>
        </p:grpSpPr>
        <p:sp>
          <p:nvSpPr>
            <p:cNvPr id="92173" name="文本框 92172"/>
            <p:cNvSpPr txBox="1"/>
            <p:nvPr/>
          </p:nvSpPr>
          <p:spPr>
            <a:xfrm>
              <a:off x="1247" y="2024"/>
              <a:ext cx="2223" cy="327"/>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分类         聚类分析</a:t>
              </a:r>
              <a:endParaRPr lang="zh-CN" altLang="en-US" sz="2800">
                <a:latin typeface="Arial" panose="020B0604020202020204" pitchFamily="34" charset="0"/>
              </a:endParaRPr>
            </a:p>
          </p:txBody>
        </p:sp>
        <p:sp>
          <p:nvSpPr>
            <p:cNvPr id="92174" name="直接连接符 92173"/>
            <p:cNvSpPr/>
            <p:nvPr/>
          </p:nvSpPr>
          <p:spPr>
            <a:xfrm>
              <a:off x="1882" y="2206"/>
              <a:ext cx="317" cy="1"/>
            </a:xfrm>
            <a:prstGeom prst="line">
              <a:avLst/>
            </a:prstGeom>
            <a:ln w="9525" cap="flat" cmpd="sng">
              <a:solidFill>
                <a:schemeClr val="tx1"/>
              </a:solidFill>
              <a:prstDash val="solid"/>
              <a:headEnd type="none" w="med" len="med"/>
              <a:tailEnd type="triangle" w="med" len="med"/>
            </a:ln>
          </p:spPr>
        </p:sp>
      </p:grpSp>
      <p:sp>
        <p:nvSpPr>
          <p:cNvPr id="92176" name="文本框 92175"/>
          <p:cNvSpPr txBox="1"/>
          <p:nvPr/>
        </p:nvSpPr>
        <p:spPr>
          <a:xfrm>
            <a:off x="900113" y="3725545"/>
            <a:ext cx="3024187" cy="519113"/>
          </a:xfrm>
          <a:prstGeom prst="rect">
            <a:avLst/>
          </a:prstGeom>
          <a:noFill/>
          <a:ln w="9525">
            <a:noFill/>
          </a:ln>
        </p:spPr>
        <p:txBody>
          <a:bodyPr>
            <a:spAutoFit/>
          </a:bodyPr>
          <a:p>
            <a:pPr>
              <a:spcBef>
                <a:spcPct val="50000"/>
              </a:spcBef>
            </a:pPr>
            <a:r>
              <a:rPr lang="en-US" altLang="zh-CN" sz="2800" dirty="0">
                <a:latin typeface="Arial" panose="020B0604020202020204" pitchFamily="34" charset="0"/>
              </a:rPr>
              <a:t>(</a:t>
            </a:r>
            <a:r>
              <a:rPr lang="zh-CN" altLang="en-US" sz="2800" dirty="0">
                <a:latin typeface="Arial" panose="020B0604020202020204" pitchFamily="34" charset="0"/>
              </a:rPr>
              <a:t>函数逼近</a:t>
            </a:r>
            <a:r>
              <a:rPr lang="en-US" altLang="zh-CN" sz="2800">
                <a:latin typeface="Arial" panose="020B0604020202020204" pitchFamily="34" charset="0"/>
              </a:rPr>
              <a:t>)</a:t>
            </a:r>
            <a:endParaRPr lang="en-US" altLang="zh-CN" sz="2800">
              <a:latin typeface="Arial" panose="020B0604020202020204" pitchFamily="34" charset="0"/>
            </a:endParaRPr>
          </a:p>
        </p:txBody>
      </p:sp>
      <p:sp>
        <p:nvSpPr>
          <p:cNvPr id="92181" name="文本框 92180"/>
          <p:cNvSpPr txBox="1"/>
          <p:nvPr/>
        </p:nvSpPr>
        <p:spPr>
          <a:xfrm>
            <a:off x="755650" y="2858770"/>
            <a:ext cx="2663825" cy="579438"/>
          </a:xfrm>
          <a:prstGeom prst="rect">
            <a:avLst/>
          </a:prstGeom>
          <a:noFill/>
          <a:ln w="9525">
            <a:noFill/>
          </a:ln>
        </p:spPr>
        <p:txBody>
          <a:bodyPr>
            <a:spAutoFit/>
          </a:bodyPr>
          <a:p>
            <a:pPr>
              <a:spcBef>
                <a:spcPct val="50000"/>
              </a:spcBef>
            </a:pPr>
            <a:r>
              <a:rPr lang="zh-CN" altLang="en-US" sz="3200" dirty="0">
                <a:latin typeface="Arial" panose="020B0604020202020204" pitchFamily="34" charset="0"/>
              </a:rPr>
              <a:t>数学近似映射</a:t>
            </a:r>
            <a:endParaRPr lang="zh-CN" altLang="en-US" sz="32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93185"/>
          <p:cNvSpPr>
            <a:spLocks noGrp="1"/>
          </p:cNvSpPr>
          <p:nvPr>
            <p:ph type="title"/>
          </p:nvPr>
        </p:nvSpPr>
        <p:spPr>
          <a:xfrm>
            <a:off x="94615" y="-94615"/>
            <a:ext cx="8229600" cy="868680"/>
          </a:xfrm>
        </p:spPr>
        <p:txBody>
          <a:bodyPr anchor="ctr"/>
          <a:p>
            <a:pPr algn="l">
              <a:lnSpc>
                <a:spcPct val="120000"/>
              </a:lnSpc>
            </a:pPr>
            <a:r>
              <a:rPr lang="zh-CN" altLang="en-US" dirty="0"/>
              <a:t>三</a:t>
            </a:r>
            <a:r>
              <a:rPr lang="en-US" altLang="zh-CN" dirty="0"/>
              <a:t>.</a:t>
            </a:r>
            <a:r>
              <a:rPr lang="zh-CN" altLang="en-US" dirty="0"/>
              <a:t>神经网络模型和网络结构</a:t>
            </a:r>
            <a:endParaRPr lang="zh-CN" altLang="en-US" dirty="0"/>
          </a:p>
        </p:txBody>
      </p:sp>
      <p:sp>
        <p:nvSpPr>
          <p:cNvPr id="93187" name="文本占位符 93186"/>
          <p:cNvSpPr>
            <a:spLocks noGrp="1"/>
          </p:cNvSpPr>
          <p:nvPr>
            <p:ph type="body" idx="1"/>
          </p:nvPr>
        </p:nvSpPr>
        <p:spPr/>
        <p:txBody>
          <a:bodyPr/>
          <a:p>
            <a:pPr>
              <a:lnSpc>
                <a:spcPct val="120000"/>
              </a:lnSpc>
            </a:pPr>
            <a:r>
              <a:rPr lang="zh-CN" altLang="en-US" dirty="0"/>
              <a:t>神经元模型</a:t>
            </a:r>
            <a:endParaRPr lang="zh-CN" altLang="en-US" dirty="0"/>
          </a:p>
          <a:p>
            <a:pPr>
              <a:lnSpc>
                <a:spcPct val="120000"/>
              </a:lnSpc>
            </a:pPr>
            <a:r>
              <a:rPr lang="zh-CN" altLang="en-US" dirty="0"/>
              <a:t>激活函数</a:t>
            </a:r>
            <a:endParaRPr lang="zh-CN" altLang="en-US" dirty="0"/>
          </a:p>
          <a:p>
            <a:pPr>
              <a:lnSpc>
                <a:spcPct val="120000"/>
              </a:lnSpc>
            </a:pPr>
            <a:r>
              <a:rPr lang="zh-CN" altLang="en-US" dirty="0">
                <a:sym typeface="+mn-ea"/>
              </a:rPr>
              <a:t>网络结构</a:t>
            </a:r>
            <a:endParaRPr lang="zh-CN" altLang="en-US" dirty="0"/>
          </a:p>
          <a:p>
            <a:pPr>
              <a:lnSpc>
                <a:spcPct val="120000"/>
              </a:lnSpc>
            </a:pPr>
            <a:r>
              <a:rPr lang="zh-CN" altLang="en-US" dirty="0"/>
              <a:t>工作状态</a:t>
            </a:r>
            <a:endParaRPr lang="zh-CN" altLang="en-US" dirty="0"/>
          </a:p>
          <a:p>
            <a:pPr>
              <a:lnSpc>
                <a:spcPct val="120000"/>
              </a:lnSpc>
            </a:pPr>
            <a:r>
              <a:rPr lang="zh-CN" altLang="en-US" dirty="0"/>
              <a:t>学习方式</a:t>
            </a: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3"/>
          <p:cNvSpPr>
            <a:spLocks noGrp="1"/>
          </p:cNvSpPr>
          <p:nvPr>
            <p:ph type="title"/>
          </p:nvPr>
        </p:nvSpPr>
        <p:spPr>
          <a:xfrm>
            <a:off x="-13970" y="-5080"/>
            <a:ext cx="7846060" cy="1011555"/>
          </a:xfrm>
        </p:spPr>
        <p:txBody>
          <a:bodyPr vert="horz" wrap="square" lIns="91440" tIns="45720" rIns="91440" bIns="45720" anchor="ctr"/>
          <a:p>
            <a:pPr algn="l" eaLnBrk="1" hangingPunct="1"/>
            <a:r>
              <a:rPr lang="zh-CN" altLang="en-US" sz="3600" dirty="0"/>
              <a:t>四、建立和应用神经网络的步骤</a:t>
            </a:r>
            <a:endParaRPr lang="zh-CN" altLang="en-US" sz="3600" dirty="0"/>
          </a:p>
        </p:txBody>
      </p:sp>
      <p:sp>
        <p:nvSpPr>
          <p:cNvPr id="15" name="Rectangle 3"/>
          <p:cNvSpPr txBox="1">
            <a:spLocks noChangeArrowheads="1"/>
          </p:cNvSpPr>
          <p:nvPr/>
        </p:nvSpPr>
        <p:spPr bwMode="auto">
          <a:xfrm>
            <a:off x="457200" y="1006475"/>
            <a:ext cx="8229600" cy="4435475"/>
          </a:xfrm>
          <a:prstGeom prst="rect">
            <a:avLst/>
          </a:prstGeom>
          <a:noFill/>
          <a:ln w="9525">
            <a:noFill/>
            <a:miter lim="800000"/>
          </a:ln>
          <a:effectLst/>
        </p:spPr>
        <p:txBody>
          <a:bodyPr/>
          <a:lstStyle/>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a:t>
            </a:r>
            <a:r>
              <a:rPr kumimoji="0" lang="en-US" altLang="zh-CN" sz="2200" b="0" kern="0" cap="none" spc="0" normalizeH="0" baseline="0" noProof="0" dirty="0">
                <a:latin typeface="+mn-lt"/>
                <a:ea typeface="宋体" panose="02010600030101010101" pitchFamily="2" charset="-122"/>
                <a:cs typeface="+mn-cs"/>
              </a:rPr>
              <a:t>1</a:t>
            </a:r>
            <a:r>
              <a:rPr kumimoji="0" lang="zh-CN" altLang="en-US" sz="2200" b="0" kern="0" cap="none" spc="0" normalizeH="0" baseline="0" noProof="0" dirty="0">
                <a:latin typeface="+mn-lt"/>
                <a:ea typeface="宋体" panose="02010600030101010101" pitchFamily="2" charset="-122"/>
                <a:cs typeface="+mn-cs"/>
              </a:rPr>
              <a:t>）网络结构的确定</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		包含网络的拓扑结构和每个神经元相应函数的选取；</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a:t>
            </a:r>
            <a:r>
              <a:rPr kumimoji="0" lang="en-US" altLang="zh-CN" sz="2200" b="0" kern="0" cap="none" spc="0" normalizeH="0" baseline="0" noProof="0" dirty="0">
                <a:latin typeface="+mn-lt"/>
                <a:ea typeface="宋体" panose="02010600030101010101" pitchFamily="2" charset="-122"/>
                <a:cs typeface="+mn-cs"/>
              </a:rPr>
              <a:t>2</a:t>
            </a:r>
            <a:r>
              <a:rPr kumimoji="0" lang="zh-CN" altLang="en-US" sz="2200" b="0" kern="0" cap="none" spc="0" normalizeH="0" baseline="0" noProof="0" dirty="0">
                <a:latin typeface="+mn-lt"/>
                <a:ea typeface="宋体" panose="02010600030101010101" pitchFamily="2" charset="-122"/>
                <a:cs typeface="+mn-cs"/>
              </a:rPr>
              <a:t>）权值和阈值的确定</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		通过学习得到，为有指导的学习，也就是利用已知的一组正确的输入、输出数据，调整权和阈值使得网络输出与理想输出偏差尽量小；</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a:t>
            </a:r>
            <a:r>
              <a:rPr kumimoji="0" lang="en-US" altLang="zh-CN" sz="2200" b="0" kern="0" cap="none" spc="0" normalizeH="0" baseline="0" noProof="0" dirty="0">
                <a:latin typeface="+mn-lt"/>
                <a:ea typeface="宋体" panose="02010600030101010101" pitchFamily="2" charset="-122"/>
                <a:cs typeface="+mn-cs"/>
              </a:rPr>
              <a:t>3</a:t>
            </a:r>
            <a:r>
              <a:rPr kumimoji="0" lang="zh-CN" altLang="en-US" sz="2200" b="0" kern="0" cap="none" spc="0" normalizeH="0" baseline="0" noProof="0" dirty="0">
                <a:latin typeface="+mn-lt"/>
                <a:ea typeface="宋体" panose="02010600030101010101" pitchFamily="2" charset="-122"/>
                <a:cs typeface="+mn-cs"/>
              </a:rPr>
              <a:t>）工作阶段</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150000"/>
              </a:lnSpc>
              <a:spcBef>
                <a:spcPct val="20000"/>
              </a:spcBef>
              <a:buClrTx/>
              <a:buSzTx/>
              <a:buFontTx/>
              <a:buNone/>
              <a:defRPr/>
            </a:pPr>
            <a:r>
              <a:rPr kumimoji="0" lang="zh-CN" altLang="en-US" sz="2200" b="0" kern="0" cap="none" spc="0" normalizeH="0" baseline="0" noProof="0" dirty="0">
                <a:latin typeface="+mn-lt"/>
                <a:ea typeface="宋体" panose="02010600030101010101" pitchFamily="2" charset="-122"/>
                <a:cs typeface="+mn-cs"/>
              </a:rPr>
              <a:t>		用带有确定权重和阈值的神经网络解决实际问题的过程，也叫模拟（</a:t>
            </a:r>
            <a:r>
              <a:rPr kumimoji="0" lang="en-US" altLang="zh-CN" sz="2200" b="0" kern="0" cap="none" spc="0" normalizeH="0" baseline="0" noProof="0" dirty="0">
                <a:latin typeface="+mn-lt"/>
                <a:ea typeface="宋体" panose="02010600030101010101" pitchFamily="2" charset="-122"/>
                <a:cs typeface="+mn-cs"/>
              </a:rPr>
              <a:t>simulate</a:t>
            </a:r>
            <a:r>
              <a:rPr kumimoji="0" lang="zh-CN" altLang="en-US" sz="2200" b="0" kern="0" cap="none" spc="0" normalizeH="0" baseline="0" noProof="0" dirty="0">
                <a:latin typeface="+mn-lt"/>
                <a:ea typeface="宋体" panose="02010600030101010101" pitchFamily="2" charset="-122"/>
                <a:cs typeface="+mn-cs"/>
              </a:rPr>
              <a:t>）。</a:t>
            </a:r>
            <a:endParaRPr kumimoji="0" lang="zh-CN" altLang="en-US" sz="2200" b="0" kern="0" cap="none" spc="0" normalizeH="0" baseline="0" noProof="0" dirty="0">
              <a:latin typeface="+mn-lt"/>
              <a:ea typeface="宋体" panose="02010600030101010101" pitchFamily="2" charset="-122"/>
              <a:cs typeface="+mn-cs"/>
            </a:endParaRPr>
          </a:p>
          <a:p>
            <a:pPr marL="342900" marR="0" indent="-342900" defTabSz="914400">
              <a:lnSpc>
                <a:spcPct val="80000"/>
              </a:lnSpc>
              <a:spcBef>
                <a:spcPct val="20000"/>
              </a:spcBef>
              <a:buClrTx/>
              <a:buSzTx/>
              <a:buFontTx/>
              <a:buNone/>
              <a:defRPr/>
            </a:pPr>
            <a:r>
              <a:rPr kumimoji="0" lang="zh-CN" altLang="en-US" sz="2400" kern="0" cap="none" spc="0" normalizeH="0" baseline="0" noProof="0" dirty="0">
                <a:latin typeface="+mn-lt"/>
                <a:ea typeface="宋体" panose="02010600030101010101" pitchFamily="2" charset="-122"/>
                <a:cs typeface="+mn-cs"/>
              </a:rPr>
              <a:t>	</a:t>
            </a:r>
            <a:endParaRPr kumimoji="0" lang="zh-CN" altLang="en-US" sz="2400" kern="0" cap="none" spc="0" normalizeH="0" baseline="0" noProof="0" dirty="0">
              <a:latin typeface="+mn-lt"/>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96257"/>
          <p:cNvSpPr>
            <a:spLocks noGrp="1"/>
          </p:cNvSpPr>
          <p:nvPr>
            <p:ph type="title"/>
          </p:nvPr>
        </p:nvSpPr>
        <p:spPr>
          <a:xfrm>
            <a:off x="237490" y="22860"/>
            <a:ext cx="6300788" cy="836613"/>
          </a:xfrm>
        </p:spPr>
        <p:txBody>
          <a:bodyPr anchor="ctr"/>
          <a:p>
            <a:pPr algn="l">
              <a:lnSpc>
                <a:spcPct val="120000"/>
              </a:lnSpc>
            </a:pPr>
            <a:r>
              <a:rPr lang="zh-CN" altLang="en-US" dirty="0"/>
              <a:t>神经元</a:t>
            </a:r>
            <a:endParaRPr lang="zh-CN" altLang="en-US" dirty="0"/>
          </a:p>
        </p:txBody>
      </p:sp>
      <p:sp>
        <p:nvSpPr>
          <p:cNvPr id="96260" name="矩形 96259"/>
          <p:cNvSpPr>
            <a:spLocks noRot="1"/>
          </p:cNvSpPr>
          <p:nvPr/>
        </p:nvSpPr>
        <p:spPr>
          <a:xfrm>
            <a:off x="755650" y="620713"/>
            <a:ext cx="8145463" cy="5715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Arial" panose="020B0604020202020204" pitchFamily="34" charset="0"/>
                <a:ea typeface="宋体" panose="02010600030101010101" pitchFamily="2" charset="-122"/>
              </a:defRPr>
            </a:lvl1pPr>
          </a:lstStyle>
          <a:p>
            <a:pPr lvl="0"/>
            <a:endParaRPr sz="3200" b="1" dirty="0">
              <a:solidFill>
                <a:schemeClr val="tx1"/>
              </a:solidFill>
            </a:endParaRPr>
          </a:p>
        </p:txBody>
      </p:sp>
      <p:sp>
        <p:nvSpPr>
          <p:cNvPr id="96261" name="矩形 96260"/>
          <p:cNvSpPr>
            <a:spLocks noRot="1"/>
          </p:cNvSpPr>
          <p:nvPr/>
        </p:nvSpPr>
        <p:spPr>
          <a:xfrm>
            <a:off x="527050" y="1075690"/>
            <a:ext cx="7772400" cy="9144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2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2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2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2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lgn="just"/>
            <a:r>
              <a:rPr lang="zh-CN" altLang="en-US" sz="2800" b="0" dirty="0"/>
              <a:t>大脑可视作为</a:t>
            </a:r>
            <a:r>
              <a:rPr lang="en-US" altLang="zh-CN" sz="2800" b="0" dirty="0"/>
              <a:t>1000</a:t>
            </a:r>
            <a:r>
              <a:rPr lang="zh-CN" altLang="en-US" sz="2800" b="0" dirty="0"/>
              <a:t>多亿神经元组成的神经网络</a:t>
            </a:r>
            <a:endParaRPr lang="zh-CN" altLang="en-US" sz="2800" b="0" dirty="0"/>
          </a:p>
          <a:p>
            <a:pPr lvl="0"/>
            <a:endParaRPr lang="zh-CN" altLang="en-US" sz="2800" b="0"/>
          </a:p>
        </p:txBody>
      </p:sp>
      <p:sp>
        <p:nvSpPr>
          <p:cNvPr id="96262" name="矩形 96261"/>
          <p:cNvSpPr/>
          <p:nvPr/>
        </p:nvSpPr>
        <p:spPr>
          <a:xfrm>
            <a:off x="1962150" y="2314575"/>
            <a:ext cx="9144000" cy="0"/>
          </a:xfrm>
          <a:prstGeom prst="rect">
            <a:avLst/>
          </a:prstGeom>
          <a:noFill/>
          <a:ln w="9525">
            <a:noFill/>
          </a:ln>
        </p:spPr>
        <p:txBody>
          <a:bodyPr/>
          <a:p>
            <a:endParaRPr lang="zh-CN" altLang="en-US"/>
          </a:p>
        </p:txBody>
      </p:sp>
      <p:grpSp>
        <p:nvGrpSpPr>
          <p:cNvPr id="96263" name="组合 96262"/>
          <p:cNvGrpSpPr/>
          <p:nvPr/>
        </p:nvGrpSpPr>
        <p:grpSpPr>
          <a:xfrm>
            <a:off x="1487805" y="1820545"/>
            <a:ext cx="5219700" cy="3054350"/>
            <a:chOff x="930" y="1706"/>
            <a:chExt cx="3288" cy="1924"/>
          </a:xfrm>
        </p:grpSpPr>
        <p:sp>
          <p:nvSpPr>
            <p:cNvPr id="96264" name="矩形 96263"/>
            <p:cNvSpPr/>
            <p:nvPr/>
          </p:nvSpPr>
          <p:spPr>
            <a:xfrm>
              <a:off x="1438" y="3294"/>
              <a:ext cx="2304" cy="336"/>
            </a:xfrm>
            <a:prstGeom prst="rect">
              <a:avLst/>
            </a:prstGeom>
            <a:noFill/>
            <a:ln w="9525">
              <a:noFill/>
            </a:ln>
          </p:spPr>
          <p:txBody>
            <a:bodyPr/>
            <a:p>
              <a:pPr marL="342900" indent="-342900" algn="just">
                <a:spcBef>
                  <a:spcPct val="20000"/>
                </a:spcBef>
                <a:buClr>
                  <a:schemeClr val="bg1"/>
                </a:buClr>
                <a:buChar char="•"/>
              </a:pPr>
              <a:r>
                <a:rPr lang="en-US" altLang="zh-CN" sz="2400" b="0" dirty="0">
                  <a:latin typeface="Times New Roman" panose="02020603050405020304" pitchFamily="18" charset="0"/>
                </a:rPr>
                <a:t> </a:t>
              </a:r>
              <a:r>
                <a:rPr lang="zh-CN" altLang="en-US" sz="2400" b="0" dirty="0">
                  <a:latin typeface="Times New Roman" panose="02020603050405020304" pitchFamily="18" charset="0"/>
                </a:rPr>
                <a:t>图</a:t>
              </a:r>
              <a:r>
                <a:rPr lang="en-US" altLang="zh-CN" sz="2400" b="0" dirty="0">
                  <a:latin typeface="Times New Roman" panose="02020603050405020304" pitchFamily="18" charset="0"/>
                </a:rPr>
                <a:t>1  </a:t>
              </a:r>
              <a:r>
                <a:rPr lang="zh-CN" altLang="en-US" sz="2400" b="0" dirty="0">
                  <a:latin typeface="Times New Roman" panose="02020603050405020304" pitchFamily="18" charset="0"/>
                </a:rPr>
                <a:t>神经元的解剖图</a:t>
              </a:r>
              <a:endParaRPr lang="zh-CN" altLang="en-US" sz="2400" b="0" dirty="0">
                <a:latin typeface="Times New Roman" panose="02020603050405020304" pitchFamily="18" charset="0"/>
              </a:endParaRPr>
            </a:p>
          </p:txBody>
        </p:sp>
        <p:pic>
          <p:nvPicPr>
            <p:cNvPr id="96265" name="图片 96264"/>
            <p:cNvPicPr>
              <a:picLocks noChangeAspect="1"/>
            </p:cNvPicPr>
            <p:nvPr/>
          </p:nvPicPr>
          <p:blipFill>
            <a:blip r:embed="rId1">
              <a:clrChange>
                <a:clrFrom>
                  <a:srgbClr val="FFFFFF"/>
                </a:clrFrom>
                <a:clrTo>
                  <a:srgbClr val="FFFFFF">
                    <a:alpha val="0"/>
                  </a:srgbClr>
                </a:clrTo>
              </a:clrChange>
            </a:blip>
            <a:stretch>
              <a:fillRect/>
            </a:stretch>
          </p:blipFill>
          <p:spPr>
            <a:xfrm>
              <a:off x="930" y="1706"/>
              <a:ext cx="3288" cy="1404"/>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nodePh="1">
                                  <p:stCondLst>
                                    <p:cond delay="0"/>
                                  </p:stCondLst>
                                  <p:endCondLst>
                                    <p:cond evt="begin" delay="0">
                                      <p:tn val="5"/>
                                    </p:cond>
                                  </p:endCondLst>
                                  <p:childTnLst>
                                    <p:set>
                                      <p:cBhvr>
                                        <p:cTn id="6" dur="1" fill="hold">
                                          <p:stCondLst>
                                            <p:cond delay="0"/>
                                          </p:stCondLst>
                                        </p:cTn>
                                        <p:tgtEl>
                                          <p:spTgt spid="96260"/>
                                        </p:tgtEl>
                                        <p:attrNameLst>
                                          <p:attrName>style.visibility</p:attrName>
                                        </p:attrNameLst>
                                      </p:cBhvr>
                                      <p:to>
                                        <p:strVal val="visible"/>
                                      </p:to>
                                    </p:set>
                                    <p:anim calcmode="lin" valueType="num">
                                      <p:cBhvr>
                                        <p:cTn id="7" dur="500" fill="hold"/>
                                        <p:tgtEl>
                                          <p:spTgt spid="96260"/>
                                        </p:tgtEl>
                                        <p:attrNameLst>
                                          <p:attrName>ppt_w</p:attrName>
                                        </p:attrNameLst>
                                      </p:cBhvr>
                                      <p:tavLst>
                                        <p:tav tm="0">
                                          <p:val>
                                            <p:fltVal val="0.000000"/>
                                          </p:val>
                                        </p:tav>
                                        <p:tav tm="100000">
                                          <p:val>
                                            <p:strVal val="#ppt_w"/>
                                          </p:val>
                                        </p:tav>
                                      </p:tavLst>
                                    </p:anim>
                                    <p:anim calcmode="lin" valueType="num">
                                      <p:cBhvr>
                                        <p:cTn id="8" dur="500" fill="hold"/>
                                        <p:tgtEl>
                                          <p:spTgt spid="9626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9" presetClass="entr" presetSubtype="0" fill="hold" nodeType="clickEffect">
                                  <p:stCondLst>
                                    <p:cond delay="0"/>
                                  </p:stCondLst>
                                  <p:childTnLst>
                                    <p:set>
                                      <p:cBhvr>
                                        <p:cTn id="12" dur="1" fill="hold">
                                          <p:stCondLst>
                                            <p:cond delay="0"/>
                                          </p:stCondLst>
                                        </p:cTn>
                                        <p:tgtEl>
                                          <p:spTgt spid="96261">
                                            <p:txEl>
                                              <p:charRg st="0" end="23"/>
                                            </p:txEl>
                                          </p:spTgt>
                                        </p:tgtEl>
                                        <p:attrNameLst>
                                          <p:attrName>style.visibility</p:attrName>
                                        </p:attrNameLst>
                                      </p:cBhvr>
                                      <p:to>
                                        <p:strVal val="visible"/>
                                      </p:to>
                                    </p:set>
                                    <p:anim calcmode="lin" valueType="num">
                                      <p:cBhvr>
                                        <p:cTn id="13" dur="1000" fill="hold"/>
                                        <p:tgtEl>
                                          <p:spTgt spid="96261">
                                            <p:txEl>
                                              <p:charRg st="0" end="23"/>
                                            </p:txEl>
                                          </p:spTgt>
                                        </p:tgtEl>
                                        <p:attrNameLst>
                                          <p:attrName>ppt_x</p:attrName>
                                        </p:attrNameLst>
                                      </p:cBhvr>
                                      <p:tavLst>
                                        <p:tav tm="0">
                                          <p:val>
                                            <p:strVal val="#ppt_x-.2"/>
                                          </p:val>
                                        </p:tav>
                                        <p:tav tm="100000">
                                          <p:val>
                                            <p:strVal val="#ppt_x"/>
                                          </p:val>
                                        </p:tav>
                                      </p:tavLst>
                                    </p:anim>
                                    <p:anim calcmode="lin" valueType="num">
                                      <p:cBhvr>
                                        <p:cTn id="14" dur="1000" fill="hold"/>
                                        <p:tgtEl>
                                          <p:spTgt spid="96261">
                                            <p:txEl>
                                              <p:charRg st="0" end="23"/>
                                            </p:txEl>
                                          </p:spTgt>
                                        </p:tgtEl>
                                        <p:attrNameLst>
                                          <p:attrName>ppt_y</p:attrName>
                                        </p:attrNameLst>
                                      </p:cBhvr>
                                      <p:tavLst>
                                        <p:tav tm="0">
                                          <p:val>
                                            <p:strVal val="#ppt_y"/>
                                          </p:val>
                                        </p:tav>
                                        <p:tav tm="100000">
                                          <p:val>
                                            <p:strVal val="#ppt_y"/>
                                          </p:val>
                                        </p:tav>
                                      </p:tavLst>
                                    </p:anim>
                                    <p:animEffect transition="in" filter="wipe(right)" prLst="gradientSize: 0.1">
                                      <p:cBhvr>
                                        <p:cTn id="15" dur="1000"/>
                                        <p:tgtEl>
                                          <p:spTgt spid="96261">
                                            <p:txEl>
                                              <p:charRg st="0" end="2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6263"/>
                                        </p:tgtEl>
                                        <p:attrNameLst>
                                          <p:attrName>style.visibility</p:attrName>
                                        </p:attrNameLst>
                                      </p:cBhvr>
                                      <p:to>
                                        <p:strVal val="visible"/>
                                      </p:to>
                                    </p:set>
                                    <p:animEffect transition="in" filter="fade">
                                      <p:cBhvr>
                                        <p:cTn id="20" dur="1000"/>
                                        <p:tgtEl>
                                          <p:spTgt spid="96263"/>
                                        </p:tgtEl>
                                      </p:cBhvr>
                                    </p:animEffect>
                                    <p:anim calcmode="lin" valueType="num">
                                      <p:cBhvr>
                                        <p:cTn id="21" dur="1000" fill="hold"/>
                                        <p:tgtEl>
                                          <p:spTgt spid="96263"/>
                                        </p:tgtEl>
                                        <p:attrNameLst>
                                          <p:attrName>ppt_x</p:attrName>
                                        </p:attrNameLst>
                                      </p:cBhvr>
                                      <p:tavLst>
                                        <p:tav tm="0">
                                          <p:val>
                                            <p:strVal val="#ppt_x"/>
                                          </p:val>
                                        </p:tav>
                                        <p:tav tm="100000">
                                          <p:val>
                                            <p:strVal val="#ppt_x"/>
                                          </p:val>
                                        </p:tav>
                                      </p:tavLst>
                                    </p:anim>
                                    <p:anim calcmode="lin" valueType="num">
                                      <p:cBhvr>
                                        <p:cTn id="22" dur="1000" fill="hold"/>
                                        <p:tgtEl>
                                          <p:spTgt spid="962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97281"/>
          <p:cNvSpPr>
            <a:spLocks noGrp="1"/>
          </p:cNvSpPr>
          <p:nvPr>
            <p:ph type="title"/>
          </p:nvPr>
        </p:nvSpPr>
        <p:spPr>
          <a:xfrm>
            <a:off x="197485" y="20955"/>
            <a:ext cx="6300788" cy="836613"/>
          </a:xfrm>
        </p:spPr>
        <p:txBody>
          <a:bodyPr anchor="ctr"/>
          <a:p>
            <a:pPr algn="l">
              <a:lnSpc>
                <a:spcPct val="120000"/>
              </a:lnSpc>
            </a:pPr>
            <a:r>
              <a:rPr lang="zh-CN" altLang="en-US" dirty="0"/>
              <a:t>神经元</a:t>
            </a:r>
            <a:endParaRPr lang="zh-CN" altLang="en-US" dirty="0"/>
          </a:p>
        </p:txBody>
      </p:sp>
      <p:pic>
        <p:nvPicPr>
          <p:cNvPr id="97284" name="文本占位符 97283"/>
          <p:cNvPicPr>
            <a:picLocks noChangeAspect="1"/>
          </p:cNvPicPr>
          <p:nvPr>
            <p:ph type="body" idx="1"/>
          </p:nvPr>
        </p:nvPicPr>
        <p:blipFill>
          <a:blip r:embed="rId1"/>
          <a:srcRect b="19051"/>
          <a:stretch>
            <a:fillRect/>
          </a:stretch>
        </p:blipFill>
        <p:spPr>
          <a:xfrm>
            <a:off x="395288" y="1989138"/>
            <a:ext cx="7993062" cy="242411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2245" y="11430"/>
            <a:ext cx="8229600" cy="847090"/>
          </a:xfrm>
        </p:spPr>
        <p:txBody>
          <a:bodyPr/>
          <a:p>
            <a:pPr algn="l"/>
            <a:r>
              <a:rPr lang="zh-CN" altLang="en-US" dirty="0">
                <a:sym typeface="+mn-ea"/>
              </a:rPr>
              <a:t>神经元信息传递</a:t>
            </a:r>
            <a:endParaRPr lang="zh-CN" altLang="en-US"/>
          </a:p>
        </p:txBody>
      </p:sp>
      <p:sp>
        <p:nvSpPr>
          <p:cNvPr id="3" name="内容占位符 2"/>
          <p:cNvSpPr>
            <a:spLocks noGrp="1"/>
          </p:cNvSpPr>
          <p:nvPr>
            <p:ph idx="1"/>
          </p:nvPr>
        </p:nvSpPr>
        <p:spPr>
          <a:xfrm>
            <a:off x="380365" y="1078230"/>
            <a:ext cx="8229600" cy="4525963"/>
          </a:xfrm>
        </p:spPr>
        <p:txBody>
          <a:bodyPr/>
          <a:p>
            <a:pPr>
              <a:lnSpc>
                <a:spcPct val="150000"/>
              </a:lnSpc>
            </a:pPr>
            <a:r>
              <a:rPr lang="zh-CN" altLang="en-US" sz="2700" dirty="0">
                <a:latin typeface="宋体" panose="02010600030101010101" pitchFamily="2" charset="-122"/>
                <a:sym typeface="+mn-ea"/>
              </a:rPr>
              <a:t>神经元的信息传递和处理是一种电化学活动．树突由于电化学作用接受外界</a:t>
            </a:r>
            <a:r>
              <a:rPr lang="zh-CN" altLang="en-US" sz="2700" dirty="0">
                <a:sym typeface="+mn-ea"/>
              </a:rPr>
              <a:t>的刺激；通过胞体内的活动体现为轴突电位，当</a:t>
            </a:r>
            <a:r>
              <a:rPr lang="zh-CN" altLang="en-US" sz="2700" dirty="0">
                <a:solidFill>
                  <a:srgbClr val="0000FF"/>
                </a:solidFill>
                <a:ea typeface="楷体_GB2312" pitchFamily="49" charset="-122"/>
                <a:sym typeface="+mn-ea"/>
              </a:rPr>
              <a:t>轴突电位</a:t>
            </a:r>
            <a:r>
              <a:rPr lang="zh-CN" altLang="en-US" sz="2700" dirty="0">
                <a:sym typeface="+mn-ea"/>
              </a:rPr>
              <a:t>达到</a:t>
            </a:r>
            <a:r>
              <a:rPr lang="zh-CN" altLang="en-US" sz="2700" dirty="0">
                <a:solidFill>
                  <a:srgbClr val="0000FF"/>
                </a:solidFill>
                <a:sym typeface="+mn-ea"/>
              </a:rPr>
              <a:t>一定的值</a:t>
            </a:r>
            <a:r>
              <a:rPr lang="zh-CN" altLang="en-US" sz="2700" dirty="0">
                <a:sym typeface="+mn-ea"/>
              </a:rPr>
              <a:t>则形成神经脉冲或动作电位；再通过轴突末梢传递给其它的神经元．从控制论的观点来看；这一过程可以看作一个</a:t>
            </a:r>
            <a:r>
              <a:rPr lang="zh-CN" altLang="en-US" sz="2700" dirty="0">
                <a:solidFill>
                  <a:srgbClr val="FF0000"/>
                </a:solidFill>
                <a:sym typeface="+mn-ea"/>
              </a:rPr>
              <a:t>多输入单输出</a:t>
            </a:r>
            <a:r>
              <a:rPr lang="zh-CN" altLang="en-US" sz="2700" dirty="0">
                <a:sym typeface="+mn-ea"/>
              </a:rPr>
              <a:t>非线性系统的动态过程。</a:t>
            </a:r>
            <a:endParaRPr lang="zh-CN" altLang="en-US" sz="2700" dirty="0"/>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人工神经元的模型</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1064925"/>
            <a:ext cx="9144000" cy="792088"/>
          </a:xfrm>
        </p:spPr>
        <p:txBody>
          <a:bodyPr/>
          <a:lstStyle/>
          <a:p>
            <a:r>
              <a:rPr lang="zh-CN" altLang="en-US" dirty="0" smtClean="0">
                <a:latin typeface="楷体" panose="02010609060101010101" pitchFamily="49" charset="-122"/>
                <a:ea typeface="楷体" panose="02010609060101010101" pitchFamily="49" charset="-122"/>
              </a:rPr>
              <a:t>作为神经网络的基本元素，神经元的</a:t>
            </a:r>
            <a:r>
              <a:rPr lang="zh-CN" altLang="en-US" dirty="0">
                <a:latin typeface="楷体" panose="02010609060101010101" pitchFamily="49" charset="-122"/>
                <a:ea typeface="楷体" panose="02010609060101010101" pitchFamily="49" charset="-122"/>
              </a:rPr>
              <a:t>模型</a:t>
            </a:r>
            <a:r>
              <a:rPr lang="zh-CN" altLang="en-US" dirty="0" smtClean="0">
                <a:latin typeface="楷体" panose="02010609060101010101" pitchFamily="49" charset="-122"/>
                <a:ea typeface="楷体" panose="02010609060101010101" pitchFamily="49" charset="-122"/>
              </a:rPr>
              <a:t>如下：</a:t>
            </a:r>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3074" name="Picture 2" descr="C:\Users\jim\AppData\Local\youdao\ynote\images\A515A7B9B00341CDBF0730F16D79A050\2011030722245562.jpg.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7850" y="2000250"/>
            <a:ext cx="4856480" cy="365252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5652120" y="2000357"/>
            <a:ext cx="3312368" cy="3785652"/>
          </a:xfrm>
          <a:prstGeom prst="rect">
            <a:avLst/>
          </a:prstGeom>
        </p:spPr>
        <p:txBody>
          <a:bodyPr wrap="square">
            <a:spAutoFit/>
          </a:bodyPr>
          <a:lstStyle/>
          <a:p>
            <a:pPr marL="285750" indent="-285750">
              <a:buFont typeface="Arial" panose="020B0604020202020204" pitchFamily="34" charset="0"/>
              <a:buChar char="•"/>
            </a:pPr>
            <a:r>
              <a:rPr lang="en-US" altLang="zh-CN" sz="2400" b="1" kern="0" dirty="0"/>
              <a:t>x1~xn</a:t>
            </a:r>
            <a:r>
              <a:rPr lang="zh-CN" altLang="en-US" sz="2400" b="1" kern="0" dirty="0"/>
              <a:t>是从其他神经元传来的</a:t>
            </a:r>
            <a:r>
              <a:rPr lang="zh-CN" altLang="en-US" sz="2400" b="1" kern="0" dirty="0" smtClean="0"/>
              <a:t>输入信号</a:t>
            </a:r>
            <a:endParaRPr lang="en-US" altLang="zh-CN" sz="2400" b="1" kern="0" dirty="0" smtClean="0"/>
          </a:p>
          <a:p>
            <a:pPr marL="285750" indent="-285750">
              <a:buFont typeface="Arial" panose="020B0604020202020204" pitchFamily="34" charset="0"/>
              <a:buChar char="•"/>
            </a:pPr>
            <a:endParaRPr lang="en-US" altLang="zh-CN" sz="2400" b="1" kern="0" dirty="0" smtClean="0"/>
          </a:p>
          <a:p>
            <a:pPr marL="285750" indent="-285750">
              <a:buFont typeface="Arial" panose="020B0604020202020204" pitchFamily="34" charset="0"/>
              <a:buChar char="•"/>
            </a:pPr>
            <a:r>
              <a:rPr lang="en-US" altLang="zh-CN" sz="2400" b="1" kern="0" dirty="0" err="1" smtClean="0"/>
              <a:t>wij</a:t>
            </a:r>
            <a:r>
              <a:rPr lang="zh-CN" altLang="en-US" sz="2400" b="1" kern="0" dirty="0"/>
              <a:t>表示表示从神经元</a:t>
            </a:r>
            <a:r>
              <a:rPr lang="en-US" altLang="zh-CN" sz="2400" b="1" kern="0" dirty="0"/>
              <a:t>j</a:t>
            </a:r>
            <a:r>
              <a:rPr lang="zh-CN" altLang="en-US" sz="2400" b="1" kern="0" dirty="0"/>
              <a:t>到神经元</a:t>
            </a:r>
            <a:r>
              <a:rPr lang="en-US" altLang="zh-CN" sz="2400" b="1" kern="0" dirty="0" err="1"/>
              <a:t>i</a:t>
            </a:r>
            <a:r>
              <a:rPr lang="zh-CN" altLang="en-US" sz="2400" b="1" kern="0" dirty="0"/>
              <a:t>的连接权</a:t>
            </a:r>
            <a:r>
              <a:rPr lang="zh-CN" altLang="en-US" sz="2400" b="1" kern="0" dirty="0" smtClean="0"/>
              <a:t>值</a:t>
            </a:r>
            <a:endParaRPr lang="en-US" altLang="zh-CN" sz="2400" b="1" kern="0" dirty="0" smtClean="0"/>
          </a:p>
          <a:p>
            <a:pPr marL="285750" indent="-285750">
              <a:buFont typeface="Arial" panose="020B0604020202020204" pitchFamily="34" charset="0"/>
              <a:buChar char="•"/>
            </a:pPr>
            <a:endParaRPr lang="en-US" altLang="zh-CN" sz="2400" b="1" kern="0" dirty="0" smtClean="0"/>
          </a:p>
          <a:p>
            <a:pPr marL="285750" indent="-285750">
              <a:buFont typeface="Arial" panose="020B0604020202020204" pitchFamily="34" charset="0"/>
              <a:buChar char="•"/>
            </a:pPr>
            <a:r>
              <a:rPr lang="en-US" altLang="zh-CN" sz="2400" b="1" kern="0" dirty="0" smtClean="0"/>
              <a:t>θ</a:t>
            </a:r>
            <a:r>
              <a:rPr lang="zh-CN" altLang="en-US" sz="2400" b="1" kern="0" dirty="0"/>
              <a:t>表示一个阈值 </a:t>
            </a:r>
            <a:r>
              <a:rPr lang="en-US" altLang="zh-CN" sz="2400" b="1" kern="0" dirty="0"/>
              <a:t>( threshold )</a:t>
            </a:r>
            <a:r>
              <a:rPr lang="zh-CN" altLang="en-US" sz="2400" b="1" kern="0" dirty="0"/>
              <a:t>，或称为偏置</a:t>
            </a:r>
            <a:r>
              <a:rPr lang="en-US" altLang="zh-CN" sz="2400" b="1" kern="0" dirty="0"/>
              <a:t>( bias )</a:t>
            </a:r>
            <a:r>
              <a:rPr lang="zh-CN" altLang="en-US" sz="2400" b="1" kern="0" dirty="0"/>
              <a:t>。</a:t>
            </a:r>
            <a:endParaRPr lang="zh-CN" altLang="en-US" sz="2400" b="1" kern="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人工神经元的模型</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3311202"/>
            <a:ext cx="9144000" cy="792088"/>
          </a:xfrm>
        </p:spPr>
        <p:txBody>
          <a:bodyPr/>
          <a:lstStyle/>
          <a:p>
            <a:r>
              <a:rPr lang="zh-CN" altLang="en-US" dirty="0" smtClean="0">
                <a:latin typeface="楷体" panose="02010609060101010101" pitchFamily="49" charset="-122"/>
                <a:ea typeface="楷体" panose="02010609060101010101" pitchFamily="49" charset="-122"/>
              </a:rPr>
              <a:t>若用</a:t>
            </a:r>
            <a:r>
              <a:rPr lang="en-US" altLang="zh-CN" dirty="0" smtClean="0">
                <a:latin typeface="楷体" panose="02010609060101010101" pitchFamily="49" charset="-122"/>
                <a:ea typeface="楷体" panose="02010609060101010101" pitchFamily="49" charset="-122"/>
              </a:rPr>
              <a:t>X</a:t>
            </a:r>
            <a:r>
              <a:rPr lang="zh-CN" altLang="en-US" dirty="0" smtClean="0">
                <a:latin typeface="楷体" panose="02010609060101010101" pitchFamily="49" charset="-122"/>
                <a:ea typeface="楷体" panose="02010609060101010101" pitchFamily="49" charset="-122"/>
              </a:rPr>
              <a:t>表示输入向量，用</a:t>
            </a:r>
            <a:r>
              <a:rPr lang="en-US" altLang="zh-CN" dirty="0" smtClean="0">
                <a:latin typeface="楷体" panose="02010609060101010101" pitchFamily="49" charset="-122"/>
                <a:ea typeface="楷体" panose="02010609060101010101" pitchFamily="49" charset="-122"/>
              </a:rPr>
              <a:t>W</a:t>
            </a:r>
            <a:r>
              <a:rPr lang="zh-CN" altLang="en-US" dirty="0" smtClean="0">
                <a:latin typeface="楷体" panose="02010609060101010101" pitchFamily="49" charset="-122"/>
                <a:ea typeface="楷体" panose="02010609060101010101" pitchFamily="49" charset="-122"/>
              </a:rPr>
              <a:t>表示权重向量：</a:t>
            </a:r>
            <a:endParaRPr lang="en-US" altLang="zh-CN" dirty="0" smtClean="0">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则</a:t>
            </a:r>
            <a:endParaRPr lang="zh-CN" altLang="en-US" dirty="0">
              <a:latin typeface="楷体" panose="02010609060101010101" pitchFamily="49" charset="-122"/>
              <a:ea typeface="楷体" panose="02010609060101010101" pitchFamily="49" charset="-122"/>
            </a:endParaRPr>
          </a:p>
        </p:txBody>
      </p:sp>
      <p:graphicFrame>
        <p:nvGraphicFramePr>
          <p:cNvPr id="4" name="对象 3"/>
          <p:cNvGraphicFramePr>
            <a:graphicFrameLocks noChangeAspect="1"/>
          </p:cNvGraphicFramePr>
          <p:nvPr/>
        </p:nvGraphicFramePr>
        <p:xfrm>
          <a:off x="611560" y="4031282"/>
          <a:ext cx="6091238" cy="509587"/>
        </p:xfrm>
        <a:graphic>
          <a:graphicData uri="http://schemas.openxmlformats.org/presentationml/2006/ole">
            <mc:AlternateContent xmlns:mc="http://schemas.openxmlformats.org/markup-compatibility/2006">
              <mc:Choice xmlns:v="urn:schemas-microsoft-com:vml" Requires="v">
                <p:oleObj spid="_x0000_s5328" name="Equation" r:id="rId1" imgW="58216800" imgH="4876800" progId="Equation.DSMT4">
                  <p:embed/>
                </p:oleObj>
              </mc:Choice>
              <mc:Fallback>
                <p:oleObj name="Equation" r:id="rId1" imgW="58216800" imgH="4876800" progId="Equation.DSMT4">
                  <p:embed/>
                  <p:pic>
                    <p:nvPicPr>
                      <p:cNvPr id="0" name="图片 5327"/>
                      <p:cNvPicPr/>
                      <p:nvPr/>
                    </p:nvPicPr>
                    <p:blipFill>
                      <a:blip r:embed="rId2"/>
                      <a:stretch>
                        <a:fillRect/>
                      </a:stretch>
                    </p:blipFill>
                    <p:spPr>
                      <a:xfrm>
                        <a:off x="611560" y="4031282"/>
                        <a:ext cx="6091238" cy="509587"/>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914799" y="5065295"/>
          <a:ext cx="1690687" cy="477837"/>
        </p:xfrm>
        <a:graphic>
          <a:graphicData uri="http://schemas.openxmlformats.org/presentationml/2006/ole">
            <mc:AlternateContent xmlns:mc="http://schemas.openxmlformats.org/markup-compatibility/2006">
              <mc:Choice xmlns:v="urn:schemas-microsoft-com:vml" Requires="v">
                <p:oleObj spid="_x0000_s5329" name="Equation" r:id="rId3" imgW="16154400" imgH="4572000" progId="Equation.DSMT4">
                  <p:embed/>
                </p:oleObj>
              </mc:Choice>
              <mc:Fallback>
                <p:oleObj name="Equation" r:id="rId3" imgW="16154400" imgH="4572000" progId="Equation.DSMT4">
                  <p:embed/>
                  <p:pic>
                    <p:nvPicPr>
                      <p:cNvPr id="0" name="图片 5328"/>
                      <p:cNvPicPr>
                        <a:picLocks noChangeAspect="1" noChangeArrowheads="1"/>
                      </p:cNvPicPr>
                      <p:nvPr/>
                    </p:nvPicPr>
                    <p:blipFill>
                      <a:blip r:embed="rId4"/>
                      <a:srcRect/>
                      <a:stretch>
                        <a:fillRect/>
                      </a:stretch>
                    </p:blipFill>
                    <p:spPr bwMode="auto">
                      <a:xfrm>
                        <a:off x="2914799" y="5065295"/>
                        <a:ext cx="16906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066468" y="5065548"/>
          <a:ext cx="1468438" cy="477838"/>
        </p:xfrm>
        <a:graphic>
          <a:graphicData uri="http://schemas.openxmlformats.org/presentationml/2006/ole">
            <mc:AlternateContent xmlns:mc="http://schemas.openxmlformats.org/markup-compatibility/2006">
              <mc:Choice xmlns:v="urn:schemas-microsoft-com:vml" Requires="v">
                <p:oleObj spid="_x0000_s5330" name="Equation" r:id="rId5" imgW="14020800" imgH="4572000" progId="Equation.DSMT4">
                  <p:embed/>
                </p:oleObj>
              </mc:Choice>
              <mc:Fallback>
                <p:oleObj name="Equation" r:id="rId5" imgW="14020800" imgH="4572000" progId="Equation.DSMT4">
                  <p:embed/>
                  <p:pic>
                    <p:nvPicPr>
                      <p:cNvPr id="0" name="对象 4"/>
                      <p:cNvPicPr>
                        <a:picLocks noChangeAspect="1" noChangeArrowheads="1"/>
                      </p:cNvPicPr>
                      <p:nvPr/>
                    </p:nvPicPr>
                    <p:blipFill>
                      <a:blip r:embed="rId6"/>
                      <a:srcRect/>
                      <a:stretch>
                        <a:fillRect/>
                      </a:stretch>
                    </p:blipFill>
                    <p:spPr bwMode="auto">
                      <a:xfrm>
                        <a:off x="1066468" y="5065548"/>
                        <a:ext cx="146843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935990" y="1473258"/>
          <a:ext cx="3668713" cy="957263"/>
        </p:xfrm>
        <a:graphic>
          <a:graphicData uri="http://schemas.openxmlformats.org/presentationml/2006/ole">
            <mc:AlternateContent xmlns:mc="http://schemas.openxmlformats.org/markup-compatibility/2006">
              <mc:Choice xmlns:v="urn:schemas-microsoft-com:vml" Requires="v">
                <p:oleObj spid="_x0000_s5331" name="Equation" r:id="rId7" imgW="1459865" imgH="381000" progId="Equation.DSMT4">
                  <p:embed/>
                </p:oleObj>
              </mc:Choice>
              <mc:Fallback>
                <p:oleObj name="Equation" r:id="rId7" imgW="1459865" imgH="381000" progId="Equation.DSMT4">
                  <p:embed/>
                  <p:pic>
                    <p:nvPicPr>
                      <p:cNvPr id="0" name="对象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990" y="1473258"/>
                        <a:ext cx="3668713"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971600" y="2630540"/>
          <a:ext cx="1658937" cy="477838"/>
        </p:xfrm>
        <a:graphic>
          <a:graphicData uri="http://schemas.openxmlformats.org/presentationml/2006/ole">
            <mc:AlternateContent xmlns:mc="http://schemas.openxmlformats.org/markup-compatibility/2006">
              <mc:Choice xmlns:v="urn:schemas-microsoft-com:vml" Requires="v">
                <p:oleObj spid="_x0000_s5332" name="Equation" r:id="rId9" imgW="660400" imgH="190500" progId="Equation.DSMT4">
                  <p:embed/>
                </p:oleObj>
              </mc:Choice>
              <mc:Fallback>
                <p:oleObj name="Equation" r:id="rId9" imgW="660400" imgH="190500" progId="Equation.DSMT4">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600" y="2630540"/>
                        <a:ext cx="1658937"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占位符 2"/>
          <p:cNvSpPr txBox="1"/>
          <p:nvPr/>
        </p:nvSpPr>
        <p:spPr bwMode="auto">
          <a:xfrm>
            <a:off x="32703" y="912483"/>
            <a:ext cx="9144000"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r>
              <a:rPr lang="zh-CN" altLang="en-US" kern="0" dirty="0" smtClean="0">
                <a:latin typeface="楷体" panose="02010609060101010101" pitchFamily="49" charset="-122"/>
                <a:ea typeface="楷体" panose="02010609060101010101" pitchFamily="49" charset="-122"/>
              </a:rPr>
              <a:t>神经元的输出与输入的关系为：</a:t>
            </a:r>
            <a:endParaRPr lang="en-US" altLang="zh-CN" kern="0" dirty="0" smtClean="0">
              <a:latin typeface="楷体" panose="02010609060101010101" pitchFamily="49" charset="-122"/>
              <a:ea typeface="楷体" panose="02010609060101010101" pitchFamily="49" charset="-122"/>
            </a:endParaRPr>
          </a:p>
        </p:txBody>
      </p:sp>
      <p:sp>
        <p:nvSpPr>
          <p:cNvPr id="12" name="文本占位符 2"/>
          <p:cNvSpPr txBox="1"/>
          <p:nvPr/>
        </p:nvSpPr>
        <p:spPr bwMode="auto">
          <a:xfrm>
            <a:off x="4788024" y="1576579"/>
            <a:ext cx="2267744"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r>
              <a:rPr lang="zh-CN" altLang="en-US" kern="0" dirty="0" smtClean="0">
                <a:latin typeface="楷体" panose="02010609060101010101" pitchFamily="49" charset="-122"/>
                <a:ea typeface="楷体" panose="02010609060101010101" pitchFamily="49" charset="-122"/>
              </a:rPr>
              <a:t>净激活量</a:t>
            </a:r>
            <a:endParaRPr lang="en-US" altLang="zh-CN" kern="0" dirty="0" smtClean="0">
              <a:latin typeface="楷体" panose="02010609060101010101" pitchFamily="49" charset="-122"/>
              <a:ea typeface="楷体" panose="02010609060101010101" pitchFamily="49" charset="-122"/>
            </a:endParaRPr>
          </a:p>
        </p:txBody>
      </p:sp>
      <p:sp>
        <p:nvSpPr>
          <p:cNvPr id="13" name="文本占位符 2"/>
          <p:cNvSpPr txBox="1"/>
          <p:nvPr/>
        </p:nvSpPr>
        <p:spPr bwMode="auto">
          <a:xfrm>
            <a:off x="4788024" y="2460306"/>
            <a:ext cx="2267744"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r>
              <a:rPr lang="zh-CN" altLang="en-US" kern="0" dirty="0" smtClean="0">
                <a:latin typeface="楷体" panose="02010609060101010101" pitchFamily="49" charset="-122"/>
                <a:ea typeface="楷体" panose="02010609060101010101" pitchFamily="49" charset="-122"/>
              </a:rPr>
              <a:t>激活函数</a:t>
            </a:r>
            <a:endParaRPr lang="en-US" altLang="zh-CN" kern="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激活函数</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1440160"/>
          </a:xfrm>
        </p:spPr>
        <p:txBody>
          <a:bodyPr/>
          <a:lstStyle/>
          <a:p>
            <a:r>
              <a:rPr lang="zh-CN" altLang="en-US" dirty="0" smtClean="0">
                <a:latin typeface="楷体" panose="02010609060101010101" pitchFamily="49" charset="-122"/>
                <a:ea typeface="楷体" panose="02010609060101010101" pitchFamily="49" charset="-122"/>
              </a:rPr>
              <a:t>激活函数是对净激活量与输出进行映射的函数。一些常用的激活函数</a:t>
            </a:r>
            <a:r>
              <a:rPr lang="en-US" altLang="zh-CN" dirty="0" smtClean="0">
                <a:latin typeface="楷体" panose="02010609060101010101" pitchFamily="49" charset="-122"/>
                <a:ea typeface="楷体" panose="02010609060101010101" pitchFamily="49" charset="-122"/>
              </a:rPr>
              <a:t>,</a:t>
            </a:r>
            <a:r>
              <a:rPr lang="zh-CN" altLang="zh-CN" dirty="0" smtClean="0">
                <a:latin typeface="楷体" panose="02010609060101010101" pitchFamily="49" charset="-122"/>
                <a:ea typeface="楷体" panose="02010609060101010101" pitchFamily="49" charset="-122"/>
              </a:rPr>
              <a:t>由于输入数据与期望值之间可能并不是量级一样，所以需要激活。</a:t>
            </a:r>
            <a:endParaRPr lang="zh-CN"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线性函数</a:t>
            </a:r>
            <a:r>
              <a:rPr lang="en-US" altLang="zh-CN" dirty="0" smtClean="0">
                <a:latin typeface="楷体" panose="02010609060101010101" pitchFamily="49" charset="-122"/>
                <a:ea typeface="楷体" panose="02010609060101010101" pitchFamily="49" charset="-122"/>
              </a:rPr>
              <a:t>				S</a:t>
            </a:r>
            <a:r>
              <a:rPr lang="zh-CN" altLang="en-US" dirty="0" smtClean="0">
                <a:latin typeface="楷体" panose="02010609060101010101" pitchFamily="49" charset="-122"/>
                <a:ea typeface="楷体" panose="02010609060101010101" pitchFamily="49" charset="-122"/>
              </a:rPr>
              <a:t>形函数</a:t>
            </a:r>
            <a:endParaRPr lang="en-US" altLang="zh-CN" dirty="0" smtClean="0">
              <a:latin typeface="楷体" panose="02010609060101010101" pitchFamily="49" charset="-122"/>
              <a:ea typeface="楷体" panose="02010609060101010101" pitchFamily="49" charset="-122"/>
            </a:endParaRPr>
          </a:p>
          <a:p>
            <a:endParaRPr lang="zh-CN" altLang="en-US"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阈值函数                 双极</a:t>
            </a:r>
            <a:r>
              <a:rPr lang="en-US" altLang="zh-CN" dirty="0" smtClean="0">
                <a:latin typeface="楷体" panose="02010609060101010101" pitchFamily="49" charset="-122"/>
                <a:ea typeface="楷体" panose="02010609060101010101" pitchFamily="49" charset="-122"/>
              </a:rPr>
              <a:t>S</a:t>
            </a:r>
            <a:r>
              <a:rPr lang="zh-CN" altLang="en-US" dirty="0" smtClean="0">
                <a:latin typeface="楷体" panose="02010609060101010101" pitchFamily="49" charset="-122"/>
                <a:ea typeface="楷体" panose="02010609060101010101" pitchFamily="49" charset="-122"/>
              </a:rPr>
              <a:t>形函数</a:t>
            </a:r>
            <a:endParaRPr lang="en-US" altLang="zh-CN" dirty="0" smtClean="0">
              <a:latin typeface="楷体" panose="02010609060101010101" pitchFamily="49" charset="-122"/>
              <a:ea typeface="楷体" panose="02010609060101010101" pitchFamily="49" charset="-122"/>
            </a:endParaRPr>
          </a:p>
          <a:p>
            <a:pPr marL="3657600" lvl="8" indent="0">
              <a:buNone/>
            </a:pPr>
            <a:endParaRPr lang="en-US" altLang="zh-CN" dirty="0" smtClean="0">
              <a:latin typeface="楷体" panose="02010609060101010101" pitchFamily="49" charset="-122"/>
              <a:ea typeface="楷体" panose="02010609060101010101" pitchFamily="49" charset="-122"/>
            </a:endParaRPr>
          </a:p>
          <a:p>
            <a:pPr marL="0" indent="0">
              <a:buNone/>
            </a:pPr>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graphicFrame>
        <p:nvGraphicFramePr>
          <p:cNvPr id="4" name="对象 3"/>
          <p:cNvGraphicFramePr>
            <a:graphicFrameLocks noChangeAspect="1"/>
          </p:cNvGraphicFramePr>
          <p:nvPr/>
        </p:nvGraphicFramePr>
        <p:xfrm>
          <a:off x="1185843" y="3054737"/>
          <a:ext cx="2071687" cy="477837"/>
        </p:xfrm>
        <a:graphic>
          <a:graphicData uri="http://schemas.openxmlformats.org/presentationml/2006/ole">
            <mc:AlternateContent xmlns:mc="http://schemas.openxmlformats.org/markup-compatibility/2006">
              <mc:Choice xmlns:v="urn:schemas-microsoft-com:vml" Requires="v">
                <p:oleObj spid="_x0000_s6372" name="Equation" r:id="rId1" imgW="19812000" imgH="4572000" progId="Equation.DSMT4">
                  <p:embed/>
                </p:oleObj>
              </mc:Choice>
              <mc:Fallback>
                <p:oleObj name="Equation" r:id="rId1" imgW="19812000" imgH="4572000" progId="Equation.DSMT4">
                  <p:embed/>
                  <p:pic>
                    <p:nvPicPr>
                      <p:cNvPr id="0" name="图片 6371"/>
                      <p:cNvPicPr/>
                      <p:nvPr/>
                    </p:nvPicPr>
                    <p:blipFill>
                      <a:blip r:embed="rId2"/>
                      <a:stretch>
                        <a:fillRect/>
                      </a:stretch>
                    </p:blipFill>
                    <p:spPr>
                      <a:xfrm>
                        <a:off x="1185843" y="3054737"/>
                        <a:ext cx="2071687" cy="47783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851838" y="4176762"/>
          <a:ext cx="2740025" cy="1497013"/>
        </p:xfrm>
        <a:graphic>
          <a:graphicData uri="http://schemas.openxmlformats.org/presentationml/2006/ole">
            <mc:AlternateContent xmlns:mc="http://schemas.openxmlformats.org/markup-compatibility/2006">
              <mc:Choice xmlns:v="urn:schemas-microsoft-com:vml" Requires="v">
                <p:oleObj spid="_x0000_s6373" name="Equation" r:id="rId3" imgW="26212800" imgH="14325600" progId="Equation.DSMT4">
                  <p:embed/>
                </p:oleObj>
              </mc:Choice>
              <mc:Fallback>
                <p:oleObj name="Equation" r:id="rId3" imgW="26212800" imgH="14325600" progId="Equation.DSMT4">
                  <p:embed/>
                  <p:pic>
                    <p:nvPicPr>
                      <p:cNvPr id="0" name="对象 3"/>
                      <p:cNvPicPr>
                        <a:picLocks noChangeAspect="1" noChangeArrowheads="1"/>
                      </p:cNvPicPr>
                      <p:nvPr/>
                    </p:nvPicPr>
                    <p:blipFill>
                      <a:blip r:embed="rId4"/>
                      <a:srcRect/>
                      <a:stretch>
                        <a:fillRect/>
                      </a:stretch>
                    </p:blipFill>
                    <p:spPr bwMode="auto">
                      <a:xfrm>
                        <a:off x="851838" y="4176762"/>
                        <a:ext cx="2740025"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5363706" y="2847097"/>
          <a:ext cx="2039937" cy="892175"/>
        </p:xfrm>
        <a:graphic>
          <a:graphicData uri="http://schemas.openxmlformats.org/presentationml/2006/ole">
            <mc:AlternateContent xmlns:mc="http://schemas.openxmlformats.org/markup-compatibility/2006">
              <mc:Choice xmlns:v="urn:schemas-microsoft-com:vml" Requires="v">
                <p:oleObj spid="_x0000_s6374" name="Equation" r:id="rId5" imgW="19507200" imgH="8534400" progId="Equation.DSMT4">
                  <p:embed/>
                </p:oleObj>
              </mc:Choice>
              <mc:Fallback>
                <p:oleObj name="Equation" r:id="rId5" imgW="19507200" imgH="8534400" progId="Equation.DSMT4">
                  <p:embed/>
                  <p:pic>
                    <p:nvPicPr>
                      <p:cNvPr id="0" name="对象 3"/>
                      <p:cNvPicPr>
                        <a:picLocks noChangeAspect="1" noChangeArrowheads="1"/>
                      </p:cNvPicPr>
                      <p:nvPr/>
                    </p:nvPicPr>
                    <p:blipFill>
                      <a:blip r:embed="rId6"/>
                      <a:srcRect/>
                      <a:stretch>
                        <a:fillRect/>
                      </a:stretch>
                    </p:blipFill>
                    <p:spPr bwMode="auto">
                      <a:xfrm>
                        <a:off x="5363706" y="2847097"/>
                        <a:ext cx="203993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5172953" y="4479657"/>
          <a:ext cx="2422525" cy="892175"/>
        </p:xfrm>
        <a:graphic>
          <a:graphicData uri="http://schemas.openxmlformats.org/presentationml/2006/ole">
            <mc:AlternateContent xmlns:mc="http://schemas.openxmlformats.org/markup-compatibility/2006">
              <mc:Choice xmlns:v="urn:schemas-microsoft-com:vml" Requires="v">
                <p:oleObj spid="_x0000_s6375" name="Equation" r:id="rId7" imgW="23164800" imgH="8534400" progId="Equation.DSMT4">
                  <p:embed/>
                </p:oleObj>
              </mc:Choice>
              <mc:Fallback>
                <p:oleObj name="Equation" r:id="rId7" imgW="23164800" imgH="8534400" progId="Equation.DSMT4">
                  <p:embed/>
                  <p:pic>
                    <p:nvPicPr>
                      <p:cNvPr id="0" name="对象 7"/>
                      <p:cNvPicPr>
                        <a:picLocks noChangeAspect="1" noChangeArrowheads="1"/>
                      </p:cNvPicPr>
                      <p:nvPr/>
                    </p:nvPicPr>
                    <p:blipFill>
                      <a:blip r:embed="rId8"/>
                      <a:srcRect/>
                      <a:stretch>
                        <a:fillRect/>
                      </a:stretch>
                    </p:blipFill>
                    <p:spPr bwMode="auto">
                      <a:xfrm>
                        <a:off x="5172953" y="4479657"/>
                        <a:ext cx="242252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激活函数</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792088"/>
          </a:xfrm>
        </p:spPr>
        <p:txBody>
          <a:bodyPr/>
          <a:lstStyle/>
          <a:p>
            <a:r>
              <a:rPr lang="en-US" altLang="zh-CN" dirty="0" smtClean="0">
                <a:latin typeface="楷体" panose="02010609060101010101" pitchFamily="49" charset="-122"/>
                <a:ea typeface="楷体" panose="02010609060101010101" pitchFamily="49" charset="-122"/>
              </a:rPr>
              <a:t>S</a:t>
            </a:r>
            <a:r>
              <a:rPr lang="zh-CN" altLang="en-US" dirty="0" smtClean="0">
                <a:latin typeface="楷体" panose="02010609060101010101" pitchFamily="49" charset="-122"/>
                <a:ea typeface="楷体" panose="02010609060101010101" pitchFamily="49" charset="-122"/>
              </a:rPr>
              <a:t>形和双极</a:t>
            </a:r>
            <a:r>
              <a:rPr lang="en-US" altLang="zh-CN" dirty="0" smtClean="0">
                <a:latin typeface="楷体" panose="02010609060101010101" pitchFamily="49" charset="-122"/>
                <a:ea typeface="楷体" panose="02010609060101010101" pitchFamily="49" charset="-122"/>
              </a:rPr>
              <a:t>S</a:t>
            </a:r>
            <a:r>
              <a:rPr lang="zh-CN" altLang="en-US" dirty="0" smtClean="0">
                <a:latin typeface="楷体" panose="02010609060101010101" pitchFamily="49" charset="-122"/>
                <a:ea typeface="楷体" panose="02010609060101010101" pitchFamily="49" charset="-122"/>
              </a:rPr>
              <a:t>形函数图像为：</a:t>
            </a:r>
            <a:endParaRPr lang="zh-CN" altLang="en-US" dirty="0">
              <a:latin typeface="楷体" panose="02010609060101010101" pitchFamily="49" charset="-122"/>
              <a:ea typeface="楷体" panose="02010609060101010101" pitchFamily="49" charset="-122"/>
            </a:endParaRPr>
          </a:p>
        </p:txBody>
      </p:sp>
      <p:pic>
        <p:nvPicPr>
          <p:cNvPr id="7170" name="Picture 2" descr="C:\Users\jim\AppData\Local\youdao\ynote\images\DACE3A870C0C4066BCF39332144BB4AD\2011030722263982.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40" y="1412776"/>
            <a:ext cx="6667500" cy="49815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占位符 2"/>
          <p:cNvSpPr txBox="1"/>
          <p:nvPr/>
        </p:nvSpPr>
        <p:spPr bwMode="auto">
          <a:xfrm>
            <a:off x="6300192" y="1772816"/>
            <a:ext cx="2843808"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pPr marL="0" indent="0">
              <a:buNone/>
            </a:pPr>
            <a:r>
              <a:rPr lang="en-US" altLang="zh-CN" kern="0" dirty="0" smtClean="0">
                <a:latin typeface="楷体" panose="02010609060101010101" pitchFamily="49" charset="-122"/>
                <a:ea typeface="楷体" panose="02010609060101010101" pitchFamily="49" charset="-122"/>
              </a:rPr>
              <a:t>   </a:t>
            </a:r>
            <a:endParaRPr lang="en-US" altLang="zh-CN" kern="0" dirty="0" smtClean="0">
              <a:latin typeface="楷体" panose="02010609060101010101" pitchFamily="49" charset="-122"/>
              <a:ea typeface="楷体" panose="02010609060101010101" pitchFamily="49" charset="-122"/>
            </a:endParaRPr>
          </a:p>
          <a:p>
            <a:pPr marL="0" indent="0">
              <a:buNone/>
            </a:pPr>
            <a:r>
              <a:rPr lang="en-US" altLang="zh-CN" kern="0" dirty="0">
                <a:latin typeface="楷体" panose="02010609060101010101" pitchFamily="49" charset="-122"/>
                <a:ea typeface="楷体" panose="02010609060101010101" pitchFamily="49" charset="-122"/>
              </a:rPr>
              <a:t> </a:t>
            </a:r>
            <a:r>
              <a:rPr lang="en-US" altLang="zh-CN" kern="0" dirty="0" smtClean="0">
                <a:latin typeface="楷体" panose="02010609060101010101" pitchFamily="49" charset="-122"/>
                <a:ea typeface="楷体" panose="02010609060101010101" pitchFamily="49" charset="-122"/>
              </a:rPr>
              <a:t>    S</a:t>
            </a:r>
            <a:r>
              <a:rPr lang="zh-CN" altLang="en-US" kern="0" dirty="0" smtClean="0">
                <a:latin typeface="楷体" panose="02010609060101010101" pitchFamily="49" charset="-122"/>
                <a:ea typeface="楷体" panose="02010609060101010101" pitchFamily="49" charset="-122"/>
              </a:rPr>
              <a:t>形和双极</a:t>
            </a:r>
            <a:r>
              <a:rPr lang="en-US" altLang="zh-CN" kern="0" dirty="0" smtClean="0">
                <a:latin typeface="楷体" panose="02010609060101010101" pitchFamily="49" charset="-122"/>
                <a:ea typeface="楷体" panose="02010609060101010101" pitchFamily="49" charset="-122"/>
              </a:rPr>
              <a:t>S</a:t>
            </a:r>
            <a:r>
              <a:rPr lang="zh-CN" altLang="en-US" kern="0" dirty="0" smtClean="0">
                <a:latin typeface="楷体" panose="02010609060101010101" pitchFamily="49" charset="-122"/>
                <a:ea typeface="楷体" panose="02010609060101010101" pitchFamily="49" charset="-122"/>
              </a:rPr>
              <a:t>形函数的导函数均为连续函数。</a:t>
            </a:r>
            <a:endParaRPr lang="zh-CN" altLang="en-US" kern="0" dirty="0">
              <a:latin typeface="楷体" panose="02010609060101010101" pitchFamily="49" charset="-122"/>
              <a:ea typeface="楷体" panose="02010609060101010101" pitchFamily="49" charset="-122"/>
            </a:endParaRPr>
          </a:p>
        </p:txBody>
      </p:sp>
      <p:sp>
        <p:nvSpPr>
          <p:cNvPr id="4" name="五角星 3"/>
          <p:cNvSpPr/>
          <p:nvPr/>
        </p:nvSpPr>
        <p:spPr bwMode="auto">
          <a:xfrm>
            <a:off x="6484771" y="2247663"/>
            <a:ext cx="864096" cy="720080"/>
          </a:xfrm>
          <a:prstGeom prst="star5">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网络模型</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792088"/>
          </a:xfrm>
        </p:spPr>
        <p:txBody>
          <a:bodyPr/>
          <a:lstStyle/>
          <a:p>
            <a:r>
              <a:rPr lang="zh-CN" altLang="en-US" dirty="0" smtClean="0">
                <a:latin typeface="楷体" panose="02010609060101010101" pitchFamily="49" charset="-122"/>
                <a:ea typeface="楷体" panose="02010609060101010101" pitchFamily="49" charset="-122"/>
              </a:rPr>
              <a:t>根据网络中神经元的互联方式的不同，网络模型分为：</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前馈神经网络</a:t>
            </a:r>
            <a:endParaRPr lang="en-US" altLang="zh-CN" dirty="0" smtClean="0">
              <a:latin typeface="楷体" panose="02010609060101010101" pitchFamily="49" charset="-122"/>
              <a:ea typeface="楷体" panose="02010609060101010101" pitchFamily="49" charset="-122"/>
            </a:endParaRPr>
          </a:p>
          <a:p>
            <a:r>
              <a:rPr lang="zh-CN" altLang="en-US" sz="2000" b="0" dirty="0">
                <a:latin typeface="楷体" panose="02010609060101010101" pitchFamily="49" charset="-122"/>
                <a:ea typeface="楷体" panose="02010609060101010101" pitchFamily="49" charset="-122"/>
              </a:rPr>
              <a:t>只在训练过程会有反馈信号，而在分类过程中数据只能向前传送，直到到达输出层，层间没有向后的反馈信号</a:t>
            </a:r>
            <a:endParaRPr lang="en-US" altLang="zh-CN" sz="2000" b="0"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反馈神经网络</a:t>
            </a:r>
            <a:endParaRPr lang="en-US" altLang="zh-CN" dirty="0" smtClean="0">
              <a:latin typeface="楷体" panose="02010609060101010101" pitchFamily="49" charset="-122"/>
              <a:ea typeface="楷体" panose="02010609060101010101" pitchFamily="49" charset="-122"/>
            </a:endParaRPr>
          </a:p>
          <a:p>
            <a:r>
              <a:rPr lang="zh-CN" altLang="en-US" sz="2000" b="0" dirty="0">
                <a:latin typeface="楷体" panose="02010609060101010101" pitchFamily="49" charset="-122"/>
                <a:ea typeface="楷体" panose="02010609060101010101" pitchFamily="49" charset="-122"/>
              </a:rPr>
              <a:t>从输出到输入具有反馈连接的神经网络，其结构比前馈网络要复杂得多</a:t>
            </a:r>
            <a:endParaRPr lang="en-US" altLang="zh-CN" sz="2000" b="0" dirty="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自组织网络</a:t>
            </a:r>
            <a:endParaRPr lang="en-US" altLang="zh-CN" dirty="0" smtClean="0">
              <a:latin typeface="楷体" panose="02010609060101010101" pitchFamily="49" charset="-122"/>
              <a:ea typeface="楷体" panose="02010609060101010101" pitchFamily="49" charset="-122"/>
            </a:endParaRPr>
          </a:p>
          <a:p>
            <a:r>
              <a:rPr lang="zh-CN" altLang="en-US" sz="2000" b="0" dirty="0">
                <a:latin typeface="楷体" panose="02010609060101010101" pitchFamily="49" charset="-122"/>
                <a:ea typeface="楷体" panose="02010609060101010101" pitchFamily="49" charset="-122"/>
              </a:rPr>
              <a:t>通过自动寻找样本中的内在规律和本质属性，自组织、自适应地改变网络参数与结构。</a:t>
            </a:r>
            <a:endParaRPr lang="zh-CN" altLang="en-US" sz="2000" b="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楷体" panose="02010609060101010101" pitchFamily="49" charset="-122"/>
                <a:ea typeface="楷体" panose="02010609060101010101" pitchFamily="49" charset="-122"/>
              </a:rPr>
              <a:t>网络模型</a:t>
            </a:r>
            <a:endParaRPr lang="zh-CN" altLang="en-US" dirty="0">
              <a:latin typeface="楷体" panose="02010609060101010101" pitchFamily="49" charset="-122"/>
              <a:ea typeface="楷体" panose="02010609060101010101" pitchFamily="49" charset="-122"/>
            </a:endParaRPr>
          </a:p>
        </p:txBody>
      </p:sp>
      <p:pic>
        <p:nvPicPr>
          <p:cNvPr id="5" name="内容占位符 4"/>
          <p:cNvPicPr>
            <a:picLocks noGrp="1" noChangeAspect="1"/>
          </p:cNvPicPr>
          <p:nvPr>
            <p:ph sz="half" idx="1"/>
          </p:nvPr>
        </p:nvPicPr>
        <p:blipFill>
          <a:blip r:embed="rId1">
            <a:extLst>
              <a:ext uri="{28A0092B-C50C-407E-A947-70E740481C1C}">
                <a14:useLocalDpi xmlns:a14="http://schemas.microsoft.com/office/drawing/2010/main" val="0"/>
              </a:ext>
            </a:extLst>
          </a:blip>
          <a:stretch>
            <a:fillRect/>
          </a:stretch>
        </p:blipFill>
        <p:spPr>
          <a:xfrm>
            <a:off x="979478" y="980475"/>
            <a:ext cx="3256015" cy="2304256"/>
          </a:xfrm>
        </p:spPr>
      </p:pic>
      <p:pic>
        <p:nvPicPr>
          <p:cNvPr id="6" name="内容占位符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36096" y="1124744"/>
            <a:ext cx="3169953" cy="2016224"/>
          </a:xfr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3789040"/>
            <a:ext cx="3981024" cy="1732787"/>
          </a:xfrm>
          <a:prstGeom prst="rect">
            <a:avLst/>
          </a:prstGeom>
        </p:spPr>
      </p:pic>
      <p:sp>
        <p:nvSpPr>
          <p:cNvPr id="8" name="TextBox 7"/>
          <p:cNvSpPr txBox="1"/>
          <p:nvPr/>
        </p:nvSpPr>
        <p:spPr>
          <a:xfrm>
            <a:off x="1403648" y="3429000"/>
            <a:ext cx="2088232" cy="369332"/>
          </a:xfrm>
          <a:prstGeom prst="rect">
            <a:avLst/>
          </a:prstGeom>
          <a:noFill/>
        </p:spPr>
        <p:txBody>
          <a:bodyPr wrap="square" rtlCol="0">
            <a:spAutoFit/>
          </a:bodyPr>
          <a:lstStyle/>
          <a:p>
            <a:r>
              <a:rPr lang="zh-CN" altLang="en-US" dirty="0" smtClean="0"/>
              <a:t>前馈神经网络</a:t>
            </a:r>
            <a:endParaRPr lang="zh-CN" altLang="en-US" dirty="0"/>
          </a:p>
        </p:txBody>
      </p:sp>
      <p:sp>
        <p:nvSpPr>
          <p:cNvPr id="9" name="TextBox 8"/>
          <p:cNvSpPr txBox="1"/>
          <p:nvPr/>
        </p:nvSpPr>
        <p:spPr>
          <a:xfrm>
            <a:off x="6012160" y="3466879"/>
            <a:ext cx="2088232" cy="369332"/>
          </a:xfrm>
          <a:prstGeom prst="rect">
            <a:avLst/>
          </a:prstGeom>
          <a:noFill/>
        </p:spPr>
        <p:txBody>
          <a:bodyPr wrap="square" rtlCol="0">
            <a:spAutoFit/>
          </a:bodyPr>
          <a:lstStyle/>
          <a:p>
            <a:r>
              <a:rPr lang="zh-CN" altLang="en-US" dirty="0" smtClean="0"/>
              <a:t>反馈神经网络</a:t>
            </a:r>
            <a:endParaRPr lang="zh-CN" altLang="en-US" dirty="0"/>
          </a:p>
        </p:txBody>
      </p:sp>
      <p:sp>
        <p:nvSpPr>
          <p:cNvPr id="10" name="TextBox 9"/>
          <p:cNvSpPr txBox="1"/>
          <p:nvPr/>
        </p:nvSpPr>
        <p:spPr>
          <a:xfrm>
            <a:off x="1835696" y="5733256"/>
            <a:ext cx="2088232" cy="369332"/>
          </a:xfrm>
          <a:prstGeom prst="rect">
            <a:avLst/>
          </a:prstGeom>
          <a:noFill/>
        </p:spPr>
        <p:txBody>
          <a:bodyPr wrap="square" rtlCol="0">
            <a:spAutoFit/>
          </a:bodyPr>
          <a:lstStyle/>
          <a:p>
            <a:r>
              <a:rPr lang="zh-CN" altLang="en-US" dirty="0" smtClean="0"/>
              <a:t>自组织网络</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工作状态</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1656184"/>
          </a:xfrm>
        </p:spPr>
        <p:txBody>
          <a:bodyPr/>
          <a:lstStyle/>
          <a:p>
            <a:r>
              <a:rPr lang="zh-CN" altLang="en-US" b="0" dirty="0" smtClean="0">
                <a:latin typeface="楷体" panose="02010609060101010101" pitchFamily="49" charset="-122"/>
                <a:ea typeface="楷体" panose="02010609060101010101" pitchFamily="49" charset="-122"/>
              </a:rPr>
              <a:t>神经网络的工作状态分为</a:t>
            </a:r>
            <a:r>
              <a:rPr lang="zh-CN" altLang="en-US" dirty="0" smtClean="0">
                <a:latin typeface="楷体" panose="02010609060101010101" pitchFamily="49" charset="-122"/>
                <a:ea typeface="楷体" panose="02010609060101010101" pitchFamily="49" charset="-122"/>
              </a:rPr>
              <a:t>学习和工作</a:t>
            </a:r>
            <a:r>
              <a:rPr lang="zh-CN" altLang="en-US" b="0" dirty="0" smtClean="0">
                <a:latin typeface="楷体" panose="02010609060101010101" pitchFamily="49" charset="-122"/>
                <a:ea typeface="楷体" panose="02010609060101010101" pitchFamily="49" charset="-122"/>
              </a:rPr>
              <a:t>两种状态</a:t>
            </a:r>
            <a:endParaRPr lang="en-US" altLang="zh-CN" sz="2000" b="0" dirty="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学习</a:t>
            </a:r>
            <a:endParaRPr lang="en-US" altLang="zh-CN" dirty="0" smtClean="0">
              <a:latin typeface="楷体" panose="02010609060101010101" pitchFamily="49" charset="-122"/>
              <a:ea typeface="楷体" panose="02010609060101010101" pitchFamily="49" charset="-122"/>
            </a:endParaRPr>
          </a:p>
          <a:p>
            <a:r>
              <a:rPr lang="zh-CN" altLang="en-US" sz="2400" b="0" dirty="0" smtClean="0">
                <a:latin typeface="楷体" panose="02010609060101010101" pitchFamily="49" charset="-122"/>
                <a:ea typeface="楷体" panose="02010609060101010101" pitchFamily="49" charset="-122"/>
              </a:rPr>
              <a:t>利用学习算法来调整神经元间的连接权重，使得网络输出更符合实际</a:t>
            </a:r>
            <a:endParaRPr lang="en-US" altLang="zh-CN" sz="2400" b="0"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工作</a:t>
            </a:r>
            <a:endParaRPr lang="en-US" altLang="zh-CN" dirty="0" smtClean="0">
              <a:latin typeface="楷体" panose="02010609060101010101" pitchFamily="49" charset="-122"/>
              <a:ea typeface="楷体" panose="02010609060101010101" pitchFamily="49" charset="-122"/>
            </a:endParaRPr>
          </a:p>
          <a:p>
            <a:r>
              <a:rPr lang="zh-CN" altLang="en-US" sz="2400" b="0" dirty="0" smtClean="0">
                <a:latin typeface="楷体" panose="02010609060101010101" pitchFamily="49" charset="-122"/>
                <a:ea typeface="楷体" panose="02010609060101010101" pitchFamily="49" charset="-122"/>
              </a:rPr>
              <a:t>神经元间的连接权值不变，可以作为分类器</a:t>
            </a:r>
            <a:endParaRPr lang="en-US" altLang="zh-CN" sz="2400" b="0" dirty="0" smtClean="0">
              <a:latin typeface="楷体" panose="02010609060101010101" pitchFamily="49" charset="-122"/>
              <a:ea typeface="楷体" panose="02010609060101010101" pitchFamily="49" charset="-122"/>
            </a:endParaRPr>
          </a:p>
          <a:p>
            <a:pPr marL="0" indent="0">
              <a:buNone/>
            </a:pPr>
            <a:r>
              <a:rPr lang="zh-CN" altLang="en-US" sz="2400" b="0" dirty="0" smtClean="0">
                <a:latin typeface="楷体" panose="02010609060101010101" pitchFamily="49" charset="-122"/>
                <a:ea typeface="楷体" panose="02010609060101010101" pitchFamily="49" charset="-122"/>
              </a:rPr>
              <a:t>或者预测数据之用。</a:t>
            </a:r>
            <a:endParaRPr lang="en-US" altLang="zh-CN" sz="2400" b="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latin typeface="楷体" panose="02010609060101010101" pitchFamily="49" charset="-122"/>
                <a:ea typeface="楷体" panose="02010609060101010101" pitchFamily="49" charset="-122"/>
              </a:rPr>
              <a:t>学习方式</a:t>
            </a:r>
            <a:endParaRPr lang="zh-CN" altLang="en-US" dirty="0" smtClean="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1656184"/>
          </a:xfrm>
        </p:spPr>
        <p:txBody>
          <a:bodyPr/>
          <a:lstStyle/>
          <a:p>
            <a:r>
              <a:rPr lang="zh-CN" altLang="en-US" b="0" dirty="0" smtClean="0">
                <a:latin typeface="楷体" panose="02010609060101010101" pitchFamily="49" charset="-122"/>
                <a:ea typeface="楷体" panose="02010609060101010101" pitchFamily="49" charset="-122"/>
              </a:rPr>
              <a:t>学习分为</a:t>
            </a:r>
            <a:r>
              <a:rPr lang="zh-CN" altLang="en-US" dirty="0" smtClean="0">
                <a:latin typeface="楷体" panose="02010609060101010101" pitchFamily="49" charset="-122"/>
                <a:ea typeface="楷体" panose="02010609060101010101" pitchFamily="49" charset="-122"/>
              </a:rPr>
              <a:t>有导师学习与无导师学习</a:t>
            </a:r>
            <a:endParaRPr lang="en-US" altLang="zh-CN" dirty="0" smtClean="0">
              <a:latin typeface="楷体" panose="02010609060101010101" pitchFamily="49" charset="-122"/>
              <a:ea typeface="楷体" panose="02010609060101010101" pitchFamily="49" charset="-122"/>
            </a:endParaRPr>
          </a:p>
          <a:p>
            <a:r>
              <a:rPr lang="zh-CN" altLang="en-US" sz="2800" dirty="0" smtClean="0">
                <a:latin typeface="楷体" panose="02010609060101010101" pitchFamily="49" charset="-122"/>
                <a:ea typeface="楷体" panose="02010609060101010101" pitchFamily="49" charset="-122"/>
              </a:rPr>
              <a:t>有</a:t>
            </a:r>
            <a:r>
              <a:rPr lang="zh-CN" altLang="en-US" sz="2800" dirty="0">
                <a:latin typeface="楷体" panose="02010609060101010101" pitchFamily="49" charset="-122"/>
                <a:ea typeface="楷体" panose="02010609060101010101" pitchFamily="49" charset="-122"/>
              </a:rPr>
              <a:t>导师</a:t>
            </a:r>
            <a:r>
              <a:rPr lang="zh-CN" altLang="en-US" sz="2800" dirty="0" smtClean="0">
                <a:latin typeface="楷体" panose="02010609060101010101" pitchFamily="49" charset="-122"/>
                <a:ea typeface="楷体" panose="02010609060101010101" pitchFamily="49" charset="-122"/>
              </a:rPr>
              <a:t>学习</a:t>
            </a:r>
            <a:endParaRPr lang="en-US" altLang="zh-CN" sz="2800" dirty="0" smtClean="0">
              <a:latin typeface="楷体" panose="02010609060101010101" pitchFamily="49" charset="-122"/>
              <a:ea typeface="楷体" panose="02010609060101010101" pitchFamily="49" charset="-122"/>
            </a:endParaRPr>
          </a:p>
          <a:p>
            <a:r>
              <a:rPr lang="zh-CN" altLang="en-US" sz="2800" b="0" dirty="0" smtClean="0">
                <a:latin typeface="楷体" panose="02010609060101010101" pitchFamily="49" charset="-122"/>
                <a:ea typeface="楷体" panose="02010609060101010101" pitchFamily="49" charset="-122"/>
              </a:rPr>
              <a:t>将</a:t>
            </a:r>
            <a:r>
              <a:rPr lang="zh-CN" altLang="en-US" sz="2800" b="0" dirty="0">
                <a:latin typeface="楷体" panose="02010609060101010101" pitchFamily="49" charset="-122"/>
                <a:ea typeface="楷体" panose="02010609060101010101" pitchFamily="49" charset="-122"/>
              </a:rPr>
              <a:t>一组</a:t>
            </a:r>
            <a:r>
              <a:rPr lang="zh-CN" altLang="en-US" sz="2800" b="0" dirty="0" smtClean="0">
                <a:latin typeface="楷体" panose="02010609060101010101" pitchFamily="49" charset="-122"/>
                <a:ea typeface="楷体" panose="02010609060101010101" pitchFamily="49" charset="-122"/>
              </a:rPr>
              <a:t>训练集送入</a:t>
            </a:r>
            <a:r>
              <a:rPr lang="zh-CN" altLang="en-US" sz="2800" b="0" dirty="0">
                <a:latin typeface="楷体" panose="02010609060101010101" pitchFamily="49" charset="-122"/>
                <a:ea typeface="楷体" panose="02010609060101010101" pitchFamily="49" charset="-122"/>
              </a:rPr>
              <a:t>网络，根据网络的实际输出与期望输出间的差别来调整连接</a:t>
            </a:r>
            <a:r>
              <a:rPr lang="zh-CN" altLang="en-US" sz="2800" b="0" dirty="0" smtClean="0">
                <a:latin typeface="楷体" panose="02010609060101010101" pitchFamily="49" charset="-122"/>
                <a:ea typeface="楷体" panose="02010609060101010101" pitchFamily="49" charset="-122"/>
              </a:rPr>
              <a:t>权</a:t>
            </a:r>
            <a:endParaRPr lang="en-US" altLang="zh-CN" sz="2800" b="0" dirty="0" smtClean="0">
              <a:latin typeface="楷体" panose="02010609060101010101" pitchFamily="49" charset="-122"/>
              <a:ea typeface="楷体" panose="02010609060101010101" pitchFamily="49" charset="-122"/>
            </a:endParaRPr>
          </a:p>
          <a:p>
            <a:r>
              <a:rPr lang="zh-CN" altLang="en-US" sz="2800" b="0" dirty="0" smtClean="0">
                <a:latin typeface="楷体" panose="02010609060101010101" pitchFamily="49" charset="-122"/>
                <a:ea typeface="楷体" panose="02010609060101010101" pitchFamily="49" charset="-122"/>
              </a:rPr>
              <a:t>例如：</a:t>
            </a:r>
            <a:r>
              <a:rPr lang="en-US" altLang="zh-CN" sz="2800" b="0" dirty="0" smtClean="0">
                <a:latin typeface="楷体" panose="02010609060101010101" pitchFamily="49" charset="-122"/>
                <a:ea typeface="楷体" panose="02010609060101010101" pitchFamily="49" charset="-122"/>
              </a:rPr>
              <a:t>BP</a:t>
            </a:r>
            <a:r>
              <a:rPr lang="zh-CN" altLang="en-US" sz="2800" b="0" dirty="0" smtClean="0">
                <a:latin typeface="楷体" panose="02010609060101010101" pitchFamily="49" charset="-122"/>
                <a:ea typeface="楷体" panose="02010609060101010101" pitchFamily="49" charset="-122"/>
              </a:rPr>
              <a:t>算法</a:t>
            </a:r>
            <a:endParaRPr lang="en-US" altLang="zh-CN" sz="2800" b="0" dirty="0" smtClean="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无导师</a:t>
            </a:r>
            <a:r>
              <a:rPr lang="zh-CN" altLang="en-US" sz="2800" dirty="0" smtClean="0">
                <a:latin typeface="楷体" panose="02010609060101010101" pitchFamily="49" charset="-122"/>
                <a:ea typeface="楷体" panose="02010609060101010101" pitchFamily="49" charset="-122"/>
              </a:rPr>
              <a:t>学习</a:t>
            </a:r>
            <a:endParaRPr lang="en-US" altLang="zh-CN" sz="2800" dirty="0" smtClean="0">
              <a:latin typeface="楷体" panose="02010609060101010101" pitchFamily="49" charset="-122"/>
              <a:ea typeface="楷体" panose="02010609060101010101" pitchFamily="49" charset="-122"/>
            </a:endParaRPr>
          </a:p>
          <a:p>
            <a:r>
              <a:rPr lang="zh-CN" altLang="en-US" sz="2800" b="0" dirty="0" smtClean="0">
                <a:latin typeface="楷体" panose="02010609060101010101" pitchFamily="49" charset="-122"/>
                <a:ea typeface="楷体" panose="02010609060101010101" pitchFamily="49" charset="-122"/>
              </a:rPr>
              <a:t>抽取</a:t>
            </a:r>
            <a:r>
              <a:rPr lang="zh-CN" altLang="en-US" sz="2800" b="0" dirty="0">
                <a:latin typeface="楷体" panose="02010609060101010101" pitchFamily="49" charset="-122"/>
                <a:ea typeface="楷体" panose="02010609060101010101" pitchFamily="49" charset="-122"/>
              </a:rPr>
              <a:t>样本集合中蕴含的统计特性，并以神经元之间的联接权的形式存于网络中</a:t>
            </a:r>
            <a:r>
              <a:rPr lang="zh-CN" altLang="en-US" sz="2800" b="0" dirty="0" smtClean="0">
                <a:latin typeface="楷体" panose="02010609060101010101" pitchFamily="49" charset="-122"/>
                <a:ea typeface="楷体" panose="02010609060101010101" pitchFamily="49" charset="-122"/>
              </a:rPr>
              <a:t>。</a:t>
            </a:r>
            <a:endParaRPr lang="en-US" altLang="zh-CN" sz="2800" b="0" dirty="0" smtClean="0">
              <a:latin typeface="楷体" panose="02010609060101010101" pitchFamily="49" charset="-122"/>
              <a:ea typeface="楷体" panose="02010609060101010101" pitchFamily="49" charset="-122"/>
            </a:endParaRPr>
          </a:p>
          <a:p>
            <a:r>
              <a:rPr lang="zh-CN" altLang="en-US" sz="2800" b="0" dirty="0" smtClean="0">
                <a:latin typeface="楷体" panose="02010609060101010101" pitchFamily="49" charset="-122"/>
                <a:ea typeface="楷体" panose="02010609060101010101" pitchFamily="49" charset="-122"/>
              </a:rPr>
              <a:t>例如：</a:t>
            </a:r>
            <a:r>
              <a:rPr lang="en-US" altLang="zh-CN" sz="2800" b="0" dirty="0" err="1" smtClean="0">
                <a:latin typeface="楷体" panose="02010609060101010101" pitchFamily="49" charset="-122"/>
                <a:ea typeface="楷体" panose="02010609060101010101" pitchFamily="49" charset="-122"/>
              </a:rPr>
              <a:t>Hebb</a:t>
            </a:r>
            <a:r>
              <a:rPr lang="zh-CN" altLang="en-US" sz="2800" b="0" dirty="0" smtClean="0">
                <a:latin typeface="楷体" panose="02010609060101010101" pitchFamily="49" charset="-122"/>
                <a:ea typeface="楷体" panose="02010609060101010101" pitchFamily="49" charset="-122"/>
              </a:rPr>
              <a:t>学习率</a:t>
            </a:r>
            <a:endParaRPr lang="en-US" altLang="zh-CN" sz="28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10593"/>
          <p:cNvSpPr>
            <a:spLocks noGrp="1"/>
          </p:cNvSpPr>
          <p:nvPr>
            <p:ph type="title"/>
          </p:nvPr>
        </p:nvSpPr>
        <p:spPr>
          <a:xfrm>
            <a:off x="194310" y="90805"/>
            <a:ext cx="8229600" cy="658495"/>
          </a:xfrm>
        </p:spPr>
        <p:txBody>
          <a:bodyPr anchor="ctr"/>
          <a:p>
            <a:pPr algn="l">
              <a:lnSpc>
                <a:spcPct val="120000"/>
              </a:lnSpc>
            </a:pPr>
            <a:r>
              <a:rPr lang="zh-CN" altLang="en-US" dirty="0"/>
              <a:t>神经网络的学习方式</a:t>
            </a:r>
            <a:endParaRPr lang="zh-CN" altLang="en-US" dirty="0"/>
          </a:p>
        </p:txBody>
      </p:sp>
      <p:graphicFrame>
        <p:nvGraphicFramePr>
          <p:cNvPr id="110595" name="内容占位符 110594"/>
          <p:cNvGraphicFramePr>
            <a:graphicFrameLocks noGrp="1"/>
          </p:cNvGraphicFramePr>
          <p:nvPr>
            <p:ph sz="half" idx="1"/>
          </p:nvPr>
        </p:nvGraphicFramePr>
        <p:xfrm>
          <a:off x="1042988" y="1728788"/>
          <a:ext cx="5329237" cy="5129212"/>
        </p:xfrm>
        <a:graphic>
          <a:graphicData uri="http://schemas.openxmlformats.org/presentationml/2006/ole">
            <mc:AlternateContent xmlns:mc="http://schemas.openxmlformats.org/markup-compatibility/2006">
              <mc:Choice xmlns:v="urn:schemas-microsoft-com:vml" Requires="v">
                <p:oleObj spid="_x0000_s3089" name="" r:id="rId1" imgW="4831715" imgH="4650740" progId="Visio.Drawing.11">
                  <p:embed/>
                </p:oleObj>
              </mc:Choice>
              <mc:Fallback>
                <p:oleObj name="" r:id="rId1" imgW="4831715" imgH="4650740" progId="Visio.Drawing.11">
                  <p:embed/>
                  <p:pic>
                    <p:nvPicPr>
                      <p:cNvPr id="0" name="图片 3088"/>
                      <p:cNvPicPr/>
                      <p:nvPr/>
                    </p:nvPicPr>
                    <p:blipFill>
                      <a:blip r:embed="rId2"/>
                      <a:stretch>
                        <a:fillRect/>
                      </a:stretch>
                    </p:blipFill>
                    <p:spPr>
                      <a:xfrm>
                        <a:off x="1042988" y="1728788"/>
                        <a:ext cx="5329237" cy="5129212"/>
                      </a:xfrm>
                      <a:prstGeom prst="rect">
                        <a:avLst/>
                      </a:prstGeom>
                      <a:noFill/>
                      <a:ln w="38100">
                        <a:miter/>
                      </a:ln>
                    </p:spPr>
                  </p:pic>
                </p:oleObj>
              </mc:Fallback>
            </mc:AlternateContent>
          </a:graphicData>
        </a:graphic>
      </p:graphicFrame>
      <p:sp>
        <p:nvSpPr>
          <p:cNvPr id="110596" name="文本占位符 110595"/>
          <p:cNvSpPr>
            <a:spLocks noGrp="1"/>
          </p:cNvSpPr>
          <p:nvPr>
            <p:ph type="body" sz="half" idx="2"/>
          </p:nvPr>
        </p:nvSpPr>
        <p:spPr>
          <a:xfrm>
            <a:off x="611188" y="1341438"/>
            <a:ext cx="4038600" cy="3886200"/>
          </a:xfrm>
        </p:spPr>
        <p:txBody>
          <a:bodyPr/>
          <a:p>
            <a:pPr>
              <a:lnSpc>
                <a:spcPct val="120000"/>
              </a:lnSpc>
            </a:pPr>
            <a:r>
              <a:rPr lang="zh-CN" altLang="en-US" sz="2800" dirty="0"/>
              <a:t>有教师学习</a:t>
            </a:r>
            <a:r>
              <a:rPr lang="en-US" altLang="zh-CN" sz="2800" dirty="0"/>
              <a:t>(</a:t>
            </a:r>
            <a:r>
              <a:rPr lang="zh-CN" altLang="en-US" sz="2800" dirty="0"/>
              <a:t>监督学习</a:t>
            </a:r>
            <a:r>
              <a:rPr lang="en-US" altLang="zh-CN" sz="2800"/>
              <a:t>)</a:t>
            </a:r>
            <a:endParaRPr lang="en-US" altLang="zh-CN"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4691" name="内容占位符 114690"/>
          <p:cNvGraphicFramePr/>
          <p:nvPr>
            <p:ph idx="1"/>
          </p:nvPr>
        </p:nvGraphicFramePr>
        <p:xfrm>
          <a:off x="1403350" y="1865313"/>
          <a:ext cx="6337300" cy="3730625"/>
        </p:xfrm>
        <a:graphic>
          <a:graphicData uri="http://schemas.openxmlformats.org/presentationml/2006/ole">
            <mc:AlternateContent xmlns:mc="http://schemas.openxmlformats.org/markup-compatibility/2006">
              <mc:Choice xmlns:v="urn:schemas-microsoft-com:vml" Requires="v">
                <p:oleObj spid="_x0000_s3092" name="" r:id="rId1" imgW="4831715" imgH="4650740" progId="Visio.Drawing.11">
                  <p:embed/>
                </p:oleObj>
              </mc:Choice>
              <mc:Fallback>
                <p:oleObj name="" r:id="rId1" imgW="4831715" imgH="4650740" progId="Visio.Drawing.11">
                  <p:embed/>
                  <p:pic>
                    <p:nvPicPr>
                      <p:cNvPr id="0" name="图片 3091"/>
                      <p:cNvPicPr/>
                      <p:nvPr/>
                    </p:nvPicPr>
                    <p:blipFill>
                      <a:blip r:embed="rId2"/>
                      <a:srcRect b="38847"/>
                      <a:stretch>
                        <a:fillRect/>
                      </a:stretch>
                    </p:blipFill>
                    <p:spPr>
                      <a:xfrm>
                        <a:off x="1403350" y="1865313"/>
                        <a:ext cx="6337300" cy="3730625"/>
                      </a:xfrm>
                      <a:prstGeom prst="rect">
                        <a:avLst/>
                      </a:prstGeom>
                      <a:noFill/>
                      <a:ln w="38100">
                        <a:miter/>
                      </a:ln>
                    </p:spPr>
                  </p:pic>
                </p:oleObj>
              </mc:Fallback>
            </mc:AlternateContent>
          </a:graphicData>
        </a:graphic>
      </p:graphicFrame>
      <p:sp>
        <p:nvSpPr>
          <p:cNvPr id="2" name="文本框 1"/>
          <p:cNvSpPr txBox="1"/>
          <p:nvPr/>
        </p:nvSpPr>
        <p:spPr>
          <a:xfrm>
            <a:off x="560705" y="1234440"/>
            <a:ext cx="3709035" cy="521970"/>
          </a:xfrm>
          <a:prstGeom prst="rect">
            <a:avLst/>
          </a:prstGeom>
          <a:noFill/>
        </p:spPr>
        <p:txBody>
          <a:bodyPr wrap="square" rtlCol="0">
            <a:spAutoFit/>
          </a:bodyPr>
          <a:p>
            <a:r>
              <a:rPr lang="en-US" altLang="zh-CN" sz="2800" b="1" kern="0" dirty="0">
                <a:sym typeface="+mn-ea"/>
              </a:rPr>
              <a:t>有教师学习(监督学习)</a:t>
            </a:r>
            <a:endParaRPr lang="en-US" altLang="zh-CN" sz="2800" b="1" kern="0" dirty="0"/>
          </a:p>
        </p:txBody>
      </p:sp>
      <p:sp>
        <p:nvSpPr>
          <p:cNvPr id="3" name="标题 2"/>
          <p:cNvSpPr/>
          <p:nvPr>
            <p:ph type="title"/>
          </p:nvPr>
        </p:nvSpPr>
        <p:spPr/>
        <p:txBody>
          <a:bodyPr/>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楷体" panose="02010609060101010101" pitchFamily="49" charset="-122"/>
                <a:ea typeface="楷体" panose="02010609060101010101" pitchFamily="49" charset="-122"/>
              </a:rPr>
              <a:t>BP</a:t>
            </a:r>
            <a:r>
              <a:rPr lang="zh-CN" altLang="en-US" dirty="0" smtClean="0">
                <a:latin typeface="楷体" panose="02010609060101010101" pitchFamily="49" charset="-122"/>
                <a:ea typeface="楷体" panose="02010609060101010101" pitchFamily="49" charset="-122"/>
              </a:rPr>
              <a:t>算法</a:t>
            </a:r>
            <a:r>
              <a:rPr lang="en-US" altLang="zh-CN" dirty="0" smtClean="0">
                <a:latin typeface="楷体" panose="02010609060101010101" pitchFamily="49" charset="-122"/>
                <a:ea typeface="楷体" panose="02010609060101010101" pitchFamily="49" charset="-122"/>
              </a:rPr>
              <a:t>(Back Propagation)</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sz="half" idx="1"/>
          </p:nvPr>
        </p:nvSpPr>
        <p:spPr>
          <a:xfrm>
            <a:off x="0" y="908720"/>
            <a:ext cx="9144000" cy="2088232"/>
          </a:xfrm>
        </p:spPr>
        <p:txBody>
          <a:bodyPr/>
          <a:lstStyle/>
          <a:p>
            <a:r>
              <a:rPr lang="zh-CN" altLang="en-US" b="0" dirty="0" smtClean="0">
                <a:latin typeface="楷体" panose="02010609060101010101" pitchFamily="49" charset="-122"/>
                <a:ea typeface="楷体" panose="02010609060101010101" pitchFamily="49" charset="-122"/>
              </a:rPr>
              <a:t>采用</a:t>
            </a:r>
            <a:r>
              <a:rPr lang="en-US" altLang="zh-CN" b="0" dirty="0" smtClean="0">
                <a:latin typeface="楷体" panose="02010609060101010101" pitchFamily="49" charset="-122"/>
                <a:ea typeface="楷体" panose="02010609060101010101" pitchFamily="49" charset="-122"/>
              </a:rPr>
              <a:t>BP</a:t>
            </a:r>
            <a:r>
              <a:rPr lang="zh-CN" altLang="en-US" b="0" dirty="0" smtClean="0">
                <a:latin typeface="楷体" panose="02010609060101010101" pitchFamily="49" charset="-122"/>
                <a:ea typeface="楷体" panose="02010609060101010101" pitchFamily="49" charset="-122"/>
              </a:rPr>
              <a:t>学习算法的前馈神经网络称为</a:t>
            </a:r>
            <a:r>
              <a:rPr lang="en-US" altLang="zh-CN" b="0" dirty="0" smtClean="0">
                <a:latin typeface="楷体" panose="02010609060101010101" pitchFamily="49" charset="-122"/>
                <a:ea typeface="楷体" panose="02010609060101010101" pitchFamily="49" charset="-122"/>
              </a:rPr>
              <a:t>BP</a:t>
            </a:r>
            <a:r>
              <a:rPr lang="zh-CN" altLang="en-US" b="0" dirty="0" smtClean="0">
                <a:latin typeface="楷体" panose="02010609060101010101" pitchFamily="49" charset="-122"/>
                <a:ea typeface="楷体" panose="02010609060101010101" pitchFamily="49" charset="-122"/>
              </a:rPr>
              <a:t>神经网络</a:t>
            </a:r>
            <a:endParaRPr lang="en-US" altLang="zh-CN" b="0"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2116" y="1597723"/>
            <a:ext cx="4440102" cy="410445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smtClean="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r>
              <a:rPr lang="en-US" altLang="zh-CN" dirty="0" smtClean="0">
                <a:latin typeface="楷体" panose="02010609060101010101" pitchFamily="49" charset="-122"/>
                <a:ea typeface="楷体" panose="02010609060101010101" pitchFamily="49" charset="-122"/>
              </a:rPr>
              <a:t>)</a:t>
            </a:r>
            <a:endParaRPr lang="zh-CN" altLang="en-US" dirty="0" smtClean="0">
              <a:latin typeface="楷体" panose="02010609060101010101" pitchFamily="49" charset="-122"/>
              <a:ea typeface="楷体" panose="02010609060101010101" pitchFamily="49" charset="-122"/>
            </a:endParaRPr>
          </a:p>
        </p:txBody>
      </p:sp>
      <p:sp>
        <p:nvSpPr>
          <p:cNvPr id="4099" name="Rectangle 3"/>
          <p:cNvSpPr>
            <a:spLocks noGrp="1" noChangeArrowheads="1"/>
          </p:cNvSpPr>
          <p:nvPr>
            <p:ph type="body" idx="1"/>
          </p:nvPr>
        </p:nvSpPr>
        <p:spPr>
          <a:xfrm>
            <a:off x="251520" y="1196753"/>
            <a:ext cx="8172450" cy="2592288"/>
          </a:xfrm>
        </p:spPr>
        <p:txBody>
          <a:bodyPr/>
          <a:lstStyle/>
          <a:p>
            <a:pPr eaLnBrk="1" hangingPunct="1">
              <a:lnSpc>
                <a:spcPct val="90000"/>
              </a:lnSpc>
            </a:pPr>
            <a:r>
              <a:rPr lang="en-US" altLang="zh-CN" b="0" dirty="0" smtClean="0">
                <a:latin typeface="楷体" panose="02010609060101010101" pitchFamily="49" charset="-122"/>
                <a:ea typeface="楷体" panose="02010609060101010101" pitchFamily="49" charset="-122"/>
              </a:rPr>
              <a:t>BP</a:t>
            </a:r>
            <a:r>
              <a:rPr lang="zh-CN" altLang="en-US" b="0" dirty="0" smtClean="0">
                <a:latin typeface="楷体" panose="02010609060101010101" pitchFamily="49" charset="-122"/>
                <a:ea typeface="楷体" panose="02010609060101010101" pitchFamily="49" charset="-122"/>
              </a:rPr>
              <a:t>算法基本原理</a:t>
            </a:r>
            <a:endParaRPr lang="en-US" altLang="zh-CN" b="0" dirty="0" smtClean="0">
              <a:latin typeface="楷体" panose="02010609060101010101" pitchFamily="49" charset="-122"/>
              <a:ea typeface="楷体" panose="02010609060101010101" pitchFamily="49" charset="-122"/>
            </a:endParaRPr>
          </a:p>
          <a:p>
            <a:pPr eaLnBrk="1" hangingPunct="1">
              <a:lnSpc>
                <a:spcPct val="90000"/>
              </a:lnSpc>
            </a:pPr>
            <a:r>
              <a:rPr lang="zh-CN" altLang="en-US" b="0" dirty="0" smtClean="0">
                <a:latin typeface="楷体" panose="02010609060101010101" pitchFamily="49" charset="-122"/>
                <a:ea typeface="楷体" panose="02010609060101010101" pitchFamily="49" charset="-122"/>
              </a:rPr>
              <a:t>利用输出后的误差来估计输出层的直接前导层的误差，再用这个误差估计更前一层的误差，如此一层一层的反传下去，就获得了所有其他各层的误差估计。</a:t>
            </a:r>
            <a:endParaRPr lang="zh-CN" altLang="en-US" sz="2400" dirty="0" smtClean="0">
              <a:latin typeface="楷体" panose="02010609060101010101" pitchFamily="49" charset="-122"/>
              <a:ea typeface="楷体" panose="02010609060101010101" pitchFamily="49" charset="-122"/>
            </a:endParaRPr>
          </a:p>
        </p:txBody>
      </p:sp>
      <p:sp>
        <p:nvSpPr>
          <p:cNvPr id="2" name="矩形 1"/>
          <p:cNvSpPr/>
          <p:nvPr/>
        </p:nvSpPr>
        <p:spPr>
          <a:xfrm>
            <a:off x="683568" y="4216635"/>
            <a:ext cx="6902852" cy="590931"/>
          </a:xfrm>
          <a:prstGeom prst="rect">
            <a:avLst/>
          </a:prstGeom>
          <a:solidFill>
            <a:schemeClr val="accent2"/>
          </a:solidFill>
          <a:ln w="38100">
            <a:solidFill>
              <a:schemeClr val="tx1"/>
            </a:solidFill>
          </a:ln>
        </p:spPr>
        <p:txBody>
          <a:bodyPr wrap="none">
            <a:spAutoFit/>
          </a:bodyPr>
          <a:lstStyle/>
          <a:p>
            <a:pPr>
              <a:lnSpc>
                <a:spcPct val="90000"/>
              </a:lnSpc>
            </a:pPr>
            <a:r>
              <a:rPr lang="zh-CN" altLang="en-US" sz="3600" b="1" dirty="0">
                <a:solidFill>
                  <a:srgbClr val="FFFF00"/>
                </a:solidFill>
                <a:latin typeface="楷体" panose="02010609060101010101" pitchFamily="49" charset="-122"/>
                <a:ea typeface="楷体" panose="02010609060101010101" pitchFamily="49" charset="-122"/>
              </a:rPr>
              <a:t>信号的</a:t>
            </a:r>
            <a:r>
              <a:rPr lang="zh-CN" altLang="en-US" sz="3600" b="1" dirty="0" smtClean="0">
                <a:solidFill>
                  <a:srgbClr val="FFFF00"/>
                </a:solidFill>
                <a:latin typeface="楷体" panose="02010609060101010101" pitchFamily="49" charset="-122"/>
                <a:ea typeface="楷体" panose="02010609060101010101" pitchFamily="49" charset="-122"/>
              </a:rPr>
              <a:t>正向传播</a:t>
            </a:r>
            <a:r>
              <a:rPr lang="en-US" altLang="zh-CN" sz="3600" b="1" dirty="0" smtClean="0">
                <a:solidFill>
                  <a:srgbClr val="FFFF00"/>
                </a:solidFill>
                <a:latin typeface="楷体" panose="02010609060101010101" pitchFamily="49" charset="-122"/>
                <a:ea typeface="楷体" panose="02010609060101010101" pitchFamily="49" charset="-122"/>
              </a:rPr>
              <a:t>&amp;</a:t>
            </a:r>
            <a:r>
              <a:rPr lang="zh-CN" altLang="en-US" sz="3600" b="1" dirty="0">
                <a:solidFill>
                  <a:srgbClr val="FFFF00"/>
                </a:solidFill>
                <a:latin typeface="楷体" panose="02010609060101010101" pitchFamily="49" charset="-122"/>
                <a:ea typeface="楷体" panose="02010609060101010101" pitchFamily="49" charset="-122"/>
              </a:rPr>
              <a:t>误差的反向传播</a:t>
            </a:r>
            <a:endParaRPr lang="zh-CN" altLang="en-US" sz="3600" b="1" dirty="0">
              <a:solidFill>
                <a:srgbClr val="FFFF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lang="zh-CN" altLang="en-US" sz="3600" dirty="0" smtClean="0">
              <a:latin typeface="楷体" panose="02010609060101010101" pitchFamily="49" charset="-122"/>
              <a:ea typeface="楷体" panose="02010609060101010101" pitchFamily="49" charset="-122"/>
            </a:endParaRPr>
          </a:p>
        </p:txBody>
      </p:sp>
      <p:sp>
        <p:nvSpPr>
          <p:cNvPr id="10243" name="Rectangle 3"/>
          <p:cNvSpPr>
            <a:spLocks noGrp="1" noChangeArrowheads="1"/>
          </p:cNvSpPr>
          <p:nvPr>
            <p:ph type="body" idx="1"/>
          </p:nvPr>
        </p:nvSpPr>
        <p:spPr>
          <a:xfrm>
            <a:off x="914400" y="1143000"/>
            <a:ext cx="7620000" cy="4862513"/>
          </a:xfrm>
        </p:spPr>
        <p:txBody>
          <a:bodyPr/>
          <a:lstStyle/>
          <a:p>
            <a:pPr eaLnBrk="1" hangingPunct="1"/>
            <a:r>
              <a:rPr lang="zh-CN" altLang="en-US" sz="2600" dirty="0" smtClean="0">
                <a:latin typeface="楷体" panose="02010609060101010101" pitchFamily="49" charset="-122"/>
                <a:ea typeface="楷体" panose="02010609060101010101" pitchFamily="49" charset="-122"/>
              </a:rPr>
              <a:t>正向传播：</a:t>
            </a:r>
            <a:endParaRPr lang="zh-CN" altLang="en-US" sz="2600" dirty="0" smtClean="0">
              <a:latin typeface="楷体" panose="02010609060101010101" pitchFamily="49" charset="-122"/>
              <a:ea typeface="楷体" panose="02010609060101010101" pitchFamily="49" charset="-122"/>
            </a:endParaRPr>
          </a:p>
          <a:p>
            <a:pPr marL="692150" lvl="1" indent="-347980" eaLnBrk="1" hangingPunct="1"/>
            <a:r>
              <a:rPr lang="zh-CN" altLang="en-US" sz="2400" dirty="0" smtClean="0">
                <a:latin typeface="楷体" panose="02010609060101010101" pitchFamily="49" charset="-122"/>
                <a:ea typeface="楷体" panose="02010609060101010101" pitchFamily="49" charset="-122"/>
              </a:rPr>
              <a:t>输入样本－－－输入层－－－各隐层－－－输出层</a:t>
            </a:r>
            <a:endParaRPr lang="zh-CN" altLang="en-US" sz="2400" dirty="0" smtClean="0">
              <a:latin typeface="楷体" panose="02010609060101010101" pitchFamily="49" charset="-122"/>
              <a:ea typeface="楷体" panose="02010609060101010101" pitchFamily="49" charset="-122"/>
            </a:endParaRPr>
          </a:p>
          <a:p>
            <a:pPr eaLnBrk="1" hangingPunct="1"/>
            <a:r>
              <a:rPr lang="zh-CN" altLang="en-US" sz="2600" dirty="0" smtClean="0">
                <a:latin typeface="楷体" panose="02010609060101010101" pitchFamily="49" charset="-122"/>
                <a:ea typeface="楷体" panose="02010609060101010101" pitchFamily="49" charset="-122"/>
              </a:rPr>
              <a:t>判断是否转入反向传播阶段：</a:t>
            </a:r>
            <a:endParaRPr lang="zh-CN" altLang="en-US" sz="2600" dirty="0" smtClean="0">
              <a:latin typeface="楷体" panose="02010609060101010101" pitchFamily="49" charset="-122"/>
              <a:ea typeface="楷体" panose="02010609060101010101" pitchFamily="49" charset="-122"/>
            </a:endParaRPr>
          </a:p>
          <a:p>
            <a:pPr marL="692150" lvl="1" indent="-347980" eaLnBrk="1" hangingPunct="1"/>
            <a:r>
              <a:rPr lang="zh-CN" altLang="en-US" sz="2400" dirty="0" smtClean="0">
                <a:latin typeface="楷体" panose="02010609060101010101" pitchFamily="49" charset="-122"/>
                <a:ea typeface="楷体" panose="02010609060101010101" pitchFamily="49" charset="-122"/>
              </a:rPr>
              <a:t>若输出层的实际输出与期望的输出不符</a:t>
            </a:r>
            <a:endParaRPr lang="en-US" altLang="zh-CN" sz="2400" dirty="0" smtClean="0">
              <a:latin typeface="楷体" panose="02010609060101010101" pitchFamily="49" charset="-122"/>
              <a:ea typeface="楷体" panose="02010609060101010101" pitchFamily="49" charset="-122"/>
            </a:endParaRPr>
          </a:p>
          <a:p>
            <a:pPr marL="692150" lvl="1" indent="-347980" eaLnBrk="1" hangingPunct="1"/>
            <a:endParaRPr lang="zh-CN" altLang="en-US" sz="2400" dirty="0" smtClean="0">
              <a:latin typeface="楷体" panose="02010609060101010101" pitchFamily="49" charset="-122"/>
              <a:ea typeface="楷体" panose="02010609060101010101" pitchFamily="49" charset="-122"/>
            </a:endParaRPr>
          </a:p>
          <a:p>
            <a:pPr eaLnBrk="1" hangingPunct="1"/>
            <a:r>
              <a:rPr lang="zh-CN" altLang="en-US" sz="2600" dirty="0" smtClean="0">
                <a:latin typeface="楷体" panose="02010609060101010101" pitchFamily="49" charset="-122"/>
                <a:ea typeface="楷体" panose="02010609060101010101" pitchFamily="49" charset="-122"/>
              </a:rPr>
              <a:t>误差反传</a:t>
            </a:r>
            <a:endParaRPr lang="zh-CN" altLang="en-US" sz="2600" dirty="0" smtClean="0">
              <a:latin typeface="楷体" panose="02010609060101010101" pitchFamily="49" charset="-122"/>
              <a:ea typeface="楷体" panose="02010609060101010101" pitchFamily="49" charset="-122"/>
            </a:endParaRPr>
          </a:p>
          <a:p>
            <a:pPr marL="692150" lvl="1" indent="-347980" eaLnBrk="1" hangingPunct="1"/>
            <a:r>
              <a:rPr lang="zh-CN" altLang="en-US" sz="2400" dirty="0" smtClean="0">
                <a:latin typeface="楷体" panose="02010609060101010101" pitchFamily="49" charset="-122"/>
                <a:ea typeface="楷体" panose="02010609060101010101" pitchFamily="49" charset="-122"/>
              </a:rPr>
              <a:t>误差以某种形式在各层表示－－－修正各层单元的权值</a:t>
            </a:r>
            <a:endParaRPr lang="zh-CN" altLang="en-US" sz="2400" dirty="0" smtClean="0">
              <a:latin typeface="楷体" panose="02010609060101010101" pitchFamily="49" charset="-122"/>
              <a:ea typeface="楷体" panose="02010609060101010101" pitchFamily="49" charset="-122"/>
            </a:endParaRPr>
          </a:p>
          <a:p>
            <a:pPr eaLnBrk="1" hangingPunct="1"/>
            <a:endParaRPr lang="zh-CN" altLang="en-US" sz="2300" dirty="0" smtClean="0">
              <a:latin typeface="楷体" panose="02010609060101010101" pitchFamily="49" charset="-122"/>
              <a:ea typeface="楷体" panose="02010609060101010101" pitchFamily="49" charset="-122"/>
            </a:endParaRPr>
          </a:p>
          <a:p>
            <a:pPr algn="ctr" eaLnBrk="1" hangingPunct="1"/>
            <a:r>
              <a:rPr lang="zh-CN" altLang="en-US" sz="2700" dirty="0" smtClean="0">
                <a:latin typeface="楷体" panose="02010609060101010101" pitchFamily="49" charset="-122"/>
                <a:ea typeface="楷体" panose="02010609060101010101" pitchFamily="49" charset="-122"/>
              </a:rPr>
              <a:t>网络输出的误差减少到可接受的程度</a:t>
            </a:r>
            <a:endParaRPr lang="zh-CN" altLang="en-US" sz="2700" dirty="0" smtClean="0">
              <a:latin typeface="楷体" panose="02010609060101010101" pitchFamily="49" charset="-122"/>
              <a:ea typeface="楷体" panose="02010609060101010101" pitchFamily="49" charset="-122"/>
            </a:endParaRPr>
          </a:p>
          <a:p>
            <a:pPr algn="ctr" eaLnBrk="1" hangingPunct="1">
              <a:buFont typeface="Wingdings" panose="05000000000000000000" pitchFamily="2" charset="2"/>
              <a:buNone/>
            </a:pPr>
            <a:r>
              <a:rPr lang="zh-CN" altLang="en-US" sz="2700" dirty="0" smtClean="0">
                <a:latin typeface="楷体" panose="02010609060101010101" pitchFamily="49" charset="-122"/>
                <a:ea typeface="楷体" panose="02010609060101010101" pitchFamily="49" charset="-122"/>
              </a:rPr>
              <a:t>进行到预先设定的学习次数为止</a:t>
            </a:r>
            <a:endParaRPr lang="zh-CN" altLang="en-US" sz="2300" dirty="0" smtClean="0">
              <a:latin typeface="楷体" panose="02010609060101010101" pitchFamily="49" charset="-122"/>
              <a:ea typeface="楷体" panose="02010609060101010101" pitchFamily="49" charset="-122"/>
            </a:endParaRPr>
          </a:p>
        </p:txBody>
      </p:sp>
      <p:sp>
        <p:nvSpPr>
          <p:cNvPr id="10244" name="AutoShape 4"/>
          <p:cNvSpPr>
            <a:spLocks noChangeArrowheads="1"/>
          </p:cNvSpPr>
          <p:nvPr/>
        </p:nvSpPr>
        <p:spPr bwMode="auto">
          <a:xfrm>
            <a:off x="8610600" y="2060574"/>
            <a:ext cx="533400" cy="1944489"/>
          </a:xfrm>
          <a:prstGeom prst="curvedLeftArrow">
            <a:avLst>
              <a:gd name="adj1" fmla="val 54286"/>
              <a:gd name="adj2" fmla="val 108571"/>
              <a:gd name="adj3" fmla="val 33333"/>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5" name="AutoShape 5"/>
          <p:cNvSpPr>
            <a:spLocks noChangeArrowheads="1"/>
          </p:cNvSpPr>
          <p:nvPr/>
        </p:nvSpPr>
        <p:spPr bwMode="auto">
          <a:xfrm rot="10800000" flipH="1">
            <a:off x="179388" y="1700213"/>
            <a:ext cx="457200" cy="2304850"/>
          </a:xfrm>
          <a:prstGeom prst="curvedRightArrow">
            <a:avLst>
              <a:gd name="adj1" fmla="val 66667"/>
              <a:gd name="adj2" fmla="val 133333"/>
              <a:gd name="adj3" fmla="val 33333"/>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6" name="Rectangle 6"/>
          <p:cNvSpPr>
            <a:spLocks noChangeArrowheads="1"/>
          </p:cNvSpPr>
          <p:nvPr/>
        </p:nvSpPr>
        <p:spPr bwMode="auto">
          <a:xfrm>
            <a:off x="900113" y="1125538"/>
            <a:ext cx="7710487" cy="2231454"/>
          </a:xfrm>
          <a:prstGeom prst="rect">
            <a:avLst/>
          </a:prstGeom>
          <a:noFill/>
          <a:ln w="63500">
            <a:solidFill>
              <a:srgbClr val="FFCC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7" name="Rectangle 7"/>
          <p:cNvSpPr>
            <a:spLocks noChangeArrowheads="1"/>
          </p:cNvSpPr>
          <p:nvPr/>
        </p:nvSpPr>
        <p:spPr bwMode="auto">
          <a:xfrm>
            <a:off x="1403350" y="5013176"/>
            <a:ext cx="6840538" cy="1219200"/>
          </a:xfrm>
          <a:prstGeom prst="rect">
            <a:avLst/>
          </a:prstGeom>
          <a:noFill/>
          <a:ln w="63500">
            <a:solidFill>
              <a:srgbClr val="FFCC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1"/>
              </a:buClr>
              <a:buFont typeface="Wingdings" panose="05000000000000000000" pitchFamily="2" charset="2"/>
              <a:buNone/>
            </a:pPr>
            <a:endParaRPr lang="zh-CN" altLang="zh-CN" sz="2000" b="1"/>
          </a:p>
        </p:txBody>
      </p:sp>
      <p:sp>
        <p:nvSpPr>
          <p:cNvPr id="10248" name="AutoShape 8"/>
          <p:cNvSpPr>
            <a:spLocks noChangeArrowheads="1"/>
          </p:cNvSpPr>
          <p:nvPr/>
        </p:nvSpPr>
        <p:spPr bwMode="auto">
          <a:xfrm>
            <a:off x="4356100" y="4403576"/>
            <a:ext cx="457200" cy="609600"/>
          </a:xfrm>
          <a:prstGeom prst="downArrow">
            <a:avLst>
              <a:gd name="adj1" fmla="val 50000"/>
              <a:gd name="adj2" fmla="val 33333"/>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Rectangle 2"/>
          <p:cNvSpPr>
            <a:spLocks noGrp="1" noChangeArrowheads="1"/>
          </p:cNvSpPr>
          <p:nvPr>
            <p:ph type="title"/>
          </p:nvPr>
        </p:nvSpPr>
        <p:spPr/>
        <p:txBody>
          <a:bodyPr/>
          <a:lstStyle/>
          <a:p>
            <a:r>
              <a:rPr lang="en-US" altLang="zh-CN" dirty="0" smtClean="0">
                <a:latin typeface="楷体" panose="02010609060101010101" pitchFamily="49" charset="-122"/>
                <a:ea typeface="楷体" panose="02010609060101010101" pitchFamily="49" charset="-122"/>
              </a:rPr>
              <a:t>BP</a:t>
            </a:r>
            <a:r>
              <a:rPr lang="zh-CN" altLang="en-US" dirty="0" smtClean="0">
                <a:latin typeface="楷体" panose="02010609060101010101" pitchFamily="49" charset="-122"/>
                <a:ea typeface="楷体" panose="02010609060101010101" pitchFamily="49" charset="-122"/>
              </a:rPr>
              <a:t>算法</a:t>
            </a:r>
            <a:r>
              <a:rPr lang="en-US" altLang="zh-CN" dirty="0" smtClean="0">
                <a:latin typeface="楷体" panose="02010609060101010101" pitchFamily="49" charset="-122"/>
                <a:ea typeface="楷体" panose="02010609060101010101" pitchFamily="49" charset="-122"/>
              </a:rPr>
              <a:t>(Back Propagation)</a:t>
            </a:r>
            <a:endParaRPr lang="zh-CN" altLang="en-US" dirty="0" smtClean="0">
              <a:latin typeface="楷体" panose="02010609060101010101" pitchFamily="49" charset="-122"/>
              <a:ea typeface="楷体" panose="02010609060101010101" pitchFamily="49" charset="-122"/>
            </a:endParaRPr>
          </a:p>
        </p:txBody>
      </p:sp>
      <p:sp>
        <p:nvSpPr>
          <p:cNvPr id="4105" name="Rectangle 3"/>
          <p:cNvSpPr>
            <a:spLocks noGrp="1" noChangeArrowheads="1"/>
          </p:cNvSpPr>
          <p:nvPr>
            <p:ph type="body" idx="1"/>
          </p:nvPr>
        </p:nvSpPr>
        <p:spPr/>
        <p:txBody>
          <a:bodyPr/>
          <a:lstStyle/>
          <a:p>
            <a:pPr marL="457200" lvl="1" indent="0">
              <a:buNone/>
            </a:pPr>
            <a:r>
              <a:rPr lang="zh-CN" altLang="en-US" dirty="0" smtClean="0">
                <a:latin typeface="楷体" panose="02010609060101010101" pitchFamily="49" charset="-122"/>
                <a:ea typeface="楷体" panose="02010609060101010101" pitchFamily="49" charset="-122"/>
              </a:rPr>
              <a:t>假设输入层有</a:t>
            </a:r>
            <a:r>
              <a:rPr lang="en-US" altLang="zh-CN" dirty="0" smtClean="0">
                <a:latin typeface="楷体" panose="02010609060101010101" pitchFamily="49" charset="-122"/>
                <a:ea typeface="楷体" panose="02010609060101010101" pitchFamily="49" charset="-122"/>
              </a:rPr>
              <a:t>n</a:t>
            </a:r>
            <a:r>
              <a:rPr lang="zh-CN" altLang="en-US" dirty="0" smtClean="0">
                <a:latin typeface="楷体" panose="02010609060101010101" pitchFamily="49" charset="-122"/>
                <a:ea typeface="楷体" panose="02010609060101010101" pitchFamily="49" charset="-122"/>
              </a:rPr>
              <a:t>个神经元，隐含层有</a:t>
            </a:r>
            <a:r>
              <a:rPr lang="en-US" altLang="zh-CN" dirty="0" smtClean="0">
                <a:latin typeface="楷体" panose="02010609060101010101" pitchFamily="49" charset="-122"/>
                <a:ea typeface="楷体" panose="02010609060101010101" pitchFamily="49" charset="-122"/>
              </a:rPr>
              <a:t>p</a:t>
            </a:r>
            <a:r>
              <a:rPr lang="zh-CN" altLang="en-US" dirty="0" smtClean="0">
                <a:latin typeface="楷体" panose="02010609060101010101" pitchFamily="49" charset="-122"/>
                <a:ea typeface="楷体" panose="02010609060101010101" pitchFamily="49" charset="-122"/>
              </a:rPr>
              <a:t>个神经元</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输出层有</a:t>
            </a:r>
            <a:r>
              <a:rPr lang="en-US" altLang="zh-CN" dirty="0" smtClean="0">
                <a:latin typeface="楷体" panose="02010609060101010101" pitchFamily="49" charset="-122"/>
                <a:ea typeface="楷体" panose="02010609060101010101" pitchFamily="49" charset="-122"/>
              </a:rPr>
              <a:t>q</a:t>
            </a:r>
            <a:r>
              <a:rPr lang="zh-CN" altLang="en-US" dirty="0" smtClean="0">
                <a:latin typeface="楷体" panose="02010609060101010101" pitchFamily="49" charset="-122"/>
                <a:ea typeface="楷体" panose="02010609060101010101" pitchFamily="49" charset="-122"/>
              </a:rPr>
              <a:t>个神经元</a:t>
            </a:r>
            <a:endParaRPr lang="zh-CN" altLang="en-US"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符号定义</a:t>
            </a:r>
            <a:endParaRPr lang="zh-CN" altLang="en-US"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输入向量</a:t>
            </a:r>
            <a:r>
              <a:rPr lang="en-US" altLang="zh-CN"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隐含层输入向量；</a:t>
            </a:r>
            <a:endParaRPr lang="zh-CN" altLang="en-US"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隐含层输出向量</a:t>
            </a:r>
            <a:r>
              <a:rPr lang="en-US" altLang="zh-CN"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输出层输入向量</a:t>
            </a:r>
            <a:r>
              <a:rPr lang="en-US" altLang="zh-CN"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输出层输出向量</a:t>
            </a:r>
            <a:r>
              <a:rPr lang="en-US" altLang="zh-CN"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期望输出向量</a:t>
            </a:r>
            <a:r>
              <a:rPr lang="en-US" altLang="zh-CN" dirty="0" smtClean="0">
                <a:latin typeface="楷体" panose="02010609060101010101" pitchFamily="49" charset="-122"/>
                <a:ea typeface="楷体" panose="02010609060101010101" pitchFamily="49" charset="-122"/>
              </a:rPr>
              <a:t>; </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误差函数</a:t>
            </a:r>
            <a:endParaRPr lang="en-US" altLang="zh-CN" dirty="0" smtClean="0">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p:txBody>
      </p:sp>
      <p:graphicFrame>
        <p:nvGraphicFramePr>
          <p:cNvPr id="11269" name="Object 5"/>
          <p:cNvGraphicFramePr>
            <a:graphicFrameLocks noChangeAspect="1"/>
          </p:cNvGraphicFramePr>
          <p:nvPr/>
        </p:nvGraphicFramePr>
        <p:xfrm>
          <a:off x="4459288" y="2439988"/>
          <a:ext cx="3184525" cy="585787"/>
        </p:xfrm>
        <a:graphic>
          <a:graphicData uri="http://schemas.openxmlformats.org/presentationml/2006/ole">
            <mc:AlternateContent xmlns:mc="http://schemas.openxmlformats.org/markup-compatibility/2006">
              <mc:Choice xmlns:v="urn:schemas-microsoft-com:vml" Requires="v">
                <p:oleObj spid="_x0000_s7512" name="Equation" r:id="rId1" imgW="24993600" imgH="6096000" progId="Equation.DSMT4">
                  <p:embed/>
                </p:oleObj>
              </mc:Choice>
              <mc:Fallback>
                <p:oleObj name="Equation" r:id="rId1" imgW="24993600" imgH="6096000" progId="Equation.DSMT4">
                  <p:embed/>
                  <p:pic>
                    <p:nvPicPr>
                      <p:cNvPr id="0" name="图片 7511"/>
                      <p:cNvPicPr>
                        <a:picLocks noChangeAspect="1" noChangeArrowheads="1"/>
                      </p:cNvPicPr>
                      <p:nvPr/>
                    </p:nvPicPr>
                    <p:blipFill>
                      <a:blip r:embed="rId2"/>
                      <a:srcRect/>
                      <a:stretch>
                        <a:fillRect/>
                      </a:stretch>
                    </p:blipFill>
                    <p:spPr bwMode="auto">
                      <a:xfrm>
                        <a:off x="4459288" y="2439988"/>
                        <a:ext cx="3184525"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0" name="Object 6"/>
          <p:cNvGraphicFramePr>
            <a:graphicFrameLocks noChangeAspect="1"/>
          </p:cNvGraphicFramePr>
          <p:nvPr/>
        </p:nvGraphicFramePr>
        <p:xfrm>
          <a:off x="4433888" y="2955577"/>
          <a:ext cx="3378200" cy="573088"/>
        </p:xfrm>
        <a:graphic>
          <a:graphicData uri="http://schemas.openxmlformats.org/presentationml/2006/ole">
            <mc:AlternateContent xmlns:mc="http://schemas.openxmlformats.org/markup-compatibility/2006">
              <mc:Choice xmlns:v="urn:schemas-microsoft-com:vml" Requires="v">
                <p:oleObj spid="_x0000_s7513" name="Equation" r:id="rId3" imgW="31394400" imgH="6705600" progId="Equation.DSMT4">
                  <p:embed/>
                </p:oleObj>
              </mc:Choice>
              <mc:Fallback>
                <p:oleObj name="Equation" r:id="rId3" imgW="31394400" imgH="6705600" progId="Equation.DSMT4">
                  <p:embed/>
                  <p:pic>
                    <p:nvPicPr>
                      <p:cNvPr id="0" name="图片 7512"/>
                      <p:cNvPicPr>
                        <a:picLocks noChangeAspect="1" noChangeArrowheads="1"/>
                      </p:cNvPicPr>
                      <p:nvPr/>
                    </p:nvPicPr>
                    <p:blipFill>
                      <a:blip r:embed="rId4"/>
                      <a:srcRect/>
                      <a:stretch>
                        <a:fillRect/>
                      </a:stretch>
                    </p:blipFill>
                    <p:spPr bwMode="auto">
                      <a:xfrm>
                        <a:off x="4433888" y="2955577"/>
                        <a:ext cx="3378200" cy="57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1" name="Object 7"/>
          <p:cNvGraphicFramePr>
            <a:graphicFrameLocks noChangeAspect="1"/>
          </p:cNvGraphicFramePr>
          <p:nvPr/>
        </p:nvGraphicFramePr>
        <p:xfrm>
          <a:off x="4432300" y="3406427"/>
          <a:ext cx="3379788" cy="604838"/>
        </p:xfrm>
        <a:graphic>
          <a:graphicData uri="http://schemas.openxmlformats.org/presentationml/2006/ole">
            <mc:AlternateContent xmlns:mc="http://schemas.openxmlformats.org/markup-compatibility/2006">
              <mc:Choice xmlns:v="urn:schemas-microsoft-com:vml" Requires="v">
                <p:oleObj spid="_x0000_s7514" name="Equation" r:id="rId5" imgW="33832800" imgH="6705600" progId="Equation.DSMT4">
                  <p:embed/>
                </p:oleObj>
              </mc:Choice>
              <mc:Fallback>
                <p:oleObj name="Equation" r:id="rId5" imgW="33832800" imgH="6705600" progId="Equation.DSMT4">
                  <p:embed/>
                  <p:pic>
                    <p:nvPicPr>
                      <p:cNvPr id="0" name="图片 7513"/>
                      <p:cNvPicPr>
                        <a:picLocks noChangeAspect="1" noChangeArrowheads="1"/>
                      </p:cNvPicPr>
                      <p:nvPr/>
                    </p:nvPicPr>
                    <p:blipFill>
                      <a:blip r:embed="rId6"/>
                      <a:srcRect/>
                      <a:stretch>
                        <a:fillRect/>
                      </a:stretch>
                    </p:blipFill>
                    <p:spPr bwMode="auto">
                      <a:xfrm>
                        <a:off x="4432300" y="3406427"/>
                        <a:ext cx="3379788"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8"/>
          <p:cNvGraphicFramePr>
            <a:graphicFrameLocks noChangeAspect="1"/>
          </p:cNvGraphicFramePr>
          <p:nvPr/>
        </p:nvGraphicFramePr>
        <p:xfrm>
          <a:off x="4503738" y="3922365"/>
          <a:ext cx="3238500" cy="627062"/>
        </p:xfrm>
        <a:graphic>
          <a:graphicData uri="http://schemas.openxmlformats.org/presentationml/2006/ole">
            <mc:AlternateContent xmlns:mc="http://schemas.openxmlformats.org/markup-compatibility/2006">
              <mc:Choice xmlns:v="urn:schemas-microsoft-com:vml" Requires="v">
                <p:oleObj spid="_x0000_s7515" name="Equation" r:id="rId7" imgW="31394400" imgH="6705600" progId="Equation.DSMT4">
                  <p:embed/>
                </p:oleObj>
              </mc:Choice>
              <mc:Fallback>
                <p:oleObj name="Equation" r:id="rId7" imgW="31394400" imgH="6705600" progId="Equation.DSMT4">
                  <p:embed/>
                  <p:pic>
                    <p:nvPicPr>
                      <p:cNvPr id="0" name="图片 7514"/>
                      <p:cNvPicPr>
                        <a:picLocks noChangeAspect="1" noChangeArrowheads="1"/>
                      </p:cNvPicPr>
                      <p:nvPr/>
                    </p:nvPicPr>
                    <p:blipFill>
                      <a:blip r:embed="rId8"/>
                      <a:srcRect/>
                      <a:stretch>
                        <a:fillRect/>
                      </a:stretch>
                    </p:blipFill>
                    <p:spPr bwMode="auto">
                      <a:xfrm>
                        <a:off x="4503738" y="3922365"/>
                        <a:ext cx="3238500" cy="627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3" name="Object 9"/>
          <p:cNvGraphicFramePr>
            <a:graphicFrameLocks noChangeAspect="1"/>
          </p:cNvGraphicFramePr>
          <p:nvPr/>
        </p:nvGraphicFramePr>
        <p:xfrm>
          <a:off x="4505325" y="4436715"/>
          <a:ext cx="3236913" cy="576262"/>
        </p:xfrm>
        <a:graphic>
          <a:graphicData uri="http://schemas.openxmlformats.org/presentationml/2006/ole">
            <mc:AlternateContent xmlns:mc="http://schemas.openxmlformats.org/markup-compatibility/2006">
              <mc:Choice xmlns:v="urn:schemas-microsoft-com:vml" Requires="v">
                <p:oleObj spid="_x0000_s7516" name="Equation" r:id="rId9" imgW="34137600" imgH="6705600" progId="Equation.DSMT4">
                  <p:embed/>
                </p:oleObj>
              </mc:Choice>
              <mc:Fallback>
                <p:oleObj name="Equation" r:id="rId9" imgW="34137600" imgH="6705600" progId="Equation.DSMT4">
                  <p:embed/>
                  <p:pic>
                    <p:nvPicPr>
                      <p:cNvPr id="0" name="图片 7515"/>
                      <p:cNvPicPr>
                        <a:picLocks noChangeAspect="1" noChangeArrowheads="1"/>
                      </p:cNvPicPr>
                      <p:nvPr/>
                    </p:nvPicPr>
                    <p:blipFill>
                      <a:blip r:embed="rId10"/>
                      <a:srcRect/>
                      <a:stretch>
                        <a:fillRect/>
                      </a:stretch>
                    </p:blipFill>
                    <p:spPr bwMode="auto">
                      <a:xfrm>
                        <a:off x="4505325" y="4436715"/>
                        <a:ext cx="3236913"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4" name="Object 10"/>
          <p:cNvGraphicFramePr>
            <a:graphicFrameLocks noChangeAspect="1"/>
          </p:cNvGraphicFramePr>
          <p:nvPr/>
        </p:nvGraphicFramePr>
        <p:xfrm>
          <a:off x="4359275" y="4889152"/>
          <a:ext cx="3457575" cy="700088"/>
        </p:xfrm>
        <a:graphic>
          <a:graphicData uri="http://schemas.openxmlformats.org/presentationml/2006/ole">
            <mc:AlternateContent xmlns:mc="http://schemas.openxmlformats.org/markup-compatibility/2006">
              <mc:Choice xmlns:v="urn:schemas-microsoft-com:vml" Requires="v">
                <p:oleObj spid="_x0000_s7517" name="Equation" r:id="rId11" imgW="28651200" imgH="6705600" progId="Equation.DSMT4">
                  <p:embed/>
                </p:oleObj>
              </mc:Choice>
              <mc:Fallback>
                <p:oleObj name="Equation" r:id="rId11" imgW="28651200" imgH="6705600" progId="Equation.DSMT4">
                  <p:embed/>
                  <p:pic>
                    <p:nvPicPr>
                      <p:cNvPr id="0" name="图片 7516"/>
                      <p:cNvPicPr>
                        <a:picLocks noChangeAspect="1" noChangeArrowheads="1"/>
                      </p:cNvPicPr>
                      <p:nvPr/>
                    </p:nvPicPr>
                    <p:blipFill>
                      <a:blip r:embed="rId12"/>
                      <a:srcRect/>
                      <a:stretch>
                        <a:fillRect/>
                      </a:stretch>
                    </p:blipFill>
                    <p:spPr bwMode="auto">
                      <a:xfrm>
                        <a:off x="4359275" y="4889152"/>
                        <a:ext cx="3457575" cy="700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4283968" y="5445224"/>
          <a:ext cx="3806825" cy="1008062"/>
        </p:xfrm>
        <a:graphic>
          <a:graphicData uri="http://schemas.openxmlformats.org/presentationml/2006/ole">
            <mc:AlternateContent xmlns:mc="http://schemas.openxmlformats.org/markup-compatibility/2006">
              <mc:Choice xmlns:v="urn:schemas-microsoft-com:vml" Requires="v">
                <p:oleObj spid="_x0000_s7518" name="Equation" r:id="rId13" imgW="1612900" imgH="431800" progId="Equation.DSMT4">
                  <p:embed/>
                </p:oleObj>
              </mc:Choice>
              <mc:Fallback>
                <p:oleObj name="Equation" r:id="rId13" imgW="1612900" imgH="431800"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3968" y="5445224"/>
                        <a:ext cx="3806825" cy="1008062"/>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sp>
        <p:nvSpPr>
          <p:cNvPr id="14339" name="Rectangle 3"/>
          <p:cNvSpPr>
            <a:spLocks noGrp="1" noChangeArrowheads="1"/>
          </p:cNvSpPr>
          <p:nvPr>
            <p:ph type="body" idx="1"/>
          </p:nvPr>
        </p:nvSpPr>
        <p:spPr>
          <a:xfrm>
            <a:off x="900113" y="1484313"/>
            <a:ext cx="7772400" cy="4114800"/>
          </a:xfrm>
        </p:spPr>
        <p:txBody>
          <a:bodyPr/>
          <a:lstStyle/>
          <a:p>
            <a:pPr eaLnBrk="1" hangingPunct="1"/>
            <a:r>
              <a:rPr lang="zh-CN" altLang="en-US" dirty="0" smtClean="0">
                <a:latin typeface="楷体" panose="02010609060101010101" pitchFamily="49" charset="-122"/>
                <a:ea typeface="楷体" panose="02010609060101010101" pitchFamily="49" charset="-122"/>
              </a:rPr>
              <a:t>首先，计算各层神经元的输入和输出</a:t>
            </a:r>
            <a:endParaRPr lang="zh-CN" altLang="en-US" dirty="0" smtClean="0">
              <a:latin typeface="楷体" panose="02010609060101010101" pitchFamily="49" charset="-122"/>
              <a:ea typeface="楷体" panose="02010609060101010101" pitchFamily="49" charset="-122"/>
            </a:endParaRPr>
          </a:p>
          <a:p>
            <a:pPr eaLnBrk="1" hangingPunct="1">
              <a:buFont typeface="Wingdings" panose="05000000000000000000" pitchFamily="2" charset="2"/>
              <a:buNone/>
            </a:pPr>
            <a:endParaRPr lang="en-US" altLang="zh-CN" dirty="0" smtClean="0">
              <a:latin typeface="楷体" panose="02010609060101010101" pitchFamily="49" charset="-122"/>
              <a:ea typeface="楷体" panose="02010609060101010101" pitchFamily="49" charset="-122"/>
            </a:endParaRPr>
          </a:p>
        </p:txBody>
      </p:sp>
      <p:graphicFrame>
        <p:nvGraphicFramePr>
          <p:cNvPr id="14340" name="Object 4"/>
          <p:cNvGraphicFramePr>
            <a:graphicFrameLocks noChangeAspect="1"/>
          </p:cNvGraphicFramePr>
          <p:nvPr/>
        </p:nvGraphicFramePr>
        <p:xfrm>
          <a:off x="1475656" y="2348880"/>
          <a:ext cx="6057900" cy="1035050"/>
        </p:xfrm>
        <a:graphic>
          <a:graphicData uri="http://schemas.openxmlformats.org/presentationml/2006/ole">
            <mc:AlternateContent xmlns:mc="http://schemas.openxmlformats.org/markup-compatibility/2006">
              <mc:Choice xmlns:v="urn:schemas-microsoft-com:vml" Requires="v">
                <p:oleObj spid="_x0000_s10438" name="Equation" r:id="rId1" imgW="53340000" imgH="10363200" progId="Equation.DSMT4">
                  <p:embed/>
                </p:oleObj>
              </mc:Choice>
              <mc:Fallback>
                <p:oleObj name="Equation" r:id="rId1" imgW="53340000" imgH="10363200" progId="Equation.DSMT4">
                  <p:embed/>
                  <p:pic>
                    <p:nvPicPr>
                      <p:cNvPr id="0" name="图片 10437"/>
                      <p:cNvPicPr>
                        <a:picLocks noChangeAspect="1" noChangeArrowheads="1"/>
                      </p:cNvPicPr>
                      <p:nvPr/>
                    </p:nvPicPr>
                    <p:blipFill>
                      <a:blip r:embed="rId2"/>
                      <a:srcRect/>
                      <a:stretch>
                        <a:fillRect/>
                      </a:stretch>
                    </p:blipFill>
                    <p:spPr bwMode="auto">
                      <a:xfrm>
                        <a:off x="1475656" y="2348880"/>
                        <a:ext cx="6057900"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1" name="Object 5"/>
          <p:cNvGraphicFramePr>
            <a:graphicFrameLocks noChangeAspect="1"/>
          </p:cNvGraphicFramePr>
          <p:nvPr/>
        </p:nvGraphicFramePr>
        <p:xfrm>
          <a:off x="1476375" y="3357563"/>
          <a:ext cx="6399213" cy="695325"/>
        </p:xfrm>
        <a:graphic>
          <a:graphicData uri="http://schemas.openxmlformats.org/presentationml/2006/ole">
            <mc:AlternateContent xmlns:mc="http://schemas.openxmlformats.org/markup-compatibility/2006">
              <mc:Choice xmlns:v="urn:schemas-microsoft-com:vml" Requires="v">
                <p:oleObj spid="_x0000_s10439" name="Equation" r:id="rId3" imgW="50596800" imgH="5486400" progId="Equation.DSMT4">
                  <p:embed/>
                </p:oleObj>
              </mc:Choice>
              <mc:Fallback>
                <p:oleObj name="Equation" r:id="rId3" imgW="50596800" imgH="5486400" progId="Equation.DSMT4">
                  <p:embed/>
                  <p:pic>
                    <p:nvPicPr>
                      <p:cNvPr id="0" name="图片 10438"/>
                      <p:cNvPicPr>
                        <a:picLocks noChangeAspect="1" noChangeArrowheads="1"/>
                      </p:cNvPicPr>
                      <p:nvPr/>
                    </p:nvPicPr>
                    <p:blipFill>
                      <a:blip r:embed="rId4"/>
                      <a:srcRect/>
                      <a:stretch>
                        <a:fillRect/>
                      </a:stretch>
                    </p:blipFill>
                    <p:spPr bwMode="auto">
                      <a:xfrm>
                        <a:off x="1476375" y="3357563"/>
                        <a:ext cx="6399213"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2" name="Object 6"/>
          <p:cNvGraphicFramePr>
            <a:graphicFrameLocks noChangeAspect="1"/>
          </p:cNvGraphicFramePr>
          <p:nvPr/>
        </p:nvGraphicFramePr>
        <p:xfrm>
          <a:off x="1403648" y="3933056"/>
          <a:ext cx="6264275" cy="1187450"/>
        </p:xfrm>
        <a:graphic>
          <a:graphicData uri="http://schemas.openxmlformats.org/presentationml/2006/ole">
            <mc:AlternateContent xmlns:mc="http://schemas.openxmlformats.org/markup-compatibility/2006">
              <mc:Choice xmlns:v="urn:schemas-microsoft-com:vml" Requires="v">
                <p:oleObj spid="_x0000_s10440" name="Equation" r:id="rId5" imgW="54254400" imgH="10363200" progId="Equation.DSMT4">
                  <p:embed/>
                </p:oleObj>
              </mc:Choice>
              <mc:Fallback>
                <p:oleObj name="Equation" r:id="rId5" imgW="54254400" imgH="10363200" progId="Equation.DSMT4">
                  <p:embed/>
                  <p:pic>
                    <p:nvPicPr>
                      <p:cNvPr id="0" name="图片 10439"/>
                      <p:cNvPicPr>
                        <a:picLocks noChangeAspect="1" noChangeArrowheads="1"/>
                      </p:cNvPicPr>
                      <p:nvPr/>
                    </p:nvPicPr>
                    <p:blipFill>
                      <a:blip r:embed="rId6"/>
                      <a:srcRect/>
                      <a:stretch>
                        <a:fillRect/>
                      </a:stretch>
                    </p:blipFill>
                    <p:spPr bwMode="auto">
                      <a:xfrm>
                        <a:off x="1403648" y="3933056"/>
                        <a:ext cx="6264275" cy="1187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ChangeAspect="1"/>
          </p:cNvGraphicFramePr>
          <p:nvPr/>
        </p:nvGraphicFramePr>
        <p:xfrm>
          <a:off x="1475656" y="5084763"/>
          <a:ext cx="6210300" cy="693737"/>
        </p:xfrm>
        <a:graphic>
          <a:graphicData uri="http://schemas.openxmlformats.org/presentationml/2006/ole">
            <mc:AlternateContent xmlns:mc="http://schemas.openxmlformats.org/markup-compatibility/2006">
              <mc:Choice xmlns:v="urn:schemas-microsoft-com:vml" Requires="v">
                <p:oleObj spid="_x0000_s10441" name="Equation" r:id="rId7" imgW="49072800" imgH="5486400" progId="Equation.DSMT4">
                  <p:embed/>
                </p:oleObj>
              </mc:Choice>
              <mc:Fallback>
                <p:oleObj name="Equation" r:id="rId7" imgW="49072800" imgH="5486400" progId="Equation.DSMT4">
                  <p:embed/>
                  <p:pic>
                    <p:nvPicPr>
                      <p:cNvPr id="0" name="图片 10440"/>
                      <p:cNvPicPr>
                        <a:picLocks noChangeAspect="1" noChangeArrowheads="1"/>
                      </p:cNvPicPr>
                      <p:nvPr/>
                    </p:nvPicPr>
                    <p:blipFill>
                      <a:blip r:embed="rId8"/>
                      <a:srcRect/>
                      <a:stretch>
                        <a:fillRect/>
                      </a:stretch>
                    </p:blipFill>
                    <p:spPr bwMode="auto">
                      <a:xfrm>
                        <a:off x="1475656" y="5084763"/>
                        <a:ext cx="6210300"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sp>
        <p:nvSpPr>
          <p:cNvPr id="15363" name="Rectangle 3"/>
          <p:cNvSpPr>
            <a:spLocks noGrp="1" noChangeArrowheads="1"/>
          </p:cNvSpPr>
          <p:nvPr>
            <p:ph type="body" idx="1"/>
          </p:nvPr>
        </p:nvSpPr>
        <p:spPr>
          <a:xfrm>
            <a:off x="899592" y="1268760"/>
            <a:ext cx="7772400" cy="4114800"/>
          </a:xfrm>
        </p:spPr>
        <p:txBody>
          <a:bodyPr/>
          <a:lstStyle/>
          <a:p>
            <a:pPr eaLnBrk="1" hangingPunct="1"/>
            <a:r>
              <a:rPr lang="zh-CN" altLang="en-US" dirty="0" smtClean="0">
                <a:latin typeface="楷体" panose="02010609060101010101" pitchFamily="49" charset="-122"/>
                <a:ea typeface="楷体" panose="02010609060101010101" pitchFamily="49" charset="-122"/>
              </a:rPr>
              <a:t>第二步利用网络期望输出和实际输出，计算误差函数对输出层的各神经元的偏导数。 </a:t>
            </a:r>
            <a:endParaRPr lang="zh-CN" altLang="en-US" dirty="0" smtClean="0">
              <a:latin typeface="楷体" panose="02010609060101010101" pitchFamily="49" charset="-122"/>
              <a:ea typeface="楷体" panose="02010609060101010101" pitchFamily="49" charset="-122"/>
            </a:endParaRPr>
          </a:p>
        </p:txBody>
      </p:sp>
      <p:graphicFrame>
        <p:nvGraphicFramePr>
          <p:cNvPr id="15364" name="Object 4"/>
          <p:cNvGraphicFramePr>
            <a:graphicFrameLocks noChangeAspect="1"/>
          </p:cNvGraphicFramePr>
          <p:nvPr/>
        </p:nvGraphicFramePr>
        <p:xfrm>
          <a:off x="2987824" y="2492896"/>
          <a:ext cx="2205038" cy="1312862"/>
        </p:xfrm>
        <a:graphic>
          <a:graphicData uri="http://schemas.openxmlformats.org/presentationml/2006/ole">
            <mc:AlternateContent xmlns:mc="http://schemas.openxmlformats.org/markup-compatibility/2006">
              <mc:Choice xmlns:v="urn:schemas-microsoft-com:vml" Requires="v">
                <p:oleObj spid="_x0000_s11417" name="Equation" r:id="rId1" imgW="25603200" imgH="15240000" progId="Equation.DSMT4">
                  <p:embed/>
                </p:oleObj>
              </mc:Choice>
              <mc:Fallback>
                <p:oleObj name="Equation" r:id="rId1" imgW="25603200" imgH="15240000" progId="Equation.DSMT4">
                  <p:embed/>
                  <p:pic>
                    <p:nvPicPr>
                      <p:cNvPr id="0" name="图片 11416"/>
                      <p:cNvPicPr>
                        <a:picLocks noChangeAspect="1" noChangeArrowheads="1"/>
                      </p:cNvPicPr>
                      <p:nvPr/>
                    </p:nvPicPr>
                    <p:blipFill>
                      <a:blip r:embed="rId2"/>
                      <a:srcRect/>
                      <a:stretch>
                        <a:fillRect/>
                      </a:stretch>
                    </p:blipFill>
                    <p:spPr bwMode="auto">
                      <a:xfrm>
                        <a:off x="2987824" y="2492896"/>
                        <a:ext cx="2205038" cy="1312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 name="Object 5"/>
          <p:cNvGraphicFramePr>
            <a:graphicFrameLocks noChangeAspect="1"/>
          </p:cNvGraphicFramePr>
          <p:nvPr/>
        </p:nvGraphicFramePr>
        <p:xfrm>
          <a:off x="4932040" y="3717032"/>
          <a:ext cx="3956050" cy="1173163"/>
        </p:xfrm>
        <a:graphic>
          <a:graphicData uri="http://schemas.openxmlformats.org/presentationml/2006/ole">
            <mc:AlternateContent xmlns:mc="http://schemas.openxmlformats.org/markup-compatibility/2006">
              <mc:Choice xmlns:v="urn:schemas-microsoft-com:vml" Requires="v">
                <p:oleObj spid="_x0000_s11418" name="Equation" r:id="rId3" imgW="52425600" imgH="15544800" progId="Equation.DSMT4">
                  <p:embed/>
                </p:oleObj>
              </mc:Choice>
              <mc:Fallback>
                <p:oleObj name="Equation" r:id="rId3" imgW="52425600" imgH="15544800" progId="Equation.DSMT4">
                  <p:embed/>
                  <p:pic>
                    <p:nvPicPr>
                      <p:cNvPr id="0" name="图片 11417"/>
                      <p:cNvPicPr>
                        <a:picLocks noChangeAspect="1" noChangeArrowheads="1"/>
                      </p:cNvPicPr>
                      <p:nvPr/>
                    </p:nvPicPr>
                    <p:blipFill>
                      <a:blip r:embed="rId4"/>
                      <a:srcRect/>
                      <a:stretch>
                        <a:fillRect/>
                      </a:stretch>
                    </p:blipFill>
                    <p:spPr bwMode="auto">
                      <a:xfrm>
                        <a:off x="4932040" y="3717032"/>
                        <a:ext cx="3956050" cy="117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6"/>
          <p:cNvGraphicFramePr>
            <a:graphicFrameLocks noChangeAspect="1"/>
          </p:cNvGraphicFramePr>
          <p:nvPr/>
        </p:nvGraphicFramePr>
        <p:xfrm>
          <a:off x="323528" y="3789040"/>
          <a:ext cx="4105275" cy="2379663"/>
        </p:xfrm>
        <a:graphic>
          <a:graphicData uri="http://schemas.openxmlformats.org/presentationml/2006/ole">
            <mc:AlternateContent xmlns:mc="http://schemas.openxmlformats.org/markup-compatibility/2006">
              <mc:Choice xmlns:v="urn:schemas-microsoft-com:vml" Requires="v">
                <p:oleObj spid="_x0000_s11419" name="Equation" r:id="rId5" imgW="62788800" imgH="29565600" progId="Equation.DSMT4">
                  <p:embed/>
                </p:oleObj>
              </mc:Choice>
              <mc:Fallback>
                <p:oleObj name="Equation" r:id="rId5" imgW="62788800" imgH="29565600" progId="Equation.DSMT4">
                  <p:embed/>
                  <p:pic>
                    <p:nvPicPr>
                      <p:cNvPr id="0" name="图片 11418"/>
                      <p:cNvPicPr>
                        <a:picLocks noChangeAspect="1" noChangeArrowheads="1"/>
                      </p:cNvPicPr>
                      <p:nvPr/>
                    </p:nvPicPr>
                    <p:blipFill>
                      <a:blip r:embed="rId6"/>
                      <a:srcRect/>
                      <a:stretch>
                        <a:fillRect/>
                      </a:stretch>
                    </p:blipFill>
                    <p:spPr bwMode="auto">
                      <a:xfrm>
                        <a:off x="323528" y="3789040"/>
                        <a:ext cx="4105275" cy="237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8" name="直接箭头连接符 7"/>
          <p:cNvCxnSpPr/>
          <p:nvPr/>
        </p:nvCxnSpPr>
        <p:spPr bwMode="auto">
          <a:xfrm>
            <a:off x="5004048" y="3356992"/>
            <a:ext cx="648072" cy="6480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 name="直接箭头连接符 9"/>
          <p:cNvCxnSpPr/>
          <p:nvPr/>
        </p:nvCxnSpPr>
        <p:spPr bwMode="auto">
          <a:xfrm flipH="1">
            <a:off x="3419872" y="3356992"/>
            <a:ext cx="648072" cy="6480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graphicFrame>
        <p:nvGraphicFramePr>
          <p:cNvPr id="16387" name="Object 3"/>
          <p:cNvGraphicFramePr>
            <a:graphicFrameLocks noChangeAspect="1"/>
          </p:cNvGraphicFramePr>
          <p:nvPr/>
        </p:nvGraphicFramePr>
        <p:xfrm>
          <a:off x="1692275" y="2924175"/>
          <a:ext cx="4248150" cy="1319213"/>
        </p:xfrm>
        <a:graphic>
          <a:graphicData uri="http://schemas.openxmlformats.org/presentationml/2006/ole">
            <mc:AlternateContent xmlns:mc="http://schemas.openxmlformats.org/markup-compatibility/2006">
              <mc:Choice xmlns:v="urn:schemas-microsoft-com:vml" Requires="v">
                <p:oleObj spid="_x0000_s12486" name="Equation" r:id="rId1" imgW="49072800" imgH="15240000" progId="Equation.DSMT4">
                  <p:embed/>
                </p:oleObj>
              </mc:Choice>
              <mc:Fallback>
                <p:oleObj name="Equation" r:id="rId1" imgW="49072800" imgH="15240000" progId="Equation.DSMT4">
                  <p:embed/>
                  <p:pic>
                    <p:nvPicPr>
                      <p:cNvPr id="0" name="图片 12485"/>
                      <p:cNvPicPr>
                        <a:picLocks noChangeAspect="1" noChangeArrowheads="1"/>
                      </p:cNvPicPr>
                      <p:nvPr/>
                    </p:nvPicPr>
                    <p:blipFill>
                      <a:blip r:embed="rId2"/>
                      <a:srcRect/>
                      <a:stretch>
                        <a:fillRect/>
                      </a:stretch>
                    </p:blipFill>
                    <p:spPr bwMode="auto">
                      <a:xfrm>
                        <a:off x="1692275" y="2924175"/>
                        <a:ext cx="4248150" cy="1319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4"/>
          <p:cNvGraphicFramePr>
            <a:graphicFrameLocks noGrp="1" noChangeAspect="1"/>
          </p:cNvGraphicFramePr>
          <p:nvPr>
            <p:ph idx="1"/>
          </p:nvPr>
        </p:nvGraphicFramePr>
        <p:xfrm>
          <a:off x="2484438" y="3829050"/>
          <a:ext cx="3730625" cy="2043113"/>
        </p:xfrm>
        <a:graphic>
          <a:graphicData uri="http://schemas.openxmlformats.org/presentationml/2006/ole">
            <mc:AlternateContent xmlns:mc="http://schemas.openxmlformats.org/markup-compatibility/2006">
              <mc:Choice xmlns:v="urn:schemas-microsoft-com:vml" Requires="v">
                <p:oleObj spid="_x0000_s12487" name="Equation" r:id="rId3" imgW="47853600" imgH="26212800" progId="Equation.DSMT4">
                  <p:embed/>
                </p:oleObj>
              </mc:Choice>
              <mc:Fallback>
                <p:oleObj name="Equation" r:id="rId3" imgW="47853600" imgH="26212800" progId="Equation.DSMT4">
                  <p:embed/>
                  <p:pic>
                    <p:nvPicPr>
                      <p:cNvPr id="0" name="图片 12486"/>
                      <p:cNvPicPr>
                        <a:picLocks noChangeAspect="1" noChangeArrowheads="1"/>
                      </p:cNvPicPr>
                      <p:nvPr/>
                    </p:nvPicPr>
                    <p:blipFill>
                      <a:blip r:embed="rId4"/>
                      <a:srcRect/>
                      <a:stretch>
                        <a:fillRect/>
                      </a:stretch>
                    </p:blipFill>
                    <p:spPr bwMode="auto">
                      <a:xfrm>
                        <a:off x="2484438" y="3829050"/>
                        <a:ext cx="3730625" cy="204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Rectangle 5"/>
          <p:cNvSpPr>
            <a:spLocks noChangeArrowheads="1"/>
          </p:cNvSpPr>
          <p:nvPr/>
        </p:nvSpPr>
        <p:spPr bwMode="auto">
          <a:xfrm>
            <a:off x="827584" y="126876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2250" indent="-2222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buClr>
                <a:srgbClr val="CCFFCC"/>
              </a:buClr>
            </a:pPr>
            <a:r>
              <a:rPr lang="zh-CN" altLang="en-US" sz="3200" b="1" dirty="0" smtClean="0">
                <a:latin typeface="楷体" panose="02010609060101010101" pitchFamily="49" charset="-122"/>
                <a:ea typeface="楷体" panose="02010609060101010101" pitchFamily="49" charset="-122"/>
              </a:rPr>
              <a:t>第三步：利用</a:t>
            </a:r>
            <a:r>
              <a:rPr lang="zh-CN" altLang="en-US" sz="3200" b="1" dirty="0">
                <a:latin typeface="楷体" panose="02010609060101010101" pitchFamily="49" charset="-122"/>
                <a:ea typeface="楷体" panose="02010609060101010101" pitchFamily="49" charset="-122"/>
              </a:rPr>
              <a:t>隐含层到输出层的连接权值、输出层的    和隐含层的输出计算误差函数对隐含层各神经元的</a:t>
            </a:r>
            <a:r>
              <a:rPr lang="zh-CN" altLang="en-US" sz="3200" b="1" dirty="0" smtClean="0">
                <a:latin typeface="楷体" panose="02010609060101010101" pitchFamily="49" charset="-122"/>
                <a:ea typeface="楷体" panose="02010609060101010101" pitchFamily="49" charset="-122"/>
              </a:rPr>
              <a:t>偏导数     。</a:t>
            </a:r>
            <a:endParaRPr lang="en-US" altLang="zh-CN" sz="3200" b="1" dirty="0" smtClean="0">
              <a:latin typeface="楷体" panose="02010609060101010101" pitchFamily="49" charset="-122"/>
              <a:ea typeface="楷体" panose="02010609060101010101" pitchFamily="49" charset="-122"/>
            </a:endParaRPr>
          </a:p>
          <a:p>
            <a:pPr marL="0" indent="0" eaLnBrk="1" hangingPunct="1">
              <a:spcBef>
                <a:spcPct val="20000"/>
              </a:spcBef>
              <a:buClr>
                <a:srgbClr val="CCFFCC"/>
              </a:buClr>
            </a:pPr>
            <a:r>
              <a:rPr lang="zh-CN" altLang="en-US" sz="3200" b="1" dirty="0" smtClean="0">
                <a:latin typeface="楷体" panose="02010609060101010101" pitchFamily="49" charset="-122"/>
                <a:ea typeface="楷体" panose="02010609060101010101" pitchFamily="49" charset="-122"/>
              </a:rPr>
              <a:t>    </a:t>
            </a:r>
            <a:r>
              <a:rPr lang="zh-CN" altLang="en-US" sz="3200" b="1" dirty="0" smtClean="0">
                <a:solidFill>
                  <a:srgbClr val="8DF9EA"/>
                </a:solidFill>
                <a:latin typeface="楷体" panose="02010609060101010101" pitchFamily="49" charset="-122"/>
                <a:ea typeface="楷体" panose="02010609060101010101" pitchFamily="49" charset="-122"/>
              </a:rPr>
              <a:t> </a:t>
            </a:r>
            <a:endParaRPr lang="zh-CN" altLang="en-US" sz="3200" b="1" dirty="0">
              <a:solidFill>
                <a:srgbClr val="8DF9EA"/>
              </a:solidFill>
              <a:latin typeface="楷体" panose="02010609060101010101" pitchFamily="49" charset="-122"/>
              <a:ea typeface="楷体" panose="02010609060101010101" pitchFamily="49" charset="-122"/>
            </a:endParaRPr>
          </a:p>
        </p:txBody>
      </p:sp>
      <p:graphicFrame>
        <p:nvGraphicFramePr>
          <p:cNvPr id="16390" name="Object 6"/>
          <p:cNvGraphicFramePr>
            <a:graphicFrameLocks noChangeAspect="1"/>
          </p:cNvGraphicFramePr>
          <p:nvPr/>
        </p:nvGraphicFramePr>
        <p:xfrm>
          <a:off x="6228184" y="2348880"/>
          <a:ext cx="865188" cy="520700"/>
        </p:xfrm>
        <a:graphic>
          <a:graphicData uri="http://schemas.openxmlformats.org/presentationml/2006/ole">
            <mc:AlternateContent xmlns:mc="http://schemas.openxmlformats.org/markup-compatibility/2006">
              <mc:Choice xmlns:v="urn:schemas-microsoft-com:vml" Requires="v">
                <p:oleObj spid="_x0000_s12488" name="Equation" r:id="rId5" imgW="9144000" imgH="5486400" progId="Equation.DSMT4">
                  <p:embed/>
                </p:oleObj>
              </mc:Choice>
              <mc:Fallback>
                <p:oleObj name="Equation" r:id="rId5" imgW="9144000" imgH="5486400" progId="Equation.DSMT4">
                  <p:embed/>
                  <p:pic>
                    <p:nvPicPr>
                      <p:cNvPr id="0" name="图片 12487"/>
                      <p:cNvPicPr>
                        <a:picLocks noChangeAspect="1" noChangeArrowheads="1"/>
                      </p:cNvPicPr>
                      <p:nvPr/>
                    </p:nvPicPr>
                    <p:blipFill>
                      <a:blip r:embed="rId6"/>
                      <a:srcRect/>
                      <a:stretch>
                        <a:fillRect/>
                      </a:stretch>
                    </p:blipFill>
                    <p:spPr bwMode="auto">
                      <a:xfrm>
                        <a:off x="6228184" y="2348880"/>
                        <a:ext cx="865188"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7"/>
          <p:cNvGraphicFramePr>
            <a:graphicFrameLocks noChangeAspect="1"/>
          </p:cNvGraphicFramePr>
          <p:nvPr/>
        </p:nvGraphicFramePr>
        <p:xfrm>
          <a:off x="2555776" y="1844824"/>
          <a:ext cx="865187" cy="534988"/>
        </p:xfrm>
        <a:graphic>
          <a:graphicData uri="http://schemas.openxmlformats.org/presentationml/2006/ole">
            <mc:AlternateContent xmlns:mc="http://schemas.openxmlformats.org/markup-compatibility/2006">
              <mc:Choice xmlns:v="urn:schemas-microsoft-com:vml" Requires="v">
                <p:oleObj spid="_x0000_s12489" name="Equation" r:id="rId7" imgW="8839200" imgH="5486400" progId="Equation.DSMT4">
                  <p:embed/>
                </p:oleObj>
              </mc:Choice>
              <mc:Fallback>
                <p:oleObj name="Equation" r:id="rId7" imgW="8839200" imgH="5486400" progId="Equation.DSMT4">
                  <p:embed/>
                  <p:pic>
                    <p:nvPicPr>
                      <p:cNvPr id="0" name="图片 12488"/>
                      <p:cNvPicPr>
                        <a:picLocks noChangeAspect="1" noChangeArrowheads="1"/>
                      </p:cNvPicPr>
                      <p:nvPr/>
                    </p:nvPicPr>
                    <p:blipFill>
                      <a:blip r:embed="rId8"/>
                      <a:srcRect/>
                      <a:stretch>
                        <a:fillRect/>
                      </a:stretch>
                    </p:blipFill>
                    <p:spPr bwMode="auto">
                      <a:xfrm>
                        <a:off x="2555776" y="1844824"/>
                        <a:ext cx="865187"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graphicFrame>
        <p:nvGraphicFramePr>
          <p:cNvPr id="17411" name="Object 3"/>
          <p:cNvGraphicFramePr>
            <a:graphicFrameLocks noGrp="1" noChangeAspect="1"/>
          </p:cNvGraphicFramePr>
          <p:nvPr>
            <p:ph idx="1"/>
          </p:nvPr>
        </p:nvGraphicFramePr>
        <p:xfrm>
          <a:off x="1701800" y="1341438"/>
          <a:ext cx="5307013" cy="3179762"/>
        </p:xfrm>
        <a:graphic>
          <a:graphicData uri="http://schemas.openxmlformats.org/presentationml/2006/ole">
            <mc:AlternateContent xmlns:mc="http://schemas.openxmlformats.org/markup-compatibility/2006">
              <mc:Choice xmlns:v="urn:schemas-microsoft-com:vml" Requires="v">
                <p:oleObj spid="_x0000_s13412" name="Equation" r:id="rId1" imgW="79857600" imgH="47853600" progId="Equation.DSMT4">
                  <p:embed/>
                </p:oleObj>
              </mc:Choice>
              <mc:Fallback>
                <p:oleObj name="Equation" r:id="rId1" imgW="79857600" imgH="47853600" progId="Equation.DSMT4">
                  <p:embed/>
                  <p:pic>
                    <p:nvPicPr>
                      <p:cNvPr id="0" name="图片 13411"/>
                      <p:cNvPicPr>
                        <a:picLocks noChangeAspect="1" noChangeArrowheads="1"/>
                      </p:cNvPicPr>
                      <p:nvPr/>
                    </p:nvPicPr>
                    <p:blipFill>
                      <a:blip r:embed="rId2"/>
                      <a:srcRect/>
                      <a:stretch>
                        <a:fillRect/>
                      </a:stretch>
                    </p:blipFill>
                    <p:spPr bwMode="auto">
                      <a:xfrm>
                        <a:off x="1701800" y="1341438"/>
                        <a:ext cx="5307013" cy="317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2" name="Object 4"/>
          <p:cNvGraphicFramePr>
            <a:graphicFrameLocks noChangeAspect="1"/>
          </p:cNvGraphicFramePr>
          <p:nvPr/>
        </p:nvGraphicFramePr>
        <p:xfrm>
          <a:off x="2339975" y="4581525"/>
          <a:ext cx="4752975" cy="1585913"/>
        </p:xfrm>
        <a:graphic>
          <a:graphicData uri="http://schemas.openxmlformats.org/presentationml/2006/ole">
            <mc:AlternateContent xmlns:mc="http://schemas.openxmlformats.org/markup-compatibility/2006">
              <mc:Choice xmlns:v="urn:schemas-microsoft-com:vml" Requires="v">
                <p:oleObj spid="_x0000_s13413" name="Equation" r:id="rId3" imgW="64922400" imgH="21640800" progId="Equation.DSMT4">
                  <p:embed/>
                </p:oleObj>
              </mc:Choice>
              <mc:Fallback>
                <p:oleObj name="Equation" r:id="rId3" imgW="64922400" imgH="21640800" progId="Equation.DSMT4">
                  <p:embed/>
                  <p:pic>
                    <p:nvPicPr>
                      <p:cNvPr id="0" name="图片 13412"/>
                      <p:cNvPicPr>
                        <a:picLocks noChangeAspect="1" noChangeArrowheads="1"/>
                      </p:cNvPicPr>
                      <p:nvPr/>
                    </p:nvPicPr>
                    <p:blipFill>
                      <a:blip r:embed="rId4"/>
                      <a:srcRect/>
                      <a:stretch>
                        <a:fillRect/>
                      </a:stretch>
                    </p:blipFill>
                    <p:spPr bwMode="auto">
                      <a:xfrm>
                        <a:off x="2339975" y="4581525"/>
                        <a:ext cx="4752975" cy="158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sp>
        <p:nvSpPr>
          <p:cNvPr id="18435" name="Rectangle 3"/>
          <p:cNvSpPr>
            <a:spLocks noGrp="1" noChangeArrowheads="1"/>
          </p:cNvSpPr>
          <p:nvPr>
            <p:ph type="body" idx="1"/>
          </p:nvPr>
        </p:nvSpPr>
        <p:spPr/>
        <p:txBody>
          <a:bodyPr/>
          <a:lstStyle/>
          <a:p>
            <a:pPr eaLnBrk="1" hangingPunct="1"/>
            <a:r>
              <a:rPr lang="zh-CN" altLang="en-US" dirty="0" smtClean="0">
                <a:latin typeface="楷体" panose="02010609060101010101" pitchFamily="49" charset="-122"/>
                <a:ea typeface="楷体" panose="02010609060101010101" pitchFamily="49" charset="-122"/>
              </a:rPr>
              <a:t>第四步，利用输出层各神经元的        和隐含层各神经元的输出来修正连接权值     。 </a:t>
            </a:r>
            <a:endParaRPr lang="zh-CN" altLang="en-US" dirty="0" smtClean="0">
              <a:latin typeface="楷体" panose="02010609060101010101" pitchFamily="49" charset="-122"/>
              <a:ea typeface="楷体" panose="02010609060101010101" pitchFamily="49" charset="-122"/>
            </a:endParaRPr>
          </a:p>
        </p:txBody>
      </p:sp>
      <p:graphicFrame>
        <p:nvGraphicFramePr>
          <p:cNvPr id="18436" name="Object 4"/>
          <p:cNvGraphicFramePr>
            <a:graphicFrameLocks noChangeAspect="1"/>
          </p:cNvGraphicFramePr>
          <p:nvPr/>
        </p:nvGraphicFramePr>
        <p:xfrm>
          <a:off x="1259632" y="2780928"/>
          <a:ext cx="5832475" cy="1841500"/>
        </p:xfrm>
        <a:graphic>
          <a:graphicData uri="http://schemas.openxmlformats.org/presentationml/2006/ole">
            <mc:AlternateContent xmlns:mc="http://schemas.openxmlformats.org/markup-compatibility/2006">
              <mc:Choice xmlns:v="urn:schemas-microsoft-com:vml" Requires="v">
                <p:oleObj spid="_x0000_s14497" name="Equation" r:id="rId1" imgW="52120800" imgH="16459200" progId="Equation.DSMT4">
                  <p:embed/>
                </p:oleObj>
              </mc:Choice>
              <mc:Fallback>
                <p:oleObj name="Equation" r:id="rId1" imgW="52120800" imgH="16459200" progId="Equation.DSMT4">
                  <p:embed/>
                  <p:pic>
                    <p:nvPicPr>
                      <p:cNvPr id="0" name="图片 14496"/>
                      <p:cNvPicPr>
                        <a:picLocks noChangeAspect="1" noChangeArrowheads="1"/>
                      </p:cNvPicPr>
                      <p:nvPr/>
                    </p:nvPicPr>
                    <p:blipFill>
                      <a:blip r:embed="rId2"/>
                      <a:srcRect/>
                      <a:stretch>
                        <a:fillRect/>
                      </a:stretch>
                    </p:blipFill>
                    <p:spPr bwMode="auto">
                      <a:xfrm>
                        <a:off x="1259632" y="2780928"/>
                        <a:ext cx="5832475" cy="184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p:cNvGraphicFramePr>
            <a:graphicFrameLocks noChangeAspect="1"/>
          </p:cNvGraphicFramePr>
          <p:nvPr/>
        </p:nvGraphicFramePr>
        <p:xfrm>
          <a:off x="6804248" y="980728"/>
          <a:ext cx="865188" cy="534988"/>
        </p:xfrm>
        <a:graphic>
          <a:graphicData uri="http://schemas.openxmlformats.org/presentationml/2006/ole">
            <mc:AlternateContent xmlns:mc="http://schemas.openxmlformats.org/markup-compatibility/2006">
              <mc:Choice xmlns:v="urn:schemas-microsoft-com:vml" Requires="v">
                <p:oleObj spid="_x0000_s14498" name="Equation" r:id="rId3" imgW="8839200" imgH="5486400" progId="Equation.DSMT4">
                  <p:embed/>
                </p:oleObj>
              </mc:Choice>
              <mc:Fallback>
                <p:oleObj name="Equation" r:id="rId3" imgW="8839200" imgH="5486400" progId="Equation.DSMT4">
                  <p:embed/>
                  <p:pic>
                    <p:nvPicPr>
                      <p:cNvPr id="0" name="图片 14497"/>
                      <p:cNvPicPr>
                        <a:picLocks noChangeAspect="1" noChangeArrowheads="1"/>
                      </p:cNvPicPr>
                      <p:nvPr/>
                    </p:nvPicPr>
                    <p:blipFill>
                      <a:blip r:embed="rId4"/>
                      <a:srcRect/>
                      <a:stretch>
                        <a:fillRect/>
                      </a:stretch>
                    </p:blipFill>
                    <p:spPr bwMode="auto">
                      <a:xfrm>
                        <a:off x="6804248" y="980728"/>
                        <a:ext cx="865188"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6"/>
          <p:cNvGraphicFramePr>
            <a:graphicFrameLocks noChangeAspect="1"/>
          </p:cNvGraphicFramePr>
          <p:nvPr/>
        </p:nvGraphicFramePr>
        <p:xfrm>
          <a:off x="1403648" y="2060848"/>
          <a:ext cx="1008062" cy="520700"/>
        </p:xfrm>
        <a:graphic>
          <a:graphicData uri="http://schemas.openxmlformats.org/presentationml/2006/ole">
            <mc:AlternateContent xmlns:mc="http://schemas.openxmlformats.org/markup-compatibility/2006">
              <mc:Choice xmlns:v="urn:schemas-microsoft-com:vml" Requires="v">
                <p:oleObj spid="_x0000_s14499" name="Equation" r:id="rId5" imgW="10668000" imgH="5486400" progId="Equation.DSMT4">
                  <p:embed/>
                </p:oleObj>
              </mc:Choice>
              <mc:Fallback>
                <p:oleObj name="Equation" r:id="rId5" imgW="10668000" imgH="5486400" progId="Equation.DSMT4">
                  <p:embed/>
                  <p:pic>
                    <p:nvPicPr>
                      <p:cNvPr id="0" name="图片 14498"/>
                      <p:cNvPicPr>
                        <a:picLocks noChangeAspect="1" noChangeArrowheads="1"/>
                      </p:cNvPicPr>
                      <p:nvPr/>
                    </p:nvPicPr>
                    <p:blipFill>
                      <a:blip r:embed="rId6"/>
                      <a:srcRect/>
                      <a:stretch>
                        <a:fillRect/>
                      </a:stretch>
                    </p:blipFill>
                    <p:spPr bwMode="auto">
                      <a:xfrm>
                        <a:off x="1403648" y="2060848"/>
                        <a:ext cx="1008062"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nvGraphicFramePr>
        <p:xfrm>
          <a:off x="1282105" y="5002311"/>
          <a:ext cx="409575" cy="442913"/>
        </p:xfrm>
        <a:graphic>
          <a:graphicData uri="http://schemas.openxmlformats.org/presentationml/2006/ole">
            <mc:AlternateContent xmlns:mc="http://schemas.openxmlformats.org/markup-compatibility/2006">
              <mc:Choice xmlns:v="urn:schemas-microsoft-com:vml" Requires="v">
                <p:oleObj spid="_x0000_s14500" name="Equation" r:id="rId7" imgW="3657600" imgH="3962400" progId="Equation.DSMT4">
                  <p:embed/>
                </p:oleObj>
              </mc:Choice>
              <mc:Fallback>
                <p:oleObj name="Equation" r:id="rId7" imgW="3657600" imgH="3962400" progId="Equation.DSMT4">
                  <p:embed/>
                  <p:pic>
                    <p:nvPicPr>
                      <p:cNvPr id="0" name="Object 4"/>
                      <p:cNvPicPr>
                        <a:picLocks noChangeAspect="1" noChangeArrowheads="1"/>
                      </p:cNvPicPr>
                      <p:nvPr/>
                    </p:nvPicPr>
                    <p:blipFill>
                      <a:blip r:embed="rId8"/>
                      <a:srcRect/>
                      <a:stretch>
                        <a:fillRect/>
                      </a:stretch>
                    </p:blipFill>
                    <p:spPr bwMode="auto">
                      <a:xfrm>
                        <a:off x="1282105" y="5002311"/>
                        <a:ext cx="409575"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3"/>
          <p:cNvSpPr txBox="1">
            <a:spLocks noChangeArrowheads="1"/>
          </p:cNvSpPr>
          <p:nvPr/>
        </p:nvSpPr>
        <p:spPr bwMode="auto">
          <a:xfrm>
            <a:off x="1718725" y="4859222"/>
            <a:ext cx="4661363"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楷体_GB2312"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楷体_GB2312" pitchFamily="49"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pPr marL="0" indent="0">
              <a:buNone/>
            </a:pPr>
            <a:r>
              <a:rPr lang="zh-CN" altLang="en-US" kern="0" dirty="0" smtClean="0">
                <a:latin typeface="楷体" panose="02010609060101010101" pitchFamily="49" charset="-122"/>
                <a:ea typeface="楷体" panose="02010609060101010101" pitchFamily="49" charset="-122"/>
              </a:rPr>
              <a:t>是设置的学习率。</a:t>
            </a:r>
            <a:endParaRPr lang="zh-CN" altLang="en-US" kern="0" dirty="0" smtClean="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sp>
        <p:nvSpPr>
          <p:cNvPr id="19459" name="Rectangle 3"/>
          <p:cNvSpPr>
            <a:spLocks noGrp="1" noChangeArrowheads="1"/>
          </p:cNvSpPr>
          <p:nvPr>
            <p:ph type="body" idx="1"/>
          </p:nvPr>
        </p:nvSpPr>
        <p:spPr/>
        <p:txBody>
          <a:bodyPr/>
          <a:lstStyle/>
          <a:p>
            <a:pPr eaLnBrk="1" hangingPunct="1"/>
            <a:r>
              <a:rPr lang="zh-CN" altLang="en-US" dirty="0" smtClean="0">
                <a:latin typeface="楷体" panose="02010609060101010101" pitchFamily="49" charset="-122"/>
                <a:ea typeface="楷体" panose="02010609060101010101" pitchFamily="49" charset="-122"/>
              </a:rPr>
              <a:t>第五步，利用隐含层各神经元的       和输入层各神经元的输入修正连接权。 </a:t>
            </a:r>
            <a:endParaRPr lang="zh-CN" altLang="en-US" dirty="0" smtClean="0">
              <a:latin typeface="楷体" panose="02010609060101010101" pitchFamily="49" charset="-122"/>
              <a:ea typeface="楷体" panose="02010609060101010101" pitchFamily="49" charset="-122"/>
            </a:endParaRPr>
          </a:p>
        </p:txBody>
      </p:sp>
      <p:graphicFrame>
        <p:nvGraphicFramePr>
          <p:cNvPr id="19460" name="Object 4"/>
          <p:cNvGraphicFramePr>
            <a:graphicFrameLocks noChangeAspect="1"/>
          </p:cNvGraphicFramePr>
          <p:nvPr/>
        </p:nvGraphicFramePr>
        <p:xfrm>
          <a:off x="6804248" y="980728"/>
          <a:ext cx="865188" cy="520700"/>
        </p:xfrm>
        <a:graphic>
          <a:graphicData uri="http://schemas.openxmlformats.org/presentationml/2006/ole">
            <mc:AlternateContent xmlns:mc="http://schemas.openxmlformats.org/markup-compatibility/2006">
              <mc:Choice xmlns:v="urn:schemas-microsoft-com:vml" Requires="v">
                <p:oleObj spid="_x0000_s15460" name="Equation" r:id="rId1" imgW="9144000" imgH="5486400" progId="Equation.DSMT4">
                  <p:embed/>
                </p:oleObj>
              </mc:Choice>
              <mc:Fallback>
                <p:oleObj name="Equation" r:id="rId1" imgW="9144000" imgH="5486400" progId="Equation.DSMT4">
                  <p:embed/>
                  <p:pic>
                    <p:nvPicPr>
                      <p:cNvPr id="0" name="图片 15459"/>
                      <p:cNvPicPr>
                        <a:picLocks noChangeAspect="1" noChangeArrowheads="1"/>
                      </p:cNvPicPr>
                      <p:nvPr/>
                    </p:nvPicPr>
                    <p:blipFill>
                      <a:blip r:embed="rId2"/>
                      <a:srcRect/>
                      <a:stretch>
                        <a:fillRect/>
                      </a:stretch>
                    </p:blipFill>
                    <p:spPr bwMode="auto">
                      <a:xfrm>
                        <a:off x="6804248" y="980728"/>
                        <a:ext cx="865188"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5"/>
          <p:cNvGraphicFramePr>
            <a:graphicFrameLocks noChangeAspect="1"/>
          </p:cNvGraphicFramePr>
          <p:nvPr/>
        </p:nvGraphicFramePr>
        <p:xfrm>
          <a:off x="1547664" y="2780928"/>
          <a:ext cx="5464695" cy="2057400"/>
        </p:xfrm>
        <a:graphic>
          <a:graphicData uri="http://schemas.openxmlformats.org/presentationml/2006/ole">
            <mc:AlternateContent xmlns:mc="http://schemas.openxmlformats.org/markup-compatibility/2006">
              <mc:Choice xmlns:v="urn:schemas-microsoft-com:vml" Requires="v">
                <p:oleObj spid="_x0000_s15461" name="Equation" r:id="rId3" imgW="46634400" imgH="16459200" progId="Equation.DSMT4">
                  <p:embed/>
                </p:oleObj>
              </mc:Choice>
              <mc:Fallback>
                <p:oleObj name="Equation" r:id="rId3" imgW="46634400" imgH="16459200" progId="Equation.DSMT4">
                  <p:embed/>
                  <p:pic>
                    <p:nvPicPr>
                      <p:cNvPr id="0" name="图片 15460"/>
                      <p:cNvPicPr>
                        <a:picLocks noChangeAspect="1" noChangeArrowheads="1"/>
                      </p:cNvPicPr>
                      <p:nvPr/>
                    </p:nvPicPr>
                    <p:blipFill>
                      <a:blip r:embed="rId4"/>
                      <a:srcRect/>
                      <a:stretch>
                        <a:fillRect/>
                      </a:stretch>
                    </p:blipFill>
                    <p:spPr bwMode="auto">
                      <a:xfrm>
                        <a:off x="1547664" y="2780928"/>
                        <a:ext cx="5464695" cy="2057400"/>
                      </a:xfrm>
                      <a:prstGeom prst="rect">
                        <a:avLst/>
                      </a:prstGeom>
                      <a:noFill/>
                      <a:ln>
                        <a:noFill/>
                      </a:ln>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ltLang="zh-CN" dirty="0">
                <a:latin typeface="楷体" panose="02010609060101010101" pitchFamily="49" charset="-122"/>
                <a:ea typeface="楷体" panose="02010609060101010101" pitchFamily="49" charset="-122"/>
              </a:rPr>
              <a:t>BP</a:t>
            </a:r>
            <a:r>
              <a:rPr lang="zh-CN" altLang="en-US" dirty="0">
                <a:latin typeface="楷体" panose="02010609060101010101" pitchFamily="49" charset="-122"/>
                <a:ea typeface="楷体" panose="02010609060101010101" pitchFamily="49" charset="-122"/>
              </a:rPr>
              <a:t>算法</a:t>
            </a:r>
            <a:r>
              <a:rPr lang="en-US" altLang="zh-CN" dirty="0">
                <a:latin typeface="楷体" panose="02010609060101010101" pitchFamily="49" charset="-122"/>
                <a:ea typeface="楷体" panose="02010609060101010101" pitchFamily="49" charset="-122"/>
              </a:rPr>
              <a:t>(Back Propagation)</a:t>
            </a:r>
            <a:endParaRPr kumimoji="1" lang="zh-CN" altLang="en-US" dirty="0" smtClean="0">
              <a:latin typeface="楷体" panose="02010609060101010101" pitchFamily="49" charset="-122"/>
              <a:ea typeface="楷体" panose="02010609060101010101" pitchFamily="49" charset="-122"/>
            </a:endParaRPr>
          </a:p>
        </p:txBody>
      </p:sp>
      <p:sp>
        <p:nvSpPr>
          <p:cNvPr id="20483" name="Rectangle 3"/>
          <p:cNvSpPr>
            <a:spLocks noGrp="1" noChangeArrowheads="1"/>
          </p:cNvSpPr>
          <p:nvPr>
            <p:ph type="body" idx="1"/>
          </p:nvPr>
        </p:nvSpPr>
        <p:spPr>
          <a:xfrm>
            <a:off x="1042988" y="1412875"/>
            <a:ext cx="7777162" cy="4392613"/>
          </a:xfrm>
        </p:spPr>
        <p:txBody>
          <a:bodyPr/>
          <a:lstStyle/>
          <a:p>
            <a:pPr eaLnBrk="1" hangingPunct="1"/>
            <a:r>
              <a:rPr lang="zh-CN" altLang="en-US" sz="2800" dirty="0" smtClean="0">
                <a:latin typeface="楷体" panose="02010609060101010101" pitchFamily="49" charset="-122"/>
                <a:ea typeface="楷体" panose="02010609060101010101" pitchFamily="49" charset="-122"/>
              </a:rPr>
              <a:t>第六步，计算全局误差</a:t>
            </a:r>
            <a:endParaRPr lang="zh-CN" altLang="en-US" sz="2800" dirty="0" smtClean="0">
              <a:latin typeface="楷体" panose="02010609060101010101" pitchFamily="49" charset="-122"/>
              <a:ea typeface="楷体" panose="02010609060101010101" pitchFamily="49" charset="-122"/>
            </a:endParaRPr>
          </a:p>
          <a:p>
            <a:pPr eaLnBrk="1" hangingPunct="1"/>
            <a:endParaRPr lang="zh-CN" altLang="en-US" sz="2800" dirty="0" smtClean="0">
              <a:latin typeface="楷体" panose="02010609060101010101" pitchFamily="49" charset="-122"/>
              <a:ea typeface="楷体" panose="02010609060101010101" pitchFamily="49" charset="-122"/>
            </a:endParaRPr>
          </a:p>
          <a:p>
            <a:pPr eaLnBrk="1" hangingPunct="1"/>
            <a:endParaRPr lang="zh-CN" altLang="en-US" sz="2800" dirty="0" smtClean="0">
              <a:latin typeface="楷体" panose="02010609060101010101" pitchFamily="49" charset="-122"/>
              <a:ea typeface="楷体" panose="02010609060101010101" pitchFamily="49" charset="-122"/>
            </a:endParaRPr>
          </a:p>
          <a:p>
            <a:pPr eaLnBrk="1" hangingPunct="1"/>
            <a:endParaRPr lang="zh-CN" altLang="en-US" sz="2800" dirty="0" smtClean="0">
              <a:latin typeface="楷体" panose="02010609060101010101" pitchFamily="49" charset="-122"/>
              <a:ea typeface="楷体" panose="02010609060101010101" pitchFamily="49" charset="-122"/>
            </a:endParaRPr>
          </a:p>
          <a:p>
            <a:pPr eaLnBrk="1" hangingPunct="1"/>
            <a:r>
              <a:rPr lang="zh-CN" altLang="en-US" sz="2800" dirty="0" smtClean="0">
                <a:latin typeface="楷体" panose="02010609060101010101" pitchFamily="49" charset="-122"/>
                <a:ea typeface="楷体" panose="02010609060101010101" pitchFamily="49" charset="-122"/>
              </a:rPr>
              <a:t>第七步，判断网络误差是否满足要求。当误差达到预设精度或学习次数大于设定的最大次数，则结束算法。否则，选取下一个学习样本及对应的期望输出，返回进入下一轮学习。 </a:t>
            </a:r>
            <a:endParaRPr lang="zh-CN" altLang="en-US" sz="2800" dirty="0" smtClean="0">
              <a:latin typeface="楷体" panose="02010609060101010101" pitchFamily="49" charset="-122"/>
              <a:ea typeface="楷体" panose="02010609060101010101" pitchFamily="49" charset="-122"/>
            </a:endParaRPr>
          </a:p>
          <a:p>
            <a:pPr eaLnBrk="1" hangingPunct="1">
              <a:buFont typeface="Wingdings" panose="05000000000000000000" pitchFamily="2" charset="2"/>
              <a:buNone/>
            </a:pPr>
            <a:endParaRPr lang="en-US" altLang="zh-CN" sz="2800" dirty="0" smtClean="0">
              <a:latin typeface="楷体" panose="02010609060101010101" pitchFamily="49" charset="-122"/>
              <a:ea typeface="楷体" panose="02010609060101010101" pitchFamily="49" charset="-122"/>
            </a:endParaRPr>
          </a:p>
        </p:txBody>
      </p:sp>
      <p:graphicFrame>
        <p:nvGraphicFramePr>
          <p:cNvPr id="20484" name="Object 4"/>
          <p:cNvGraphicFramePr>
            <a:graphicFrameLocks noChangeAspect="1"/>
          </p:cNvGraphicFramePr>
          <p:nvPr/>
        </p:nvGraphicFramePr>
        <p:xfrm>
          <a:off x="1835150" y="1989138"/>
          <a:ext cx="5457825" cy="1247775"/>
        </p:xfrm>
        <a:graphic>
          <a:graphicData uri="http://schemas.openxmlformats.org/presentationml/2006/ole">
            <mc:AlternateContent xmlns:mc="http://schemas.openxmlformats.org/markup-compatibility/2006">
              <mc:Choice xmlns:v="urn:schemas-microsoft-com:vml" Requires="v">
                <p:oleObj spid="_x0000_s16435" name="Equation" r:id="rId1" imgW="45110400" imgH="10363200" progId="Equation.DSMT4">
                  <p:embed/>
                </p:oleObj>
              </mc:Choice>
              <mc:Fallback>
                <p:oleObj name="Equation" r:id="rId1" imgW="45110400" imgH="10363200" progId="Equation.DSMT4">
                  <p:embed/>
                  <p:pic>
                    <p:nvPicPr>
                      <p:cNvPr id="0" name="图片 16434"/>
                      <p:cNvPicPr>
                        <a:picLocks noChangeAspect="1" noChangeArrowheads="1"/>
                      </p:cNvPicPr>
                      <p:nvPr/>
                    </p:nvPicPr>
                    <p:blipFill>
                      <a:blip r:embed="rId2"/>
                      <a:srcRect/>
                      <a:stretch>
                        <a:fillRect/>
                      </a:stretch>
                    </p:blipFill>
                    <p:spPr bwMode="auto">
                      <a:xfrm>
                        <a:off x="1835150" y="1989138"/>
                        <a:ext cx="5457825" cy="1247775"/>
                      </a:xfrm>
                      <a:prstGeom prst="rect">
                        <a:avLst/>
                      </a:prstGeom>
                      <a:noFill/>
                      <a:extLst>
                        <a:ext uri="{909E8E84-426E-40DD-AFC4-6F175D3DCCD1}">
                          <a14:hiddenFill xmlns:a14="http://schemas.microsoft.com/office/drawing/2010/main">
                            <a:solidFill>
                              <a:srgbClr val="CCE8C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ltLang="en-US"/>
              <a:t>神经网络的应用</a:t>
            </a:r>
            <a:endParaRPr lang="zh-CN" altLang="en-US"/>
          </a:p>
        </p:txBody>
      </p:sp>
      <p:sp>
        <p:nvSpPr>
          <p:cNvPr id="3" name="内容占位符 2"/>
          <p:cNvSpPr>
            <a:spLocks noGrp="1"/>
          </p:cNvSpPr>
          <p:nvPr>
            <p:ph idx="1"/>
          </p:nvPr>
        </p:nvSpPr>
        <p:spPr>
          <a:xfrm>
            <a:off x="539750" y="749300"/>
            <a:ext cx="8064500" cy="4980940"/>
          </a:xfrm>
        </p:spPr>
        <p:txBody>
          <a:bodyPr/>
          <a:p>
            <a:pPr marL="0" indent="0">
              <a:buNone/>
            </a:pPr>
            <a:endParaRPr lang="zh-CN" altLang="en-US" sz="1800">
              <a:latin typeface="仿宋" panose="02010609060101010101" charset="-122"/>
              <a:ea typeface="仿宋" panose="02010609060101010101" charset="-122"/>
              <a:sym typeface="+mn-ea"/>
            </a:endParaRPr>
          </a:p>
          <a:p>
            <a:r>
              <a:rPr lang="zh-CN" altLang="en-US" sz="1800">
                <a:latin typeface="仿宋" panose="02010609060101010101" charset="-122"/>
                <a:ea typeface="仿宋" panose="02010609060101010101" charset="-122"/>
                <a:sym typeface="+mn-ea"/>
              </a:rPr>
              <a:t>(1) 图像处理。对图像进行边缘监测、图像分割、图像压缩和图像恢复。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(2) 信号处理。能分别对通讯、语音、心电和脑电信号进行处理分类；可用于海底声纳信号的检测与分类，在反潜、扫雷等方面得到应用。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(3) 模式识别。已成功应用于手写字符、汽车牌照、指纹和声音识别，还可用于目标的自动识别和定位、机器人传感器的图像识别以及地震信号的鉴别等。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(4) 机器人控制。对机器人眼手系统位置进行协调控制，用于机械手的故障诊断及排除、智能自适应移动机器人的导航。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(5) 卫生保健、医疗。比如通过训练自主组合的多层感知器可以区分正常心跳和非正常心跳、基于BP网络的波形分类和特征提取在计算机临床诊断中的应用。   </a:t>
            </a:r>
            <a:endParaRPr lang="zh-CN" altLang="en-US" sz="1800">
              <a:latin typeface="仿宋" panose="02010609060101010101" charset="-122"/>
              <a:ea typeface="仿宋" panose="02010609060101010101" charset="-122"/>
              <a:sym typeface="+mn-ea"/>
            </a:endParaRPr>
          </a:p>
          <a:p>
            <a:r>
              <a:rPr lang="zh-CN" altLang="en-US" sz="1800">
                <a:latin typeface="仿宋" panose="02010609060101010101" charset="-122"/>
                <a:ea typeface="仿宋" panose="02010609060101010101" charset="-122"/>
                <a:sym typeface="+mn-ea"/>
              </a:rPr>
              <a:t>(6) 焊接领域。国内外在参数选择、质量检验、质量预测和实时控制方面都有研究，部分成果已得到应用。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(7) 经济。能对商品价格、股票价格和企业的可信度等进行短期预测。  </a:t>
            </a:r>
            <a:endParaRPr lang="zh-CN" altLang="en-US" sz="1800">
              <a:latin typeface="仿宋" panose="02010609060101010101" charset="-122"/>
              <a:ea typeface="仿宋" panose="02010609060101010101" charset="-122"/>
            </a:endParaRPr>
          </a:p>
          <a:p>
            <a:r>
              <a:rPr lang="zh-CN" altLang="en-US" sz="1800">
                <a:latin typeface="仿宋" panose="02010609060101010101" charset="-122"/>
                <a:ea typeface="仿宋" panose="02010609060101010101" charset="-122"/>
                <a:sym typeface="+mn-ea"/>
              </a:rPr>
              <a:t>(8) 另外，在数据挖掘、电力系统、交通、军事、矿业、农业和气象等方面亦有应用。</a:t>
            </a:r>
            <a:endParaRPr lang="zh-CN" altLang="en-US" sz="1800">
              <a:latin typeface="仿宋" panose="02010609060101010101" charset="-122"/>
              <a:ea typeface="仿宋" panose="02010609060101010101" charset="-122"/>
              <a:sym typeface="+mn-ea"/>
            </a:endParaRPr>
          </a:p>
          <a:p>
            <a:endParaRPr lang="zh-CN" altLang="en-US" sz="1800">
              <a:latin typeface="仿宋" panose="02010609060101010101" charset="-122"/>
              <a:ea typeface="仿宋" panose="02010609060101010101" charset="-122"/>
            </a:endParaRPr>
          </a:p>
          <a:p>
            <a:endParaRPr lang="zh-CN" altLang="en-US" sz="1800">
              <a:latin typeface="仿宋" panose="02010609060101010101" charset="-122"/>
              <a:ea typeface="仿宋"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lvl="0"/>
            <a:r>
              <a:rPr lang="en-US" altLang="zh-CN" sz="2100" dirty="0">
                <a:latin typeface="Times New Roman" panose="02020603050405020304" pitchFamily="18" charset="0"/>
                <a:ea typeface="宋体" panose="02010600030101010101" pitchFamily="2" charset="-122"/>
                <a:sym typeface="+mn-ea"/>
              </a:rPr>
              <a:t>2.1 </a:t>
            </a:r>
            <a:r>
              <a:rPr lang="zh-CN" altLang="en-US" sz="2100" dirty="0">
                <a:latin typeface="Times New Roman" panose="02020603050405020304" pitchFamily="18" charset="0"/>
                <a:ea typeface="宋体" panose="02010600030101010101" pitchFamily="2" charset="-122"/>
                <a:sym typeface="+mn-ea"/>
              </a:rPr>
              <a:t>训练</a:t>
            </a:r>
            <a:endParaRPr lang="zh-CN" altLang="en-US" sz="2100" b="1" dirty="0">
              <a:latin typeface="Times New Roman" panose="02020603050405020304" pitchFamily="18" charset="0"/>
              <a:ea typeface="宋体" panose="02010600030101010101" pitchFamily="2" charset="-122"/>
            </a:endParaRPr>
          </a:p>
          <a:p>
            <a:pPr lvl="0"/>
            <a:r>
              <a:rPr lang="zh-CN" altLang="en-US" sz="2100" dirty="0">
                <a:latin typeface="Times New Roman" panose="02020603050405020304" pitchFamily="18" charset="0"/>
                <a:ea typeface="宋体" panose="02010600030101010101" pitchFamily="2" charset="-122"/>
                <a:sym typeface="+mn-ea"/>
              </a:rPr>
              <a:t>        </a:t>
            </a:r>
            <a:r>
              <a:rPr lang="en-US" altLang="zh-CN" sz="2100" dirty="0">
                <a:latin typeface="Times New Roman" panose="02020603050405020304" pitchFamily="18" charset="0"/>
                <a:ea typeface="宋体" panose="02010600030101010101" pitchFamily="2" charset="-122"/>
                <a:sym typeface="+mn-ea"/>
              </a:rPr>
              <a:t>BP</a:t>
            </a:r>
            <a:r>
              <a:rPr lang="zh-CN" altLang="en-US" sz="2100" dirty="0">
                <a:latin typeface="Times New Roman" panose="02020603050405020304" pitchFamily="18" charset="0"/>
                <a:ea typeface="宋体" panose="02010600030101010101" pitchFamily="2" charset="-122"/>
                <a:sym typeface="+mn-ea"/>
              </a:rPr>
              <a:t>网络的训练就是通过应用误差反传原理不断调整网络权值使网络模型输出值与已知的训练样本输出值之间的误差平方和达到最小或小于某一期望值。虽然理论上早已经证明：具有</a:t>
            </a:r>
            <a:r>
              <a:rPr lang="en-US" altLang="zh-CN" sz="2100" dirty="0">
                <a:latin typeface="Times New Roman" panose="02020603050405020304" pitchFamily="18" charset="0"/>
                <a:ea typeface="宋体" panose="02010600030101010101" pitchFamily="2" charset="-122"/>
                <a:sym typeface="+mn-ea"/>
              </a:rPr>
              <a:t>1</a:t>
            </a:r>
            <a:r>
              <a:rPr lang="zh-CN" altLang="en-US" sz="2100" dirty="0">
                <a:latin typeface="Times New Roman" panose="02020603050405020304" pitchFamily="18" charset="0"/>
                <a:ea typeface="宋体" panose="02010600030101010101" pitchFamily="2" charset="-122"/>
                <a:sym typeface="+mn-ea"/>
              </a:rPr>
              <a:t>个隐层（采用</a:t>
            </a:r>
            <a:r>
              <a:rPr lang="en-US" altLang="zh-CN" sz="2100" dirty="0">
                <a:latin typeface="Times New Roman" panose="02020603050405020304" pitchFamily="18" charset="0"/>
                <a:ea typeface="宋体" panose="02010600030101010101" pitchFamily="2" charset="-122"/>
                <a:sym typeface="+mn-ea"/>
              </a:rPr>
              <a:t>Sigmoid</a:t>
            </a:r>
            <a:r>
              <a:rPr lang="zh-CN" altLang="en-US" sz="2100" dirty="0">
                <a:latin typeface="Times New Roman" panose="02020603050405020304" pitchFamily="18" charset="0"/>
                <a:ea typeface="宋体" panose="02010600030101010101" pitchFamily="2" charset="-122"/>
                <a:sym typeface="+mn-ea"/>
              </a:rPr>
              <a:t>转换函数）的</a:t>
            </a:r>
            <a:r>
              <a:rPr lang="en-US" altLang="zh-CN" sz="2100" dirty="0">
                <a:latin typeface="Times New Roman" panose="02020603050405020304" pitchFamily="18" charset="0"/>
                <a:ea typeface="宋体" panose="02010600030101010101" pitchFamily="2" charset="-122"/>
                <a:sym typeface="+mn-ea"/>
              </a:rPr>
              <a:t>BP</a:t>
            </a:r>
            <a:r>
              <a:rPr lang="zh-CN" altLang="en-US" sz="2100" dirty="0">
                <a:latin typeface="Times New Roman" panose="02020603050405020304" pitchFamily="18" charset="0"/>
                <a:ea typeface="宋体" panose="02010600030101010101" pitchFamily="2" charset="-122"/>
                <a:sym typeface="+mn-ea"/>
              </a:rPr>
              <a:t>网络可实现对任意函数的任意逼近。但遗憾的是，迄今为止还没有构造性结论，即在给定有限个（训练）样本的情况下，如何设计一个合理的</a:t>
            </a:r>
            <a:r>
              <a:rPr lang="en-US" altLang="zh-CN" sz="2100" dirty="0">
                <a:latin typeface="Times New Roman" panose="02020603050405020304" pitchFamily="18" charset="0"/>
                <a:ea typeface="宋体" panose="02010600030101010101" pitchFamily="2" charset="-122"/>
                <a:sym typeface="+mn-ea"/>
              </a:rPr>
              <a:t>BP</a:t>
            </a:r>
            <a:r>
              <a:rPr lang="zh-CN" altLang="en-US" sz="2100" dirty="0">
                <a:latin typeface="Times New Roman" panose="02020603050405020304" pitchFamily="18" charset="0"/>
                <a:ea typeface="宋体" panose="02010600030101010101" pitchFamily="2" charset="-122"/>
                <a:sym typeface="+mn-ea"/>
              </a:rPr>
              <a:t>网络模型并通过向所给的有限个样本的学习（训练）来满意地逼近样本所蕴含的规律（函数关系，不仅仅是使训练样本的误差达到很小）的问题，</a:t>
            </a:r>
            <a:r>
              <a:rPr lang="zh-CN" altLang="en-US" sz="2100" dirty="0">
                <a:solidFill>
                  <a:srgbClr val="CC00FF"/>
                </a:solidFill>
                <a:latin typeface="Times New Roman" panose="02020603050405020304" pitchFamily="18" charset="0"/>
                <a:ea typeface="宋体" panose="02010600030101010101" pitchFamily="2" charset="-122"/>
                <a:sym typeface="+mn-ea"/>
              </a:rPr>
              <a:t>目前在很大程度上还需要依靠经验知识和设计者的经验。因此，通过训练样本的学习（训练）建立合理的</a:t>
            </a:r>
            <a:r>
              <a:rPr lang="en-US" altLang="zh-CN" sz="2100" dirty="0">
                <a:solidFill>
                  <a:srgbClr val="CC00FF"/>
                </a:solidFill>
                <a:latin typeface="Times New Roman" panose="02020603050405020304" pitchFamily="18" charset="0"/>
                <a:ea typeface="宋体" panose="02010600030101010101" pitchFamily="2" charset="-122"/>
                <a:sym typeface="+mn-ea"/>
              </a:rPr>
              <a:t>BP</a:t>
            </a:r>
            <a:r>
              <a:rPr lang="zh-CN" altLang="en-US" sz="2100" dirty="0">
                <a:solidFill>
                  <a:srgbClr val="CC00FF"/>
                </a:solidFill>
                <a:latin typeface="Times New Roman" panose="02020603050405020304" pitchFamily="18" charset="0"/>
                <a:ea typeface="宋体" panose="02010600030101010101" pitchFamily="2" charset="-122"/>
                <a:sym typeface="+mn-ea"/>
              </a:rPr>
              <a:t>神经网络模型的过程，在国外被称为“艺术创造的过程”，是一个复杂而又十分烦琐和困难的过程。</a:t>
            </a:r>
            <a:endParaRPr lang="zh-CN" altLang="en-US" sz="2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1"/>
          <p:cNvSpPr>
            <a:spLocks noGrp="1" noRot="1"/>
          </p:cNvSpPr>
          <p:nvPr>
            <p:ph type="title"/>
          </p:nvPr>
        </p:nvSpPr>
        <p:spPr/>
        <p:txBody>
          <a:bodyPr anchor="ctr"/>
          <a:p>
            <a:pPr algn="l"/>
            <a:r>
              <a:rPr lang="en-US" altLang="zh-CN"/>
              <a:t>Matlab</a:t>
            </a:r>
            <a:r>
              <a:rPr lang="zh-CN" altLang="zh-CN"/>
              <a:t>编程讲解</a:t>
            </a:r>
            <a:endParaRPr lang="zh-CN" altLang="zh-CN"/>
          </a:p>
        </p:txBody>
      </p:sp>
      <p:sp>
        <p:nvSpPr>
          <p:cNvPr id="3" name="内容占位符 2"/>
          <p:cNvSpPr>
            <a:spLocks noGrp="1"/>
          </p:cNvSpPr>
          <p:nvPr>
            <p:ph idx="1" hasCustomPrompt="1"/>
          </p:nvPr>
        </p:nvSpPr>
        <p:spPr/>
        <p:txBody>
          <a:bodyPr anchor="t"/>
          <a:p>
            <a:pPr fontAlgn="base"/>
            <a:endParaRPr lang="zh-CN" altLang="en-US" strike="noStrike" noProof="1"/>
          </a:p>
          <a:p>
            <a:pPr marL="0" indent="0" fontAlgn="base">
              <a:buNone/>
            </a:pPr>
            <a:r>
              <a:rPr lang="zh-CN" altLang="en-US" strike="noStrike" noProof="1"/>
              <a:t>软件条件：</a:t>
            </a:r>
            <a:r>
              <a:rPr lang="en-US" altLang="zh-CN" strike="noStrike" noProof="1"/>
              <a:t>Matlab 2012a</a:t>
            </a:r>
            <a:r>
              <a:rPr lang="zh-CN" altLang="en-US" strike="noStrike" noProof="1"/>
              <a:t>以上</a:t>
            </a:r>
            <a:endParaRPr lang="zh-CN" altLang="en-US" strike="noStrike" noProof="1"/>
          </a:p>
          <a:p>
            <a:pPr fontAlgn="base"/>
            <a:r>
              <a:rPr lang="zh-CN" altLang="en-US" strike="noStrike" noProof="1"/>
              <a:t>实验操作：神经网络工具箱，</a:t>
            </a:r>
            <a:r>
              <a:rPr lang="zh-CN" altLang="en-US" strike="noStrike" noProof="1">
                <a:solidFill>
                  <a:srgbClr val="FF0000"/>
                </a:solidFill>
              </a:rPr>
              <a:t>编程，推荐使用编程语言</a:t>
            </a:r>
            <a:endParaRPr lang="zh-CN" altLang="en-US" strike="noStrike" noProof="1">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内容占位符 2"/>
          <p:cNvSpPr>
            <a:spLocks noGrp="1" noRot="1"/>
          </p:cNvSpPr>
          <p:nvPr>
            <p:ph idx="1" hasCustomPrompt="1"/>
          </p:nvPr>
        </p:nvSpPr>
        <p:spPr>
          <a:xfrm>
            <a:off x="330835" y="823278"/>
            <a:ext cx="8540750" cy="5211762"/>
          </a:xfrm>
        </p:spPr>
        <p:txBody>
          <a:bodyPr anchor="t"/>
          <a:p>
            <a:r>
              <a:rPr lang="zh-CN" altLang="zh-CN"/>
              <a:t>训练函数：</a:t>
            </a:r>
            <a:endParaRPr lang="zh-CN" altLang="zh-CN"/>
          </a:p>
        </p:txBody>
      </p:sp>
      <p:graphicFrame>
        <p:nvGraphicFramePr>
          <p:cNvPr id="0" name="表格 -1"/>
          <p:cNvGraphicFramePr/>
          <p:nvPr/>
        </p:nvGraphicFramePr>
        <p:xfrm>
          <a:off x="797878" y="1489710"/>
          <a:ext cx="7546975" cy="4307205"/>
        </p:xfrm>
        <a:graphic>
          <a:graphicData uri="http://schemas.openxmlformats.org/drawingml/2006/table">
            <a:tbl>
              <a:tblPr firstRow="1" bandRow="1">
                <a:tableStyleId>{5940675A-B579-460E-94D1-54222C63F5DA}</a:tableStyleId>
              </a:tblPr>
              <a:tblGrid>
                <a:gridCol w="3772535"/>
                <a:gridCol w="3774440"/>
              </a:tblGrid>
              <a:tr h="28829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训练方法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训练函数</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梯度下降法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traingd</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有动量的梯度下降法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traingdm</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自适应</a:t>
                      </a:r>
                      <a:r>
                        <a:rPr lang="en-US" altLang="zh-CN" sz="1800" b="0" u="none">
                          <a:latin typeface="Times New Roman" panose="02020603050405020304" pitchFamily="18" charset="0"/>
                          <a:ea typeface="宋体" panose="02010600030101010101" pitchFamily="2" charset="-122"/>
                          <a:cs typeface="宋体" panose="02010600030101010101" pitchFamily="2" charset="-122"/>
                        </a:rPr>
                        <a:t>lr</a:t>
                      </a:r>
                      <a:r>
                        <a:rPr lang="zh-CN" altLang="en-US" sz="1800" b="0" u="none">
                          <a:latin typeface="Times New Roman" panose="02020603050405020304" pitchFamily="18" charset="0"/>
                          <a:ea typeface="宋体" panose="02010600030101010101" pitchFamily="2" charset="-122"/>
                          <a:cs typeface="宋体" panose="02010600030101010101" pitchFamily="2" charset="-122"/>
                        </a:rPr>
                        <a:t>梯度下降法</a:t>
                      </a:r>
                      <a:r>
                        <a:rPr lang="en-US" altLang="zh-CN" sz="1800" b="0" u="none">
                          <a:latin typeface="Times New Roman" panose="02020603050405020304" pitchFamily="18" charset="0"/>
                          <a:ea typeface="宋体" panose="02010600030101010101" pitchFamily="2" charset="-122"/>
                          <a:cs typeface="宋体" panose="02010600030101010101" pitchFamily="2" charset="-122"/>
                        </a:rPr>
                        <a:t>lr</a:t>
                      </a:r>
                      <a:r>
                        <a:rPr lang="zh-CN" altLang="en-US" sz="1800" b="0" u="none">
                          <a:latin typeface="Times New Roman" panose="02020603050405020304" pitchFamily="18" charset="0"/>
                          <a:ea typeface="宋体" panose="02010600030101010101" pitchFamily="2" charset="-122"/>
                          <a:cs typeface="宋体" panose="02010600030101010101" pitchFamily="2" charset="-122"/>
                        </a:rPr>
                        <a:t>梯度下降法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traingda</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404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自适应</a:t>
                      </a:r>
                      <a:r>
                        <a:rPr lang="en-US" altLang="zh-CN" sz="1800" b="0" u="none">
                          <a:latin typeface="Times New Roman" panose="02020603050405020304" pitchFamily="18" charset="0"/>
                          <a:ea typeface="宋体" panose="02010600030101010101" pitchFamily="2" charset="-122"/>
                          <a:cs typeface="宋体" panose="02010600030101010101" pitchFamily="2" charset="-122"/>
                        </a:rPr>
                        <a:t>lr</a:t>
                      </a:r>
                      <a:r>
                        <a:rPr lang="zh-CN" altLang="en-US" sz="1800" b="0" u="none">
                          <a:latin typeface="Times New Roman" panose="02020603050405020304" pitchFamily="18" charset="0"/>
                          <a:ea typeface="宋体" panose="02010600030101010101" pitchFamily="2" charset="-122"/>
                          <a:cs typeface="宋体" panose="02010600030101010101" pitchFamily="2" charset="-122"/>
                        </a:rPr>
                        <a:t>动量梯度下降法</a:t>
                      </a:r>
                      <a:r>
                        <a:rPr lang="en-US" altLang="zh-CN" sz="1800" b="0" u="none">
                          <a:latin typeface="Times New Roman" panose="02020603050405020304" pitchFamily="18" charset="0"/>
                          <a:ea typeface="宋体" panose="02010600030101010101" pitchFamily="2" charset="-122"/>
                          <a:cs typeface="宋体" panose="02010600030101010101" pitchFamily="2" charset="-122"/>
                        </a:rPr>
                        <a:t>lr</a:t>
                      </a:r>
                      <a:r>
                        <a:rPr lang="zh-CN" altLang="en-US" sz="1800" b="0" u="none">
                          <a:latin typeface="Times New Roman" panose="02020603050405020304" pitchFamily="18" charset="0"/>
                          <a:ea typeface="宋体" panose="02010600030101010101" pitchFamily="2" charset="-122"/>
                          <a:cs typeface="宋体" panose="02010600030101010101" pitchFamily="2" charset="-122"/>
                        </a:rPr>
                        <a:t>动量梯度下降法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traingdx</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zh-CN" altLang="en-US" sz="1800" b="0" u="none">
                          <a:highlight>
                            <a:srgbClr val="FFFF00"/>
                          </a:highlight>
                          <a:latin typeface="Times New Roman" panose="02020603050405020304" pitchFamily="18" charset="0"/>
                          <a:ea typeface="宋体" panose="02010600030101010101" pitchFamily="2" charset="-122"/>
                          <a:cs typeface="宋体" panose="02010600030101010101" pitchFamily="2" charset="-122"/>
                        </a:rPr>
                        <a:t>弹性梯度下降法</a:t>
                      </a:r>
                      <a:endParaRPr lang="zh-CN" altLang="en-US" sz="1800" b="0" u="none">
                        <a:highlight>
                          <a:srgbClr val="FFFF00"/>
                        </a:highlight>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highlight>
                            <a:srgbClr val="FFFF00"/>
                          </a:highlight>
                          <a:latin typeface="Times New Roman" panose="02020603050405020304" pitchFamily="18" charset="0"/>
                          <a:ea typeface="宋体" panose="02010600030101010101" pitchFamily="2" charset="-122"/>
                          <a:cs typeface="宋体" panose="02010600030101010101" pitchFamily="2" charset="-122"/>
                        </a:rPr>
                        <a:t>trainrp</a:t>
                      </a:r>
                      <a:endParaRPr lang="en-US" altLang="zh-CN" sz="1800" b="0" u="none">
                        <a:highlight>
                          <a:srgbClr val="FFFF00"/>
                        </a:highlight>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4040">
                <a:tc>
                  <a:txBody>
                    <a:bodyPr/>
                    <a:p>
                      <a:pPr marL="179705" indent="0" algn="l" fontAlgn="auto">
                        <a:buNone/>
                      </a:pPr>
                      <a:r>
                        <a:rPr lang="en-US" altLang="zh-CN" sz="1800" b="0" u="none">
                          <a:highlight>
                            <a:srgbClr val="00FFFF"/>
                          </a:highlight>
                          <a:latin typeface="Times New Roman" panose="02020603050405020304" pitchFamily="18" charset="0"/>
                          <a:ea typeface="宋体" panose="02010600030101010101" pitchFamily="2" charset="-122"/>
                          <a:cs typeface="宋体" panose="02010600030101010101" pitchFamily="2" charset="-122"/>
                        </a:rPr>
                        <a:t>Fletcher-Reeves</a:t>
                      </a:r>
                      <a:r>
                        <a:rPr lang="zh-CN" altLang="en-US" sz="1800" b="0" u="none">
                          <a:highlight>
                            <a:srgbClr val="00FFFF"/>
                          </a:highlight>
                          <a:latin typeface="Times New Roman" panose="02020603050405020304" pitchFamily="18" charset="0"/>
                          <a:ea typeface="宋体" panose="02010600030101010101" pitchFamily="2" charset="-122"/>
                          <a:cs typeface="宋体" panose="02010600030101010101" pitchFamily="2" charset="-122"/>
                        </a:rPr>
                        <a:t>共轭梯度法共轭梯度法</a:t>
                      </a:r>
                      <a:endParaRPr lang="zh-CN" altLang="en-US" sz="1800" b="0" u="none">
                        <a:highlight>
                          <a:srgbClr val="00FFFF"/>
                        </a:highlight>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rPr>
                        <a:t>traincgf</a:t>
                      </a:r>
                      <a:endParaRPr lang="en-US" altLang="zh-CN" sz="1800" b="0" u="none">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Ploak-Ribiere</a:t>
                      </a:r>
                      <a:r>
                        <a:rPr lang="zh-CN" altLang="en-US" sz="1800" b="0" u="none">
                          <a:latin typeface="Times New Roman" panose="02020603050405020304" pitchFamily="18" charset="0"/>
                          <a:ea typeface="宋体" panose="02010600030101010101" pitchFamily="2" charset="-122"/>
                          <a:cs typeface="宋体" panose="02010600030101010101" pitchFamily="2" charset="-122"/>
                        </a:rPr>
                        <a:t>共轭梯度法共轭梯度法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Times New Roman" panose="02020603050405020304" pitchFamily="18" charset="0"/>
                          <a:cs typeface="Times New Roman" panose="02020603050405020304" pitchFamily="18" charset="0"/>
                        </a:rPr>
                        <a:t>traincg</a:t>
                      </a:r>
                      <a:r>
                        <a:rPr lang="en-US" altLang="zh-CN" sz="1800" b="0" u="none">
                          <a:latin typeface="Times New Roman" panose="02020603050405020304" pitchFamily="18" charset="0"/>
                          <a:ea typeface="宋体" panose="02010600030101010101" pitchFamily="2" charset="-122"/>
                          <a:cs typeface="宋体" panose="02010600030101010101" pitchFamily="2" charset="-122"/>
                        </a:rPr>
                        <a:t>p</a:t>
                      </a:r>
                      <a:endParaRPr lang="en-US" altLang="zh-CN" sz="18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Powell-Beale</a:t>
                      </a:r>
                      <a:r>
                        <a:rPr lang="zh-CN" altLang="en-US" sz="1800" b="0" u="none">
                          <a:latin typeface="Times New Roman" panose="02020603050405020304" pitchFamily="18" charset="0"/>
                          <a:ea typeface="宋体" panose="02010600030101010101" pitchFamily="2" charset="-122"/>
                          <a:cs typeface="宋体" panose="02010600030101010101" pitchFamily="2" charset="-122"/>
                        </a:rPr>
                        <a:t>共轭梯度法共轭梯度法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Times New Roman" panose="02020603050405020304" pitchFamily="18" charset="0"/>
                          <a:cs typeface="Times New Roman" panose="02020603050405020304" pitchFamily="18" charset="0"/>
                        </a:rPr>
                        <a:t>traincg</a:t>
                      </a:r>
                      <a:r>
                        <a:rPr lang="en-US" altLang="zh-CN" sz="1800" b="0" u="none">
                          <a:latin typeface="Times New Roman" panose="02020603050405020304" pitchFamily="18" charset="0"/>
                          <a:ea typeface="宋体" panose="02010600030101010101" pitchFamily="2" charset="-122"/>
                          <a:cs typeface="宋体" panose="02010600030101010101" pitchFamily="2" charset="-122"/>
                        </a:rPr>
                        <a:t>b</a:t>
                      </a:r>
                      <a:endParaRPr lang="en-US" altLang="zh-CN" sz="18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量化共轭梯度法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trainscg</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拟牛顿算法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trainbfg</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290">
                <a:tc>
                  <a:txBody>
                    <a:bodyPr/>
                    <a:p>
                      <a:pPr marL="179705" indent="0" algn="l" fontAlgn="auto">
                        <a:buNone/>
                      </a:pPr>
                      <a:r>
                        <a:rPr lang="zh-CN" altLang="en-US" sz="1800" b="0" u="none">
                          <a:latin typeface="Times New Roman" panose="02020603050405020304" pitchFamily="18" charset="0"/>
                          <a:ea typeface="宋体" panose="02010600030101010101" pitchFamily="2" charset="-122"/>
                          <a:cs typeface="宋体" panose="02010600030101010101" pitchFamily="2" charset="-122"/>
                        </a:rPr>
                        <a:t>一步正割算法</a:t>
                      </a:r>
                      <a:endParaRPr lang="zh-CN" altLang="en-US"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trainoss</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Levenberg-Marquardt</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179705" indent="0" algn="l" fontAlgn="auto">
                        <a:buNone/>
                      </a:pPr>
                      <a:r>
                        <a:rPr lang="en-US" altLang="zh-CN" sz="1800" b="0" u="none">
                          <a:latin typeface="Times New Roman" panose="02020603050405020304" pitchFamily="18" charset="0"/>
                          <a:ea typeface="宋体" panose="02010600030101010101" pitchFamily="2" charset="-122"/>
                          <a:cs typeface="宋体" panose="02010600030101010101" pitchFamily="2" charset="-122"/>
                        </a:rPr>
                        <a:t>trainlm</a:t>
                      </a:r>
                      <a:endParaRPr lang="en-US" altLang="zh-CN" sz="18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noRot="1"/>
          </p:cNvSpPr>
          <p:nvPr>
            <p:ph type="title"/>
          </p:nvPr>
        </p:nvSpPr>
        <p:spPr>
          <a:ln>
            <a:noFill/>
          </a:ln>
        </p:spPr>
        <p:txBody>
          <a:bodyPr anchor="ctr"/>
          <a:p>
            <a:pPr algn="l"/>
            <a:r>
              <a:rPr lang="en-US" altLang="zh-CN" sz="2800">
                <a:sym typeface="Arial" panose="020B0604020202020204" pitchFamily="34" charset="0"/>
              </a:rPr>
              <a:t>1. </a:t>
            </a:r>
            <a:r>
              <a:rPr lang="zh-CN" altLang="en-US" sz="2800">
                <a:sym typeface="Arial" panose="020B0604020202020204" pitchFamily="34" charset="0"/>
              </a:rPr>
              <a:t>BP</a:t>
            </a:r>
            <a:r>
              <a:rPr lang="zh-CN" altLang="en-US">
                <a:sym typeface="Arial" panose="020B0604020202020204" pitchFamily="34" charset="0"/>
              </a:rPr>
              <a:t>网络构建</a:t>
            </a:r>
            <a:endParaRPr lang="zh-CN" altLang="en-US"/>
          </a:p>
        </p:txBody>
      </p:sp>
      <p:sp>
        <p:nvSpPr>
          <p:cNvPr id="3" name="内容占位符 2"/>
          <p:cNvSpPr>
            <a:spLocks noGrp="1"/>
          </p:cNvSpPr>
          <p:nvPr>
            <p:ph idx="1" hasCustomPrompt="1"/>
          </p:nvPr>
        </p:nvSpPr>
        <p:spPr>
          <a:xfrm>
            <a:off x="301625" y="1164908"/>
            <a:ext cx="8540750" cy="3886200"/>
          </a:xfrm>
        </p:spPr>
        <p:txBody>
          <a:bodyPr anchor="t"/>
          <a:p>
            <a:pPr marL="0" indent="0" fontAlgn="base">
              <a:buNone/>
            </a:pPr>
            <a:r>
              <a:rPr lang="en-US" altLang="zh-CN" sz="2000" strike="noStrike" noProof="1"/>
              <a:t>     </a:t>
            </a:r>
            <a:r>
              <a:rPr lang="zh-CN" altLang="en-US" sz="2000" strike="noStrike" noProof="1"/>
              <a:t>（1）生成BP网络</a:t>
            </a:r>
            <a:endParaRPr lang="zh-CN" altLang="en-US" sz="2000" strike="noStrike" noProof="1"/>
          </a:p>
          <a:p>
            <a:pPr marL="0" indent="0" fontAlgn="base">
              <a:lnSpc>
                <a:spcPct val="150000"/>
              </a:lnSpc>
              <a:buNone/>
            </a:pPr>
            <a:r>
              <a:rPr lang="en-US" altLang="zh-CN" sz="2000" i="1" strike="noStrike" noProof="1">
                <a:latin typeface="Times New Roman" panose="02020603050405020304" pitchFamily="18" charset="0"/>
              </a:rPr>
              <a:t>             net=newff(PR,</a:t>
            </a:r>
            <a:r>
              <a:rPr lang="en-US" altLang="zh-CN" sz="2000" strike="noStrike" noProof="1">
                <a:latin typeface="Times New Roman" panose="02020603050405020304" pitchFamily="18" charset="0"/>
              </a:rPr>
              <a:t>[</a:t>
            </a:r>
            <a:r>
              <a:rPr lang="en-US" altLang="zh-CN" sz="2000" i="1" strike="noStrike" noProof="1">
                <a:latin typeface="Times New Roman" panose="02020603050405020304" pitchFamily="18" charset="0"/>
              </a:rPr>
              <a:t>S1 S2...SNl</a:t>
            </a:r>
            <a:r>
              <a:rPr lang="en-US" altLang="zh-CN" sz="2000" strike="noStrike" noProof="1">
                <a:latin typeface="Times New Roman" panose="02020603050405020304" pitchFamily="18" charset="0"/>
              </a:rPr>
              <a:t>]</a:t>
            </a:r>
            <a:r>
              <a:rPr lang="en-US" altLang="zh-CN" sz="2000" i="1" strike="noStrike" noProof="1">
                <a:latin typeface="Times New Roman" panose="02020603050405020304" pitchFamily="18" charset="0"/>
              </a:rPr>
              <a:t>),</a:t>
            </a:r>
            <a:r>
              <a:rPr lang="en-US" altLang="zh-CN" sz="2000" strike="noStrike" noProof="1">
                <a:latin typeface="Times New Roman" panose="02020603050405020304" pitchFamily="18" charset="0"/>
              </a:rPr>
              <a:t>{</a:t>
            </a:r>
            <a:r>
              <a:rPr lang="en-US" altLang="zh-CN" sz="2000" i="1" strike="noStrike" noProof="1">
                <a:latin typeface="Times New Roman" panose="02020603050405020304" pitchFamily="18" charset="0"/>
              </a:rPr>
              <a:t>TF1 TF2...TFNl</a:t>
            </a:r>
            <a:r>
              <a:rPr lang="en-US" altLang="zh-CN" sz="2000" strike="noStrike" noProof="1">
                <a:latin typeface="Times New Roman" panose="02020603050405020304" pitchFamily="18" charset="0"/>
              </a:rPr>
              <a:t>}</a:t>
            </a:r>
            <a:r>
              <a:rPr lang="en-US" altLang="zh-CN" sz="2000" i="1" strike="noStrike" noProof="1">
                <a:latin typeface="Times New Roman" panose="02020603050405020304" pitchFamily="18" charset="0"/>
              </a:rPr>
              <a:t>,BTF)</a:t>
            </a:r>
            <a:endParaRPr lang="zh-CN" altLang="en-US" sz="2000" strike="noStrike" noProof="1"/>
          </a:p>
          <a:p>
            <a:pPr fontAlgn="base"/>
            <a:r>
              <a:rPr lang="en-US" altLang="zh-CN" sz="2000" i="1" strike="noStrike" noProof="1">
                <a:latin typeface="Times New Roman" panose="02020603050405020304" pitchFamily="18" charset="0"/>
              </a:rPr>
              <a:t>：PR:</a:t>
            </a:r>
            <a:r>
              <a:rPr lang="zh-CN" altLang="en-US" sz="2000" strike="noStrike" noProof="1"/>
              <a:t>由</a:t>
            </a:r>
            <a:r>
              <a:rPr lang="en-US" altLang="zh-CN" sz="2000" i="1" strike="noStrike" noProof="1">
                <a:latin typeface="Times New Roman" panose="02020603050405020304" pitchFamily="18" charset="0"/>
              </a:rPr>
              <a:t>R</a:t>
            </a:r>
            <a:r>
              <a:rPr lang="zh-CN" altLang="en-US" sz="2000" strike="noStrike" noProof="1"/>
              <a:t>维的输入样本最小最大值构成的</a:t>
            </a:r>
            <a:r>
              <a:rPr lang="en-US" altLang="zh-CN" sz="2000" i="1" strike="noStrike" noProof="1">
                <a:latin typeface="Times New Roman" panose="02020603050405020304" pitchFamily="18" charset="0"/>
              </a:rPr>
              <a:t>R*2</a:t>
            </a:r>
            <a:r>
              <a:rPr lang="zh-CN" altLang="en-US" sz="2000" strike="noStrike" noProof="1"/>
              <a:t>维矩阵。</a:t>
            </a:r>
            <a:endParaRPr lang="zh-CN" altLang="en-US" sz="2000" strike="noStrike" noProof="1"/>
          </a:p>
          <a:p>
            <a:pPr fontAlgn="base"/>
            <a:r>
              <a:rPr lang="zh-CN" altLang="en-US" sz="2000" strike="noStrike" noProof="1"/>
              <a:t>：</a:t>
            </a:r>
            <a:r>
              <a:rPr lang="en-US" altLang="zh-CN" sz="2000" strike="noStrike" noProof="1">
                <a:latin typeface="Times New Roman" panose="02020603050405020304" pitchFamily="18" charset="0"/>
                <a:sym typeface="+mn-ea"/>
              </a:rPr>
              <a:t>[</a:t>
            </a:r>
            <a:r>
              <a:rPr lang="en-US" altLang="zh-CN" sz="2000" i="1" strike="noStrike" noProof="1">
                <a:latin typeface="Times New Roman" panose="02020603050405020304" pitchFamily="18" charset="0"/>
                <a:sym typeface="+mn-ea"/>
              </a:rPr>
              <a:t>S1 S2...SNl</a:t>
            </a:r>
            <a:r>
              <a:rPr lang="en-US" altLang="zh-CN" sz="2000" strike="noStrike" noProof="1">
                <a:latin typeface="Times New Roman" panose="02020603050405020304" pitchFamily="18" charset="0"/>
                <a:sym typeface="+mn-ea"/>
              </a:rPr>
              <a:t>]</a:t>
            </a:r>
            <a:r>
              <a:rPr lang="zh-CN" altLang="en-US" sz="2000" strike="noStrike" noProof="1"/>
              <a:t>各层的神经元个数。</a:t>
            </a:r>
            <a:endParaRPr lang="zh-CN" altLang="en-US" sz="2000" strike="noStrike" noProof="1"/>
          </a:p>
          <a:p>
            <a:pPr fontAlgn="base"/>
            <a:r>
              <a:rPr lang="zh-CN" altLang="en-US" sz="2000" strike="noStrike" noProof="1"/>
              <a:t>：</a:t>
            </a:r>
            <a:r>
              <a:rPr lang="en-US" altLang="zh-CN" sz="2000" strike="noStrike" noProof="1">
                <a:latin typeface="Times New Roman" panose="02020603050405020304" pitchFamily="18" charset="0"/>
                <a:sym typeface="+mn-ea"/>
              </a:rPr>
              <a:t>{</a:t>
            </a:r>
            <a:r>
              <a:rPr lang="en-US" altLang="zh-CN" sz="2000" i="1" strike="noStrike" noProof="1">
                <a:latin typeface="Times New Roman" panose="02020603050405020304" pitchFamily="18" charset="0"/>
                <a:sym typeface="+mn-ea"/>
              </a:rPr>
              <a:t>TF1 TF2...TFNl</a:t>
            </a:r>
            <a:r>
              <a:rPr lang="en-US" altLang="zh-CN" sz="2000" strike="noStrike" noProof="1">
                <a:latin typeface="Times New Roman" panose="02020603050405020304" pitchFamily="18" charset="0"/>
                <a:sym typeface="+mn-ea"/>
              </a:rPr>
              <a:t>}</a:t>
            </a:r>
            <a:r>
              <a:rPr lang="zh-CN" altLang="en-US" sz="2000" strike="noStrike" noProof="1"/>
              <a:t>各层的神经元传递函数。</a:t>
            </a:r>
            <a:endParaRPr lang="zh-CN" altLang="en-US" sz="2000" strike="noStrike" noProof="1"/>
          </a:p>
          <a:p>
            <a:pPr fontAlgn="base"/>
            <a:r>
              <a:rPr lang="zh-CN" altLang="en-US" sz="2000" strike="noStrike" noProof="1"/>
              <a:t>：</a:t>
            </a:r>
            <a:r>
              <a:rPr lang="en-US" altLang="zh-CN" sz="2000" i="1" strike="noStrike" noProof="1">
                <a:latin typeface="Times New Roman" panose="02020603050405020304" pitchFamily="18" charset="0"/>
                <a:sym typeface="+mn-ea"/>
              </a:rPr>
              <a:t>BTF</a:t>
            </a:r>
            <a:r>
              <a:rPr lang="zh-CN" altLang="en-US" sz="2000" strike="noStrike" noProof="1"/>
              <a:t>训练用函数的名称。</a:t>
            </a:r>
            <a:endParaRPr lang="zh-CN" altLang="en-US" sz="2000" strike="noStrike" noProof="1"/>
          </a:p>
          <a:p>
            <a:pPr fontAlgn="base"/>
            <a:r>
              <a:rPr lang="zh-CN" altLang="en-US" sz="2000" strike="noStrike" noProof="1"/>
              <a:t>（2）网络训练</a:t>
            </a:r>
            <a:endParaRPr lang="zh-CN" altLang="en-US" sz="2000" strike="noStrike" noProof="1"/>
          </a:p>
          <a:p>
            <a:pPr fontAlgn="base"/>
            <a:r>
              <a:rPr lang="en-US" altLang="zh-CN" sz="2000" strike="noStrike" noProof="1"/>
              <a:t>               </a:t>
            </a:r>
            <a:r>
              <a:rPr lang="en-US" altLang="zh-CN" sz="2000" i="1" strike="noStrike" noProof="1">
                <a:latin typeface="Times New Roman" panose="02020603050405020304" pitchFamily="18" charset="0"/>
              </a:rPr>
              <a:t>net=train(net,P,T</a:t>
            </a:r>
            <a:r>
              <a:rPr lang="en-US" altLang="zh-CN" sz="2000" i="1" strike="noStrike" noProof="1"/>
              <a:t>)</a:t>
            </a:r>
            <a:endParaRPr lang="en-US" altLang="zh-CN" sz="2000" strike="noStrike" noProof="1"/>
          </a:p>
          <a:p>
            <a:pPr fontAlgn="base"/>
            <a:r>
              <a:rPr lang="zh-CN" altLang="en-US" sz="2000" strike="noStrike" noProof="1"/>
              <a:t>（3）网络仿真</a:t>
            </a:r>
            <a:endParaRPr lang="zh-CN" altLang="en-US" sz="2000" strike="noStrike" noProof="1"/>
          </a:p>
          <a:p>
            <a:pPr fontAlgn="base"/>
            <a:r>
              <a:rPr lang="en-US" altLang="zh-CN" sz="2000" strike="noStrike" noProof="1">
                <a:latin typeface="Times New Roman" panose="02020603050405020304" pitchFamily="18" charset="0"/>
              </a:rPr>
              <a:t>                   </a:t>
            </a:r>
            <a:r>
              <a:rPr lang="en-US" altLang="zh-CN" sz="2000" i="1" strike="noStrike" noProof="1">
                <a:latin typeface="Times New Roman" panose="02020603050405020304" pitchFamily="18" charset="0"/>
              </a:rPr>
              <a:t>Y2=sim</a:t>
            </a:r>
            <a:r>
              <a:rPr lang="en-US" altLang="zh-CN" sz="2000" strike="noStrike" noProof="1">
                <a:latin typeface="Times New Roman" panose="02020603050405020304" pitchFamily="18" charset="0"/>
              </a:rPr>
              <a:t>(</a:t>
            </a:r>
            <a:r>
              <a:rPr lang="en-US" altLang="zh-CN" sz="2000" i="1" strike="noStrike" noProof="1">
                <a:latin typeface="Times New Roman" panose="02020603050405020304" pitchFamily="18" charset="0"/>
              </a:rPr>
              <a:t>net,P2</a:t>
            </a:r>
            <a:r>
              <a:rPr lang="en-US" altLang="zh-CN" sz="2000" strike="noStrike" noProof="1">
                <a:latin typeface="Times New Roman" panose="02020603050405020304" pitchFamily="18" charset="0"/>
              </a:rPr>
              <a:t>)</a:t>
            </a:r>
            <a:endParaRPr lang="en-US" altLang="zh-CN" sz="2000" strike="noStrike" noProof="1">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内容占位符 2"/>
          <p:cNvSpPr>
            <a:spLocks noGrp="1" noRot="1"/>
          </p:cNvSpPr>
          <p:nvPr>
            <p:ph idx="1" hasCustomPrompt="1"/>
          </p:nvPr>
        </p:nvSpPr>
        <p:spPr>
          <a:xfrm>
            <a:off x="301625" y="1013778"/>
            <a:ext cx="8540750" cy="3886200"/>
          </a:xfrm>
        </p:spPr>
        <p:txBody>
          <a:bodyPr anchor="t"/>
          <a:p>
            <a:r>
              <a:rPr lang="zh-CN" altLang="en-US" sz="1800"/>
              <a:t>p</a:t>
            </a:r>
            <a:r>
              <a:rPr lang="en-US" altLang="zh-CN" sz="1800"/>
              <a:t>n</a:t>
            </a:r>
            <a:r>
              <a:rPr lang="zh-CN" altLang="en-US" sz="1800"/>
              <a:t>=p1';t</a:t>
            </a:r>
            <a:r>
              <a:rPr lang="en-US" altLang="zh-CN" sz="1800"/>
              <a:t>n</a:t>
            </a:r>
            <a:r>
              <a:rPr lang="zh-CN" altLang="en-US" sz="1800"/>
              <a:t>=t1'; </a:t>
            </a:r>
            <a:endParaRPr lang="zh-CN" altLang="en-US" sz="1800"/>
          </a:p>
          <a:p>
            <a:r>
              <a:rPr lang="en-US" altLang="zh-CN" sz="1800">
                <a:solidFill>
                  <a:srgbClr val="FF0000"/>
                </a:solidFill>
              </a:rPr>
              <a:t>[m,n]=size(t);</a:t>
            </a:r>
            <a:endParaRPr lang="en-US" altLang="zh-CN" sz="1800">
              <a:solidFill>
                <a:srgbClr val="FF0000"/>
              </a:solidFill>
            </a:endParaRPr>
          </a:p>
          <a:p>
            <a:r>
              <a:rPr lang="zh-CN" altLang="en-US" sz="1800"/>
              <a:t> [pn,minp,maxp,tn,mint,maxt]=premnmx(p,t);    net=newff(minmax(pn),[5,1],{'tansig','purelin'},'traingd'); %设置网络,建立相应的BP网络</a:t>
            </a:r>
            <a:endParaRPr lang="zh-CN" altLang="en-US" sz="1800"/>
          </a:p>
          <a:p>
            <a:r>
              <a:rPr lang="zh-CN" altLang="en-US" sz="1800"/>
              <a:t>net.trainParam.show=</a:t>
            </a:r>
            <a:r>
              <a:rPr lang="en-US" altLang="zh-CN" sz="1800"/>
              <a:t>5</a:t>
            </a:r>
            <a:r>
              <a:rPr lang="zh-CN" altLang="en-US" sz="1800"/>
              <a:t>0; % 训练网络</a:t>
            </a:r>
            <a:endParaRPr lang="zh-CN" altLang="en-US" sz="1800"/>
          </a:p>
          <a:p>
            <a:r>
              <a:rPr lang="zh-CN" altLang="en-US" sz="1800"/>
              <a:t>net.trainParam.lr=0.01;</a:t>
            </a:r>
            <a:endParaRPr lang="zh-CN" altLang="en-US" sz="1800"/>
          </a:p>
          <a:p>
            <a:r>
              <a:rPr lang="zh-CN" altLang="en-US" sz="1800"/>
              <a:t>net.trainParam.epochs=1000;</a:t>
            </a:r>
            <a:endParaRPr lang="zh-CN" altLang="en-US" sz="1800"/>
          </a:p>
          <a:p>
            <a:r>
              <a:rPr lang="zh-CN" altLang="en-US" sz="1800"/>
              <a:t>net.trainParam.goal=1e-5;</a:t>
            </a:r>
            <a:endParaRPr lang="zh-CN" altLang="en-US" sz="1800"/>
          </a:p>
          <a:p>
            <a:r>
              <a:rPr lang="zh-CN" altLang="en-US" sz="1800"/>
              <a:t>[net,tr]=train(net ,pn,tn);              </a:t>
            </a:r>
            <a:endParaRPr lang="zh-CN" altLang="en-US" sz="1800"/>
          </a:p>
          <a:p>
            <a:r>
              <a:rPr lang="zh-CN" altLang="en-US" sz="1800"/>
              <a:t>anewn=sim(</a:t>
            </a:r>
            <a:r>
              <a:rPr lang="en-US" altLang="zh-CN" sz="1800"/>
              <a:t>net</a:t>
            </a:r>
            <a:r>
              <a:rPr lang="zh-CN" altLang="en-US" sz="1800"/>
              <a:t>,pn);      %对BP网络进行仿真</a:t>
            </a:r>
            <a:endParaRPr lang="zh-CN" altLang="en-US" sz="1800"/>
          </a:p>
          <a:p>
            <a:r>
              <a:rPr lang="en-US" altLang="zh-CN" sz="1800"/>
              <a:t>figure;hold on</a:t>
            </a:r>
            <a:endParaRPr lang="en-US" altLang="zh-CN" sz="1800"/>
          </a:p>
          <a:p>
            <a:r>
              <a:rPr lang="en-US" altLang="zh-CN" sz="1800"/>
              <a:t>plot(anewn,'b',tn,'r');</a:t>
            </a:r>
            <a:endParaRPr lang="en-US" altLang="zh-CN" sz="1800"/>
          </a:p>
          <a:p>
            <a:r>
              <a:rPr lang="en-US" altLang="zh-CN" sz="1800"/>
              <a:t>wucha=sum(abs(b-r))/n;%</a:t>
            </a:r>
            <a:r>
              <a:rPr lang="zh-CN" altLang="en-US" sz="1800"/>
              <a:t>误差输出</a:t>
            </a:r>
            <a:endParaRPr lang="zh-CN" altLang="en-US"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内容占位符 2"/>
          <p:cNvSpPr>
            <a:spLocks noGrp="1" noRot="1"/>
          </p:cNvSpPr>
          <p:nvPr>
            <p:ph idx="1" hasCustomPrompt="1"/>
          </p:nvPr>
        </p:nvSpPr>
        <p:spPr>
          <a:xfrm>
            <a:off x="323215" y="836613"/>
            <a:ext cx="8540750" cy="5237162"/>
          </a:xfrm>
          <a:ln>
            <a:noFill/>
          </a:ln>
        </p:spPr>
        <p:txBody>
          <a:bodyPr anchor="t"/>
          <a:p>
            <a:pPr>
              <a:lnSpc>
                <a:spcPct val="100000"/>
              </a:lnSpc>
              <a:spcBef>
                <a:spcPts val="200"/>
              </a:spcBef>
            </a:pPr>
            <a:endParaRPr lang="zh-CN" altLang="en-US" sz="1600"/>
          </a:p>
          <a:p>
            <a:pPr>
              <a:lnSpc>
                <a:spcPct val="100000"/>
              </a:lnSpc>
              <a:spcBef>
                <a:spcPts val="200"/>
              </a:spcBef>
            </a:pPr>
            <a:r>
              <a:rPr lang="zh-CN" altLang="en-US" sz="1600"/>
              <a:t>  %traingd</a:t>
            </a:r>
            <a:endParaRPr lang="zh-CN" altLang="en-US" sz="1600"/>
          </a:p>
          <a:p>
            <a:pPr>
              <a:lnSpc>
                <a:spcPct val="100000"/>
              </a:lnSpc>
              <a:spcBef>
                <a:spcPts val="200"/>
              </a:spcBef>
            </a:pPr>
            <a:r>
              <a:rPr lang="zh-CN" altLang="en-US" sz="1600"/>
              <a:t>  clear;</a:t>
            </a:r>
            <a:endParaRPr lang="zh-CN" altLang="en-US" sz="1600"/>
          </a:p>
          <a:p>
            <a:pPr>
              <a:lnSpc>
                <a:spcPct val="100000"/>
              </a:lnSpc>
              <a:spcBef>
                <a:spcPts val="200"/>
              </a:spcBef>
            </a:pPr>
            <a:r>
              <a:rPr lang="zh-CN" altLang="en-US" sz="1600"/>
              <a:t>  clc;</a:t>
            </a:r>
            <a:endParaRPr lang="zh-CN" altLang="en-US" sz="1600"/>
          </a:p>
          <a:p>
            <a:pPr>
              <a:lnSpc>
                <a:spcPct val="100000"/>
              </a:lnSpc>
              <a:spcBef>
                <a:spcPts val="200"/>
              </a:spcBef>
            </a:pPr>
            <a:r>
              <a:rPr lang="zh-CN" altLang="en-US" sz="1600"/>
              <a:t>  P=[-1 -1 2 2 4;0 5 0 5 7];</a:t>
            </a:r>
            <a:endParaRPr lang="zh-CN" altLang="en-US" sz="1600"/>
          </a:p>
          <a:p>
            <a:pPr>
              <a:lnSpc>
                <a:spcPct val="100000"/>
              </a:lnSpc>
              <a:spcBef>
                <a:spcPts val="200"/>
              </a:spcBef>
            </a:pPr>
            <a:r>
              <a:rPr lang="zh-CN" altLang="en-US" sz="1600"/>
              <a:t>  T=[-1 -1 1 1 -1];</a:t>
            </a:r>
            <a:endParaRPr lang="zh-CN" altLang="en-US" sz="1600"/>
          </a:p>
          <a:p>
            <a:pPr>
              <a:lnSpc>
                <a:spcPct val="100000"/>
              </a:lnSpc>
              <a:spcBef>
                <a:spcPts val="200"/>
              </a:spcBef>
            </a:pPr>
            <a:r>
              <a:rPr lang="zh-CN" altLang="en-US" sz="1600"/>
              <a:t>  %利用minmax函数求输入样本范围</a:t>
            </a:r>
            <a:endParaRPr lang="zh-CN" altLang="en-US" sz="1600"/>
          </a:p>
          <a:p>
            <a:pPr>
              <a:lnSpc>
                <a:spcPct val="100000"/>
              </a:lnSpc>
              <a:spcBef>
                <a:spcPts val="200"/>
              </a:spcBef>
            </a:pPr>
            <a:r>
              <a:rPr lang="zh-CN" altLang="en-US" sz="1600"/>
              <a:t>  net = newff(minmax(P),[7,1],{'tansig','purelin'},'trainlm');</a:t>
            </a:r>
            <a:endParaRPr lang="zh-CN" altLang="en-US" sz="1600"/>
          </a:p>
          <a:p>
            <a:pPr>
              <a:lnSpc>
                <a:spcPct val="100000"/>
              </a:lnSpc>
              <a:spcBef>
                <a:spcPts val="200"/>
              </a:spcBef>
            </a:pPr>
            <a:r>
              <a:rPr lang="zh-CN" altLang="en-US" sz="1600"/>
              <a:t>  net.trainParam.show=50;%</a:t>
            </a:r>
            <a:endParaRPr lang="zh-CN" altLang="en-US" sz="1600"/>
          </a:p>
          <a:p>
            <a:pPr>
              <a:lnSpc>
                <a:spcPct val="100000"/>
              </a:lnSpc>
              <a:spcBef>
                <a:spcPts val="200"/>
              </a:spcBef>
            </a:pPr>
            <a:r>
              <a:rPr lang="zh-CN" altLang="en-US" sz="1600"/>
              <a:t>  net.trainParam.lr=0.05;</a:t>
            </a:r>
            <a:endParaRPr lang="zh-CN" altLang="en-US" sz="1600"/>
          </a:p>
          <a:p>
            <a:pPr>
              <a:lnSpc>
                <a:spcPct val="100000"/>
              </a:lnSpc>
              <a:spcBef>
                <a:spcPts val="200"/>
              </a:spcBef>
            </a:pPr>
            <a:r>
              <a:rPr lang="zh-CN" altLang="en-US" sz="1600"/>
              <a:t>  net.trainParam.epochs=1000;</a:t>
            </a:r>
            <a:endParaRPr lang="zh-CN" altLang="en-US" sz="1600"/>
          </a:p>
          <a:p>
            <a:pPr>
              <a:lnSpc>
                <a:spcPct val="100000"/>
              </a:lnSpc>
              <a:spcBef>
                <a:spcPts val="200"/>
              </a:spcBef>
            </a:pPr>
            <a:r>
              <a:rPr lang="zh-CN" altLang="en-US" sz="1600"/>
              <a:t>  net.trainParam.goal=1e-5;</a:t>
            </a:r>
            <a:endParaRPr lang="zh-CN" altLang="en-US" sz="1600"/>
          </a:p>
          <a:p>
            <a:pPr>
              <a:lnSpc>
                <a:spcPct val="100000"/>
              </a:lnSpc>
              <a:spcBef>
                <a:spcPts val="200"/>
              </a:spcBef>
            </a:pPr>
            <a:r>
              <a:rPr lang="zh-CN" altLang="en-US" sz="1600"/>
              <a:t>[net,tr]=train(net,P,T);</a:t>
            </a:r>
            <a:endParaRPr lang="zh-CN" altLang="en-US" sz="1600"/>
          </a:p>
          <a:p>
            <a:pPr>
              <a:lnSpc>
                <a:spcPct val="100000"/>
              </a:lnSpc>
              <a:spcBef>
                <a:spcPts val="200"/>
              </a:spcBef>
            </a:pPr>
            <a:r>
              <a:rPr lang="zh-CN" altLang="en-US" sz="1600"/>
              <a:t>net.iw{1,1}%隐层权值</a:t>
            </a:r>
            <a:endParaRPr lang="zh-CN" altLang="en-US" sz="1600"/>
          </a:p>
          <a:p>
            <a:pPr>
              <a:lnSpc>
                <a:spcPct val="100000"/>
              </a:lnSpc>
              <a:spcBef>
                <a:spcPts val="200"/>
              </a:spcBef>
            </a:pPr>
            <a:r>
              <a:rPr lang="zh-CN" altLang="en-US" sz="1600"/>
              <a:t>net.b{1}%隐层阈值</a:t>
            </a:r>
            <a:endParaRPr lang="zh-CN" altLang="en-US" sz="1600"/>
          </a:p>
          <a:p>
            <a:pPr>
              <a:lnSpc>
                <a:spcPct val="100000"/>
              </a:lnSpc>
              <a:spcBef>
                <a:spcPts val="200"/>
              </a:spcBef>
            </a:pPr>
            <a:r>
              <a:rPr lang="zh-CN" altLang="en-US" sz="1600"/>
              <a:t>net.lw{2,1}%输出层权值</a:t>
            </a:r>
            <a:endParaRPr lang="zh-CN" altLang="en-US" sz="1600"/>
          </a:p>
          <a:p>
            <a:pPr>
              <a:lnSpc>
                <a:spcPct val="100000"/>
              </a:lnSpc>
              <a:spcBef>
                <a:spcPts val="200"/>
              </a:spcBef>
            </a:pPr>
            <a:r>
              <a:rPr lang="zh-CN" altLang="en-US" sz="1600"/>
              <a:t>net.b{2}%输出层阈值</a:t>
            </a:r>
            <a:endParaRPr lang="zh-CN" altLang="en-US" sz="1600"/>
          </a:p>
          <a:p>
            <a:pPr>
              <a:lnSpc>
                <a:spcPct val="100000"/>
              </a:lnSpc>
              <a:spcBef>
                <a:spcPts val="200"/>
              </a:spcBef>
            </a:pPr>
            <a:r>
              <a:rPr lang="zh-CN" altLang="en-US" sz="1600"/>
              <a:t>y3=sim(net,P);</a:t>
            </a:r>
            <a:endParaRPr lang="zh-CN" altLang="en-US" sz="1600"/>
          </a:p>
        </p:txBody>
      </p:sp>
      <p:pic>
        <p:nvPicPr>
          <p:cNvPr id="67586" name="图片 3"/>
          <p:cNvPicPr/>
          <p:nvPr/>
        </p:nvPicPr>
        <p:blipFill>
          <a:blip r:embed="rId1"/>
          <a:stretch>
            <a:fillRect/>
          </a:stretch>
        </p:blipFill>
        <p:spPr>
          <a:xfrm>
            <a:off x="3937000" y="-4068762"/>
            <a:ext cx="152400" cy="171450"/>
          </a:xfrm>
          <a:prstGeom prst="rect">
            <a:avLst/>
          </a:prstGeom>
          <a:solidFill>
            <a:srgbClr val="FFFFFF"/>
          </a:solidFill>
          <a:ln w="9525" cap="flat" cmpd="sng">
            <a:solidFill>
              <a:srgbClr val="000000"/>
            </a:solidFill>
            <a:prstDash val="solid"/>
            <a:round/>
            <a:headEnd type="none" w="med" len="med"/>
            <a:tailEnd type="none" w="med" len="med"/>
          </a:ln>
        </p:spPr>
      </p:pic>
      <p:pic>
        <p:nvPicPr>
          <p:cNvPr id="67587" name="图片 4"/>
          <p:cNvPicPr/>
          <p:nvPr/>
        </p:nvPicPr>
        <p:blipFill>
          <a:blip r:embed="rId1"/>
          <a:stretch>
            <a:fillRect/>
          </a:stretch>
        </p:blipFill>
        <p:spPr>
          <a:xfrm>
            <a:off x="3937000" y="-4068762"/>
            <a:ext cx="152400" cy="171450"/>
          </a:xfrm>
          <a:prstGeom prst="rect">
            <a:avLst/>
          </a:prstGeom>
          <a:solidFill>
            <a:srgbClr val="FFFFFF"/>
          </a:solidFill>
          <a:ln w="9525" cap="flat" cmpd="sng">
            <a:solidFill>
              <a:srgbClr val="000000"/>
            </a:solidFill>
            <a:prstDash val="solid"/>
            <a:round/>
            <a:headEnd type="none" w="med" len="med"/>
            <a:tailEnd type="none" w="med" len="med"/>
          </a:ln>
        </p:spPr>
      </p:pic>
      <p:pic>
        <p:nvPicPr>
          <p:cNvPr id="67588" name="图片 5"/>
          <p:cNvPicPr/>
          <p:nvPr/>
        </p:nvPicPr>
        <p:blipFill>
          <a:blip r:embed="rId1"/>
          <a:stretch>
            <a:fillRect/>
          </a:stretch>
        </p:blipFill>
        <p:spPr>
          <a:xfrm>
            <a:off x="3937000" y="-4068762"/>
            <a:ext cx="152400" cy="171450"/>
          </a:xfrm>
          <a:prstGeom prst="rect">
            <a:avLst/>
          </a:prstGeom>
          <a:solidFill>
            <a:srgbClr val="FFFFFF"/>
          </a:solidFill>
          <a:ln w="9525" cap="flat" cmpd="sng">
            <a:solidFill>
              <a:srgbClr val="000000"/>
            </a:solidFill>
            <a:prstDash val="solid"/>
            <a:round/>
            <a:headEnd type="none" w="med" len="med"/>
            <a:tailEnd type="none" w="med" len="med"/>
          </a:ln>
        </p:spPr>
      </p:pic>
      <p:pic>
        <p:nvPicPr>
          <p:cNvPr id="67589" name="图片 6"/>
          <p:cNvPicPr/>
          <p:nvPr/>
        </p:nvPicPr>
        <p:blipFill>
          <a:blip r:embed="rId1"/>
          <a:stretch>
            <a:fillRect/>
          </a:stretch>
        </p:blipFill>
        <p:spPr>
          <a:xfrm>
            <a:off x="3937000" y="-4068762"/>
            <a:ext cx="152400" cy="171450"/>
          </a:xfrm>
          <a:prstGeom prst="rect">
            <a:avLst/>
          </a:prstGeom>
          <a:noFill/>
          <a:ln w="9525">
            <a:noFill/>
            <a:miter/>
          </a:ln>
        </p:spPr>
      </p:pic>
      <p:sp>
        <p:nvSpPr>
          <p:cNvPr id="65537" name="标题 1"/>
          <p:cNvSpPr>
            <a:spLocks noGrp="1" noRot="1"/>
          </p:cNvSpPr>
          <p:nvPr>
            <p:ph type="title"/>
          </p:nvPr>
        </p:nvSpPr>
        <p:spPr>
          <a:ln>
            <a:noFill/>
          </a:ln>
        </p:spPr>
        <p:txBody>
          <a:bodyPr anchor="ctr"/>
          <a:p>
            <a:pPr algn="l">
              <a:lnSpc>
                <a:spcPct val="100000"/>
              </a:lnSpc>
              <a:spcBef>
                <a:spcPts val="200"/>
              </a:spcBef>
            </a:pPr>
            <a:r>
              <a:rPr lang="zh-CN" altLang="en-US" sz="2800">
                <a:sym typeface="+mn-ea"/>
              </a:rPr>
              <a:t>BP</a:t>
            </a:r>
            <a:r>
              <a:rPr lang="zh-CN" altLang="en-US">
                <a:sym typeface="+mn-ea"/>
              </a:rPr>
              <a:t>网络举例</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539750" y="913130"/>
            <a:ext cx="8064500" cy="5031740"/>
          </a:xfrm>
        </p:spPr>
        <p:txBody>
          <a:bodyPr/>
          <a:p>
            <a:r>
              <a:rPr lang="zh-CN" altLang="en-US" sz="1300"/>
              <a:t>clear;</a:t>
            </a:r>
            <a:endParaRPr lang="zh-CN" altLang="en-US" sz="1300"/>
          </a:p>
          <a:p>
            <a:r>
              <a:rPr lang="zh-CN" altLang="en-US" sz="1300"/>
              <a:t>clc;</a:t>
            </a:r>
            <a:endParaRPr lang="zh-CN" altLang="en-US" sz="1300"/>
          </a:p>
          <a:p>
            <a:r>
              <a:rPr lang="zh-CN" altLang="en-US" sz="1300"/>
              <a:t>X=-1:0.1:1;</a:t>
            </a:r>
            <a:endParaRPr lang="zh-CN" altLang="en-US" sz="1300"/>
          </a:p>
          <a:p>
            <a:r>
              <a:rPr lang="zh-CN" altLang="en-US" sz="1300"/>
              <a:t>D=[-0.9602 -0.5770 -0.0729 0.3771 0.6405 0.6600 0.4609...</a:t>
            </a:r>
            <a:endParaRPr lang="zh-CN" altLang="en-US" sz="1300"/>
          </a:p>
          <a:p>
            <a:r>
              <a:rPr lang="zh-CN" altLang="en-US" sz="1300"/>
              <a:t>    0.1336 -0.2013 -0.4344 -0.5000 -0.3930 -0.1647 -.0988...</a:t>
            </a:r>
            <a:endParaRPr lang="zh-CN" altLang="en-US" sz="1300"/>
          </a:p>
          <a:p>
            <a:r>
              <a:rPr lang="zh-CN" altLang="en-US" sz="1300"/>
              <a:t>    0.3072 0.3960 0.3449 0.1816 -0.312 -0.2189 -0.3201];</a:t>
            </a:r>
            <a:endParaRPr lang="zh-CN" altLang="en-US" sz="1300"/>
          </a:p>
          <a:p>
            <a:r>
              <a:rPr lang="zh-CN" altLang="en-US" sz="1300"/>
              <a:t>figure;</a:t>
            </a:r>
            <a:endParaRPr lang="zh-CN" altLang="en-US" sz="1300"/>
          </a:p>
          <a:p>
            <a:r>
              <a:rPr lang="zh-CN" altLang="en-US" sz="1300"/>
              <a:t>plot(X,D,'*'); %绘制原始数据分布图（附录：1-1）</a:t>
            </a:r>
            <a:endParaRPr lang="zh-CN" altLang="en-US" sz="1300"/>
          </a:p>
          <a:p>
            <a:r>
              <a:rPr lang="zh-CN" altLang="en-US" sz="1300"/>
              <a:t>net = newff(minmax(X),[5 1],{'tansig','tansig'});</a:t>
            </a:r>
            <a:endParaRPr lang="zh-CN" altLang="en-US" sz="1300"/>
          </a:p>
          <a:p>
            <a:r>
              <a:rPr lang="zh-CN" altLang="en-US" sz="1300"/>
              <a:t>net.trainParam.epochs = 100; %训练的最大次数</a:t>
            </a:r>
            <a:endParaRPr lang="zh-CN" altLang="en-US" sz="1300"/>
          </a:p>
          <a:p>
            <a:r>
              <a:rPr lang="zh-CN" altLang="en-US" sz="1300"/>
              <a:t>net.trainParam.goal = 0.005; %全局最小误差</a:t>
            </a:r>
            <a:endParaRPr lang="zh-CN" altLang="en-US" sz="1300"/>
          </a:p>
          <a:p>
            <a:r>
              <a:rPr lang="zh-CN" altLang="en-US" sz="1300"/>
              <a:t>net = train(net,X,D); </a:t>
            </a:r>
            <a:endParaRPr lang="zh-CN" altLang="en-US" sz="1300"/>
          </a:p>
          <a:p>
            <a:r>
              <a:rPr lang="zh-CN" altLang="en-US" sz="1300"/>
              <a:t>O = sim(net,X); </a:t>
            </a:r>
            <a:endParaRPr lang="zh-CN" altLang="en-US" sz="1300"/>
          </a:p>
          <a:p>
            <a:r>
              <a:rPr lang="zh-CN" altLang="en-US" sz="1300"/>
              <a:t>figure; </a:t>
            </a:r>
            <a:endParaRPr lang="zh-CN" altLang="en-US" sz="1300"/>
          </a:p>
          <a:p>
            <a:r>
              <a:rPr lang="zh-CN" altLang="en-US" sz="1300"/>
              <a:t>plot(X,D,X,O,'r'); %绘制训练后得到的结果和误差曲线</a:t>
            </a:r>
            <a:endParaRPr lang="zh-CN" altLang="en-US" sz="1300"/>
          </a:p>
          <a:p>
            <a:r>
              <a:rPr lang="zh-CN" altLang="en-US" sz="1300"/>
              <a:t>V = net.iw{1,1}%输入层到中间层权值</a:t>
            </a:r>
            <a:endParaRPr lang="zh-CN" altLang="en-US" sz="1300"/>
          </a:p>
          <a:p>
            <a:r>
              <a:rPr lang="zh-CN" altLang="en-US" sz="1300"/>
              <a:t>theta1 = net.b{1}%中间层各神经元阈值</a:t>
            </a:r>
            <a:endParaRPr lang="zh-CN" altLang="en-US" sz="1300"/>
          </a:p>
          <a:p>
            <a:r>
              <a:rPr lang="zh-CN" altLang="en-US" sz="1300"/>
              <a:t>W = net.lw{2,1}%中间层到输出层权值</a:t>
            </a:r>
            <a:endParaRPr lang="zh-CN" altLang="en-US" sz="1300"/>
          </a:p>
          <a:p>
            <a:r>
              <a:rPr lang="zh-CN" altLang="en-US" sz="1300"/>
              <a:t>theta2 = net.b{2}%输出层各神经元阈值</a:t>
            </a:r>
            <a:endParaRPr lang="zh-CN" altLang="en-US" sz="13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7849870" cy="836930"/>
          </a:xfrm>
        </p:spPr>
        <p:txBody>
          <a:bodyPr/>
          <a:p>
            <a:pPr algn="l"/>
            <a:r>
              <a:rPr lang="zh-CN" altLang="zh-CN"/>
              <a:t>案例：地下水安全性评价与分析</a:t>
            </a:r>
            <a:endParaRPr lang="zh-CN" altLang="zh-CN"/>
          </a:p>
        </p:txBody>
      </p:sp>
      <p:sp>
        <p:nvSpPr>
          <p:cNvPr id="3" name="内容占位符 2"/>
          <p:cNvSpPr>
            <a:spLocks noGrp="1"/>
          </p:cNvSpPr>
          <p:nvPr>
            <p:ph idx="1"/>
          </p:nvPr>
        </p:nvSpPr>
        <p:spPr>
          <a:xfrm>
            <a:off x="330835" y="982980"/>
            <a:ext cx="8064500" cy="5145088"/>
          </a:xfrm>
        </p:spPr>
        <p:txBody>
          <a:bodyPr/>
          <a:p>
            <a:r>
              <a:rPr lang="en-US" altLang="zh-CN" sz="2200"/>
              <a:t>1.1</a:t>
            </a:r>
            <a:r>
              <a:rPr lang="zh-CN" altLang="en-US" sz="2200"/>
              <a:t>地下水安全性概念</a:t>
            </a:r>
            <a:endParaRPr lang="zh-CN" altLang="en-US" sz="2200"/>
          </a:p>
          <a:p>
            <a:r>
              <a:rPr lang="en-US" altLang="zh-CN" sz="2200"/>
              <a:t>       </a:t>
            </a:r>
            <a:r>
              <a:rPr lang="zh-CN" altLang="en-US" sz="2200"/>
              <a:t>地下水的安全性主要包含两个方面的内容，一是地下水本身的自然属性,也就是所谓的固有脆弱性,即地下水抵御外界干扰的能力,如地下水的含水层厚度、含水层介质和包气带、土壤类型等,都会影响外来物质在地下水中的去向。二是地下水安全的社会属性,即由于人类活动的激励,地下水系统会相应做出的一些响应,如水质污染、水位下降、海水入侵、地表沉降及塌陷等。近年来，随着我国经济的高速发展，地下水环境变化格局十分剧烈，对地下水安全的研究成为热点。实现对地下水安全性的分析和研究，对于掌握地下水的变化规律，进行地下水的安全保护有着极其重要的意义。</a:t>
            </a:r>
            <a:endParaRPr lang="zh-CN" altLang="en-US" sz="2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0" name="图片 99"/>
          <p:cNvPicPr/>
          <p:nvPr/>
        </p:nvPicPr>
        <p:blipFill>
          <a:blip r:embed="rId1"/>
          <a:stretch>
            <a:fillRect/>
          </a:stretch>
        </p:blipFill>
        <p:spPr>
          <a:xfrm>
            <a:off x="2090420" y="1176020"/>
            <a:ext cx="4596130" cy="4505325"/>
          </a:xfrm>
          <a:prstGeom prst="rect">
            <a:avLst/>
          </a:prstGeom>
          <a:solidFill>
            <a:srgbClr val="FFFFFF"/>
          </a:solidFill>
          <a:ln w="9525" cap="flat" cmpd="sng">
            <a:solidFill>
              <a:srgbClr val="000000"/>
            </a:solidFill>
            <a:prstDash val="solid"/>
            <a:headEnd type="none" w="med" len="med"/>
            <a:tailEnd type="none" w="med" len="med"/>
          </a:ln>
        </p:spPr>
      </p:pic>
      <p:sp>
        <p:nvSpPr>
          <p:cNvPr id="101" name="文本框 100"/>
          <p:cNvSpPr txBox="1"/>
          <p:nvPr/>
        </p:nvSpPr>
        <p:spPr>
          <a:xfrm>
            <a:off x="2339975" y="5421630"/>
            <a:ext cx="4096385" cy="609600"/>
          </a:xfrm>
          <a:prstGeom prst="rect">
            <a:avLst/>
          </a:prstGeom>
          <a:noFill/>
          <a:ln w="9525">
            <a:noFill/>
            <a:miter/>
          </a:ln>
        </p:spPr>
        <p:txBody>
          <a:bodyPr wrap="square">
            <a:spAutoFit/>
          </a:bodyPr>
          <a:p>
            <a:r>
              <a:rPr lang="zh-CN" altLang="en-US"/>
              <a:t> </a:t>
            </a:r>
            <a:endParaRPr lang="en-US" altLang="zh-CN" sz="800" b="0" u="none">
              <a:latin typeface="黑体" panose="02010609060101010101" charset="-122"/>
              <a:ea typeface="黑体" panose="02010609060101010101" charset="-122"/>
              <a:cs typeface="黑体" panose="02010609060101010101" charset="-122"/>
            </a:endParaRPr>
          </a:p>
          <a:p>
            <a:r>
              <a:rPr lang="zh-CN" altLang="en-US" sz="800" b="0" u="none">
                <a:latin typeface="黑体" panose="02010609060101010101" charset="-122"/>
                <a:ea typeface="黑体" panose="02010609060101010101" charset="-122"/>
                <a:cs typeface="黑体" panose="02010609060101010101" charset="-122"/>
              </a:rPr>
              <a:t>                       </a:t>
            </a:r>
            <a:r>
              <a:rPr lang="zh-CN" altLang="en-US" sz="1600" b="0" u="none">
                <a:latin typeface="黑体" panose="02010609060101010101" charset="-122"/>
                <a:ea typeface="黑体" panose="02010609060101010101" charset="-122"/>
                <a:cs typeface="黑体" panose="02010609060101010101" charset="-122"/>
              </a:rPr>
              <a:t> 图</a:t>
            </a:r>
            <a:r>
              <a:rPr lang="en-US" altLang="zh-CN" sz="1600" b="0" u="none">
                <a:latin typeface="黑体" panose="02010609060101010101" charset="-122"/>
                <a:ea typeface="黑体" panose="02010609060101010101" charset="-122"/>
                <a:cs typeface="黑体" panose="02010609060101010101" charset="-122"/>
              </a:rPr>
              <a:t>1</a:t>
            </a:r>
            <a:r>
              <a:rPr lang="zh-CN" altLang="en-US" sz="1600" b="0" u="none">
                <a:latin typeface="黑体" panose="02010609060101010101" charset="-122"/>
                <a:ea typeface="黑体" panose="02010609060101010101" charset="-122"/>
                <a:cs typeface="黑体" panose="02010609060101010101" charset="-122"/>
              </a:rPr>
              <a:t>济宁市行政区划图</a:t>
            </a:r>
            <a:endParaRPr lang="zh-CN" altLang="en-US" sz="1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101" name="文本框 100"/>
          <p:cNvSpPr txBox="1"/>
          <p:nvPr/>
        </p:nvSpPr>
        <p:spPr>
          <a:xfrm>
            <a:off x="568960" y="980440"/>
            <a:ext cx="8034655" cy="1014730"/>
          </a:xfrm>
          <a:prstGeom prst="rect">
            <a:avLst/>
          </a:prstGeom>
          <a:solidFill>
            <a:srgbClr val="FFFFFF"/>
          </a:solidFill>
          <a:ln w="9525" cap="flat" cmpd="sng">
            <a:solidFill>
              <a:srgbClr val="000000"/>
            </a:solidFill>
            <a:prstDash val="solid"/>
            <a:headEnd type="none" w="med" len="med"/>
            <a:tailEnd type="none" w="med" len="med"/>
          </a:ln>
        </p:spPr>
        <p:txBody>
          <a:bodyPr wrap="square">
            <a:spAutoFit/>
          </a:bodyPr>
          <a:p>
            <a:pPr marL="0" indent="0" algn="l"/>
            <a:r>
              <a:rPr lang="en-US" altLang="zh-CN" b="0" u="none">
                <a:latin typeface="宋体" panose="02010600030101010101" pitchFamily="2" charset="-122"/>
                <a:ea typeface="宋体" panose="02010600030101010101" pitchFamily="2" charset="-122"/>
                <a:cs typeface="宋体" panose="02010600030101010101" pitchFamily="2" charset="-122"/>
              </a:rPr>
              <a:t>    </a:t>
            </a:r>
            <a:r>
              <a:rPr lang="zh-CN" altLang="en-US" b="0" u="none">
                <a:latin typeface="宋体" panose="02010600030101010101" pitchFamily="2" charset="-122"/>
                <a:ea typeface="宋体" panose="02010600030101010101" pitchFamily="2" charset="-122"/>
                <a:cs typeface="宋体" panose="02010600030101010101" pitchFamily="2" charset="-122"/>
              </a:rPr>
              <a:t>本研究所用的分析数据分为遥感数据和统计数据。遥感数据包含有</a:t>
            </a:r>
            <a:r>
              <a:rPr lang="en-US" altLang="zh-CN" b="0" u="none">
                <a:latin typeface="宋体" panose="02010600030101010101" pitchFamily="2" charset="-122"/>
                <a:ea typeface="宋体" panose="02010600030101010101" pitchFamily="2" charset="-122"/>
                <a:cs typeface="宋体" panose="02010600030101010101" pitchFamily="2" charset="-122"/>
              </a:rPr>
              <a:t>Landsat TM5</a:t>
            </a:r>
            <a:r>
              <a:rPr lang="zh-CN" altLang="en-US" b="0" u="none">
                <a:latin typeface="宋体" panose="02010600030101010101" pitchFamily="2" charset="-122"/>
                <a:ea typeface="宋体" panose="02010600030101010101" pitchFamily="2" charset="-122"/>
                <a:cs typeface="宋体" panose="02010600030101010101" pitchFamily="2" charset="-122"/>
              </a:rPr>
              <a:t>和济宁市</a:t>
            </a:r>
            <a:r>
              <a:rPr lang="en-US" altLang="zh-CN" b="0" u="none">
                <a:latin typeface="宋体" panose="02010600030101010101" pitchFamily="2" charset="-122"/>
                <a:ea typeface="宋体" panose="02010600030101010101" pitchFamily="2" charset="-122"/>
                <a:cs typeface="宋体" panose="02010600030101010101" pitchFamily="2" charset="-122"/>
              </a:rPr>
              <a:t>DEM</a:t>
            </a:r>
            <a:r>
              <a:rPr lang="zh-CN" altLang="en-US" b="0" u="none">
                <a:latin typeface="宋体" panose="02010600030101010101" pitchFamily="2" charset="-122"/>
                <a:ea typeface="宋体" panose="02010600030101010101" pitchFamily="2" charset="-122"/>
                <a:cs typeface="宋体" panose="02010600030101010101" pitchFamily="2" charset="-122"/>
              </a:rPr>
              <a:t>数据。辅助数据包括济宁市</a:t>
            </a:r>
            <a:r>
              <a:rPr lang="en-US" altLang="zh-CN" b="0" u="none">
                <a:latin typeface="宋体" panose="02010600030101010101" pitchFamily="2" charset="-122"/>
                <a:ea typeface="宋体" panose="02010600030101010101" pitchFamily="2" charset="-122"/>
                <a:cs typeface="宋体" panose="02010600030101010101" pitchFamily="2" charset="-122"/>
              </a:rPr>
              <a:t>《</a:t>
            </a:r>
            <a:r>
              <a:rPr lang="zh-CN" altLang="en-US" b="0" u="none">
                <a:latin typeface="宋体" panose="02010600030101010101" pitchFamily="2" charset="-122"/>
                <a:ea typeface="宋体" panose="02010600030101010101" pitchFamily="2" charset="-122"/>
                <a:cs typeface="宋体" panose="02010600030101010101" pitchFamily="2" charset="-122"/>
              </a:rPr>
              <a:t>统计年鉴</a:t>
            </a:r>
            <a:r>
              <a:rPr lang="en-US" altLang="zh-CN" b="0" u="none">
                <a:latin typeface="宋体" panose="02010600030101010101" pitchFamily="2" charset="-122"/>
                <a:ea typeface="宋体" panose="02010600030101010101" pitchFamily="2" charset="-122"/>
                <a:cs typeface="宋体" panose="02010600030101010101" pitchFamily="2" charset="-122"/>
              </a:rPr>
              <a:t>》</a:t>
            </a:r>
            <a:r>
              <a:rPr lang="zh-CN" altLang="en-US" b="0" u="none">
                <a:latin typeface="宋体" panose="02010600030101010101" pitchFamily="2" charset="-122"/>
                <a:ea typeface="宋体" panose="02010600030101010101" pitchFamily="2" charset="-122"/>
                <a:cs typeface="宋体" panose="02010600030101010101" pitchFamily="2" charset="-122"/>
              </a:rPr>
              <a:t>数据、济宁市各水文监测站监测数据和</a:t>
            </a:r>
            <a:r>
              <a:rPr lang="en-US" altLang="zh-CN" b="0" u="none">
                <a:latin typeface="宋体" panose="02010600030101010101" pitchFamily="2" charset="-122"/>
                <a:ea typeface="宋体" panose="02010600030101010101" pitchFamily="2" charset="-122"/>
                <a:cs typeface="宋体" panose="02010600030101010101" pitchFamily="2" charset="-122"/>
              </a:rPr>
              <a:t>1:400</a:t>
            </a:r>
            <a:r>
              <a:rPr lang="zh-CN" altLang="en-US" b="0" u="none">
                <a:latin typeface="宋体" panose="02010600030101010101" pitchFamily="2" charset="-122"/>
                <a:ea typeface="宋体" panose="02010600030101010101" pitchFamily="2" charset="-122"/>
                <a:cs typeface="宋体" panose="02010600030101010101" pitchFamily="2" charset="-122"/>
              </a:rPr>
              <a:t>万国家行政矢量等数据</a:t>
            </a:r>
            <a:r>
              <a:rPr lang="zh-CN" altLang="en-US" sz="2400" b="0" u="none">
                <a:latin typeface="宋体" panose="02010600030101010101" pitchFamily="2" charset="-122"/>
                <a:ea typeface="宋体" panose="02010600030101010101" pitchFamily="2" charset="-122"/>
                <a:cs typeface="宋体" panose="02010600030101010101" pitchFamily="2" charset="-122"/>
              </a:rPr>
              <a:t>。</a:t>
            </a:r>
            <a:endParaRPr lang="zh-CN" altLang="en-US"/>
          </a:p>
        </p:txBody>
      </p:sp>
      <p:graphicFrame>
        <p:nvGraphicFramePr>
          <p:cNvPr id="0" name="表格 -1"/>
          <p:cNvGraphicFramePr/>
          <p:nvPr/>
        </p:nvGraphicFramePr>
        <p:xfrm>
          <a:off x="496570" y="2251075"/>
          <a:ext cx="8107045" cy="3503930"/>
        </p:xfrm>
        <a:graphic>
          <a:graphicData uri="http://schemas.openxmlformats.org/drawingml/2006/table">
            <a:tbl>
              <a:tblPr firstRow="1" bandRow="1">
                <a:tableStyleId>{5940675A-B579-460E-94D1-54222C63F5DA}</a:tableStyleId>
              </a:tblPr>
              <a:tblGrid>
                <a:gridCol w="2232660"/>
                <a:gridCol w="1797050"/>
                <a:gridCol w="1720850"/>
                <a:gridCol w="2356485"/>
              </a:tblGrid>
              <a:tr h="356235">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数据名称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数据来源</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数据格式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数据描述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6235">
                <a:tc>
                  <a:txBody>
                    <a:bodyPr/>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Landsat TM5</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地理空间数据云</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栅格数据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2013</a:t>
                      </a:r>
                      <a:r>
                        <a:rPr lang="zh-CN" altLang="en-US" sz="1400" b="0" u="none">
                          <a:latin typeface="宋体" panose="02010600030101010101" pitchFamily="2" charset="-122"/>
                          <a:ea typeface="宋体" panose="02010600030101010101" pitchFamily="2" charset="-122"/>
                          <a:cs typeface="宋体" panose="02010600030101010101" pitchFamily="2" charset="-122"/>
                        </a:rPr>
                        <a:t>年</a:t>
                      </a:r>
                      <a:r>
                        <a:rPr lang="en-US" altLang="zh-CN" sz="1400" b="0" u="none">
                          <a:latin typeface="宋体" panose="02010600030101010101" pitchFamily="2" charset="-122"/>
                          <a:ea typeface="宋体" panose="02010600030101010101" pitchFamily="2" charset="-122"/>
                          <a:cs typeface="宋体" panose="02010600030101010101" pitchFamily="2" charset="-122"/>
                        </a:rPr>
                        <a:t>7</a:t>
                      </a:r>
                      <a:r>
                        <a:rPr lang="zh-CN" altLang="en-US" sz="1400" b="0" u="none">
                          <a:latin typeface="宋体" panose="02010600030101010101" pitchFamily="2" charset="-122"/>
                          <a:ea typeface="宋体" panose="02010600030101010101" pitchFamily="2" charset="-122"/>
                          <a:cs typeface="宋体" panose="02010600030101010101" pitchFamily="2" charset="-122"/>
                        </a:rPr>
                        <a:t>月影像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355600">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a:t>
                      </a:r>
                      <a:r>
                        <a:rPr lang="en-US" altLang="zh-CN" sz="1400" b="0" u="none">
                          <a:latin typeface="宋体" panose="02010600030101010101" pitchFamily="2" charset="-122"/>
                          <a:ea typeface="宋体" panose="02010600030101010101" pitchFamily="2" charset="-122"/>
                          <a:cs typeface="宋体" panose="02010600030101010101" pitchFamily="2" charset="-122"/>
                        </a:rPr>
                        <a:t>DEM</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地理空间数据云</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栅格数据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数字高程影响，获取地面坡度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356235">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济宁市年平均降水量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气象科学数据共享中心</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矢量数据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研究区日平均降水量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355600">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济宁市包气带数据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山东省水利局</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矢量数据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含水层岩性</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455930">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济宁市农业生产污染源</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济宁市统计年鉴</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矢量数据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研究区主要农业污染源及污染量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455930">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济宁市工业生产影响</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济宁市统计年鉴</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矢量数据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工业生产对地下水主要反应指标</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356235">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山东省地下水埋深</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山东省水文中心</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栅格数据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地下水埋深深度变化</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455930">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济宁市地下水日均离子浓度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济宁市监测站</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矢量数据</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地下水水质，地下水矿化度等</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 name="文本框 3"/>
          <p:cNvSpPr txBox="1"/>
          <p:nvPr/>
        </p:nvSpPr>
        <p:spPr>
          <a:xfrm>
            <a:off x="2032000" y="4358640"/>
            <a:ext cx="5080000" cy="457200"/>
          </a:xfrm>
          <a:prstGeom prst="rect">
            <a:avLst/>
          </a:prstGeom>
          <a:noFill/>
          <a:ln w="9525">
            <a:noFill/>
            <a:miter/>
          </a:ln>
        </p:spPr>
        <p:txBody>
          <a:bodyPr>
            <a:spAutoFit/>
          </a:bodyPr>
          <a:p>
            <a:pPr marL="0" indent="0" algn="l"/>
            <a:r>
              <a:rPr lang="en-US" altLang="zh-CN" sz="1200"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4" descr="BP流程"/>
          <p:cNvPicPr>
            <a:picLocks noChangeAspect="1"/>
          </p:cNvPicPr>
          <p:nvPr>
            <p:ph idx="1"/>
          </p:nvPr>
        </p:nvPicPr>
        <p:blipFill>
          <a:blip r:embed="rId1"/>
          <a:stretch>
            <a:fillRect/>
          </a:stretch>
        </p:blipFill>
        <p:spPr>
          <a:xfrm>
            <a:off x="2560320" y="963930"/>
            <a:ext cx="3270885" cy="4373880"/>
          </a:xfrm>
          <a:prstGeom prst="rect">
            <a:avLst/>
          </a:prstGeom>
          <a:noFill/>
          <a:ln w="9525">
            <a:noFill/>
            <a:miter/>
          </a:ln>
        </p:spPr>
      </p:pic>
      <p:sp>
        <p:nvSpPr>
          <p:cNvPr id="4" name="矩形 3"/>
          <p:cNvSpPr/>
          <p:nvPr/>
        </p:nvSpPr>
        <p:spPr>
          <a:xfrm>
            <a:off x="2502694" y="923449"/>
            <a:ext cx="3300413" cy="1263491"/>
          </a:xfrm>
          <a:prstGeom prst="rect">
            <a:avLst/>
          </a:prstGeom>
          <a:noFill/>
          <a:ln w="28575">
            <a:solidFill>
              <a:srgbClr val="FF0000"/>
            </a:solidFill>
            <a:headEnd type="none" w="med" len="med"/>
            <a:tailEnd type="none" w="med" len="med"/>
          </a:ln>
          <a:extLst>
            <a:ext uri="{909E8E84-426E-40DD-AFC4-6F175D3DCCD1}">
              <a14:hiddenFill xmlns:a14="http://schemas.microsoft.com/office/drawing/2010/main">
                <a:solidFill>
                  <a:schemeClr val="accent6"/>
                </a:solidFill>
              </a14:hiddenFill>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68580" tIns="34290" rIns="68580" bIns="3429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黑体" panose="02010609060101010101" charset="-122"/>
            </a:endParaRPr>
          </a:p>
        </p:txBody>
      </p:sp>
      <p:sp>
        <p:nvSpPr>
          <p:cNvPr id="106" name="文本框 105"/>
          <p:cNvSpPr txBox="1"/>
          <p:nvPr/>
        </p:nvSpPr>
        <p:spPr>
          <a:xfrm>
            <a:off x="3932635" y="8552735"/>
            <a:ext cx="3810000" cy="212090"/>
          </a:xfrm>
          <a:prstGeom prst="rect">
            <a:avLst/>
          </a:prstGeom>
          <a:noFill/>
          <a:ln w="9525">
            <a:noFill/>
            <a:miter/>
          </a:ln>
        </p:spPr>
        <p:txBody>
          <a:bodyPr>
            <a:spAutoFit/>
          </a:bodyPr>
          <a:p>
            <a:pPr marL="0" indent="0" algn="l"/>
            <a:r>
              <a:rPr lang="en-US" altLang="zh-CN" sz="790" b="0" u="none">
                <a:latin typeface="Calibri" panose="020F0502020204030204" charset="0"/>
                <a:ea typeface="Calibri" panose="020F0502020204030204" charset="0"/>
                <a:cs typeface="Calibri" panose="020F0502020204030204" charset="0"/>
              </a:rPr>
              <a:t> </a:t>
            </a:r>
            <a:endParaRPr lang="zh-CN" altLang="en-US" sz="1350"/>
          </a:p>
        </p:txBody>
      </p:sp>
      <p:pic>
        <p:nvPicPr>
          <p:cNvPr id="36" name="图片 36"/>
          <p:cNvPicPr/>
          <p:nvPr/>
        </p:nvPicPr>
        <p:blipFill>
          <a:blip r:embed="rId2" cstate="print">
            <a:extLst>
              <a:ext uri="{28A0092B-C50C-407E-A947-70E740481C1C}">
                <a14:useLocalDpi xmlns:a14="http://schemas.microsoft.com/office/drawing/2010/main" val="0"/>
              </a:ext>
            </a:extLst>
          </a:blip>
          <a:srcRect/>
          <a:stretch>
            <a:fillRect/>
          </a:stretch>
        </p:blipFill>
        <p:spPr>
          <a:xfrm>
            <a:off x="1195388" y="1221105"/>
            <a:ext cx="6840379" cy="3519011"/>
          </a:xfrm>
          <a:prstGeom prst="rect">
            <a:avLst/>
          </a:prstGeom>
        </p:spPr>
      </p:pic>
      <p:pic>
        <p:nvPicPr>
          <p:cNvPr id="55" name="图片 54"/>
          <p:cNvPicPr/>
          <p:nvPr/>
        </p:nvPicPr>
        <p:blipFill>
          <a:blip r:embed="rId3"/>
          <a:stretch>
            <a:fillRect/>
          </a:stretch>
        </p:blipFill>
        <p:spPr>
          <a:xfrm>
            <a:off x="321469" y="1074896"/>
            <a:ext cx="2574131" cy="1364933"/>
          </a:xfrm>
          <a:prstGeom prst="rect">
            <a:avLst/>
          </a:prstGeom>
          <a:solidFill>
            <a:srgbClr val="FFFFFF"/>
          </a:solidFill>
          <a:ln w="9525" cap="flat" cmpd="sng">
            <a:solidFill>
              <a:srgbClr val="000000"/>
            </a:solidFill>
            <a:prstDash val="solid"/>
            <a:headEnd type="none" w="med" len="med"/>
            <a:tailEnd type="none" w="med" len="med"/>
          </a:ln>
        </p:spPr>
      </p:pic>
      <p:pic>
        <p:nvPicPr>
          <p:cNvPr id="107" name="图片 106"/>
          <p:cNvPicPr/>
          <p:nvPr/>
        </p:nvPicPr>
        <p:blipFill>
          <a:blip r:embed="rId4"/>
          <a:stretch>
            <a:fillRect/>
          </a:stretch>
        </p:blipFill>
        <p:spPr>
          <a:xfrm>
            <a:off x="3003709" y="1081088"/>
            <a:ext cx="2775109" cy="1354455"/>
          </a:xfrm>
          <a:prstGeom prst="rect">
            <a:avLst/>
          </a:prstGeom>
          <a:solidFill>
            <a:srgbClr val="FFFFFF"/>
          </a:solidFill>
          <a:ln w="9525" cap="flat" cmpd="sng">
            <a:solidFill>
              <a:srgbClr val="000000"/>
            </a:solidFill>
            <a:prstDash val="solid"/>
            <a:headEnd type="none" w="med" len="med"/>
            <a:tailEnd type="none" w="med" len="med"/>
          </a:ln>
        </p:spPr>
      </p:pic>
      <p:pic>
        <p:nvPicPr>
          <p:cNvPr id="108" name="图片 107"/>
          <p:cNvPicPr/>
          <p:nvPr/>
        </p:nvPicPr>
        <p:blipFill>
          <a:blip r:embed="rId5"/>
          <a:stretch>
            <a:fillRect/>
          </a:stretch>
        </p:blipFill>
        <p:spPr>
          <a:xfrm>
            <a:off x="5960269" y="1076801"/>
            <a:ext cx="2675096" cy="1303973"/>
          </a:xfrm>
          <a:prstGeom prst="rect">
            <a:avLst/>
          </a:prstGeom>
          <a:solidFill>
            <a:srgbClr val="FFFFFF"/>
          </a:solidFill>
          <a:ln w="9525" cap="flat" cmpd="sng">
            <a:solidFill>
              <a:srgbClr val="000000"/>
            </a:solidFill>
            <a:prstDash val="solid"/>
            <a:headEnd type="none" w="med" len="med"/>
            <a:tailEnd type="none" w="med" len="med"/>
          </a:ln>
        </p:spPr>
      </p:pic>
      <p:pic>
        <p:nvPicPr>
          <p:cNvPr id="109" name="图片 108"/>
          <p:cNvPicPr/>
          <p:nvPr/>
        </p:nvPicPr>
        <p:blipFill>
          <a:blip r:embed="rId6"/>
          <a:stretch>
            <a:fillRect/>
          </a:stretch>
        </p:blipFill>
        <p:spPr>
          <a:xfrm>
            <a:off x="321945" y="2543651"/>
            <a:ext cx="2599849" cy="1761173"/>
          </a:xfrm>
          <a:prstGeom prst="rect">
            <a:avLst/>
          </a:prstGeom>
          <a:solidFill>
            <a:srgbClr val="FFFFFF"/>
          </a:solidFill>
          <a:ln w="9525" cap="flat" cmpd="sng">
            <a:solidFill>
              <a:srgbClr val="000000"/>
            </a:solidFill>
            <a:prstDash val="solid"/>
            <a:headEnd type="none" w="med" len="med"/>
            <a:tailEnd type="none" w="med" len="med"/>
          </a:ln>
        </p:spPr>
      </p:pic>
      <p:pic>
        <p:nvPicPr>
          <p:cNvPr id="110" name="图片 109"/>
          <p:cNvPicPr/>
          <p:nvPr/>
        </p:nvPicPr>
        <p:blipFill>
          <a:blip r:embed="rId7"/>
          <a:stretch>
            <a:fillRect/>
          </a:stretch>
        </p:blipFill>
        <p:spPr>
          <a:xfrm>
            <a:off x="3029426" y="2534126"/>
            <a:ext cx="2719388" cy="1801178"/>
          </a:xfrm>
          <a:prstGeom prst="rect">
            <a:avLst/>
          </a:prstGeom>
          <a:solidFill>
            <a:srgbClr val="FFFFFF"/>
          </a:solidFill>
          <a:ln w="9525" cap="flat" cmpd="sng">
            <a:solidFill>
              <a:srgbClr val="000000"/>
            </a:solidFill>
            <a:prstDash val="solid"/>
            <a:headEnd type="none" w="med" len="med"/>
            <a:tailEnd type="none" w="med" len="med"/>
          </a:ln>
        </p:spPr>
      </p:pic>
      <p:pic>
        <p:nvPicPr>
          <p:cNvPr id="111" name="图片 110"/>
          <p:cNvPicPr/>
          <p:nvPr/>
        </p:nvPicPr>
        <p:blipFill>
          <a:blip r:embed="rId8"/>
          <a:stretch>
            <a:fillRect/>
          </a:stretch>
        </p:blipFill>
        <p:spPr>
          <a:xfrm>
            <a:off x="5985034" y="2514600"/>
            <a:ext cx="2631281" cy="1795463"/>
          </a:xfrm>
          <a:prstGeom prst="rect">
            <a:avLst/>
          </a:prstGeom>
          <a:solidFill>
            <a:srgbClr val="FFFFFF"/>
          </a:solidFill>
          <a:ln w="9525" cap="flat" cmpd="sng">
            <a:solidFill>
              <a:srgbClr val="000000"/>
            </a:solidFill>
            <a:prstDash val="solid"/>
            <a:headEnd type="none" w="med" len="med"/>
            <a:tailEnd type="none" w="med" len="med"/>
          </a:ln>
        </p:spPr>
      </p:pic>
      <p:pic>
        <p:nvPicPr>
          <p:cNvPr id="112" name="图片 111"/>
          <p:cNvPicPr/>
          <p:nvPr/>
        </p:nvPicPr>
        <p:blipFill>
          <a:blip r:embed="rId9"/>
          <a:stretch>
            <a:fillRect/>
          </a:stretch>
        </p:blipFill>
        <p:spPr>
          <a:xfrm>
            <a:off x="233839" y="4420553"/>
            <a:ext cx="2695575" cy="1767364"/>
          </a:xfrm>
          <a:prstGeom prst="rect">
            <a:avLst/>
          </a:prstGeom>
          <a:solidFill>
            <a:srgbClr val="FFFFFF"/>
          </a:solidFill>
          <a:ln w="9525" cap="flat" cmpd="sng">
            <a:solidFill>
              <a:srgbClr val="000000"/>
            </a:solidFill>
            <a:prstDash val="solid"/>
            <a:headEnd type="none" w="med" len="med"/>
            <a:tailEnd type="none" w="med" len="med"/>
          </a:ln>
        </p:spPr>
      </p:pic>
      <p:pic>
        <p:nvPicPr>
          <p:cNvPr id="113" name="图片 112"/>
          <p:cNvPicPr/>
          <p:nvPr/>
        </p:nvPicPr>
        <p:blipFill>
          <a:blip r:embed="rId10"/>
          <a:stretch>
            <a:fillRect/>
          </a:stretch>
        </p:blipFill>
        <p:spPr>
          <a:xfrm>
            <a:off x="3116104" y="4429125"/>
            <a:ext cx="2617946" cy="1811655"/>
          </a:xfrm>
          <a:prstGeom prst="rect">
            <a:avLst/>
          </a:prstGeom>
          <a:solidFill>
            <a:srgbClr val="FFFFFF"/>
          </a:solidFill>
          <a:ln w="9525" cap="flat" cmpd="sng">
            <a:solidFill>
              <a:srgbClr val="000000"/>
            </a:solidFill>
            <a:prstDash val="solid"/>
            <a:headEnd type="none" w="med" len="med"/>
            <a:tailEnd type="none" w="med" len="med"/>
          </a:ln>
        </p:spPr>
      </p:pic>
      <p:pic>
        <p:nvPicPr>
          <p:cNvPr id="115" name="图片 114"/>
          <p:cNvPicPr/>
          <p:nvPr/>
        </p:nvPicPr>
        <p:blipFill>
          <a:blip r:embed="rId11"/>
          <a:stretch>
            <a:fillRect/>
          </a:stretch>
        </p:blipFill>
        <p:spPr>
          <a:xfrm>
            <a:off x="5997416" y="4423410"/>
            <a:ext cx="2684621" cy="1794986"/>
          </a:xfrm>
          <a:prstGeom prst="rect">
            <a:avLst/>
          </a:prstGeom>
          <a:noFill/>
          <a:ln w="9525">
            <a:noFill/>
            <a:miter/>
          </a:ln>
        </p:spPr>
      </p:pic>
      <p:pic>
        <p:nvPicPr>
          <p:cNvPr id="76" name="图片 4"/>
          <p:cNvPicPr>
            <a:picLocks noChangeAspect="1"/>
          </p:cNvPicPr>
          <p:nvPr/>
        </p:nvPicPr>
        <p:blipFill>
          <a:blip r:embed="rId12"/>
          <a:stretch>
            <a:fillRect/>
          </a:stretch>
        </p:blipFill>
        <p:spPr>
          <a:xfrm>
            <a:off x="1500188" y="367189"/>
            <a:ext cx="1864043" cy="2003584"/>
          </a:xfrm>
          <a:prstGeom prst="rect">
            <a:avLst/>
          </a:prstGeom>
          <a:noFill/>
          <a:ln w="9525">
            <a:noFill/>
            <a:miter/>
          </a:ln>
        </p:spPr>
      </p:pic>
      <p:pic>
        <p:nvPicPr>
          <p:cNvPr id="77" name="图片 8"/>
          <p:cNvPicPr>
            <a:picLocks noChangeAspect="1"/>
          </p:cNvPicPr>
          <p:nvPr/>
        </p:nvPicPr>
        <p:blipFill>
          <a:blip r:embed="rId13"/>
          <a:stretch>
            <a:fillRect/>
          </a:stretch>
        </p:blipFill>
        <p:spPr>
          <a:xfrm>
            <a:off x="5947886" y="365760"/>
            <a:ext cx="1434941" cy="1969770"/>
          </a:xfrm>
          <a:prstGeom prst="rect">
            <a:avLst/>
          </a:prstGeom>
        </p:spPr>
      </p:pic>
      <p:pic>
        <p:nvPicPr>
          <p:cNvPr id="78" name="图片 29"/>
          <p:cNvPicPr>
            <a:picLocks noChangeAspect="1"/>
          </p:cNvPicPr>
          <p:nvPr/>
        </p:nvPicPr>
        <p:blipFill>
          <a:blip r:embed="rId14"/>
          <a:stretch>
            <a:fillRect/>
          </a:stretch>
        </p:blipFill>
        <p:spPr>
          <a:xfrm>
            <a:off x="1648778" y="4305776"/>
            <a:ext cx="1582103" cy="2159794"/>
          </a:xfrm>
          <a:prstGeom prst="rect">
            <a:avLst/>
          </a:prstGeom>
        </p:spPr>
      </p:pic>
      <p:pic>
        <p:nvPicPr>
          <p:cNvPr id="79" name="图片 30"/>
          <p:cNvPicPr>
            <a:picLocks noChangeAspect="1"/>
          </p:cNvPicPr>
          <p:nvPr/>
        </p:nvPicPr>
        <p:blipFill>
          <a:blip r:embed="rId15"/>
          <a:stretch>
            <a:fillRect/>
          </a:stretch>
        </p:blipFill>
        <p:spPr>
          <a:xfrm>
            <a:off x="4511040" y="4323398"/>
            <a:ext cx="1584484" cy="2159794"/>
          </a:xfrm>
          <a:prstGeom prst="rect">
            <a:avLst/>
          </a:prstGeom>
        </p:spPr>
      </p:pic>
      <p:pic>
        <p:nvPicPr>
          <p:cNvPr id="80" name="图片 32"/>
          <p:cNvPicPr>
            <a:picLocks noChangeAspect="1"/>
          </p:cNvPicPr>
          <p:nvPr/>
        </p:nvPicPr>
        <p:blipFill>
          <a:blip r:embed="rId16"/>
          <a:stretch>
            <a:fillRect/>
          </a:stretch>
        </p:blipFill>
        <p:spPr>
          <a:xfrm>
            <a:off x="5968365" y="4287679"/>
            <a:ext cx="1582103" cy="2159794"/>
          </a:xfrm>
          <a:prstGeom prst="rect">
            <a:avLst/>
          </a:prstGeom>
        </p:spPr>
      </p:pic>
      <p:pic>
        <p:nvPicPr>
          <p:cNvPr id="81" name="图片 9"/>
          <p:cNvPicPr>
            <a:picLocks noChangeAspect="1"/>
          </p:cNvPicPr>
          <p:nvPr/>
        </p:nvPicPr>
        <p:blipFill>
          <a:blip r:embed="rId17"/>
          <a:stretch>
            <a:fillRect/>
          </a:stretch>
        </p:blipFill>
        <p:spPr>
          <a:xfrm>
            <a:off x="1603058" y="2194560"/>
            <a:ext cx="1579245" cy="2159794"/>
          </a:xfrm>
          <a:prstGeom prst="rect">
            <a:avLst/>
          </a:prstGeom>
        </p:spPr>
      </p:pic>
      <p:pic>
        <p:nvPicPr>
          <p:cNvPr id="82" name="图片 10"/>
          <p:cNvPicPr>
            <a:picLocks noChangeAspect="1"/>
          </p:cNvPicPr>
          <p:nvPr/>
        </p:nvPicPr>
        <p:blipFill>
          <a:blip r:embed="rId18"/>
          <a:stretch>
            <a:fillRect/>
          </a:stretch>
        </p:blipFill>
        <p:spPr>
          <a:xfrm>
            <a:off x="7414260" y="2315528"/>
            <a:ext cx="1579245" cy="2159794"/>
          </a:xfrm>
          <a:prstGeom prst="rect">
            <a:avLst/>
          </a:prstGeom>
        </p:spPr>
      </p:pic>
      <p:pic>
        <p:nvPicPr>
          <p:cNvPr id="83" name="图片 11"/>
          <p:cNvPicPr>
            <a:picLocks noChangeAspect="1"/>
          </p:cNvPicPr>
          <p:nvPr/>
        </p:nvPicPr>
        <p:blipFill>
          <a:blip r:embed="rId19"/>
          <a:stretch>
            <a:fillRect/>
          </a:stretch>
        </p:blipFill>
        <p:spPr>
          <a:xfrm>
            <a:off x="4449604" y="334804"/>
            <a:ext cx="1576388" cy="2159794"/>
          </a:xfrm>
          <a:prstGeom prst="rect">
            <a:avLst/>
          </a:prstGeom>
        </p:spPr>
      </p:pic>
      <p:pic>
        <p:nvPicPr>
          <p:cNvPr id="84" name="图片 12"/>
          <p:cNvPicPr>
            <a:picLocks noChangeAspect="1"/>
          </p:cNvPicPr>
          <p:nvPr/>
        </p:nvPicPr>
        <p:blipFill>
          <a:blip r:embed="rId20"/>
          <a:stretch>
            <a:fillRect/>
          </a:stretch>
        </p:blipFill>
        <p:spPr>
          <a:xfrm>
            <a:off x="3111341" y="2277904"/>
            <a:ext cx="1587341" cy="2159794"/>
          </a:xfrm>
          <a:prstGeom prst="rect">
            <a:avLst/>
          </a:prstGeom>
        </p:spPr>
      </p:pic>
      <p:pic>
        <p:nvPicPr>
          <p:cNvPr id="85" name="图片 33"/>
          <p:cNvPicPr>
            <a:picLocks noChangeAspect="1"/>
          </p:cNvPicPr>
          <p:nvPr/>
        </p:nvPicPr>
        <p:blipFill>
          <a:blip r:embed="rId21"/>
          <a:stretch>
            <a:fillRect/>
          </a:stretch>
        </p:blipFill>
        <p:spPr>
          <a:xfrm>
            <a:off x="4483418" y="2274094"/>
            <a:ext cx="1592580" cy="2159794"/>
          </a:xfrm>
          <a:prstGeom prst="rect">
            <a:avLst/>
          </a:prstGeom>
        </p:spPr>
      </p:pic>
      <p:pic>
        <p:nvPicPr>
          <p:cNvPr id="86" name="图片 34"/>
          <p:cNvPicPr>
            <a:picLocks noChangeAspect="1"/>
          </p:cNvPicPr>
          <p:nvPr/>
        </p:nvPicPr>
        <p:blipFill>
          <a:blip r:embed="rId22"/>
          <a:stretch>
            <a:fillRect/>
          </a:stretch>
        </p:blipFill>
        <p:spPr>
          <a:xfrm>
            <a:off x="5878830" y="2271713"/>
            <a:ext cx="1574006" cy="2159794"/>
          </a:xfrm>
          <a:prstGeom prst="rect">
            <a:avLst/>
          </a:prstGeom>
        </p:spPr>
      </p:pic>
      <p:pic>
        <p:nvPicPr>
          <p:cNvPr id="87" name="图片 86"/>
          <p:cNvPicPr/>
          <p:nvPr/>
        </p:nvPicPr>
        <p:blipFill>
          <a:blip r:embed="rId23"/>
          <a:stretch>
            <a:fillRect/>
          </a:stretch>
        </p:blipFill>
        <p:spPr>
          <a:xfrm>
            <a:off x="3101816" y="329565"/>
            <a:ext cx="1383506" cy="1939766"/>
          </a:xfrm>
          <a:prstGeom prst="rect">
            <a:avLst/>
          </a:prstGeom>
          <a:solidFill>
            <a:srgbClr val="FFFFFF"/>
          </a:solidFill>
          <a:ln w="9525" cap="flat" cmpd="sng">
            <a:solidFill>
              <a:srgbClr val="000000"/>
            </a:solidFill>
            <a:prstDash val="solid"/>
            <a:headEnd type="none" w="med" len="med"/>
            <a:tailEnd type="none" w="med" len="med"/>
          </a:ln>
        </p:spPr>
      </p:pic>
      <p:pic>
        <p:nvPicPr>
          <p:cNvPr id="88" name="图片 87"/>
          <p:cNvPicPr/>
          <p:nvPr/>
        </p:nvPicPr>
        <p:blipFill>
          <a:blip r:embed="rId24"/>
          <a:stretch>
            <a:fillRect/>
          </a:stretch>
        </p:blipFill>
        <p:spPr>
          <a:xfrm>
            <a:off x="7364254" y="372904"/>
            <a:ext cx="1580198" cy="1982153"/>
          </a:xfrm>
          <a:prstGeom prst="rect">
            <a:avLst/>
          </a:prstGeom>
          <a:solidFill>
            <a:srgbClr val="FFFFFF"/>
          </a:solidFill>
          <a:ln w="9525" cap="flat" cmpd="sng">
            <a:solidFill>
              <a:srgbClr val="000000"/>
            </a:solidFill>
            <a:prstDash val="solid"/>
            <a:headEnd type="none" w="med" len="med"/>
            <a:tailEnd type="none" w="med" len="med"/>
          </a:ln>
        </p:spPr>
      </p:pic>
      <p:pic>
        <p:nvPicPr>
          <p:cNvPr id="89" name="图片 88"/>
          <p:cNvPicPr/>
          <p:nvPr/>
        </p:nvPicPr>
        <p:blipFill>
          <a:blip r:embed="rId25"/>
          <a:stretch>
            <a:fillRect/>
          </a:stretch>
        </p:blipFill>
        <p:spPr>
          <a:xfrm>
            <a:off x="181451" y="2203609"/>
            <a:ext cx="1465421" cy="2078831"/>
          </a:xfrm>
          <a:prstGeom prst="rect">
            <a:avLst/>
          </a:prstGeom>
          <a:solidFill>
            <a:srgbClr val="FFFFFF"/>
          </a:solidFill>
          <a:ln w="9525" cap="flat" cmpd="sng">
            <a:solidFill>
              <a:srgbClr val="000000"/>
            </a:solidFill>
            <a:prstDash val="solid"/>
            <a:headEnd type="none" w="med" len="med"/>
            <a:tailEnd type="none" w="med" len="med"/>
          </a:ln>
        </p:spPr>
      </p:pic>
      <p:pic>
        <p:nvPicPr>
          <p:cNvPr id="90" name="图片 89"/>
          <p:cNvPicPr/>
          <p:nvPr/>
        </p:nvPicPr>
        <p:blipFill>
          <a:blip r:embed="rId26"/>
          <a:stretch>
            <a:fillRect/>
          </a:stretch>
        </p:blipFill>
        <p:spPr>
          <a:xfrm>
            <a:off x="3236119" y="4323398"/>
            <a:ext cx="1413510" cy="2192179"/>
          </a:xfrm>
          <a:prstGeom prst="rect">
            <a:avLst/>
          </a:prstGeom>
          <a:solidFill>
            <a:srgbClr val="FFFFFF"/>
          </a:solidFill>
          <a:ln w="9525" cap="flat" cmpd="sng">
            <a:solidFill>
              <a:srgbClr val="000000"/>
            </a:solidFill>
            <a:prstDash val="solid"/>
            <a:headEnd type="none" w="med" len="med"/>
            <a:tailEnd type="none" w="med" len="med"/>
          </a:ln>
        </p:spPr>
      </p:pic>
      <p:pic>
        <p:nvPicPr>
          <p:cNvPr id="91" name="图片 90"/>
          <p:cNvPicPr/>
          <p:nvPr/>
        </p:nvPicPr>
        <p:blipFill>
          <a:blip r:embed="rId27"/>
          <a:stretch>
            <a:fillRect/>
          </a:stretch>
        </p:blipFill>
        <p:spPr>
          <a:xfrm>
            <a:off x="240030" y="394335"/>
            <a:ext cx="1386840" cy="1833563"/>
          </a:xfrm>
          <a:prstGeom prst="rect">
            <a:avLst/>
          </a:prstGeom>
          <a:solidFill>
            <a:srgbClr val="FFFFFF"/>
          </a:solidFill>
          <a:ln w="9525" cap="flat" cmpd="sng">
            <a:solidFill>
              <a:srgbClr val="000000"/>
            </a:solidFill>
            <a:prstDash val="solid"/>
            <a:headEnd type="none" w="med" len="med"/>
            <a:tailEnd type="none" w="med" len="med"/>
          </a:ln>
        </p:spPr>
      </p:pic>
      <p:pic>
        <p:nvPicPr>
          <p:cNvPr id="92" name="图片 44"/>
          <p:cNvPicPr>
            <a:picLocks noChangeAspect="1"/>
          </p:cNvPicPr>
          <p:nvPr/>
        </p:nvPicPr>
        <p:blipFill>
          <a:blip r:embed="rId28"/>
          <a:stretch>
            <a:fillRect/>
          </a:stretch>
        </p:blipFill>
        <p:spPr>
          <a:xfrm>
            <a:off x="59531" y="4269581"/>
            <a:ext cx="1590199" cy="2159794"/>
          </a:xfrm>
          <a:prstGeom prst="rect">
            <a:avLst/>
          </a:prstGeom>
        </p:spPr>
      </p:pic>
      <p:pic>
        <p:nvPicPr>
          <p:cNvPr id="93" name="图片 43"/>
          <p:cNvPicPr>
            <a:picLocks noChangeAspect="1"/>
          </p:cNvPicPr>
          <p:nvPr/>
        </p:nvPicPr>
        <p:blipFill>
          <a:blip r:embed="rId29"/>
          <a:stretch>
            <a:fillRect/>
          </a:stretch>
        </p:blipFill>
        <p:spPr>
          <a:xfrm>
            <a:off x="7518559" y="4244816"/>
            <a:ext cx="1565910" cy="2159794"/>
          </a:xfrm>
          <a:prstGeom prst="rect">
            <a:avLst/>
          </a:prstGeom>
        </p:spPr>
      </p:pic>
      <p:sp>
        <p:nvSpPr>
          <p:cNvPr id="94" name="矩形 93"/>
          <p:cNvSpPr/>
          <p:nvPr/>
        </p:nvSpPr>
        <p:spPr>
          <a:xfrm>
            <a:off x="2444591" y="2205990"/>
            <a:ext cx="3380899" cy="1734979"/>
          </a:xfrm>
          <a:prstGeom prst="rect">
            <a:avLst/>
          </a:prstGeom>
          <a:noFill/>
          <a:ln w="28575"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770" decel="100000"/>
                                        <p:tgtEl>
                                          <p:spTgt spid="36"/>
                                        </p:tgtEl>
                                      </p:cBhvr>
                                    </p:animEffect>
                                    <p:animScale>
                                      <p:cBhvr>
                                        <p:cTn id="13" dur="770" decel="100000"/>
                                        <p:tgtEl>
                                          <p:spTgt spid="36"/>
                                        </p:tgtEl>
                                      </p:cBhvr>
                                      <p:from x="10000" y="10000"/>
                                      <p:to x="200000" y="450000"/>
                                    </p:animScale>
                                    <p:animScale>
                                      <p:cBhvr>
                                        <p:cTn id="14" dur="1230" accel="100000" fill="hold">
                                          <p:stCondLst>
                                            <p:cond delay="770"/>
                                          </p:stCondLst>
                                        </p:cTn>
                                        <p:tgtEl>
                                          <p:spTgt spid="36"/>
                                        </p:tgtEl>
                                      </p:cBhvr>
                                      <p:from x="200000" y="450000"/>
                                      <p:to x="100000" y="100000"/>
                                    </p:animScale>
                                    <p:set>
                                      <p:cBhvr>
                                        <p:cTn id="15" dur="770" fill="hold"/>
                                        <p:tgtEl>
                                          <p:spTgt spid="36"/>
                                        </p:tgtEl>
                                        <p:attrNameLst>
                                          <p:attrName>ppt_x</p:attrName>
                                        </p:attrNameLst>
                                      </p:cBhvr>
                                      <p:to>
                                        <p:strVal val="(0.5)"/>
                                      </p:to>
                                    </p:set>
                                    <p:anim from="(0.5)" to="(#ppt_x)" calcmode="lin" valueType="num">
                                      <p:cBhvr>
                                        <p:cTn id="16" dur="1230" accel="100000" fill="hold">
                                          <p:stCondLst>
                                            <p:cond delay="770"/>
                                          </p:stCondLst>
                                        </p:cTn>
                                        <p:tgtEl>
                                          <p:spTgt spid="36"/>
                                        </p:tgtEl>
                                        <p:attrNameLst>
                                          <p:attrName>ppt_x</p:attrName>
                                        </p:attrNameLst>
                                      </p:cBhvr>
                                    </p:anim>
                                    <p:set>
                                      <p:cBhvr>
                                        <p:cTn id="17" dur="770" fill="hold"/>
                                        <p:tgtEl>
                                          <p:spTgt spid="36"/>
                                        </p:tgtEl>
                                        <p:attrNameLst>
                                          <p:attrName>ppt_y</p:attrName>
                                        </p:attrNameLst>
                                      </p:cBhvr>
                                      <p:to>
                                        <p:strVal val="(#ppt_y+0.4)"/>
                                      </p:to>
                                    </p:set>
                                    <p:anim from="(#ppt_y+0.4)" to="(#ppt_y)" calcmode="lin" valueType="num">
                                      <p:cBhvr>
                                        <p:cTn id="18" dur="1230" accel="100000" fill="hold">
                                          <p:stCondLst>
                                            <p:cond delay="770"/>
                                          </p:stCondLst>
                                        </p:cTn>
                                        <p:tgtEl>
                                          <p:spTgt spid="36"/>
                                        </p:tgtEl>
                                        <p:attrNameLst>
                                          <p:attrName>ppt_y</p:attrName>
                                        </p:attrNameLst>
                                      </p:cBhvr>
                                    </p:anim>
                                  </p:childTnLst>
                                </p:cTn>
                              </p:par>
                            </p:childTnLst>
                          </p:cTn>
                        </p:par>
                      </p:childTnLst>
                    </p:cTn>
                  </p:par>
                  <p:par>
                    <p:cTn id="19" fill="hold">
                      <p:stCondLst>
                        <p:cond delay="indefinite"/>
                      </p:stCondLst>
                      <p:childTnLst>
                        <p:par>
                          <p:cTn id="20" fill="hold">
                            <p:stCondLst>
                              <p:cond delay="0"/>
                            </p:stCondLst>
                            <p:childTnLst>
                              <p:par>
                                <p:cTn id="21" presetID="8" presetClass="exit" presetSubtype="32" fill="hold" nodeType="clickEffect">
                                  <p:stCondLst>
                                    <p:cond delay="0"/>
                                  </p:stCondLst>
                                  <p:childTnLst>
                                    <p:animEffect transition="out" filter="diamond(out)">
                                      <p:cBhvr>
                                        <p:cTn id="22" dur="2000"/>
                                        <p:tgtEl>
                                          <p:spTgt spid="36"/>
                                        </p:tgtEl>
                                      </p:cBhvr>
                                    </p:animEffect>
                                    <p:set>
                                      <p:cBhvr>
                                        <p:cTn id="23" dur="1" fill="hold">
                                          <p:stCondLst>
                                            <p:cond delay="1999"/>
                                          </p:stCondLst>
                                        </p:cTn>
                                        <p:tgtEl>
                                          <p:spTgt spid="3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51" presetClass="entr" presetSubtype="0" fill="hold"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770" decel="100000"/>
                                        <p:tgtEl>
                                          <p:spTgt spid="55"/>
                                        </p:tgtEl>
                                      </p:cBhvr>
                                    </p:animEffect>
                                    <p:animScale>
                                      <p:cBhvr>
                                        <p:cTn id="29" dur="770" decel="100000"/>
                                        <p:tgtEl>
                                          <p:spTgt spid="55"/>
                                        </p:tgtEl>
                                      </p:cBhvr>
                                      <p:from x="10000" y="10000"/>
                                      <p:to x="200000" y="450000"/>
                                    </p:animScale>
                                    <p:animScale>
                                      <p:cBhvr>
                                        <p:cTn id="30" dur="1230" accel="100000" fill="hold">
                                          <p:stCondLst>
                                            <p:cond delay="770"/>
                                          </p:stCondLst>
                                        </p:cTn>
                                        <p:tgtEl>
                                          <p:spTgt spid="55"/>
                                        </p:tgtEl>
                                      </p:cBhvr>
                                      <p:from x="200000" y="450000"/>
                                      <p:to x="100000" y="100000"/>
                                    </p:animScale>
                                    <p:set>
                                      <p:cBhvr>
                                        <p:cTn id="31" dur="770" fill="hold"/>
                                        <p:tgtEl>
                                          <p:spTgt spid="55"/>
                                        </p:tgtEl>
                                        <p:attrNameLst>
                                          <p:attrName>ppt_x</p:attrName>
                                        </p:attrNameLst>
                                      </p:cBhvr>
                                      <p:to>
                                        <p:strVal val="(0.5)"/>
                                      </p:to>
                                    </p:set>
                                    <p:anim from="(0.5)" to="(#ppt_x)" calcmode="lin" valueType="num">
                                      <p:cBhvr>
                                        <p:cTn id="32" dur="1230" accel="100000" fill="hold">
                                          <p:stCondLst>
                                            <p:cond delay="770"/>
                                          </p:stCondLst>
                                        </p:cTn>
                                        <p:tgtEl>
                                          <p:spTgt spid="55"/>
                                        </p:tgtEl>
                                        <p:attrNameLst>
                                          <p:attrName>ppt_x</p:attrName>
                                        </p:attrNameLst>
                                      </p:cBhvr>
                                    </p:anim>
                                    <p:set>
                                      <p:cBhvr>
                                        <p:cTn id="33" dur="770" fill="hold"/>
                                        <p:tgtEl>
                                          <p:spTgt spid="55"/>
                                        </p:tgtEl>
                                        <p:attrNameLst>
                                          <p:attrName>ppt_y</p:attrName>
                                        </p:attrNameLst>
                                      </p:cBhvr>
                                      <p:to>
                                        <p:strVal val="(#ppt_y+0.4)"/>
                                      </p:to>
                                    </p:set>
                                    <p:anim from="(#ppt_y+0.4)" to="(#ppt_y)" calcmode="lin" valueType="num">
                                      <p:cBhvr>
                                        <p:cTn id="34" dur="1230" accel="100000" fill="hold">
                                          <p:stCondLst>
                                            <p:cond delay="770"/>
                                          </p:stCondLst>
                                        </p:cTn>
                                        <p:tgtEl>
                                          <p:spTgt spid="55"/>
                                        </p:tgtEl>
                                        <p:attrNameLst>
                                          <p:attrName>ppt_y</p:attrName>
                                        </p:attrNameLst>
                                      </p:cBhvr>
                                    </p:anim>
                                  </p:childTnLst>
                                </p:cTn>
                              </p:par>
                              <p:par>
                                <p:cTn id="35" presetID="51"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770" decel="100000"/>
                                        <p:tgtEl>
                                          <p:spTgt spid="107"/>
                                        </p:tgtEl>
                                      </p:cBhvr>
                                    </p:animEffect>
                                    <p:animScale>
                                      <p:cBhvr>
                                        <p:cTn id="38" dur="770" decel="100000"/>
                                        <p:tgtEl>
                                          <p:spTgt spid="107"/>
                                        </p:tgtEl>
                                      </p:cBhvr>
                                      <p:from x="10000" y="10000"/>
                                      <p:to x="200000" y="450000"/>
                                    </p:animScale>
                                    <p:animScale>
                                      <p:cBhvr>
                                        <p:cTn id="39" dur="1230" accel="100000" fill="hold">
                                          <p:stCondLst>
                                            <p:cond delay="770"/>
                                          </p:stCondLst>
                                        </p:cTn>
                                        <p:tgtEl>
                                          <p:spTgt spid="107"/>
                                        </p:tgtEl>
                                      </p:cBhvr>
                                      <p:from x="200000" y="450000"/>
                                      <p:to x="100000" y="100000"/>
                                    </p:animScale>
                                    <p:set>
                                      <p:cBhvr>
                                        <p:cTn id="40" dur="770" fill="hold"/>
                                        <p:tgtEl>
                                          <p:spTgt spid="107"/>
                                        </p:tgtEl>
                                        <p:attrNameLst>
                                          <p:attrName>ppt_x</p:attrName>
                                        </p:attrNameLst>
                                      </p:cBhvr>
                                      <p:to>
                                        <p:strVal val="(0.5)"/>
                                      </p:to>
                                    </p:set>
                                    <p:anim from="(0.5)" to="(#ppt_x)" calcmode="lin" valueType="num">
                                      <p:cBhvr>
                                        <p:cTn id="41" dur="1230" accel="100000" fill="hold">
                                          <p:stCondLst>
                                            <p:cond delay="770"/>
                                          </p:stCondLst>
                                        </p:cTn>
                                        <p:tgtEl>
                                          <p:spTgt spid="107"/>
                                        </p:tgtEl>
                                        <p:attrNameLst>
                                          <p:attrName>ppt_x</p:attrName>
                                        </p:attrNameLst>
                                      </p:cBhvr>
                                    </p:anim>
                                    <p:set>
                                      <p:cBhvr>
                                        <p:cTn id="42" dur="770" fill="hold"/>
                                        <p:tgtEl>
                                          <p:spTgt spid="107"/>
                                        </p:tgtEl>
                                        <p:attrNameLst>
                                          <p:attrName>ppt_y</p:attrName>
                                        </p:attrNameLst>
                                      </p:cBhvr>
                                      <p:to>
                                        <p:strVal val="(#ppt_y+0.4)"/>
                                      </p:to>
                                    </p:set>
                                    <p:anim from="(#ppt_y+0.4)" to="(#ppt_y)" calcmode="lin" valueType="num">
                                      <p:cBhvr>
                                        <p:cTn id="43" dur="1230" accel="100000" fill="hold">
                                          <p:stCondLst>
                                            <p:cond delay="770"/>
                                          </p:stCondLst>
                                        </p:cTn>
                                        <p:tgtEl>
                                          <p:spTgt spid="107"/>
                                        </p:tgtEl>
                                        <p:attrNameLst>
                                          <p:attrName>ppt_y</p:attrName>
                                        </p:attrNameLst>
                                      </p:cBhvr>
                                    </p:anim>
                                  </p:childTnLst>
                                </p:cTn>
                              </p:par>
                              <p:par>
                                <p:cTn id="44" presetID="51" presetClass="entr" presetSubtype="0" fill="hold" nodeType="withEffect">
                                  <p:stCondLst>
                                    <p:cond delay="0"/>
                                  </p:stCondLst>
                                  <p:childTnLst>
                                    <p:set>
                                      <p:cBhvr>
                                        <p:cTn id="45" dur="1" fill="hold">
                                          <p:stCondLst>
                                            <p:cond delay="0"/>
                                          </p:stCondLst>
                                        </p:cTn>
                                        <p:tgtEl>
                                          <p:spTgt spid="108"/>
                                        </p:tgtEl>
                                        <p:attrNameLst>
                                          <p:attrName>style.visibility</p:attrName>
                                        </p:attrNameLst>
                                      </p:cBhvr>
                                      <p:to>
                                        <p:strVal val="visible"/>
                                      </p:to>
                                    </p:set>
                                    <p:animEffect transition="in" filter="fade">
                                      <p:cBhvr>
                                        <p:cTn id="46" dur="770" decel="100000"/>
                                        <p:tgtEl>
                                          <p:spTgt spid="108"/>
                                        </p:tgtEl>
                                      </p:cBhvr>
                                    </p:animEffect>
                                    <p:animScale>
                                      <p:cBhvr>
                                        <p:cTn id="47" dur="770" decel="100000"/>
                                        <p:tgtEl>
                                          <p:spTgt spid="108"/>
                                        </p:tgtEl>
                                      </p:cBhvr>
                                      <p:from x="10000" y="10000"/>
                                      <p:to x="200000" y="450000"/>
                                    </p:animScale>
                                    <p:animScale>
                                      <p:cBhvr>
                                        <p:cTn id="48" dur="1230" accel="100000" fill="hold">
                                          <p:stCondLst>
                                            <p:cond delay="770"/>
                                          </p:stCondLst>
                                        </p:cTn>
                                        <p:tgtEl>
                                          <p:spTgt spid="108"/>
                                        </p:tgtEl>
                                      </p:cBhvr>
                                      <p:from x="200000" y="450000"/>
                                      <p:to x="100000" y="100000"/>
                                    </p:animScale>
                                    <p:set>
                                      <p:cBhvr>
                                        <p:cTn id="49" dur="770" fill="hold"/>
                                        <p:tgtEl>
                                          <p:spTgt spid="108"/>
                                        </p:tgtEl>
                                        <p:attrNameLst>
                                          <p:attrName>ppt_x</p:attrName>
                                        </p:attrNameLst>
                                      </p:cBhvr>
                                      <p:to>
                                        <p:strVal val="(0.5)"/>
                                      </p:to>
                                    </p:set>
                                    <p:anim from="(0.5)" to="(#ppt_x)" calcmode="lin" valueType="num">
                                      <p:cBhvr>
                                        <p:cTn id="50" dur="1230" accel="100000" fill="hold">
                                          <p:stCondLst>
                                            <p:cond delay="770"/>
                                          </p:stCondLst>
                                        </p:cTn>
                                        <p:tgtEl>
                                          <p:spTgt spid="108"/>
                                        </p:tgtEl>
                                        <p:attrNameLst>
                                          <p:attrName>ppt_x</p:attrName>
                                        </p:attrNameLst>
                                      </p:cBhvr>
                                    </p:anim>
                                    <p:set>
                                      <p:cBhvr>
                                        <p:cTn id="51" dur="770" fill="hold"/>
                                        <p:tgtEl>
                                          <p:spTgt spid="108"/>
                                        </p:tgtEl>
                                        <p:attrNameLst>
                                          <p:attrName>ppt_y</p:attrName>
                                        </p:attrNameLst>
                                      </p:cBhvr>
                                      <p:to>
                                        <p:strVal val="(#ppt_y+0.4)"/>
                                      </p:to>
                                    </p:set>
                                    <p:anim from="(#ppt_y+0.4)" to="(#ppt_y)" calcmode="lin" valueType="num">
                                      <p:cBhvr>
                                        <p:cTn id="52" dur="1230" accel="100000" fill="hold">
                                          <p:stCondLst>
                                            <p:cond delay="770"/>
                                          </p:stCondLst>
                                        </p:cTn>
                                        <p:tgtEl>
                                          <p:spTgt spid="108"/>
                                        </p:tgtEl>
                                        <p:attrNameLst>
                                          <p:attrName>ppt_y</p:attrName>
                                        </p:attrNameLst>
                                      </p:cBhvr>
                                    </p:anim>
                                  </p:childTnLst>
                                </p:cTn>
                              </p:par>
                              <p:par>
                                <p:cTn id="53" presetID="51" presetClass="entr" presetSubtype="0" fill="hold" nodeType="withEffect">
                                  <p:stCondLst>
                                    <p:cond delay="0"/>
                                  </p:stCondLst>
                                  <p:childTnLst>
                                    <p:set>
                                      <p:cBhvr>
                                        <p:cTn id="54" dur="1" fill="hold">
                                          <p:stCondLst>
                                            <p:cond delay="0"/>
                                          </p:stCondLst>
                                        </p:cTn>
                                        <p:tgtEl>
                                          <p:spTgt spid="109"/>
                                        </p:tgtEl>
                                        <p:attrNameLst>
                                          <p:attrName>style.visibility</p:attrName>
                                        </p:attrNameLst>
                                      </p:cBhvr>
                                      <p:to>
                                        <p:strVal val="visible"/>
                                      </p:to>
                                    </p:set>
                                    <p:animEffect transition="in" filter="fade">
                                      <p:cBhvr>
                                        <p:cTn id="55" dur="770" decel="100000"/>
                                        <p:tgtEl>
                                          <p:spTgt spid="109"/>
                                        </p:tgtEl>
                                      </p:cBhvr>
                                    </p:animEffect>
                                    <p:animScale>
                                      <p:cBhvr>
                                        <p:cTn id="56" dur="770" decel="100000"/>
                                        <p:tgtEl>
                                          <p:spTgt spid="109"/>
                                        </p:tgtEl>
                                      </p:cBhvr>
                                      <p:from x="10000" y="10000"/>
                                      <p:to x="200000" y="450000"/>
                                    </p:animScale>
                                    <p:animScale>
                                      <p:cBhvr>
                                        <p:cTn id="57" dur="1230" accel="100000" fill="hold">
                                          <p:stCondLst>
                                            <p:cond delay="770"/>
                                          </p:stCondLst>
                                        </p:cTn>
                                        <p:tgtEl>
                                          <p:spTgt spid="109"/>
                                        </p:tgtEl>
                                      </p:cBhvr>
                                      <p:from x="200000" y="450000"/>
                                      <p:to x="100000" y="100000"/>
                                    </p:animScale>
                                    <p:set>
                                      <p:cBhvr>
                                        <p:cTn id="58" dur="770" fill="hold"/>
                                        <p:tgtEl>
                                          <p:spTgt spid="109"/>
                                        </p:tgtEl>
                                        <p:attrNameLst>
                                          <p:attrName>ppt_x</p:attrName>
                                        </p:attrNameLst>
                                      </p:cBhvr>
                                      <p:to>
                                        <p:strVal val="(0.5)"/>
                                      </p:to>
                                    </p:set>
                                    <p:anim from="(0.5)" to="(#ppt_x)" calcmode="lin" valueType="num">
                                      <p:cBhvr>
                                        <p:cTn id="59" dur="1230" accel="100000" fill="hold">
                                          <p:stCondLst>
                                            <p:cond delay="770"/>
                                          </p:stCondLst>
                                        </p:cTn>
                                        <p:tgtEl>
                                          <p:spTgt spid="109"/>
                                        </p:tgtEl>
                                        <p:attrNameLst>
                                          <p:attrName>ppt_x</p:attrName>
                                        </p:attrNameLst>
                                      </p:cBhvr>
                                    </p:anim>
                                    <p:set>
                                      <p:cBhvr>
                                        <p:cTn id="60" dur="770" fill="hold"/>
                                        <p:tgtEl>
                                          <p:spTgt spid="109"/>
                                        </p:tgtEl>
                                        <p:attrNameLst>
                                          <p:attrName>ppt_y</p:attrName>
                                        </p:attrNameLst>
                                      </p:cBhvr>
                                      <p:to>
                                        <p:strVal val="(#ppt_y+0.4)"/>
                                      </p:to>
                                    </p:set>
                                    <p:anim from="(#ppt_y+0.4)" to="(#ppt_y)" calcmode="lin" valueType="num">
                                      <p:cBhvr>
                                        <p:cTn id="61" dur="1230" accel="100000" fill="hold">
                                          <p:stCondLst>
                                            <p:cond delay="770"/>
                                          </p:stCondLst>
                                        </p:cTn>
                                        <p:tgtEl>
                                          <p:spTgt spid="109"/>
                                        </p:tgtEl>
                                        <p:attrNameLst>
                                          <p:attrName>ppt_y</p:attrName>
                                        </p:attrNameLst>
                                      </p:cBhvr>
                                    </p:anim>
                                  </p:childTnLst>
                                </p:cTn>
                              </p:par>
                              <p:par>
                                <p:cTn id="62" presetID="51" presetClass="entr" presetSubtype="0" fill="hold" nodeType="withEffect">
                                  <p:stCondLst>
                                    <p:cond delay="0"/>
                                  </p:stCondLst>
                                  <p:childTnLst>
                                    <p:set>
                                      <p:cBhvr>
                                        <p:cTn id="63" dur="1" fill="hold">
                                          <p:stCondLst>
                                            <p:cond delay="0"/>
                                          </p:stCondLst>
                                        </p:cTn>
                                        <p:tgtEl>
                                          <p:spTgt spid="110"/>
                                        </p:tgtEl>
                                        <p:attrNameLst>
                                          <p:attrName>style.visibility</p:attrName>
                                        </p:attrNameLst>
                                      </p:cBhvr>
                                      <p:to>
                                        <p:strVal val="visible"/>
                                      </p:to>
                                    </p:set>
                                    <p:animEffect transition="in" filter="fade">
                                      <p:cBhvr>
                                        <p:cTn id="64" dur="770" decel="100000"/>
                                        <p:tgtEl>
                                          <p:spTgt spid="110"/>
                                        </p:tgtEl>
                                      </p:cBhvr>
                                    </p:animEffect>
                                    <p:animScale>
                                      <p:cBhvr>
                                        <p:cTn id="65" dur="770" decel="100000"/>
                                        <p:tgtEl>
                                          <p:spTgt spid="110"/>
                                        </p:tgtEl>
                                      </p:cBhvr>
                                      <p:from x="10000" y="10000"/>
                                      <p:to x="200000" y="450000"/>
                                    </p:animScale>
                                    <p:animScale>
                                      <p:cBhvr>
                                        <p:cTn id="66" dur="1230" accel="100000" fill="hold">
                                          <p:stCondLst>
                                            <p:cond delay="770"/>
                                          </p:stCondLst>
                                        </p:cTn>
                                        <p:tgtEl>
                                          <p:spTgt spid="110"/>
                                        </p:tgtEl>
                                      </p:cBhvr>
                                      <p:from x="200000" y="450000"/>
                                      <p:to x="100000" y="100000"/>
                                    </p:animScale>
                                    <p:set>
                                      <p:cBhvr>
                                        <p:cTn id="67" dur="770" fill="hold"/>
                                        <p:tgtEl>
                                          <p:spTgt spid="110"/>
                                        </p:tgtEl>
                                        <p:attrNameLst>
                                          <p:attrName>ppt_x</p:attrName>
                                        </p:attrNameLst>
                                      </p:cBhvr>
                                      <p:to>
                                        <p:strVal val="(0.5)"/>
                                      </p:to>
                                    </p:set>
                                    <p:anim from="(0.5)" to="(#ppt_x)" calcmode="lin" valueType="num">
                                      <p:cBhvr>
                                        <p:cTn id="68" dur="1230" accel="100000" fill="hold">
                                          <p:stCondLst>
                                            <p:cond delay="770"/>
                                          </p:stCondLst>
                                        </p:cTn>
                                        <p:tgtEl>
                                          <p:spTgt spid="110"/>
                                        </p:tgtEl>
                                        <p:attrNameLst>
                                          <p:attrName>ppt_x</p:attrName>
                                        </p:attrNameLst>
                                      </p:cBhvr>
                                    </p:anim>
                                    <p:set>
                                      <p:cBhvr>
                                        <p:cTn id="69" dur="770" fill="hold"/>
                                        <p:tgtEl>
                                          <p:spTgt spid="110"/>
                                        </p:tgtEl>
                                        <p:attrNameLst>
                                          <p:attrName>ppt_y</p:attrName>
                                        </p:attrNameLst>
                                      </p:cBhvr>
                                      <p:to>
                                        <p:strVal val="(#ppt_y+0.4)"/>
                                      </p:to>
                                    </p:set>
                                    <p:anim from="(#ppt_y+0.4)" to="(#ppt_y)" calcmode="lin" valueType="num">
                                      <p:cBhvr>
                                        <p:cTn id="70" dur="1230" accel="100000" fill="hold">
                                          <p:stCondLst>
                                            <p:cond delay="770"/>
                                          </p:stCondLst>
                                        </p:cTn>
                                        <p:tgtEl>
                                          <p:spTgt spid="110"/>
                                        </p:tgtEl>
                                        <p:attrNameLst>
                                          <p:attrName>ppt_y</p:attrName>
                                        </p:attrNameLst>
                                      </p:cBhvr>
                                    </p:anim>
                                  </p:childTnLst>
                                </p:cTn>
                              </p:par>
                              <p:par>
                                <p:cTn id="71" presetID="51" presetClass="entr" presetSubtype="0" fill="hold" nodeType="withEffect">
                                  <p:stCondLst>
                                    <p:cond delay="0"/>
                                  </p:stCondLst>
                                  <p:childTnLst>
                                    <p:set>
                                      <p:cBhvr>
                                        <p:cTn id="72" dur="1" fill="hold">
                                          <p:stCondLst>
                                            <p:cond delay="0"/>
                                          </p:stCondLst>
                                        </p:cTn>
                                        <p:tgtEl>
                                          <p:spTgt spid="111"/>
                                        </p:tgtEl>
                                        <p:attrNameLst>
                                          <p:attrName>style.visibility</p:attrName>
                                        </p:attrNameLst>
                                      </p:cBhvr>
                                      <p:to>
                                        <p:strVal val="visible"/>
                                      </p:to>
                                    </p:set>
                                    <p:animEffect transition="in" filter="fade">
                                      <p:cBhvr>
                                        <p:cTn id="73" dur="770" decel="100000"/>
                                        <p:tgtEl>
                                          <p:spTgt spid="111"/>
                                        </p:tgtEl>
                                      </p:cBhvr>
                                    </p:animEffect>
                                    <p:animScale>
                                      <p:cBhvr>
                                        <p:cTn id="74" dur="770" decel="100000"/>
                                        <p:tgtEl>
                                          <p:spTgt spid="111"/>
                                        </p:tgtEl>
                                      </p:cBhvr>
                                      <p:from x="10000" y="10000"/>
                                      <p:to x="200000" y="450000"/>
                                    </p:animScale>
                                    <p:animScale>
                                      <p:cBhvr>
                                        <p:cTn id="75" dur="1230" accel="100000" fill="hold">
                                          <p:stCondLst>
                                            <p:cond delay="770"/>
                                          </p:stCondLst>
                                        </p:cTn>
                                        <p:tgtEl>
                                          <p:spTgt spid="111"/>
                                        </p:tgtEl>
                                      </p:cBhvr>
                                      <p:from x="200000" y="450000"/>
                                      <p:to x="100000" y="100000"/>
                                    </p:animScale>
                                    <p:set>
                                      <p:cBhvr>
                                        <p:cTn id="76" dur="770" fill="hold"/>
                                        <p:tgtEl>
                                          <p:spTgt spid="111"/>
                                        </p:tgtEl>
                                        <p:attrNameLst>
                                          <p:attrName>ppt_x</p:attrName>
                                        </p:attrNameLst>
                                      </p:cBhvr>
                                      <p:to>
                                        <p:strVal val="(0.5)"/>
                                      </p:to>
                                    </p:set>
                                    <p:anim from="(0.5)" to="(#ppt_x)" calcmode="lin" valueType="num">
                                      <p:cBhvr>
                                        <p:cTn id="77" dur="1230" accel="100000" fill="hold">
                                          <p:stCondLst>
                                            <p:cond delay="770"/>
                                          </p:stCondLst>
                                        </p:cTn>
                                        <p:tgtEl>
                                          <p:spTgt spid="111"/>
                                        </p:tgtEl>
                                        <p:attrNameLst>
                                          <p:attrName>ppt_x</p:attrName>
                                        </p:attrNameLst>
                                      </p:cBhvr>
                                    </p:anim>
                                    <p:set>
                                      <p:cBhvr>
                                        <p:cTn id="78" dur="770" fill="hold"/>
                                        <p:tgtEl>
                                          <p:spTgt spid="111"/>
                                        </p:tgtEl>
                                        <p:attrNameLst>
                                          <p:attrName>ppt_y</p:attrName>
                                        </p:attrNameLst>
                                      </p:cBhvr>
                                      <p:to>
                                        <p:strVal val="(#ppt_y+0.4)"/>
                                      </p:to>
                                    </p:set>
                                    <p:anim from="(#ppt_y+0.4)" to="(#ppt_y)" calcmode="lin" valueType="num">
                                      <p:cBhvr>
                                        <p:cTn id="79" dur="1230" accel="100000" fill="hold">
                                          <p:stCondLst>
                                            <p:cond delay="770"/>
                                          </p:stCondLst>
                                        </p:cTn>
                                        <p:tgtEl>
                                          <p:spTgt spid="111"/>
                                        </p:tgtEl>
                                        <p:attrNameLst>
                                          <p:attrName>ppt_y</p:attrName>
                                        </p:attrNameLst>
                                      </p:cBhvr>
                                    </p:anim>
                                  </p:childTnLst>
                                </p:cTn>
                              </p:par>
                              <p:par>
                                <p:cTn id="80" presetID="51" presetClass="entr" presetSubtype="0" fill="hold" nodeType="withEffect">
                                  <p:stCondLst>
                                    <p:cond delay="0"/>
                                  </p:stCondLst>
                                  <p:childTnLst>
                                    <p:set>
                                      <p:cBhvr>
                                        <p:cTn id="81" dur="1" fill="hold">
                                          <p:stCondLst>
                                            <p:cond delay="0"/>
                                          </p:stCondLst>
                                        </p:cTn>
                                        <p:tgtEl>
                                          <p:spTgt spid="112"/>
                                        </p:tgtEl>
                                        <p:attrNameLst>
                                          <p:attrName>style.visibility</p:attrName>
                                        </p:attrNameLst>
                                      </p:cBhvr>
                                      <p:to>
                                        <p:strVal val="visible"/>
                                      </p:to>
                                    </p:set>
                                    <p:animEffect transition="in" filter="fade">
                                      <p:cBhvr>
                                        <p:cTn id="82" dur="770" decel="100000"/>
                                        <p:tgtEl>
                                          <p:spTgt spid="112"/>
                                        </p:tgtEl>
                                      </p:cBhvr>
                                    </p:animEffect>
                                    <p:animScale>
                                      <p:cBhvr>
                                        <p:cTn id="83" dur="770" decel="100000"/>
                                        <p:tgtEl>
                                          <p:spTgt spid="112"/>
                                        </p:tgtEl>
                                      </p:cBhvr>
                                      <p:from x="10000" y="10000"/>
                                      <p:to x="200000" y="450000"/>
                                    </p:animScale>
                                    <p:animScale>
                                      <p:cBhvr>
                                        <p:cTn id="84" dur="1230" accel="100000" fill="hold">
                                          <p:stCondLst>
                                            <p:cond delay="770"/>
                                          </p:stCondLst>
                                        </p:cTn>
                                        <p:tgtEl>
                                          <p:spTgt spid="112"/>
                                        </p:tgtEl>
                                      </p:cBhvr>
                                      <p:from x="200000" y="450000"/>
                                      <p:to x="100000" y="100000"/>
                                    </p:animScale>
                                    <p:set>
                                      <p:cBhvr>
                                        <p:cTn id="85" dur="770" fill="hold"/>
                                        <p:tgtEl>
                                          <p:spTgt spid="112"/>
                                        </p:tgtEl>
                                        <p:attrNameLst>
                                          <p:attrName>ppt_x</p:attrName>
                                        </p:attrNameLst>
                                      </p:cBhvr>
                                      <p:to>
                                        <p:strVal val="(0.5)"/>
                                      </p:to>
                                    </p:set>
                                    <p:anim from="(0.5)" to="(#ppt_x)" calcmode="lin" valueType="num">
                                      <p:cBhvr>
                                        <p:cTn id="86" dur="1230" accel="100000" fill="hold">
                                          <p:stCondLst>
                                            <p:cond delay="770"/>
                                          </p:stCondLst>
                                        </p:cTn>
                                        <p:tgtEl>
                                          <p:spTgt spid="112"/>
                                        </p:tgtEl>
                                        <p:attrNameLst>
                                          <p:attrName>ppt_x</p:attrName>
                                        </p:attrNameLst>
                                      </p:cBhvr>
                                    </p:anim>
                                    <p:set>
                                      <p:cBhvr>
                                        <p:cTn id="87" dur="770" fill="hold"/>
                                        <p:tgtEl>
                                          <p:spTgt spid="112"/>
                                        </p:tgtEl>
                                        <p:attrNameLst>
                                          <p:attrName>ppt_y</p:attrName>
                                        </p:attrNameLst>
                                      </p:cBhvr>
                                      <p:to>
                                        <p:strVal val="(#ppt_y+0.4)"/>
                                      </p:to>
                                    </p:set>
                                    <p:anim from="(#ppt_y+0.4)" to="(#ppt_y)" calcmode="lin" valueType="num">
                                      <p:cBhvr>
                                        <p:cTn id="88" dur="1230" accel="100000" fill="hold">
                                          <p:stCondLst>
                                            <p:cond delay="770"/>
                                          </p:stCondLst>
                                        </p:cTn>
                                        <p:tgtEl>
                                          <p:spTgt spid="112"/>
                                        </p:tgtEl>
                                        <p:attrNameLst>
                                          <p:attrName>ppt_y</p:attrName>
                                        </p:attrNameLst>
                                      </p:cBhvr>
                                    </p:anim>
                                  </p:childTnLst>
                                </p:cTn>
                              </p:par>
                              <p:par>
                                <p:cTn id="89" presetID="51" presetClass="entr" presetSubtype="0" fill="hold" nodeType="withEffect">
                                  <p:stCondLst>
                                    <p:cond delay="0"/>
                                  </p:stCondLst>
                                  <p:childTnLst>
                                    <p:set>
                                      <p:cBhvr>
                                        <p:cTn id="90" dur="1" fill="hold">
                                          <p:stCondLst>
                                            <p:cond delay="0"/>
                                          </p:stCondLst>
                                        </p:cTn>
                                        <p:tgtEl>
                                          <p:spTgt spid="113"/>
                                        </p:tgtEl>
                                        <p:attrNameLst>
                                          <p:attrName>style.visibility</p:attrName>
                                        </p:attrNameLst>
                                      </p:cBhvr>
                                      <p:to>
                                        <p:strVal val="visible"/>
                                      </p:to>
                                    </p:set>
                                    <p:animEffect transition="in" filter="fade">
                                      <p:cBhvr>
                                        <p:cTn id="91" dur="770" decel="100000"/>
                                        <p:tgtEl>
                                          <p:spTgt spid="113"/>
                                        </p:tgtEl>
                                      </p:cBhvr>
                                    </p:animEffect>
                                    <p:animScale>
                                      <p:cBhvr>
                                        <p:cTn id="92" dur="770" decel="100000"/>
                                        <p:tgtEl>
                                          <p:spTgt spid="113"/>
                                        </p:tgtEl>
                                      </p:cBhvr>
                                      <p:from x="10000" y="10000"/>
                                      <p:to x="200000" y="450000"/>
                                    </p:animScale>
                                    <p:animScale>
                                      <p:cBhvr>
                                        <p:cTn id="93" dur="1230" accel="100000" fill="hold">
                                          <p:stCondLst>
                                            <p:cond delay="770"/>
                                          </p:stCondLst>
                                        </p:cTn>
                                        <p:tgtEl>
                                          <p:spTgt spid="113"/>
                                        </p:tgtEl>
                                      </p:cBhvr>
                                      <p:from x="200000" y="450000"/>
                                      <p:to x="100000" y="100000"/>
                                    </p:animScale>
                                    <p:set>
                                      <p:cBhvr>
                                        <p:cTn id="94" dur="770" fill="hold"/>
                                        <p:tgtEl>
                                          <p:spTgt spid="113"/>
                                        </p:tgtEl>
                                        <p:attrNameLst>
                                          <p:attrName>ppt_x</p:attrName>
                                        </p:attrNameLst>
                                      </p:cBhvr>
                                      <p:to>
                                        <p:strVal val="(0.5)"/>
                                      </p:to>
                                    </p:set>
                                    <p:anim from="(0.5)" to="(#ppt_x)" calcmode="lin" valueType="num">
                                      <p:cBhvr>
                                        <p:cTn id="95" dur="1230" accel="100000" fill="hold">
                                          <p:stCondLst>
                                            <p:cond delay="770"/>
                                          </p:stCondLst>
                                        </p:cTn>
                                        <p:tgtEl>
                                          <p:spTgt spid="113"/>
                                        </p:tgtEl>
                                        <p:attrNameLst>
                                          <p:attrName>ppt_x</p:attrName>
                                        </p:attrNameLst>
                                      </p:cBhvr>
                                    </p:anim>
                                    <p:set>
                                      <p:cBhvr>
                                        <p:cTn id="96" dur="770" fill="hold"/>
                                        <p:tgtEl>
                                          <p:spTgt spid="113"/>
                                        </p:tgtEl>
                                        <p:attrNameLst>
                                          <p:attrName>ppt_y</p:attrName>
                                        </p:attrNameLst>
                                      </p:cBhvr>
                                      <p:to>
                                        <p:strVal val="(#ppt_y+0.4)"/>
                                      </p:to>
                                    </p:set>
                                    <p:anim from="(#ppt_y+0.4)" to="(#ppt_y)" calcmode="lin" valueType="num">
                                      <p:cBhvr>
                                        <p:cTn id="97" dur="1230" accel="100000" fill="hold">
                                          <p:stCondLst>
                                            <p:cond delay="770"/>
                                          </p:stCondLst>
                                        </p:cTn>
                                        <p:tgtEl>
                                          <p:spTgt spid="113"/>
                                        </p:tgtEl>
                                        <p:attrNameLst>
                                          <p:attrName>ppt_y</p:attrName>
                                        </p:attrNameLst>
                                      </p:cBhvr>
                                    </p:anim>
                                  </p:childTnLst>
                                </p:cTn>
                              </p:par>
                              <p:par>
                                <p:cTn id="98" presetID="51" presetClass="entr" presetSubtype="0" fill="hold" nodeType="withEffect">
                                  <p:stCondLst>
                                    <p:cond delay="0"/>
                                  </p:stCondLst>
                                  <p:childTnLst>
                                    <p:set>
                                      <p:cBhvr>
                                        <p:cTn id="99" dur="1" fill="hold">
                                          <p:stCondLst>
                                            <p:cond delay="0"/>
                                          </p:stCondLst>
                                        </p:cTn>
                                        <p:tgtEl>
                                          <p:spTgt spid="115"/>
                                        </p:tgtEl>
                                        <p:attrNameLst>
                                          <p:attrName>style.visibility</p:attrName>
                                        </p:attrNameLst>
                                      </p:cBhvr>
                                      <p:to>
                                        <p:strVal val="visible"/>
                                      </p:to>
                                    </p:set>
                                    <p:animEffect transition="in" filter="fade">
                                      <p:cBhvr>
                                        <p:cTn id="100" dur="770" decel="100000"/>
                                        <p:tgtEl>
                                          <p:spTgt spid="115"/>
                                        </p:tgtEl>
                                      </p:cBhvr>
                                    </p:animEffect>
                                    <p:animScale>
                                      <p:cBhvr>
                                        <p:cTn id="101" dur="770" decel="100000"/>
                                        <p:tgtEl>
                                          <p:spTgt spid="115"/>
                                        </p:tgtEl>
                                      </p:cBhvr>
                                      <p:from x="10000" y="10000"/>
                                      <p:to x="200000" y="450000"/>
                                    </p:animScale>
                                    <p:animScale>
                                      <p:cBhvr>
                                        <p:cTn id="102" dur="1230" accel="100000" fill="hold">
                                          <p:stCondLst>
                                            <p:cond delay="770"/>
                                          </p:stCondLst>
                                        </p:cTn>
                                        <p:tgtEl>
                                          <p:spTgt spid="115"/>
                                        </p:tgtEl>
                                      </p:cBhvr>
                                      <p:from x="200000" y="450000"/>
                                      <p:to x="100000" y="100000"/>
                                    </p:animScale>
                                    <p:set>
                                      <p:cBhvr>
                                        <p:cTn id="103" dur="770" fill="hold"/>
                                        <p:tgtEl>
                                          <p:spTgt spid="115"/>
                                        </p:tgtEl>
                                        <p:attrNameLst>
                                          <p:attrName>ppt_x</p:attrName>
                                        </p:attrNameLst>
                                      </p:cBhvr>
                                      <p:to>
                                        <p:strVal val="(0.5)"/>
                                      </p:to>
                                    </p:set>
                                    <p:anim from="(0.5)" to="(#ppt_x)" calcmode="lin" valueType="num">
                                      <p:cBhvr>
                                        <p:cTn id="104" dur="1230" accel="100000" fill="hold">
                                          <p:stCondLst>
                                            <p:cond delay="770"/>
                                          </p:stCondLst>
                                        </p:cTn>
                                        <p:tgtEl>
                                          <p:spTgt spid="115"/>
                                        </p:tgtEl>
                                        <p:attrNameLst>
                                          <p:attrName>ppt_x</p:attrName>
                                        </p:attrNameLst>
                                      </p:cBhvr>
                                    </p:anim>
                                    <p:set>
                                      <p:cBhvr>
                                        <p:cTn id="105" dur="770" fill="hold"/>
                                        <p:tgtEl>
                                          <p:spTgt spid="115"/>
                                        </p:tgtEl>
                                        <p:attrNameLst>
                                          <p:attrName>ppt_y</p:attrName>
                                        </p:attrNameLst>
                                      </p:cBhvr>
                                      <p:to>
                                        <p:strVal val="(#ppt_y+0.4)"/>
                                      </p:to>
                                    </p:set>
                                    <p:anim from="(#ppt_y+0.4)" to="(#ppt_y)" calcmode="lin" valueType="num">
                                      <p:cBhvr>
                                        <p:cTn id="106" dur="1230" accel="100000" fill="hold">
                                          <p:stCondLst>
                                            <p:cond delay="770"/>
                                          </p:stCondLst>
                                        </p:cTn>
                                        <p:tgtEl>
                                          <p:spTgt spid="115"/>
                                        </p:tgtEl>
                                        <p:attrNameLst>
                                          <p:attrName>ppt_y</p:attrName>
                                        </p:attrNameLst>
                                      </p:cBhvr>
                                    </p:anim>
                                  </p:childTnLst>
                                </p:cTn>
                              </p:par>
                            </p:childTnLst>
                          </p:cTn>
                        </p:par>
                      </p:childTnLst>
                    </p:cTn>
                  </p:par>
                  <p:par>
                    <p:cTn id="107" fill="hold">
                      <p:stCondLst>
                        <p:cond delay="indefinite"/>
                      </p:stCondLst>
                      <p:childTnLst>
                        <p:par>
                          <p:cTn id="108" fill="hold">
                            <p:stCondLst>
                              <p:cond delay="0"/>
                            </p:stCondLst>
                            <p:childTnLst>
                              <p:par>
                                <p:cTn id="109" presetID="8" presetClass="exit" presetSubtype="32" fill="hold" nodeType="clickEffect">
                                  <p:stCondLst>
                                    <p:cond delay="0"/>
                                  </p:stCondLst>
                                  <p:childTnLst>
                                    <p:animEffect transition="out" filter="diamond(out)">
                                      <p:cBhvr>
                                        <p:cTn id="110" dur="2000"/>
                                        <p:tgtEl>
                                          <p:spTgt spid="115"/>
                                        </p:tgtEl>
                                      </p:cBhvr>
                                    </p:animEffect>
                                    <p:set>
                                      <p:cBhvr>
                                        <p:cTn id="111" dur="1" fill="hold">
                                          <p:stCondLst>
                                            <p:cond delay="1999"/>
                                          </p:stCondLst>
                                        </p:cTn>
                                        <p:tgtEl>
                                          <p:spTgt spid="115"/>
                                        </p:tgtEl>
                                        <p:attrNameLst>
                                          <p:attrName>style.visibility</p:attrName>
                                        </p:attrNameLst>
                                      </p:cBhvr>
                                      <p:to>
                                        <p:strVal val="hidden"/>
                                      </p:to>
                                    </p:set>
                                  </p:childTnLst>
                                </p:cTn>
                              </p:par>
                              <p:par>
                                <p:cTn id="112" presetID="8" presetClass="exit" presetSubtype="32" fill="hold" nodeType="withEffect">
                                  <p:stCondLst>
                                    <p:cond delay="0"/>
                                  </p:stCondLst>
                                  <p:childTnLst>
                                    <p:animEffect transition="out" filter="diamond(out)">
                                      <p:cBhvr>
                                        <p:cTn id="113" dur="2000"/>
                                        <p:tgtEl>
                                          <p:spTgt spid="111"/>
                                        </p:tgtEl>
                                      </p:cBhvr>
                                    </p:animEffect>
                                    <p:set>
                                      <p:cBhvr>
                                        <p:cTn id="114" dur="1" fill="hold">
                                          <p:stCondLst>
                                            <p:cond delay="1999"/>
                                          </p:stCondLst>
                                        </p:cTn>
                                        <p:tgtEl>
                                          <p:spTgt spid="111"/>
                                        </p:tgtEl>
                                        <p:attrNameLst>
                                          <p:attrName>style.visibility</p:attrName>
                                        </p:attrNameLst>
                                      </p:cBhvr>
                                      <p:to>
                                        <p:strVal val="hidden"/>
                                      </p:to>
                                    </p:set>
                                  </p:childTnLst>
                                </p:cTn>
                              </p:par>
                              <p:par>
                                <p:cTn id="115" presetID="8" presetClass="exit" presetSubtype="32" fill="hold" nodeType="withEffect">
                                  <p:stCondLst>
                                    <p:cond delay="0"/>
                                  </p:stCondLst>
                                  <p:childTnLst>
                                    <p:animEffect transition="out" filter="diamond(out)">
                                      <p:cBhvr>
                                        <p:cTn id="116" dur="2000"/>
                                        <p:tgtEl>
                                          <p:spTgt spid="108"/>
                                        </p:tgtEl>
                                      </p:cBhvr>
                                    </p:animEffect>
                                    <p:set>
                                      <p:cBhvr>
                                        <p:cTn id="117" dur="1" fill="hold">
                                          <p:stCondLst>
                                            <p:cond delay="1999"/>
                                          </p:stCondLst>
                                        </p:cTn>
                                        <p:tgtEl>
                                          <p:spTgt spid="108"/>
                                        </p:tgtEl>
                                        <p:attrNameLst>
                                          <p:attrName>style.visibility</p:attrName>
                                        </p:attrNameLst>
                                      </p:cBhvr>
                                      <p:to>
                                        <p:strVal val="hidden"/>
                                      </p:to>
                                    </p:set>
                                  </p:childTnLst>
                                </p:cTn>
                              </p:par>
                              <p:par>
                                <p:cTn id="118" presetID="8" presetClass="exit" presetSubtype="32" fill="hold" nodeType="withEffect">
                                  <p:stCondLst>
                                    <p:cond delay="0"/>
                                  </p:stCondLst>
                                  <p:childTnLst>
                                    <p:animEffect transition="out" filter="diamond(out)">
                                      <p:cBhvr>
                                        <p:cTn id="119" dur="2000"/>
                                        <p:tgtEl>
                                          <p:spTgt spid="110"/>
                                        </p:tgtEl>
                                      </p:cBhvr>
                                    </p:animEffect>
                                    <p:set>
                                      <p:cBhvr>
                                        <p:cTn id="120" dur="1" fill="hold">
                                          <p:stCondLst>
                                            <p:cond delay="1999"/>
                                          </p:stCondLst>
                                        </p:cTn>
                                        <p:tgtEl>
                                          <p:spTgt spid="110"/>
                                        </p:tgtEl>
                                        <p:attrNameLst>
                                          <p:attrName>style.visibility</p:attrName>
                                        </p:attrNameLst>
                                      </p:cBhvr>
                                      <p:to>
                                        <p:strVal val="hidden"/>
                                      </p:to>
                                    </p:set>
                                  </p:childTnLst>
                                </p:cTn>
                              </p:par>
                              <p:par>
                                <p:cTn id="121" presetID="8" presetClass="exit" presetSubtype="32" fill="hold" nodeType="withEffect">
                                  <p:stCondLst>
                                    <p:cond delay="0"/>
                                  </p:stCondLst>
                                  <p:childTnLst>
                                    <p:animEffect transition="out" filter="diamond(out)">
                                      <p:cBhvr>
                                        <p:cTn id="122" dur="2000"/>
                                        <p:tgtEl>
                                          <p:spTgt spid="107"/>
                                        </p:tgtEl>
                                      </p:cBhvr>
                                    </p:animEffect>
                                    <p:set>
                                      <p:cBhvr>
                                        <p:cTn id="123" dur="1" fill="hold">
                                          <p:stCondLst>
                                            <p:cond delay="1999"/>
                                          </p:stCondLst>
                                        </p:cTn>
                                        <p:tgtEl>
                                          <p:spTgt spid="107"/>
                                        </p:tgtEl>
                                        <p:attrNameLst>
                                          <p:attrName>style.visibility</p:attrName>
                                        </p:attrNameLst>
                                      </p:cBhvr>
                                      <p:to>
                                        <p:strVal val="hidden"/>
                                      </p:to>
                                    </p:set>
                                  </p:childTnLst>
                                </p:cTn>
                              </p:par>
                              <p:par>
                                <p:cTn id="124" presetID="8" presetClass="exit" presetSubtype="32" fill="hold" nodeType="withEffect">
                                  <p:stCondLst>
                                    <p:cond delay="0"/>
                                  </p:stCondLst>
                                  <p:childTnLst>
                                    <p:animEffect transition="out" filter="diamond(out)">
                                      <p:cBhvr>
                                        <p:cTn id="125" dur="2000"/>
                                        <p:tgtEl>
                                          <p:spTgt spid="113"/>
                                        </p:tgtEl>
                                      </p:cBhvr>
                                    </p:animEffect>
                                    <p:set>
                                      <p:cBhvr>
                                        <p:cTn id="126" dur="1" fill="hold">
                                          <p:stCondLst>
                                            <p:cond delay="1999"/>
                                          </p:stCondLst>
                                        </p:cTn>
                                        <p:tgtEl>
                                          <p:spTgt spid="113"/>
                                        </p:tgtEl>
                                        <p:attrNameLst>
                                          <p:attrName>style.visibility</p:attrName>
                                        </p:attrNameLst>
                                      </p:cBhvr>
                                      <p:to>
                                        <p:strVal val="hidden"/>
                                      </p:to>
                                    </p:set>
                                  </p:childTnLst>
                                </p:cTn>
                              </p:par>
                              <p:par>
                                <p:cTn id="127" presetID="8" presetClass="exit" presetSubtype="32" fill="hold" nodeType="withEffect">
                                  <p:stCondLst>
                                    <p:cond delay="0"/>
                                  </p:stCondLst>
                                  <p:childTnLst>
                                    <p:animEffect transition="out" filter="diamond(out)">
                                      <p:cBhvr>
                                        <p:cTn id="128" dur="2000"/>
                                        <p:tgtEl>
                                          <p:spTgt spid="112"/>
                                        </p:tgtEl>
                                      </p:cBhvr>
                                    </p:animEffect>
                                    <p:set>
                                      <p:cBhvr>
                                        <p:cTn id="129" dur="1" fill="hold">
                                          <p:stCondLst>
                                            <p:cond delay="1999"/>
                                          </p:stCondLst>
                                        </p:cTn>
                                        <p:tgtEl>
                                          <p:spTgt spid="112"/>
                                        </p:tgtEl>
                                        <p:attrNameLst>
                                          <p:attrName>style.visibility</p:attrName>
                                        </p:attrNameLst>
                                      </p:cBhvr>
                                      <p:to>
                                        <p:strVal val="hidden"/>
                                      </p:to>
                                    </p:set>
                                  </p:childTnLst>
                                </p:cTn>
                              </p:par>
                              <p:par>
                                <p:cTn id="130" presetID="8" presetClass="exit" presetSubtype="32" fill="hold" nodeType="withEffect">
                                  <p:stCondLst>
                                    <p:cond delay="0"/>
                                  </p:stCondLst>
                                  <p:childTnLst>
                                    <p:animEffect transition="out" filter="diamond(out)">
                                      <p:cBhvr>
                                        <p:cTn id="131" dur="2000"/>
                                        <p:tgtEl>
                                          <p:spTgt spid="109"/>
                                        </p:tgtEl>
                                      </p:cBhvr>
                                    </p:animEffect>
                                    <p:set>
                                      <p:cBhvr>
                                        <p:cTn id="132" dur="1" fill="hold">
                                          <p:stCondLst>
                                            <p:cond delay="1999"/>
                                          </p:stCondLst>
                                        </p:cTn>
                                        <p:tgtEl>
                                          <p:spTgt spid="109"/>
                                        </p:tgtEl>
                                        <p:attrNameLst>
                                          <p:attrName>style.visibility</p:attrName>
                                        </p:attrNameLst>
                                      </p:cBhvr>
                                      <p:to>
                                        <p:strVal val="hidden"/>
                                      </p:to>
                                    </p:set>
                                  </p:childTnLst>
                                </p:cTn>
                              </p:par>
                              <p:par>
                                <p:cTn id="133" presetID="8" presetClass="exit" presetSubtype="32" fill="hold" nodeType="withEffect">
                                  <p:stCondLst>
                                    <p:cond delay="0"/>
                                  </p:stCondLst>
                                  <p:childTnLst>
                                    <p:animEffect transition="out" filter="diamond(out)">
                                      <p:cBhvr>
                                        <p:cTn id="134" dur="2000"/>
                                        <p:tgtEl>
                                          <p:spTgt spid="55"/>
                                        </p:tgtEl>
                                      </p:cBhvr>
                                    </p:animEffect>
                                    <p:set>
                                      <p:cBhvr>
                                        <p:cTn id="135" dur="1" fill="hold">
                                          <p:stCondLst>
                                            <p:cond delay="1999"/>
                                          </p:stCondLst>
                                        </p:cTn>
                                        <p:tgtEl>
                                          <p:spTgt spid="55"/>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51" presetClass="entr" presetSubtype="0" fill="hold" nodeType="clickEffect">
                                  <p:stCondLst>
                                    <p:cond delay="0"/>
                                  </p:stCondLst>
                                  <p:childTnLst>
                                    <p:set>
                                      <p:cBhvr>
                                        <p:cTn id="139" dur="1" fill="hold">
                                          <p:stCondLst>
                                            <p:cond delay="0"/>
                                          </p:stCondLst>
                                        </p:cTn>
                                        <p:tgtEl>
                                          <p:spTgt spid="76"/>
                                        </p:tgtEl>
                                        <p:attrNameLst>
                                          <p:attrName>style.visibility</p:attrName>
                                        </p:attrNameLst>
                                      </p:cBhvr>
                                      <p:to>
                                        <p:strVal val="visible"/>
                                      </p:to>
                                    </p:set>
                                    <p:animEffect transition="in" filter="fade">
                                      <p:cBhvr>
                                        <p:cTn id="140" dur="770" decel="100000"/>
                                        <p:tgtEl>
                                          <p:spTgt spid="76"/>
                                        </p:tgtEl>
                                      </p:cBhvr>
                                    </p:animEffect>
                                    <p:animScale>
                                      <p:cBhvr>
                                        <p:cTn id="141" dur="770" decel="100000"/>
                                        <p:tgtEl>
                                          <p:spTgt spid="76"/>
                                        </p:tgtEl>
                                      </p:cBhvr>
                                      <p:from x="10000" y="10000"/>
                                      <p:to x="200000" y="450000"/>
                                    </p:animScale>
                                    <p:animScale>
                                      <p:cBhvr>
                                        <p:cTn id="142" dur="1230" accel="100000" fill="hold">
                                          <p:stCondLst>
                                            <p:cond delay="770"/>
                                          </p:stCondLst>
                                        </p:cTn>
                                        <p:tgtEl>
                                          <p:spTgt spid="76"/>
                                        </p:tgtEl>
                                      </p:cBhvr>
                                      <p:from x="200000" y="450000"/>
                                      <p:to x="100000" y="100000"/>
                                    </p:animScale>
                                    <p:set>
                                      <p:cBhvr>
                                        <p:cTn id="143" dur="770" fill="hold"/>
                                        <p:tgtEl>
                                          <p:spTgt spid="76"/>
                                        </p:tgtEl>
                                        <p:attrNameLst>
                                          <p:attrName>ppt_x</p:attrName>
                                        </p:attrNameLst>
                                      </p:cBhvr>
                                      <p:to>
                                        <p:strVal val="(0.5)"/>
                                      </p:to>
                                    </p:set>
                                    <p:anim from="(0.5)" to="(#ppt_x)" calcmode="lin" valueType="num">
                                      <p:cBhvr>
                                        <p:cTn id="144" dur="1230" accel="100000" fill="hold">
                                          <p:stCondLst>
                                            <p:cond delay="770"/>
                                          </p:stCondLst>
                                        </p:cTn>
                                        <p:tgtEl>
                                          <p:spTgt spid="76"/>
                                        </p:tgtEl>
                                        <p:attrNameLst>
                                          <p:attrName>ppt_x</p:attrName>
                                        </p:attrNameLst>
                                      </p:cBhvr>
                                    </p:anim>
                                    <p:set>
                                      <p:cBhvr>
                                        <p:cTn id="145" dur="770" fill="hold"/>
                                        <p:tgtEl>
                                          <p:spTgt spid="76"/>
                                        </p:tgtEl>
                                        <p:attrNameLst>
                                          <p:attrName>ppt_y</p:attrName>
                                        </p:attrNameLst>
                                      </p:cBhvr>
                                      <p:to>
                                        <p:strVal val="(#ppt_y+0.4)"/>
                                      </p:to>
                                    </p:set>
                                    <p:anim from="(#ppt_y+0.4)" to="(#ppt_y)" calcmode="lin" valueType="num">
                                      <p:cBhvr>
                                        <p:cTn id="146" dur="1230" accel="100000" fill="hold">
                                          <p:stCondLst>
                                            <p:cond delay="770"/>
                                          </p:stCondLst>
                                        </p:cTn>
                                        <p:tgtEl>
                                          <p:spTgt spid="76"/>
                                        </p:tgtEl>
                                        <p:attrNameLst>
                                          <p:attrName>ppt_y</p:attrName>
                                        </p:attrNameLst>
                                      </p:cBhvr>
                                    </p:anim>
                                  </p:childTnLst>
                                </p:cTn>
                              </p:par>
                              <p:par>
                                <p:cTn id="147" presetID="51" presetClass="entr" presetSubtype="0" fill="hold" nodeType="withEffect">
                                  <p:stCondLst>
                                    <p:cond delay="0"/>
                                  </p:stCondLst>
                                  <p:childTnLst>
                                    <p:set>
                                      <p:cBhvr>
                                        <p:cTn id="148" dur="1" fill="hold">
                                          <p:stCondLst>
                                            <p:cond delay="0"/>
                                          </p:stCondLst>
                                        </p:cTn>
                                        <p:tgtEl>
                                          <p:spTgt spid="77"/>
                                        </p:tgtEl>
                                        <p:attrNameLst>
                                          <p:attrName>style.visibility</p:attrName>
                                        </p:attrNameLst>
                                      </p:cBhvr>
                                      <p:to>
                                        <p:strVal val="visible"/>
                                      </p:to>
                                    </p:set>
                                    <p:animEffect transition="in" filter="fade">
                                      <p:cBhvr>
                                        <p:cTn id="149" dur="770" decel="100000"/>
                                        <p:tgtEl>
                                          <p:spTgt spid="77"/>
                                        </p:tgtEl>
                                      </p:cBhvr>
                                    </p:animEffect>
                                    <p:animScale>
                                      <p:cBhvr>
                                        <p:cTn id="150" dur="770" decel="100000"/>
                                        <p:tgtEl>
                                          <p:spTgt spid="77"/>
                                        </p:tgtEl>
                                      </p:cBhvr>
                                      <p:from x="10000" y="10000"/>
                                      <p:to x="200000" y="450000"/>
                                    </p:animScale>
                                    <p:animScale>
                                      <p:cBhvr>
                                        <p:cTn id="151" dur="1230" accel="100000" fill="hold">
                                          <p:stCondLst>
                                            <p:cond delay="770"/>
                                          </p:stCondLst>
                                        </p:cTn>
                                        <p:tgtEl>
                                          <p:spTgt spid="77"/>
                                        </p:tgtEl>
                                      </p:cBhvr>
                                      <p:from x="200000" y="450000"/>
                                      <p:to x="100000" y="100000"/>
                                    </p:animScale>
                                    <p:set>
                                      <p:cBhvr>
                                        <p:cTn id="152" dur="770" fill="hold"/>
                                        <p:tgtEl>
                                          <p:spTgt spid="77"/>
                                        </p:tgtEl>
                                        <p:attrNameLst>
                                          <p:attrName>ppt_x</p:attrName>
                                        </p:attrNameLst>
                                      </p:cBhvr>
                                      <p:to>
                                        <p:strVal val="(0.5)"/>
                                      </p:to>
                                    </p:set>
                                    <p:anim from="(0.5)" to="(#ppt_x)" calcmode="lin" valueType="num">
                                      <p:cBhvr>
                                        <p:cTn id="153" dur="1230" accel="100000" fill="hold">
                                          <p:stCondLst>
                                            <p:cond delay="770"/>
                                          </p:stCondLst>
                                        </p:cTn>
                                        <p:tgtEl>
                                          <p:spTgt spid="77"/>
                                        </p:tgtEl>
                                        <p:attrNameLst>
                                          <p:attrName>ppt_x</p:attrName>
                                        </p:attrNameLst>
                                      </p:cBhvr>
                                    </p:anim>
                                    <p:set>
                                      <p:cBhvr>
                                        <p:cTn id="154" dur="770" fill="hold"/>
                                        <p:tgtEl>
                                          <p:spTgt spid="77"/>
                                        </p:tgtEl>
                                        <p:attrNameLst>
                                          <p:attrName>ppt_y</p:attrName>
                                        </p:attrNameLst>
                                      </p:cBhvr>
                                      <p:to>
                                        <p:strVal val="(#ppt_y+0.4)"/>
                                      </p:to>
                                    </p:set>
                                    <p:anim from="(#ppt_y+0.4)" to="(#ppt_y)" calcmode="lin" valueType="num">
                                      <p:cBhvr>
                                        <p:cTn id="155" dur="1230" accel="100000" fill="hold">
                                          <p:stCondLst>
                                            <p:cond delay="770"/>
                                          </p:stCondLst>
                                        </p:cTn>
                                        <p:tgtEl>
                                          <p:spTgt spid="77"/>
                                        </p:tgtEl>
                                        <p:attrNameLst>
                                          <p:attrName>ppt_y</p:attrName>
                                        </p:attrNameLst>
                                      </p:cBhvr>
                                    </p:anim>
                                  </p:childTnLst>
                                </p:cTn>
                              </p:par>
                              <p:par>
                                <p:cTn id="156" presetID="51" presetClass="entr" presetSubtype="0" fill="hold" nodeType="withEffect">
                                  <p:stCondLst>
                                    <p:cond delay="0"/>
                                  </p:stCondLst>
                                  <p:childTnLst>
                                    <p:set>
                                      <p:cBhvr>
                                        <p:cTn id="157" dur="1" fill="hold">
                                          <p:stCondLst>
                                            <p:cond delay="0"/>
                                          </p:stCondLst>
                                        </p:cTn>
                                        <p:tgtEl>
                                          <p:spTgt spid="78"/>
                                        </p:tgtEl>
                                        <p:attrNameLst>
                                          <p:attrName>style.visibility</p:attrName>
                                        </p:attrNameLst>
                                      </p:cBhvr>
                                      <p:to>
                                        <p:strVal val="visible"/>
                                      </p:to>
                                    </p:set>
                                    <p:animEffect transition="in" filter="fade">
                                      <p:cBhvr>
                                        <p:cTn id="158" dur="770" decel="100000"/>
                                        <p:tgtEl>
                                          <p:spTgt spid="78"/>
                                        </p:tgtEl>
                                      </p:cBhvr>
                                    </p:animEffect>
                                    <p:animScale>
                                      <p:cBhvr>
                                        <p:cTn id="159" dur="770" decel="100000"/>
                                        <p:tgtEl>
                                          <p:spTgt spid="78"/>
                                        </p:tgtEl>
                                      </p:cBhvr>
                                      <p:from x="10000" y="10000"/>
                                      <p:to x="200000" y="450000"/>
                                    </p:animScale>
                                    <p:animScale>
                                      <p:cBhvr>
                                        <p:cTn id="160" dur="1230" accel="100000" fill="hold">
                                          <p:stCondLst>
                                            <p:cond delay="770"/>
                                          </p:stCondLst>
                                        </p:cTn>
                                        <p:tgtEl>
                                          <p:spTgt spid="78"/>
                                        </p:tgtEl>
                                      </p:cBhvr>
                                      <p:from x="200000" y="450000"/>
                                      <p:to x="100000" y="100000"/>
                                    </p:animScale>
                                    <p:set>
                                      <p:cBhvr>
                                        <p:cTn id="161" dur="770" fill="hold"/>
                                        <p:tgtEl>
                                          <p:spTgt spid="78"/>
                                        </p:tgtEl>
                                        <p:attrNameLst>
                                          <p:attrName>ppt_x</p:attrName>
                                        </p:attrNameLst>
                                      </p:cBhvr>
                                      <p:to>
                                        <p:strVal val="(0.5)"/>
                                      </p:to>
                                    </p:set>
                                    <p:anim from="(0.5)" to="(#ppt_x)" calcmode="lin" valueType="num">
                                      <p:cBhvr>
                                        <p:cTn id="162" dur="1230" accel="100000" fill="hold">
                                          <p:stCondLst>
                                            <p:cond delay="770"/>
                                          </p:stCondLst>
                                        </p:cTn>
                                        <p:tgtEl>
                                          <p:spTgt spid="78"/>
                                        </p:tgtEl>
                                        <p:attrNameLst>
                                          <p:attrName>ppt_x</p:attrName>
                                        </p:attrNameLst>
                                      </p:cBhvr>
                                    </p:anim>
                                    <p:set>
                                      <p:cBhvr>
                                        <p:cTn id="163" dur="770" fill="hold"/>
                                        <p:tgtEl>
                                          <p:spTgt spid="78"/>
                                        </p:tgtEl>
                                        <p:attrNameLst>
                                          <p:attrName>ppt_y</p:attrName>
                                        </p:attrNameLst>
                                      </p:cBhvr>
                                      <p:to>
                                        <p:strVal val="(#ppt_y+0.4)"/>
                                      </p:to>
                                    </p:set>
                                    <p:anim from="(#ppt_y+0.4)" to="(#ppt_y)" calcmode="lin" valueType="num">
                                      <p:cBhvr>
                                        <p:cTn id="164" dur="1230" accel="100000" fill="hold">
                                          <p:stCondLst>
                                            <p:cond delay="770"/>
                                          </p:stCondLst>
                                        </p:cTn>
                                        <p:tgtEl>
                                          <p:spTgt spid="78"/>
                                        </p:tgtEl>
                                        <p:attrNameLst>
                                          <p:attrName>ppt_y</p:attrName>
                                        </p:attrNameLst>
                                      </p:cBhvr>
                                    </p:anim>
                                  </p:childTnLst>
                                </p:cTn>
                              </p:par>
                              <p:par>
                                <p:cTn id="165" presetID="51" presetClass="entr" presetSubtype="0" fill="hold" nodeType="withEffect">
                                  <p:stCondLst>
                                    <p:cond delay="0"/>
                                  </p:stCondLst>
                                  <p:childTnLst>
                                    <p:set>
                                      <p:cBhvr>
                                        <p:cTn id="166" dur="1" fill="hold">
                                          <p:stCondLst>
                                            <p:cond delay="0"/>
                                          </p:stCondLst>
                                        </p:cTn>
                                        <p:tgtEl>
                                          <p:spTgt spid="79"/>
                                        </p:tgtEl>
                                        <p:attrNameLst>
                                          <p:attrName>style.visibility</p:attrName>
                                        </p:attrNameLst>
                                      </p:cBhvr>
                                      <p:to>
                                        <p:strVal val="visible"/>
                                      </p:to>
                                    </p:set>
                                    <p:animEffect transition="in" filter="fade">
                                      <p:cBhvr>
                                        <p:cTn id="167" dur="770" decel="100000"/>
                                        <p:tgtEl>
                                          <p:spTgt spid="79"/>
                                        </p:tgtEl>
                                      </p:cBhvr>
                                    </p:animEffect>
                                    <p:animScale>
                                      <p:cBhvr>
                                        <p:cTn id="168" dur="770" decel="100000"/>
                                        <p:tgtEl>
                                          <p:spTgt spid="79"/>
                                        </p:tgtEl>
                                      </p:cBhvr>
                                      <p:from x="10000" y="10000"/>
                                      <p:to x="200000" y="450000"/>
                                    </p:animScale>
                                    <p:animScale>
                                      <p:cBhvr>
                                        <p:cTn id="169" dur="1230" accel="100000" fill="hold">
                                          <p:stCondLst>
                                            <p:cond delay="770"/>
                                          </p:stCondLst>
                                        </p:cTn>
                                        <p:tgtEl>
                                          <p:spTgt spid="79"/>
                                        </p:tgtEl>
                                      </p:cBhvr>
                                      <p:from x="200000" y="450000"/>
                                      <p:to x="100000" y="100000"/>
                                    </p:animScale>
                                    <p:set>
                                      <p:cBhvr>
                                        <p:cTn id="170" dur="770" fill="hold"/>
                                        <p:tgtEl>
                                          <p:spTgt spid="79"/>
                                        </p:tgtEl>
                                        <p:attrNameLst>
                                          <p:attrName>ppt_x</p:attrName>
                                        </p:attrNameLst>
                                      </p:cBhvr>
                                      <p:to>
                                        <p:strVal val="(0.5)"/>
                                      </p:to>
                                    </p:set>
                                    <p:anim from="(0.5)" to="(#ppt_x)" calcmode="lin" valueType="num">
                                      <p:cBhvr>
                                        <p:cTn id="171" dur="1230" accel="100000" fill="hold">
                                          <p:stCondLst>
                                            <p:cond delay="770"/>
                                          </p:stCondLst>
                                        </p:cTn>
                                        <p:tgtEl>
                                          <p:spTgt spid="79"/>
                                        </p:tgtEl>
                                        <p:attrNameLst>
                                          <p:attrName>ppt_x</p:attrName>
                                        </p:attrNameLst>
                                      </p:cBhvr>
                                    </p:anim>
                                    <p:set>
                                      <p:cBhvr>
                                        <p:cTn id="172" dur="770" fill="hold"/>
                                        <p:tgtEl>
                                          <p:spTgt spid="79"/>
                                        </p:tgtEl>
                                        <p:attrNameLst>
                                          <p:attrName>ppt_y</p:attrName>
                                        </p:attrNameLst>
                                      </p:cBhvr>
                                      <p:to>
                                        <p:strVal val="(#ppt_y+0.4)"/>
                                      </p:to>
                                    </p:set>
                                    <p:anim from="(#ppt_y+0.4)" to="(#ppt_y)" calcmode="lin" valueType="num">
                                      <p:cBhvr>
                                        <p:cTn id="173" dur="1230" accel="100000" fill="hold">
                                          <p:stCondLst>
                                            <p:cond delay="770"/>
                                          </p:stCondLst>
                                        </p:cTn>
                                        <p:tgtEl>
                                          <p:spTgt spid="79"/>
                                        </p:tgtEl>
                                        <p:attrNameLst>
                                          <p:attrName>ppt_y</p:attrName>
                                        </p:attrNameLst>
                                      </p:cBhvr>
                                    </p:anim>
                                  </p:childTnLst>
                                </p:cTn>
                              </p:par>
                              <p:par>
                                <p:cTn id="174" presetID="51" presetClass="entr" presetSubtype="0" fill="hold" nodeType="withEffect">
                                  <p:stCondLst>
                                    <p:cond delay="0"/>
                                  </p:stCondLst>
                                  <p:childTnLst>
                                    <p:set>
                                      <p:cBhvr>
                                        <p:cTn id="175" dur="1" fill="hold">
                                          <p:stCondLst>
                                            <p:cond delay="0"/>
                                          </p:stCondLst>
                                        </p:cTn>
                                        <p:tgtEl>
                                          <p:spTgt spid="80"/>
                                        </p:tgtEl>
                                        <p:attrNameLst>
                                          <p:attrName>style.visibility</p:attrName>
                                        </p:attrNameLst>
                                      </p:cBhvr>
                                      <p:to>
                                        <p:strVal val="visible"/>
                                      </p:to>
                                    </p:set>
                                    <p:animEffect transition="in" filter="fade">
                                      <p:cBhvr>
                                        <p:cTn id="176" dur="770" decel="100000"/>
                                        <p:tgtEl>
                                          <p:spTgt spid="80"/>
                                        </p:tgtEl>
                                      </p:cBhvr>
                                    </p:animEffect>
                                    <p:animScale>
                                      <p:cBhvr>
                                        <p:cTn id="177" dur="770" decel="100000"/>
                                        <p:tgtEl>
                                          <p:spTgt spid="80"/>
                                        </p:tgtEl>
                                      </p:cBhvr>
                                      <p:from x="10000" y="10000"/>
                                      <p:to x="200000" y="450000"/>
                                    </p:animScale>
                                    <p:animScale>
                                      <p:cBhvr>
                                        <p:cTn id="178" dur="1230" accel="100000" fill="hold">
                                          <p:stCondLst>
                                            <p:cond delay="770"/>
                                          </p:stCondLst>
                                        </p:cTn>
                                        <p:tgtEl>
                                          <p:spTgt spid="80"/>
                                        </p:tgtEl>
                                      </p:cBhvr>
                                      <p:from x="200000" y="450000"/>
                                      <p:to x="100000" y="100000"/>
                                    </p:animScale>
                                    <p:set>
                                      <p:cBhvr>
                                        <p:cTn id="179" dur="770" fill="hold"/>
                                        <p:tgtEl>
                                          <p:spTgt spid="80"/>
                                        </p:tgtEl>
                                        <p:attrNameLst>
                                          <p:attrName>ppt_x</p:attrName>
                                        </p:attrNameLst>
                                      </p:cBhvr>
                                      <p:to>
                                        <p:strVal val="(0.5)"/>
                                      </p:to>
                                    </p:set>
                                    <p:anim from="(0.5)" to="(#ppt_x)" calcmode="lin" valueType="num">
                                      <p:cBhvr>
                                        <p:cTn id="180" dur="1230" accel="100000" fill="hold">
                                          <p:stCondLst>
                                            <p:cond delay="770"/>
                                          </p:stCondLst>
                                        </p:cTn>
                                        <p:tgtEl>
                                          <p:spTgt spid="80"/>
                                        </p:tgtEl>
                                        <p:attrNameLst>
                                          <p:attrName>ppt_x</p:attrName>
                                        </p:attrNameLst>
                                      </p:cBhvr>
                                    </p:anim>
                                    <p:set>
                                      <p:cBhvr>
                                        <p:cTn id="181" dur="770" fill="hold"/>
                                        <p:tgtEl>
                                          <p:spTgt spid="80"/>
                                        </p:tgtEl>
                                        <p:attrNameLst>
                                          <p:attrName>ppt_y</p:attrName>
                                        </p:attrNameLst>
                                      </p:cBhvr>
                                      <p:to>
                                        <p:strVal val="(#ppt_y+0.4)"/>
                                      </p:to>
                                    </p:set>
                                    <p:anim from="(#ppt_y+0.4)" to="(#ppt_y)" calcmode="lin" valueType="num">
                                      <p:cBhvr>
                                        <p:cTn id="182" dur="1230" accel="100000" fill="hold">
                                          <p:stCondLst>
                                            <p:cond delay="770"/>
                                          </p:stCondLst>
                                        </p:cTn>
                                        <p:tgtEl>
                                          <p:spTgt spid="80"/>
                                        </p:tgtEl>
                                        <p:attrNameLst>
                                          <p:attrName>ppt_y</p:attrName>
                                        </p:attrNameLst>
                                      </p:cBhvr>
                                    </p:anim>
                                  </p:childTnLst>
                                </p:cTn>
                              </p:par>
                              <p:par>
                                <p:cTn id="183" presetID="51" presetClass="entr" presetSubtype="0" fill="hold" nodeType="withEffect">
                                  <p:stCondLst>
                                    <p:cond delay="0"/>
                                  </p:stCondLst>
                                  <p:childTnLst>
                                    <p:set>
                                      <p:cBhvr>
                                        <p:cTn id="184" dur="1" fill="hold">
                                          <p:stCondLst>
                                            <p:cond delay="0"/>
                                          </p:stCondLst>
                                        </p:cTn>
                                        <p:tgtEl>
                                          <p:spTgt spid="81"/>
                                        </p:tgtEl>
                                        <p:attrNameLst>
                                          <p:attrName>style.visibility</p:attrName>
                                        </p:attrNameLst>
                                      </p:cBhvr>
                                      <p:to>
                                        <p:strVal val="visible"/>
                                      </p:to>
                                    </p:set>
                                    <p:animEffect transition="in" filter="fade">
                                      <p:cBhvr>
                                        <p:cTn id="185" dur="770" decel="100000"/>
                                        <p:tgtEl>
                                          <p:spTgt spid="81"/>
                                        </p:tgtEl>
                                      </p:cBhvr>
                                    </p:animEffect>
                                    <p:animScale>
                                      <p:cBhvr>
                                        <p:cTn id="186" dur="770" decel="100000"/>
                                        <p:tgtEl>
                                          <p:spTgt spid="81"/>
                                        </p:tgtEl>
                                      </p:cBhvr>
                                      <p:from x="10000" y="10000"/>
                                      <p:to x="200000" y="450000"/>
                                    </p:animScale>
                                    <p:animScale>
                                      <p:cBhvr>
                                        <p:cTn id="187" dur="1230" accel="100000" fill="hold">
                                          <p:stCondLst>
                                            <p:cond delay="770"/>
                                          </p:stCondLst>
                                        </p:cTn>
                                        <p:tgtEl>
                                          <p:spTgt spid="81"/>
                                        </p:tgtEl>
                                      </p:cBhvr>
                                      <p:from x="200000" y="450000"/>
                                      <p:to x="100000" y="100000"/>
                                    </p:animScale>
                                    <p:set>
                                      <p:cBhvr>
                                        <p:cTn id="188" dur="770" fill="hold"/>
                                        <p:tgtEl>
                                          <p:spTgt spid="81"/>
                                        </p:tgtEl>
                                        <p:attrNameLst>
                                          <p:attrName>ppt_x</p:attrName>
                                        </p:attrNameLst>
                                      </p:cBhvr>
                                      <p:to>
                                        <p:strVal val="(0.5)"/>
                                      </p:to>
                                    </p:set>
                                    <p:anim from="(0.5)" to="(#ppt_x)" calcmode="lin" valueType="num">
                                      <p:cBhvr>
                                        <p:cTn id="189" dur="1230" accel="100000" fill="hold">
                                          <p:stCondLst>
                                            <p:cond delay="770"/>
                                          </p:stCondLst>
                                        </p:cTn>
                                        <p:tgtEl>
                                          <p:spTgt spid="81"/>
                                        </p:tgtEl>
                                        <p:attrNameLst>
                                          <p:attrName>ppt_x</p:attrName>
                                        </p:attrNameLst>
                                      </p:cBhvr>
                                    </p:anim>
                                    <p:set>
                                      <p:cBhvr>
                                        <p:cTn id="190" dur="770" fill="hold"/>
                                        <p:tgtEl>
                                          <p:spTgt spid="81"/>
                                        </p:tgtEl>
                                        <p:attrNameLst>
                                          <p:attrName>ppt_y</p:attrName>
                                        </p:attrNameLst>
                                      </p:cBhvr>
                                      <p:to>
                                        <p:strVal val="(#ppt_y+0.4)"/>
                                      </p:to>
                                    </p:set>
                                    <p:anim from="(#ppt_y+0.4)" to="(#ppt_y)" calcmode="lin" valueType="num">
                                      <p:cBhvr>
                                        <p:cTn id="191" dur="1230" accel="100000" fill="hold">
                                          <p:stCondLst>
                                            <p:cond delay="770"/>
                                          </p:stCondLst>
                                        </p:cTn>
                                        <p:tgtEl>
                                          <p:spTgt spid="81"/>
                                        </p:tgtEl>
                                        <p:attrNameLst>
                                          <p:attrName>ppt_y</p:attrName>
                                        </p:attrNameLst>
                                      </p:cBhvr>
                                    </p:anim>
                                  </p:childTnLst>
                                </p:cTn>
                              </p:par>
                              <p:par>
                                <p:cTn id="192" presetID="51" presetClass="entr" presetSubtype="0" fill="hold" nodeType="withEffect">
                                  <p:stCondLst>
                                    <p:cond delay="0"/>
                                  </p:stCondLst>
                                  <p:childTnLst>
                                    <p:set>
                                      <p:cBhvr>
                                        <p:cTn id="193" dur="1" fill="hold">
                                          <p:stCondLst>
                                            <p:cond delay="0"/>
                                          </p:stCondLst>
                                        </p:cTn>
                                        <p:tgtEl>
                                          <p:spTgt spid="82"/>
                                        </p:tgtEl>
                                        <p:attrNameLst>
                                          <p:attrName>style.visibility</p:attrName>
                                        </p:attrNameLst>
                                      </p:cBhvr>
                                      <p:to>
                                        <p:strVal val="visible"/>
                                      </p:to>
                                    </p:set>
                                    <p:animEffect transition="in" filter="fade">
                                      <p:cBhvr>
                                        <p:cTn id="194" dur="770" decel="100000"/>
                                        <p:tgtEl>
                                          <p:spTgt spid="82"/>
                                        </p:tgtEl>
                                      </p:cBhvr>
                                    </p:animEffect>
                                    <p:animScale>
                                      <p:cBhvr>
                                        <p:cTn id="195" dur="770" decel="100000"/>
                                        <p:tgtEl>
                                          <p:spTgt spid="82"/>
                                        </p:tgtEl>
                                      </p:cBhvr>
                                      <p:from x="10000" y="10000"/>
                                      <p:to x="200000" y="450000"/>
                                    </p:animScale>
                                    <p:animScale>
                                      <p:cBhvr>
                                        <p:cTn id="196" dur="1230" accel="100000" fill="hold">
                                          <p:stCondLst>
                                            <p:cond delay="770"/>
                                          </p:stCondLst>
                                        </p:cTn>
                                        <p:tgtEl>
                                          <p:spTgt spid="82"/>
                                        </p:tgtEl>
                                      </p:cBhvr>
                                      <p:from x="200000" y="450000"/>
                                      <p:to x="100000" y="100000"/>
                                    </p:animScale>
                                    <p:set>
                                      <p:cBhvr>
                                        <p:cTn id="197" dur="770" fill="hold"/>
                                        <p:tgtEl>
                                          <p:spTgt spid="82"/>
                                        </p:tgtEl>
                                        <p:attrNameLst>
                                          <p:attrName>ppt_x</p:attrName>
                                        </p:attrNameLst>
                                      </p:cBhvr>
                                      <p:to>
                                        <p:strVal val="(0.5)"/>
                                      </p:to>
                                    </p:set>
                                    <p:anim from="(0.5)" to="(#ppt_x)" calcmode="lin" valueType="num">
                                      <p:cBhvr>
                                        <p:cTn id="198" dur="1230" accel="100000" fill="hold">
                                          <p:stCondLst>
                                            <p:cond delay="770"/>
                                          </p:stCondLst>
                                        </p:cTn>
                                        <p:tgtEl>
                                          <p:spTgt spid="82"/>
                                        </p:tgtEl>
                                        <p:attrNameLst>
                                          <p:attrName>ppt_x</p:attrName>
                                        </p:attrNameLst>
                                      </p:cBhvr>
                                    </p:anim>
                                    <p:set>
                                      <p:cBhvr>
                                        <p:cTn id="199" dur="770" fill="hold"/>
                                        <p:tgtEl>
                                          <p:spTgt spid="82"/>
                                        </p:tgtEl>
                                        <p:attrNameLst>
                                          <p:attrName>ppt_y</p:attrName>
                                        </p:attrNameLst>
                                      </p:cBhvr>
                                      <p:to>
                                        <p:strVal val="(#ppt_y+0.4)"/>
                                      </p:to>
                                    </p:set>
                                    <p:anim from="(#ppt_y+0.4)" to="(#ppt_y)" calcmode="lin" valueType="num">
                                      <p:cBhvr>
                                        <p:cTn id="200" dur="1230" accel="100000" fill="hold">
                                          <p:stCondLst>
                                            <p:cond delay="770"/>
                                          </p:stCondLst>
                                        </p:cTn>
                                        <p:tgtEl>
                                          <p:spTgt spid="82"/>
                                        </p:tgtEl>
                                        <p:attrNameLst>
                                          <p:attrName>ppt_y</p:attrName>
                                        </p:attrNameLst>
                                      </p:cBhvr>
                                    </p:anim>
                                  </p:childTnLst>
                                </p:cTn>
                              </p:par>
                              <p:par>
                                <p:cTn id="201" presetID="51" presetClass="entr" presetSubtype="0" fill="hold" nodeType="withEffect">
                                  <p:stCondLst>
                                    <p:cond delay="0"/>
                                  </p:stCondLst>
                                  <p:childTnLst>
                                    <p:set>
                                      <p:cBhvr>
                                        <p:cTn id="202" dur="1" fill="hold">
                                          <p:stCondLst>
                                            <p:cond delay="0"/>
                                          </p:stCondLst>
                                        </p:cTn>
                                        <p:tgtEl>
                                          <p:spTgt spid="83"/>
                                        </p:tgtEl>
                                        <p:attrNameLst>
                                          <p:attrName>style.visibility</p:attrName>
                                        </p:attrNameLst>
                                      </p:cBhvr>
                                      <p:to>
                                        <p:strVal val="visible"/>
                                      </p:to>
                                    </p:set>
                                    <p:animEffect transition="in" filter="fade">
                                      <p:cBhvr>
                                        <p:cTn id="203" dur="770" decel="100000"/>
                                        <p:tgtEl>
                                          <p:spTgt spid="83"/>
                                        </p:tgtEl>
                                      </p:cBhvr>
                                    </p:animEffect>
                                    <p:animScale>
                                      <p:cBhvr>
                                        <p:cTn id="204" dur="770" decel="100000"/>
                                        <p:tgtEl>
                                          <p:spTgt spid="83"/>
                                        </p:tgtEl>
                                      </p:cBhvr>
                                      <p:from x="10000" y="10000"/>
                                      <p:to x="200000" y="450000"/>
                                    </p:animScale>
                                    <p:animScale>
                                      <p:cBhvr>
                                        <p:cTn id="205" dur="1230" accel="100000" fill="hold">
                                          <p:stCondLst>
                                            <p:cond delay="770"/>
                                          </p:stCondLst>
                                        </p:cTn>
                                        <p:tgtEl>
                                          <p:spTgt spid="83"/>
                                        </p:tgtEl>
                                      </p:cBhvr>
                                      <p:from x="200000" y="450000"/>
                                      <p:to x="100000" y="100000"/>
                                    </p:animScale>
                                    <p:set>
                                      <p:cBhvr>
                                        <p:cTn id="206" dur="770" fill="hold"/>
                                        <p:tgtEl>
                                          <p:spTgt spid="83"/>
                                        </p:tgtEl>
                                        <p:attrNameLst>
                                          <p:attrName>ppt_x</p:attrName>
                                        </p:attrNameLst>
                                      </p:cBhvr>
                                      <p:to>
                                        <p:strVal val="(0.5)"/>
                                      </p:to>
                                    </p:set>
                                    <p:anim from="(0.5)" to="(#ppt_x)" calcmode="lin" valueType="num">
                                      <p:cBhvr>
                                        <p:cTn id="207" dur="1230" accel="100000" fill="hold">
                                          <p:stCondLst>
                                            <p:cond delay="770"/>
                                          </p:stCondLst>
                                        </p:cTn>
                                        <p:tgtEl>
                                          <p:spTgt spid="83"/>
                                        </p:tgtEl>
                                        <p:attrNameLst>
                                          <p:attrName>ppt_x</p:attrName>
                                        </p:attrNameLst>
                                      </p:cBhvr>
                                    </p:anim>
                                    <p:set>
                                      <p:cBhvr>
                                        <p:cTn id="208" dur="770" fill="hold"/>
                                        <p:tgtEl>
                                          <p:spTgt spid="83"/>
                                        </p:tgtEl>
                                        <p:attrNameLst>
                                          <p:attrName>ppt_y</p:attrName>
                                        </p:attrNameLst>
                                      </p:cBhvr>
                                      <p:to>
                                        <p:strVal val="(#ppt_y+0.4)"/>
                                      </p:to>
                                    </p:set>
                                    <p:anim from="(#ppt_y+0.4)" to="(#ppt_y)" calcmode="lin" valueType="num">
                                      <p:cBhvr>
                                        <p:cTn id="209" dur="1230" accel="100000" fill="hold">
                                          <p:stCondLst>
                                            <p:cond delay="770"/>
                                          </p:stCondLst>
                                        </p:cTn>
                                        <p:tgtEl>
                                          <p:spTgt spid="83"/>
                                        </p:tgtEl>
                                        <p:attrNameLst>
                                          <p:attrName>ppt_y</p:attrName>
                                        </p:attrNameLst>
                                      </p:cBhvr>
                                    </p:anim>
                                  </p:childTnLst>
                                </p:cTn>
                              </p:par>
                              <p:par>
                                <p:cTn id="210" presetID="51" presetClass="entr" presetSubtype="0" fill="hold" nodeType="withEffect">
                                  <p:stCondLst>
                                    <p:cond delay="0"/>
                                  </p:stCondLst>
                                  <p:childTnLst>
                                    <p:set>
                                      <p:cBhvr>
                                        <p:cTn id="211" dur="1" fill="hold">
                                          <p:stCondLst>
                                            <p:cond delay="0"/>
                                          </p:stCondLst>
                                        </p:cTn>
                                        <p:tgtEl>
                                          <p:spTgt spid="84"/>
                                        </p:tgtEl>
                                        <p:attrNameLst>
                                          <p:attrName>style.visibility</p:attrName>
                                        </p:attrNameLst>
                                      </p:cBhvr>
                                      <p:to>
                                        <p:strVal val="visible"/>
                                      </p:to>
                                    </p:set>
                                    <p:animEffect transition="in" filter="fade">
                                      <p:cBhvr>
                                        <p:cTn id="212" dur="770" decel="100000"/>
                                        <p:tgtEl>
                                          <p:spTgt spid="84"/>
                                        </p:tgtEl>
                                      </p:cBhvr>
                                    </p:animEffect>
                                    <p:animScale>
                                      <p:cBhvr>
                                        <p:cTn id="213" dur="770" decel="100000"/>
                                        <p:tgtEl>
                                          <p:spTgt spid="84"/>
                                        </p:tgtEl>
                                      </p:cBhvr>
                                      <p:from x="10000" y="10000"/>
                                      <p:to x="200000" y="450000"/>
                                    </p:animScale>
                                    <p:animScale>
                                      <p:cBhvr>
                                        <p:cTn id="214" dur="1230" accel="100000" fill="hold">
                                          <p:stCondLst>
                                            <p:cond delay="770"/>
                                          </p:stCondLst>
                                        </p:cTn>
                                        <p:tgtEl>
                                          <p:spTgt spid="84"/>
                                        </p:tgtEl>
                                      </p:cBhvr>
                                      <p:from x="200000" y="450000"/>
                                      <p:to x="100000" y="100000"/>
                                    </p:animScale>
                                    <p:set>
                                      <p:cBhvr>
                                        <p:cTn id="215" dur="770" fill="hold"/>
                                        <p:tgtEl>
                                          <p:spTgt spid="84"/>
                                        </p:tgtEl>
                                        <p:attrNameLst>
                                          <p:attrName>ppt_x</p:attrName>
                                        </p:attrNameLst>
                                      </p:cBhvr>
                                      <p:to>
                                        <p:strVal val="(0.5)"/>
                                      </p:to>
                                    </p:set>
                                    <p:anim from="(0.5)" to="(#ppt_x)" calcmode="lin" valueType="num">
                                      <p:cBhvr>
                                        <p:cTn id="216" dur="1230" accel="100000" fill="hold">
                                          <p:stCondLst>
                                            <p:cond delay="770"/>
                                          </p:stCondLst>
                                        </p:cTn>
                                        <p:tgtEl>
                                          <p:spTgt spid="84"/>
                                        </p:tgtEl>
                                        <p:attrNameLst>
                                          <p:attrName>ppt_x</p:attrName>
                                        </p:attrNameLst>
                                      </p:cBhvr>
                                    </p:anim>
                                    <p:set>
                                      <p:cBhvr>
                                        <p:cTn id="217" dur="770" fill="hold"/>
                                        <p:tgtEl>
                                          <p:spTgt spid="84"/>
                                        </p:tgtEl>
                                        <p:attrNameLst>
                                          <p:attrName>ppt_y</p:attrName>
                                        </p:attrNameLst>
                                      </p:cBhvr>
                                      <p:to>
                                        <p:strVal val="(#ppt_y+0.4)"/>
                                      </p:to>
                                    </p:set>
                                    <p:anim from="(#ppt_y+0.4)" to="(#ppt_y)" calcmode="lin" valueType="num">
                                      <p:cBhvr>
                                        <p:cTn id="218" dur="1230" accel="100000" fill="hold">
                                          <p:stCondLst>
                                            <p:cond delay="770"/>
                                          </p:stCondLst>
                                        </p:cTn>
                                        <p:tgtEl>
                                          <p:spTgt spid="84"/>
                                        </p:tgtEl>
                                        <p:attrNameLst>
                                          <p:attrName>ppt_y</p:attrName>
                                        </p:attrNameLst>
                                      </p:cBhvr>
                                    </p:anim>
                                  </p:childTnLst>
                                </p:cTn>
                              </p:par>
                              <p:par>
                                <p:cTn id="219" presetID="51" presetClass="entr" presetSubtype="0" fill="hold" nodeType="withEffect">
                                  <p:stCondLst>
                                    <p:cond delay="0"/>
                                  </p:stCondLst>
                                  <p:childTnLst>
                                    <p:set>
                                      <p:cBhvr>
                                        <p:cTn id="220" dur="1" fill="hold">
                                          <p:stCondLst>
                                            <p:cond delay="0"/>
                                          </p:stCondLst>
                                        </p:cTn>
                                        <p:tgtEl>
                                          <p:spTgt spid="85"/>
                                        </p:tgtEl>
                                        <p:attrNameLst>
                                          <p:attrName>style.visibility</p:attrName>
                                        </p:attrNameLst>
                                      </p:cBhvr>
                                      <p:to>
                                        <p:strVal val="visible"/>
                                      </p:to>
                                    </p:set>
                                    <p:animEffect transition="in" filter="fade">
                                      <p:cBhvr>
                                        <p:cTn id="221" dur="770" decel="100000"/>
                                        <p:tgtEl>
                                          <p:spTgt spid="85"/>
                                        </p:tgtEl>
                                      </p:cBhvr>
                                    </p:animEffect>
                                    <p:animScale>
                                      <p:cBhvr>
                                        <p:cTn id="222" dur="770" decel="100000"/>
                                        <p:tgtEl>
                                          <p:spTgt spid="85"/>
                                        </p:tgtEl>
                                      </p:cBhvr>
                                      <p:from x="10000" y="10000"/>
                                      <p:to x="200000" y="450000"/>
                                    </p:animScale>
                                    <p:animScale>
                                      <p:cBhvr>
                                        <p:cTn id="223" dur="1230" accel="100000" fill="hold">
                                          <p:stCondLst>
                                            <p:cond delay="770"/>
                                          </p:stCondLst>
                                        </p:cTn>
                                        <p:tgtEl>
                                          <p:spTgt spid="85"/>
                                        </p:tgtEl>
                                      </p:cBhvr>
                                      <p:from x="200000" y="450000"/>
                                      <p:to x="100000" y="100000"/>
                                    </p:animScale>
                                    <p:set>
                                      <p:cBhvr>
                                        <p:cTn id="224" dur="770" fill="hold"/>
                                        <p:tgtEl>
                                          <p:spTgt spid="85"/>
                                        </p:tgtEl>
                                        <p:attrNameLst>
                                          <p:attrName>ppt_x</p:attrName>
                                        </p:attrNameLst>
                                      </p:cBhvr>
                                      <p:to>
                                        <p:strVal val="(0.5)"/>
                                      </p:to>
                                    </p:set>
                                    <p:anim from="(0.5)" to="(#ppt_x)" calcmode="lin" valueType="num">
                                      <p:cBhvr>
                                        <p:cTn id="225" dur="1230" accel="100000" fill="hold">
                                          <p:stCondLst>
                                            <p:cond delay="770"/>
                                          </p:stCondLst>
                                        </p:cTn>
                                        <p:tgtEl>
                                          <p:spTgt spid="85"/>
                                        </p:tgtEl>
                                        <p:attrNameLst>
                                          <p:attrName>ppt_x</p:attrName>
                                        </p:attrNameLst>
                                      </p:cBhvr>
                                    </p:anim>
                                    <p:set>
                                      <p:cBhvr>
                                        <p:cTn id="226" dur="770" fill="hold"/>
                                        <p:tgtEl>
                                          <p:spTgt spid="85"/>
                                        </p:tgtEl>
                                        <p:attrNameLst>
                                          <p:attrName>ppt_y</p:attrName>
                                        </p:attrNameLst>
                                      </p:cBhvr>
                                      <p:to>
                                        <p:strVal val="(#ppt_y+0.4)"/>
                                      </p:to>
                                    </p:set>
                                    <p:anim from="(#ppt_y+0.4)" to="(#ppt_y)" calcmode="lin" valueType="num">
                                      <p:cBhvr>
                                        <p:cTn id="227" dur="1230" accel="100000" fill="hold">
                                          <p:stCondLst>
                                            <p:cond delay="770"/>
                                          </p:stCondLst>
                                        </p:cTn>
                                        <p:tgtEl>
                                          <p:spTgt spid="85"/>
                                        </p:tgtEl>
                                        <p:attrNameLst>
                                          <p:attrName>ppt_y</p:attrName>
                                        </p:attrNameLst>
                                      </p:cBhvr>
                                    </p:anim>
                                  </p:childTnLst>
                                </p:cTn>
                              </p:par>
                              <p:par>
                                <p:cTn id="228" presetID="51" presetClass="entr" presetSubtype="0" fill="hold" nodeType="withEffect">
                                  <p:stCondLst>
                                    <p:cond delay="0"/>
                                  </p:stCondLst>
                                  <p:childTnLst>
                                    <p:set>
                                      <p:cBhvr>
                                        <p:cTn id="229" dur="1" fill="hold">
                                          <p:stCondLst>
                                            <p:cond delay="0"/>
                                          </p:stCondLst>
                                        </p:cTn>
                                        <p:tgtEl>
                                          <p:spTgt spid="86"/>
                                        </p:tgtEl>
                                        <p:attrNameLst>
                                          <p:attrName>style.visibility</p:attrName>
                                        </p:attrNameLst>
                                      </p:cBhvr>
                                      <p:to>
                                        <p:strVal val="visible"/>
                                      </p:to>
                                    </p:set>
                                    <p:animEffect transition="in" filter="fade">
                                      <p:cBhvr>
                                        <p:cTn id="230" dur="770" decel="100000"/>
                                        <p:tgtEl>
                                          <p:spTgt spid="86"/>
                                        </p:tgtEl>
                                      </p:cBhvr>
                                    </p:animEffect>
                                    <p:animScale>
                                      <p:cBhvr>
                                        <p:cTn id="231" dur="770" decel="100000"/>
                                        <p:tgtEl>
                                          <p:spTgt spid="86"/>
                                        </p:tgtEl>
                                      </p:cBhvr>
                                      <p:from x="10000" y="10000"/>
                                      <p:to x="200000" y="450000"/>
                                    </p:animScale>
                                    <p:animScale>
                                      <p:cBhvr>
                                        <p:cTn id="232" dur="1230" accel="100000" fill="hold">
                                          <p:stCondLst>
                                            <p:cond delay="770"/>
                                          </p:stCondLst>
                                        </p:cTn>
                                        <p:tgtEl>
                                          <p:spTgt spid="86"/>
                                        </p:tgtEl>
                                      </p:cBhvr>
                                      <p:from x="200000" y="450000"/>
                                      <p:to x="100000" y="100000"/>
                                    </p:animScale>
                                    <p:set>
                                      <p:cBhvr>
                                        <p:cTn id="233" dur="770" fill="hold"/>
                                        <p:tgtEl>
                                          <p:spTgt spid="86"/>
                                        </p:tgtEl>
                                        <p:attrNameLst>
                                          <p:attrName>ppt_x</p:attrName>
                                        </p:attrNameLst>
                                      </p:cBhvr>
                                      <p:to>
                                        <p:strVal val="(0.5)"/>
                                      </p:to>
                                    </p:set>
                                    <p:anim from="(0.5)" to="(#ppt_x)" calcmode="lin" valueType="num">
                                      <p:cBhvr>
                                        <p:cTn id="234" dur="1230" accel="100000" fill="hold">
                                          <p:stCondLst>
                                            <p:cond delay="770"/>
                                          </p:stCondLst>
                                        </p:cTn>
                                        <p:tgtEl>
                                          <p:spTgt spid="86"/>
                                        </p:tgtEl>
                                        <p:attrNameLst>
                                          <p:attrName>ppt_x</p:attrName>
                                        </p:attrNameLst>
                                      </p:cBhvr>
                                    </p:anim>
                                    <p:set>
                                      <p:cBhvr>
                                        <p:cTn id="235" dur="770" fill="hold"/>
                                        <p:tgtEl>
                                          <p:spTgt spid="86"/>
                                        </p:tgtEl>
                                        <p:attrNameLst>
                                          <p:attrName>ppt_y</p:attrName>
                                        </p:attrNameLst>
                                      </p:cBhvr>
                                      <p:to>
                                        <p:strVal val="(#ppt_y+0.4)"/>
                                      </p:to>
                                    </p:set>
                                    <p:anim from="(#ppt_y+0.4)" to="(#ppt_y)" calcmode="lin" valueType="num">
                                      <p:cBhvr>
                                        <p:cTn id="236" dur="1230" accel="100000" fill="hold">
                                          <p:stCondLst>
                                            <p:cond delay="770"/>
                                          </p:stCondLst>
                                        </p:cTn>
                                        <p:tgtEl>
                                          <p:spTgt spid="86"/>
                                        </p:tgtEl>
                                        <p:attrNameLst>
                                          <p:attrName>ppt_y</p:attrName>
                                        </p:attrNameLst>
                                      </p:cBhvr>
                                    </p:anim>
                                  </p:childTnLst>
                                </p:cTn>
                              </p:par>
                              <p:par>
                                <p:cTn id="237" presetID="51" presetClass="entr" presetSubtype="0" fill="hold" nodeType="withEffect">
                                  <p:stCondLst>
                                    <p:cond delay="0"/>
                                  </p:stCondLst>
                                  <p:childTnLst>
                                    <p:set>
                                      <p:cBhvr>
                                        <p:cTn id="238" dur="1" fill="hold">
                                          <p:stCondLst>
                                            <p:cond delay="0"/>
                                          </p:stCondLst>
                                        </p:cTn>
                                        <p:tgtEl>
                                          <p:spTgt spid="87"/>
                                        </p:tgtEl>
                                        <p:attrNameLst>
                                          <p:attrName>style.visibility</p:attrName>
                                        </p:attrNameLst>
                                      </p:cBhvr>
                                      <p:to>
                                        <p:strVal val="visible"/>
                                      </p:to>
                                    </p:set>
                                    <p:animEffect transition="in" filter="fade">
                                      <p:cBhvr>
                                        <p:cTn id="239" dur="770" decel="100000"/>
                                        <p:tgtEl>
                                          <p:spTgt spid="87"/>
                                        </p:tgtEl>
                                      </p:cBhvr>
                                    </p:animEffect>
                                    <p:animScale>
                                      <p:cBhvr>
                                        <p:cTn id="240" dur="770" decel="100000"/>
                                        <p:tgtEl>
                                          <p:spTgt spid="87"/>
                                        </p:tgtEl>
                                      </p:cBhvr>
                                      <p:from x="10000" y="10000"/>
                                      <p:to x="200000" y="450000"/>
                                    </p:animScale>
                                    <p:animScale>
                                      <p:cBhvr>
                                        <p:cTn id="241" dur="1230" accel="100000" fill="hold">
                                          <p:stCondLst>
                                            <p:cond delay="770"/>
                                          </p:stCondLst>
                                        </p:cTn>
                                        <p:tgtEl>
                                          <p:spTgt spid="87"/>
                                        </p:tgtEl>
                                      </p:cBhvr>
                                      <p:from x="200000" y="450000"/>
                                      <p:to x="100000" y="100000"/>
                                    </p:animScale>
                                    <p:set>
                                      <p:cBhvr>
                                        <p:cTn id="242" dur="770" fill="hold"/>
                                        <p:tgtEl>
                                          <p:spTgt spid="87"/>
                                        </p:tgtEl>
                                        <p:attrNameLst>
                                          <p:attrName>ppt_x</p:attrName>
                                        </p:attrNameLst>
                                      </p:cBhvr>
                                      <p:to>
                                        <p:strVal val="(0.5)"/>
                                      </p:to>
                                    </p:set>
                                    <p:anim from="(0.5)" to="(#ppt_x)" calcmode="lin" valueType="num">
                                      <p:cBhvr>
                                        <p:cTn id="243" dur="1230" accel="100000" fill="hold">
                                          <p:stCondLst>
                                            <p:cond delay="770"/>
                                          </p:stCondLst>
                                        </p:cTn>
                                        <p:tgtEl>
                                          <p:spTgt spid="87"/>
                                        </p:tgtEl>
                                        <p:attrNameLst>
                                          <p:attrName>ppt_x</p:attrName>
                                        </p:attrNameLst>
                                      </p:cBhvr>
                                    </p:anim>
                                    <p:set>
                                      <p:cBhvr>
                                        <p:cTn id="244" dur="770" fill="hold"/>
                                        <p:tgtEl>
                                          <p:spTgt spid="87"/>
                                        </p:tgtEl>
                                        <p:attrNameLst>
                                          <p:attrName>ppt_y</p:attrName>
                                        </p:attrNameLst>
                                      </p:cBhvr>
                                      <p:to>
                                        <p:strVal val="(#ppt_y+0.4)"/>
                                      </p:to>
                                    </p:set>
                                    <p:anim from="(#ppt_y+0.4)" to="(#ppt_y)" calcmode="lin" valueType="num">
                                      <p:cBhvr>
                                        <p:cTn id="245" dur="1230" accel="100000" fill="hold">
                                          <p:stCondLst>
                                            <p:cond delay="770"/>
                                          </p:stCondLst>
                                        </p:cTn>
                                        <p:tgtEl>
                                          <p:spTgt spid="87"/>
                                        </p:tgtEl>
                                        <p:attrNameLst>
                                          <p:attrName>ppt_y</p:attrName>
                                        </p:attrNameLst>
                                      </p:cBhvr>
                                    </p:anim>
                                  </p:childTnLst>
                                </p:cTn>
                              </p:par>
                              <p:par>
                                <p:cTn id="246" presetID="51" presetClass="entr" presetSubtype="0" fill="hold"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770" decel="100000"/>
                                        <p:tgtEl>
                                          <p:spTgt spid="88"/>
                                        </p:tgtEl>
                                      </p:cBhvr>
                                    </p:animEffect>
                                    <p:animScale>
                                      <p:cBhvr>
                                        <p:cTn id="249" dur="770" decel="100000"/>
                                        <p:tgtEl>
                                          <p:spTgt spid="88"/>
                                        </p:tgtEl>
                                      </p:cBhvr>
                                      <p:from x="10000" y="10000"/>
                                      <p:to x="200000" y="450000"/>
                                    </p:animScale>
                                    <p:animScale>
                                      <p:cBhvr>
                                        <p:cTn id="250" dur="1230" accel="100000" fill="hold">
                                          <p:stCondLst>
                                            <p:cond delay="770"/>
                                          </p:stCondLst>
                                        </p:cTn>
                                        <p:tgtEl>
                                          <p:spTgt spid="88"/>
                                        </p:tgtEl>
                                      </p:cBhvr>
                                      <p:from x="200000" y="450000"/>
                                      <p:to x="100000" y="100000"/>
                                    </p:animScale>
                                    <p:set>
                                      <p:cBhvr>
                                        <p:cTn id="251" dur="770" fill="hold"/>
                                        <p:tgtEl>
                                          <p:spTgt spid="88"/>
                                        </p:tgtEl>
                                        <p:attrNameLst>
                                          <p:attrName>ppt_x</p:attrName>
                                        </p:attrNameLst>
                                      </p:cBhvr>
                                      <p:to>
                                        <p:strVal val="(0.5)"/>
                                      </p:to>
                                    </p:set>
                                    <p:anim from="(0.5)" to="(#ppt_x)" calcmode="lin" valueType="num">
                                      <p:cBhvr>
                                        <p:cTn id="252" dur="1230" accel="100000" fill="hold">
                                          <p:stCondLst>
                                            <p:cond delay="770"/>
                                          </p:stCondLst>
                                        </p:cTn>
                                        <p:tgtEl>
                                          <p:spTgt spid="88"/>
                                        </p:tgtEl>
                                        <p:attrNameLst>
                                          <p:attrName>ppt_x</p:attrName>
                                        </p:attrNameLst>
                                      </p:cBhvr>
                                    </p:anim>
                                    <p:set>
                                      <p:cBhvr>
                                        <p:cTn id="253" dur="770" fill="hold"/>
                                        <p:tgtEl>
                                          <p:spTgt spid="88"/>
                                        </p:tgtEl>
                                        <p:attrNameLst>
                                          <p:attrName>ppt_y</p:attrName>
                                        </p:attrNameLst>
                                      </p:cBhvr>
                                      <p:to>
                                        <p:strVal val="(#ppt_y+0.4)"/>
                                      </p:to>
                                    </p:set>
                                    <p:anim from="(#ppt_y+0.4)" to="(#ppt_y)" calcmode="lin" valueType="num">
                                      <p:cBhvr>
                                        <p:cTn id="254" dur="1230" accel="100000" fill="hold">
                                          <p:stCondLst>
                                            <p:cond delay="770"/>
                                          </p:stCondLst>
                                        </p:cTn>
                                        <p:tgtEl>
                                          <p:spTgt spid="88"/>
                                        </p:tgtEl>
                                        <p:attrNameLst>
                                          <p:attrName>ppt_y</p:attrName>
                                        </p:attrNameLst>
                                      </p:cBhvr>
                                    </p:anim>
                                  </p:childTnLst>
                                </p:cTn>
                              </p:par>
                              <p:par>
                                <p:cTn id="255" presetID="51" presetClass="entr" presetSubtype="0" fill="hold" nodeType="withEffect">
                                  <p:stCondLst>
                                    <p:cond delay="0"/>
                                  </p:stCondLst>
                                  <p:childTnLst>
                                    <p:set>
                                      <p:cBhvr>
                                        <p:cTn id="256" dur="1" fill="hold">
                                          <p:stCondLst>
                                            <p:cond delay="0"/>
                                          </p:stCondLst>
                                        </p:cTn>
                                        <p:tgtEl>
                                          <p:spTgt spid="89"/>
                                        </p:tgtEl>
                                        <p:attrNameLst>
                                          <p:attrName>style.visibility</p:attrName>
                                        </p:attrNameLst>
                                      </p:cBhvr>
                                      <p:to>
                                        <p:strVal val="visible"/>
                                      </p:to>
                                    </p:set>
                                    <p:animEffect transition="in" filter="fade">
                                      <p:cBhvr>
                                        <p:cTn id="257" dur="770" decel="100000"/>
                                        <p:tgtEl>
                                          <p:spTgt spid="89"/>
                                        </p:tgtEl>
                                      </p:cBhvr>
                                    </p:animEffect>
                                    <p:animScale>
                                      <p:cBhvr>
                                        <p:cTn id="258" dur="770" decel="100000"/>
                                        <p:tgtEl>
                                          <p:spTgt spid="89"/>
                                        </p:tgtEl>
                                      </p:cBhvr>
                                      <p:from x="10000" y="10000"/>
                                      <p:to x="200000" y="450000"/>
                                    </p:animScale>
                                    <p:animScale>
                                      <p:cBhvr>
                                        <p:cTn id="259" dur="1230" accel="100000" fill="hold">
                                          <p:stCondLst>
                                            <p:cond delay="770"/>
                                          </p:stCondLst>
                                        </p:cTn>
                                        <p:tgtEl>
                                          <p:spTgt spid="89"/>
                                        </p:tgtEl>
                                      </p:cBhvr>
                                      <p:from x="200000" y="450000"/>
                                      <p:to x="100000" y="100000"/>
                                    </p:animScale>
                                    <p:set>
                                      <p:cBhvr>
                                        <p:cTn id="260" dur="770" fill="hold"/>
                                        <p:tgtEl>
                                          <p:spTgt spid="89"/>
                                        </p:tgtEl>
                                        <p:attrNameLst>
                                          <p:attrName>ppt_x</p:attrName>
                                        </p:attrNameLst>
                                      </p:cBhvr>
                                      <p:to>
                                        <p:strVal val="(0.5)"/>
                                      </p:to>
                                    </p:set>
                                    <p:anim from="(0.5)" to="(#ppt_x)" calcmode="lin" valueType="num">
                                      <p:cBhvr>
                                        <p:cTn id="261" dur="1230" accel="100000" fill="hold">
                                          <p:stCondLst>
                                            <p:cond delay="770"/>
                                          </p:stCondLst>
                                        </p:cTn>
                                        <p:tgtEl>
                                          <p:spTgt spid="89"/>
                                        </p:tgtEl>
                                        <p:attrNameLst>
                                          <p:attrName>ppt_x</p:attrName>
                                        </p:attrNameLst>
                                      </p:cBhvr>
                                    </p:anim>
                                    <p:set>
                                      <p:cBhvr>
                                        <p:cTn id="262" dur="770" fill="hold"/>
                                        <p:tgtEl>
                                          <p:spTgt spid="89"/>
                                        </p:tgtEl>
                                        <p:attrNameLst>
                                          <p:attrName>ppt_y</p:attrName>
                                        </p:attrNameLst>
                                      </p:cBhvr>
                                      <p:to>
                                        <p:strVal val="(#ppt_y+0.4)"/>
                                      </p:to>
                                    </p:set>
                                    <p:anim from="(#ppt_y+0.4)" to="(#ppt_y)" calcmode="lin" valueType="num">
                                      <p:cBhvr>
                                        <p:cTn id="263" dur="1230" accel="100000" fill="hold">
                                          <p:stCondLst>
                                            <p:cond delay="770"/>
                                          </p:stCondLst>
                                        </p:cTn>
                                        <p:tgtEl>
                                          <p:spTgt spid="89"/>
                                        </p:tgtEl>
                                        <p:attrNameLst>
                                          <p:attrName>ppt_y</p:attrName>
                                        </p:attrNameLst>
                                      </p:cBhvr>
                                    </p:anim>
                                  </p:childTnLst>
                                </p:cTn>
                              </p:par>
                              <p:par>
                                <p:cTn id="264" presetID="51" presetClass="entr" presetSubtype="0" fill="hold" nodeType="withEffect">
                                  <p:stCondLst>
                                    <p:cond delay="0"/>
                                  </p:stCondLst>
                                  <p:childTnLst>
                                    <p:set>
                                      <p:cBhvr>
                                        <p:cTn id="265" dur="1" fill="hold">
                                          <p:stCondLst>
                                            <p:cond delay="0"/>
                                          </p:stCondLst>
                                        </p:cTn>
                                        <p:tgtEl>
                                          <p:spTgt spid="90"/>
                                        </p:tgtEl>
                                        <p:attrNameLst>
                                          <p:attrName>style.visibility</p:attrName>
                                        </p:attrNameLst>
                                      </p:cBhvr>
                                      <p:to>
                                        <p:strVal val="visible"/>
                                      </p:to>
                                    </p:set>
                                    <p:animEffect transition="in" filter="fade">
                                      <p:cBhvr>
                                        <p:cTn id="266" dur="770" decel="100000"/>
                                        <p:tgtEl>
                                          <p:spTgt spid="90"/>
                                        </p:tgtEl>
                                      </p:cBhvr>
                                    </p:animEffect>
                                    <p:animScale>
                                      <p:cBhvr>
                                        <p:cTn id="267" dur="770" decel="100000"/>
                                        <p:tgtEl>
                                          <p:spTgt spid="90"/>
                                        </p:tgtEl>
                                      </p:cBhvr>
                                      <p:from x="10000" y="10000"/>
                                      <p:to x="200000" y="450000"/>
                                    </p:animScale>
                                    <p:animScale>
                                      <p:cBhvr>
                                        <p:cTn id="268" dur="1230" accel="100000" fill="hold">
                                          <p:stCondLst>
                                            <p:cond delay="770"/>
                                          </p:stCondLst>
                                        </p:cTn>
                                        <p:tgtEl>
                                          <p:spTgt spid="90"/>
                                        </p:tgtEl>
                                      </p:cBhvr>
                                      <p:from x="200000" y="450000"/>
                                      <p:to x="100000" y="100000"/>
                                    </p:animScale>
                                    <p:set>
                                      <p:cBhvr>
                                        <p:cTn id="269" dur="770" fill="hold"/>
                                        <p:tgtEl>
                                          <p:spTgt spid="90"/>
                                        </p:tgtEl>
                                        <p:attrNameLst>
                                          <p:attrName>ppt_x</p:attrName>
                                        </p:attrNameLst>
                                      </p:cBhvr>
                                      <p:to>
                                        <p:strVal val="(0.5)"/>
                                      </p:to>
                                    </p:set>
                                    <p:anim from="(0.5)" to="(#ppt_x)" calcmode="lin" valueType="num">
                                      <p:cBhvr>
                                        <p:cTn id="270" dur="1230" accel="100000" fill="hold">
                                          <p:stCondLst>
                                            <p:cond delay="770"/>
                                          </p:stCondLst>
                                        </p:cTn>
                                        <p:tgtEl>
                                          <p:spTgt spid="90"/>
                                        </p:tgtEl>
                                        <p:attrNameLst>
                                          <p:attrName>ppt_x</p:attrName>
                                        </p:attrNameLst>
                                      </p:cBhvr>
                                    </p:anim>
                                    <p:set>
                                      <p:cBhvr>
                                        <p:cTn id="271" dur="770" fill="hold"/>
                                        <p:tgtEl>
                                          <p:spTgt spid="90"/>
                                        </p:tgtEl>
                                        <p:attrNameLst>
                                          <p:attrName>ppt_y</p:attrName>
                                        </p:attrNameLst>
                                      </p:cBhvr>
                                      <p:to>
                                        <p:strVal val="(#ppt_y+0.4)"/>
                                      </p:to>
                                    </p:set>
                                    <p:anim from="(#ppt_y+0.4)" to="(#ppt_y)" calcmode="lin" valueType="num">
                                      <p:cBhvr>
                                        <p:cTn id="272" dur="1230" accel="100000" fill="hold">
                                          <p:stCondLst>
                                            <p:cond delay="770"/>
                                          </p:stCondLst>
                                        </p:cTn>
                                        <p:tgtEl>
                                          <p:spTgt spid="90"/>
                                        </p:tgtEl>
                                        <p:attrNameLst>
                                          <p:attrName>ppt_y</p:attrName>
                                        </p:attrNameLst>
                                      </p:cBhvr>
                                    </p:anim>
                                  </p:childTnLst>
                                </p:cTn>
                              </p:par>
                              <p:par>
                                <p:cTn id="273" presetID="51" presetClass="entr" presetSubtype="0" fill="hold" nodeType="withEffect">
                                  <p:stCondLst>
                                    <p:cond delay="0"/>
                                  </p:stCondLst>
                                  <p:childTnLst>
                                    <p:set>
                                      <p:cBhvr>
                                        <p:cTn id="274" dur="1" fill="hold">
                                          <p:stCondLst>
                                            <p:cond delay="0"/>
                                          </p:stCondLst>
                                        </p:cTn>
                                        <p:tgtEl>
                                          <p:spTgt spid="91"/>
                                        </p:tgtEl>
                                        <p:attrNameLst>
                                          <p:attrName>style.visibility</p:attrName>
                                        </p:attrNameLst>
                                      </p:cBhvr>
                                      <p:to>
                                        <p:strVal val="visible"/>
                                      </p:to>
                                    </p:set>
                                    <p:animEffect transition="in" filter="fade">
                                      <p:cBhvr>
                                        <p:cTn id="275" dur="770" decel="100000"/>
                                        <p:tgtEl>
                                          <p:spTgt spid="91"/>
                                        </p:tgtEl>
                                      </p:cBhvr>
                                    </p:animEffect>
                                    <p:animScale>
                                      <p:cBhvr>
                                        <p:cTn id="276" dur="770" decel="100000"/>
                                        <p:tgtEl>
                                          <p:spTgt spid="91"/>
                                        </p:tgtEl>
                                      </p:cBhvr>
                                      <p:from x="10000" y="10000"/>
                                      <p:to x="200000" y="450000"/>
                                    </p:animScale>
                                    <p:animScale>
                                      <p:cBhvr>
                                        <p:cTn id="277" dur="1230" accel="100000" fill="hold">
                                          <p:stCondLst>
                                            <p:cond delay="770"/>
                                          </p:stCondLst>
                                        </p:cTn>
                                        <p:tgtEl>
                                          <p:spTgt spid="91"/>
                                        </p:tgtEl>
                                      </p:cBhvr>
                                      <p:from x="200000" y="450000"/>
                                      <p:to x="100000" y="100000"/>
                                    </p:animScale>
                                    <p:set>
                                      <p:cBhvr>
                                        <p:cTn id="278" dur="770" fill="hold"/>
                                        <p:tgtEl>
                                          <p:spTgt spid="91"/>
                                        </p:tgtEl>
                                        <p:attrNameLst>
                                          <p:attrName>ppt_x</p:attrName>
                                        </p:attrNameLst>
                                      </p:cBhvr>
                                      <p:to>
                                        <p:strVal val="(0.5)"/>
                                      </p:to>
                                    </p:set>
                                    <p:anim from="(0.5)" to="(#ppt_x)" calcmode="lin" valueType="num">
                                      <p:cBhvr>
                                        <p:cTn id="279" dur="1230" accel="100000" fill="hold">
                                          <p:stCondLst>
                                            <p:cond delay="770"/>
                                          </p:stCondLst>
                                        </p:cTn>
                                        <p:tgtEl>
                                          <p:spTgt spid="91"/>
                                        </p:tgtEl>
                                        <p:attrNameLst>
                                          <p:attrName>ppt_x</p:attrName>
                                        </p:attrNameLst>
                                      </p:cBhvr>
                                    </p:anim>
                                    <p:set>
                                      <p:cBhvr>
                                        <p:cTn id="280" dur="770" fill="hold"/>
                                        <p:tgtEl>
                                          <p:spTgt spid="91"/>
                                        </p:tgtEl>
                                        <p:attrNameLst>
                                          <p:attrName>ppt_y</p:attrName>
                                        </p:attrNameLst>
                                      </p:cBhvr>
                                      <p:to>
                                        <p:strVal val="(#ppt_y+0.4)"/>
                                      </p:to>
                                    </p:set>
                                    <p:anim from="(#ppt_y+0.4)" to="(#ppt_y)" calcmode="lin" valueType="num">
                                      <p:cBhvr>
                                        <p:cTn id="281" dur="1230" accel="100000" fill="hold">
                                          <p:stCondLst>
                                            <p:cond delay="770"/>
                                          </p:stCondLst>
                                        </p:cTn>
                                        <p:tgtEl>
                                          <p:spTgt spid="91"/>
                                        </p:tgtEl>
                                        <p:attrNameLst>
                                          <p:attrName>ppt_y</p:attrName>
                                        </p:attrNameLst>
                                      </p:cBhvr>
                                    </p:anim>
                                  </p:childTnLst>
                                </p:cTn>
                              </p:par>
                              <p:par>
                                <p:cTn id="282" presetID="51" presetClass="entr" presetSubtype="0" fill="hold" nodeType="withEffect">
                                  <p:stCondLst>
                                    <p:cond delay="0"/>
                                  </p:stCondLst>
                                  <p:childTnLst>
                                    <p:set>
                                      <p:cBhvr>
                                        <p:cTn id="283" dur="1" fill="hold">
                                          <p:stCondLst>
                                            <p:cond delay="0"/>
                                          </p:stCondLst>
                                        </p:cTn>
                                        <p:tgtEl>
                                          <p:spTgt spid="92"/>
                                        </p:tgtEl>
                                        <p:attrNameLst>
                                          <p:attrName>style.visibility</p:attrName>
                                        </p:attrNameLst>
                                      </p:cBhvr>
                                      <p:to>
                                        <p:strVal val="visible"/>
                                      </p:to>
                                    </p:set>
                                    <p:animEffect transition="in" filter="fade">
                                      <p:cBhvr>
                                        <p:cTn id="284" dur="770" decel="100000"/>
                                        <p:tgtEl>
                                          <p:spTgt spid="92"/>
                                        </p:tgtEl>
                                      </p:cBhvr>
                                    </p:animEffect>
                                    <p:animScale>
                                      <p:cBhvr>
                                        <p:cTn id="285" dur="770" decel="100000"/>
                                        <p:tgtEl>
                                          <p:spTgt spid="92"/>
                                        </p:tgtEl>
                                      </p:cBhvr>
                                      <p:from x="10000" y="10000"/>
                                      <p:to x="200000" y="450000"/>
                                    </p:animScale>
                                    <p:animScale>
                                      <p:cBhvr>
                                        <p:cTn id="286" dur="1230" accel="100000" fill="hold">
                                          <p:stCondLst>
                                            <p:cond delay="770"/>
                                          </p:stCondLst>
                                        </p:cTn>
                                        <p:tgtEl>
                                          <p:spTgt spid="92"/>
                                        </p:tgtEl>
                                      </p:cBhvr>
                                      <p:from x="200000" y="450000"/>
                                      <p:to x="100000" y="100000"/>
                                    </p:animScale>
                                    <p:set>
                                      <p:cBhvr>
                                        <p:cTn id="287" dur="770" fill="hold"/>
                                        <p:tgtEl>
                                          <p:spTgt spid="92"/>
                                        </p:tgtEl>
                                        <p:attrNameLst>
                                          <p:attrName>ppt_x</p:attrName>
                                        </p:attrNameLst>
                                      </p:cBhvr>
                                      <p:to>
                                        <p:strVal val="(0.5)"/>
                                      </p:to>
                                    </p:set>
                                    <p:anim from="(0.5)" to="(#ppt_x)" calcmode="lin" valueType="num">
                                      <p:cBhvr>
                                        <p:cTn id="288" dur="1230" accel="100000" fill="hold">
                                          <p:stCondLst>
                                            <p:cond delay="770"/>
                                          </p:stCondLst>
                                        </p:cTn>
                                        <p:tgtEl>
                                          <p:spTgt spid="92"/>
                                        </p:tgtEl>
                                        <p:attrNameLst>
                                          <p:attrName>ppt_x</p:attrName>
                                        </p:attrNameLst>
                                      </p:cBhvr>
                                    </p:anim>
                                    <p:set>
                                      <p:cBhvr>
                                        <p:cTn id="289" dur="770" fill="hold"/>
                                        <p:tgtEl>
                                          <p:spTgt spid="92"/>
                                        </p:tgtEl>
                                        <p:attrNameLst>
                                          <p:attrName>ppt_y</p:attrName>
                                        </p:attrNameLst>
                                      </p:cBhvr>
                                      <p:to>
                                        <p:strVal val="(#ppt_y+0.4)"/>
                                      </p:to>
                                    </p:set>
                                    <p:anim from="(#ppt_y+0.4)" to="(#ppt_y)" calcmode="lin" valueType="num">
                                      <p:cBhvr>
                                        <p:cTn id="290" dur="1230" accel="100000" fill="hold">
                                          <p:stCondLst>
                                            <p:cond delay="770"/>
                                          </p:stCondLst>
                                        </p:cTn>
                                        <p:tgtEl>
                                          <p:spTgt spid="92"/>
                                        </p:tgtEl>
                                        <p:attrNameLst>
                                          <p:attrName>ppt_y</p:attrName>
                                        </p:attrNameLst>
                                      </p:cBhvr>
                                    </p:anim>
                                  </p:childTnLst>
                                </p:cTn>
                              </p:par>
                              <p:par>
                                <p:cTn id="291" presetID="51" presetClass="entr" presetSubtype="0" fill="hold" nodeType="withEffect">
                                  <p:stCondLst>
                                    <p:cond delay="0"/>
                                  </p:stCondLst>
                                  <p:childTnLst>
                                    <p:set>
                                      <p:cBhvr>
                                        <p:cTn id="292" dur="1" fill="hold">
                                          <p:stCondLst>
                                            <p:cond delay="0"/>
                                          </p:stCondLst>
                                        </p:cTn>
                                        <p:tgtEl>
                                          <p:spTgt spid="93"/>
                                        </p:tgtEl>
                                        <p:attrNameLst>
                                          <p:attrName>style.visibility</p:attrName>
                                        </p:attrNameLst>
                                      </p:cBhvr>
                                      <p:to>
                                        <p:strVal val="visible"/>
                                      </p:to>
                                    </p:set>
                                    <p:animEffect transition="in" filter="fade">
                                      <p:cBhvr>
                                        <p:cTn id="293" dur="770" decel="100000"/>
                                        <p:tgtEl>
                                          <p:spTgt spid="93"/>
                                        </p:tgtEl>
                                      </p:cBhvr>
                                    </p:animEffect>
                                    <p:animScale>
                                      <p:cBhvr>
                                        <p:cTn id="294" dur="770" decel="100000"/>
                                        <p:tgtEl>
                                          <p:spTgt spid="93"/>
                                        </p:tgtEl>
                                      </p:cBhvr>
                                      <p:from x="10000" y="10000"/>
                                      <p:to x="200000" y="450000"/>
                                    </p:animScale>
                                    <p:animScale>
                                      <p:cBhvr>
                                        <p:cTn id="295" dur="1230" accel="100000" fill="hold">
                                          <p:stCondLst>
                                            <p:cond delay="770"/>
                                          </p:stCondLst>
                                        </p:cTn>
                                        <p:tgtEl>
                                          <p:spTgt spid="93"/>
                                        </p:tgtEl>
                                      </p:cBhvr>
                                      <p:from x="200000" y="450000"/>
                                      <p:to x="100000" y="100000"/>
                                    </p:animScale>
                                    <p:set>
                                      <p:cBhvr>
                                        <p:cTn id="296" dur="770" fill="hold"/>
                                        <p:tgtEl>
                                          <p:spTgt spid="93"/>
                                        </p:tgtEl>
                                        <p:attrNameLst>
                                          <p:attrName>ppt_x</p:attrName>
                                        </p:attrNameLst>
                                      </p:cBhvr>
                                      <p:to>
                                        <p:strVal val="(0.5)"/>
                                      </p:to>
                                    </p:set>
                                    <p:anim from="(0.5)" to="(#ppt_x)" calcmode="lin" valueType="num">
                                      <p:cBhvr>
                                        <p:cTn id="297" dur="1230" accel="100000" fill="hold">
                                          <p:stCondLst>
                                            <p:cond delay="770"/>
                                          </p:stCondLst>
                                        </p:cTn>
                                        <p:tgtEl>
                                          <p:spTgt spid="93"/>
                                        </p:tgtEl>
                                        <p:attrNameLst>
                                          <p:attrName>ppt_x</p:attrName>
                                        </p:attrNameLst>
                                      </p:cBhvr>
                                    </p:anim>
                                    <p:set>
                                      <p:cBhvr>
                                        <p:cTn id="298" dur="770" fill="hold"/>
                                        <p:tgtEl>
                                          <p:spTgt spid="93"/>
                                        </p:tgtEl>
                                        <p:attrNameLst>
                                          <p:attrName>ppt_y</p:attrName>
                                        </p:attrNameLst>
                                      </p:cBhvr>
                                      <p:to>
                                        <p:strVal val="(#ppt_y+0.4)"/>
                                      </p:to>
                                    </p:set>
                                    <p:anim from="(#ppt_y+0.4)" to="(#ppt_y)" calcmode="lin" valueType="num">
                                      <p:cBhvr>
                                        <p:cTn id="299" dur="1230" accel="100000" fill="hold">
                                          <p:stCondLst>
                                            <p:cond delay="770"/>
                                          </p:stCondLst>
                                        </p:cTn>
                                        <p:tgtEl>
                                          <p:spTgt spid="93"/>
                                        </p:tgtEl>
                                        <p:attrNameLst>
                                          <p:attrName>ppt_y</p:attrName>
                                        </p:attrNameLst>
                                      </p:cBhvr>
                                    </p:anim>
                                  </p:childTnLst>
                                </p:cTn>
                              </p:par>
                            </p:childTnLst>
                          </p:cTn>
                        </p:par>
                      </p:childTnLst>
                    </p:cTn>
                  </p:par>
                  <p:par>
                    <p:cTn id="300" fill="hold">
                      <p:stCondLst>
                        <p:cond delay="indefinite"/>
                      </p:stCondLst>
                      <p:childTnLst>
                        <p:par>
                          <p:cTn id="301" fill="hold">
                            <p:stCondLst>
                              <p:cond delay="0"/>
                            </p:stCondLst>
                            <p:childTnLst>
                              <p:par>
                                <p:cTn id="302" presetID="8" presetClass="exit" presetSubtype="32" fill="hold" nodeType="clickEffect">
                                  <p:stCondLst>
                                    <p:cond delay="0"/>
                                  </p:stCondLst>
                                  <p:childTnLst>
                                    <p:animEffect transition="out" filter="diamond(out)">
                                      <p:cBhvr>
                                        <p:cTn id="303" dur="2000"/>
                                        <p:tgtEl>
                                          <p:spTgt spid="76"/>
                                        </p:tgtEl>
                                      </p:cBhvr>
                                    </p:animEffect>
                                    <p:set>
                                      <p:cBhvr>
                                        <p:cTn id="304" dur="1" fill="hold">
                                          <p:stCondLst>
                                            <p:cond delay="1999"/>
                                          </p:stCondLst>
                                        </p:cTn>
                                        <p:tgtEl>
                                          <p:spTgt spid="76"/>
                                        </p:tgtEl>
                                        <p:attrNameLst>
                                          <p:attrName>style.visibility</p:attrName>
                                        </p:attrNameLst>
                                      </p:cBhvr>
                                      <p:to>
                                        <p:strVal val="hidden"/>
                                      </p:to>
                                    </p:set>
                                  </p:childTnLst>
                                </p:cTn>
                              </p:par>
                              <p:par>
                                <p:cTn id="305" presetID="8" presetClass="exit" presetSubtype="32" fill="hold" nodeType="withEffect">
                                  <p:stCondLst>
                                    <p:cond delay="0"/>
                                  </p:stCondLst>
                                  <p:childTnLst>
                                    <p:animEffect transition="out" filter="diamond(out)">
                                      <p:cBhvr>
                                        <p:cTn id="306" dur="2000"/>
                                        <p:tgtEl>
                                          <p:spTgt spid="77"/>
                                        </p:tgtEl>
                                      </p:cBhvr>
                                    </p:animEffect>
                                    <p:set>
                                      <p:cBhvr>
                                        <p:cTn id="307" dur="1" fill="hold">
                                          <p:stCondLst>
                                            <p:cond delay="1999"/>
                                          </p:stCondLst>
                                        </p:cTn>
                                        <p:tgtEl>
                                          <p:spTgt spid="77"/>
                                        </p:tgtEl>
                                        <p:attrNameLst>
                                          <p:attrName>style.visibility</p:attrName>
                                        </p:attrNameLst>
                                      </p:cBhvr>
                                      <p:to>
                                        <p:strVal val="hidden"/>
                                      </p:to>
                                    </p:set>
                                  </p:childTnLst>
                                </p:cTn>
                              </p:par>
                              <p:par>
                                <p:cTn id="308" presetID="8" presetClass="exit" presetSubtype="32" fill="hold" nodeType="withEffect">
                                  <p:stCondLst>
                                    <p:cond delay="0"/>
                                  </p:stCondLst>
                                  <p:childTnLst>
                                    <p:animEffect transition="out" filter="diamond(out)">
                                      <p:cBhvr>
                                        <p:cTn id="309" dur="2000"/>
                                        <p:tgtEl>
                                          <p:spTgt spid="78"/>
                                        </p:tgtEl>
                                      </p:cBhvr>
                                    </p:animEffect>
                                    <p:set>
                                      <p:cBhvr>
                                        <p:cTn id="310" dur="1" fill="hold">
                                          <p:stCondLst>
                                            <p:cond delay="1999"/>
                                          </p:stCondLst>
                                        </p:cTn>
                                        <p:tgtEl>
                                          <p:spTgt spid="78"/>
                                        </p:tgtEl>
                                        <p:attrNameLst>
                                          <p:attrName>style.visibility</p:attrName>
                                        </p:attrNameLst>
                                      </p:cBhvr>
                                      <p:to>
                                        <p:strVal val="hidden"/>
                                      </p:to>
                                    </p:set>
                                  </p:childTnLst>
                                </p:cTn>
                              </p:par>
                              <p:par>
                                <p:cTn id="311" presetID="8" presetClass="exit" presetSubtype="32" fill="hold" nodeType="withEffect">
                                  <p:stCondLst>
                                    <p:cond delay="0"/>
                                  </p:stCondLst>
                                  <p:childTnLst>
                                    <p:animEffect transition="out" filter="diamond(out)">
                                      <p:cBhvr>
                                        <p:cTn id="312" dur="2000"/>
                                        <p:tgtEl>
                                          <p:spTgt spid="79"/>
                                        </p:tgtEl>
                                      </p:cBhvr>
                                    </p:animEffect>
                                    <p:set>
                                      <p:cBhvr>
                                        <p:cTn id="313" dur="1" fill="hold">
                                          <p:stCondLst>
                                            <p:cond delay="1999"/>
                                          </p:stCondLst>
                                        </p:cTn>
                                        <p:tgtEl>
                                          <p:spTgt spid="79"/>
                                        </p:tgtEl>
                                        <p:attrNameLst>
                                          <p:attrName>style.visibility</p:attrName>
                                        </p:attrNameLst>
                                      </p:cBhvr>
                                      <p:to>
                                        <p:strVal val="hidden"/>
                                      </p:to>
                                    </p:set>
                                  </p:childTnLst>
                                </p:cTn>
                              </p:par>
                              <p:par>
                                <p:cTn id="314" presetID="8" presetClass="exit" presetSubtype="32" fill="hold" nodeType="withEffect">
                                  <p:stCondLst>
                                    <p:cond delay="0"/>
                                  </p:stCondLst>
                                  <p:childTnLst>
                                    <p:animEffect transition="out" filter="diamond(out)">
                                      <p:cBhvr>
                                        <p:cTn id="315" dur="2000"/>
                                        <p:tgtEl>
                                          <p:spTgt spid="80"/>
                                        </p:tgtEl>
                                      </p:cBhvr>
                                    </p:animEffect>
                                    <p:set>
                                      <p:cBhvr>
                                        <p:cTn id="316" dur="1" fill="hold">
                                          <p:stCondLst>
                                            <p:cond delay="1999"/>
                                          </p:stCondLst>
                                        </p:cTn>
                                        <p:tgtEl>
                                          <p:spTgt spid="80"/>
                                        </p:tgtEl>
                                        <p:attrNameLst>
                                          <p:attrName>style.visibility</p:attrName>
                                        </p:attrNameLst>
                                      </p:cBhvr>
                                      <p:to>
                                        <p:strVal val="hidden"/>
                                      </p:to>
                                    </p:set>
                                  </p:childTnLst>
                                </p:cTn>
                              </p:par>
                              <p:par>
                                <p:cTn id="317" presetID="8" presetClass="exit" presetSubtype="32" fill="hold" nodeType="withEffect">
                                  <p:stCondLst>
                                    <p:cond delay="0"/>
                                  </p:stCondLst>
                                  <p:childTnLst>
                                    <p:animEffect transition="out" filter="diamond(out)">
                                      <p:cBhvr>
                                        <p:cTn id="318" dur="2000"/>
                                        <p:tgtEl>
                                          <p:spTgt spid="81"/>
                                        </p:tgtEl>
                                      </p:cBhvr>
                                    </p:animEffect>
                                    <p:set>
                                      <p:cBhvr>
                                        <p:cTn id="319" dur="1" fill="hold">
                                          <p:stCondLst>
                                            <p:cond delay="1999"/>
                                          </p:stCondLst>
                                        </p:cTn>
                                        <p:tgtEl>
                                          <p:spTgt spid="81"/>
                                        </p:tgtEl>
                                        <p:attrNameLst>
                                          <p:attrName>style.visibility</p:attrName>
                                        </p:attrNameLst>
                                      </p:cBhvr>
                                      <p:to>
                                        <p:strVal val="hidden"/>
                                      </p:to>
                                    </p:set>
                                  </p:childTnLst>
                                </p:cTn>
                              </p:par>
                              <p:par>
                                <p:cTn id="320" presetID="8" presetClass="exit" presetSubtype="32" fill="hold" nodeType="withEffect">
                                  <p:stCondLst>
                                    <p:cond delay="0"/>
                                  </p:stCondLst>
                                  <p:childTnLst>
                                    <p:animEffect transition="out" filter="diamond(out)">
                                      <p:cBhvr>
                                        <p:cTn id="321" dur="2000"/>
                                        <p:tgtEl>
                                          <p:spTgt spid="82"/>
                                        </p:tgtEl>
                                      </p:cBhvr>
                                    </p:animEffect>
                                    <p:set>
                                      <p:cBhvr>
                                        <p:cTn id="322" dur="1" fill="hold">
                                          <p:stCondLst>
                                            <p:cond delay="1999"/>
                                          </p:stCondLst>
                                        </p:cTn>
                                        <p:tgtEl>
                                          <p:spTgt spid="82"/>
                                        </p:tgtEl>
                                        <p:attrNameLst>
                                          <p:attrName>style.visibility</p:attrName>
                                        </p:attrNameLst>
                                      </p:cBhvr>
                                      <p:to>
                                        <p:strVal val="hidden"/>
                                      </p:to>
                                    </p:set>
                                  </p:childTnLst>
                                </p:cTn>
                              </p:par>
                              <p:par>
                                <p:cTn id="323" presetID="8" presetClass="exit" presetSubtype="32" fill="hold" nodeType="withEffect">
                                  <p:stCondLst>
                                    <p:cond delay="0"/>
                                  </p:stCondLst>
                                  <p:childTnLst>
                                    <p:animEffect transition="out" filter="diamond(out)">
                                      <p:cBhvr>
                                        <p:cTn id="324" dur="2000"/>
                                        <p:tgtEl>
                                          <p:spTgt spid="83"/>
                                        </p:tgtEl>
                                      </p:cBhvr>
                                    </p:animEffect>
                                    <p:set>
                                      <p:cBhvr>
                                        <p:cTn id="325" dur="1" fill="hold">
                                          <p:stCondLst>
                                            <p:cond delay="1999"/>
                                          </p:stCondLst>
                                        </p:cTn>
                                        <p:tgtEl>
                                          <p:spTgt spid="83"/>
                                        </p:tgtEl>
                                        <p:attrNameLst>
                                          <p:attrName>style.visibility</p:attrName>
                                        </p:attrNameLst>
                                      </p:cBhvr>
                                      <p:to>
                                        <p:strVal val="hidden"/>
                                      </p:to>
                                    </p:set>
                                  </p:childTnLst>
                                </p:cTn>
                              </p:par>
                              <p:par>
                                <p:cTn id="326" presetID="8" presetClass="exit" presetSubtype="32" fill="hold" nodeType="withEffect">
                                  <p:stCondLst>
                                    <p:cond delay="0"/>
                                  </p:stCondLst>
                                  <p:childTnLst>
                                    <p:animEffect transition="out" filter="diamond(out)">
                                      <p:cBhvr>
                                        <p:cTn id="327" dur="2000"/>
                                        <p:tgtEl>
                                          <p:spTgt spid="84"/>
                                        </p:tgtEl>
                                      </p:cBhvr>
                                    </p:animEffect>
                                    <p:set>
                                      <p:cBhvr>
                                        <p:cTn id="328" dur="1" fill="hold">
                                          <p:stCondLst>
                                            <p:cond delay="1999"/>
                                          </p:stCondLst>
                                        </p:cTn>
                                        <p:tgtEl>
                                          <p:spTgt spid="84"/>
                                        </p:tgtEl>
                                        <p:attrNameLst>
                                          <p:attrName>style.visibility</p:attrName>
                                        </p:attrNameLst>
                                      </p:cBhvr>
                                      <p:to>
                                        <p:strVal val="hidden"/>
                                      </p:to>
                                    </p:set>
                                  </p:childTnLst>
                                </p:cTn>
                              </p:par>
                              <p:par>
                                <p:cTn id="329" presetID="8" presetClass="exit" presetSubtype="32" fill="hold" nodeType="withEffect">
                                  <p:stCondLst>
                                    <p:cond delay="0"/>
                                  </p:stCondLst>
                                  <p:childTnLst>
                                    <p:animEffect transition="out" filter="diamond(out)">
                                      <p:cBhvr>
                                        <p:cTn id="330" dur="2000"/>
                                        <p:tgtEl>
                                          <p:spTgt spid="85"/>
                                        </p:tgtEl>
                                      </p:cBhvr>
                                    </p:animEffect>
                                    <p:set>
                                      <p:cBhvr>
                                        <p:cTn id="331" dur="1" fill="hold">
                                          <p:stCondLst>
                                            <p:cond delay="1999"/>
                                          </p:stCondLst>
                                        </p:cTn>
                                        <p:tgtEl>
                                          <p:spTgt spid="85"/>
                                        </p:tgtEl>
                                        <p:attrNameLst>
                                          <p:attrName>style.visibility</p:attrName>
                                        </p:attrNameLst>
                                      </p:cBhvr>
                                      <p:to>
                                        <p:strVal val="hidden"/>
                                      </p:to>
                                    </p:set>
                                  </p:childTnLst>
                                </p:cTn>
                              </p:par>
                              <p:par>
                                <p:cTn id="332" presetID="8" presetClass="exit" presetSubtype="32" fill="hold" nodeType="withEffect">
                                  <p:stCondLst>
                                    <p:cond delay="0"/>
                                  </p:stCondLst>
                                  <p:childTnLst>
                                    <p:animEffect transition="out" filter="diamond(out)">
                                      <p:cBhvr>
                                        <p:cTn id="333" dur="2000"/>
                                        <p:tgtEl>
                                          <p:spTgt spid="86"/>
                                        </p:tgtEl>
                                      </p:cBhvr>
                                    </p:animEffect>
                                    <p:set>
                                      <p:cBhvr>
                                        <p:cTn id="334" dur="1" fill="hold">
                                          <p:stCondLst>
                                            <p:cond delay="1999"/>
                                          </p:stCondLst>
                                        </p:cTn>
                                        <p:tgtEl>
                                          <p:spTgt spid="86"/>
                                        </p:tgtEl>
                                        <p:attrNameLst>
                                          <p:attrName>style.visibility</p:attrName>
                                        </p:attrNameLst>
                                      </p:cBhvr>
                                      <p:to>
                                        <p:strVal val="hidden"/>
                                      </p:to>
                                    </p:set>
                                  </p:childTnLst>
                                </p:cTn>
                              </p:par>
                              <p:par>
                                <p:cTn id="335" presetID="8" presetClass="exit" presetSubtype="32" fill="hold" nodeType="withEffect">
                                  <p:stCondLst>
                                    <p:cond delay="0"/>
                                  </p:stCondLst>
                                  <p:childTnLst>
                                    <p:animEffect transition="out" filter="diamond(out)">
                                      <p:cBhvr>
                                        <p:cTn id="336" dur="2000"/>
                                        <p:tgtEl>
                                          <p:spTgt spid="87"/>
                                        </p:tgtEl>
                                      </p:cBhvr>
                                    </p:animEffect>
                                    <p:set>
                                      <p:cBhvr>
                                        <p:cTn id="337" dur="1" fill="hold">
                                          <p:stCondLst>
                                            <p:cond delay="1999"/>
                                          </p:stCondLst>
                                        </p:cTn>
                                        <p:tgtEl>
                                          <p:spTgt spid="87"/>
                                        </p:tgtEl>
                                        <p:attrNameLst>
                                          <p:attrName>style.visibility</p:attrName>
                                        </p:attrNameLst>
                                      </p:cBhvr>
                                      <p:to>
                                        <p:strVal val="hidden"/>
                                      </p:to>
                                    </p:set>
                                  </p:childTnLst>
                                </p:cTn>
                              </p:par>
                              <p:par>
                                <p:cTn id="338" presetID="8" presetClass="exit" presetSubtype="32" fill="hold" nodeType="withEffect">
                                  <p:stCondLst>
                                    <p:cond delay="0"/>
                                  </p:stCondLst>
                                  <p:childTnLst>
                                    <p:animEffect transition="out" filter="diamond(out)">
                                      <p:cBhvr>
                                        <p:cTn id="339" dur="2000"/>
                                        <p:tgtEl>
                                          <p:spTgt spid="88"/>
                                        </p:tgtEl>
                                      </p:cBhvr>
                                    </p:animEffect>
                                    <p:set>
                                      <p:cBhvr>
                                        <p:cTn id="340" dur="1" fill="hold">
                                          <p:stCondLst>
                                            <p:cond delay="1999"/>
                                          </p:stCondLst>
                                        </p:cTn>
                                        <p:tgtEl>
                                          <p:spTgt spid="88"/>
                                        </p:tgtEl>
                                        <p:attrNameLst>
                                          <p:attrName>style.visibility</p:attrName>
                                        </p:attrNameLst>
                                      </p:cBhvr>
                                      <p:to>
                                        <p:strVal val="hidden"/>
                                      </p:to>
                                    </p:set>
                                  </p:childTnLst>
                                </p:cTn>
                              </p:par>
                              <p:par>
                                <p:cTn id="341" presetID="8" presetClass="exit" presetSubtype="32" fill="hold" nodeType="withEffect">
                                  <p:stCondLst>
                                    <p:cond delay="0"/>
                                  </p:stCondLst>
                                  <p:childTnLst>
                                    <p:animEffect transition="out" filter="diamond(out)">
                                      <p:cBhvr>
                                        <p:cTn id="342" dur="2000"/>
                                        <p:tgtEl>
                                          <p:spTgt spid="89"/>
                                        </p:tgtEl>
                                      </p:cBhvr>
                                    </p:animEffect>
                                    <p:set>
                                      <p:cBhvr>
                                        <p:cTn id="343" dur="1" fill="hold">
                                          <p:stCondLst>
                                            <p:cond delay="1999"/>
                                          </p:stCondLst>
                                        </p:cTn>
                                        <p:tgtEl>
                                          <p:spTgt spid="89"/>
                                        </p:tgtEl>
                                        <p:attrNameLst>
                                          <p:attrName>style.visibility</p:attrName>
                                        </p:attrNameLst>
                                      </p:cBhvr>
                                      <p:to>
                                        <p:strVal val="hidden"/>
                                      </p:to>
                                    </p:set>
                                  </p:childTnLst>
                                </p:cTn>
                              </p:par>
                              <p:par>
                                <p:cTn id="344" presetID="8" presetClass="exit" presetSubtype="32" fill="hold" nodeType="withEffect">
                                  <p:stCondLst>
                                    <p:cond delay="0"/>
                                  </p:stCondLst>
                                  <p:childTnLst>
                                    <p:animEffect transition="out" filter="diamond(out)">
                                      <p:cBhvr>
                                        <p:cTn id="345" dur="2000"/>
                                        <p:tgtEl>
                                          <p:spTgt spid="90"/>
                                        </p:tgtEl>
                                      </p:cBhvr>
                                    </p:animEffect>
                                    <p:set>
                                      <p:cBhvr>
                                        <p:cTn id="346" dur="1" fill="hold">
                                          <p:stCondLst>
                                            <p:cond delay="1999"/>
                                          </p:stCondLst>
                                        </p:cTn>
                                        <p:tgtEl>
                                          <p:spTgt spid="90"/>
                                        </p:tgtEl>
                                        <p:attrNameLst>
                                          <p:attrName>style.visibility</p:attrName>
                                        </p:attrNameLst>
                                      </p:cBhvr>
                                      <p:to>
                                        <p:strVal val="hidden"/>
                                      </p:to>
                                    </p:set>
                                  </p:childTnLst>
                                </p:cTn>
                              </p:par>
                              <p:par>
                                <p:cTn id="347" presetID="8" presetClass="exit" presetSubtype="32" fill="hold" nodeType="withEffect">
                                  <p:stCondLst>
                                    <p:cond delay="0"/>
                                  </p:stCondLst>
                                  <p:childTnLst>
                                    <p:animEffect transition="out" filter="diamond(out)">
                                      <p:cBhvr>
                                        <p:cTn id="348" dur="2000"/>
                                        <p:tgtEl>
                                          <p:spTgt spid="91"/>
                                        </p:tgtEl>
                                      </p:cBhvr>
                                    </p:animEffect>
                                    <p:set>
                                      <p:cBhvr>
                                        <p:cTn id="349" dur="1" fill="hold">
                                          <p:stCondLst>
                                            <p:cond delay="1999"/>
                                          </p:stCondLst>
                                        </p:cTn>
                                        <p:tgtEl>
                                          <p:spTgt spid="91"/>
                                        </p:tgtEl>
                                        <p:attrNameLst>
                                          <p:attrName>style.visibility</p:attrName>
                                        </p:attrNameLst>
                                      </p:cBhvr>
                                      <p:to>
                                        <p:strVal val="hidden"/>
                                      </p:to>
                                    </p:set>
                                  </p:childTnLst>
                                </p:cTn>
                              </p:par>
                              <p:par>
                                <p:cTn id="350" presetID="8" presetClass="exit" presetSubtype="32" fill="hold" nodeType="withEffect">
                                  <p:stCondLst>
                                    <p:cond delay="0"/>
                                  </p:stCondLst>
                                  <p:childTnLst>
                                    <p:animEffect transition="out" filter="diamond(out)">
                                      <p:cBhvr>
                                        <p:cTn id="351" dur="2000"/>
                                        <p:tgtEl>
                                          <p:spTgt spid="92"/>
                                        </p:tgtEl>
                                      </p:cBhvr>
                                    </p:animEffect>
                                    <p:set>
                                      <p:cBhvr>
                                        <p:cTn id="352" dur="1" fill="hold">
                                          <p:stCondLst>
                                            <p:cond delay="1999"/>
                                          </p:stCondLst>
                                        </p:cTn>
                                        <p:tgtEl>
                                          <p:spTgt spid="92"/>
                                        </p:tgtEl>
                                        <p:attrNameLst>
                                          <p:attrName>style.visibility</p:attrName>
                                        </p:attrNameLst>
                                      </p:cBhvr>
                                      <p:to>
                                        <p:strVal val="hidden"/>
                                      </p:to>
                                    </p:set>
                                  </p:childTnLst>
                                </p:cTn>
                              </p:par>
                              <p:par>
                                <p:cTn id="353" presetID="8" presetClass="exit" presetSubtype="32" fill="hold" nodeType="withEffect">
                                  <p:stCondLst>
                                    <p:cond delay="0"/>
                                  </p:stCondLst>
                                  <p:childTnLst>
                                    <p:animEffect transition="out" filter="diamond(out)">
                                      <p:cBhvr>
                                        <p:cTn id="354" dur="2000"/>
                                        <p:tgtEl>
                                          <p:spTgt spid="93"/>
                                        </p:tgtEl>
                                      </p:cBhvr>
                                    </p:animEffect>
                                    <p:set>
                                      <p:cBhvr>
                                        <p:cTn id="355" dur="1" fill="hold">
                                          <p:stCondLst>
                                            <p:cond delay="1999"/>
                                          </p:stCondLst>
                                        </p:cTn>
                                        <p:tgtEl>
                                          <p:spTgt spid="93"/>
                                        </p:tgtEl>
                                        <p:attrNameLst>
                                          <p:attrName>style.visibility</p:attrName>
                                        </p:attrNameLst>
                                      </p:cBhvr>
                                      <p:to>
                                        <p:strVal val="hidden"/>
                                      </p:to>
                                    </p:set>
                                  </p:childTnLst>
                                </p:cTn>
                              </p:par>
                            </p:childTnLst>
                          </p:cTn>
                        </p:par>
                      </p:childTnLst>
                    </p:cTn>
                  </p:par>
                  <p:par>
                    <p:cTn id="356" fill="hold">
                      <p:stCondLst>
                        <p:cond delay="indefinite"/>
                      </p:stCondLst>
                      <p:childTnLst>
                        <p:par>
                          <p:cTn id="357" fill="hold">
                            <p:stCondLst>
                              <p:cond delay="0"/>
                            </p:stCondLst>
                            <p:childTnLst>
                              <p:par>
                                <p:cTn id="358" presetID="51" presetClass="entr" presetSubtype="0" fill="hold" grpId="1" nodeType="clickEffect">
                                  <p:stCondLst>
                                    <p:cond delay="0"/>
                                  </p:stCondLst>
                                  <p:childTnLst>
                                    <p:set>
                                      <p:cBhvr>
                                        <p:cTn id="359" dur="1" fill="hold">
                                          <p:stCondLst>
                                            <p:cond delay="0"/>
                                          </p:stCondLst>
                                        </p:cTn>
                                        <p:tgtEl>
                                          <p:spTgt spid="94"/>
                                        </p:tgtEl>
                                        <p:attrNameLst>
                                          <p:attrName>style.visibility</p:attrName>
                                        </p:attrNameLst>
                                      </p:cBhvr>
                                      <p:to>
                                        <p:strVal val="visible"/>
                                      </p:to>
                                    </p:set>
                                    <p:animEffect transition="in" filter="fade">
                                      <p:cBhvr>
                                        <p:cTn id="360" dur="770" decel="100000"/>
                                        <p:tgtEl>
                                          <p:spTgt spid="94"/>
                                        </p:tgtEl>
                                      </p:cBhvr>
                                    </p:animEffect>
                                    <p:animScale>
                                      <p:cBhvr>
                                        <p:cTn id="361" dur="770" decel="100000"/>
                                        <p:tgtEl>
                                          <p:spTgt spid="94"/>
                                        </p:tgtEl>
                                      </p:cBhvr>
                                      <p:from x="10000" y="10000"/>
                                      <p:to x="200000" y="450000"/>
                                    </p:animScale>
                                    <p:animScale>
                                      <p:cBhvr>
                                        <p:cTn id="362" dur="1230" accel="100000" fill="hold">
                                          <p:stCondLst>
                                            <p:cond delay="770"/>
                                          </p:stCondLst>
                                        </p:cTn>
                                        <p:tgtEl>
                                          <p:spTgt spid="94"/>
                                        </p:tgtEl>
                                      </p:cBhvr>
                                      <p:from x="200000" y="450000"/>
                                      <p:to x="100000" y="100000"/>
                                    </p:animScale>
                                    <p:set>
                                      <p:cBhvr>
                                        <p:cTn id="363" dur="770" fill="hold"/>
                                        <p:tgtEl>
                                          <p:spTgt spid="94"/>
                                        </p:tgtEl>
                                        <p:attrNameLst>
                                          <p:attrName>ppt_x</p:attrName>
                                        </p:attrNameLst>
                                      </p:cBhvr>
                                      <p:to>
                                        <p:strVal val="(0.5)"/>
                                      </p:to>
                                    </p:set>
                                    <p:anim from="(0.5)" to="(#ppt_x)" calcmode="lin" valueType="num">
                                      <p:cBhvr>
                                        <p:cTn id="364" dur="1230" accel="100000" fill="hold">
                                          <p:stCondLst>
                                            <p:cond delay="770"/>
                                          </p:stCondLst>
                                        </p:cTn>
                                        <p:tgtEl>
                                          <p:spTgt spid="94"/>
                                        </p:tgtEl>
                                        <p:attrNameLst>
                                          <p:attrName>ppt_x</p:attrName>
                                        </p:attrNameLst>
                                      </p:cBhvr>
                                    </p:anim>
                                    <p:set>
                                      <p:cBhvr>
                                        <p:cTn id="365" dur="770" fill="hold"/>
                                        <p:tgtEl>
                                          <p:spTgt spid="94"/>
                                        </p:tgtEl>
                                        <p:attrNameLst>
                                          <p:attrName>ppt_y</p:attrName>
                                        </p:attrNameLst>
                                      </p:cBhvr>
                                      <p:to>
                                        <p:strVal val="(#ppt_y+0.4)"/>
                                      </p:to>
                                    </p:set>
                                    <p:anim from="(#ppt_y+0.4)" to="(#ppt_y)" calcmode="lin" valueType="num">
                                      <p:cBhvr>
                                        <p:cTn id="366" dur="1230" accel="100000" fill="hold">
                                          <p:stCondLst>
                                            <p:cond delay="770"/>
                                          </p:stCondLst>
                                        </p:cTn>
                                        <p:tgtEl>
                                          <p:spTgt spid="9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bldLvl="0" animBg="1"/>
      <p:bldP spid="94" grpId="1"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内容占位符 3"/>
          <p:cNvSpPr/>
          <p:nvPr>
            <p:ph idx="1"/>
          </p:nvPr>
        </p:nvSpPr>
        <p:spPr>
          <a:xfrm>
            <a:off x="539750" y="1012190"/>
            <a:ext cx="8064500" cy="5145088"/>
          </a:xfrm>
        </p:spPr>
        <p:txBody>
          <a:bodyPr/>
          <a:p>
            <a:pPr marL="0" indent="0">
              <a:buNone/>
            </a:pPr>
            <a:r>
              <a:rPr lang="zh-CN" altLang="en-US" sz="2400"/>
              <a:t>1.3 评价标准的制定</a:t>
            </a:r>
            <a:endParaRPr lang="zh-CN" altLang="en-US" sz="2400"/>
          </a:p>
          <a:p>
            <a:r>
              <a:rPr lang="zh-CN" altLang="en-US" sz="2400"/>
              <a:t>        由于各个指标的量纲不同，其评价的标准也不同，为了将各个指标合成一个综合评价结果，首先必须将每个指标进行无量纲化处理，即将指标与其标准值相比较。因此，指标标准值在评价过程中是一组很重要的量，它是衡量人们对被评价对象的指标值满意程度的标准。</a:t>
            </a:r>
            <a:endParaRPr lang="zh-CN" altLang="en-US" sz="2400"/>
          </a:p>
          <a:p>
            <a:r>
              <a:rPr lang="zh-CN" altLang="en-US" sz="2400"/>
              <a:t>       本文根据地下水安全性研究的基本理论和济宁市地下水环境本质属性及特殊属性的实际情况,在参考关于指标体系评价标准建立的基础上制定了济宁市地下水环境安全性分级标准。</a:t>
            </a:r>
            <a:endParaRPr lang="zh-CN"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graphicFrame>
        <p:nvGraphicFramePr>
          <p:cNvPr id="0" name="表格 -1"/>
          <p:cNvGraphicFramePr/>
          <p:nvPr/>
        </p:nvGraphicFramePr>
        <p:xfrm>
          <a:off x="748030" y="936625"/>
          <a:ext cx="7647305" cy="5234940"/>
        </p:xfrm>
        <a:graphic>
          <a:graphicData uri="http://schemas.openxmlformats.org/drawingml/2006/table">
            <a:tbl>
              <a:tblPr firstRow="1" bandRow="1">
                <a:tableStyleId>{5940675A-B579-460E-94D1-54222C63F5DA}</a:tableStyleId>
              </a:tblPr>
              <a:tblGrid>
                <a:gridCol w="600075"/>
                <a:gridCol w="2571115"/>
                <a:gridCol w="1059180"/>
                <a:gridCol w="1093470"/>
                <a:gridCol w="1348740"/>
                <a:gridCol w="974725"/>
              </a:tblGrid>
              <a:tr h="491490">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序号</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指标</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强（</a:t>
                      </a:r>
                      <a:r>
                        <a:rPr lang="en-US" altLang="zh-CN" sz="1200" b="0" u="none">
                          <a:latin typeface="宋体" panose="02010600030101010101" pitchFamily="2" charset="-122"/>
                          <a:ea typeface="宋体" panose="02010600030101010101" pitchFamily="2" charset="-122"/>
                          <a:cs typeface="宋体" panose="02010600030101010101" pitchFamily="2" charset="-122"/>
                        </a:rPr>
                        <a:t>I</a:t>
                      </a:r>
                      <a:r>
                        <a:rPr lang="zh-CN" altLang="en-US" sz="1200" b="0" u="none">
                          <a:latin typeface="宋体" panose="02010600030101010101" pitchFamily="2" charset="-122"/>
                          <a:ea typeface="宋体" panose="02010600030101010101" pitchFamily="2" charset="-122"/>
                          <a:cs typeface="宋体" panose="02010600030101010101" pitchFamily="2" charset="-122"/>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较强（</a:t>
                      </a:r>
                      <a:r>
                        <a:rPr lang="en-US" altLang="zh-CN" sz="1200" b="0" u="none">
                          <a:latin typeface="宋体" panose="02010600030101010101" pitchFamily="2" charset="-122"/>
                          <a:ea typeface="宋体" panose="02010600030101010101" pitchFamily="2" charset="-122"/>
                          <a:cs typeface="宋体" panose="02010600030101010101" pitchFamily="2" charset="-122"/>
                        </a:rPr>
                        <a:t>II</a:t>
                      </a:r>
                      <a:r>
                        <a:rPr lang="zh-CN" altLang="en-US" sz="1200" b="0" u="none">
                          <a:latin typeface="宋体" panose="02010600030101010101" pitchFamily="2" charset="-122"/>
                          <a:ea typeface="宋体" panose="02010600030101010101" pitchFamily="2" charset="-122"/>
                          <a:cs typeface="宋体" panose="02010600030101010101" pitchFamily="2" charset="-122"/>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中等</a:t>
                      </a:r>
                      <a:r>
                        <a:rPr lang="en-US" altLang="zh-CN" sz="1200" b="0" u="none">
                          <a:latin typeface="宋体" panose="02010600030101010101" pitchFamily="2" charset="-122"/>
                          <a:ea typeface="宋体" panose="02010600030101010101" pitchFamily="2" charset="-122"/>
                          <a:cs typeface="宋体" panose="02010600030101010101" pitchFamily="2" charset="-122"/>
                        </a:rPr>
                        <a:t>(III)</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弱</a:t>
                      </a:r>
                      <a:r>
                        <a:rPr lang="en-US" altLang="zh-CN" sz="1200" b="0" u="none">
                          <a:latin typeface="宋体" panose="02010600030101010101" pitchFamily="2" charset="-122"/>
                          <a:ea typeface="宋体" panose="02010600030101010101" pitchFamily="2" charset="-122"/>
                          <a:cs typeface="宋体" panose="02010600030101010101" pitchFamily="2" charset="-122"/>
                        </a:rPr>
                        <a:t>(IV)</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384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人口增长率（</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193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含水层厚度（</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&lt;15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15-25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25-35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&gt;35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84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多年平均降水量</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(mm)(mm)</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&gt;750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550-750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350-550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&lt;350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20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单位人均</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GDP</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（万元）</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GDP</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（万元）</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0.7-2</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&lt;0.7</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84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地下水埋深</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&gt;30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15-30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3-15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36576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含水层岩性</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中细砂（</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细砂（</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8</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8</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粉细砂（</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淤土（</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447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地面坡度</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&lt;4(10)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4-10(8)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10-20(6)</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&gt;20(3)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257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人均水资源拥有量（</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&gt;3000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1500-3000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700-1500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&lt;700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447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9</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地表植被覆盖率</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&gt;60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40-60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20-40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&lt;20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193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农业区有效灌溉面积比重</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&gt;80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50-80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20-50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&lt;20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193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11</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平均化肥使用量（</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kg/kmkg/km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&lt;300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300-600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600-1000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&gt;1000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447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平均农药使用量（</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kg/kmkg/km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50-150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150-200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&gt;200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48577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主要污染源类型</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生活垃圾</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酿造也，农业污染</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8</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8</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皮革，化工冶金</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酿造业（</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6</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垃圾填埋场</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3</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20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地下水水质状况</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I(10)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II(8)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III(6)</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IV(3)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20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15</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工业万元产值取水量（</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mm/</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万元）万元）</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&lt;10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10-40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40-70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&gt;70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840">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16</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地下水矿化度（</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mg/L</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mg/L</a:t>
                      </a: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&lt;1000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1000-2000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2000-3000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&gt;3000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193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17</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工业用水重复利用率</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&gt;90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70-90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50-70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&lt;50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243205">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rPr>
                        <a:t>地面沉降等级</a:t>
                      </a:r>
                      <a:endParaRPr lang="zh-CN" altLang="en-US"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I(10)</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II(8)</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III(6)</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rPr>
                        <a:t>IV(3)</a:t>
                      </a:r>
                      <a:endParaRPr lang="en-US" altLang="zh-CN" sz="12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000"/>
              <a:t>关键脚本语言为：</a:t>
            </a:r>
            <a:endParaRPr lang="zh-CN" altLang="en-US" sz="2000"/>
          </a:p>
          <a:p>
            <a:r>
              <a:rPr lang="en-US" altLang="zh-CN" sz="2000"/>
              <a:t>clc</a:t>
            </a:r>
            <a:endParaRPr lang="en-US" altLang="zh-CN" sz="2000"/>
          </a:p>
          <a:p>
            <a:r>
              <a:rPr lang="en-US" altLang="zh-CN" sz="2000"/>
              <a:t>clear all</a:t>
            </a:r>
            <a:endParaRPr lang="en-US" altLang="zh-CN" sz="2000"/>
          </a:p>
          <a:p>
            <a:r>
              <a:rPr lang="zh-CN" altLang="en-US" sz="2000"/>
              <a:t>net=newff(minmax(p),[18,1],{'tansig','purelin'});/p为评价体系</a:t>
            </a:r>
            <a:endParaRPr lang="zh-CN" altLang="en-US" sz="2000"/>
          </a:p>
          <a:p>
            <a:r>
              <a:rPr lang="zh-CN" altLang="en-US" sz="2000"/>
              <a:t>net.trainParam.show=50;</a:t>
            </a:r>
            <a:endParaRPr lang="zh-CN" altLang="en-US" sz="2000"/>
          </a:p>
          <a:p>
            <a:r>
              <a:rPr lang="zh-CN" altLang="en-US" sz="2000">
                <a:sym typeface="+mn-ea"/>
              </a:rPr>
              <a:t>net.trainParam.</a:t>
            </a:r>
            <a:r>
              <a:rPr lang="en-US" altLang="zh-CN" sz="2000"/>
              <a:t>lr=0.01;</a:t>
            </a:r>
            <a:endParaRPr lang="en-US" altLang="zh-CN" sz="2000"/>
          </a:p>
          <a:p>
            <a:r>
              <a:rPr lang="zh-CN" altLang="en-US" sz="2000"/>
              <a:t>net.trainParam.epochs=300;/设置训练次数。</a:t>
            </a:r>
            <a:endParaRPr lang="zh-CN" altLang="en-US" sz="2000"/>
          </a:p>
          <a:p>
            <a:r>
              <a:rPr lang="zh-CN" altLang="en-US" sz="2000"/>
              <a:t>net.trainParam.goal=1e-2;/设置训练误差。</a:t>
            </a:r>
            <a:endParaRPr lang="zh-CN" altLang="en-US" sz="2000"/>
          </a:p>
          <a:p>
            <a:r>
              <a:rPr lang="zh-CN" altLang="en-US" sz="2000"/>
              <a:t>net=train(net,p,t);/t为期望输出值。</a:t>
            </a:r>
            <a:endParaRPr lang="zh-CN" altLang="en-US" sz="2000"/>
          </a:p>
          <a:p>
            <a:r>
              <a:rPr lang="zh-CN" altLang="en-US" sz="2000">
                <a:sym typeface="+mn-ea"/>
              </a:rPr>
              <a:t>V = net.iw{1,1}%输入层到中间层权值</a:t>
            </a:r>
            <a:endParaRPr lang="zh-CN" altLang="en-US" sz="2000"/>
          </a:p>
          <a:p>
            <a:r>
              <a:rPr lang="zh-CN" altLang="en-US" sz="2000">
                <a:sym typeface="+mn-ea"/>
              </a:rPr>
              <a:t>theta1 = net.b{1}%中间层各神经元阈值</a:t>
            </a:r>
            <a:endParaRPr lang="zh-CN" altLang="en-US" sz="2000"/>
          </a:p>
          <a:p>
            <a:r>
              <a:rPr lang="zh-CN" altLang="en-US" sz="2000">
                <a:sym typeface="+mn-ea"/>
              </a:rPr>
              <a:t>W = net.lw{2,1}%中间层到输出层权值</a:t>
            </a:r>
            <a:endParaRPr lang="zh-CN" altLang="en-US" sz="2000"/>
          </a:p>
          <a:p>
            <a:r>
              <a:rPr lang="zh-CN" altLang="en-US" sz="2000">
                <a:sym typeface="+mn-ea"/>
              </a:rPr>
              <a:t>theta2 = net.b{2}%输出层各神经元阈值</a:t>
            </a:r>
            <a:endParaRPr lang="zh-CN" altLang="en-US" sz="2000">
              <a:sym typeface="+mn-ea"/>
            </a:endParaRPr>
          </a:p>
          <a:p>
            <a:endParaRPr lang="zh-CN" altLang="en-US" sz="2000"/>
          </a:p>
          <a:p>
            <a:endParaRPr lang="zh-CN" altLang="en-US" sz="2000"/>
          </a:p>
          <a:p>
            <a:endParaRPr lang="zh-CN" alt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9" descr="训练结果图"/>
          <p:cNvPicPr>
            <a:picLocks noChangeAspect="1"/>
          </p:cNvPicPr>
          <p:nvPr>
            <p:ph idx="1"/>
          </p:nvPr>
        </p:nvPicPr>
        <p:blipFill>
          <a:blip r:embed="rId1"/>
          <a:stretch>
            <a:fillRect/>
          </a:stretch>
        </p:blipFill>
        <p:spPr>
          <a:xfrm>
            <a:off x="251460" y="1412875"/>
            <a:ext cx="4282440" cy="3481705"/>
          </a:xfrm>
          <a:prstGeom prst="rect">
            <a:avLst/>
          </a:prstGeom>
          <a:noFill/>
          <a:ln w="9525">
            <a:noFill/>
            <a:miter/>
          </a:ln>
        </p:spPr>
      </p:pic>
      <p:pic>
        <p:nvPicPr>
          <p:cNvPr id="4" name="图片 30" descr="训练参数变化曲线图"/>
          <p:cNvPicPr>
            <a:picLocks noChangeAspect="1"/>
          </p:cNvPicPr>
          <p:nvPr/>
        </p:nvPicPr>
        <p:blipFill>
          <a:blip r:embed="rId2"/>
          <a:stretch>
            <a:fillRect/>
          </a:stretch>
        </p:blipFill>
        <p:spPr>
          <a:xfrm>
            <a:off x="4572000" y="1412875"/>
            <a:ext cx="4351655" cy="3476625"/>
          </a:xfrm>
          <a:prstGeom prst="rect">
            <a:avLst/>
          </a:prstGeom>
          <a:noFill/>
          <a:ln w="9525">
            <a:noFill/>
            <a:miter/>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sz="1800"/>
              <a:t>1</a:t>
            </a:r>
            <a:r>
              <a:rPr lang="zh-CN" altLang="en-US" sz="1800"/>
              <a:t>.4采样点的选取</a:t>
            </a:r>
            <a:endParaRPr lang="zh-CN" altLang="en-US" sz="1800"/>
          </a:p>
          <a:p>
            <a:r>
              <a:rPr lang="zh-CN" altLang="en-US" sz="1800"/>
              <a:t>    在进行济宁市地下水安全性分析时，主要有两种方法进行整个区域的安全性评价与分析，一种是以量化栅格为处理单元，一种是以随机采样点为处理单元。采样点指能表示一定区域范围相关属性的代表点。前者主要适用于进行研究区相对较小，对评价结果的精度要求较高。后者主要适用于区域较大，若按照第一种方法的话将使使得计算量过大，同时等级评价结果过于细化，从而影响对结果的评价分析。本文研究区面积较大，宜采用第二种方式。采样数量N依据二项式概率理论，N可以通过如下公式计算。</a:t>
            </a:r>
            <a:endParaRPr lang="zh-CN" altLang="en-US" sz="1800"/>
          </a:p>
          <a:p>
            <a:r>
              <a:rPr lang="zh-CN" altLang="en-US" sz="1800"/>
              <a:t>                               </a:t>
            </a:r>
            <a:endParaRPr lang="zh-CN" altLang="en-US" sz="1800"/>
          </a:p>
          <a:p>
            <a:endParaRPr lang="zh-CN" altLang="en-US" sz="1800"/>
          </a:p>
          <a:p>
            <a:endParaRPr lang="zh-CN" altLang="en-US" sz="1800"/>
          </a:p>
          <a:p>
            <a:r>
              <a:rPr lang="zh-CN" altLang="en-US" sz="1800"/>
              <a:t>式中, p 是整幅图的期望百分比精度，q = 100 – p；E 允许误差；Z = 2 表示1.96的标准正态误差, 95% 的双侧置信度。选取期望精度为 85% ,而允许误差为 15% (即准确率为 85%)，可以得到采样点数量为27。通过ArcGis软件随机采样工具进行采样。</a:t>
            </a:r>
            <a:endParaRPr lang="zh-CN" altLang="en-US" sz="1800"/>
          </a:p>
        </p:txBody>
      </p:sp>
      <p:graphicFrame>
        <p:nvGraphicFramePr>
          <p:cNvPr id="4" name="对象 3"/>
          <p:cNvGraphicFramePr/>
          <p:nvPr/>
        </p:nvGraphicFramePr>
        <p:xfrm>
          <a:off x="3465830" y="3344545"/>
          <a:ext cx="1753235" cy="796290"/>
        </p:xfrm>
        <a:graphic>
          <a:graphicData uri="http://schemas.openxmlformats.org/presentationml/2006/ole">
            <mc:AlternateContent xmlns:mc="http://schemas.openxmlformats.org/markup-compatibility/2006">
              <mc:Choice xmlns:v="urn:schemas-microsoft-com:vml" Requires="v">
                <p:oleObj spid="_x0000_s5" name="" r:id="rId1" imgW="1577975" imgH="888365" progId="Equation.DSMT4">
                  <p:embed/>
                </p:oleObj>
              </mc:Choice>
              <mc:Fallback>
                <p:oleObj name="" r:id="rId1" imgW="1577975" imgH="888365" progId="Equation.DSMT4">
                  <p:embed/>
                  <p:pic>
                    <p:nvPicPr>
                      <p:cNvPr id="0" name="图片 4"/>
                      <p:cNvPicPr/>
                      <p:nvPr/>
                    </p:nvPicPr>
                    <p:blipFill>
                      <a:blip r:embed="rId2"/>
                      <a:stretch>
                        <a:fillRect/>
                      </a:stretch>
                    </p:blipFill>
                    <p:spPr>
                      <a:xfrm>
                        <a:off x="3465830" y="3344545"/>
                        <a:ext cx="1753235" cy="796290"/>
                      </a:xfrm>
                      <a:prstGeom prst="rect">
                        <a:avLst/>
                      </a:prstGeom>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187" descr="采样点分布图"/>
          <p:cNvPicPr>
            <a:picLocks noChangeAspect="1"/>
          </p:cNvPicPr>
          <p:nvPr>
            <p:ph idx="1"/>
          </p:nvPr>
        </p:nvPicPr>
        <p:blipFill>
          <a:blip r:embed="rId1"/>
          <a:stretch>
            <a:fillRect/>
          </a:stretch>
        </p:blipFill>
        <p:spPr>
          <a:xfrm>
            <a:off x="2760345" y="1160780"/>
            <a:ext cx="3623945" cy="4690110"/>
          </a:xfrm>
          <a:prstGeom prst="rect">
            <a:avLst/>
          </a:prstGeom>
          <a:noFill/>
          <a:ln w="9525">
            <a:noFill/>
            <a:miter/>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graphicFrame>
        <p:nvGraphicFramePr>
          <p:cNvPr id="0" name="表格 -1"/>
          <p:cNvGraphicFramePr/>
          <p:nvPr/>
        </p:nvGraphicFramePr>
        <p:xfrm>
          <a:off x="808355" y="1073785"/>
          <a:ext cx="7660005" cy="5121910"/>
        </p:xfrm>
        <a:graphic>
          <a:graphicData uri="http://schemas.openxmlformats.org/drawingml/2006/table">
            <a:tbl>
              <a:tblPr firstRow="1" bandRow="1">
                <a:tableStyleId>{5940675A-B579-460E-94D1-54222C63F5DA}</a:tableStyleId>
              </a:tblPr>
              <a:tblGrid>
                <a:gridCol w="370840"/>
                <a:gridCol w="393065"/>
                <a:gridCol w="379730"/>
                <a:gridCol w="433705"/>
                <a:gridCol w="433070"/>
                <a:gridCol w="340360"/>
                <a:gridCol w="258445"/>
                <a:gridCol w="373380"/>
                <a:gridCol w="468630"/>
                <a:gridCol w="469900"/>
                <a:gridCol w="381000"/>
                <a:gridCol w="502920"/>
                <a:gridCol w="516255"/>
                <a:gridCol w="334645"/>
                <a:gridCol w="335280"/>
                <a:gridCol w="455295"/>
                <a:gridCol w="478790"/>
                <a:gridCol w="361315"/>
                <a:gridCol w="373380"/>
              </a:tblGrid>
              <a:tr h="163830">
                <a:tc>
                  <a:txBody>
                    <a:bodyPr/>
                    <a:p>
                      <a:pPr marL="0" indent="0" algn="l">
                        <a:buNone/>
                      </a:pPr>
                      <a:endParaRPr lang="zh-CN" altLang="en-US"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5</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9</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11</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15</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16</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17</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29.4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656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26.5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1093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32.7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1258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351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540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26.9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1024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5</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1024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982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1769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690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94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2032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1572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9</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680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97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2032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1678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1428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351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11</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419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1726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1.61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365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40.2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1070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1.63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365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15</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16</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540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1.91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28.6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802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2073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17</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1.92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802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1826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630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26.9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19</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20</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540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450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1536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21</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570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450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29.7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636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22</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530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450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517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23</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1582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351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24</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25</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59</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1926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150">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26</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1.84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87</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1376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945">
                <a:tc>
                  <a:txBody>
                    <a:bodyPr/>
                    <a:p>
                      <a:pPr marL="0" indent="0" algn="ctr">
                        <a:buNone/>
                      </a:pPr>
                      <a:r>
                        <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rPr>
                        <a:t>27</a:t>
                      </a:r>
                      <a:endParaRPr lang="en-US" altLang="zh-CN" sz="10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553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1.76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300</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85</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896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423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6</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71</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1078</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72</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endParaRPr lang="en-US" altLang="zh-CN" sz="1000" b="0" u="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vert="horz" anchor="ctr">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sz="2600">
                <a:latin typeface="宋体" panose="02010600030101010101" pitchFamily="2" charset="-122"/>
                <a:ea typeface="宋体" panose="02010600030101010101" pitchFamily="2" charset="-122"/>
              </a:rPr>
              <a:t>clc</a:t>
            </a:r>
            <a:endParaRPr lang="en-US" altLang="zh-CN" sz="2600">
              <a:latin typeface="宋体" panose="02010600030101010101" pitchFamily="2" charset="-122"/>
              <a:ea typeface="宋体" panose="02010600030101010101" pitchFamily="2" charset="-122"/>
            </a:endParaRPr>
          </a:p>
          <a:p>
            <a:r>
              <a:rPr lang="en-US" altLang="zh-CN" sz="2600">
                <a:latin typeface="宋体" panose="02010600030101010101" pitchFamily="2" charset="-122"/>
                <a:ea typeface="宋体" panose="02010600030101010101" pitchFamily="2" charset="-122"/>
              </a:rPr>
              <a:t>fz=sim(net,pp);</a:t>
            </a:r>
            <a:endParaRPr lang="en-US" altLang="zh-CN" sz="2600">
              <a:latin typeface="宋体" panose="02010600030101010101" pitchFamily="2" charset="-122"/>
              <a:ea typeface="宋体" panose="02010600030101010101" pitchFamily="2" charset="-122"/>
            </a:endParaRPr>
          </a:p>
        </p:txBody>
      </p:sp>
      <p:graphicFrame>
        <p:nvGraphicFramePr>
          <p:cNvPr id="0" name="表格 -1"/>
          <p:cNvGraphicFramePr/>
          <p:nvPr/>
        </p:nvGraphicFramePr>
        <p:xfrm>
          <a:off x="759460" y="2167255"/>
          <a:ext cx="7844790" cy="3801745"/>
        </p:xfrm>
        <a:graphic>
          <a:graphicData uri="http://schemas.openxmlformats.org/drawingml/2006/table">
            <a:tbl>
              <a:tblPr firstRow="1" bandRow="1">
                <a:tableStyleId>{5940675A-B579-460E-94D1-54222C63F5DA}</a:tableStyleId>
              </a:tblPr>
              <a:tblGrid>
                <a:gridCol w="538480"/>
                <a:gridCol w="769620"/>
                <a:gridCol w="571500"/>
                <a:gridCol w="560705"/>
                <a:gridCol w="828675"/>
                <a:gridCol w="544830"/>
                <a:gridCol w="557530"/>
                <a:gridCol w="782320"/>
                <a:gridCol w="666115"/>
                <a:gridCol w="540385"/>
                <a:gridCol w="831215"/>
                <a:gridCol w="653415"/>
              </a:tblGrid>
              <a:tr h="248285">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编号</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输出值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等级</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编号</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输出值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等级</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编号</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输出值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fontAlgn="auto">
                        <a:spcBef>
                          <a:spcPts val="600"/>
                        </a:spcBef>
                        <a:spcAft>
                          <a:spcPts val="600"/>
                        </a:spcAft>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等级</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algn="ctr" fontAlgn="auto">
                        <a:spcBef>
                          <a:spcPts val="600"/>
                        </a:spcBef>
                        <a:spcAft>
                          <a:spcPts val="600"/>
                        </a:spcAft>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编号</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algn="ctr" fontAlgn="auto">
                        <a:spcBef>
                          <a:spcPts val="600"/>
                        </a:spcBef>
                        <a:spcAft>
                          <a:spcPts val="600"/>
                        </a:spcAft>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输出值</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algn="ctr" fontAlgn="auto">
                        <a:spcBef>
                          <a:spcPts val="600"/>
                        </a:spcBef>
                        <a:spcAft>
                          <a:spcPts val="600"/>
                        </a:spcAft>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等级</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7365">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0.1904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III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8</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-1.1764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1.4082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-0.3165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8000">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-0.4125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9</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-1.3982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0.0130</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23</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-0.5811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8000">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3</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-0.7706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10</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-1.3864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17</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0.3231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III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-1.0091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6730">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0.4299</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III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-1.2086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18</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1.8007</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0.1912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III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8000">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0.4349</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III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-1.1596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19</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1.0741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0.1389</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7365">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6</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-1.0885</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13</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-0.3691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20</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-0.3593</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27</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-0.3502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c>
                  <a:txBody>
                    <a:bodyPr/>
                    <a:p>
                      <a:pPr marL="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404812" cap="flat" cmpd="sng">
                      <a:solidFill>
                        <a:srgbClr val="FFFFFF"/>
                      </a:solidFill>
                      <a:prstDash val="solid"/>
                      <a:headEnd type="none" w="med" len="med"/>
                      <a:tailEnd type="none" w="med" len="med"/>
                    </a:lnB>
                    <a:lnTlToBr>
                      <a:noFill/>
                    </a:lnTlToBr>
                    <a:lnBlToTr>
                      <a:noFill/>
                    </a:lnBlToTr>
                    <a:noFill/>
                  </a:tcPr>
                </a:tc>
              </a:tr>
              <a:tr h="508000">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7</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w="404812" cap="flat" cmpd="sng">
                      <a:solidFill>
                        <a:srgbClr val="FFFFFF"/>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-1.0237</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w="404812" cap="flat" cmpd="sng">
                      <a:solidFill>
                        <a:srgbClr val="FFFFFF"/>
                      </a:solidFill>
                      <a:prstDash val="solid"/>
                      <a:headEnd type="none" w="med" len="med"/>
                      <a:tailEnd type="none" w="med" len="med"/>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14</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1.6820</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21</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-0.4002</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1200" b="0" u="none">
                          <a:latin typeface="Times New Roman" panose="02020603050405020304" pitchFamily="18" charset="0"/>
                          <a:ea typeface="宋体" panose="02010600030101010101" pitchFamily="2" charset="-122"/>
                          <a:cs typeface="宋体" panose="02010600030101010101" pitchFamily="2" charset="-122"/>
                        </a:rPr>
                        <a:t>IV</a:t>
                      </a:r>
                      <a:endParaRPr lang="en-US" altLang="zh-CN" sz="1200" b="0" u="none">
                        <a:latin typeface="Times New Roman" panose="02020603050405020304" pitchFamily="18" charset="0"/>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700" b="0" u="none">
                          <a:latin typeface="宋体" panose="02010600030101010101" pitchFamily="2" charset="-122"/>
                          <a:ea typeface="宋体" panose="02010600030101010101" pitchFamily="2" charset="-122"/>
                          <a:cs typeface="宋体" panose="02010600030101010101" pitchFamily="2" charset="-122"/>
                        </a:rPr>
                        <a:t> </a:t>
                      </a:r>
                      <a:endParaRPr lang="zh-CN" altLang="en-US" sz="7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en-US" altLang="zh-CN" sz="700" b="0" u="none">
                          <a:latin typeface="宋体" panose="02010600030101010101" pitchFamily="2" charset="-122"/>
                          <a:ea typeface="宋体" panose="02010600030101010101" pitchFamily="2" charset="-122"/>
                          <a:cs typeface="宋体" panose="02010600030101010101" pitchFamily="2" charset="-122"/>
                        </a:rPr>
                        <a:t> </a:t>
                      </a:r>
                      <a:endParaRPr lang="zh-CN" altLang="en-US" sz="7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cap="flat">
                      <a:noFill/>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endParaRPr lang="zh-CN" altLang="en-US" sz="700" b="0"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cap="flat">
                      <a:noFill/>
                    </a:lnL>
                    <a:lnR w="9525" cap="flat" cmpd="sng">
                      <a:solidFill>
                        <a:srgbClr val="000000"/>
                      </a:solidFill>
                      <a:prstDash val="solid"/>
                      <a:headEnd type="none" w="med" len="med"/>
                      <a:tailEnd type="none" w="med" len="med"/>
                    </a:lnR>
                    <a:lnT w="404812" cap="flat" cmpd="sng">
                      <a:solidFill>
                        <a:srgbClr val="FFFFFF"/>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58" descr="等级评定指数"/>
          <p:cNvPicPr>
            <a:picLocks noChangeAspect="1"/>
          </p:cNvPicPr>
          <p:nvPr>
            <p:ph idx="1"/>
          </p:nvPr>
        </p:nvPicPr>
        <p:blipFill>
          <a:blip r:embed="rId1"/>
          <a:srcRect t="12842" b="1901"/>
          <a:stretch>
            <a:fillRect/>
          </a:stretch>
        </p:blipFill>
        <p:spPr>
          <a:xfrm>
            <a:off x="2628265" y="836930"/>
            <a:ext cx="3975735" cy="5145405"/>
          </a:xfrm>
          <a:prstGeom prst="rect">
            <a:avLst/>
          </a:prstGeom>
          <a:noFill/>
          <a:ln w="9525">
            <a:noFill/>
            <a:miter/>
          </a:ln>
        </p:spPr>
      </p:pic>
      <p:sp>
        <p:nvSpPr>
          <p:cNvPr id="100" name="文本框 99"/>
          <p:cNvSpPr txBox="1"/>
          <p:nvPr/>
        </p:nvSpPr>
        <p:spPr>
          <a:xfrm>
            <a:off x="1764030" y="5805805"/>
            <a:ext cx="5080000" cy="365760"/>
          </a:xfrm>
          <a:prstGeom prst="rect">
            <a:avLst/>
          </a:prstGeom>
          <a:noFill/>
          <a:ln w="9525">
            <a:noFill/>
            <a:miter/>
          </a:ln>
        </p:spPr>
        <p:txBody>
          <a:bodyPr>
            <a:spAutoFit/>
          </a:bodyPr>
          <a:p>
            <a:pPr marL="0" indent="0" algn="l"/>
            <a:r>
              <a:rPr lang="en-US" altLang="zh-CN" b="0" u="none">
                <a:latin typeface="黑体" panose="02010609060101010101" charset="-122"/>
                <a:ea typeface="黑体" panose="02010609060101010101" charset="-122"/>
                <a:cs typeface="黑体" panose="02010609060101010101" charset="-122"/>
              </a:rPr>
              <a:t>           </a:t>
            </a:r>
            <a:r>
              <a:rPr lang="zh-CN" altLang="en-US" b="0" u="none">
                <a:latin typeface="黑体" panose="02010609060101010101" charset="-122"/>
                <a:ea typeface="黑体" panose="02010609060101010101" charset="-122"/>
                <a:cs typeface="黑体" panose="02010609060101010101" charset="-122"/>
              </a:rPr>
              <a:t>图</a:t>
            </a:r>
            <a:r>
              <a:rPr lang="en-US" altLang="zh-CN" b="0" u="none">
                <a:latin typeface="黑体" panose="02010609060101010101" charset="-122"/>
                <a:ea typeface="黑体" panose="02010609060101010101" charset="-122"/>
                <a:cs typeface="黑体" panose="02010609060101010101" charset="-122"/>
              </a:rPr>
              <a:t>3 </a:t>
            </a:r>
            <a:r>
              <a:rPr lang="zh-CN" altLang="en-US" b="0" u="none">
                <a:latin typeface="黑体" panose="02010609060101010101" charset="-122"/>
                <a:ea typeface="黑体" panose="02010609060101010101" charset="-122"/>
                <a:cs typeface="黑体" panose="02010609060101010101" charset="-122"/>
              </a:rPr>
              <a:t>ＢＰ仿真值空间插值分布图　</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59" descr="等级评价结果"/>
          <p:cNvPicPr>
            <a:picLocks noChangeAspect="1"/>
          </p:cNvPicPr>
          <p:nvPr>
            <p:ph idx="1"/>
          </p:nvPr>
        </p:nvPicPr>
        <p:blipFill>
          <a:blip r:embed="rId1"/>
          <a:srcRect t="9839" b="1953"/>
          <a:stretch>
            <a:fillRect/>
          </a:stretch>
        </p:blipFill>
        <p:spPr>
          <a:xfrm>
            <a:off x="2555875" y="836930"/>
            <a:ext cx="3975735" cy="5145405"/>
          </a:xfrm>
          <a:prstGeom prst="rect">
            <a:avLst/>
          </a:prstGeom>
          <a:noFill/>
          <a:ln w="9525">
            <a:noFill/>
            <a:miter/>
          </a:ln>
        </p:spPr>
      </p:pic>
      <p:sp>
        <p:nvSpPr>
          <p:cNvPr id="100" name="文本框 99"/>
          <p:cNvSpPr txBox="1"/>
          <p:nvPr/>
        </p:nvSpPr>
        <p:spPr>
          <a:xfrm>
            <a:off x="1764030" y="5949315"/>
            <a:ext cx="5080000" cy="365760"/>
          </a:xfrm>
          <a:prstGeom prst="rect">
            <a:avLst/>
          </a:prstGeom>
          <a:noFill/>
          <a:ln w="9525">
            <a:noFill/>
            <a:miter/>
          </a:ln>
        </p:spPr>
        <p:txBody>
          <a:bodyPr>
            <a:spAutoFit/>
          </a:bodyPr>
          <a:p>
            <a:pPr marL="0" indent="191135" algn="ctr"/>
            <a:r>
              <a:rPr lang="en-US" altLang="zh-CN" b="0" u="none">
                <a:latin typeface="黑体" panose="02010609060101010101" charset="-122"/>
                <a:ea typeface="黑体" panose="02010609060101010101" charset="-122"/>
                <a:cs typeface="黑体" panose="02010609060101010101" charset="-122"/>
              </a:rPr>
              <a:t>   </a:t>
            </a:r>
            <a:r>
              <a:rPr lang="zh-CN" altLang="en-US" b="0" u="none">
                <a:latin typeface="黑体" panose="02010609060101010101" charset="-122"/>
                <a:ea typeface="黑体" panose="02010609060101010101" charset="-122"/>
                <a:cs typeface="黑体" panose="02010609060101010101" charset="-122"/>
              </a:rPr>
              <a:t>图</a:t>
            </a:r>
            <a:r>
              <a:rPr lang="en-US" altLang="zh-CN" b="0" u="none">
                <a:latin typeface="黑体" panose="02010609060101010101" charset="-122"/>
                <a:ea typeface="黑体" panose="02010609060101010101" charset="-122"/>
                <a:cs typeface="黑体" panose="02010609060101010101" charset="-122"/>
              </a:rPr>
              <a:t>4 </a:t>
            </a:r>
            <a:r>
              <a:rPr lang="zh-CN" altLang="en-US" b="0" u="none">
                <a:latin typeface="黑体" panose="02010609060101010101" charset="-122"/>
                <a:ea typeface="黑体" panose="02010609060101010101" charset="-122"/>
                <a:cs typeface="黑体" panose="02010609060101010101" charset="-122"/>
              </a:rPr>
              <a:t>地下水安全性等级分布图</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a:p>
            <a:endParaRPr lang="zh-CN" altLang="en-US"/>
          </a:p>
          <a:p>
            <a:endParaRPr lang="zh-CN" altLang="en-US"/>
          </a:p>
          <a:p>
            <a:r>
              <a:rPr lang="zh-CN" altLang="en-US" sz="1400"/>
              <a:t>                                   图</a:t>
            </a:r>
            <a:r>
              <a:rPr lang="en-US" altLang="zh-CN" sz="1400"/>
              <a:t>5 </a:t>
            </a:r>
            <a:r>
              <a:rPr lang="zh-CN" altLang="en-US" sz="1400"/>
              <a:t>济宁市各县市地下水安全等级比例图</a:t>
            </a:r>
            <a:endParaRPr lang="zh-CN" altLang="en-US" sz="1400"/>
          </a:p>
        </p:txBody>
      </p:sp>
      <p:pic>
        <p:nvPicPr>
          <p:cNvPr id="4" name="图片 64" descr="各县市安全性等级"/>
          <p:cNvPicPr>
            <a:picLocks noChangeAspect="1"/>
          </p:cNvPicPr>
          <p:nvPr/>
        </p:nvPicPr>
        <p:blipFill>
          <a:blip r:embed="rId1"/>
          <a:srcRect t="12067"/>
          <a:stretch>
            <a:fillRect/>
          </a:stretch>
        </p:blipFill>
        <p:spPr>
          <a:xfrm>
            <a:off x="1835785" y="908685"/>
            <a:ext cx="5166360" cy="1791335"/>
          </a:xfrm>
          <a:prstGeom prst="rect">
            <a:avLst/>
          </a:prstGeom>
          <a:noFill/>
          <a:ln w="9525">
            <a:noFill/>
            <a:miter/>
          </a:ln>
        </p:spPr>
      </p:pic>
      <p:pic>
        <p:nvPicPr>
          <p:cNvPr id="5" name="图片 56" descr="renwen"/>
          <p:cNvPicPr>
            <a:picLocks noChangeAspect="1"/>
          </p:cNvPicPr>
          <p:nvPr/>
        </p:nvPicPr>
        <p:blipFill>
          <a:blip r:embed="rId2"/>
          <a:srcRect t="3877" b="3052"/>
          <a:stretch>
            <a:fillRect/>
          </a:stretch>
        </p:blipFill>
        <p:spPr>
          <a:xfrm>
            <a:off x="1764030" y="3285490"/>
            <a:ext cx="4653915" cy="2188845"/>
          </a:xfrm>
          <a:prstGeom prst="rect">
            <a:avLst/>
          </a:prstGeom>
          <a:noFill/>
          <a:ln w="9525">
            <a:noFill/>
            <a:miter/>
          </a:ln>
        </p:spPr>
      </p:pic>
      <p:sp>
        <p:nvSpPr>
          <p:cNvPr id="100" name="文本框 99"/>
          <p:cNvSpPr txBox="1"/>
          <p:nvPr/>
        </p:nvSpPr>
        <p:spPr>
          <a:xfrm>
            <a:off x="1691640" y="5517515"/>
            <a:ext cx="5080000" cy="304800"/>
          </a:xfrm>
          <a:prstGeom prst="rect">
            <a:avLst/>
          </a:prstGeom>
          <a:noFill/>
          <a:ln w="9525">
            <a:noFill/>
            <a:miter/>
          </a:ln>
        </p:spPr>
        <p:txBody>
          <a:bodyPr>
            <a:spAutoFit/>
          </a:bodyPr>
          <a:p>
            <a:pPr marL="0" indent="0" algn="ctr"/>
            <a:r>
              <a:rPr lang="zh-CN" altLang="en-US" sz="1400" b="1" u="none">
                <a:latin typeface="黑体" panose="02010609060101010101" charset="-122"/>
                <a:ea typeface="黑体" panose="02010609060101010101" charset="-122"/>
                <a:cs typeface="黑体" panose="02010609060101010101" charset="-122"/>
              </a:rPr>
              <a:t>图</a:t>
            </a:r>
            <a:r>
              <a:rPr lang="en-US" altLang="zh-CN" sz="1400" b="1" u="none">
                <a:latin typeface="黑体" panose="02010609060101010101" charset="-122"/>
                <a:ea typeface="黑体" panose="02010609060101010101" charset="-122"/>
                <a:cs typeface="黑体" panose="02010609060101010101" charset="-122"/>
              </a:rPr>
              <a:t>6 </a:t>
            </a:r>
            <a:r>
              <a:rPr lang="zh-CN" altLang="en-US" sz="1400" b="1" u="none">
                <a:latin typeface="黑体" panose="02010609060101010101" charset="-122"/>
                <a:ea typeface="黑体" panose="02010609060101010101" charset="-122"/>
                <a:cs typeface="黑体" panose="02010609060101010101" charset="-122"/>
              </a:rPr>
              <a:t>济宁市人文影响数值分析图</a:t>
            </a:r>
            <a:endParaRPr lang="zh-CN" altLang="en-US" sz="1400" b="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30530" y="970280"/>
            <a:ext cx="8064500" cy="5145088"/>
          </a:xfrm>
        </p:spPr>
        <p:txBody>
          <a:bodyPr/>
          <a:p>
            <a:r>
              <a:rPr lang="zh-CN" altLang="en-US" sz="1900">
                <a:latin typeface="宋体" panose="02010600030101010101" pitchFamily="2" charset="-122"/>
                <a:ea typeface="宋体" panose="02010600030101010101" pitchFamily="2" charset="-122"/>
              </a:rPr>
              <a:t>经过对研究结果的定性分析，结合研究区实际情况，得出以下结论。</a:t>
            </a:r>
            <a:endParaRPr lang="zh-CN" altLang="en-US" sz="1900">
              <a:latin typeface="宋体" panose="02010600030101010101" pitchFamily="2" charset="-122"/>
              <a:ea typeface="宋体" panose="02010600030101010101" pitchFamily="2" charset="-122"/>
            </a:endParaRPr>
          </a:p>
          <a:p>
            <a:r>
              <a:rPr lang="zh-CN" altLang="en-US" sz="1900">
                <a:latin typeface="宋体" panose="02010600030101010101" pitchFamily="2" charset="-122"/>
                <a:ea typeface="宋体" panose="02010600030101010101" pitchFamily="2" charset="-122"/>
              </a:rPr>
              <a:t>    (1)从人为和自然两方面出发，综合已有相关研究成果，建立了影响地下水安全性的评价指标体系，利用神经网络技术完成了对济宁市地下水的安全性评价，得到了较为全面准确的济宁市地下水安全性分布图。</a:t>
            </a:r>
            <a:endParaRPr lang="zh-CN" altLang="en-US" sz="1900">
              <a:latin typeface="宋体" panose="02010600030101010101" pitchFamily="2" charset="-122"/>
              <a:ea typeface="宋体" panose="02010600030101010101" pitchFamily="2" charset="-122"/>
            </a:endParaRPr>
          </a:p>
          <a:p>
            <a:r>
              <a:rPr lang="zh-CN" altLang="en-US" sz="1900">
                <a:latin typeface="宋体" panose="02010600030101010101" pitchFamily="2" charset="-122"/>
                <a:ea typeface="宋体" panose="02010600030101010101" pitchFamily="2" charset="-122"/>
              </a:rPr>
              <a:t>    (2)研究结果表明，BP神经网络得到的等级评价结果并非完全正确，所以当前对BP评定结果直接采用的评价方法是比较片面的，应该借助其他相关的评定方法进行验证和调整，本研究借助了自组织神经网络的技术和方法。</a:t>
            </a:r>
            <a:endParaRPr lang="zh-CN" altLang="en-US" sz="1900">
              <a:latin typeface="宋体" panose="02010600030101010101" pitchFamily="2" charset="-122"/>
              <a:ea typeface="宋体" panose="02010600030101010101" pitchFamily="2" charset="-122"/>
            </a:endParaRPr>
          </a:p>
          <a:p>
            <a:r>
              <a:rPr lang="zh-CN" altLang="en-US" sz="1900">
                <a:latin typeface="宋体" panose="02010600030101010101" pitchFamily="2" charset="-122"/>
                <a:ea typeface="宋体" panose="02010600030101010101" pitchFamily="2" charset="-122"/>
              </a:rPr>
              <a:t>    (3)济宁市各县市化肥和农药使用量均较高，尤其是农业发展程度较高的区域，例如市中区，任城区等，农业面源污染的主要污染物就是化肥农业污染，会造成地下水的毒素超标，影响人类的正常生活。</a:t>
            </a:r>
            <a:endParaRPr lang="zh-CN" altLang="en-US" sz="1900">
              <a:latin typeface="宋体" panose="02010600030101010101" pitchFamily="2" charset="-122"/>
              <a:ea typeface="宋体" panose="02010600030101010101" pitchFamily="2" charset="-122"/>
            </a:endParaRPr>
          </a:p>
          <a:p>
            <a:r>
              <a:rPr lang="zh-CN" altLang="en-US" sz="1900">
                <a:latin typeface="宋体" panose="02010600030101010101" pitchFamily="2" charset="-122"/>
                <a:ea typeface="宋体" panose="02010600030101010101" pitchFamily="2" charset="-122"/>
              </a:rPr>
              <a:t>    (4)邹城市，泗水县等济宁市东北部地区工业节水力度较低，同时人均水资源拥有量较低，相关企业应有传统工业向新型环保节水工业转变，同时政府部门应加大水资源处理力度，合理兴修水利工程，以解决当地水资源较少的问题。</a:t>
            </a:r>
            <a:endParaRPr lang="zh-CN" altLang="en-US" sz="1900">
              <a:latin typeface="宋体" panose="02010600030101010101" pitchFamily="2" charset="-122"/>
              <a:ea typeface="宋体" panose="02010600030101010101" pitchFamily="2" charset="-122"/>
            </a:endParaRPr>
          </a:p>
          <a:p>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sz="5400"/>
              <a:t> </a:t>
            </a:r>
            <a:endParaRPr lang="en-US" altLang="zh-CN" sz="5400"/>
          </a:p>
          <a:p>
            <a:endParaRPr lang="en-US" altLang="zh-CN" sz="5400"/>
          </a:p>
          <a:p>
            <a:r>
              <a:rPr lang="zh-CN" altLang="en-US" sz="5400"/>
              <a:t>          </a:t>
            </a:r>
            <a:r>
              <a:rPr lang="zh-CN" altLang="en-US" sz="5400" i="1"/>
              <a:t>  谢谢观看</a:t>
            </a:r>
            <a:endParaRPr lang="zh-CN" altLang="en-US" sz="5400" i="1"/>
          </a:p>
        </p:txBody>
      </p:sp>
    </p:spTree>
  </p:cSld>
  <p:clrMapOvr>
    <a:masterClrMapping/>
  </p:clrMapOvr>
</p:sld>
</file>

<file path=ppt/theme/theme1.xml><?xml version="1.0" encoding="utf-8"?>
<a:theme xmlns:a="http://schemas.openxmlformats.org/drawingml/2006/main" name="报告主题">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北航ppt模板">
      <a:majorFont>
        <a:latin typeface="Arial"/>
        <a:ea typeface="华文新魏"/>
        <a:cs typeface=""/>
      </a:majorFont>
      <a:minorFont>
        <a:latin typeface="Arial"/>
        <a:ea typeface="仿宋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北航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北航ppt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北航ppt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北航ppt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北航ppt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北航ppt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北航ppt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北航ppt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北航ppt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北航ppt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北航ppt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北航ppt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报告主题</Template>
  <TotalTime>0</TotalTime>
  <Words>9312</Words>
  <Application>WPS 演示</Application>
  <PresentationFormat>全屏显示(4:3)</PresentationFormat>
  <Paragraphs>1996</Paragraphs>
  <Slides>56</Slides>
  <Notes>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41</vt:i4>
      </vt:variant>
      <vt:variant>
        <vt:lpstr>幻灯片标题</vt:lpstr>
      </vt:variant>
      <vt:variant>
        <vt:i4>56</vt:i4>
      </vt:variant>
    </vt:vector>
  </HeadingPairs>
  <TitlesOfParts>
    <vt:vector size="113" baseType="lpstr">
      <vt:lpstr>Arial</vt:lpstr>
      <vt:lpstr>宋体</vt:lpstr>
      <vt:lpstr>Wingdings</vt:lpstr>
      <vt:lpstr>华文新魏</vt:lpstr>
      <vt:lpstr>楷体_GB2312</vt:lpstr>
      <vt:lpstr>楷体</vt:lpstr>
      <vt:lpstr>Tahoma</vt:lpstr>
      <vt:lpstr>Times New Roman</vt:lpstr>
      <vt:lpstr>微软雅黑</vt:lpstr>
      <vt:lpstr>Arial Unicode MS</vt:lpstr>
      <vt:lpstr>仿宋_GB2312</vt:lpstr>
      <vt:lpstr>仿宋</vt:lpstr>
      <vt:lpstr>新宋体</vt:lpstr>
      <vt:lpstr>Calibri</vt:lpstr>
      <vt:lpstr>黑体</vt:lpstr>
      <vt:lpstr>报告主题</vt:lpstr>
      <vt:lpstr>Photoshop.Image.8</vt:lpstr>
      <vt:lpstr>Equation.DSMT4</vt:lpstr>
      <vt:lpstr>Equation.DSMT4</vt:lpstr>
      <vt:lpstr>Visio.Drawing.11</vt:lpstr>
      <vt:lpstr>Visio.Drawing.11</vt:lpstr>
      <vt:lpstr>Equation.DSMT4</vt:lpstr>
      <vt:lpstr>Equation.DSMT4</vt:lpstr>
      <vt:lpstr>Equation.DSMT4</vt:lpstr>
      <vt:lpstr>Equation.DSMT4</vt:lpstr>
      <vt:lpstr>Equation.DSMT4</vt:lpstr>
      <vt:lpstr>Equation.DSMT4</vt:lpstr>
      <vt:lpstr>Photoshop.Image.8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 数模常规算法：BP神经网络基本原理简介  主讲人：老教练</vt:lpstr>
      <vt:lpstr>PowerPoint 演示文稿</vt:lpstr>
      <vt:lpstr>PowerPoint 演示文稿</vt:lpstr>
      <vt:lpstr>一.什么是人工神经网络</vt:lpstr>
      <vt:lpstr>二.ANN能干什么？</vt:lpstr>
      <vt:lpstr>三.神经网络模型和网络结构</vt:lpstr>
      <vt:lpstr>四、建立和应用神经网络的步骤</vt:lpstr>
      <vt:lpstr>神经元</vt:lpstr>
      <vt:lpstr>神经元</vt:lpstr>
      <vt:lpstr>神经元信息传递</vt:lpstr>
      <vt:lpstr>人工神经元的模型</vt:lpstr>
      <vt:lpstr>人工神经元的模型</vt:lpstr>
      <vt:lpstr>激活函数</vt:lpstr>
      <vt:lpstr>激活函数</vt:lpstr>
      <vt:lpstr>网络模型</vt:lpstr>
      <vt:lpstr>网络模型</vt:lpstr>
      <vt:lpstr>工作状态</vt:lpstr>
      <vt:lpstr>学习方式</vt:lpstr>
      <vt:lpstr>神经网络的学习方式</vt:lpstr>
      <vt:lpstr>PowerPoint 演示文稿</vt:lpstr>
      <vt:lpstr>BP算法(Back Propagation)</vt:lpstr>
      <vt:lpstr>BP算法(Back Propagation)</vt:lpstr>
      <vt:lpstr>BP算法(Back Propagation)</vt:lpstr>
      <vt:lpstr>BP算法(Back Propagation)</vt:lpstr>
      <vt:lpstr>BP算法(Back Propagation)</vt:lpstr>
      <vt:lpstr>BP算法(Back Propagation)</vt:lpstr>
      <vt:lpstr>BP算法(Back Propagation)</vt:lpstr>
      <vt:lpstr>BP算法(Back Propagation)</vt:lpstr>
      <vt:lpstr>BP算法(Back Propagation)</vt:lpstr>
      <vt:lpstr>BP算法(Back Propagation)</vt:lpstr>
      <vt:lpstr>BP算法(Back Propagation)</vt:lpstr>
      <vt:lpstr>神经网络的应用</vt:lpstr>
      <vt:lpstr>PowerPoint 演示文稿</vt:lpstr>
      <vt:lpstr>Matlab编程讲解</vt:lpstr>
      <vt:lpstr>PowerPoint 演示文稿</vt:lpstr>
      <vt:lpstr>1. BP网络构建</vt:lpstr>
      <vt:lpstr>PowerPoint 演示文稿</vt:lpstr>
      <vt:lpstr>BP网络举例</vt:lpstr>
      <vt:lpstr>PowerPoint 演示文稿</vt:lpstr>
      <vt:lpstr>案例：地下水安全性评价与分析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人工神经网络基本原理</dc:title>
  <dc:creator>jim</dc:creator>
  <cp:lastModifiedBy>gongzuo123456789</cp:lastModifiedBy>
  <cp:revision>78</cp:revision>
  <dcterms:created xsi:type="dcterms:W3CDTF">2013-11-08T01:48:00Z</dcterms:created>
  <dcterms:modified xsi:type="dcterms:W3CDTF">2018-07-08T13:56:26Z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